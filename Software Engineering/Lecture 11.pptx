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433" r:id="rId3"/>
    <p:sldId id="257" r:id="rId4"/>
    <p:sldId id="401" r:id="rId5"/>
    <p:sldId id="505" r:id="rId6"/>
    <p:sldId id="500" r:id="rId7"/>
    <p:sldId id="507" r:id="rId8"/>
    <p:sldId id="506" r:id="rId9"/>
    <p:sldId id="509" r:id="rId10"/>
    <p:sldId id="531" r:id="rId11"/>
    <p:sldId id="532" r:id="rId12"/>
    <p:sldId id="533" r:id="rId13"/>
    <p:sldId id="436" r:id="rId14"/>
    <p:sldId id="534" r:id="rId15"/>
    <p:sldId id="535" r:id="rId16"/>
    <p:sldId id="544" r:id="rId17"/>
    <p:sldId id="536" r:id="rId18"/>
    <p:sldId id="537" r:id="rId19"/>
    <p:sldId id="538" r:id="rId20"/>
    <p:sldId id="539" r:id="rId21"/>
    <p:sldId id="540" r:id="rId22"/>
    <p:sldId id="528" r:id="rId23"/>
    <p:sldId id="529" r:id="rId24"/>
    <p:sldId id="541" r:id="rId25"/>
    <p:sldId id="543" r:id="rId26"/>
    <p:sldId id="51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7E32"/>
    <a:srgbClr val="70AD47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4"/>
    <p:restoredTop sz="88942"/>
  </p:normalViewPr>
  <p:slideViewPr>
    <p:cSldViewPr snapToGrid="0" snapToObjects="1">
      <p:cViewPr varScale="1">
        <p:scale>
          <a:sx n="66" d="100"/>
          <a:sy n="66" d="100"/>
        </p:scale>
        <p:origin x="9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368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5E5CD0-2FB6-4B94-A0AB-A2DC8376030B}" type="doc">
      <dgm:prSet loTypeId="urn:microsoft.com/office/officeart/2005/8/layout/vList4#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B97FDCF-6DA7-4D66-BFC9-3C0D01CD606C}">
      <dgm:prSet phldrT="[Text]"/>
      <dgm:spPr/>
      <dgm:t>
        <a:bodyPr/>
        <a:lstStyle/>
        <a:p>
          <a:r>
            <a:rPr lang="en-US" dirty="0"/>
            <a:t>Server</a:t>
          </a:r>
        </a:p>
      </dgm:t>
    </dgm:pt>
    <dgm:pt modelId="{54DBF556-0997-4972-B19B-5CDF49221C4B}" type="parTrans" cxnId="{5E576865-F772-488D-B980-D860F88ACF8F}">
      <dgm:prSet/>
      <dgm:spPr/>
      <dgm:t>
        <a:bodyPr/>
        <a:lstStyle/>
        <a:p>
          <a:endParaRPr lang="en-US"/>
        </a:p>
      </dgm:t>
    </dgm:pt>
    <dgm:pt modelId="{0ECDB6B3-40EB-4731-AA02-70497595386B}" type="sibTrans" cxnId="{5E576865-F772-488D-B980-D860F88ACF8F}">
      <dgm:prSet/>
      <dgm:spPr/>
      <dgm:t>
        <a:bodyPr/>
        <a:lstStyle/>
        <a:p>
          <a:endParaRPr lang="en-US"/>
        </a:p>
      </dgm:t>
    </dgm:pt>
    <dgm:pt modelId="{2BF2D4FE-575F-4B7F-999F-050B28DE569F}">
      <dgm:prSet phldrT="[Text]"/>
      <dgm:spPr/>
      <dgm:t>
        <a:bodyPr/>
        <a:lstStyle/>
        <a:p>
          <a:r>
            <a:rPr lang="en-US" dirty="0"/>
            <a:t>A server is a computer that supplies data, processing services, or other support to one or more computers, called clients</a:t>
          </a:r>
        </a:p>
      </dgm:t>
    </dgm:pt>
    <dgm:pt modelId="{BA6D640A-4BB6-43B6-BB88-C5DF52BFCD67}" type="parTrans" cxnId="{7181FC31-901C-4410-862D-CBEA75CCEF57}">
      <dgm:prSet/>
      <dgm:spPr/>
      <dgm:t>
        <a:bodyPr/>
        <a:lstStyle/>
        <a:p>
          <a:endParaRPr lang="en-US"/>
        </a:p>
      </dgm:t>
    </dgm:pt>
    <dgm:pt modelId="{1103840C-A17F-4AC4-84EF-B141D41493A9}" type="sibTrans" cxnId="{7181FC31-901C-4410-862D-CBEA75CCEF57}">
      <dgm:prSet/>
      <dgm:spPr/>
      <dgm:t>
        <a:bodyPr/>
        <a:lstStyle/>
        <a:p>
          <a:endParaRPr lang="en-US"/>
        </a:p>
      </dgm:t>
    </dgm:pt>
    <dgm:pt modelId="{6EC67260-9B18-48B0-9EB3-A36EDEDFE0E4}">
      <dgm:prSet phldrT="[Text]"/>
      <dgm:spPr/>
      <dgm:t>
        <a:bodyPr/>
        <a:lstStyle/>
        <a:p>
          <a:r>
            <a:rPr lang="en-US" dirty="0"/>
            <a:t>Client</a:t>
          </a:r>
        </a:p>
      </dgm:t>
    </dgm:pt>
    <dgm:pt modelId="{F096A7C9-3CE2-42DA-A1B9-DCE8D624CA70}" type="parTrans" cxnId="{58B1BEF3-59DF-4AB5-B440-2D0807EA5AC5}">
      <dgm:prSet/>
      <dgm:spPr/>
      <dgm:t>
        <a:bodyPr/>
        <a:lstStyle/>
        <a:p>
          <a:endParaRPr lang="en-US"/>
        </a:p>
      </dgm:t>
    </dgm:pt>
    <dgm:pt modelId="{996115A0-F4B4-488D-A395-EEEA86C70A05}" type="sibTrans" cxnId="{58B1BEF3-59DF-4AB5-B440-2D0807EA5AC5}">
      <dgm:prSet/>
      <dgm:spPr/>
      <dgm:t>
        <a:bodyPr/>
        <a:lstStyle/>
        <a:p>
          <a:endParaRPr lang="en-US"/>
        </a:p>
      </dgm:t>
    </dgm:pt>
    <dgm:pt modelId="{75FF69DF-ECC8-4B72-921C-880FB17511E7}">
      <dgm:prSet phldrT="[Text]"/>
      <dgm:spPr/>
      <dgm:t>
        <a:bodyPr/>
        <a:lstStyle/>
        <a:p>
          <a:r>
            <a:rPr lang="en-US" dirty="0"/>
            <a:t>A client is a computer that requests data, processing services or other support from computers called servers</a:t>
          </a:r>
        </a:p>
      </dgm:t>
    </dgm:pt>
    <dgm:pt modelId="{A4D4D8AA-D850-4A3D-8A94-664D25874E7C}" type="parTrans" cxnId="{D3CA4FA2-2A17-42B3-B8EA-9004C026561C}">
      <dgm:prSet/>
      <dgm:spPr/>
      <dgm:t>
        <a:bodyPr/>
        <a:lstStyle/>
        <a:p>
          <a:endParaRPr lang="en-US"/>
        </a:p>
      </dgm:t>
    </dgm:pt>
    <dgm:pt modelId="{724D394C-26D7-4FE5-9364-4BA6BB4BB54A}" type="sibTrans" cxnId="{D3CA4FA2-2A17-42B3-B8EA-9004C026561C}">
      <dgm:prSet/>
      <dgm:spPr/>
      <dgm:t>
        <a:bodyPr/>
        <a:lstStyle/>
        <a:p>
          <a:endParaRPr lang="en-US"/>
        </a:p>
      </dgm:t>
    </dgm:pt>
    <dgm:pt modelId="{43107E4B-6D0A-4A20-BDA4-19360ABAAEE9}">
      <dgm:prSet phldrT="[Text]"/>
      <dgm:spPr/>
      <dgm:t>
        <a:bodyPr/>
        <a:lstStyle/>
        <a:p>
          <a:r>
            <a:rPr lang="en-US" dirty="0"/>
            <a:t>Network</a:t>
          </a:r>
        </a:p>
      </dgm:t>
    </dgm:pt>
    <dgm:pt modelId="{0618550B-4922-40FC-9416-3233FB11E889}" type="parTrans" cxnId="{73F74BFF-B66C-4588-AA58-78BC3C7DDD5D}">
      <dgm:prSet/>
      <dgm:spPr/>
      <dgm:t>
        <a:bodyPr/>
        <a:lstStyle/>
        <a:p>
          <a:endParaRPr lang="en-US"/>
        </a:p>
      </dgm:t>
    </dgm:pt>
    <dgm:pt modelId="{B88D4110-1E6D-49FE-9636-D1B9997E6BFF}" type="sibTrans" cxnId="{73F74BFF-B66C-4588-AA58-78BC3C7DDD5D}">
      <dgm:prSet/>
      <dgm:spPr/>
      <dgm:t>
        <a:bodyPr/>
        <a:lstStyle/>
        <a:p>
          <a:endParaRPr lang="en-US"/>
        </a:p>
      </dgm:t>
    </dgm:pt>
    <dgm:pt modelId="{3BF2668E-C694-4C6E-BDB1-EE23BF9C72DA}">
      <dgm:prSet phldrT="[Text]"/>
      <dgm:spPr/>
      <dgm:t>
        <a:bodyPr/>
        <a:lstStyle/>
        <a:p>
          <a:r>
            <a:rPr lang="en-US" dirty="0"/>
            <a:t>A medium/way through which clients and servers communicate with each other</a:t>
          </a:r>
        </a:p>
      </dgm:t>
    </dgm:pt>
    <dgm:pt modelId="{7436D69F-C373-4370-ACC2-854723425B5B}" type="parTrans" cxnId="{00DC81C4-EEE5-48A2-928F-02CED110632A}">
      <dgm:prSet/>
      <dgm:spPr/>
      <dgm:t>
        <a:bodyPr/>
        <a:lstStyle/>
        <a:p>
          <a:endParaRPr lang="en-US"/>
        </a:p>
      </dgm:t>
    </dgm:pt>
    <dgm:pt modelId="{C7C3965E-0401-4B8F-A533-EC282A37B065}" type="sibTrans" cxnId="{00DC81C4-EEE5-48A2-928F-02CED110632A}">
      <dgm:prSet/>
      <dgm:spPr/>
      <dgm:t>
        <a:bodyPr/>
        <a:lstStyle/>
        <a:p>
          <a:endParaRPr lang="en-US"/>
        </a:p>
      </dgm:t>
    </dgm:pt>
    <dgm:pt modelId="{C8FE9F39-243A-456F-88DB-AF744C120A01}">
      <dgm:prSet phldrT="[Text]"/>
      <dgm:spPr/>
      <dgm:t>
        <a:bodyPr/>
        <a:lstStyle/>
        <a:p>
          <a:r>
            <a:rPr lang="en-US" dirty="0"/>
            <a:t>Web Server, Database Server</a:t>
          </a:r>
        </a:p>
      </dgm:t>
    </dgm:pt>
    <dgm:pt modelId="{1056911F-43CE-4765-8B83-594F909F8221}" type="parTrans" cxnId="{500EC4C0-E886-493B-8FE1-106A50887BEF}">
      <dgm:prSet/>
      <dgm:spPr/>
      <dgm:t>
        <a:bodyPr/>
        <a:lstStyle/>
        <a:p>
          <a:endParaRPr lang="en-US"/>
        </a:p>
      </dgm:t>
    </dgm:pt>
    <dgm:pt modelId="{073BD010-94BF-4916-9476-DC1D07292979}" type="sibTrans" cxnId="{500EC4C0-E886-493B-8FE1-106A50887BEF}">
      <dgm:prSet/>
      <dgm:spPr/>
      <dgm:t>
        <a:bodyPr/>
        <a:lstStyle/>
        <a:p>
          <a:endParaRPr lang="en-US"/>
        </a:p>
      </dgm:t>
    </dgm:pt>
    <dgm:pt modelId="{342103B2-76F4-4ACC-946F-5C48BE31DAA0}">
      <dgm:prSet phldrT="[Text]"/>
      <dgm:spPr/>
      <dgm:t>
        <a:bodyPr/>
        <a:lstStyle/>
        <a:p>
          <a:r>
            <a:rPr lang="en-US" dirty="0"/>
            <a:t>Stand Alone, Thin Client, Thick client</a:t>
          </a:r>
        </a:p>
      </dgm:t>
    </dgm:pt>
    <dgm:pt modelId="{DF44215D-72E5-4F5D-8F64-7021B6E069DC}" type="parTrans" cxnId="{67AD9066-2B82-4D7B-A5D1-0A8B477093AC}">
      <dgm:prSet/>
      <dgm:spPr/>
      <dgm:t>
        <a:bodyPr/>
        <a:lstStyle/>
        <a:p>
          <a:endParaRPr lang="en-US"/>
        </a:p>
      </dgm:t>
    </dgm:pt>
    <dgm:pt modelId="{C8C72F66-F0FD-4334-9758-D18D8679A1A0}" type="sibTrans" cxnId="{67AD9066-2B82-4D7B-A5D1-0A8B477093AC}">
      <dgm:prSet/>
      <dgm:spPr/>
      <dgm:t>
        <a:bodyPr/>
        <a:lstStyle/>
        <a:p>
          <a:endParaRPr lang="en-US"/>
        </a:p>
      </dgm:t>
    </dgm:pt>
    <dgm:pt modelId="{8271D05B-ED23-49A9-9509-1DBF2113E358}">
      <dgm:prSet phldrT="[Text]"/>
      <dgm:spPr/>
      <dgm:t>
        <a:bodyPr/>
        <a:lstStyle/>
        <a:p>
          <a:r>
            <a:rPr lang="en-US" dirty="0"/>
            <a:t>Geographical division (LAN, WAN, MAN), connection style, Topologies</a:t>
          </a:r>
        </a:p>
      </dgm:t>
    </dgm:pt>
    <dgm:pt modelId="{C2902687-3BB9-438D-B4A9-5AD608625523}" type="parTrans" cxnId="{9F01887E-1FE8-4E81-8970-7F077C192F17}">
      <dgm:prSet/>
      <dgm:spPr/>
      <dgm:t>
        <a:bodyPr/>
        <a:lstStyle/>
        <a:p>
          <a:endParaRPr lang="en-US"/>
        </a:p>
      </dgm:t>
    </dgm:pt>
    <dgm:pt modelId="{D4DCF818-1C95-4857-9B46-9A137329AB84}" type="sibTrans" cxnId="{9F01887E-1FE8-4E81-8970-7F077C192F17}">
      <dgm:prSet/>
      <dgm:spPr/>
      <dgm:t>
        <a:bodyPr/>
        <a:lstStyle/>
        <a:p>
          <a:endParaRPr lang="en-US"/>
        </a:p>
      </dgm:t>
    </dgm:pt>
    <dgm:pt modelId="{4C4EA613-F7D2-42E1-9EA4-918D994D1147}" type="pres">
      <dgm:prSet presAssocID="{9B5E5CD0-2FB6-4B94-A0AB-A2DC8376030B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BFF91C9-5B00-470F-AC51-5906B219E2AF}" type="pres">
      <dgm:prSet presAssocID="{EB97FDCF-6DA7-4D66-BFC9-3C0D01CD606C}" presName="comp" presStyleCnt="0"/>
      <dgm:spPr/>
    </dgm:pt>
    <dgm:pt modelId="{64D31235-9192-4223-921F-3FD3EAA9531E}" type="pres">
      <dgm:prSet presAssocID="{EB97FDCF-6DA7-4D66-BFC9-3C0D01CD606C}" presName="box" presStyleLbl="node1" presStyleIdx="0" presStyleCnt="3"/>
      <dgm:spPr/>
      <dgm:t>
        <a:bodyPr/>
        <a:lstStyle/>
        <a:p>
          <a:endParaRPr lang="en-US"/>
        </a:p>
      </dgm:t>
    </dgm:pt>
    <dgm:pt modelId="{E26E2757-BD6D-4ECC-9E35-271C284FE21C}" type="pres">
      <dgm:prSet presAssocID="{EB97FDCF-6DA7-4D66-BFC9-3C0D01CD606C}" presName="img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33000" b="-33000"/>
          </a:stretch>
        </a:blipFill>
      </dgm:spPr>
    </dgm:pt>
    <dgm:pt modelId="{4909D3B3-1DC7-443D-9224-74DF0EC56217}" type="pres">
      <dgm:prSet presAssocID="{EB97FDCF-6DA7-4D66-BFC9-3C0D01CD606C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39E5CE-2852-40CF-A72B-A183356C3285}" type="pres">
      <dgm:prSet presAssocID="{0ECDB6B3-40EB-4731-AA02-70497595386B}" presName="spacer" presStyleCnt="0"/>
      <dgm:spPr/>
    </dgm:pt>
    <dgm:pt modelId="{FDBE9683-9964-477B-8EC6-5F796894C772}" type="pres">
      <dgm:prSet presAssocID="{6EC67260-9B18-48B0-9EB3-A36EDEDFE0E4}" presName="comp" presStyleCnt="0"/>
      <dgm:spPr/>
    </dgm:pt>
    <dgm:pt modelId="{75656D10-40AC-491F-BD51-9364985802F0}" type="pres">
      <dgm:prSet presAssocID="{6EC67260-9B18-48B0-9EB3-A36EDEDFE0E4}" presName="box" presStyleLbl="node1" presStyleIdx="1" presStyleCnt="3"/>
      <dgm:spPr/>
      <dgm:t>
        <a:bodyPr/>
        <a:lstStyle/>
        <a:p>
          <a:endParaRPr lang="en-US"/>
        </a:p>
      </dgm:t>
    </dgm:pt>
    <dgm:pt modelId="{FCEAF84A-96B6-4A54-80CE-13C218C27FDF}" type="pres">
      <dgm:prSet presAssocID="{6EC67260-9B18-48B0-9EB3-A36EDEDFE0E4}" presName="img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t="-33000" b="-33000"/>
          </a:stretch>
        </a:blipFill>
      </dgm:spPr>
    </dgm:pt>
    <dgm:pt modelId="{12030F89-A162-4B6E-8C44-13B62F09CA2D}" type="pres">
      <dgm:prSet presAssocID="{6EC67260-9B18-48B0-9EB3-A36EDEDFE0E4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7E1BEE-6BB1-46F3-93C0-C9D686B05188}" type="pres">
      <dgm:prSet presAssocID="{996115A0-F4B4-488D-A395-EEEA86C70A05}" presName="spacer" presStyleCnt="0"/>
      <dgm:spPr/>
    </dgm:pt>
    <dgm:pt modelId="{50477447-3B4B-43A1-9DC1-43CFC1B22C6A}" type="pres">
      <dgm:prSet presAssocID="{43107E4B-6D0A-4A20-BDA4-19360ABAAEE9}" presName="comp" presStyleCnt="0"/>
      <dgm:spPr/>
    </dgm:pt>
    <dgm:pt modelId="{8379D029-975A-4868-90E0-8149B01A327A}" type="pres">
      <dgm:prSet presAssocID="{43107E4B-6D0A-4A20-BDA4-19360ABAAEE9}" presName="box" presStyleLbl="node1" presStyleIdx="2" presStyleCnt="3"/>
      <dgm:spPr/>
      <dgm:t>
        <a:bodyPr/>
        <a:lstStyle/>
        <a:p>
          <a:endParaRPr lang="en-US"/>
        </a:p>
      </dgm:t>
    </dgm:pt>
    <dgm:pt modelId="{AF6E997E-6421-4C35-88CC-32A5ED126028}" type="pres">
      <dgm:prSet presAssocID="{43107E4B-6D0A-4A20-BDA4-19360ABAAEE9}" presName="img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t="-33000" b="-33000"/>
          </a:stretch>
        </a:blipFill>
      </dgm:spPr>
    </dgm:pt>
    <dgm:pt modelId="{03600924-DF59-4752-B342-6A74053F2BF9}" type="pres">
      <dgm:prSet presAssocID="{43107E4B-6D0A-4A20-BDA4-19360ABAAEE9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3CA4FA2-2A17-42B3-B8EA-9004C026561C}" srcId="{6EC67260-9B18-48B0-9EB3-A36EDEDFE0E4}" destId="{75FF69DF-ECC8-4B72-921C-880FB17511E7}" srcOrd="0" destOrd="0" parTransId="{A4D4D8AA-D850-4A3D-8A94-664D25874E7C}" sibTransId="{724D394C-26D7-4FE5-9364-4BA6BB4BB54A}"/>
    <dgm:cxn modelId="{0CCEA99A-8C02-4B7C-81C0-611D679F4CD1}" type="presOf" srcId="{8271D05B-ED23-49A9-9509-1DBF2113E358}" destId="{8379D029-975A-4868-90E0-8149B01A327A}" srcOrd="0" destOrd="2" presId="urn:microsoft.com/office/officeart/2005/8/layout/vList4#1"/>
    <dgm:cxn modelId="{3A81B8C5-B010-40D4-8F6A-D7F372263953}" type="presOf" srcId="{C8FE9F39-243A-456F-88DB-AF744C120A01}" destId="{64D31235-9192-4223-921F-3FD3EAA9531E}" srcOrd="0" destOrd="2" presId="urn:microsoft.com/office/officeart/2005/8/layout/vList4#1"/>
    <dgm:cxn modelId="{23D6681F-5516-4AC7-A697-462B22F86839}" type="presOf" srcId="{C8FE9F39-243A-456F-88DB-AF744C120A01}" destId="{4909D3B3-1DC7-443D-9224-74DF0EC56217}" srcOrd="1" destOrd="2" presId="urn:microsoft.com/office/officeart/2005/8/layout/vList4#1"/>
    <dgm:cxn modelId="{9F01887E-1FE8-4E81-8970-7F077C192F17}" srcId="{43107E4B-6D0A-4A20-BDA4-19360ABAAEE9}" destId="{8271D05B-ED23-49A9-9509-1DBF2113E358}" srcOrd="1" destOrd="0" parTransId="{C2902687-3BB9-438D-B4A9-5AD608625523}" sibTransId="{D4DCF818-1C95-4857-9B46-9A137329AB84}"/>
    <dgm:cxn modelId="{7181FC31-901C-4410-862D-CBEA75CCEF57}" srcId="{EB97FDCF-6DA7-4D66-BFC9-3C0D01CD606C}" destId="{2BF2D4FE-575F-4B7F-999F-050B28DE569F}" srcOrd="0" destOrd="0" parTransId="{BA6D640A-4BB6-43B6-BB88-C5DF52BFCD67}" sibTransId="{1103840C-A17F-4AC4-84EF-B141D41493A9}"/>
    <dgm:cxn modelId="{4CA2A0A0-C963-487D-B838-2F6AAEF7C131}" type="presOf" srcId="{75FF69DF-ECC8-4B72-921C-880FB17511E7}" destId="{12030F89-A162-4B6E-8C44-13B62F09CA2D}" srcOrd="1" destOrd="1" presId="urn:microsoft.com/office/officeart/2005/8/layout/vList4#1"/>
    <dgm:cxn modelId="{67AD9066-2B82-4D7B-A5D1-0A8B477093AC}" srcId="{6EC67260-9B18-48B0-9EB3-A36EDEDFE0E4}" destId="{342103B2-76F4-4ACC-946F-5C48BE31DAA0}" srcOrd="1" destOrd="0" parTransId="{DF44215D-72E5-4F5D-8F64-7021B6E069DC}" sibTransId="{C8C72F66-F0FD-4334-9758-D18D8679A1A0}"/>
    <dgm:cxn modelId="{267C09AA-A002-422B-95A3-C8E79F24301C}" type="presOf" srcId="{43107E4B-6D0A-4A20-BDA4-19360ABAAEE9}" destId="{03600924-DF59-4752-B342-6A74053F2BF9}" srcOrd="1" destOrd="0" presId="urn:microsoft.com/office/officeart/2005/8/layout/vList4#1"/>
    <dgm:cxn modelId="{00DC81C4-EEE5-48A2-928F-02CED110632A}" srcId="{43107E4B-6D0A-4A20-BDA4-19360ABAAEE9}" destId="{3BF2668E-C694-4C6E-BDB1-EE23BF9C72DA}" srcOrd="0" destOrd="0" parTransId="{7436D69F-C373-4370-ACC2-854723425B5B}" sibTransId="{C7C3965E-0401-4B8F-A533-EC282A37B065}"/>
    <dgm:cxn modelId="{2BA806AF-B4F9-4475-8F87-5667614E3FA0}" type="presOf" srcId="{3BF2668E-C694-4C6E-BDB1-EE23BF9C72DA}" destId="{8379D029-975A-4868-90E0-8149B01A327A}" srcOrd="0" destOrd="1" presId="urn:microsoft.com/office/officeart/2005/8/layout/vList4#1"/>
    <dgm:cxn modelId="{A420D5D5-FB0B-43A6-BEFA-B05F10A7CC04}" type="presOf" srcId="{6EC67260-9B18-48B0-9EB3-A36EDEDFE0E4}" destId="{75656D10-40AC-491F-BD51-9364985802F0}" srcOrd="0" destOrd="0" presId="urn:microsoft.com/office/officeart/2005/8/layout/vList4#1"/>
    <dgm:cxn modelId="{500EC4C0-E886-493B-8FE1-106A50887BEF}" srcId="{EB97FDCF-6DA7-4D66-BFC9-3C0D01CD606C}" destId="{C8FE9F39-243A-456F-88DB-AF744C120A01}" srcOrd="1" destOrd="0" parTransId="{1056911F-43CE-4765-8B83-594F909F8221}" sibTransId="{073BD010-94BF-4916-9476-DC1D07292979}"/>
    <dgm:cxn modelId="{73F74BFF-B66C-4588-AA58-78BC3C7DDD5D}" srcId="{9B5E5CD0-2FB6-4B94-A0AB-A2DC8376030B}" destId="{43107E4B-6D0A-4A20-BDA4-19360ABAAEE9}" srcOrd="2" destOrd="0" parTransId="{0618550B-4922-40FC-9416-3233FB11E889}" sibTransId="{B88D4110-1E6D-49FE-9636-D1B9997E6BFF}"/>
    <dgm:cxn modelId="{E5DE74C2-B2D9-4023-AAB5-73F7DFD143F8}" type="presOf" srcId="{6EC67260-9B18-48B0-9EB3-A36EDEDFE0E4}" destId="{12030F89-A162-4B6E-8C44-13B62F09CA2D}" srcOrd="1" destOrd="0" presId="urn:microsoft.com/office/officeart/2005/8/layout/vList4#1"/>
    <dgm:cxn modelId="{BA8B5361-E94D-4BFD-813F-A635D2B7DD01}" type="presOf" srcId="{342103B2-76F4-4ACC-946F-5C48BE31DAA0}" destId="{12030F89-A162-4B6E-8C44-13B62F09CA2D}" srcOrd="1" destOrd="2" presId="urn:microsoft.com/office/officeart/2005/8/layout/vList4#1"/>
    <dgm:cxn modelId="{DED8DB1D-9780-4917-B2C8-801F77B5BF86}" type="presOf" srcId="{75FF69DF-ECC8-4B72-921C-880FB17511E7}" destId="{75656D10-40AC-491F-BD51-9364985802F0}" srcOrd="0" destOrd="1" presId="urn:microsoft.com/office/officeart/2005/8/layout/vList4#1"/>
    <dgm:cxn modelId="{9A7D5B1A-CE1B-4B3B-B0A0-6F679F55B0E7}" type="presOf" srcId="{3BF2668E-C694-4C6E-BDB1-EE23BF9C72DA}" destId="{03600924-DF59-4752-B342-6A74053F2BF9}" srcOrd="1" destOrd="1" presId="urn:microsoft.com/office/officeart/2005/8/layout/vList4#1"/>
    <dgm:cxn modelId="{B9D5D5AE-1D0A-42C4-A081-0F6286EFA8F6}" type="presOf" srcId="{EB97FDCF-6DA7-4D66-BFC9-3C0D01CD606C}" destId="{4909D3B3-1DC7-443D-9224-74DF0EC56217}" srcOrd="1" destOrd="0" presId="urn:microsoft.com/office/officeart/2005/8/layout/vList4#1"/>
    <dgm:cxn modelId="{2E0A0E08-5B6D-4DC8-A5D7-0BDAE9C62583}" type="presOf" srcId="{8271D05B-ED23-49A9-9509-1DBF2113E358}" destId="{03600924-DF59-4752-B342-6A74053F2BF9}" srcOrd="1" destOrd="2" presId="urn:microsoft.com/office/officeart/2005/8/layout/vList4#1"/>
    <dgm:cxn modelId="{FFFB3A2B-4023-498F-A76B-6D65B4D5EF8E}" type="presOf" srcId="{2BF2D4FE-575F-4B7F-999F-050B28DE569F}" destId="{64D31235-9192-4223-921F-3FD3EAA9531E}" srcOrd="0" destOrd="1" presId="urn:microsoft.com/office/officeart/2005/8/layout/vList4#1"/>
    <dgm:cxn modelId="{D5AF15FB-06C2-4BB6-ADFA-6D30E736879F}" type="presOf" srcId="{43107E4B-6D0A-4A20-BDA4-19360ABAAEE9}" destId="{8379D029-975A-4868-90E0-8149B01A327A}" srcOrd="0" destOrd="0" presId="urn:microsoft.com/office/officeart/2005/8/layout/vList4#1"/>
    <dgm:cxn modelId="{B1531467-71B2-44A8-AE15-FC8B6090F2A9}" type="presOf" srcId="{2BF2D4FE-575F-4B7F-999F-050B28DE569F}" destId="{4909D3B3-1DC7-443D-9224-74DF0EC56217}" srcOrd="1" destOrd="1" presId="urn:microsoft.com/office/officeart/2005/8/layout/vList4#1"/>
    <dgm:cxn modelId="{00BAA117-C2AB-4CEE-A04A-0BDAC6D1BE50}" type="presOf" srcId="{9B5E5CD0-2FB6-4B94-A0AB-A2DC8376030B}" destId="{4C4EA613-F7D2-42E1-9EA4-918D994D1147}" srcOrd="0" destOrd="0" presId="urn:microsoft.com/office/officeart/2005/8/layout/vList4#1"/>
    <dgm:cxn modelId="{58B1BEF3-59DF-4AB5-B440-2D0807EA5AC5}" srcId="{9B5E5CD0-2FB6-4B94-A0AB-A2DC8376030B}" destId="{6EC67260-9B18-48B0-9EB3-A36EDEDFE0E4}" srcOrd="1" destOrd="0" parTransId="{F096A7C9-3CE2-42DA-A1B9-DCE8D624CA70}" sibTransId="{996115A0-F4B4-488D-A395-EEEA86C70A05}"/>
    <dgm:cxn modelId="{5E576865-F772-488D-B980-D860F88ACF8F}" srcId="{9B5E5CD0-2FB6-4B94-A0AB-A2DC8376030B}" destId="{EB97FDCF-6DA7-4D66-BFC9-3C0D01CD606C}" srcOrd="0" destOrd="0" parTransId="{54DBF556-0997-4972-B19B-5CDF49221C4B}" sibTransId="{0ECDB6B3-40EB-4731-AA02-70497595386B}"/>
    <dgm:cxn modelId="{277CAB13-3D5D-464D-850A-2F529A1071CE}" type="presOf" srcId="{342103B2-76F4-4ACC-946F-5C48BE31DAA0}" destId="{75656D10-40AC-491F-BD51-9364985802F0}" srcOrd="0" destOrd="2" presId="urn:microsoft.com/office/officeart/2005/8/layout/vList4#1"/>
    <dgm:cxn modelId="{94CDB4F1-5B32-4CF8-AF91-06C906868EA7}" type="presOf" srcId="{EB97FDCF-6DA7-4D66-BFC9-3C0D01CD606C}" destId="{64D31235-9192-4223-921F-3FD3EAA9531E}" srcOrd="0" destOrd="0" presId="urn:microsoft.com/office/officeart/2005/8/layout/vList4#1"/>
    <dgm:cxn modelId="{FCA8EB14-3172-4B7F-B9E9-2828948852D3}" type="presParOf" srcId="{4C4EA613-F7D2-42E1-9EA4-918D994D1147}" destId="{BBFF91C9-5B00-470F-AC51-5906B219E2AF}" srcOrd="0" destOrd="0" presId="urn:microsoft.com/office/officeart/2005/8/layout/vList4#1"/>
    <dgm:cxn modelId="{B2F02BBC-5F7F-4839-A657-C0335A087EFB}" type="presParOf" srcId="{BBFF91C9-5B00-470F-AC51-5906B219E2AF}" destId="{64D31235-9192-4223-921F-3FD3EAA9531E}" srcOrd="0" destOrd="0" presId="urn:microsoft.com/office/officeart/2005/8/layout/vList4#1"/>
    <dgm:cxn modelId="{5B48FAEF-399F-460A-8DAC-CCE0CB924950}" type="presParOf" srcId="{BBFF91C9-5B00-470F-AC51-5906B219E2AF}" destId="{E26E2757-BD6D-4ECC-9E35-271C284FE21C}" srcOrd="1" destOrd="0" presId="urn:microsoft.com/office/officeart/2005/8/layout/vList4#1"/>
    <dgm:cxn modelId="{416E83D8-0450-436C-A0F4-3980976099FD}" type="presParOf" srcId="{BBFF91C9-5B00-470F-AC51-5906B219E2AF}" destId="{4909D3B3-1DC7-443D-9224-74DF0EC56217}" srcOrd="2" destOrd="0" presId="urn:microsoft.com/office/officeart/2005/8/layout/vList4#1"/>
    <dgm:cxn modelId="{543356C6-15E6-4C4E-98D8-54E35EC266C8}" type="presParOf" srcId="{4C4EA613-F7D2-42E1-9EA4-918D994D1147}" destId="{7239E5CE-2852-40CF-A72B-A183356C3285}" srcOrd="1" destOrd="0" presId="urn:microsoft.com/office/officeart/2005/8/layout/vList4#1"/>
    <dgm:cxn modelId="{C174CAFC-3AE6-454E-B67A-7B588E80B83B}" type="presParOf" srcId="{4C4EA613-F7D2-42E1-9EA4-918D994D1147}" destId="{FDBE9683-9964-477B-8EC6-5F796894C772}" srcOrd="2" destOrd="0" presId="urn:microsoft.com/office/officeart/2005/8/layout/vList4#1"/>
    <dgm:cxn modelId="{EE566C6E-8932-47D9-B91B-A14287378E6B}" type="presParOf" srcId="{FDBE9683-9964-477B-8EC6-5F796894C772}" destId="{75656D10-40AC-491F-BD51-9364985802F0}" srcOrd="0" destOrd="0" presId="urn:microsoft.com/office/officeart/2005/8/layout/vList4#1"/>
    <dgm:cxn modelId="{1E490A76-B404-4522-91A6-D9CCBE8787F5}" type="presParOf" srcId="{FDBE9683-9964-477B-8EC6-5F796894C772}" destId="{FCEAF84A-96B6-4A54-80CE-13C218C27FDF}" srcOrd="1" destOrd="0" presId="urn:microsoft.com/office/officeart/2005/8/layout/vList4#1"/>
    <dgm:cxn modelId="{488653F0-499D-419F-AD40-EDA9D20876B7}" type="presParOf" srcId="{FDBE9683-9964-477B-8EC6-5F796894C772}" destId="{12030F89-A162-4B6E-8C44-13B62F09CA2D}" srcOrd="2" destOrd="0" presId="urn:microsoft.com/office/officeart/2005/8/layout/vList4#1"/>
    <dgm:cxn modelId="{05A994D2-FEDC-4EE3-B361-306783E17561}" type="presParOf" srcId="{4C4EA613-F7D2-42E1-9EA4-918D994D1147}" destId="{4D7E1BEE-6BB1-46F3-93C0-C9D686B05188}" srcOrd="3" destOrd="0" presId="urn:microsoft.com/office/officeart/2005/8/layout/vList4#1"/>
    <dgm:cxn modelId="{A372DC49-99BA-46A5-8D66-7F46F26CE4AD}" type="presParOf" srcId="{4C4EA613-F7D2-42E1-9EA4-918D994D1147}" destId="{50477447-3B4B-43A1-9DC1-43CFC1B22C6A}" srcOrd="4" destOrd="0" presId="urn:microsoft.com/office/officeart/2005/8/layout/vList4#1"/>
    <dgm:cxn modelId="{7812C20C-C745-417F-ACFB-F8D47B2383F4}" type="presParOf" srcId="{50477447-3B4B-43A1-9DC1-43CFC1B22C6A}" destId="{8379D029-975A-4868-90E0-8149B01A327A}" srcOrd="0" destOrd="0" presId="urn:microsoft.com/office/officeart/2005/8/layout/vList4#1"/>
    <dgm:cxn modelId="{C708F9D8-4E78-4681-A6B8-117EB777E8E7}" type="presParOf" srcId="{50477447-3B4B-43A1-9DC1-43CFC1B22C6A}" destId="{AF6E997E-6421-4C35-88CC-32A5ED126028}" srcOrd="1" destOrd="0" presId="urn:microsoft.com/office/officeart/2005/8/layout/vList4#1"/>
    <dgm:cxn modelId="{BE038EAB-2E64-4392-8AC5-D3B7EE713CF2}" type="presParOf" srcId="{50477447-3B4B-43A1-9DC1-43CFC1B22C6A}" destId="{03600924-DF59-4752-B342-6A74053F2BF9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D31235-9192-4223-921F-3FD3EAA9531E}">
      <dsp:nvSpPr>
        <dsp:cNvPr id="0" name=""/>
        <dsp:cNvSpPr/>
      </dsp:nvSpPr>
      <dsp:spPr>
        <a:xfrm>
          <a:off x="0" y="0"/>
          <a:ext cx="7776961" cy="117447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Server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/>
            <a:t>A server is a computer that supplies data, processing services, or other support to one or more computers, called clients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/>
            <a:t>Web Server, Database Server</a:t>
          </a:r>
        </a:p>
      </dsp:txBody>
      <dsp:txXfrm>
        <a:off x="1672839" y="0"/>
        <a:ext cx="6104121" cy="1174477"/>
      </dsp:txXfrm>
    </dsp:sp>
    <dsp:sp modelId="{E26E2757-BD6D-4ECC-9E35-271C284FE21C}">
      <dsp:nvSpPr>
        <dsp:cNvPr id="0" name=""/>
        <dsp:cNvSpPr/>
      </dsp:nvSpPr>
      <dsp:spPr>
        <a:xfrm>
          <a:off x="117447" y="117447"/>
          <a:ext cx="1555392" cy="9395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33000" b="-3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56D10-40AC-491F-BD51-9364985802F0}">
      <dsp:nvSpPr>
        <dsp:cNvPr id="0" name=""/>
        <dsp:cNvSpPr/>
      </dsp:nvSpPr>
      <dsp:spPr>
        <a:xfrm>
          <a:off x="0" y="1291925"/>
          <a:ext cx="7776961" cy="1174477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Client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/>
            <a:t>A client is a computer that requests data, processing services or other support from computers called servers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/>
            <a:t>Stand Alone, Thin Client, Thick client</a:t>
          </a:r>
        </a:p>
      </dsp:txBody>
      <dsp:txXfrm>
        <a:off x="1672839" y="1291925"/>
        <a:ext cx="6104121" cy="1174477"/>
      </dsp:txXfrm>
    </dsp:sp>
    <dsp:sp modelId="{FCEAF84A-96B6-4A54-80CE-13C218C27FDF}">
      <dsp:nvSpPr>
        <dsp:cNvPr id="0" name=""/>
        <dsp:cNvSpPr/>
      </dsp:nvSpPr>
      <dsp:spPr>
        <a:xfrm>
          <a:off x="117447" y="1409373"/>
          <a:ext cx="1555392" cy="9395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33000" b="-3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79D029-975A-4868-90E0-8149B01A327A}">
      <dsp:nvSpPr>
        <dsp:cNvPr id="0" name=""/>
        <dsp:cNvSpPr/>
      </dsp:nvSpPr>
      <dsp:spPr>
        <a:xfrm>
          <a:off x="0" y="2583851"/>
          <a:ext cx="7776961" cy="1174477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Network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/>
            <a:t>A medium/way through which clients and servers communicate with each other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/>
            <a:t>Geographical division (LAN, WAN, MAN), connection style, Topologies</a:t>
          </a:r>
        </a:p>
      </dsp:txBody>
      <dsp:txXfrm>
        <a:off x="1672839" y="2583851"/>
        <a:ext cx="6104121" cy="1174477"/>
      </dsp:txXfrm>
    </dsp:sp>
    <dsp:sp modelId="{AF6E997E-6421-4C35-88CC-32A5ED126028}">
      <dsp:nvSpPr>
        <dsp:cNvPr id="0" name=""/>
        <dsp:cNvSpPr/>
      </dsp:nvSpPr>
      <dsp:spPr>
        <a:xfrm>
          <a:off x="117447" y="2701298"/>
          <a:ext cx="1555392" cy="9395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33000" b="-3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587-81F2-8446-AF54-23A4D5F808CF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758E4-1579-9641-A02C-379017984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07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8758E4-1579-9641-A02C-379017984F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54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="" xmlns:a16="http://schemas.microsoft.com/office/drawing/2014/main" id="{879883A4-41AD-044B-9569-A05BF6BBC8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="" xmlns:a16="http://schemas.microsoft.com/office/drawing/2014/main" id="{265F5B20-FCD4-B740-B42F-FE4C7EB888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Tx/>
              <a:buChar char="-"/>
            </a:pPr>
            <a:r>
              <a:rPr lang="en-US" altLang="en-US"/>
              <a:t>Database server: MySql, Microsoft sql server, MariaDB, Oracle</a:t>
            </a:r>
          </a:p>
          <a:p>
            <a:pPr marL="171450" indent="-171450">
              <a:buFontTx/>
              <a:buChar char="-"/>
            </a:pPr>
            <a:r>
              <a:rPr lang="en-US" altLang="en-US"/>
              <a:t>Transaction Server: Microsoft Server (Viper), Microsoft Transaction Server</a:t>
            </a:r>
          </a:p>
          <a:p>
            <a:pPr marL="171450" indent="-171450">
              <a:buFontTx/>
              <a:buChar char="-"/>
            </a:pPr>
            <a:r>
              <a:rPr lang="en-US" altLang="en-US"/>
              <a:t>Web server: Apache Server, Microsoft IIS Server, Nginx</a:t>
            </a:r>
          </a:p>
          <a:p>
            <a:pPr marL="171450" indent="-171450">
              <a:buFontTx/>
              <a:buChar char="-"/>
            </a:pPr>
            <a:r>
              <a:rPr lang="en-US" altLang="en-US"/>
              <a:t>Mail server: outgoing: SMTP, Incoming: POP3, IMAP (store message)</a:t>
            </a:r>
          </a:p>
          <a:p>
            <a:pPr marL="171450" indent="-171450">
              <a:buFontTx/>
              <a:buChar char="-"/>
            </a:pPr>
            <a:r>
              <a:rPr lang="en-US" altLang="en-US"/>
              <a:t>FTP: Filezilla, Transmit</a:t>
            </a:r>
          </a:p>
          <a:p>
            <a:pPr marL="171450" indent="-171450">
              <a:buFontTx/>
              <a:buChar char="-"/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="" xmlns:a16="http://schemas.microsoft.com/office/drawing/2014/main" id="{ECB9CA23-1E58-044F-9E0E-9FD721689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5518D5A-4575-2540-B470-36A620B4F4C4}" type="slidenum">
              <a:rPr lang="en-US" altLang="en-US" smtClean="0">
                <a:latin typeface="Calibri" panose="020F0502020204030204" pitchFamily="34" charset="0"/>
              </a:rPr>
              <a:pPr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8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="" xmlns:a16="http://schemas.microsoft.com/office/drawing/2014/main" id="{23850567-3D10-8748-B824-6078A530B1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6986250" y="-11796713"/>
            <a:ext cx="22134513" cy="12452351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="" xmlns:a16="http://schemas.microsoft.com/office/drawing/2014/main" id="{043264B4-03AF-7E4D-9394-64750B3DAA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- Draw diagram to teach</a:t>
            </a:r>
          </a:p>
        </p:txBody>
      </p:sp>
    </p:spTree>
    <p:extLst>
      <p:ext uri="{BB962C8B-B14F-4D97-AF65-F5344CB8AC3E}">
        <p14:creationId xmlns:p14="http://schemas.microsoft.com/office/powerpoint/2010/main" val="1072227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="" xmlns:a16="http://schemas.microsoft.com/office/drawing/2014/main" id="{0AC035F0-46FE-444B-AC8D-04EBB0C341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4219238" y="-11796713"/>
            <a:ext cx="16600488" cy="12452351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="" xmlns:a16="http://schemas.microsoft.com/office/drawing/2014/main" id="{1A4E2E6E-E0DA-A14B-866D-381E6CE710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511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="" xmlns:a16="http://schemas.microsoft.com/office/drawing/2014/main" id="{B46389B1-BE28-284E-8A7F-5EABDA1B47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6986250" y="-11796713"/>
            <a:ext cx="22134513" cy="12452351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="" xmlns:a16="http://schemas.microsoft.com/office/drawing/2014/main" id="{39E11FAE-4334-224C-AE14-B3633B3F38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915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="" xmlns:a16="http://schemas.microsoft.com/office/drawing/2014/main" id="{342CF8D2-FF99-4C4F-B170-2ED3426466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4219238" y="-11796713"/>
            <a:ext cx="16600488" cy="12452351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="" xmlns:a16="http://schemas.microsoft.com/office/drawing/2014/main" id="{233C8779-4708-C548-9830-C5262F8B63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0085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="" xmlns:a16="http://schemas.microsoft.com/office/drawing/2014/main" id="{C4EEC655-33F1-9045-A5EC-8E68B94BA8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4219238" y="-11796713"/>
            <a:ext cx="16600488" cy="12452351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="" xmlns:a16="http://schemas.microsoft.com/office/drawing/2014/main" id="{E20D10EB-FB40-C34A-87A7-E02BC5FBEB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5809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E515BE-398C-BA4D-853A-A121C5420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3C255B7-CC62-3F43-95ED-B325B83D9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4BDA6B-DF03-6C4C-A719-520672D0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4917DA2-A4BD-C84E-A156-7A7052235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FC7455F-7A41-7642-979D-A34E6EE2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4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B8C9F9-825D-7A4F-97D4-CFB9FDD4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93DECDF-9858-B349-9877-3E8912D52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063" y="1290918"/>
            <a:ext cx="11349317" cy="5267660"/>
          </a:xfrm>
        </p:spPr>
        <p:txBody>
          <a:bodyPr/>
          <a:lstStyle>
            <a:lvl1pPr algn="l">
              <a:defRPr sz="24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643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1DA737-2C92-6A45-A6E7-009634DD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8259445-E212-D04A-AB6C-D57DB2B91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DEB3AB0-B882-4E4B-BB0B-4C285617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9071977-45F2-C444-B877-DC2C25D9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DD4FF3D-F612-DB47-89AE-62D1E4C8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2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F487A8-EB5B-0F4A-93AF-4047750E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573D4E5-AAA1-3E43-8768-6DDA7EA38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E59180E-4075-E042-A985-30B8CBADE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444CCC1-6BE0-0B4F-BA43-2B981B83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3DAF58D-40DB-4B4B-B9E8-5BA8B410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DFE1B99-17D9-3F44-B5D4-510F30D4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94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4B7085-4CF2-5348-8344-29E56B9DA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143EF9C-65C9-8E44-9666-0E801C9AC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1442CCC-F824-CD4D-877E-B7A230D79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02AD39A-AD14-7845-8E7F-6E21A3CA4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05500B5-0685-DD40-A694-D092F9456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BADED746-43E9-3F40-BC1B-3F989A3E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31F7D94-F7C3-FC46-B6CC-4195D848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37BE6084-B3C1-A948-9E5E-08097167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9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079407-05A5-9F48-B68B-30A6775B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1164586-7E37-7645-A05C-F8F13E07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BBCD36D-4B3B-4D4F-A918-1BAC9E0F6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3C158A3-38D2-8944-B626-FB1F988A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1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BB0DCEF-3CF5-F248-9BF5-370DA805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5FF6F16-7E82-6049-9E86-820ECE79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F14E8AB-FF68-A041-9A1F-25FE64DF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8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7DB8BF-2B46-C040-8F8A-2B9946878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DEC27E-8BEA-A04F-AEC2-90FA0FB27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31EC2E2-32F8-D242-A21F-20F3FBDA3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B65A457-B2DC-6746-9827-681C9382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EC83F0C-0AF5-5F45-ABAB-905DC4A1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B61DF96-EDE3-9242-8814-E8559746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13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CD3FF5-9E02-6F4B-B4FA-07543BD6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D43E204-E044-4B4B-9955-122130748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B838CA4-7595-9145-A618-6308D2ACD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0392942-D1A0-A24F-A7A9-085DA0F1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757AB78-2AB0-F546-A74B-D3499D4B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6AAEAA5-B986-DC41-B4B5-915126A0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8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69B87C-EB9B-634D-8E1C-C1B94BDC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B6E84BA-164D-7147-8032-66CDC3932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AC4213F-9B41-AC40-A5EB-187F7280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2EE6C5C-6580-9A4C-9C84-292BC4F8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D45AB93-6821-1247-A0DB-17CC1238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5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A2A594F2-2CDA-0F4A-A0CF-8F039A331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0493965-462C-8242-B466-A5589E0B9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0100EE-1169-8840-B316-8F82BB05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43F24-5922-7B46-80CB-74C2771F495D}" type="datetimeFigureOut">
              <a:rPr lang="en-US" smtClean="0"/>
              <a:t>25/01/2020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712DFE-9E69-8F4F-ADDE-6F4744E68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0ED782-32E8-5D4A-BF7D-FACFDF1B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5C4DED-7494-CD40-85FD-1FF8A2406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1D484FC-7802-CE44-A670-C47B6F9A7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64" y="365126"/>
            <a:ext cx="11349316" cy="775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046C5F5-A356-9249-8CDE-80E924BBC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063" y="1290918"/>
            <a:ext cx="11349317" cy="52676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DA1823F-3D94-BE4C-9525-9B05D34C7EA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276854" y="91987"/>
            <a:ext cx="760954" cy="316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745F5A82-6F30-CE48-A619-C2A62B573CA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793944" y="111793"/>
            <a:ext cx="1404770" cy="29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8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81E89A-2B7B-BA41-A0C8-505D6B7044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79E6356-AAB9-CF4B-BE8E-C10B707BE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chemeClr val="accent6"/>
                </a:solidFill>
              </a:rPr>
              <a:t>Lecture 11</a:t>
            </a:r>
            <a:endParaRPr lang="en-US" sz="4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27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E970FDE5-E0A7-C14D-950A-E322101FE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297098"/>
              </p:ext>
            </p:extLst>
          </p:nvPr>
        </p:nvGraphicFramePr>
        <p:xfrm>
          <a:off x="1567543" y="624113"/>
          <a:ext cx="9448800" cy="59798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1816">
                  <a:extLst>
                    <a:ext uri="{9D8B030D-6E8A-4147-A177-3AD203B41FA5}">
                      <a16:colId xmlns="" xmlns:a16="http://schemas.microsoft.com/office/drawing/2014/main" val="3516870150"/>
                    </a:ext>
                  </a:extLst>
                </a:gridCol>
                <a:gridCol w="7966984">
                  <a:extLst>
                    <a:ext uri="{9D8B030D-6E8A-4147-A177-3AD203B41FA5}">
                      <a16:colId xmlns="" xmlns:a16="http://schemas.microsoft.com/office/drawing/2014/main" val="2996684165"/>
                    </a:ext>
                  </a:extLst>
                </a:gridCol>
              </a:tblGrid>
              <a:tr h="3358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Lectures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2729004283"/>
                  </a:ext>
                </a:extLst>
              </a:tr>
              <a:tr h="3358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Introduction to Software Engineering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41968321"/>
                  </a:ext>
                </a:extLst>
              </a:tr>
              <a:tr h="19217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Software Development Process (SDLC Activities)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Specification or Requirement Engineering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System Modeling/Design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Implementation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Testing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Evolution (-)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Deployment/Installation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SDLC Activity: Maintenance (-)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1694033546"/>
                  </a:ext>
                </a:extLst>
              </a:tr>
              <a:tr h="10155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SDLC Activity: Requirement Engineering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Requirement Elicitation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Requirement Analysis and Management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Times New Roman" panose="02020603050405020304" pitchFamily="18" charset="0"/>
                        <a:buChar char="-"/>
                      </a:pPr>
                      <a:r>
                        <a:rPr lang="en-US" sz="1200" dirty="0">
                          <a:effectLst/>
                        </a:rPr>
                        <a:t>Requirement Validation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4040860490"/>
                  </a:ext>
                </a:extLst>
              </a:tr>
              <a:tr h="4749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4, 5, 6,7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SDLC Activity: System Modeling/Design </a:t>
                      </a: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2113652106"/>
                  </a:ext>
                </a:extLst>
              </a:tr>
              <a:tr h="5526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SDLC Activity: Testing (White Box Testing – Focus)</a:t>
                      </a: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539733612"/>
                  </a:ext>
                </a:extLst>
              </a:tr>
              <a:tr h="3358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SDLC Activity: Testing (Black Box Testing – Focus)</a:t>
                      </a: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2838411904"/>
                  </a:ext>
                </a:extLst>
              </a:tr>
              <a:tr h="3358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</a:rPr>
                        <a:t>System Development Strategy</a:t>
                      </a: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975288023"/>
                  </a:ext>
                </a:extLst>
              </a:tr>
              <a:tr h="3358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System Architecture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325840821"/>
                  </a:ext>
                </a:extLst>
              </a:tr>
              <a:tr h="3358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00" marR="67100" marT="35414" marB="52810" anchor="ctr"/>
                </a:tc>
                <a:extLst>
                  <a:ext uri="{0D108BD9-81ED-4DB2-BD59-A6C34878D82A}">
                    <a16:rowId xmlns="" xmlns:a16="http://schemas.microsoft.com/office/drawing/2014/main" val="763160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08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="" xmlns:a16="http://schemas.microsoft.com/office/drawing/2014/main" id="{457DF9AA-D6D7-D548-8EAF-8684148B3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Objective of this lecture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="" xmlns:a16="http://schemas.microsoft.com/office/drawing/2014/main" id="{5F5D7584-4E43-C744-91F5-B1FB69025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9" y="2362201"/>
            <a:ext cx="7007225" cy="26781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>
                <a:solidFill>
                  <a:schemeClr val="bg1"/>
                </a:solidFill>
              </a:rPr>
              <a:t>As you plan the system architecture, you will learn about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chemeClr val="bg1"/>
                </a:solidFill>
              </a:rPr>
              <a:t>Servers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chemeClr val="bg1"/>
                </a:solidFill>
              </a:rPr>
              <a:t>Clients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chemeClr val="bg1"/>
                </a:solidFill>
              </a:rPr>
              <a:t>Processing Methods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chemeClr val="bg1"/>
                </a:solidFill>
              </a:rPr>
              <a:t>Networks</a:t>
            </a:r>
          </a:p>
        </p:txBody>
      </p:sp>
    </p:spTree>
    <p:extLst>
      <p:ext uri="{BB962C8B-B14F-4D97-AF65-F5344CB8AC3E}">
        <p14:creationId xmlns:p14="http://schemas.microsoft.com/office/powerpoint/2010/main" val="61007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="" xmlns:a16="http://schemas.microsoft.com/office/drawing/2014/main" id="{B289D733-B01B-FD4D-83F1-7DA42DDDF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Architecture Checklist</a:t>
            </a:r>
          </a:p>
        </p:txBody>
      </p:sp>
      <p:sp>
        <p:nvSpPr>
          <p:cNvPr id="9219" name="Content Placeholder 5">
            <a:extLst>
              <a:ext uri="{FF2B5EF4-FFF2-40B4-BE49-F238E27FC236}">
                <a16:creationId xmlns="" xmlns:a16="http://schemas.microsoft.com/office/drawing/2014/main" id="{0C2ABE72-CE91-E648-B891-DA3571F15FCD}"/>
              </a:ext>
            </a:extLst>
          </p:cNvPr>
          <p:cNvSpPr txBox="1">
            <a:spLocks/>
          </p:cNvSpPr>
          <p:nvPr/>
        </p:nvSpPr>
        <p:spPr bwMode="auto">
          <a:xfrm>
            <a:off x="2276475" y="1108076"/>
            <a:ext cx="7639050" cy="52736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500" dirty="0">
                <a:solidFill>
                  <a:schemeClr val="bg1"/>
                </a:solidFill>
              </a:rPr>
              <a:t>Systems analyst must approach system architecture with an overall checklist.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500" u="sng" dirty="0">
                <a:solidFill>
                  <a:schemeClr val="bg1"/>
                </a:solidFill>
              </a:rPr>
              <a:t>Before making a decision, the analyst must consider seven specific issues that will affect the architecture choice: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2500" dirty="0">
                <a:solidFill>
                  <a:schemeClr val="bg1"/>
                </a:solidFill>
              </a:rPr>
              <a:t>ERP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2500" dirty="0">
                <a:solidFill>
                  <a:schemeClr val="bg1"/>
                </a:solidFill>
              </a:rPr>
              <a:t>Initial cost and TCO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2500" dirty="0">
                <a:solidFill>
                  <a:schemeClr val="bg1"/>
                </a:solidFill>
              </a:rPr>
              <a:t>Scalability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2500" dirty="0">
                <a:solidFill>
                  <a:schemeClr val="bg1"/>
                </a:solidFill>
              </a:rPr>
              <a:t>Web Integration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2500" dirty="0">
                <a:solidFill>
                  <a:schemeClr val="bg1"/>
                </a:solidFill>
              </a:rPr>
              <a:t>Legacy System Interface requirements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2500" dirty="0">
                <a:solidFill>
                  <a:schemeClr val="bg1"/>
                </a:solidFill>
              </a:rPr>
              <a:t>Processing Options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/>
            </a:pPr>
            <a:r>
              <a:rPr lang="en-US" sz="2500" dirty="0">
                <a:solidFill>
                  <a:schemeClr val="bg1"/>
                </a:solidFill>
              </a:rPr>
              <a:t>Security Issues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9C3F79E-C4D4-B44F-903A-DED1B3A8FFE2}"/>
              </a:ext>
            </a:extLst>
          </p:cNvPr>
          <p:cNvSpPr txBox="1"/>
          <p:nvPr/>
        </p:nvSpPr>
        <p:spPr>
          <a:xfrm>
            <a:off x="1483656" y="491332"/>
            <a:ext cx="582612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1717028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="" xmlns:a16="http://schemas.microsoft.com/office/drawing/2014/main" id="{CD7D717C-1F4A-6C47-BD82-5D2D4E5FB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Architectural Concepts</a:t>
            </a:r>
          </a:p>
        </p:txBody>
      </p:sp>
      <p:sp>
        <p:nvSpPr>
          <p:cNvPr id="8195" name="Content Placeholder 5">
            <a:extLst>
              <a:ext uri="{FF2B5EF4-FFF2-40B4-BE49-F238E27FC236}">
                <a16:creationId xmlns="" xmlns:a16="http://schemas.microsoft.com/office/drawing/2014/main" id="{D91B83E3-CAF6-2744-B636-B82506BC2D35}"/>
              </a:ext>
            </a:extLst>
          </p:cNvPr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bg1"/>
                </a:solidFill>
              </a:rPr>
              <a:t>Enterprise Resource Planning</a:t>
            </a:r>
          </a:p>
        </p:txBody>
      </p:sp>
      <p:sp>
        <p:nvSpPr>
          <p:cNvPr id="8196" name="Rectangle 6">
            <a:extLst>
              <a:ext uri="{FF2B5EF4-FFF2-40B4-BE49-F238E27FC236}">
                <a16:creationId xmlns="" xmlns:a16="http://schemas.microsoft.com/office/drawing/2014/main" id="{30622273-5607-1144-9FFB-FF2A2C5F9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2786063"/>
            <a:ext cx="7886700" cy="34163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400">
                <a:solidFill>
                  <a:schemeClr val="bg1"/>
                </a:solidFill>
              </a:rPr>
              <a:t>The objective of ERP is to establish a company-wide strategy for using IT resources.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400" u="sng">
                <a:solidFill>
                  <a:schemeClr val="bg1"/>
                </a:solidFill>
              </a:rPr>
              <a:t>ERP defines a specific architecture, including standards for data, processing, network, and user interface design</a:t>
            </a:r>
            <a:r>
              <a:rPr lang="en-US" altLang="en-US" sz="2400">
                <a:solidFill>
                  <a:schemeClr val="bg1"/>
                </a:solidFill>
              </a:rPr>
              <a:t>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400">
                <a:solidFill>
                  <a:schemeClr val="bg1"/>
                </a:solidFill>
              </a:rPr>
              <a:t>A main advantage of ERP is that it describes a specific hardware and software </a:t>
            </a:r>
            <a:r>
              <a:rPr lang="en-US" altLang="en-US" sz="2400" b="1">
                <a:solidFill>
                  <a:schemeClr val="bg1"/>
                </a:solidFill>
              </a:rPr>
              <a:t>environment</a:t>
            </a:r>
            <a:r>
              <a:rPr lang="en-US" altLang="en-US" sz="2400">
                <a:solidFill>
                  <a:schemeClr val="bg1"/>
                </a:solidFill>
              </a:rPr>
              <a:t>, also called a </a:t>
            </a:r>
            <a:r>
              <a:rPr lang="en-US" altLang="en-US" sz="2400" b="1">
                <a:solidFill>
                  <a:schemeClr val="bg1"/>
                </a:solidFill>
              </a:rPr>
              <a:t>platform</a:t>
            </a:r>
            <a:r>
              <a:rPr lang="en-US" altLang="en-US" sz="2400">
                <a:solidFill>
                  <a:schemeClr val="bg1"/>
                </a:solidFill>
              </a:rPr>
              <a:t>, that ensures connectivity and </a:t>
            </a:r>
            <a:r>
              <a:rPr lang="en-US" altLang="en-US" sz="2400" u="sng">
                <a:solidFill>
                  <a:schemeClr val="bg1"/>
                </a:solidFill>
              </a:rPr>
              <a:t>easy integration of future systems, including in-house software and commercial packages.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0E6EFA9-A124-2E40-B7E5-9603FBCE235F}"/>
              </a:ext>
            </a:extLst>
          </p:cNvPr>
          <p:cNvSpPr txBox="1"/>
          <p:nvPr/>
        </p:nvSpPr>
        <p:spPr>
          <a:xfrm>
            <a:off x="2449513" y="2054225"/>
            <a:ext cx="582612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3791914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="" xmlns:a16="http://schemas.microsoft.com/office/drawing/2014/main" id="{535EEF19-7A1F-0B45-A47C-0FBC3C21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Architectural Concepts</a:t>
            </a:r>
          </a:p>
        </p:txBody>
      </p:sp>
      <p:sp>
        <p:nvSpPr>
          <p:cNvPr id="9219" name="Content Placeholder 5">
            <a:extLst>
              <a:ext uri="{FF2B5EF4-FFF2-40B4-BE49-F238E27FC236}">
                <a16:creationId xmlns="" xmlns:a16="http://schemas.microsoft.com/office/drawing/2014/main" id="{00D438B2-0793-9949-86C5-0334C83CA697}"/>
              </a:ext>
            </a:extLst>
          </p:cNvPr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bg1"/>
                </a:solidFill>
              </a:rPr>
              <a:t>Enterprise Resource Planning</a:t>
            </a:r>
          </a:p>
        </p:txBody>
      </p:sp>
      <p:pic>
        <p:nvPicPr>
          <p:cNvPr id="9220" name="Picture 3">
            <a:extLst>
              <a:ext uri="{FF2B5EF4-FFF2-40B4-BE49-F238E27FC236}">
                <a16:creationId xmlns="" xmlns:a16="http://schemas.microsoft.com/office/drawing/2014/main" id="{D4394472-7797-C642-A1F9-796FF72B5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2655889"/>
            <a:ext cx="7270750" cy="353853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007F330-1BB7-8A4C-A3D7-6703F3927FF5}"/>
              </a:ext>
            </a:extLst>
          </p:cNvPr>
          <p:cNvSpPr txBox="1"/>
          <p:nvPr/>
        </p:nvSpPr>
        <p:spPr>
          <a:xfrm>
            <a:off x="2449513" y="2054225"/>
            <a:ext cx="582612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174318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="" xmlns:a16="http://schemas.microsoft.com/office/drawing/2014/main" id="{8D6ADC76-DA36-F643-A37D-1A29543F0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Architectural Concepts</a:t>
            </a:r>
          </a:p>
        </p:txBody>
      </p:sp>
      <p:sp>
        <p:nvSpPr>
          <p:cNvPr id="10243" name="Content Placeholder 5">
            <a:extLst>
              <a:ext uri="{FF2B5EF4-FFF2-40B4-BE49-F238E27FC236}">
                <a16:creationId xmlns="" xmlns:a16="http://schemas.microsoft.com/office/drawing/2014/main" id="{63675A47-B85B-CD42-8774-11A5B9A78B55}"/>
              </a:ext>
            </a:extLst>
          </p:cNvPr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bg1"/>
                </a:solidFill>
              </a:rPr>
              <a:t>Web Integration</a:t>
            </a:r>
          </a:p>
        </p:txBody>
      </p:sp>
      <p:sp>
        <p:nvSpPr>
          <p:cNvPr id="10244" name="Rectangle 6">
            <a:extLst>
              <a:ext uri="{FF2B5EF4-FFF2-40B4-BE49-F238E27FC236}">
                <a16:creationId xmlns="" xmlns:a16="http://schemas.microsoft.com/office/drawing/2014/main" id="{1B46C38F-6E9D-CF47-AB87-3D7EF3BB5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2786064"/>
            <a:ext cx="7886700" cy="2308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400">
                <a:solidFill>
                  <a:schemeClr val="bg1"/>
                </a:solidFill>
              </a:rPr>
              <a:t>A Web-based application </a:t>
            </a:r>
            <a:r>
              <a:rPr lang="en-US" altLang="en-US" sz="2400" u="sng">
                <a:solidFill>
                  <a:schemeClr val="bg1"/>
                </a:solidFill>
              </a:rPr>
              <a:t>avoids</a:t>
            </a:r>
            <a:r>
              <a:rPr lang="en-US" altLang="en-US" sz="2400">
                <a:solidFill>
                  <a:schemeClr val="bg1"/>
                </a:solidFill>
              </a:rPr>
              <a:t> many of the connectivity and </a:t>
            </a:r>
            <a:r>
              <a:rPr lang="en-US" altLang="en-US" sz="2400" u="sng">
                <a:solidFill>
                  <a:schemeClr val="bg1"/>
                </a:solidFill>
              </a:rPr>
              <a:t>compatibility problems </a:t>
            </a:r>
            <a:r>
              <a:rPr lang="en-US" altLang="en-US" sz="2400">
                <a:solidFill>
                  <a:schemeClr val="bg1"/>
                </a:solidFill>
              </a:rPr>
              <a:t>that typically arise when different hardware environments are involved.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400">
                <a:solidFill>
                  <a:schemeClr val="bg1"/>
                </a:solidFill>
              </a:rPr>
              <a:t>In a Web-based environment, a firm’s external business partners can use standard Web browsers to import and export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50A5658-C19A-A540-ABB2-5DEFD903E850}"/>
              </a:ext>
            </a:extLst>
          </p:cNvPr>
          <p:cNvSpPr txBox="1"/>
          <p:nvPr/>
        </p:nvSpPr>
        <p:spPr>
          <a:xfrm>
            <a:off x="2449513" y="2054225"/>
            <a:ext cx="582612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2479720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="" xmlns:a16="http://schemas.microsoft.com/office/drawing/2014/main" id="{0DF720CE-9F0C-704B-95C3-65959798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Architectural Concepts</a:t>
            </a:r>
          </a:p>
        </p:txBody>
      </p:sp>
      <p:sp>
        <p:nvSpPr>
          <p:cNvPr id="11267" name="Content Placeholder 5">
            <a:extLst>
              <a:ext uri="{FF2B5EF4-FFF2-40B4-BE49-F238E27FC236}">
                <a16:creationId xmlns="" xmlns:a16="http://schemas.microsoft.com/office/drawing/2014/main" id="{6B6FD9BB-7C60-EF41-8928-47BCCD1F902A}"/>
              </a:ext>
            </a:extLst>
          </p:cNvPr>
          <p:cNvSpPr txBox="1">
            <a:spLocks/>
          </p:cNvSpPr>
          <p:nvPr/>
        </p:nvSpPr>
        <p:spPr bwMode="auto">
          <a:xfrm>
            <a:off x="2152650" y="1181028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bg1"/>
                </a:solidFill>
              </a:rPr>
              <a:t>Web Integration</a:t>
            </a:r>
          </a:p>
        </p:txBody>
      </p:sp>
      <p:sp>
        <p:nvSpPr>
          <p:cNvPr id="11268" name="Content Placeholder 5">
            <a:extLst>
              <a:ext uri="{FF2B5EF4-FFF2-40B4-BE49-F238E27FC236}">
                <a16:creationId xmlns="" xmlns:a16="http://schemas.microsoft.com/office/drawing/2014/main" id="{21CA1DAC-8582-8944-A7E2-ADA72733E157}"/>
              </a:ext>
            </a:extLst>
          </p:cNvPr>
          <p:cNvSpPr txBox="1">
            <a:spLocks/>
          </p:cNvSpPr>
          <p:nvPr/>
        </p:nvSpPr>
        <p:spPr bwMode="auto">
          <a:xfrm>
            <a:off x="2147888" y="6075363"/>
            <a:ext cx="7886700" cy="3413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800" b="1" i="1">
                <a:solidFill>
                  <a:schemeClr val="bg1"/>
                </a:solidFill>
              </a:rPr>
              <a:t>Examples: facebook, e-commerce</a:t>
            </a:r>
          </a:p>
        </p:txBody>
      </p:sp>
      <p:pic>
        <p:nvPicPr>
          <p:cNvPr id="11269" name="Picture 2" descr="Image result for web architecture">
            <a:extLst>
              <a:ext uri="{FF2B5EF4-FFF2-40B4-BE49-F238E27FC236}">
                <a16:creationId xmlns="" xmlns:a16="http://schemas.microsoft.com/office/drawing/2014/main" id="{AA0D77D3-B95A-2241-9D45-7F3D93F45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25" y="1738119"/>
            <a:ext cx="6138441" cy="420560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261505A-8E7E-BF4F-BB3A-829DC6DD0B78}"/>
              </a:ext>
            </a:extLst>
          </p:cNvPr>
          <p:cNvSpPr txBox="1"/>
          <p:nvPr/>
        </p:nvSpPr>
        <p:spPr>
          <a:xfrm>
            <a:off x="2449513" y="1209603"/>
            <a:ext cx="582612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1296206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="" xmlns:a16="http://schemas.microsoft.com/office/drawing/2014/main" id="{F2586531-C51B-0D43-85EE-C849760D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Architectural Concepts</a:t>
            </a:r>
          </a:p>
        </p:txBody>
      </p:sp>
      <p:sp>
        <p:nvSpPr>
          <p:cNvPr id="12291" name="Content Placeholder 5">
            <a:extLst>
              <a:ext uri="{FF2B5EF4-FFF2-40B4-BE49-F238E27FC236}">
                <a16:creationId xmlns="" xmlns:a16="http://schemas.microsoft.com/office/drawing/2014/main" id="{C4A6A426-B344-C24F-88BC-C5E8746451C2}"/>
              </a:ext>
            </a:extLst>
          </p:cNvPr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bg1"/>
                </a:solidFill>
              </a:rPr>
              <a:t>Processing Options</a:t>
            </a:r>
          </a:p>
        </p:txBody>
      </p:sp>
      <p:sp>
        <p:nvSpPr>
          <p:cNvPr id="12292" name="Rectangle 6">
            <a:extLst>
              <a:ext uri="{FF2B5EF4-FFF2-40B4-BE49-F238E27FC236}">
                <a16:creationId xmlns="" xmlns:a16="http://schemas.microsoft.com/office/drawing/2014/main" id="{B4BDBB76-D699-D44E-B2E7-FBEA2AE74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2786064"/>
            <a:ext cx="7886700" cy="378618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400">
                <a:solidFill>
                  <a:schemeClr val="bg1"/>
                </a:solidFill>
              </a:rPr>
              <a:t>Online/Real time Processing and Batch processing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400">
                <a:solidFill>
                  <a:schemeClr val="bg1"/>
                </a:solidFill>
              </a:rPr>
              <a:t>In planning the architecture, designers also must consider how the system will process data — </a:t>
            </a:r>
            <a:r>
              <a:rPr lang="en-US" altLang="en-US" sz="2400" u="sng">
                <a:solidFill>
                  <a:schemeClr val="bg1"/>
                </a:solidFill>
              </a:rPr>
              <a:t>online or in batches</a:t>
            </a:r>
            <a:r>
              <a:rPr lang="en-US" altLang="en-US" sz="2400">
                <a:solidFill>
                  <a:schemeClr val="bg1"/>
                </a:solidFill>
              </a:rPr>
              <a:t>. For example, a high-capacity transaction processing system, such as </a:t>
            </a:r>
            <a:r>
              <a:rPr lang="en-US" altLang="en-US" sz="2400" u="sng">
                <a:solidFill>
                  <a:schemeClr val="bg1"/>
                </a:solidFill>
              </a:rPr>
              <a:t>an order entry system, requires more network, processing, and data storage resources than a monthly billing system that handles data in batches.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400" u="sng">
                <a:solidFill>
                  <a:schemeClr val="bg1"/>
                </a:solidFill>
              </a:rPr>
              <a:t>If the system must operate online, 24 hours a day and seven days a week (24/7), provision must be made for backup and speedy recovery in the event of system failure.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F8283FE-7850-D94D-89E4-134530B0E59C}"/>
              </a:ext>
            </a:extLst>
          </p:cNvPr>
          <p:cNvSpPr txBox="1"/>
          <p:nvPr/>
        </p:nvSpPr>
        <p:spPr>
          <a:xfrm>
            <a:off x="2449513" y="2054225"/>
            <a:ext cx="582612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1.3</a:t>
            </a:r>
          </a:p>
        </p:txBody>
      </p:sp>
    </p:spTree>
    <p:extLst>
      <p:ext uri="{BB962C8B-B14F-4D97-AF65-F5344CB8AC3E}">
        <p14:creationId xmlns:p14="http://schemas.microsoft.com/office/powerpoint/2010/main" val="383593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="" xmlns:a16="http://schemas.microsoft.com/office/drawing/2014/main" id="{FD03929A-938B-DF49-AC86-C1C38705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Total cost of Ownership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="" xmlns:a16="http://schemas.microsoft.com/office/drawing/2014/main" id="{1D2B8923-8261-324D-969F-48BBD71DF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163639"/>
            <a:ext cx="7886700" cy="5013325"/>
          </a:xfrm>
        </p:spPr>
        <p:txBody>
          <a:bodyPr/>
          <a:lstStyle/>
          <a:p>
            <a:pPr eaLnBrk="1" hangingPunct="1"/>
            <a:r>
              <a:rPr lang="en-US" altLang="en-US"/>
              <a:t>How will be the total cost, revision on TCO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4929745-82AF-8046-8B97-49EFC38CFC71}"/>
              </a:ext>
            </a:extLst>
          </p:cNvPr>
          <p:cNvSpPr txBox="1"/>
          <p:nvPr/>
        </p:nvSpPr>
        <p:spPr>
          <a:xfrm>
            <a:off x="1982788" y="490539"/>
            <a:ext cx="582612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1.4</a:t>
            </a:r>
          </a:p>
        </p:txBody>
      </p:sp>
    </p:spTree>
    <p:extLst>
      <p:ext uri="{BB962C8B-B14F-4D97-AF65-F5344CB8AC3E}">
        <p14:creationId xmlns:p14="http://schemas.microsoft.com/office/powerpoint/2010/main" val="407159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="" xmlns:a16="http://schemas.microsoft.com/office/drawing/2014/main" id="{3017EA47-5019-6E40-9DA2-7784D10A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Legacy System Interface requirements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="" xmlns:a16="http://schemas.microsoft.com/office/drawing/2014/main" id="{69F5F206-5E9E-2641-B8A5-8F16ED60A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163639"/>
            <a:ext cx="7886700" cy="5013325"/>
          </a:xfrm>
        </p:spPr>
        <p:txBody>
          <a:bodyPr/>
          <a:lstStyle/>
          <a:p>
            <a:pPr eaLnBrk="1" hangingPunct="1"/>
            <a:r>
              <a:rPr lang="en-US" altLang="en-US"/>
              <a:t>A new marketing information system might need to report sales data to a server based on accounting system and obtain product cost which might be a part of a legacy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91AECAE-FC5D-0F4C-8FA2-05EBCE728A78}"/>
              </a:ext>
            </a:extLst>
          </p:cNvPr>
          <p:cNvSpPr txBox="1"/>
          <p:nvPr/>
        </p:nvSpPr>
        <p:spPr>
          <a:xfrm>
            <a:off x="1982788" y="490539"/>
            <a:ext cx="582612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1.5</a:t>
            </a:r>
          </a:p>
        </p:txBody>
      </p:sp>
    </p:spTree>
    <p:extLst>
      <p:ext uri="{BB962C8B-B14F-4D97-AF65-F5344CB8AC3E}">
        <p14:creationId xmlns:p14="http://schemas.microsoft.com/office/powerpoint/2010/main" val="2363544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="" xmlns:a16="http://schemas.microsoft.com/office/drawing/2014/main" id="{F37C5162-205F-764A-847D-2E5DF095C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Security Issues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="" xmlns:a16="http://schemas.microsoft.com/office/drawing/2014/main" id="{FE739AB5-51F9-2D44-9F5B-456E27AD3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163638"/>
            <a:ext cx="7886700" cy="957262"/>
          </a:xfrm>
        </p:spPr>
        <p:txBody>
          <a:bodyPr/>
          <a:lstStyle/>
          <a:p>
            <a:pPr eaLnBrk="1" hangingPunct="1"/>
            <a:r>
              <a:rPr lang="en-US" altLang="en-US"/>
              <a:t>Need to think about the urgency and severity of issues related with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8BDC5B4-A0C0-CF4B-B86A-1FD7E4A61BCB}"/>
              </a:ext>
            </a:extLst>
          </p:cNvPr>
          <p:cNvSpPr txBox="1"/>
          <p:nvPr/>
        </p:nvSpPr>
        <p:spPr>
          <a:xfrm>
            <a:off x="1982788" y="490539"/>
            <a:ext cx="582612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1.6</a:t>
            </a:r>
          </a:p>
        </p:txBody>
      </p:sp>
      <p:sp>
        <p:nvSpPr>
          <p:cNvPr id="15365" name="Title 1">
            <a:extLst>
              <a:ext uri="{FF2B5EF4-FFF2-40B4-BE49-F238E27FC236}">
                <a16:creationId xmlns="" xmlns:a16="http://schemas.microsoft.com/office/drawing/2014/main" id="{8E3FD16D-9908-0541-A889-84B625BC4137}"/>
              </a:ext>
            </a:extLst>
          </p:cNvPr>
          <p:cNvSpPr txBox="1">
            <a:spLocks/>
          </p:cNvSpPr>
          <p:nvPr/>
        </p:nvSpPr>
        <p:spPr bwMode="auto">
          <a:xfrm>
            <a:off x="2662238" y="2208213"/>
            <a:ext cx="737711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100">
                <a:latin typeface="Calibri Light" panose="020F0302020204030204" pitchFamily="34" charset="0"/>
              </a:rPr>
              <a:t>Scalability</a:t>
            </a:r>
          </a:p>
        </p:txBody>
      </p:sp>
      <p:sp>
        <p:nvSpPr>
          <p:cNvPr id="15366" name="Content Placeholder 2">
            <a:extLst>
              <a:ext uri="{FF2B5EF4-FFF2-40B4-BE49-F238E27FC236}">
                <a16:creationId xmlns="" xmlns:a16="http://schemas.microsoft.com/office/drawing/2014/main" id="{253C9F47-DB83-4446-8143-5376347DB7CB}"/>
              </a:ext>
            </a:extLst>
          </p:cNvPr>
          <p:cNvSpPr txBox="1">
            <a:spLocks/>
          </p:cNvSpPr>
          <p:nvPr/>
        </p:nvSpPr>
        <p:spPr bwMode="auto">
          <a:xfrm>
            <a:off x="2152650" y="3006726"/>
            <a:ext cx="788670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100"/>
              <a:t>Extensibility</a:t>
            </a:r>
          </a:p>
          <a:p>
            <a:pPr eaLnBrk="1" hangingPunct="1"/>
            <a:r>
              <a:rPr lang="en-US" altLang="en-US" sz="2100"/>
              <a:t>Ability to expand, change or downsize easily to meet the changing needs.</a:t>
            </a:r>
          </a:p>
          <a:p>
            <a:pPr eaLnBrk="1" hangingPunct="1"/>
            <a:r>
              <a:rPr lang="en-US" altLang="en-US" sz="2100"/>
              <a:t>Handling the traffic from couple of nodes to hundreds of thousands of nodes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1F3A666-86BF-0F47-A1A2-2AD000415069}"/>
              </a:ext>
            </a:extLst>
          </p:cNvPr>
          <p:cNvSpPr txBox="1"/>
          <p:nvPr/>
        </p:nvSpPr>
        <p:spPr>
          <a:xfrm>
            <a:off x="1982788" y="2335213"/>
            <a:ext cx="582612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1.7</a:t>
            </a:r>
          </a:p>
        </p:txBody>
      </p:sp>
    </p:spTree>
    <p:extLst>
      <p:ext uri="{BB962C8B-B14F-4D97-AF65-F5344CB8AC3E}">
        <p14:creationId xmlns:p14="http://schemas.microsoft.com/office/powerpoint/2010/main" val="3725442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="" xmlns:a16="http://schemas.microsoft.com/office/drawing/2014/main" id="{27C973A3-F43F-1D4C-AA85-5A68225A6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Planning the Architecture</a:t>
            </a:r>
          </a:p>
        </p:txBody>
      </p:sp>
      <p:sp>
        <p:nvSpPr>
          <p:cNvPr id="16387" name="Content Placeholder 5">
            <a:extLst>
              <a:ext uri="{FF2B5EF4-FFF2-40B4-BE49-F238E27FC236}">
                <a16:creationId xmlns="" xmlns:a16="http://schemas.microsoft.com/office/drawing/2014/main" id="{E3B33688-7024-0A4C-A065-E4DB91787910}"/>
              </a:ext>
            </a:extLst>
          </p:cNvPr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bg1"/>
                </a:solidFill>
              </a:rPr>
              <a:t>Planning the Architecture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="" xmlns:a16="http://schemas.microsoft.com/office/drawing/2014/main" id="{B49611BF-9F5C-2E4A-A073-8733491C396F}"/>
              </a:ext>
            </a:extLst>
          </p:cNvPr>
          <p:cNvGraphicFramePr/>
          <p:nvPr/>
        </p:nvGraphicFramePr>
        <p:xfrm>
          <a:off x="2262389" y="2691685"/>
          <a:ext cx="7776961" cy="3758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3ACDACC-0FF2-8E49-9465-495C3091905C}"/>
              </a:ext>
            </a:extLst>
          </p:cNvPr>
          <p:cNvSpPr txBox="1"/>
          <p:nvPr/>
        </p:nvSpPr>
        <p:spPr>
          <a:xfrm>
            <a:off x="2259013" y="2054225"/>
            <a:ext cx="582612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46057CC-A6C3-374E-8498-141BACAB5275}"/>
              </a:ext>
            </a:extLst>
          </p:cNvPr>
          <p:cNvSpPr txBox="1"/>
          <p:nvPr/>
        </p:nvSpPr>
        <p:spPr>
          <a:xfrm>
            <a:off x="1641476" y="3074989"/>
            <a:ext cx="582613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53725B2-DD2A-284C-9837-0E6E9630B0AE}"/>
              </a:ext>
            </a:extLst>
          </p:cNvPr>
          <p:cNvSpPr txBox="1"/>
          <p:nvPr/>
        </p:nvSpPr>
        <p:spPr>
          <a:xfrm>
            <a:off x="1641476" y="4344989"/>
            <a:ext cx="582613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CB6730B-A055-8F4D-AA9A-47A165A24415}"/>
              </a:ext>
            </a:extLst>
          </p:cNvPr>
          <p:cNvSpPr txBox="1"/>
          <p:nvPr/>
        </p:nvSpPr>
        <p:spPr>
          <a:xfrm>
            <a:off x="1641476" y="5430839"/>
            <a:ext cx="582613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2.3</a:t>
            </a:r>
          </a:p>
        </p:txBody>
      </p:sp>
    </p:spTree>
    <p:extLst>
      <p:ext uri="{BB962C8B-B14F-4D97-AF65-F5344CB8AC3E}">
        <p14:creationId xmlns:p14="http://schemas.microsoft.com/office/powerpoint/2010/main" val="3779596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="" xmlns:a16="http://schemas.microsoft.com/office/drawing/2014/main" id="{EE2B3FE1-7950-4C4E-9A99-0E532C94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Common types of Servers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="" xmlns:a16="http://schemas.microsoft.com/office/drawing/2014/main" id="{7F6A0AB0-4767-E645-925F-556C4326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163639"/>
            <a:ext cx="7886700" cy="5013325"/>
          </a:xfrm>
        </p:spPr>
        <p:txBody>
          <a:bodyPr/>
          <a:lstStyle/>
          <a:p>
            <a:pPr eaLnBrk="1" hangingPunct="1"/>
            <a:r>
              <a:rPr lang="en-US" altLang="en-US"/>
              <a:t>Types of Server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/>
              <a:t>Database Server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/>
              <a:t>Transaction Server</a:t>
            </a:r>
          </a:p>
          <a:p>
            <a:pPr lvl="2" eaLnBrk="1" hangingPunct="1"/>
            <a:r>
              <a:rPr lang="en-US" altLang="en-US" sz="1800"/>
              <a:t>The transaction server acts as an intermediary server that can ensure that the application or user receives the requested data from the database or the completion of that transaction. [Concept of distributed server system is involved]</a:t>
            </a:r>
          </a:p>
          <a:p>
            <a:pPr lvl="2" eaLnBrk="1" hangingPunct="1"/>
            <a:r>
              <a:rPr lang="en-US" altLang="en-US" sz="1800"/>
              <a:t>Makes distributed system possible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/>
              <a:t>Web Server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/>
              <a:t>Mail Server (outgoing mail server, incoming mail server)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/>
              <a:t>FTP Server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/>
              <a:t>Print Server 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/>
              <a:t>Remote Access Server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F72E237-C2C3-B740-9119-5D8E80211E0B}"/>
              </a:ext>
            </a:extLst>
          </p:cNvPr>
          <p:cNvSpPr txBox="1"/>
          <p:nvPr/>
        </p:nvSpPr>
        <p:spPr>
          <a:xfrm>
            <a:off x="1730376" y="520700"/>
            <a:ext cx="796925" cy="369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2.1.1</a:t>
            </a:r>
          </a:p>
        </p:txBody>
      </p:sp>
    </p:spTree>
    <p:extLst>
      <p:ext uri="{BB962C8B-B14F-4D97-AF65-F5344CB8AC3E}">
        <p14:creationId xmlns:p14="http://schemas.microsoft.com/office/powerpoint/2010/main" val="194801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="" xmlns:a16="http://schemas.microsoft.com/office/drawing/2014/main" id="{12F81D9D-04A2-B747-9C68-64CB68DF8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Additional information on SERVER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="" xmlns:a16="http://schemas.microsoft.com/office/drawing/2014/main" id="{37CE8242-8878-B645-9143-A324FB6B5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163639"/>
            <a:ext cx="7886700" cy="5013325"/>
          </a:xfrm>
        </p:spPr>
        <p:txBody>
          <a:bodyPr/>
          <a:lstStyle/>
          <a:p>
            <a:pPr eaLnBrk="1" hangingPunct="1"/>
            <a:r>
              <a:rPr lang="en-US" altLang="en-US"/>
              <a:t>Some extra information about SERVER</a:t>
            </a:r>
          </a:p>
          <a:p>
            <a:pPr lvl="1" eaLnBrk="1" hangingPunct="1"/>
            <a:r>
              <a:rPr lang="en-US" altLang="en-US"/>
              <a:t>Xeon Processor are standard processor used in server (opposed to I7)</a:t>
            </a:r>
          </a:p>
          <a:p>
            <a:pPr lvl="1" eaLnBrk="1" hangingPunct="1"/>
            <a:r>
              <a:rPr lang="en-US" altLang="en-US"/>
              <a:t>Equipped with Redundant power supply</a:t>
            </a:r>
          </a:p>
          <a:p>
            <a:pPr lvl="1" eaLnBrk="1" hangingPunct="1"/>
            <a:r>
              <a:rPr lang="en-US" altLang="en-US"/>
              <a:t>Equipped with RAID – Disks</a:t>
            </a:r>
          </a:p>
          <a:p>
            <a:pPr lvl="1" eaLnBrk="1" hangingPunct="1"/>
            <a:r>
              <a:rPr lang="en-US" altLang="en-US"/>
              <a:t>Equipped with ECC RAM (Self testing and self healing)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D9EE63B-70C5-BF4C-B0E3-55238CD01814}"/>
              </a:ext>
            </a:extLst>
          </p:cNvPr>
          <p:cNvSpPr txBox="1"/>
          <p:nvPr/>
        </p:nvSpPr>
        <p:spPr>
          <a:xfrm>
            <a:off x="1730375" y="520700"/>
            <a:ext cx="757238" cy="369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2.1.2</a:t>
            </a:r>
          </a:p>
        </p:txBody>
      </p:sp>
    </p:spTree>
    <p:extLst>
      <p:ext uri="{BB962C8B-B14F-4D97-AF65-F5344CB8AC3E}">
        <p14:creationId xmlns:p14="http://schemas.microsoft.com/office/powerpoint/2010/main" val="1799416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="" xmlns:a16="http://schemas.microsoft.com/office/drawing/2014/main" id="{67418805-6DA8-ED41-8F96-D227435A7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Clients: Types of Clients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="" xmlns:a16="http://schemas.microsoft.com/office/drawing/2014/main" id="{A46D7B4D-450B-9B4D-8D5C-C1E24A0E9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030288"/>
            <a:ext cx="9144000" cy="547211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Pre-requisite: concept of layers [ Database – Application – User Interface ]</a:t>
            </a:r>
          </a:p>
          <a:p>
            <a:pPr eaLnBrk="1" hangingPunct="1"/>
            <a:r>
              <a:rPr lang="en-US" altLang="en-US"/>
              <a:t>Types of Client/Server Network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 b="1"/>
              <a:t>Thick Client:</a:t>
            </a:r>
            <a:br>
              <a:rPr lang="en-US" altLang="en-US" b="1"/>
            </a:br>
            <a:r>
              <a:rPr lang="en-US" altLang="en-US"/>
              <a:t>- </a:t>
            </a:r>
            <a:r>
              <a:rPr lang="en-US" altLang="en-US" b="1"/>
              <a:t>Server</a:t>
            </a:r>
            <a:r>
              <a:rPr lang="en-US" altLang="en-US"/>
              <a:t>: Story only data</a:t>
            </a:r>
            <a:br>
              <a:rPr lang="en-US" altLang="en-US"/>
            </a:br>
            <a:r>
              <a:rPr lang="en-US" altLang="en-US"/>
              <a:t>- </a:t>
            </a:r>
            <a:r>
              <a:rPr lang="en-US" altLang="en-US" b="1"/>
              <a:t>Client</a:t>
            </a:r>
            <a:r>
              <a:rPr lang="en-US" altLang="en-US"/>
              <a:t>: </a:t>
            </a:r>
            <a:br>
              <a:rPr lang="en-US" altLang="en-US"/>
            </a:br>
            <a:r>
              <a:rPr lang="en-US" altLang="en-US"/>
              <a:t>	+ hold software, all the processing happens in client</a:t>
            </a:r>
            <a:br>
              <a:rPr lang="en-US" altLang="en-US"/>
            </a:br>
            <a:r>
              <a:rPr lang="en-US" altLang="en-US"/>
              <a:t>	+ Client need to be powerful in order to process</a:t>
            </a:r>
            <a:br>
              <a:rPr lang="en-US" altLang="en-US"/>
            </a:br>
            <a:r>
              <a:rPr lang="en-US" altLang="en-US"/>
              <a:t>- </a:t>
            </a:r>
            <a:r>
              <a:rPr lang="en-US" altLang="en-US" b="1"/>
              <a:t>Bandwidth: </a:t>
            </a:r>
            <a:r>
              <a:rPr lang="en-US" altLang="en-US"/>
              <a:t>Need high between client and server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 b="1"/>
              <a:t>Thin Client:</a:t>
            </a:r>
            <a:br>
              <a:rPr lang="en-US" altLang="en-US" b="1"/>
            </a:br>
            <a:r>
              <a:rPr lang="en-US" altLang="en-US"/>
              <a:t>- </a:t>
            </a:r>
            <a:r>
              <a:rPr lang="en-US" altLang="en-US" b="1"/>
              <a:t>Server</a:t>
            </a:r>
            <a:r>
              <a:rPr lang="en-US" altLang="en-US"/>
              <a:t>: hold software as well as data and processing is done by server itself.</a:t>
            </a:r>
            <a:br>
              <a:rPr lang="en-US" altLang="en-US"/>
            </a:br>
            <a:r>
              <a:rPr lang="en-US" altLang="en-US"/>
              <a:t>- </a:t>
            </a:r>
            <a:r>
              <a:rPr lang="en-US" altLang="en-US" b="1"/>
              <a:t>Client</a:t>
            </a:r>
            <a:r>
              <a:rPr lang="en-US" altLang="en-US"/>
              <a:t>: will only have interface to access the application and data stored in server</a:t>
            </a:r>
            <a:br>
              <a:rPr lang="en-US" altLang="en-US"/>
            </a:br>
            <a:r>
              <a:rPr lang="en-US" altLang="en-US"/>
              <a:t>- </a:t>
            </a:r>
            <a:r>
              <a:rPr lang="en-US" altLang="en-US" b="1"/>
              <a:t>Bandwidth: </a:t>
            </a:r>
            <a:r>
              <a:rPr lang="en-US" altLang="en-US"/>
              <a:t>low bandwidth can cope between client and server</a:t>
            </a:r>
            <a:br>
              <a:rPr lang="en-US" altLang="en-US"/>
            </a:br>
            <a:r>
              <a:rPr lang="en-US" altLang="en-US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3602028-5F7B-C344-879F-DD9761400358}"/>
              </a:ext>
            </a:extLst>
          </p:cNvPr>
          <p:cNvSpPr txBox="1"/>
          <p:nvPr/>
        </p:nvSpPr>
        <p:spPr>
          <a:xfrm>
            <a:off x="1722438" y="465138"/>
            <a:ext cx="520700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2.2</a:t>
            </a:r>
          </a:p>
        </p:txBody>
      </p:sp>
      <p:sp>
        <p:nvSpPr>
          <p:cNvPr id="20485" name="TextBox 4">
            <a:extLst>
              <a:ext uri="{FF2B5EF4-FFF2-40B4-BE49-F238E27FC236}">
                <a16:creationId xmlns="" xmlns:a16="http://schemas.microsoft.com/office/drawing/2014/main" id="{C0EB4072-F30A-D845-93E4-636726007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625" y="1700214"/>
            <a:ext cx="1079500" cy="369887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2812149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="" xmlns:a16="http://schemas.microsoft.com/office/drawing/2014/main" id="{3F80A2E0-6C1A-0147-8134-C0372358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926" y="2182813"/>
            <a:ext cx="7381875" cy="762000"/>
          </a:xfrm>
        </p:spPr>
        <p:txBody>
          <a:bodyPr/>
          <a:lstStyle/>
          <a:p>
            <a:pPr eaLnBrk="1" hangingPunct="1"/>
            <a:r>
              <a:rPr lang="en-US" altLang="en-US"/>
              <a:t>Local Area Network (LAN)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="" xmlns:a16="http://schemas.microsoft.com/office/drawing/2014/main" id="{061DE332-0051-264F-9D09-57442C8F5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0701" y="3141664"/>
            <a:ext cx="8531225" cy="985837"/>
          </a:xfrm>
        </p:spPr>
        <p:txBody>
          <a:bodyPr/>
          <a:lstStyle/>
          <a:p>
            <a:pPr eaLnBrk="1" hangingPunct="1"/>
            <a:r>
              <a:rPr lang="en-US" altLang="en-US"/>
              <a:t>Connect computers and other devices within limited physical area, e.g. office, classroom, building</a:t>
            </a:r>
          </a:p>
        </p:txBody>
      </p:sp>
      <p:sp>
        <p:nvSpPr>
          <p:cNvPr id="22532" name="Title 1">
            <a:extLst>
              <a:ext uri="{FF2B5EF4-FFF2-40B4-BE49-F238E27FC236}">
                <a16:creationId xmlns="" xmlns:a16="http://schemas.microsoft.com/office/drawing/2014/main" id="{858D69A3-F056-C14C-A46D-088D87238E0B}"/>
              </a:ext>
            </a:extLst>
          </p:cNvPr>
          <p:cNvSpPr txBox="1">
            <a:spLocks/>
          </p:cNvSpPr>
          <p:nvPr/>
        </p:nvSpPr>
        <p:spPr bwMode="auto">
          <a:xfrm>
            <a:off x="2566989" y="268288"/>
            <a:ext cx="77739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defTabSz="44926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en-US" sz="3200" b="1">
                <a:solidFill>
                  <a:srgbClr val="000000"/>
                </a:solidFill>
                <a:latin typeface="Calibri Light" panose="020F0302020204030204" pitchFamily="34" charset="0"/>
                <a:ea typeface="SimSun" panose="02010600030101010101" pitchFamily="2" charset="-122"/>
              </a:rPr>
              <a:t>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8A8E8D2-370A-CC4F-BADE-7B17BB77AF62}"/>
              </a:ext>
            </a:extLst>
          </p:cNvPr>
          <p:cNvSpPr txBox="1"/>
          <p:nvPr/>
        </p:nvSpPr>
        <p:spPr>
          <a:xfrm>
            <a:off x="1809751" y="465138"/>
            <a:ext cx="614363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chemeClr val="bg1"/>
                </a:solidFill>
              </a:rPr>
              <a:t>2.3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20D92FC-A567-8147-96E7-AB4BEA9389E6}"/>
              </a:ext>
            </a:extLst>
          </p:cNvPr>
          <p:cNvSpPr txBox="1"/>
          <p:nvPr/>
        </p:nvSpPr>
        <p:spPr>
          <a:xfrm>
            <a:off x="1720851" y="1433514"/>
            <a:ext cx="790575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dirty="0"/>
              <a:t>2.3.1</a:t>
            </a:r>
          </a:p>
        </p:txBody>
      </p:sp>
      <p:sp>
        <p:nvSpPr>
          <p:cNvPr id="22535" name="Title 1">
            <a:extLst>
              <a:ext uri="{FF2B5EF4-FFF2-40B4-BE49-F238E27FC236}">
                <a16:creationId xmlns="" xmlns:a16="http://schemas.microsoft.com/office/drawing/2014/main" id="{C198DA79-2E53-804D-95E6-83DD6C73C877}"/>
              </a:ext>
            </a:extLst>
          </p:cNvPr>
          <p:cNvSpPr txBox="1">
            <a:spLocks/>
          </p:cNvSpPr>
          <p:nvPr/>
        </p:nvSpPr>
        <p:spPr bwMode="auto">
          <a:xfrm>
            <a:off x="2508250" y="1235075"/>
            <a:ext cx="77739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defTabSz="44926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en-US" sz="3200" b="1">
                <a:solidFill>
                  <a:srgbClr val="000000"/>
                </a:solidFill>
                <a:latin typeface="Calibri Light" panose="020F0302020204030204" pitchFamily="34" charset="0"/>
                <a:ea typeface="SimSun" panose="02010600030101010101" pitchFamily="2" charset="-122"/>
              </a:rPr>
              <a:t>On the basis of Geographical Division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B306557-9487-7F44-9158-BC37CCAD02E5}"/>
              </a:ext>
            </a:extLst>
          </p:cNvPr>
          <p:cNvSpPr txBox="1"/>
          <p:nvPr/>
        </p:nvSpPr>
        <p:spPr>
          <a:xfrm>
            <a:off x="1719263" y="2379663"/>
            <a:ext cx="944562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dirty="0"/>
              <a:t>2.3.2.1</a:t>
            </a:r>
          </a:p>
        </p:txBody>
      </p:sp>
    </p:spTree>
    <p:extLst>
      <p:ext uri="{BB962C8B-B14F-4D97-AF65-F5344CB8AC3E}">
        <p14:creationId xmlns:p14="http://schemas.microsoft.com/office/powerpoint/2010/main" val="1135255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="" xmlns:a16="http://schemas.microsoft.com/office/drawing/2014/main" id="{11A310B3-A58F-834D-9DDD-68FEF262E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Metropolitan Area Network (MAN)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="" xmlns:a16="http://schemas.microsoft.com/office/drawing/2014/main" id="{C4CBA85E-BBEB-4644-93FC-2B35F1581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1" y="1125538"/>
            <a:ext cx="8531225" cy="3167062"/>
          </a:xfrm>
        </p:spPr>
        <p:txBody>
          <a:bodyPr/>
          <a:lstStyle/>
          <a:p>
            <a:pPr eaLnBrk="1" hangingPunct="1"/>
            <a:r>
              <a:rPr lang="en-US" altLang="en-US"/>
              <a:t>Inter-networking of local area networks (LANs)</a:t>
            </a:r>
          </a:p>
          <a:p>
            <a:pPr eaLnBrk="1" hangingPunct="1"/>
            <a:r>
              <a:rPr lang="en-US" altLang="en-US"/>
              <a:t>It is a wide area network optimized a specific geographical area (a specific city or a metropolitan)</a:t>
            </a:r>
          </a:p>
          <a:p>
            <a:pPr eaLnBrk="1" hangingPunct="1"/>
            <a:r>
              <a:rPr lang="en-US" altLang="en-US"/>
              <a:t>The networks can range from several blocks of buildings to entire cities</a:t>
            </a:r>
          </a:p>
          <a:p>
            <a:pPr eaLnBrk="1" hangingPunct="1"/>
            <a:r>
              <a:rPr lang="en-US" altLang="en-US" u="sng"/>
              <a:t>Local cable operators and Local telephone operator work within 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F7B2E95-786A-4E47-839C-B6F186FB6C53}"/>
              </a:ext>
            </a:extLst>
          </p:cNvPr>
          <p:cNvSpPr txBox="1"/>
          <p:nvPr/>
        </p:nvSpPr>
        <p:spPr>
          <a:xfrm>
            <a:off x="1704976" y="487364"/>
            <a:ext cx="862013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2.3.1.2</a:t>
            </a:r>
          </a:p>
        </p:txBody>
      </p:sp>
    </p:spTree>
    <p:extLst>
      <p:ext uri="{BB962C8B-B14F-4D97-AF65-F5344CB8AC3E}">
        <p14:creationId xmlns:p14="http://schemas.microsoft.com/office/powerpoint/2010/main" val="3910864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>
            <a:extLst>
              <a:ext uri="{FF2B5EF4-FFF2-40B4-BE49-F238E27FC236}">
                <a16:creationId xmlns="" xmlns:a16="http://schemas.microsoft.com/office/drawing/2014/main" id="{06DE84F2-E627-3546-999F-EC12ACF93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1" y="1368426"/>
            <a:ext cx="8531225" cy="3960813"/>
          </a:xfrm>
        </p:spPr>
        <p:txBody>
          <a:bodyPr/>
          <a:lstStyle/>
          <a:p>
            <a:pPr eaLnBrk="1" hangingPunct="1"/>
            <a:r>
              <a:rPr lang="en-US" altLang="en-US"/>
              <a:t>Wide Area Networks (WANs) are telecommunication networks covering a large geographical area, e.g. a large city or metropolitan area</a:t>
            </a:r>
          </a:p>
          <a:p>
            <a:pPr eaLnBrk="1" hangingPunct="1"/>
            <a:r>
              <a:rPr lang="en-US" altLang="en-US"/>
              <a:t>Used by multinational companies, and organizations</a:t>
            </a:r>
          </a:p>
        </p:txBody>
      </p:sp>
      <p:sp>
        <p:nvSpPr>
          <p:cNvPr id="26627" name="Title 1">
            <a:extLst>
              <a:ext uri="{FF2B5EF4-FFF2-40B4-BE49-F238E27FC236}">
                <a16:creationId xmlns="" xmlns:a16="http://schemas.microsoft.com/office/drawing/2014/main" id="{F60C0860-73E6-3B45-A087-2F0405C3CAB0}"/>
              </a:ext>
            </a:extLst>
          </p:cNvPr>
          <p:cNvSpPr txBox="1">
            <a:spLocks/>
          </p:cNvSpPr>
          <p:nvPr/>
        </p:nvSpPr>
        <p:spPr bwMode="auto">
          <a:xfrm>
            <a:off x="2855914" y="476250"/>
            <a:ext cx="70754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 defTabSz="44926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4926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Times New Roman" panose="02020603050405020304" pitchFamily="18" charset="0"/>
              <a:buNone/>
            </a:pPr>
            <a:r>
              <a:rPr lang="en-US" altLang="en-US" sz="3200" b="1">
                <a:solidFill>
                  <a:srgbClr val="000000"/>
                </a:solidFill>
                <a:latin typeface="Calibri Light" panose="020F0302020204030204" pitchFamily="34" charset="0"/>
                <a:ea typeface="SimSun" panose="02010600030101010101" pitchFamily="2" charset="-122"/>
              </a:rPr>
              <a:t>WAN – Wide Area Network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C0152DA-32B0-D243-9B2A-2B4EFD93ED8B}"/>
              </a:ext>
            </a:extLst>
          </p:cNvPr>
          <p:cNvSpPr txBox="1"/>
          <p:nvPr/>
        </p:nvSpPr>
        <p:spPr>
          <a:xfrm>
            <a:off x="1704976" y="673100"/>
            <a:ext cx="862013" cy="369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2.3.1.3</a:t>
            </a:r>
          </a:p>
        </p:txBody>
      </p:sp>
    </p:spTree>
    <p:extLst>
      <p:ext uri="{BB962C8B-B14F-4D97-AF65-F5344CB8AC3E}">
        <p14:creationId xmlns:p14="http://schemas.microsoft.com/office/powerpoint/2010/main" val="3296243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="" xmlns:a16="http://schemas.microsoft.com/office/drawing/2014/main" id="{3A5CAF8F-4DC2-064B-BE76-026833C74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Network Topologies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="" xmlns:a16="http://schemas.microsoft.com/office/drawing/2014/main" id="{23E06EA3-95A9-6C40-B1A4-25B8445AB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163639"/>
            <a:ext cx="7886700" cy="5013325"/>
          </a:xfrm>
        </p:spPr>
        <p:txBody>
          <a:bodyPr/>
          <a:lstStyle/>
          <a:p>
            <a:pPr eaLnBrk="1" hangingPunct="1"/>
            <a:r>
              <a:rPr lang="en-US" altLang="en-US"/>
              <a:t>Three basic topologies used in WANs and LANs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 b="1"/>
              <a:t>Star Topology</a:t>
            </a:r>
            <a:r>
              <a:rPr lang="en-US" altLang="en-US"/>
              <a:t>:</a:t>
            </a:r>
            <a:br>
              <a:rPr lang="en-US" altLang="en-US"/>
            </a:br>
            <a:r>
              <a:rPr lang="en-US" altLang="en-US"/>
              <a:t>- Ties to a central computer (centralized approach)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 b="1"/>
              <a:t>Ring Topology</a:t>
            </a:r>
            <a:r>
              <a:rPr lang="en-US" altLang="en-US"/>
              <a:t>: </a:t>
            </a:r>
            <a:br>
              <a:rPr lang="en-US" altLang="en-US"/>
            </a:br>
            <a:r>
              <a:rPr lang="en-US" altLang="en-US"/>
              <a:t>- Ties to adjacent computer (decentralized approach)</a:t>
            </a:r>
          </a:p>
          <a:p>
            <a:pPr marL="914400" lvl="1" indent="-457200">
              <a:buFont typeface="Calibri Light" panose="020F0302020204030204" pitchFamily="34" charset="0"/>
              <a:buAutoNum type="arabicPeriod"/>
            </a:pPr>
            <a:r>
              <a:rPr lang="en-US" altLang="en-US" b="1"/>
              <a:t>Bus Topology</a:t>
            </a:r>
            <a:r>
              <a:rPr lang="en-US" altLang="en-US"/>
              <a:t>:</a:t>
            </a:r>
            <a:br>
              <a:rPr lang="en-US" altLang="en-US"/>
            </a:br>
            <a:r>
              <a:rPr lang="en-US" altLang="en-US"/>
              <a:t>- local computers share the same communication channel (decentralized approach) </a:t>
            </a:r>
          </a:p>
          <a:p>
            <a:pPr eaLnBrk="1" hangingPunct="1"/>
            <a:r>
              <a:rPr lang="en-US" altLang="en-US"/>
              <a:t>Wired networks normally use a combination of network topologies</a:t>
            </a:r>
          </a:p>
          <a:p>
            <a:pPr eaLnBrk="1" hangingPunct="1"/>
            <a:r>
              <a:rPr lang="en-US" altLang="en-US"/>
              <a:t>Different topologies networks differ in performance, reliability and costs. 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CC15203-7C13-2448-AF94-61EBE907A9FD}"/>
              </a:ext>
            </a:extLst>
          </p:cNvPr>
          <p:cNvSpPr txBox="1"/>
          <p:nvPr/>
        </p:nvSpPr>
        <p:spPr>
          <a:xfrm>
            <a:off x="1828801" y="465138"/>
            <a:ext cx="754063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2.3.3</a:t>
            </a:r>
          </a:p>
        </p:txBody>
      </p:sp>
    </p:spTree>
    <p:extLst>
      <p:ext uri="{BB962C8B-B14F-4D97-AF65-F5344CB8AC3E}">
        <p14:creationId xmlns:p14="http://schemas.microsoft.com/office/powerpoint/2010/main" val="633685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="" xmlns:a16="http://schemas.microsoft.com/office/drawing/2014/main" id="{A923A205-5BCF-174E-BB2F-5B1189B1D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Network Topologies</a:t>
            </a:r>
          </a:p>
        </p:txBody>
      </p:sp>
      <p:pic>
        <p:nvPicPr>
          <p:cNvPr id="29699" name="Picture 4">
            <a:extLst>
              <a:ext uri="{FF2B5EF4-FFF2-40B4-BE49-F238E27FC236}">
                <a16:creationId xmlns="" xmlns:a16="http://schemas.microsoft.com/office/drawing/2014/main" id="{C4A1A4E2-A0F4-564E-B5A1-B2D72C350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30288"/>
            <a:ext cx="8528050" cy="540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CB30E64-9B7D-7C4C-BE81-B50B210ACE1D}"/>
              </a:ext>
            </a:extLst>
          </p:cNvPr>
          <p:cNvSpPr txBox="1"/>
          <p:nvPr/>
        </p:nvSpPr>
        <p:spPr>
          <a:xfrm>
            <a:off x="1828800" y="465138"/>
            <a:ext cx="681038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2.3.3</a:t>
            </a:r>
          </a:p>
        </p:txBody>
      </p:sp>
    </p:spTree>
    <p:extLst>
      <p:ext uri="{BB962C8B-B14F-4D97-AF65-F5344CB8AC3E}">
        <p14:creationId xmlns:p14="http://schemas.microsoft.com/office/powerpoint/2010/main" val="1320324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="" xmlns:a16="http://schemas.microsoft.com/office/drawing/2014/main" id="{41BC6034-B601-C14C-ADBD-C7FA56CB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Architecture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="" xmlns:a16="http://schemas.microsoft.com/office/drawing/2014/main" id="{1929E120-702B-EA4F-9FDD-208F0B4727F1}"/>
              </a:ext>
            </a:extLst>
          </p:cNvPr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bg1"/>
                </a:solidFill>
              </a:rPr>
              <a:t>Topologies</a:t>
            </a:r>
          </a:p>
        </p:txBody>
      </p:sp>
      <p:pic>
        <p:nvPicPr>
          <p:cNvPr id="30724" name="Picture 3">
            <a:extLst>
              <a:ext uri="{FF2B5EF4-FFF2-40B4-BE49-F238E27FC236}">
                <a16:creationId xmlns="" xmlns:a16="http://schemas.microsoft.com/office/drawing/2014/main" id="{A6A4C563-FCDB-7142-AE5B-88119B96D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2655889"/>
            <a:ext cx="7062788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EA41C96-81CD-984D-9B71-0A490D661B8D}"/>
              </a:ext>
            </a:extLst>
          </p:cNvPr>
          <p:cNvSpPr txBox="1"/>
          <p:nvPr/>
        </p:nvSpPr>
        <p:spPr>
          <a:xfrm>
            <a:off x="2222500" y="2054225"/>
            <a:ext cx="679450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2.3.3</a:t>
            </a:r>
          </a:p>
        </p:txBody>
      </p:sp>
    </p:spTree>
    <p:extLst>
      <p:ext uri="{BB962C8B-B14F-4D97-AF65-F5344CB8AC3E}">
        <p14:creationId xmlns:p14="http://schemas.microsoft.com/office/powerpoint/2010/main" val="2014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="" xmlns:a16="http://schemas.microsoft.com/office/drawing/2014/main" id="{30E57949-889D-384B-B1E4-9A817A410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Architecture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="" xmlns:a16="http://schemas.microsoft.com/office/drawing/2014/main" id="{3765D95F-E31B-9E46-95A5-F71B380228D9}"/>
              </a:ext>
            </a:extLst>
          </p:cNvPr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bg1"/>
                </a:solidFill>
              </a:rPr>
              <a:t>Wireless Topologies</a:t>
            </a:r>
          </a:p>
        </p:txBody>
      </p:sp>
      <p:pic>
        <p:nvPicPr>
          <p:cNvPr id="31748" name="Picture 2">
            <a:extLst>
              <a:ext uri="{FF2B5EF4-FFF2-40B4-BE49-F238E27FC236}">
                <a16:creationId xmlns="" xmlns:a16="http://schemas.microsoft.com/office/drawing/2014/main" id="{A33E1217-042E-954A-9B22-310AA0FAD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650" y="3425825"/>
            <a:ext cx="2376488" cy="213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>
            <a:extLst>
              <a:ext uri="{FF2B5EF4-FFF2-40B4-BE49-F238E27FC236}">
                <a16:creationId xmlns="" xmlns:a16="http://schemas.microsoft.com/office/drawing/2014/main" id="{10CF5FA3-64E6-3643-B360-AA3A37285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489" y="3363913"/>
            <a:ext cx="2941637" cy="225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6">
            <a:extLst>
              <a:ext uri="{FF2B5EF4-FFF2-40B4-BE49-F238E27FC236}">
                <a16:creationId xmlns="" xmlns:a16="http://schemas.microsoft.com/office/drawing/2014/main" id="{F340EA92-3502-E943-8CBA-DAFEF047F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3363914"/>
            <a:ext cx="1916112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5">
            <a:extLst>
              <a:ext uri="{FF2B5EF4-FFF2-40B4-BE49-F238E27FC236}">
                <a16:creationId xmlns="" xmlns:a16="http://schemas.microsoft.com/office/drawing/2014/main" id="{DCC37F2B-7FCB-A542-AFF9-52CA6DFDADC6}"/>
              </a:ext>
            </a:extLst>
          </p:cNvPr>
          <p:cNvSpPr txBox="1">
            <a:spLocks/>
          </p:cNvSpPr>
          <p:nvPr/>
        </p:nvSpPr>
        <p:spPr bwMode="auto">
          <a:xfrm>
            <a:off x="2152650" y="5926139"/>
            <a:ext cx="2636838" cy="3143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bg1"/>
                </a:solidFill>
              </a:rPr>
              <a:t>Basic Service Set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="" xmlns:a16="http://schemas.microsoft.com/office/drawing/2014/main" id="{8AEAC9B9-9B44-D149-9477-ED766BE86F27}"/>
              </a:ext>
            </a:extLst>
          </p:cNvPr>
          <p:cNvSpPr txBox="1">
            <a:spLocks/>
          </p:cNvSpPr>
          <p:nvPr/>
        </p:nvSpPr>
        <p:spPr bwMode="auto">
          <a:xfrm>
            <a:off x="4941889" y="5926139"/>
            <a:ext cx="2636837" cy="3143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bg1"/>
                </a:solidFill>
              </a:rPr>
              <a:t>Extended Service Set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="" xmlns:a16="http://schemas.microsoft.com/office/drawing/2014/main" id="{015BC175-833B-8C41-96CC-B15D249D072B}"/>
              </a:ext>
            </a:extLst>
          </p:cNvPr>
          <p:cNvSpPr txBox="1">
            <a:spLocks/>
          </p:cNvSpPr>
          <p:nvPr/>
        </p:nvSpPr>
        <p:spPr bwMode="auto">
          <a:xfrm>
            <a:off x="7731126" y="5905501"/>
            <a:ext cx="2308225" cy="3143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bg1"/>
                </a:solidFill>
              </a:rPr>
              <a:t>Independent Service 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6CE360C0-8868-A340-B67B-492958C5DEDF}"/>
              </a:ext>
            </a:extLst>
          </p:cNvPr>
          <p:cNvSpPr txBox="1"/>
          <p:nvPr/>
        </p:nvSpPr>
        <p:spPr>
          <a:xfrm>
            <a:off x="2222500" y="2054225"/>
            <a:ext cx="679450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2.3.3</a:t>
            </a:r>
          </a:p>
        </p:txBody>
      </p:sp>
    </p:spTree>
    <p:extLst>
      <p:ext uri="{BB962C8B-B14F-4D97-AF65-F5344CB8AC3E}">
        <p14:creationId xmlns:p14="http://schemas.microsoft.com/office/powerpoint/2010/main" val="213196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="" xmlns:a16="http://schemas.microsoft.com/office/drawing/2014/main" id="{10429DC3-FE84-124C-9240-D6FAAFA3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851" y="1484313"/>
            <a:ext cx="8531225" cy="3600450"/>
          </a:xfrm>
        </p:spPr>
        <p:txBody>
          <a:bodyPr/>
          <a:lstStyle/>
          <a:p>
            <a:pPr eaLnBrk="1" hangingPunct="1"/>
            <a:r>
              <a:rPr lang="en-US" altLang="en-US"/>
              <a:t>WAIIIIIT…</a:t>
            </a:r>
            <a:br>
              <a:rPr lang="en-US" altLang="en-US"/>
            </a:br>
            <a:r>
              <a:rPr lang="en-US" altLang="en-US"/>
              <a:t>and THINK !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(LAN, WAN, MAN) and now (Star, BUS, Ring) ??</a:t>
            </a:r>
            <a:br>
              <a:rPr lang="en-US" altLang="en-US"/>
            </a:br>
            <a:r>
              <a:rPr lang="en-US" altLang="en-US"/>
              <a:t>What’s the difference…</a:t>
            </a:r>
          </a:p>
        </p:txBody>
      </p:sp>
    </p:spTree>
    <p:extLst>
      <p:ext uri="{BB962C8B-B14F-4D97-AF65-F5344CB8AC3E}">
        <p14:creationId xmlns:p14="http://schemas.microsoft.com/office/powerpoint/2010/main" val="2229607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="" xmlns:a16="http://schemas.microsoft.com/office/drawing/2014/main" id="{26A6C208-D866-9F4C-B1F9-DAF370EB7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535214"/>
            <a:ext cx="7377112" cy="6223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Client/Server Architecture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="" xmlns:a16="http://schemas.microsoft.com/office/drawing/2014/main" id="{F363E9EA-899C-3A47-B2B8-CCEFB8A48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2926" y="1846264"/>
            <a:ext cx="7886700" cy="3641725"/>
          </a:xfrm>
        </p:spPr>
        <p:txBody>
          <a:bodyPr/>
          <a:lstStyle/>
          <a:p>
            <a:pPr eaLnBrk="1" hangingPunct="1">
              <a:buFontTx/>
              <a:buChar char="-"/>
            </a:pPr>
            <a:r>
              <a:rPr lang="en-US" altLang="en-US" dirty="0"/>
              <a:t>Distributed System</a:t>
            </a:r>
          </a:p>
          <a:p>
            <a:pPr lvl="1" eaLnBrk="1" hangingPunct="1">
              <a:buFontTx/>
              <a:buChar char="-"/>
            </a:pPr>
            <a:r>
              <a:rPr lang="en-US" altLang="en-US" b="1" dirty="0"/>
              <a:t>Thin clients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	- [Application presentation layer / interface only]</a:t>
            </a:r>
            <a:br>
              <a:rPr lang="en-US" altLang="en-US" dirty="0"/>
            </a:br>
            <a:r>
              <a:rPr lang="en-US" altLang="en-US" dirty="0"/>
              <a:t>		- [DBMS]</a:t>
            </a:r>
          </a:p>
          <a:p>
            <a:pPr lvl="1" eaLnBrk="1" hangingPunct="1">
              <a:buFontTx/>
              <a:buChar char="-"/>
            </a:pPr>
            <a:r>
              <a:rPr lang="en-US" altLang="en-US" b="1" dirty="0"/>
              <a:t>Application Server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	- [Provides Applets, API based]</a:t>
            </a:r>
          </a:p>
          <a:p>
            <a:pPr lvl="1" eaLnBrk="1" hangingPunct="1">
              <a:buFontTx/>
              <a:buChar char="-"/>
            </a:pPr>
            <a:r>
              <a:rPr lang="en-US" altLang="en-US" b="1" dirty="0"/>
              <a:t>Database Server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	- Databases</a:t>
            </a:r>
            <a:br>
              <a:rPr lang="en-US" altLang="en-US" dirty="0"/>
            </a:br>
            <a:r>
              <a:rPr lang="en-US" altLang="en-US" dirty="0"/>
              <a:t>		- Data Warehouse</a:t>
            </a:r>
          </a:p>
          <a:p>
            <a:pPr eaLnBrk="1" hangingPunct="1">
              <a:buFontTx/>
              <a:buChar char="-"/>
            </a:pPr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51C0D88-91C3-BD47-BF22-AA21D32FEF7F}"/>
              </a:ext>
            </a:extLst>
          </p:cNvPr>
          <p:cNvSpPr txBox="1"/>
          <p:nvPr/>
        </p:nvSpPr>
        <p:spPr>
          <a:xfrm>
            <a:off x="1812926" y="660628"/>
            <a:ext cx="574675" cy="369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3</a:t>
            </a:r>
            <a:r>
              <a:rPr lang="en-US" dirty="0" smtClean="0"/>
              <a:t>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9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="" xmlns:a16="http://schemas.microsoft.com/office/drawing/2014/main" id="{B2B3B6CD-60D3-2C4D-953D-4505F4D2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2238" y="365126"/>
            <a:ext cx="7377112" cy="6207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System Architecture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="" xmlns:a16="http://schemas.microsoft.com/office/drawing/2014/main" id="{BBFA842C-6C79-B646-8AE4-9C66FDE7317D}"/>
              </a:ext>
            </a:extLst>
          </p:cNvPr>
          <p:cNvSpPr txBox="1">
            <a:spLocks/>
          </p:cNvSpPr>
          <p:nvPr/>
        </p:nvSpPr>
        <p:spPr bwMode="auto">
          <a:xfrm>
            <a:off x="2152650" y="2025650"/>
            <a:ext cx="7886700" cy="4254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chemeClr val="bg1"/>
                </a:solidFill>
              </a:rPr>
              <a:t>Variant of Client/Server Architecture (Tiers or Layers)</a:t>
            </a:r>
          </a:p>
        </p:txBody>
      </p:sp>
      <p:pic>
        <p:nvPicPr>
          <p:cNvPr id="35844" name="Picture 2">
            <a:extLst>
              <a:ext uri="{FF2B5EF4-FFF2-40B4-BE49-F238E27FC236}">
                <a16:creationId xmlns="" xmlns:a16="http://schemas.microsoft.com/office/drawing/2014/main" id="{7B0CC159-9CFB-0C4C-AB2B-96DD56CA9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139" y="2627313"/>
            <a:ext cx="6435725" cy="367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A463FAE-D4F1-7B4B-A1B2-EB7FE292C112}"/>
              </a:ext>
            </a:extLst>
          </p:cNvPr>
          <p:cNvSpPr txBox="1"/>
          <p:nvPr/>
        </p:nvSpPr>
        <p:spPr>
          <a:xfrm>
            <a:off x="2152650" y="2054225"/>
            <a:ext cx="509588" cy="368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/>
              <a:t>4.2</a:t>
            </a:r>
          </a:p>
        </p:txBody>
      </p:sp>
    </p:spTree>
    <p:extLst>
      <p:ext uri="{BB962C8B-B14F-4D97-AF65-F5344CB8AC3E}">
        <p14:creationId xmlns:p14="http://schemas.microsoft.com/office/powerpoint/2010/main" val="30282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1002</Words>
  <Application>Microsoft Office PowerPoint</Application>
  <PresentationFormat>Widescreen</PresentationFormat>
  <Paragraphs>181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SimSun</vt:lpstr>
      <vt:lpstr>Arial</vt:lpstr>
      <vt:lpstr>Calibri</vt:lpstr>
      <vt:lpstr>Calibri Light</vt:lpstr>
      <vt:lpstr>Times New Roman</vt:lpstr>
      <vt:lpstr>Office Theme</vt:lpstr>
      <vt:lpstr>Software Engineering</vt:lpstr>
      <vt:lpstr>PowerPoint Presentation</vt:lpstr>
      <vt:lpstr>Objective of this lecture</vt:lpstr>
      <vt:lpstr>System Architecture Checklist</vt:lpstr>
      <vt:lpstr>Architectural Concepts</vt:lpstr>
      <vt:lpstr>Architectural Concepts</vt:lpstr>
      <vt:lpstr>Architectural Concepts</vt:lpstr>
      <vt:lpstr>Architectural Concepts</vt:lpstr>
      <vt:lpstr>Architectural Concepts</vt:lpstr>
      <vt:lpstr>Total cost of Ownership</vt:lpstr>
      <vt:lpstr>Legacy System Interface requirements</vt:lpstr>
      <vt:lpstr>Security Issues</vt:lpstr>
      <vt:lpstr>Planning the Architecture</vt:lpstr>
      <vt:lpstr>Common types of Servers</vt:lpstr>
      <vt:lpstr>Additional information on SERVER</vt:lpstr>
      <vt:lpstr>Clients: Types of Clients</vt:lpstr>
      <vt:lpstr>Local Area Network (LAN)</vt:lpstr>
      <vt:lpstr>Metropolitan Area Network (MAN)</vt:lpstr>
      <vt:lpstr>PowerPoint Presentation</vt:lpstr>
      <vt:lpstr>Network Topologies</vt:lpstr>
      <vt:lpstr>Network Topologies</vt:lpstr>
      <vt:lpstr>System Architecture</vt:lpstr>
      <vt:lpstr>System Architecture</vt:lpstr>
      <vt:lpstr>WAIIIIIT… and THINK !  (LAN, WAN, MAN) and now (Star, BUS, Ring) ?? What’s the difference…</vt:lpstr>
      <vt:lpstr>Client/Server Architecture</vt:lpstr>
      <vt:lpstr>System Architecture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1</dc:title>
  <dc:creator>Microsoft Office User</dc:creator>
  <cp:lastModifiedBy>User</cp:lastModifiedBy>
  <cp:revision>172</cp:revision>
  <dcterms:created xsi:type="dcterms:W3CDTF">2019-10-24T04:08:52Z</dcterms:created>
  <dcterms:modified xsi:type="dcterms:W3CDTF">2020-01-25T04:48:30Z</dcterms:modified>
</cp:coreProperties>
</file>