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 id="2147483700" r:id="rId3"/>
  </p:sldMasterIdLst>
  <p:notesMasterIdLst>
    <p:notesMasterId r:id="rId43"/>
  </p:notesMasterIdLst>
  <p:sldIdLst>
    <p:sldId id="281" r:id="rId4"/>
    <p:sldId id="282" r:id="rId5"/>
    <p:sldId id="283" r:id="rId6"/>
    <p:sldId id="284" r:id="rId7"/>
    <p:sldId id="285" r:id="rId8"/>
    <p:sldId id="258" r:id="rId9"/>
    <p:sldId id="259" r:id="rId10"/>
    <p:sldId id="260" r:id="rId11"/>
    <p:sldId id="261" r:id="rId12"/>
    <p:sldId id="286" r:id="rId13"/>
    <p:sldId id="287" r:id="rId14"/>
    <p:sldId id="288" r:id="rId15"/>
    <p:sldId id="289" r:id="rId16"/>
    <p:sldId id="290" r:id="rId17"/>
    <p:sldId id="291" r:id="rId18"/>
    <p:sldId id="296" r:id="rId19"/>
    <p:sldId id="298" r:id="rId20"/>
    <p:sldId id="297" r:id="rId21"/>
    <p:sldId id="299" r:id="rId22"/>
    <p:sldId id="264" r:id="rId23"/>
    <p:sldId id="300" r:id="rId24"/>
    <p:sldId id="268" r:id="rId25"/>
    <p:sldId id="269" r:id="rId26"/>
    <p:sldId id="270" r:id="rId27"/>
    <p:sldId id="271" r:id="rId28"/>
    <p:sldId id="272" r:id="rId29"/>
    <p:sldId id="273" r:id="rId30"/>
    <p:sldId id="274" r:id="rId31"/>
    <p:sldId id="275" r:id="rId32"/>
    <p:sldId id="276" r:id="rId33"/>
    <p:sldId id="277" r:id="rId34"/>
    <p:sldId id="302" r:id="rId35"/>
    <p:sldId id="278" r:id="rId36"/>
    <p:sldId id="279" r:id="rId37"/>
    <p:sldId id="280" r:id="rId38"/>
    <p:sldId id="292" r:id="rId39"/>
    <p:sldId id="293" r:id="rId40"/>
    <p:sldId id="294" r:id="rId41"/>
    <p:sldId id="295"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144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50AA60-707D-4883-B828-BC340F6FD4AB}" type="datetimeFigureOut">
              <a:rPr lang="en-US" smtClean="0"/>
              <a:t>3/16/2020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67C4B7-6718-48CA-9A3D-01CE7B5516C8}" type="slidenum">
              <a:rPr lang="en-US" smtClean="0"/>
              <a:t>‹#›</a:t>
            </a:fld>
            <a:endParaRPr lang="en-US"/>
          </a:p>
        </p:txBody>
      </p:sp>
    </p:spTree>
    <p:extLst>
      <p:ext uri="{BB962C8B-B14F-4D97-AF65-F5344CB8AC3E}">
        <p14:creationId xmlns:p14="http://schemas.microsoft.com/office/powerpoint/2010/main" val="3658356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19238" y="-11796713"/>
            <a:ext cx="16600488"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08296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19238" y="-11796713"/>
            <a:ext cx="16600488"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492769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457200" y="6353175"/>
            <a:ext cx="2092325"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1557741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Academy">
    <p:spTree>
      <p:nvGrpSpPr>
        <p:cNvPr id="1" name=""/>
        <p:cNvGrpSpPr/>
        <p:nvPr/>
      </p:nvGrpSpPr>
      <p:grpSpPr>
        <a:xfrm>
          <a:off x="0" y="0"/>
          <a:ext cx="0" cy="0"/>
          <a:chOff x="0" y="0"/>
          <a:chExt cx="0" cy="0"/>
        </a:xfrm>
      </p:grpSpPr>
      <p:sp>
        <p:nvSpPr>
          <p:cNvPr id="7" name="Title 1"/>
          <p:cNvSpPr>
            <a:spLocks noGrp="1"/>
          </p:cNvSpPr>
          <p:nvPr>
            <p:ph type="title"/>
          </p:nvPr>
        </p:nvSpPr>
        <p:spPr>
          <a:xfrm>
            <a:off x="285750" y="268288"/>
            <a:ext cx="8531225" cy="762000"/>
          </a:xfrm>
        </p:spPr>
        <p:txBody>
          <a:bodyPr/>
          <a:lstStyle>
            <a:lvl1pPr>
              <a:defRPr b="1"/>
            </a:lvl1pPr>
          </a:lstStyle>
          <a:p>
            <a:r>
              <a:rPr lang="en-US" dirty="0"/>
              <a:t>Click to edit Master title style</a:t>
            </a:r>
            <a:endParaRPr lang="en-SG" dirty="0"/>
          </a:p>
        </p:txBody>
      </p:sp>
      <p:sp>
        <p:nvSpPr>
          <p:cNvPr id="8" name="Content Placeholder 2"/>
          <p:cNvSpPr>
            <a:spLocks noGrp="1"/>
          </p:cNvSpPr>
          <p:nvPr>
            <p:ph idx="1"/>
          </p:nvPr>
        </p:nvSpPr>
        <p:spPr>
          <a:xfrm>
            <a:off x="285749" y="1030288"/>
            <a:ext cx="8531225" cy="4870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1885201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SG"/>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393308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285750" y="268288"/>
            <a:ext cx="8531225"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285750" y="1214438"/>
            <a:ext cx="418941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4627563" y="1214438"/>
            <a:ext cx="4189412"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3620295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16/03/2020</a:t>
            </a:fld>
            <a:endParaRPr lang="en-GB"/>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8221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16/03/2020</a:t>
            </a:fld>
            <a:endParaRPr lang="en-GB"/>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565666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16/03/2020</a:t>
            </a:fld>
            <a:endParaRPr lang="en-GB"/>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010057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16/03/2020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835126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16/03/2020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670146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16/03/2020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128135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16/03/2020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41000461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5503E7AE-D891-4742-9343-5EF205D83184}"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419510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87813"/>
          </a:xfrm>
        </p:spPr>
        <p:txBody>
          <a:bodyPr>
            <a:normAutofit/>
          </a:bodyPr>
          <a:lstStyle>
            <a:lvl1pPr>
              <a:defRPr sz="4400"/>
            </a:lvl1pPr>
          </a:lstStyle>
          <a:p>
            <a:r>
              <a:rPr lang="en-US" dirty="0"/>
              <a:t>Click to edit Master title style</a:t>
            </a:r>
          </a:p>
        </p:txBody>
      </p:sp>
      <p:sp>
        <p:nvSpPr>
          <p:cNvPr id="3" name="Content Placeholder 2"/>
          <p:cNvSpPr>
            <a:spLocks noGrp="1"/>
          </p:cNvSpPr>
          <p:nvPr>
            <p:ph idx="1"/>
          </p:nvPr>
        </p:nvSpPr>
        <p:spPr>
          <a:xfrm>
            <a:off x="628650" y="1285461"/>
            <a:ext cx="7886700" cy="4891502"/>
          </a:xfrm>
        </p:spPr>
        <p:txBody>
          <a:bodyPr/>
          <a:lstStyle>
            <a:lvl1pPr>
              <a:defRPr sz="3200"/>
            </a:lvl1pPr>
            <a:lvl2pPr>
              <a:defRPr sz="28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D5741C6D-44DB-4C04-9CB5-747DFD8034D5}"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36234975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89AF2F3-A1D1-4097-8ADA-9467C774BABF}"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31391721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389D06B8-A366-4D7D-8D93-3C162260D047}"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2921276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D8B09C-13EB-4CA6-8318-C71FFF147362}" type="datetimeFigureOut">
              <a:rPr lang="en-GB" smtClean="0">
                <a:solidFill>
                  <a:prstClr val="black">
                    <a:tint val="75000"/>
                  </a:prstClr>
                </a:solidFill>
              </a:rPr>
              <a:pPr/>
              <a:t>16/03/2020</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pPr defTabSz="342900"/>
            <a:endParaRPr lang="en-GB">
              <a:solidFill>
                <a:prstClr val="black"/>
              </a:solidFill>
            </a:endParaRPr>
          </a:p>
        </p:txBody>
      </p:sp>
      <p:sp>
        <p:nvSpPr>
          <p:cNvPr id="9" name="Slide Number Placeholder 8"/>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5381943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D8B09C-13EB-4CA6-8318-C71FFF147362}" type="datetimeFigureOut">
              <a:rPr lang="en-GB" smtClean="0">
                <a:solidFill>
                  <a:prstClr val="black">
                    <a:tint val="75000"/>
                  </a:prstClr>
                </a:solidFill>
              </a:rPr>
              <a:pPr/>
              <a:t>16/03/2020</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pPr defTabSz="342900"/>
            <a:endParaRPr lang="en-GB">
              <a:solidFill>
                <a:prstClr val="black"/>
              </a:solidFill>
            </a:endParaRPr>
          </a:p>
        </p:txBody>
      </p:sp>
      <p:sp>
        <p:nvSpPr>
          <p:cNvPr id="5" name="Slide Number Placeholder 4"/>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5443571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D8B09C-13EB-4CA6-8318-C71FFF147362}" type="datetimeFigureOut">
              <a:rPr lang="en-GB" smtClean="0">
                <a:solidFill>
                  <a:prstClr val="black">
                    <a:tint val="75000"/>
                  </a:prstClr>
                </a:solidFill>
              </a:rPr>
              <a:pPr/>
              <a:t>16/03/2020</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pPr defTabSz="342900"/>
            <a:endParaRPr lang="en-GB">
              <a:solidFill>
                <a:prstClr val="black"/>
              </a:solidFill>
            </a:endParaRPr>
          </a:p>
        </p:txBody>
      </p:sp>
      <p:sp>
        <p:nvSpPr>
          <p:cNvPr id="4" name="Slide Number Placeholder 3"/>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3378950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D8B09C-13EB-4CA6-8318-C71FFF147362}" type="datetimeFigureOut">
              <a:rPr lang="en-GB" smtClean="0">
                <a:solidFill>
                  <a:prstClr val="black">
                    <a:tint val="75000"/>
                  </a:prstClr>
                </a:solidFill>
              </a:rPr>
              <a:pPr/>
              <a:t>16/03/2020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pPr defTabSz="342900"/>
            <a:endParaRPr lang="en-GB">
              <a:solidFill>
                <a:prstClr val="black"/>
              </a:solidFill>
            </a:endParaRPr>
          </a:p>
        </p:txBody>
      </p:sp>
      <p:sp>
        <p:nvSpPr>
          <p:cNvPr id="7" name="Slide Number Placeholder 6"/>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5448841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D8B09C-13EB-4CA6-8318-C71FFF147362}" type="datetimeFigureOut">
              <a:rPr lang="en-GB" smtClean="0">
                <a:solidFill>
                  <a:prstClr val="black">
                    <a:tint val="75000"/>
                  </a:prstClr>
                </a:solidFill>
              </a:rPr>
              <a:pPr/>
              <a:t>16/03/2020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pPr defTabSz="342900"/>
            <a:endParaRPr lang="en-GB">
              <a:solidFill>
                <a:prstClr val="black"/>
              </a:solidFill>
            </a:endParaRPr>
          </a:p>
        </p:txBody>
      </p:sp>
      <p:sp>
        <p:nvSpPr>
          <p:cNvPr id="7" name="Slide Number Placeholder 6"/>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255467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D8B09C-13EB-4CA6-8318-C71FFF147362}" type="datetimeFigureOut">
              <a:rPr lang="en-GB" smtClean="0">
                <a:solidFill>
                  <a:prstClr val="black">
                    <a:tint val="75000"/>
                  </a:prstClr>
                </a:solidFill>
              </a:rPr>
              <a:pPr/>
              <a:t>16/03/2020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pPr defTabSz="342900"/>
            <a:endParaRPr lang="en-GB">
              <a:solidFill>
                <a:prstClr val="black"/>
              </a:solidFill>
            </a:endParaRPr>
          </a:p>
        </p:txBody>
      </p:sp>
      <p:sp>
        <p:nvSpPr>
          <p:cNvPr id="6" name="Slide Number Placeholder 5"/>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906227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D8B09C-13EB-4CA6-8318-C71FFF147362}" type="datetimeFigureOut">
              <a:rPr lang="en-GB" smtClean="0">
                <a:solidFill>
                  <a:prstClr val="black">
                    <a:tint val="75000"/>
                  </a:prstClr>
                </a:solidFill>
              </a:rPr>
              <a:pPr/>
              <a:t>16/03/2020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pPr defTabSz="342900"/>
            <a:endParaRPr lang="en-GB">
              <a:solidFill>
                <a:prstClr val="black"/>
              </a:solidFill>
            </a:endParaRPr>
          </a:p>
        </p:txBody>
      </p:sp>
      <p:sp>
        <p:nvSpPr>
          <p:cNvPr id="6" name="Slide Number Placeholder 5"/>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3505995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130427"/>
            <a:ext cx="77724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457201" y="6353177"/>
            <a:ext cx="2092325" cy="371475"/>
          </a:xfrm>
          <a:prstGeom prst="rect">
            <a:avLst/>
          </a:prstGeo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6553201" y="6353177"/>
            <a:ext cx="2092325" cy="371475"/>
          </a:xfrm>
          <a:prstGeom prst="rect">
            <a:avLst/>
          </a:prstGeom>
          <a:ln/>
        </p:spPr>
        <p:txBody>
          <a:bodyPr/>
          <a:lstStyle>
            <a:lvl1pPr>
              <a:defRPr/>
            </a:lvl1pPr>
          </a:lstStyle>
          <a:p>
            <a:pPr>
              <a:defRPr/>
            </a:pPr>
            <a:fld id="{5503E7AE-D891-4742-9343-5EF205D83184}"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0383604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285751" y="268288"/>
            <a:ext cx="8531225" cy="762000"/>
          </a:xfrm>
        </p:spPr>
        <p:txBody>
          <a:bodyPr/>
          <a:lstStyle/>
          <a:p>
            <a:r>
              <a:rPr lang="en-US" dirty="0"/>
              <a:t>Click to edit Master title style</a:t>
            </a:r>
            <a:endParaRPr lang="en-SG" dirty="0"/>
          </a:p>
        </p:txBody>
      </p:sp>
      <p:sp>
        <p:nvSpPr>
          <p:cNvPr id="8" name="Content Placeholder 2"/>
          <p:cNvSpPr>
            <a:spLocks noGrp="1"/>
          </p:cNvSpPr>
          <p:nvPr>
            <p:ph idx="1"/>
          </p:nvPr>
        </p:nvSpPr>
        <p:spPr>
          <a:xfrm>
            <a:off x="285751" y="1214438"/>
            <a:ext cx="8531225" cy="487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9" name="Rectangle 3"/>
          <p:cNvSpPr>
            <a:spLocks noGrp="1" noChangeArrowheads="1"/>
          </p:cNvSpPr>
          <p:nvPr>
            <p:ph type="dt" idx="10"/>
          </p:nvPr>
        </p:nvSpPr>
        <p:spPr>
          <a:xfrm>
            <a:off x="457201" y="6353177"/>
            <a:ext cx="2092325" cy="371475"/>
          </a:xfr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6553201" y="6353177"/>
            <a:ext cx="2092325" cy="371475"/>
          </a:xfrm>
          <a:ln/>
        </p:spPr>
        <p:txBody>
          <a:bodyPr/>
          <a:lstStyle>
            <a:lvl1pPr>
              <a:defRPr/>
            </a:lvl1pPr>
          </a:lstStyle>
          <a:p>
            <a:pPr>
              <a:defRPr/>
            </a:pPr>
            <a:fld id="{D5741C6D-44DB-4C04-9CB5-747DFD8034D5}"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6140773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endParaRPr lang="en-SG"/>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9" name="Rectangle 3"/>
          <p:cNvSpPr>
            <a:spLocks noGrp="1" noChangeArrowheads="1"/>
          </p:cNvSpPr>
          <p:nvPr>
            <p:ph type="dt" idx="10"/>
          </p:nvPr>
        </p:nvSpPr>
        <p:spPr>
          <a:xfrm>
            <a:off x="457201" y="6353177"/>
            <a:ext cx="2092325" cy="371475"/>
          </a:xfr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6553201" y="6353177"/>
            <a:ext cx="2092325" cy="371475"/>
          </a:xfrm>
          <a:ln/>
        </p:spPr>
        <p:txBody>
          <a:bodyPr/>
          <a:lstStyle>
            <a:lvl1pPr>
              <a:defRPr/>
            </a:lvl1pPr>
          </a:lstStyle>
          <a:p>
            <a:pPr>
              <a:defRPr/>
            </a:pPr>
            <a:fld id="{389AF2F3-A1D1-4097-8ADA-9467C774BABF}"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20762600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Title 1"/>
          <p:cNvSpPr>
            <a:spLocks noGrp="1"/>
          </p:cNvSpPr>
          <p:nvPr>
            <p:ph type="title"/>
          </p:nvPr>
        </p:nvSpPr>
        <p:spPr>
          <a:xfrm>
            <a:off x="285751" y="268288"/>
            <a:ext cx="8531225"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285751" y="1214438"/>
            <a:ext cx="4189413" cy="48704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4627564" y="1214438"/>
            <a:ext cx="4189412" cy="48704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457201" y="6353177"/>
            <a:ext cx="2092325" cy="371475"/>
          </a:xfrm>
          <a:ln/>
        </p:spPr>
        <p:txBody>
          <a:bodyPr/>
          <a:lstStyle>
            <a:lvl1pPr>
              <a:defRPr/>
            </a:lvl1pPr>
          </a:lstStyle>
          <a:p>
            <a:pPr>
              <a:defRPr/>
            </a:pPr>
            <a:endParaRPr lang="en-US" dirty="0">
              <a:solidFill>
                <a:prstClr val="black">
                  <a:tint val="75000"/>
                </a:prstClr>
              </a:solidFill>
            </a:endParaRPr>
          </a:p>
        </p:txBody>
      </p:sp>
      <p:sp>
        <p:nvSpPr>
          <p:cNvPr id="12" name="Rectangle 5"/>
          <p:cNvSpPr>
            <a:spLocks noGrp="1" noChangeArrowheads="1"/>
          </p:cNvSpPr>
          <p:nvPr>
            <p:ph type="sldNum" idx="11"/>
          </p:nvPr>
        </p:nvSpPr>
        <p:spPr>
          <a:xfrm>
            <a:off x="6553201" y="6353177"/>
            <a:ext cx="2092325" cy="371475"/>
          </a:xfrm>
          <a:ln/>
        </p:spPr>
        <p:txBody>
          <a:bodyPr/>
          <a:lstStyle>
            <a:lvl1pPr>
              <a:defRPr/>
            </a:lvl1pPr>
          </a:lstStyle>
          <a:p>
            <a:pPr>
              <a:defRPr/>
            </a:pPr>
            <a:fld id="{389D06B8-A366-4D7D-8D93-3C162260D047}"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3590577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457200" y="6353175"/>
            <a:ext cx="2092325"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12390608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285750" y="268288"/>
            <a:ext cx="8531225" cy="762000"/>
          </a:xfrm>
        </p:spPr>
        <p:txBody>
          <a:bodyPr/>
          <a:lstStyle>
            <a:lvl1pPr>
              <a:defRPr b="1"/>
            </a:lvl1pPr>
          </a:lstStyle>
          <a:p>
            <a:r>
              <a:rPr lang="en-US" dirty="0"/>
              <a:t>Click to edit Master title style</a:t>
            </a:r>
            <a:endParaRPr lang="en-SG" dirty="0"/>
          </a:p>
        </p:txBody>
      </p:sp>
      <p:sp>
        <p:nvSpPr>
          <p:cNvPr id="8" name="Content Placeholder 2"/>
          <p:cNvSpPr>
            <a:spLocks noGrp="1"/>
          </p:cNvSpPr>
          <p:nvPr>
            <p:ph idx="1"/>
          </p:nvPr>
        </p:nvSpPr>
        <p:spPr>
          <a:xfrm>
            <a:off x="285750" y="1214438"/>
            <a:ext cx="8531225" cy="487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36468062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SG"/>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24908101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285750" y="268288"/>
            <a:ext cx="8531225"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285750" y="1214438"/>
            <a:ext cx="418941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4627563" y="1214438"/>
            <a:ext cx="4189412"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18426556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16/03/2020</a:t>
            </a:fld>
            <a:endParaRPr lang="en-GB"/>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792108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16/03/2020</a:t>
            </a:fld>
            <a:endParaRPr lang="en-GB"/>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2837172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16/03/2020</a:t>
            </a:fld>
            <a:endParaRPr lang="en-GB"/>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6542436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16/03/2020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4033613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16/03/2020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29222876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16/03/2020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781329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16/03/2020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657984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285750" y="268288"/>
            <a:ext cx="8531225"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a:t>Click to edit the title text format</a:t>
            </a:r>
          </a:p>
        </p:txBody>
      </p:sp>
      <p:sp>
        <p:nvSpPr>
          <p:cNvPr id="12" name="Rectangle 2"/>
          <p:cNvSpPr>
            <a:spLocks noGrp="1" noChangeArrowheads="1"/>
          </p:cNvSpPr>
          <p:nvPr>
            <p:ph type="body" idx="1"/>
          </p:nvPr>
        </p:nvSpPr>
        <p:spPr bwMode="auto">
          <a:xfrm>
            <a:off x="285750" y="1214438"/>
            <a:ext cx="8531225"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a:t>Click to edit the outline text format</a:t>
            </a:r>
          </a:p>
          <a:p>
            <a:pPr lvl="1"/>
            <a:r>
              <a:rPr lang="en-GB" dirty="0"/>
              <a:t>Second Outline Level</a:t>
            </a:r>
          </a:p>
          <a:p>
            <a:pPr lvl="2"/>
            <a:r>
              <a:rPr lang="en-GB" dirty="0"/>
              <a:t>Third Outline Level</a:t>
            </a:r>
          </a:p>
          <a:p>
            <a:pPr lvl="3"/>
            <a:r>
              <a:rPr lang="en-GB" dirty="0"/>
              <a:t>Fourth Outline Level</a:t>
            </a:r>
          </a:p>
          <a:p>
            <a:pPr lvl="4"/>
            <a:r>
              <a:rPr lang="en-GB" dirty="0"/>
              <a:t>Fifth Outline Level</a:t>
            </a:r>
          </a:p>
          <a:p>
            <a:pPr lvl="4"/>
            <a:r>
              <a:rPr lang="en-GB" dirty="0"/>
              <a:t>Sixth Outline Level</a:t>
            </a:r>
          </a:p>
          <a:p>
            <a:pPr lvl="4"/>
            <a:r>
              <a:rPr lang="en-GB" dirty="0"/>
              <a:t>Seventh Outline Level</a:t>
            </a:r>
          </a:p>
          <a:p>
            <a:pPr lvl="4"/>
            <a:r>
              <a:rPr lang="en-GB" dirty="0"/>
              <a:t>Eighth Outline Level</a:t>
            </a:r>
          </a:p>
          <a:p>
            <a:pPr lvl="4"/>
            <a:r>
              <a:rPr lang="en-GB" dirty="0"/>
              <a:t>Ninth Outline Level</a:t>
            </a:r>
          </a:p>
        </p:txBody>
      </p:sp>
      <p:sp>
        <p:nvSpPr>
          <p:cNvPr id="13" name="Rectangle 3"/>
          <p:cNvSpPr>
            <a:spLocks noGrp="1" noChangeArrowheads="1"/>
          </p:cNvSpPr>
          <p:nvPr>
            <p:ph type="dt" idx="2"/>
          </p:nvPr>
        </p:nvSpPr>
        <p:spPr bwMode="auto">
          <a:xfrm>
            <a:off x="457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3124200" y="6354763"/>
            <a:ext cx="2895600" cy="368300"/>
          </a:xfrm>
          <a:prstGeom prst="rect">
            <a:avLst/>
          </a:prstGeom>
          <a:noFill/>
          <a:ln w="9525">
            <a:noFill/>
            <a:round/>
            <a:headEnd/>
            <a:tailEnd/>
          </a:ln>
          <a:effectLst/>
        </p:spPr>
        <p:txBody>
          <a:bodyPr wrap="none" anchor="ctr"/>
          <a:lstStyle/>
          <a:p>
            <a:pPr defTabSz="457200">
              <a:defRPr/>
            </a:pPr>
            <a:endParaRPr lang="en-SG" dirty="0">
              <a:solidFill>
                <a:prstClr val="black"/>
              </a:solidFill>
            </a:endParaRPr>
          </a:p>
        </p:txBody>
      </p:sp>
      <p:sp>
        <p:nvSpPr>
          <p:cNvPr id="15" name="Rectangle 5"/>
          <p:cNvSpPr>
            <a:spLocks noGrp="1" noChangeArrowheads="1"/>
          </p:cNvSpPr>
          <p:nvPr>
            <p:ph type="sldNum" idx="4"/>
          </p:nvPr>
        </p:nvSpPr>
        <p:spPr bwMode="auto">
          <a:xfrm>
            <a:off x="6553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a:pPr defTabSz="457200">
                <a:defRPr/>
              </a:pPr>
              <a:t>‹#›</a:t>
            </a:fld>
            <a:endParaRPr lang="en-SG" dirty="0"/>
          </a:p>
        </p:txBody>
      </p:sp>
      <p:sp>
        <p:nvSpPr>
          <p:cNvPr id="16" name="Rectangle 6"/>
          <p:cNvSpPr>
            <a:spLocks noChangeArrowheads="1"/>
          </p:cNvSpPr>
          <p:nvPr userDrawn="1"/>
        </p:nvSpPr>
        <p:spPr bwMode="auto">
          <a:xfrm>
            <a:off x="0" y="0"/>
            <a:ext cx="9144000" cy="214313"/>
          </a:xfrm>
          <a:prstGeom prst="rect">
            <a:avLst/>
          </a:prstGeom>
          <a:solidFill>
            <a:srgbClr val="C00000"/>
          </a:solidFill>
          <a:ln w="9525">
            <a:noFill/>
            <a:round/>
            <a:headEnd/>
            <a:tailEnd/>
          </a:ln>
          <a:effectLst/>
        </p:spPr>
        <p:txBody>
          <a:bodyPr wrap="none" anchor="ctr"/>
          <a:lstStyle/>
          <a:p>
            <a:pPr algn="r" defTabSz="457200">
              <a:defRPr/>
            </a:pPr>
            <a:r>
              <a:rPr lang="en-SG" dirty="0" err="1">
                <a:solidFill>
                  <a:prstClr val="white"/>
                </a:solidFill>
              </a:rPr>
              <a:t>iAcademy</a:t>
            </a:r>
            <a:endParaRPr lang="en-SG" dirty="0">
              <a:solidFill>
                <a:prstClr val="white"/>
              </a:solidFill>
            </a:endParaRPr>
          </a:p>
        </p:txBody>
      </p:sp>
      <p:sp>
        <p:nvSpPr>
          <p:cNvPr id="17" name="Rectangle 7"/>
          <p:cNvSpPr>
            <a:spLocks noChangeArrowheads="1"/>
          </p:cNvSpPr>
          <p:nvPr userDrawn="1"/>
        </p:nvSpPr>
        <p:spPr bwMode="auto">
          <a:xfrm flipV="1">
            <a:off x="0" y="-1"/>
            <a:ext cx="7929586" cy="45719"/>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
        <p:nvSpPr>
          <p:cNvPr id="18" name="Rectangle 6"/>
          <p:cNvSpPr>
            <a:spLocks noChangeArrowheads="1"/>
          </p:cNvSpPr>
          <p:nvPr userDrawn="1"/>
        </p:nvSpPr>
        <p:spPr bwMode="auto">
          <a:xfrm>
            <a:off x="-32" y="6643711"/>
            <a:ext cx="9144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dirty="0" err="1">
                <a:solidFill>
                  <a:prstClr val="white"/>
                </a:solidFill>
              </a:rPr>
              <a:t>iAcademy</a:t>
            </a:r>
            <a:endParaRPr lang="en-SG" dirty="0">
              <a:solidFill>
                <a:prstClr val="white"/>
              </a:solidFill>
            </a:endParaRPr>
          </a:p>
        </p:txBody>
      </p:sp>
      <p:sp>
        <p:nvSpPr>
          <p:cNvPr id="19" name="Rectangle 7"/>
          <p:cNvSpPr>
            <a:spLocks noChangeArrowheads="1"/>
          </p:cNvSpPr>
          <p:nvPr userDrawn="1"/>
        </p:nvSpPr>
        <p:spPr bwMode="auto">
          <a:xfrm flipV="1">
            <a:off x="1214414" y="6786584"/>
            <a:ext cx="7929554" cy="71415"/>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Tree>
    <p:extLst>
      <p:ext uri="{BB962C8B-B14F-4D97-AF65-F5344CB8AC3E}">
        <p14:creationId xmlns:p14="http://schemas.microsoft.com/office/powerpoint/2010/main" val="13654879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D8B09C-13EB-4CA6-8318-C71FFF147362}" type="datetimeFigureOut">
              <a:rPr lang="en-GB" smtClean="0">
                <a:solidFill>
                  <a:prstClr val="black">
                    <a:tint val="75000"/>
                  </a:prstClr>
                </a:solidFill>
              </a:rPr>
              <a:pPr/>
              <a:t>16/03/2020</a:t>
            </a:fld>
            <a:endParaRPr lang="en-GB">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
        <p:nvSpPr>
          <p:cNvPr id="7" name="Text Box 4"/>
          <p:cNvSpPr txBox="1">
            <a:spLocks noChangeArrowheads="1"/>
          </p:cNvSpPr>
          <p:nvPr userDrawn="1"/>
        </p:nvSpPr>
        <p:spPr bwMode="auto">
          <a:xfrm>
            <a:off x="3124200" y="6354763"/>
            <a:ext cx="2895600" cy="368300"/>
          </a:xfrm>
          <a:prstGeom prst="rect">
            <a:avLst/>
          </a:prstGeom>
          <a:noFill/>
          <a:ln w="9525">
            <a:noFill/>
            <a:round/>
            <a:headEnd/>
            <a:tailEnd/>
          </a:ln>
          <a:effectLst/>
        </p:spPr>
        <p:txBody>
          <a:bodyPr wrap="none" anchor="ctr"/>
          <a:lstStyle/>
          <a:p>
            <a:pPr defTabSz="342900">
              <a:defRPr/>
            </a:pPr>
            <a:endParaRPr lang="en-SG" sz="1350" dirty="0">
              <a:solidFill>
                <a:prstClr val="black"/>
              </a:solidFill>
            </a:endParaRPr>
          </a:p>
        </p:txBody>
      </p:sp>
      <p:sp>
        <p:nvSpPr>
          <p:cNvPr id="8" name="Rectangle 6"/>
          <p:cNvSpPr>
            <a:spLocks noChangeArrowheads="1"/>
          </p:cNvSpPr>
          <p:nvPr userDrawn="1"/>
        </p:nvSpPr>
        <p:spPr bwMode="auto">
          <a:xfrm>
            <a:off x="0" y="0"/>
            <a:ext cx="9144000" cy="214313"/>
          </a:xfrm>
          <a:prstGeom prst="rect">
            <a:avLst/>
          </a:prstGeom>
          <a:solidFill>
            <a:srgbClr val="C00000"/>
          </a:solidFill>
          <a:ln w="9525">
            <a:noFill/>
            <a:round/>
            <a:headEnd/>
            <a:tailEnd/>
          </a:ln>
          <a:effectLst/>
        </p:spPr>
        <p:txBody>
          <a:bodyPr wrap="none" anchor="ctr"/>
          <a:lstStyle/>
          <a:p>
            <a:pPr algn="r" defTabSz="342900">
              <a:defRPr/>
            </a:pPr>
            <a:r>
              <a:rPr lang="en-SG" sz="1350" dirty="0" err="1">
                <a:solidFill>
                  <a:prstClr val="white"/>
                </a:solidFill>
              </a:rPr>
              <a:t>iAcademy</a:t>
            </a:r>
            <a:endParaRPr lang="en-SG" sz="1350" dirty="0">
              <a:solidFill>
                <a:prstClr val="white"/>
              </a:solidFill>
            </a:endParaRPr>
          </a:p>
        </p:txBody>
      </p:sp>
      <p:sp>
        <p:nvSpPr>
          <p:cNvPr id="9" name="Rectangle 7"/>
          <p:cNvSpPr>
            <a:spLocks noChangeArrowheads="1"/>
          </p:cNvSpPr>
          <p:nvPr userDrawn="1"/>
        </p:nvSpPr>
        <p:spPr bwMode="auto">
          <a:xfrm flipV="1">
            <a:off x="0" y="-1"/>
            <a:ext cx="7929586" cy="45719"/>
          </a:xfrm>
          <a:prstGeom prst="rect">
            <a:avLst/>
          </a:prstGeom>
          <a:solidFill>
            <a:srgbClr val="FFC000"/>
          </a:solidFill>
          <a:ln w="9525">
            <a:noFill/>
            <a:round/>
            <a:headEnd/>
            <a:tailEnd/>
          </a:ln>
          <a:effectLst/>
        </p:spPr>
        <p:txBody>
          <a:bodyPr wrap="none" anchor="ctr"/>
          <a:lstStyle/>
          <a:p>
            <a:pPr defTabSz="342900">
              <a:defRPr/>
            </a:pPr>
            <a:endParaRPr lang="en-SG" sz="1350" dirty="0">
              <a:solidFill>
                <a:prstClr val="black"/>
              </a:solidFill>
            </a:endParaRPr>
          </a:p>
        </p:txBody>
      </p:sp>
      <p:sp>
        <p:nvSpPr>
          <p:cNvPr id="10" name="Rectangle 6"/>
          <p:cNvSpPr>
            <a:spLocks noChangeArrowheads="1"/>
          </p:cNvSpPr>
          <p:nvPr userDrawn="1"/>
        </p:nvSpPr>
        <p:spPr bwMode="auto">
          <a:xfrm>
            <a:off x="-32" y="6643713"/>
            <a:ext cx="9144000" cy="214313"/>
          </a:xfrm>
          <a:prstGeom prst="rect">
            <a:avLst/>
          </a:prstGeom>
          <a:solidFill>
            <a:srgbClr val="C00000"/>
          </a:solidFill>
          <a:ln w="9525">
            <a:noFill/>
            <a:round/>
            <a:headEnd/>
            <a:tailEnd/>
          </a:ln>
          <a:effectLst/>
        </p:spPr>
        <p:txBody>
          <a:bodyPr wrap="none" anchor="ctr"/>
          <a:lstStyle/>
          <a:p>
            <a:pPr defTabSz="336947" fontAlgn="base">
              <a:spcBef>
                <a:spcPct val="0"/>
              </a:spcBef>
              <a:spcAft>
                <a:spcPct val="0"/>
              </a:spcAft>
              <a:buClr>
                <a:srgbClr val="000000"/>
              </a:buClr>
              <a:buSzPct val="100000"/>
              <a:buFont typeface="Times New Roman" pitchFamily="16" charset="0"/>
              <a:buNone/>
              <a:defRPr/>
            </a:pPr>
            <a:r>
              <a:rPr lang="en-SG" sz="1350" dirty="0" err="1">
                <a:solidFill>
                  <a:prstClr val="white"/>
                </a:solidFill>
              </a:rPr>
              <a:t>iAcademy</a:t>
            </a:r>
            <a:endParaRPr lang="en-SG" sz="1350" dirty="0">
              <a:solidFill>
                <a:prstClr val="white"/>
              </a:solidFill>
            </a:endParaRPr>
          </a:p>
        </p:txBody>
      </p:sp>
      <p:sp>
        <p:nvSpPr>
          <p:cNvPr id="11" name="Rectangle 7"/>
          <p:cNvSpPr>
            <a:spLocks noChangeArrowheads="1"/>
          </p:cNvSpPr>
          <p:nvPr userDrawn="1"/>
        </p:nvSpPr>
        <p:spPr bwMode="auto">
          <a:xfrm flipV="1">
            <a:off x="1214415" y="6786586"/>
            <a:ext cx="7929554" cy="71415"/>
          </a:xfrm>
          <a:prstGeom prst="rect">
            <a:avLst/>
          </a:prstGeom>
          <a:solidFill>
            <a:srgbClr val="FFC000"/>
          </a:solidFill>
          <a:ln w="9525">
            <a:noFill/>
            <a:round/>
            <a:headEnd/>
            <a:tailEnd/>
          </a:ln>
          <a:effectLst/>
        </p:spPr>
        <p:txBody>
          <a:bodyPr wrap="none" anchor="ctr"/>
          <a:lstStyle/>
          <a:p>
            <a:pPr defTabSz="342900">
              <a:defRPr/>
            </a:pPr>
            <a:endParaRPr lang="en-SG" sz="1350" dirty="0">
              <a:solidFill>
                <a:prstClr val="black"/>
              </a:solidFill>
            </a:endParaRPr>
          </a:p>
        </p:txBody>
      </p:sp>
    </p:spTree>
    <p:extLst>
      <p:ext uri="{BB962C8B-B14F-4D97-AF65-F5344CB8AC3E}">
        <p14:creationId xmlns:p14="http://schemas.microsoft.com/office/powerpoint/2010/main" val="266910668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285750" y="268288"/>
            <a:ext cx="8531225"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a:t>Click to edit the title text format</a:t>
            </a:r>
          </a:p>
        </p:txBody>
      </p:sp>
      <p:sp>
        <p:nvSpPr>
          <p:cNvPr id="12" name="Rectangle 2"/>
          <p:cNvSpPr>
            <a:spLocks noGrp="1" noChangeArrowheads="1"/>
          </p:cNvSpPr>
          <p:nvPr>
            <p:ph type="body" idx="1"/>
          </p:nvPr>
        </p:nvSpPr>
        <p:spPr bwMode="auto">
          <a:xfrm>
            <a:off x="285750" y="1214438"/>
            <a:ext cx="8531225"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a:t>Click to edit the outline text format</a:t>
            </a:r>
          </a:p>
          <a:p>
            <a:pPr lvl="1"/>
            <a:r>
              <a:rPr lang="en-GB" dirty="0"/>
              <a:t>Second Outline Level</a:t>
            </a:r>
          </a:p>
          <a:p>
            <a:pPr lvl="2"/>
            <a:r>
              <a:rPr lang="en-GB" dirty="0"/>
              <a:t>Third Outline Level</a:t>
            </a:r>
          </a:p>
          <a:p>
            <a:pPr lvl="3"/>
            <a:r>
              <a:rPr lang="en-GB" dirty="0"/>
              <a:t>Fourth Outline Level</a:t>
            </a:r>
          </a:p>
          <a:p>
            <a:pPr lvl="4"/>
            <a:r>
              <a:rPr lang="en-GB" dirty="0"/>
              <a:t>Fifth Outline Level</a:t>
            </a:r>
          </a:p>
          <a:p>
            <a:pPr lvl="4"/>
            <a:r>
              <a:rPr lang="en-GB" dirty="0"/>
              <a:t>Sixth Outline Level</a:t>
            </a:r>
          </a:p>
          <a:p>
            <a:pPr lvl="4"/>
            <a:r>
              <a:rPr lang="en-GB" dirty="0"/>
              <a:t>Seventh Outline Level</a:t>
            </a:r>
          </a:p>
          <a:p>
            <a:pPr lvl="4"/>
            <a:r>
              <a:rPr lang="en-GB" dirty="0"/>
              <a:t>Eighth Outline Level</a:t>
            </a:r>
          </a:p>
          <a:p>
            <a:pPr lvl="4"/>
            <a:r>
              <a:rPr lang="en-GB" dirty="0"/>
              <a:t>Ninth Outline Level</a:t>
            </a:r>
          </a:p>
        </p:txBody>
      </p:sp>
      <p:sp>
        <p:nvSpPr>
          <p:cNvPr id="13" name="Rectangle 3"/>
          <p:cNvSpPr>
            <a:spLocks noGrp="1" noChangeArrowheads="1"/>
          </p:cNvSpPr>
          <p:nvPr>
            <p:ph type="dt" idx="2"/>
          </p:nvPr>
        </p:nvSpPr>
        <p:spPr bwMode="auto">
          <a:xfrm>
            <a:off x="457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3124200" y="6354763"/>
            <a:ext cx="2895600" cy="368300"/>
          </a:xfrm>
          <a:prstGeom prst="rect">
            <a:avLst/>
          </a:prstGeom>
          <a:noFill/>
          <a:ln w="9525">
            <a:noFill/>
            <a:round/>
            <a:headEnd/>
            <a:tailEnd/>
          </a:ln>
          <a:effectLst/>
        </p:spPr>
        <p:txBody>
          <a:bodyPr wrap="none" anchor="ctr"/>
          <a:lstStyle/>
          <a:p>
            <a:pPr defTabSz="457200">
              <a:defRPr/>
            </a:pPr>
            <a:endParaRPr lang="en-SG" dirty="0">
              <a:solidFill>
                <a:prstClr val="black"/>
              </a:solidFill>
            </a:endParaRPr>
          </a:p>
        </p:txBody>
      </p:sp>
      <p:sp>
        <p:nvSpPr>
          <p:cNvPr id="15" name="Rectangle 5"/>
          <p:cNvSpPr>
            <a:spLocks noGrp="1" noChangeArrowheads="1"/>
          </p:cNvSpPr>
          <p:nvPr>
            <p:ph type="sldNum" idx="4"/>
          </p:nvPr>
        </p:nvSpPr>
        <p:spPr bwMode="auto">
          <a:xfrm>
            <a:off x="6553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a:pPr defTabSz="457200">
                <a:defRPr/>
              </a:pPr>
              <a:t>‹#›</a:t>
            </a:fld>
            <a:endParaRPr lang="en-SG" dirty="0"/>
          </a:p>
        </p:txBody>
      </p:sp>
      <p:sp>
        <p:nvSpPr>
          <p:cNvPr id="16" name="Rectangle 6"/>
          <p:cNvSpPr>
            <a:spLocks noChangeArrowheads="1"/>
          </p:cNvSpPr>
          <p:nvPr userDrawn="1"/>
        </p:nvSpPr>
        <p:spPr bwMode="auto">
          <a:xfrm>
            <a:off x="0" y="0"/>
            <a:ext cx="9144000" cy="214313"/>
          </a:xfrm>
          <a:prstGeom prst="rect">
            <a:avLst/>
          </a:prstGeom>
          <a:solidFill>
            <a:srgbClr val="C00000"/>
          </a:solidFill>
          <a:ln w="9525">
            <a:noFill/>
            <a:round/>
            <a:headEnd/>
            <a:tailEnd/>
          </a:ln>
          <a:effectLst/>
        </p:spPr>
        <p:txBody>
          <a:bodyPr wrap="none" anchor="ctr"/>
          <a:lstStyle/>
          <a:p>
            <a:pPr algn="r" defTabSz="457200">
              <a:defRPr/>
            </a:pPr>
            <a:r>
              <a:rPr lang="en-SG" dirty="0" err="1">
                <a:solidFill>
                  <a:prstClr val="white"/>
                </a:solidFill>
              </a:rPr>
              <a:t>iAcademy</a:t>
            </a:r>
            <a:endParaRPr lang="en-SG" dirty="0">
              <a:solidFill>
                <a:prstClr val="white"/>
              </a:solidFill>
            </a:endParaRPr>
          </a:p>
        </p:txBody>
      </p:sp>
      <p:sp>
        <p:nvSpPr>
          <p:cNvPr id="17" name="Rectangle 7"/>
          <p:cNvSpPr>
            <a:spLocks noChangeArrowheads="1"/>
          </p:cNvSpPr>
          <p:nvPr userDrawn="1"/>
        </p:nvSpPr>
        <p:spPr bwMode="auto">
          <a:xfrm flipV="1">
            <a:off x="0" y="-1"/>
            <a:ext cx="7929586" cy="45719"/>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
        <p:nvSpPr>
          <p:cNvPr id="18" name="Rectangle 6"/>
          <p:cNvSpPr>
            <a:spLocks noChangeArrowheads="1"/>
          </p:cNvSpPr>
          <p:nvPr userDrawn="1"/>
        </p:nvSpPr>
        <p:spPr bwMode="auto">
          <a:xfrm>
            <a:off x="-32" y="6643711"/>
            <a:ext cx="9144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dirty="0" err="1">
                <a:solidFill>
                  <a:prstClr val="white"/>
                </a:solidFill>
              </a:rPr>
              <a:t>iAcademy</a:t>
            </a:r>
            <a:endParaRPr lang="en-SG" dirty="0">
              <a:solidFill>
                <a:prstClr val="white"/>
              </a:solidFill>
            </a:endParaRPr>
          </a:p>
        </p:txBody>
      </p:sp>
      <p:sp>
        <p:nvSpPr>
          <p:cNvPr id="19" name="Rectangle 7"/>
          <p:cNvSpPr>
            <a:spLocks noChangeArrowheads="1"/>
          </p:cNvSpPr>
          <p:nvPr userDrawn="1"/>
        </p:nvSpPr>
        <p:spPr bwMode="auto">
          <a:xfrm flipV="1">
            <a:off x="1214414" y="6786584"/>
            <a:ext cx="7929554" cy="71415"/>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Tree>
    <p:extLst>
      <p:ext uri="{BB962C8B-B14F-4D97-AF65-F5344CB8AC3E}">
        <p14:creationId xmlns:p14="http://schemas.microsoft.com/office/powerpoint/2010/main" val="226060738"/>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4"/>
          <p:cNvSpPr>
            <a:spLocks noGrp="1"/>
          </p:cNvSpPr>
          <p:nvPr>
            <p:ph type="ctrTitle"/>
          </p:nvPr>
        </p:nvSpPr>
        <p:spPr>
          <a:xfrm>
            <a:off x="685800" y="785794"/>
            <a:ext cx="7772400" cy="1470025"/>
          </a:xfrm>
        </p:spPr>
        <p:txBody>
          <a:bodyPr/>
          <a:lstStyle/>
          <a:p>
            <a:pPr algn="ctr"/>
            <a:r>
              <a:rPr lang="en-US" dirty="0"/>
              <a:t>Choosing a project in Computing</a:t>
            </a:r>
            <a:endParaRPr lang="en-GB" dirty="0"/>
          </a:p>
        </p:txBody>
      </p:sp>
      <p:sp>
        <p:nvSpPr>
          <p:cNvPr id="10" name="Subtitle 5"/>
          <p:cNvSpPr>
            <a:spLocks noGrp="1"/>
          </p:cNvSpPr>
          <p:nvPr>
            <p:ph type="subTitle" idx="1"/>
          </p:nvPr>
        </p:nvSpPr>
        <p:spPr>
          <a:xfrm>
            <a:off x="357158" y="2684444"/>
            <a:ext cx="8358246" cy="2387629"/>
          </a:xfrm>
        </p:spPr>
        <p:txBody>
          <a:bodyPr/>
          <a:lstStyle/>
          <a:p>
            <a:r>
              <a:rPr lang="en-GB" dirty="0"/>
              <a:t>Research and Development Skills in Computing</a:t>
            </a:r>
          </a:p>
          <a:p>
            <a:r>
              <a:rPr lang="en-US" sz="2800" dirty="0"/>
              <a:t>Lecture 3</a:t>
            </a:r>
          </a:p>
          <a:p>
            <a:endParaRPr lang="en-US" sz="2800" dirty="0"/>
          </a:p>
          <a:p>
            <a:r>
              <a:rPr lang="en-US" sz="2400" i="1" dirty="0"/>
              <a:t>Understanding the needs of working towards finalizing a project</a:t>
            </a:r>
            <a:endParaRPr lang="en-GB" sz="2400" i="1" dirty="0"/>
          </a:p>
        </p:txBody>
      </p:sp>
      <p:sp>
        <p:nvSpPr>
          <p:cNvPr id="11" name="TextBox 3"/>
          <p:cNvSpPr txBox="1">
            <a:spLocks noChangeArrowheads="1"/>
          </p:cNvSpPr>
          <p:nvPr/>
        </p:nvSpPr>
        <p:spPr bwMode="auto">
          <a:xfrm>
            <a:off x="142844" y="5214950"/>
            <a:ext cx="8786874" cy="1285884"/>
          </a:xfrm>
          <a:prstGeom prst="rect">
            <a:avLst/>
          </a:prstGeom>
          <a:ln w="9525"/>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p>
            <a:pPr algn="just" defTabSz="457200">
              <a:spcBef>
                <a:spcPct val="20000"/>
              </a:spcBef>
            </a:pPr>
            <a:r>
              <a:rPr lang="en-GB" sz="1400" dirty="0">
                <a:solidFill>
                  <a:prstClr val="black"/>
                </a:solidFill>
              </a:rPr>
              <a:t>This lecture and its associated materials have been produced by </a:t>
            </a:r>
            <a:r>
              <a:rPr lang="en-US" sz="1400" dirty="0">
                <a:solidFill>
                  <a:prstClr val="black"/>
                </a:solidFill>
              </a:rPr>
              <a:t>Mr. </a:t>
            </a:r>
            <a:r>
              <a:rPr lang="en-US" sz="1400" dirty="0" err="1">
                <a:solidFill>
                  <a:prstClr val="black"/>
                </a:solidFill>
              </a:rPr>
              <a:t>Sanjiv</a:t>
            </a:r>
            <a:r>
              <a:rPr lang="en-US" sz="1400" dirty="0">
                <a:solidFill>
                  <a:prstClr val="black"/>
                </a:solidFill>
              </a:rPr>
              <a:t> </a:t>
            </a:r>
            <a:r>
              <a:rPr lang="en-US" sz="1400" dirty="0" err="1">
                <a:solidFill>
                  <a:prstClr val="black"/>
                </a:solidFill>
              </a:rPr>
              <a:t>Udash</a:t>
            </a:r>
            <a:r>
              <a:rPr lang="en-US" sz="1400" dirty="0">
                <a:solidFill>
                  <a:prstClr val="black"/>
                </a:solidFill>
              </a:rPr>
              <a:t> (MSc, University of Northampton) </a:t>
            </a:r>
            <a:r>
              <a:rPr lang="en-GB" sz="1400" dirty="0">
                <a:solidFill>
                  <a:prstClr val="black"/>
                </a:solidFill>
              </a:rPr>
              <a:t>of </a:t>
            </a:r>
            <a:r>
              <a:rPr lang="en-GB" sz="1400" dirty="0" err="1">
                <a:solidFill>
                  <a:prstClr val="black"/>
                </a:solidFill>
              </a:rPr>
              <a:t>iAcademy</a:t>
            </a:r>
            <a:r>
              <a:rPr lang="en-GB" sz="1400" dirty="0">
                <a:solidFill>
                  <a:prstClr val="black"/>
                </a:solidFill>
              </a:rPr>
              <a:t> for the purposes of lecturing on the above described subject and the material should be viewed in this context. The work does not constitute professional advice and no warranties are made regarding the information presented. The Author and </a:t>
            </a:r>
            <a:r>
              <a:rPr lang="en-GB" sz="1400" dirty="0" err="1">
                <a:solidFill>
                  <a:prstClr val="black"/>
                </a:solidFill>
              </a:rPr>
              <a:t>iAcademy</a:t>
            </a:r>
            <a:r>
              <a:rPr lang="en-GB" sz="1400" dirty="0">
                <a:solidFill>
                  <a:prstClr val="black"/>
                </a:solidFill>
              </a:rPr>
              <a:t> do not accept any liability for the consequences of any action taken as a result of the work or any recommendations made or inferred. Permission to use any of these materials must be first granted by </a:t>
            </a:r>
            <a:r>
              <a:rPr lang="en-GB" sz="1400" dirty="0" err="1">
                <a:solidFill>
                  <a:prstClr val="black"/>
                </a:solidFill>
              </a:rPr>
              <a:t>iAcademy</a:t>
            </a:r>
            <a:r>
              <a:rPr lang="en-GB" sz="1400" dirty="0">
                <a:solidFill>
                  <a:prstClr val="black"/>
                </a:solidFill>
              </a:rPr>
              <a:t>.</a:t>
            </a:r>
            <a:endParaRPr lang="en-US" sz="1400" dirty="0">
              <a:solidFill>
                <a:prstClr val="black"/>
              </a:solidFill>
            </a:endParaRPr>
          </a:p>
        </p:txBody>
      </p:sp>
    </p:spTree>
    <p:extLst>
      <p:ext uri="{BB962C8B-B14F-4D97-AF65-F5344CB8AC3E}">
        <p14:creationId xmlns:p14="http://schemas.microsoft.com/office/powerpoint/2010/main" val="1157728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itchFamily="34" charset="0"/>
              </a:rPr>
              <a:t>Agenda</a:t>
            </a:r>
            <a:r>
              <a:rPr lang="en-US" b="1" dirty="0"/>
              <a:t>	</a:t>
            </a:r>
            <a:endParaRPr lang="en-GB" b="1" dirty="0"/>
          </a:p>
        </p:txBody>
      </p:sp>
      <p:sp>
        <p:nvSpPr>
          <p:cNvPr id="3" name="Content Placeholder 2"/>
          <p:cNvSpPr>
            <a:spLocks noGrp="1"/>
          </p:cNvSpPr>
          <p:nvPr>
            <p:ph idx="1"/>
          </p:nvPr>
        </p:nvSpPr>
        <p:spPr>
          <a:xfrm>
            <a:off x="285750" y="1030288"/>
            <a:ext cx="8531225" cy="4870450"/>
          </a:xfrm>
        </p:spPr>
        <p:txBody>
          <a:bodyPr/>
          <a:lstStyle/>
          <a:p>
            <a:pPr marL="342900" indent="-342900" algn="just" defTabSz="449263" eaLnBrk="0" fontAlgn="base" hangingPunct="0">
              <a:spcBef>
                <a:spcPts val="700"/>
              </a:spcBef>
              <a:spcAft>
                <a:spcPct val="0"/>
              </a:spcAft>
              <a:buClr>
                <a:srgbClr val="000000"/>
              </a:buClr>
              <a:buSzPct val="100000"/>
              <a:buFont typeface="Times New Roman" pitchFamily="16" charset="0"/>
              <a:buChar char="•"/>
            </a:pPr>
            <a:r>
              <a:rPr lang="en-US" sz="3200" dirty="0">
                <a:solidFill>
                  <a:srgbClr val="000000"/>
                </a:solidFill>
                <a:ea typeface="宋体" pitchFamily="2" charset="-122"/>
              </a:rPr>
              <a:t>Week 3 Lecture Coverage</a:t>
            </a:r>
          </a:p>
          <a:p>
            <a:pPr lvl="1"/>
            <a:r>
              <a:rPr lang="en-GB" dirty="0"/>
              <a:t>Choosing a project</a:t>
            </a:r>
          </a:p>
          <a:p>
            <a:pPr lvl="1"/>
            <a:r>
              <a:rPr lang="en-GB" dirty="0"/>
              <a:t>Preparing a project proposal</a:t>
            </a:r>
          </a:p>
          <a:p>
            <a:pPr lvl="1"/>
            <a:r>
              <a:rPr lang="en-GB" dirty="0"/>
              <a:t>Choosing a supervisor</a:t>
            </a:r>
          </a:p>
        </p:txBody>
      </p:sp>
    </p:spTree>
    <p:extLst>
      <p:ext uri="{BB962C8B-B14F-4D97-AF65-F5344CB8AC3E}">
        <p14:creationId xmlns:p14="http://schemas.microsoft.com/office/powerpoint/2010/main" val="388521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11120" y="2195067"/>
            <a:ext cx="8501122" cy="2554545"/>
          </a:xfrm>
          <a:prstGeom prst="rect">
            <a:avLst/>
          </a:prstGeom>
          <a:noFill/>
          <a:ln w="63500">
            <a:solidFill>
              <a:srgbClr val="C00000"/>
            </a:solidFill>
          </a:ln>
        </p:spPr>
        <p:txBody>
          <a:bodyPr wrap="square" rtlCol="0">
            <a:spAutoFit/>
          </a:bodyPr>
          <a:lstStyle/>
          <a:p>
            <a:pPr algn="ctr"/>
            <a:endParaRPr lang="en-US" sz="4000" b="1" dirty="0">
              <a:solidFill>
                <a:prstClr val="black"/>
              </a:solidFill>
            </a:endParaRPr>
          </a:p>
          <a:p>
            <a:pPr algn="ctr"/>
            <a:r>
              <a:rPr lang="en-US" sz="4000" b="1" dirty="0">
                <a:solidFill>
                  <a:prstClr val="black"/>
                </a:solidFill>
              </a:rPr>
              <a:t>But first let’s review what have we learned from week 2</a:t>
            </a:r>
          </a:p>
          <a:p>
            <a:pPr algn="ctr"/>
            <a:endParaRPr lang="en-US" sz="4000" b="1" dirty="0">
              <a:solidFill>
                <a:prstClr val="black"/>
              </a:solidFill>
            </a:endParaRPr>
          </a:p>
        </p:txBody>
      </p:sp>
    </p:spTree>
    <p:extLst>
      <p:ext uri="{BB962C8B-B14F-4D97-AF65-F5344CB8AC3E}">
        <p14:creationId xmlns:p14="http://schemas.microsoft.com/office/powerpoint/2010/main" val="428160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mn-lt"/>
              </a:rPr>
              <a:t>Review of Week 2</a:t>
            </a:r>
          </a:p>
        </p:txBody>
      </p:sp>
      <p:sp>
        <p:nvSpPr>
          <p:cNvPr id="3" name="Content Placeholder 2"/>
          <p:cNvSpPr>
            <a:spLocks noGrp="1"/>
          </p:cNvSpPr>
          <p:nvPr>
            <p:ph idx="1"/>
          </p:nvPr>
        </p:nvSpPr>
        <p:spPr/>
        <p:txBody>
          <a:bodyPr>
            <a:normAutofit fontScale="92500" lnSpcReduction="10000"/>
          </a:bodyPr>
          <a:lstStyle/>
          <a:p>
            <a:pPr algn="just"/>
            <a:r>
              <a:rPr lang="en-US" sz="3500" dirty="0"/>
              <a:t>From first week we should have understood:</a:t>
            </a:r>
          </a:p>
          <a:p>
            <a:pPr lvl="1" algn="just"/>
            <a:r>
              <a:rPr lang="en-US" sz="3000" dirty="0"/>
              <a:t>Research is an </a:t>
            </a:r>
            <a:r>
              <a:rPr lang="en-GB" sz="3000" dirty="0"/>
              <a:t>‘</a:t>
            </a:r>
            <a:r>
              <a:rPr lang="en-GB" sz="3000" i="1" dirty="0"/>
              <a:t>Original</a:t>
            </a:r>
            <a:r>
              <a:rPr lang="en-GB" sz="3000" dirty="0"/>
              <a:t> investigation undertaken in order to </a:t>
            </a:r>
            <a:r>
              <a:rPr lang="en-GB" sz="3000" i="1" dirty="0"/>
              <a:t>gain</a:t>
            </a:r>
            <a:r>
              <a:rPr lang="en-GB" sz="3000" dirty="0"/>
              <a:t> </a:t>
            </a:r>
            <a:r>
              <a:rPr lang="en-GB" sz="3000" i="1" dirty="0"/>
              <a:t>knowledge</a:t>
            </a:r>
            <a:r>
              <a:rPr lang="en-GB" sz="3000" dirty="0"/>
              <a:t> and </a:t>
            </a:r>
            <a:r>
              <a:rPr lang="en-GB" sz="3000" i="1" dirty="0"/>
              <a:t>understanding</a:t>
            </a:r>
            <a:r>
              <a:rPr lang="en-GB" sz="3000" dirty="0"/>
              <a:t>’</a:t>
            </a:r>
          </a:p>
          <a:p>
            <a:pPr lvl="1" algn="just"/>
            <a:r>
              <a:rPr lang="en-US" sz="3000" dirty="0"/>
              <a:t>There are three key terms to emphasize on; </a:t>
            </a:r>
          </a:p>
          <a:p>
            <a:pPr marL="1185863" lvl="2" indent="-385763" algn="just">
              <a:buFont typeface="+mj-lt"/>
              <a:buAutoNum type="arabicPeriod"/>
            </a:pPr>
            <a:r>
              <a:rPr lang="en-US" sz="2600" dirty="0"/>
              <a:t>original, </a:t>
            </a:r>
          </a:p>
          <a:p>
            <a:pPr marL="1185863" lvl="2" indent="-385763" algn="just">
              <a:buFont typeface="+mj-lt"/>
              <a:buAutoNum type="arabicPeriod"/>
            </a:pPr>
            <a:r>
              <a:rPr lang="en-US" sz="2600" dirty="0"/>
              <a:t>gain and knowledge and </a:t>
            </a:r>
          </a:p>
          <a:p>
            <a:pPr marL="1185863" lvl="2" indent="-385763" algn="just">
              <a:buFont typeface="+mj-lt"/>
              <a:buAutoNum type="arabicPeriod"/>
            </a:pPr>
            <a:r>
              <a:rPr lang="en-US" sz="2600" dirty="0"/>
              <a:t>Understanding</a:t>
            </a:r>
            <a:endParaRPr lang="en-GB" sz="2600" dirty="0"/>
          </a:p>
          <a:p>
            <a:pPr lvl="1"/>
            <a:r>
              <a:rPr lang="en-US" sz="3000" dirty="0"/>
              <a:t>Four common views of the research process: </a:t>
            </a:r>
          </a:p>
          <a:p>
            <a:pPr lvl="2"/>
            <a:r>
              <a:rPr lang="en-US" sz="2600" dirty="0"/>
              <a:t>sequential, </a:t>
            </a:r>
          </a:p>
          <a:p>
            <a:pPr lvl="2"/>
            <a:r>
              <a:rPr lang="en-US" sz="2600" dirty="0"/>
              <a:t>generalized, </a:t>
            </a:r>
          </a:p>
          <a:p>
            <a:pPr lvl="2"/>
            <a:r>
              <a:rPr lang="en-US" sz="2600" dirty="0"/>
              <a:t>circulatory and </a:t>
            </a:r>
          </a:p>
          <a:p>
            <a:pPr lvl="2"/>
            <a:r>
              <a:rPr lang="en-US" sz="2600" dirty="0"/>
              <a:t>evolutionary</a:t>
            </a:r>
            <a:endParaRPr lang="en-GB" sz="2600" dirty="0"/>
          </a:p>
          <a:p>
            <a:pPr algn="just"/>
            <a:endParaRPr lang="en-GB" dirty="0"/>
          </a:p>
        </p:txBody>
      </p:sp>
    </p:spTree>
    <p:extLst>
      <p:ext uri="{BB962C8B-B14F-4D97-AF65-F5344CB8AC3E}">
        <p14:creationId xmlns:p14="http://schemas.microsoft.com/office/powerpoint/2010/main" val="382020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s.isha.ws/blog/wp-content/uploads/2013/08/confusion-clarity-spiritual-pat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787" y="1152939"/>
            <a:ext cx="8480425" cy="477023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a:spLocks noGrp="1"/>
          </p:cNvSpPr>
          <p:nvPr>
            <p:ph type="title"/>
          </p:nvPr>
        </p:nvSpPr>
        <p:spPr/>
        <p:txBody>
          <a:bodyPr/>
          <a:lstStyle/>
          <a:p>
            <a:r>
              <a:rPr lang="en-US" b="1" dirty="0">
                <a:latin typeface="+mn-lt"/>
              </a:rPr>
              <a:t>Any Confusion?</a:t>
            </a:r>
          </a:p>
        </p:txBody>
      </p:sp>
    </p:spTree>
    <p:extLst>
      <p:ext uri="{BB962C8B-B14F-4D97-AF65-F5344CB8AC3E}">
        <p14:creationId xmlns:p14="http://schemas.microsoft.com/office/powerpoint/2010/main" val="4107395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Choosing a project (1)</a:t>
            </a:r>
          </a:p>
        </p:txBody>
      </p:sp>
      <p:sp>
        <p:nvSpPr>
          <p:cNvPr id="3" name="Content Placeholder 2"/>
          <p:cNvSpPr>
            <a:spLocks noGrp="1"/>
          </p:cNvSpPr>
          <p:nvPr>
            <p:ph idx="1"/>
          </p:nvPr>
        </p:nvSpPr>
        <p:spPr/>
        <p:txBody>
          <a:bodyPr>
            <a:normAutofit/>
          </a:bodyPr>
          <a:lstStyle/>
          <a:p>
            <a:pPr algn="just"/>
            <a:r>
              <a:rPr lang="en-GB" dirty="0"/>
              <a:t>When choosing your project, keep these important principles in mind:</a:t>
            </a:r>
          </a:p>
          <a:p>
            <a:pPr lvl="1" algn="just"/>
            <a:r>
              <a:rPr lang="en-US" dirty="0"/>
              <a:t>You must be capable of doing the proposed project in the time available. </a:t>
            </a:r>
          </a:p>
          <a:p>
            <a:pPr lvl="1" algn="just"/>
            <a:r>
              <a:rPr lang="en-US" dirty="0"/>
              <a:t>Choose a project that interests you.</a:t>
            </a:r>
          </a:p>
          <a:p>
            <a:pPr lvl="1" algn="just"/>
            <a:r>
              <a:rPr lang="en-US" dirty="0"/>
              <a:t>Consider your personal development and choose a project that will assist you in your goals.</a:t>
            </a:r>
          </a:p>
          <a:p>
            <a:pPr lvl="1" algn="just"/>
            <a:r>
              <a:rPr lang="en-US" dirty="0"/>
              <a:t>Your project should have a serious purpose and a clear outcome that will benefit someone.</a:t>
            </a:r>
          </a:p>
          <a:p>
            <a:pPr lvl="1" algn="just"/>
            <a:r>
              <a:rPr lang="en-US" dirty="0"/>
              <a:t>Your project has a clear outcome (in terms of deliverables) that focuses your work and direction.</a:t>
            </a:r>
          </a:p>
          <a:p>
            <a:pPr algn="just"/>
            <a:endParaRPr lang="en-US" dirty="0"/>
          </a:p>
          <a:p>
            <a:pPr algn="just"/>
            <a:endParaRPr lang="en-GB" dirty="0"/>
          </a:p>
        </p:txBody>
      </p:sp>
    </p:spTree>
    <p:extLst>
      <p:ext uri="{BB962C8B-B14F-4D97-AF65-F5344CB8AC3E}">
        <p14:creationId xmlns:p14="http://schemas.microsoft.com/office/powerpoint/2010/main" val="230944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Choosing a project (2)</a:t>
            </a:r>
          </a:p>
        </p:txBody>
      </p:sp>
      <p:sp>
        <p:nvSpPr>
          <p:cNvPr id="3" name="Content Placeholder 2"/>
          <p:cNvSpPr>
            <a:spLocks noGrp="1"/>
          </p:cNvSpPr>
          <p:nvPr>
            <p:ph idx="1"/>
          </p:nvPr>
        </p:nvSpPr>
        <p:spPr/>
        <p:txBody>
          <a:bodyPr>
            <a:normAutofit/>
          </a:bodyPr>
          <a:lstStyle/>
          <a:p>
            <a:pPr lvl="1" algn="just"/>
            <a:r>
              <a:rPr lang="en-US" dirty="0"/>
              <a:t>Your project links suitably with your degree course.</a:t>
            </a:r>
          </a:p>
          <a:p>
            <a:pPr lvl="1" algn="just"/>
            <a:r>
              <a:rPr lang="en-US" dirty="0"/>
              <a:t>Your project is of sufficient scope and quality to fit the requirements of your course.</a:t>
            </a:r>
          </a:p>
          <a:p>
            <a:pPr lvl="1" algn="just"/>
            <a:r>
              <a:rPr lang="en-US" dirty="0"/>
              <a:t>Your project idea is something that interests you, but not a personal issue about which you may have a subjective view that could cloud your perspective and influence your results.</a:t>
            </a:r>
          </a:p>
          <a:p>
            <a:pPr lvl="1" algn="just"/>
            <a:r>
              <a:rPr lang="en-US" dirty="0"/>
              <a:t>The resources you require for your project are available or can be obtained; for example, software, hardware, a particular client, user or organization.</a:t>
            </a:r>
          </a:p>
          <a:p>
            <a:pPr algn="just"/>
            <a:endParaRPr lang="en-US" dirty="0"/>
          </a:p>
          <a:p>
            <a:pPr algn="just"/>
            <a:endParaRPr lang="en-GB" dirty="0"/>
          </a:p>
        </p:txBody>
      </p:sp>
    </p:spTree>
    <p:extLst>
      <p:ext uri="{BB962C8B-B14F-4D97-AF65-F5344CB8AC3E}">
        <p14:creationId xmlns:p14="http://schemas.microsoft.com/office/powerpoint/2010/main" val="1221760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48" y="849318"/>
            <a:ext cx="8531225" cy="762000"/>
          </a:xfrm>
        </p:spPr>
        <p:txBody>
          <a:bodyPr>
            <a:noAutofit/>
          </a:bodyPr>
          <a:lstStyle/>
          <a:p>
            <a:r>
              <a:rPr lang="en-GB" dirty="0"/>
              <a:t>Techniques and Information Sources: Lecturers’/departmental lists</a:t>
            </a:r>
          </a:p>
        </p:txBody>
      </p:sp>
      <p:sp>
        <p:nvSpPr>
          <p:cNvPr id="3" name="Content Placeholder 2"/>
          <p:cNvSpPr>
            <a:spLocks noGrp="1"/>
          </p:cNvSpPr>
          <p:nvPr>
            <p:ph idx="1"/>
          </p:nvPr>
        </p:nvSpPr>
        <p:spPr>
          <a:xfrm>
            <a:off x="285747" y="2116142"/>
            <a:ext cx="8531225" cy="4870450"/>
          </a:xfrm>
        </p:spPr>
        <p:txBody>
          <a:bodyPr/>
          <a:lstStyle/>
          <a:p>
            <a:pPr algn="just"/>
            <a:r>
              <a:rPr lang="en-US" dirty="0"/>
              <a:t>Sometimes this is the only source of acceptable project ideas. </a:t>
            </a:r>
          </a:p>
          <a:p>
            <a:pPr algn="just"/>
            <a:r>
              <a:rPr lang="en-US" dirty="0"/>
              <a:t>These projects may have been proposed by academic staff in your department or in other departments, or they may be small projects requested by local industry.</a:t>
            </a:r>
          </a:p>
          <a:p>
            <a:pPr algn="just"/>
            <a:r>
              <a:rPr lang="en-US" dirty="0"/>
              <a:t>However, industrial-based projects could have some inherent problems:</a:t>
            </a:r>
          </a:p>
          <a:p>
            <a:pPr algn="just"/>
            <a:endParaRPr lang="en-GB" dirty="0"/>
          </a:p>
        </p:txBody>
      </p:sp>
    </p:spTree>
    <p:extLst>
      <p:ext uri="{BB962C8B-B14F-4D97-AF65-F5344CB8AC3E}">
        <p14:creationId xmlns:p14="http://schemas.microsoft.com/office/powerpoint/2010/main" val="1200254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54043"/>
            <a:ext cx="8531225" cy="762000"/>
          </a:xfrm>
        </p:spPr>
        <p:txBody>
          <a:bodyPr/>
          <a:lstStyle/>
          <a:p>
            <a:r>
              <a:rPr lang="en-GB" dirty="0"/>
              <a:t>Techniques and Information Sources: Industrial projects (1)</a:t>
            </a:r>
          </a:p>
        </p:txBody>
      </p:sp>
      <p:sp>
        <p:nvSpPr>
          <p:cNvPr id="3" name="Content Placeholder 2"/>
          <p:cNvSpPr>
            <a:spLocks noGrp="1"/>
          </p:cNvSpPr>
          <p:nvPr>
            <p:ph idx="1"/>
          </p:nvPr>
        </p:nvSpPr>
        <p:spPr>
          <a:xfrm>
            <a:off x="285750" y="1616081"/>
            <a:ext cx="8531225" cy="4870450"/>
          </a:xfrm>
        </p:spPr>
        <p:txBody>
          <a:bodyPr>
            <a:normAutofit/>
          </a:bodyPr>
          <a:lstStyle/>
          <a:p>
            <a:pPr algn="just"/>
            <a:r>
              <a:rPr lang="en-US" dirty="0"/>
              <a:t>If you have spent a year in industry as part of your course or are working part-time, your past or present company may have a project you could undertake. </a:t>
            </a:r>
          </a:p>
          <a:p>
            <a:pPr algn="just"/>
            <a:r>
              <a:rPr lang="en-US" dirty="0"/>
              <a:t>Alternatively, your supervisor, friends or family might have industry contacts that could be a prospective client. </a:t>
            </a:r>
          </a:p>
        </p:txBody>
      </p:sp>
    </p:spTree>
    <p:extLst>
      <p:ext uri="{BB962C8B-B14F-4D97-AF65-F5344CB8AC3E}">
        <p14:creationId xmlns:p14="http://schemas.microsoft.com/office/powerpoint/2010/main" val="3146803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54043"/>
            <a:ext cx="8531225" cy="762000"/>
          </a:xfrm>
        </p:spPr>
        <p:txBody>
          <a:bodyPr/>
          <a:lstStyle/>
          <a:p>
            <a:r>
              <a:rPr lang="en-GB" dirty="0"/>
              <a:t>Techniques and Information Sources: Industrial projects (2)</a:t>
            </a:r>
          </a:p>
        </p:txBody>
      </p:sp>
      <p:sp>
        <p:nvSpPr>
          <p:cNvPr id="3" name="Content Placeholder 2"/>
          <p:cNvSpPr>
            <a:spLocks noGrp="1"/>
          </p:cNvSpPr>
          <p:nvPr>
            <p:ph idx="1"/>
          </p:nvPr>
        </p:nvSpPr>
        <p:spPr>
          <a:xfrm>
            <a:off x="285750" y="1616081"/>
            <a:ext cx="8531225" cy="4870450"/>
          </a:xfrm>
        </p:spPr>
        <p:txBody>
          <a:bodyPr>
            <a:normAutofit/>
          </a:bodyPr>
          <a:lstStyle/>
          <a:p>
            <a:pPr lvl="1" algn="just"/>
            <a:r>
              <a:rPr lang="en-US" dirty="0"/>
              <a:t>Firstly, the company’s objectives could differ from yours in terms of the project’s deliverables. </a:t>
            </a:r>
          </a:p>
          <a:p>
            <a:pPr lvl="1" algn="just"/>
            <a:r>
              <a:rPr lang="en-US" dirty="0"/>
              <a:t>Secondly, industry contacts are not always stable or reliable.</a:t>
            </a:r>
          </a:p>
          <a:p>
            <a:pPr lvl="1" algn="just"/>
            <a:r>
              <a:rPr lang="en-US" dirty="0"/>
              <a:t>Thirdly, access to companies can be difficult.</a:t>
            </a:r>
          </a:p>
          <a:p>
            <a:pPr lvl="1" algn="just"/>
            <a:r>
              <a:rPr lang="en-US" dirty="0"/>
              <a:t>Fourthly, as an outsider working for the company, will you be granted access to all you need for the project – data, files, people? </a:t>
            </a:r>
            <a:endParaRPr lang="en-GB" dirty="0"/>
          </a:p>
        </p:txBody>
      </p:sp>
    </p:spTree>
    <p:extLst>
      <p:ext uri="{BB962C8B-B14F-4D97-AF65-F5344CB8AC3E}">
        <p14:creationId xmlns:p14="http://schemas.microsoft.com/office/powerpoint/2010/main" val="1149454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54043"/>
            <a:ext cx="8531225" cy="762000"/>
          </a:xfrm>
        </p:spPr>
        <p:txBody>
          <a:bodyPr/>
          <a:lstStyle/>
          <a:p>
            <a:r>
              <a:rPr lang="en-GB" dirty="0"/>
              <a:t>Techniques and Information Sources: Industrial projects (3)</a:t>
            </a:r>
          </a:p>
        </p:txBody>
      </p:sp>
      <p:sp>
        <p:nvSpPr>
          <p:cNvPr id="3" name="Content Placeholder 2"/>
          <p:cNvSpPr>
            <a:spLocks noGrp="1"/>
          </p:cNvSpPr>
          <p:nvPr>
            <p:ph idx="1"/>
          </p:nvPr>
        </p:nvSpPr>
        <p:spPr>
          <a:xfrm>
            <a:off x="285750" y="1616080"/>
            <a:ext cx="8531225" cy="5241919"/>
          </a:xfrm>
        </p:spPr>
        <p:txBody>
          <a:bodyPr>
            <a:normAutofit fontScale="92500" lnSpcReduction="10000"/>
          </a:bodyPr>
          <a:lstStyle/>
          <a:p>
            <a:pPr algn="just"/>
            <a:r>
              <a:rPr lang="en-US" sz="3500" dirty="0"/>
              <a:t>Despite these potential pitfalls, there are a number of advantages to working with an outside company for your project:</a:t>
            </a:r>
          </a:p>
          <a:p>
            <a:pPr lvl="1" algn="just"/>
            <a:r>
              <a:rPr lang="en-US" sz="3000" dirty="0"/>
              <a:t>Your project will have a clear goal and likely a clear set of requirements specified by the client. </a:t>
            </a:r>
          </a:p>
          <a:p>
            <a:pPr lvl="1" algn="just"/>
            <a:r>
              <a:rPr lang="en-US" sz="3000" dirty="0"/>
              <a:t>Working for an external body will provide additional motivation as you will be working for someone other than yourself and have targets to achieve. </a:t>
            </a:r>
          </a:p>
          <a:p>
            <a:pPr lvl="1" algn="just"/>
            <a:r>
              <a:rPr lang="en-US" sz="3000" dirty="0"/>
              <a:t>Finally, you may well have additional support for your project that may not be available otherwise – for example, the company may offer training, you may have access to sophisticated hardware/software and benefit from expert industrial knowledge.</a:t>
            </a:r>
            <a:endParaRPr lang="en-GB" sz="3000" dirty="0"/>
          </a:p>
        </p:txBody>
      </p:sp>
    </p:spTree>
    <p:extLst>
      <p:ext uri="{BB962C8B-B14F-4D97-AF65-F5344CB8AC3E}">
        <p14:creationId xmlns:p14="http://schemas.microsoft.com/office/powerpoint/2010/main" val="2887880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54043"/>
            <a:ext cx="8531225" cy="762000"/>
          </a:xfrm>
        </p:spPr>
        <p:txBody>
          <a:bodyPr/>
          <a:lstStyle/>
          <a:p>
            <a:r>
              <a:rPr lang="en-GB" dirty="0"/>
              <a:t>Techniques and Information Sources: Past Projects (1)</a:t>
            </a:r>
          </a:p>
        </p:txBody>
      </p:sp>
      <p:sp>
        <p:nvSpPr>
          <p:cNvPr id="3" name="Content Placeholder 2"/>
          <p:cNvSpPr>
            <a:spLocks noGrp="1"/>
          </p:cNvSpPr>
          <p:nvPr>
            <p:ph idx="1"/>
          </p:nvPr>
        </p:nvSpPr>
        <p:spPr>
          <a:xfrm>
            <a:off x="285750" y="1616080"/>
            <a:ext cx="8531225" cy="5241919"/>
          </a:xfrm>
        </p:spPr>
        <p:txBody>
          <a:bodyPr>
            <a:noAutofit/>
          </a:bodyPr>
          <a:lstStyle/>
          <a:p>
            <a:pPr algn="just"/>
            <a:r>
              <a:rPr lang="en-US" dirty="0"/>
              <a:t>Usually your department or university library will hold copies of previous projects. </a:t>
            </a:r>
          </a:p>
          <a:p>
            <a:pPr algn="just"/>
            <a:r>
              <a:rPr lang="en-US" dirty="0"/>
              <a:t>These can provide you with working ideas (for example, on how you could develop the work further) and some sense of the scope and amount of work expected. </a:t>
            </a:r>
          </a:p>
          <a:p>
            <a:pPr algn="just"/>
            <a:r>
              <a:rPr lang="en-US" dirty="0"/>
              <a:t>Alternatively, you can use the Internet to search for past projects at other institutions. </a:t>
            </a:r>
          </a:p>
        </p:txBody>
      </p:sp>
    </p:spTree>
    <p:extLst>
      <p:ext uri="{BB962C8B-B14F-4D97-AF65-F5344CB8AC3E}">
        <p14:creationId xmlns:p14="http://schemas.microsoft.com/office/powerpoint/2010/main" val="1969755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54043"/>
            <a:ext cx="8531225" cy="762000"/>
          </a:xfrm>
        </p:spPr>
        <p:txBody>
          <a:bodyPr/>
          <a:lstStyle/>
          <a:p>
            <a:r>
              <a:rPr lang="en-GB" dirty="0"/>
              <a:t>Techniques and Information Sources: Past Projects (2)</a:t>
            </a:r>
          </a:p>
        </p:txBody>
      </p:sp>
      <p:sp>
        <p:nvSpPr>
          <p:cNvPr id="3" name="Content Placeholder 2"/>
          <p:cNvSpPr>
            <a:spLocks noGrp="1"/>
          </p:cNvSpPr>
          <p:nvPr>
            <p:ph idx="1"/>
          </p:nvPr>
        </p:nvSpPr>
        <p:spPr>
          <a:xfrm>
            <a:off x="285750" y="1616080"/>
            <a:ext cx="8531225" cy="5241919"/>
          </a:xfrm>
        </p:spPr>
        <p:txBody>
          <a:bodyPr>
            <a:noAutofit/>
          </a:bodyPr>
          <a:lstStyle/>
          <a:p>
            <a:pPr algn="just"/>
            <a:r>
              <a:rPr lang="en-US" dirty="0"/>
              <a:t>Past projects may also provide a suitable basis from which to start your own project – picking up from where a previous student left off. </a:t>
            </a:r>
          </a:p>
          <a:p>
            <a:pPr algn="just"/>
            <a:r>
              <a:rPr lang="en-US" dirty="0"/>
              <a:t>You need to be aware of the amount of effort required to upgrade existing systems. It can be harder to enhance a piece of software that already exists than to develop a system from scratch.</a:t>
            </a:r>
            <a:endParaRPr lang="en-GB" dirty="0"/>
          </a:p>
        </p:txBody>
      </p:sp>
    </p:spTree>
    <p:extLst>
      <p:ext uri="{BB962C8B-B14F-4D97-AF65-F5344CB8AC3E}">
        <p14:creationId xmlns:p14="http://schemas.microsoft.com/office/powerpoint/2010/main" val="1786919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54043"/>
            <a:ext cx="8531225" cy="762000"/>
          </a:xfrm>
        </p:spPr>
        <p:txBody>
          <a:bodyPr/>
          <a:lstStyle/>
          <a:p>
            <a:r>
              <a:rPr lang="en-GB" dirty="0"/>
              <a:t>Techniques and Information Sources: Talking with colleagues</a:t>
            </a:r>
          </a:p>
        </p:txBody>
      </p:sp>
      <p:sp>
        <p:nvSpPr>
          <p:cNvPr id="3" name="Content Placeholder 2"/>
          <p:cNvSpPr>
            <a:spLocks noGrp="1"/>
          </p:cNvSpPr>
          <p:nvPr>
            <p:ph idx="1"/>
          </p:nvPr>
        </p:nvSpPr>
        <p:spPr>
          <a:xfrm>
            <a:off x="285750" y="1616080"/>
            <a:ext cx="8531225" cy="5241919"/>
          </a:xfrm>
        </p:spPr>
        <p:txBody>
          <a:bodyPr>
            <a:noAutofit/>
          </a:bodyPr>
          <a:lstStyle/>
          <a:p>
            <a:pPr algn="just"/>
            <a:r>
              <a:rPr lang="en-US" dirty="0"/>
              <a:t>Your peers can often provide a different perspective on ideas you might have. </a:t>
            </a:r>
          </a:p>
          <a:p>
            <a:pPr algn="just"/>
            <a:r>
              <a:rPr lang="en-US" dirty="0"/>
              <a:t>They can be helpful in highlighting potential shortcomings of your intended project and may suggest alternatives.</a:t>
            </a:r>
            <a:endParaRPr lang="en-GB" dirty="0"/>
          </a:p>
        </p:txBody>
      </p:sp>
    </p:spTree>
    <p:extLst>
      <p:ext uri="{BB962C8B-B14F-4D97-AF65-F5344CB8AC3E}">
        <p14:creationId xmlns:p14="http://schemas.microsoft.com/office/powerpoint/2010/main" val="837608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854089"/>
            <a:ext cx="8531225" cy="762000"/>
          </a:xfrm>
        </p:spPr>
        <p:txBody>
          <a:bodyPr/>
          <a:lstStyle/>
          <a:p>
            <a:r>
              <a:rPr lang="en-GB" dirty="0"/>
              <a:t>Techniques and Information Sources: Reading around subject areas</a:t>
            </a:r>
          </a:p>
        </p:txBody>
      </p:sp>
      <p:sp>
        <p:nvSpPr>
          <p:cNvPr id="3" name="Content Placeholder 2"/>
          <p:cNvSpPr>
            <a:spLocks noGrp="1"/>
          </p:cNvSpPr>
          <p:nvPr>
            <p:ph idx="1"/>
          </p:nvPr>
        </p:nvSpPr>
        <p:spPr>
          <a:xfrm>
            <a:off x="285749" y="2201867"/>
            <a:ext cx="8531225" cy="5241919"/>
          </a:xfrm>
        </p:spPr>
        <p:txBody>
          <a:bodyPr>
            <a:noAutofit/>
          </a:bodyPr>
          <a:lstStyle/>
          <a:p>
            <a:pPr algn="just"/>
            <a:r>
              <a:rPr lang="en-US" dirty="0"/>
              <a:t>If you read books, journals and articles on a topic that interests you, you can often discover areas that authors have identified as requiring further research and development.</a:t>
            </a:r>
          </a:p>
          <a:p>
            <a:pPr algn="just"/>
            <a:r>
              <a:rPr lang="en-US" dirty="0"/>
              <a:t>As you improve your understanding of the topic area, you may identify a gap that you wish to investigate further.</a:t>
            </a:r>
            <a:endParaRPr lang="en-GB" dirty="0"/>
          </a:p>
        </p:txBody>
      </p:sp>
    </p:spTree>
    <p:extLst>
      <p:ext uri="{BB962C8B-B14F-4D97-AF65-F5344CB8AC3E}">
        <p14:creationId xmlns:p14="http://schemas.microsoft.com/office/powerpoint/2010/main" val="3417487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54043"/>
            <a:ext cx="8531225" cy="762000"/>
          </a:xfrm>
        </p:spPr>
        <p:txBody>
          <a:bodyPr/>
          <a:lstStyle/>
          <a:p>
            <a:r>
              <a:rPr lang="en-GB" dirty="0"/>
              <a:t>Techniques and Information Sources: Clustering (1)</a:t>
            </a:r>
          </a:p>
        </p:txBody>
      </p:sp>
      <p:sp>
        <p:nvSpPr>
          <p:cNvPr id="3" name="Content Placeholder 2"/>
          <p:cNvSpPr>
            <a:spLocks noGrp="1"/>
          </p:cNvSpPr>
          <p:nvPr>
            <p:ph idx="1"/>
          </p:nvPr>
        </p:nvSpPr>
        <p:spPr>
          <a:xfrm>
            <a:off x="285750" y="1616080"/>
            <a:ext cx="8531225" cy="5241919"/>
          </a:xfrm>
        </p:spPr>
        <p:txBody>
          <a:bodyPr>
            <a:noAutofit/>
          </a:bodyPr>
          <a:lstStyle/>
          <a:p>
            <a:r>
              <a:rPr lang="en-US" dirty="0"/>
              <a:t>You might wish to pursue a project in a particular field but are unsure exactly which aspects of the topic to focus upon. </a:t>
            </a:r>
          </a:p>
          <a:p>
            <a:r>
              <a:rPr lang="en-US" dirty="0"/>
              <a:t>Clustering can help you identify aspects within a topic area that link together and are worthy of further investigation. </a:t>
            </a:r>
            <a:endParaRPr lang="en-GB" dirty="0"/>
          </a:p>
        </p:txBody>
      </p:sp>
    </p:spTree>
    <p:extLst>
      <p:ext uri="{BB962C8B-B14F-4D97-AF65-F5344CB8AC3E}">
        <p14:creationId xmlns:p14="http://schemas.microsoft.com/office/powerpoint/2010/main" val="3810636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54043"/>
            <a:ext cx="8531225" cy="762000"/>
          </a:xfrm>
        </p:spPr>
        <p:txBody>
          <a:bodyPr/>
          <a:lstStyle/>
          <a:p>
            <a:r>
              <a:rPr lang="en-GB" dirty="0"/>
              <a:t>Techniques and Information Sources: Clustering (2)</a:t>
            </a:r>
          </a:p>
        </p:txBody>
      </p:sp>
      <p:sp>
        <p:nvSpPr>
          <p:cNvPr id="3" name="Content Placeholder 2"/>
          <p:cNvSpPr>
            <a:spLocks noGrp="1"/>
          </p:cNvSpPr>
          <p:nvPr>
            <p:ph idx="1"/>
          </p:nvPr>
        </p:nvSpPr>
        <p:spPr>
          <a:xfrm>
            <a:off x="285750" y="1616080"/>
            <a:ext cx="8531225" cy="5241919"/>
          </a:xfrm>
        </p:spPr>
        <p:txBody>
          <a:bodyPr>
            <a:noAutofit/>
          </a:bodyPr>
          <a:lstStyle/>
          <a:p>
            <a:pPr algn="just"/>
            <a:r>
              <a:rPr lang="en-US" dirty="0"/>
              <a:t>Clustering is performed in two stages. </a:t>
            </a:r>
          </a:p>
          <a:p>
            <a:pPr lvl="1" algn="just"/>
            <a:r>
              <a:rPr lang="en-US" dirty="0"/>
              <a:t>First, you should list keywords related to your topic area. </a:t>
            </a:r>
          </a:p>
          <a:p>
            <a:pPr lvl="1" algn="just"/>
            <a:r>
              <a:rPr lang="en-US" dirty="0"/>
              <a:t>Second, once you have exhausted all the words and phrases you can think of, you cluster them into related groups and patterns.</a:t>
            </a:r>
            <a:endParaRPr lang="en-GB" dirty="0"/>
          </a:p>
        </p:txBody>
      </p:sp>
    </p:spTree>
    <p:extLst>
      <p:ext uri="{BB962C8B-B14F-4D97-AF65-F5344CB8AC3E}">
        <p14:creationId xmlns:p14="http://schemas.microsoft.com/office/powerpoint/2010/main" val="947435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54043"/>
            <a:ext cx="8531225" cy="762000"/>
          </a:xfrm>
        </p:spPr>
        <p:txBody>
          <a:bodyPr/>
          <a:lstStyle/>
          <a:p>
            <a:r>
              <a:rPr lang="en-GB" dirty="0"/>
              <a:t>Techniques and Information Sources: Brainstorming (1)</a:t>
            </a:r>
          </a:p>
        </p:txBody>
      </p:sp>
      <p:sp>
        <p:nvSpPr>
          <p:cNvPr id="3" name="Content Placeholder 2"/>
          <p:cNvSpPr>
            <a:spLocks noGrp="1"/>
          </p:cNvSpPr>
          <p:nvPr>
            <p:ph idx="1"/>
          </p:nvPr>
        </p:nvSpPr>
        <p:spPr>
          <a:xfrm>
            <a:off x="285750" y="1616080"/>
            <a:ext cx="8531225" cy="5241919"/>
          </a:xfrm>
        </p:spPr>
        <p:txBody>
          <a:bodyPr>
            <a:noAutofit/>
          </a:bodyPr>
          <a:lstStyle/>
          <a:p>
            <a:pPr algn="just"/>
            <a:r>
              <a:rPr lang="en-US" dirty="0"/>
              <a:t>If you are really struggling for a project idea, brainstorming can provide the answer.</a:t>
            </a:r>
          </a:p>
          <a:p>
            <a:pPr algn="just"/>
            <a:r>
              <a:rPr lang="en-US" dirty="0"/>
              <a:t>Brainstorming involves listing all your project ideas on a piece of paper, in any order and as quickly as possible. </a:t>
            </a:r>
          </a:p>
          <a:p>
            <a:pPr algn="just"/>
            <a:r>
              <a:rPr lang="en-US" dirty="0"/>
              <a:t>Write anything down, even if it sounds completely irrational, as the process of brainstorming should not be stifled. </a:t>
            </a:r>
          </a:p>
        </p:txBody>
      </p:sp>
    </p:spTree>
    <p:extLst>
      <p:ext uri="{BB962C8B-B14F-4D97-AF65-F5344CB8AC3E}">
        <p14:creationId xmlns:p14="http://schemas.microsoft.com/office/powerpoint/2010/main" val="118483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54043"/>
            <a:ext cx="8531225" cy="762000"/>
          </a:xfrm>
        </p:spPr>
        <p:txBody>
          <a:bodyPr/>
          <a:lstStyle/>
          <a:p>
            <a:r>
              <a:rPr lang="en-GB" dirty="0"/>
              <a:t>Techniques and Information Sources: Brainstorming (2)</a:t>
            </a:r>
          </a:p>
        </p:txBody>
      </p:sp>
      <p:sp>
        <p:nvSpPr>
          <p:cNvPr id="3" name="Content Placeholder 2"/>
          <p:cNvSpPr>
            <a:spLocks noGrp="1"/>
          </p:cNvSpPr>
          <p:nvPr>
            <p:ph idx="1"/>
          </p:nvPr>
        </p:nvSpPr>
        <p:spPr>
          <a:xfrm>
            <a:off x="285750" y="1616080"/>
            <a:ext cx="8531225" cy="5241919"/>
          </a:xfrm>
        </p:spPr>
        <p:txBody>
          <a:bodyPr>
            <a:noAutofit/>
          </a:bodyPr>
          <a:lstStyle/>
          <a:p>
            <a:pPr algn="just"/>
            <a:r>
              <a:rPr lang="en-US" dirty="0"/>
              <a:t>When you have finally exhausted all your ideas, look at each one in turn and evaluate and assess it in more depth and what may have sounded ridiculous at first may actually lead to a good project idea; perhaps when viewed from a different angle.</a:t>
            </a:r>
            <a:endParaRPr lang="en-GB" dirty="0"/>
          </a:p>
        </p:txBody>
      </p:sp>
    </p:spTree>
    <p:extLst>
      <p:ext uri="{BB962C8B-B14F-4D97-AF65-F5344CB8AC3E}">
        <p14:creationId xmlns:p14="http://schemas.microsoft.com/office/powerpoint/2010/main" val="3613554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Preparing a project proposal (1)</a:t>
            </a:r>
          </a:p>
        </p:txBody>
      </p:sp>
      <p:sp>
        <p:nvSpPr>
          <p:cNvPr id="3" name="Content Placeholder 2"/>
          <p:cNvSpPr>
            <a:spLocks noGrp="1"/>
          </p:cNvSpPr>
          <p:nvPr>
            <p:ph idx="1"/>
          </p:nvPr>
        </p:nvSpPr>
        <p:spPr/>
        <p:txBody>
          <a:bodyPr/>
          <a:lstStyle/>
          <a:p>
            <a:pPr algn="just"/>
            <a:r>
              <a:rPr lang="en-US" dirty="0"/>
              <a:t>It is normal, in most institutions, for you to prepare a proposal for your project so it can be assessed for acceptability. </a:t>
            </a:r>
          </a:p>
          <a:p>
            <a:pPr algn="just"/>
            <a:r>
              <a:rPr lang="en-US" dirty="0"/>
              <a:t>Unless you can present an acceptable proposal, your project will not even start. </a:t>
            </a:r>
          </a:p>
          <a:p>
            <a:pPr algn="just"/>
            <a:r>
              <a:rPr lang="en-US" dirty="0"/>
              <a:t>In many cases, projects can and do change direction as they proceed; as you become more aware of the topic area and the problem which you are investigating.</a:t>
            </a:r>
            <a:endParaRPr lang="en-GB" dirty="0"/>
          </a:p>
        </p:txBody>
      </p:sp>
    </p:spTree>
    <p:extLst>
      <p:ext uri="{BB962C8B-B14F-4D97-AF65-F5344CB8AC3E}">
        <p14:creationId xmlns:p14="http://schemas.microsoft.com/office/powerpoint/2010/main" val="29816301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Preparing a project proposal (2)</a:t>
            </a:r>
          </a:p>
        </p:txBody>
      </p:sp>
      <p:sp>
        <p:nvSpPr>
          <p:cNvPr id="3" name="Content Placeholder 2"/>
          <p:cNvSpPr>
            <a:spLocks noGrp="1"/>
          </p:cNvSpPr>
          <p:nvPr>
            <p:ph idx="1"/>
          </p:nvPr>
        </p:nvSpPr>
        <p:spPr/>
        <p:txBody>
          <a:bodyPr/>
          <a:lstStyle/>
          <a:p>
            <a:pPr algn="just"/>
            <a:r>
              <a:rPr lang="en-US" dirty="0"/>
              <a:t>When preparing your proposal, follow these two golden rules:</a:t>
            </a:r>
          </a:p>
          <a:p>
            <a:pPr lvl="1" algn="just"/>
            <a:r>
              <a:rPr lang="en-US" dirty="0"/>
              <a:t>1. Follow any guidelines precisely. </a:t>
            </a:r>
          </a:p>
          <a:p>
            <a:pPr lvl="2" algn="just"/>
            <a:r>
              <a:rPr lang="en-US" dirty="0"/>
              <a:t>Most institutions require specific information; for example, project title, project objectives, resource requirements and so forth. </a:t>
            </a:r>
          </a:p>
          <a:p>
            <a:pPr lvl="2" algn="just"/>
            <a:r>
              <a:rPr lang="en-US" dirty="0"/>
              <a:t>Failure to complete these sections may mean your proposal is rejected without even being read, for example, because you failed to get a signature or did not complete an essential section properly.</a:t>
            </a:r>
          </a:p>
          <a:p>
            <a:pPr lvl="1" algn="just"/>
            <a:r>
              <a:rPr lang="en-US" dirty="0"/>
              <a:t>2. Proofread thoroughly and get someone else to check it. Any errors or omissions will appear sloppy and put your commitment and proposed project in a bad light.</a:t>
            </a:r>
            <a:endParaRPr lang="en-GB" dirty="0"/>
          </a:p>
        </p:txBody>
      </p:sp>
    </p:spTree>
    <p:extLst>
      <p:ext uri="{BB962C8B-B14F-4D97-AF65-F5344CB8AC3E}">
        <p14:creationId xmlns:p14="http://schemas.microsoft.com/office/powerpoint/2010/main" val="2303546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Proposal: Implicit content</a:t>
            </a:r>
          </a:p>
        </p:txBody>
      </p:sp>
      <p:sp>
        <p:nvSpPr>
          <p:cNvPr id="3" name="Content Placeholder 2"/>
          <p:cNvSpPr>
            <a:spLocks noGrp="1"/>
          </p:cNvSpPr>
          <p:nvPr>
            <p:ph idx="1"/>
          </p:nvPr>
        </p:nvSpPr>
        <p:spPr/>
        <p:txBody>
          <a:bodyPr>
            <a:normAutofit lnSpcReduction="10000"/>
          </a:bodyPr>
          <a:lstStyle/>
          <a:p>
            <a:pPr algn="just"/>
            <a:r>
              <a:rPr lang="en-US" dirty="0"/>
              <a:t>In general, your proposal should address five principal areas. </a:t>
            </a:r>
          </a:p>
          <a:p>
            <a:pPr algn="just"/>
            <a:r>
              <a:rPr lang="en-US" dirty="0"/>
              <a:t>These may not be identified explicitly in the structure of your proposal, but they should be addressed implicitly within the proposal’s content. They are:</a:t>
            </a:r>
          </a:p>
          <a:p>
            <a:pPr marL="842963" lvl="1" indent="-385763" algn="just">
              <a:buFont typeface="+mj-lt"/>
              <a:buAutoNum type="arabicPeriod"/>
            </a:pPr>
            <a:r>
              <a:rPr lang="en-US" dirty="0"/>
              <a:t>Introduction to the subject area</a:t>
            </a:r>
          </a:p>
          <a:p>
            <a:pPr marL="842963" lvl="1" indent="-385763" algn="just">
              <a:buFont typeface="+mj-lt"/>
              <a:buAutoNum type="arabicPeriod"/>
            </a:pPr>
            <a:r>
              <a:rPr lang="en-US" dirty="0"/>
              <a:t>Current research in the field</a:t>
            </a:r>
          </a:p>
          <a:p>
            <a:pPr marL="842963" lvl="1" indent="-385763" algn="just">
              <a:buFont typeface="+mj-lt"/>
              <a:buAutoNum type="arabicPeriod"/>
            </a:pPr>
            <a:r>
              <a:rPr lang="en-US" dirty="0"/>
              <a:t>Identify a gap</a:t>
            </a:r>
          </a:p>
          <a:p>
            <a:pPr marL="842963" lvl="1" indent="-385763" algn="just">
              <a:buFont typeface="+mj-lt"/>
              <a:buAutoNum type="arabicPeriod"/>
            </a:pPr>
            <a:r>
              <a:rPr lang="en-US" dirty="0"/>
              <a:t>Identify how your work fills the gap</a:t>
            </a:r>
          </a:p>
          <a:p>
            <a:pPr marL="842963" lvl="1" indent="-385763" algn="just">
              <a:buFont typeface="+mj-lt"/>
              <a:buAutoNum type="arabicPeriod"/>
            </a:pPr>
            <a:r>
              <a:rPr lang="en-US" dirty="0"/>
              <a:t>Identify risks and solutions</a:t>
            </a:r>
          </a:p>
          <a:p>
            <a:pPr algn="just"/>
            <a:endParaRPr lang="en-GB" dirty="0"/>
          </a:p>
        </p:txBody>
      </p:sp>
    </p:spTree>
    <p:extLst>
      <p:ext uri="{BB962C8B-B14F-4D97-AF65-F5344CB8AC3E}">
        <p14:creationId xmlns:p14="http://schemas.microsoft.com/office/powerpoint/2010/main" val="987514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Proposal: Explicit sections</a:t>
            </a:r>
          </a:p>
        </p:txBody>
      </p:sp>
      <p:sp>
        <p:nvSpPr>
          <p:cNvPr id="3" name="Content Placeholder 2"/>
          <p:cNvSpPr>
            <a:spLocks noGrp="1"/>
          </p:cNvSpPr>
          <p:nvPr>
            <p:ph idx="1"/>
          </p:nvPr>
        </p:nvSpPr>
        <p:spPr>
          <a:xfrm>
            <a:off x="285749" y="1030288"/>
            <a:ext cx="8531225" cy="5955728"/>
          </a:xfrm>
        </p:spPr>
        <p:txBody>
          <a:bodyPr>
            <a:normAutofit fontScale="85000" lnSpcReduction="20000"/>
          </a:bodyPr>
          <a:lstStyle/>
          <a:p>
            <a:pPr algn="just"/>
            <a:r>
              <a:rPr lang="en-US" sz="3800" dirty="0"/>
              <a:t>Detailed below are the most common sections that project proposals should include. </a:t>
            </a:r>
          </a:p>
          <a:p>
            <a:pPr algn="just"/>
            <a:r>
              <a:rPr lang="en-US" sz="3800" dirty="0"/>
              <a:t>If you receive no guidance as to the content of your project proposal, include, at the very least, the first three of the following sections in your document.</a:t>
            </a:r>
          </a:p>
          <a:p>
            <a:pPr marL="728663" lvl="1" indent="-385763" algn="just">
              <a:buFont typeface="+mj-lt"/>
              <a:buAutoNum type="arabicPeriod"/>
            </a:pPr>
            <a:r>
              <a:rPr lang="en-US" sz="3300" dirty="0"/>
              <a:t>Title</a:t>
            </a:r>
          </a:p>
          <a:p>
            <a:pPr marL="728663" lvl="1" indent="-385763" algn="just">
              <a:buFont typeface="+mj-lt"/>
              <a:buAutoNum type="arabicPeriod"/>
            </a:pPr>
            <a:r>
              <a:rPr lang="en-US" sz="3300" dirty="0"/>
              <a:t>Aims and objectives</a:t>
            </a:r>
          </a:p>
          <a:p>
            <a:pPr marL="728663" lvl="1" indent="-385763" algn="just">
              <a:buFont typeface="+mj-lt"/>
              <a:buAutoNum type="arabicPeriod"/>
            </a:pPr>
            <a:r>
              <a:rPr lang="en-US" sz="3300" dirty="0"/>
              <a:t>Expected outcomes/deliverables</a:t>
            </a:r>
          </a:p>
          <a:p>
            <a:pPr marL="728663" lvl="1" indent="-385763" algn="just">
              <a:buFont typeface="+mj-lt"/>
              <a:buAutoNum type="arabicPeriod"/>
            </a:pPr>
            <a:r>
              <a:rPr lang="en-US" sz="3300" dirty="0"/>
              <a:t>Keywords</a:t>
            </a:r>
          </a:p>
          <a:p>
            <a:pPr marL="728663" lvl="1" indent="-385763" algn="just">
              <a:buFont typeface="+mj-lt"/>
              <a:buAutoNum type="arabicPeriod"/>
            </a:pPr>
            <a:r>
              <a:rPr lang="en-US" sz="3300" dirty="0"/>
              <a:t>Introduction/background/overview</a:t>
            </a:r>
          </a:p>
          <a:p>
            <a:pPr marL="728663" lvl="1" indent="-385763" algn="just">
              <a:buFont typeface="+mj-lt"/>
              <a:buAutoNum type="arabicPeriod"/>
            </a:pPr>
            <a:r>
              <a:rPr lang="en-US" sz="3300" dirty="0"/>
              <a:t>Related search</a:t>
            </a:r>
          </a:p>
          <a:p>
            <a:pPr marL="728663" lvl="1" indent="-385763" algn="just">
              <a:buFont typeface="+mj-lt"/>
              <a:buAutoNum type="arabicPeriod"/>
            </a:pPr>
            <a:r>
              <a:rPr lang="en-US" sz="3300" dirty="0"/>
              <a:t>Methods</a:t>
            </a:r>
          </a:p>
          <a:p>
            <a:pPr marL="728663" lvl="1" indent="-385763" algn="just">
              <a:buFont typeface="+mj-lt"/>
              <a:buAutoNum type="arabicPeriod"/>
            </a:pPr>
            <a:r>
              <a:rPr lang="en-US" sz="3300" dirty="0"/>
              <a:t>Resource requirements</a:t>
            </a:r>
          </a:p>
          <a:p>
            <a:pPr marL="728663" lvl="1" indent="-385763" algn="just">
              <a:buFont typeface="+mj-lt"/>
              <a:buAutoNum type="arabicPeriod"/>
            </a:pPr>
            <a:r>
              <a:rPr lang="en-US" sz="3300" dirty="0"/>
              <a:t>Project Plan</a:t>
            </a:r>
          </a:p>
          <a:p>
            <a:pPr marL="385763" indent="-385763" algn="just">
              <a:buFont typeface="+mj-lt"/>
              <a:buAutoNum type="arabicPeriod"/>
            </a:pPr>
            <a:endParaRPr lang="en-US" dirty="0"/>
          </a:p>
          <a:p>
            <a:pPr algn="just"/>
            <a:endParaRPr lang="en-GB" dirty="0"/>
          </a:p>
        </p:txBody>
      </p:sp>
    </p:spTree>
    <p:extLst>
      <p:ext uri="{BB962C8B-B14F-4D97-AF65-F5344CB8AC3E}">
        <p14:creationId xmlns:p14="http://schemas.microsoft.com/office/powerpoint/2010/main" val="2101678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 Title</a:t>
            </a:r>
          </a:p>
        </p:txBody>
      </p:sp>
      <p:sp>
        <p:nvSpPr>
          <p:cNvPr id="3" name="Content Placeholder 2"/>
          <p:cNvSpPr>
            <a:spLocks noGrp="1"/>
          </p:cNvSpPr>
          <p:nvPr>
            <p:ph idx="1"/>
          </p:nvPr>
        </p:nvSpPr>
        <p:spPr/>
        <p:txBody>
          <a:bodyPr/>
          <a:lstStyle/>
          <a:p>
            <a:pPr algn="just"/>
            <a:r>
              <a:rPr lang="en-US" dirty="0"/>
              <a:t>This should be clear and concise. </a:t>
            </a:r>
          </a:p>
          <a:p>
            <a:pPr algn="just"/>
            <a:r>
              <a:rPr lang="en-US" dirty="0"/>
              <a:t>Try to avoid using acronyms if possible. </a:t>
            </a:r>
          </a:p>
          <a:p>
            <a:pPr lvl="1" algn="just"/>
            <a:r>
              <a:rPr lang="en-US" dirty="0"/>
              <a:t>Examples of clear and concise titles include:</a:t>
            </a:r>
          </a:p>
          <a:p>
            <a:pPr lvl="1" algn="just"/>
            <a:r>
              <a:rPr lang="en-US" dirty="0"/>
              <a:t>‘Evaluation of soft systems methods as analysis tools in small software houses’;</a:t>
            </a:r>
          </a:p>
          <a:p>
            <a:pPr lvl="1" algn="just"/>
            <a:r>
              <a:rPr lang="en-US" dirty="0"/>
              <a:t>‘Artificial neural networks for software development cost estimation’;</a:t>
            </a:r>
          </a:p>
          <a:p>
            <a:pPr lvl="1" algn="just"/>
            <a:r>
              <a:rPr lang="en-US" dirty="0"/>
              <a:t>‘Development of process models for building graphical software tools’.</a:t>
            </a:r>
            <a:endParaRPr lang="en-GB" dirty="0"/>
          </a:p>
        </p:txBody>
      </p:sp>
    </p:spTree>
    <p:extLst>
      <p:ext uri="{BB962C8B-B14F-4D97-AF65-F5344CB8AC3E}">
        <p14:creationId xmlns:p14="http://schemas.microsoft.com/office/powerpoint/2010/main" val="24315073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 Aims and Objectives</a:t>
            </a:r>
          </a:p>
        </p:txBody>
      </p:sp>
      <p:sp>
        <p:nvSpPr>
          <p:cNvPr id="3" name="Content Placeholder 2"/>
          <p:cNvSpPr>
            <a:spLocks noGrp="1"/>
          </p:cNvSpPr>
          <p:nvPr>
            <p:ph idx="1"/>
          </p:nvPr>
        </p:nvSpPr>
        <p:spPr/>
        <p:txBody>
          <a:bodyPr>
            <a:noAutofit/>
          </a:bodyPr>
          <a:lstStyle/>
          <a:p>
            <a:pPr algn="just"/>
            <a:r>
              <a:rPr lang="en-US" dirty="0"/>
              <a:t>Aims identify at the highest level what it is you hope to achieve with your project – what you intend to achieve overall. </a:t>
            </a:r>
          </a:p>
          <a:p>
            <a:pPr algn="just"/>
            <a:r>
              <a:rPr lang="en-US" dirty="0"/>
              <a:t>An aim is a broad statement of intent that identifies your project’s purpose. </a:t>
            </a:r>
          </a:p>
          <a:p>
            <a:pPr algn="just"/>
            <a:r>
              <a:rPr lang="en-US" dirty="0"/>
              <a:t>Objectives, on the other hand, identify specific, measurable achievements that build towards the ultimate aim of your project. </a:t>
            </a:r>
          </a:p>
          <a:p>
            <a:pPr algn="just"/>
            <a:r>
              <a:rPr lang="en-US" dirty="0"/>
              <a:t>They are ‘quantitative and qualitative measures by which completion of the project will be judged’ (Turner, 1993). </a:t>
            </a:r>
            <a:endParaRPr lang="en-GB" dirty="0"/>
          </a:p>
        </p:txBody>
      </p:sp>
    </p:spTree>
    <p:extLst>
      <p:ext uri="{BB962C8B-B14F-4D97-AF65-F5344CB8AC3E}">
        <p14:creationId xmlns:p14="http://schemas.microsoft.com/office/powerpoint/2010/main" val="2067892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268288"/>
            <a:ext cx="9958388" cy="762000"/>
          </a:xfrm>
        </p:spPr>
        <p:txBody>
          <a:bodyPr/>
          <a:lstStyle/>
          <a:p>
            <a:r>
              <a:rPr lang="en-GB" dirty="0"/>
              <a:t>3. Expected outcomes/deliverables(1)</a:t>
            </a:r>
          </a:p>
        </p:txBody>
      </p:sp>
      <p:sp>
        <p:nvSpPr>
          <p:cNvPr id="3" name="Content Placeholder 2"/>
          <p:cNvSpPr>
            <a:spLocks noGrp="1"/>
          </p:cNvSpPr>
          <p:nvPr>
            <p:ph idx="1"/>
          </p:nvPr>
        </p:nvSpPr>
        <p:spPr/>
        <p:txBody>
          <a:bodyPr>
            <a:noAutofit/>
          </a:bodyPr>
          <a:lstStyle/>
          <a:p>
            <a:pPr algn="just"/>
            <a:r>
              <a:rPr lang="en-US" dirty="0"/>
              <a:t>This section of your proposal will identify precisely what you intend to submit at the end of the project.</a:t>
            </a:r>
          </a:p>
          <a:p>
            <a:pPr algn="just"/>
            <a:r>
              <a:rPr lang="en-US" dirty="0"/>
              <a:t>It can describe programs and user documentation and it might include models and algorithms that will be developed to address specific problems. </a:t>
            </a:r>
          </a:p>
          <a:p>
            <a:pPr algn="just"/>
            <a:r>
              <a:rPr lang="en-US" dirty="0"/>
              <a:t>You might also be delivering a functional specification for a piece of software, a prototype, or a test plan.</a:t>
            </a:r>
            <a:endParaRPr lang="en-GB" dirty="0"/>
          </a:p>
          <a:p>
            <a:pPr algn="just"/>
            <a:r>
              <a:rPr lang="en-US" dirty="0"/>
              <a:t> </a:t>
            </a:r>
          </a:p>
        </p:txBody>
      </p:sp>
    </p:spTree>
    <p:extLst>
      <p:ext uri="{BB962C8B-B14F-4D97-AF65-F5344CB8AC3E}">
        <p14:creationId xmlns:p14="http://schemas.microsoft.com/office/powerpoint/2010/main" val="26561701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4. Keywords</a:t>
            </a:r>
          </a:p>
        </p:txBody>
      </p:sp>
      <p:sp>
        <p:nvSpPr>
          <p:cNvPr id="3" name="Content Placeholder 2"/>
          <p:cNvSpPr>
            <a:spLocks noGrp="1"/>
          </p:cNvSpPr>
          <p:nvPr>
            <p:ph idx="1"/>
          </p:nvPr>
        </p:nvSpPr>
        <p:spPr/>
        <p:txBody>
          <a:bodyPr>
            <a:normAutofit/>
          </a:bodyPr>
          <a:lstStyle/>
          <a:p>
            <a:pPr algn="just"/>
            <a:r>
              <a:rPr lang="en-US" dirty="0"/>
              <a:t>Keywords are used to identify the topic areas your project draws on.</a:t>
            </a:r>
          </a:p>
          <a:p>
            <a:pPr algn="just"/>
            <a:r>
              <a:rPr lang="en-US" dirty="0"/>
              <a:t>People use keywords to see at a glance what subjects your project relates to which might not be clear from your project’s title alone. </a:t>
            </a:r>
          </a:p>
          <a:p>
            <a:pPr algn="just"/>
            <a:r>
              <a:rPr lang="en-US" dirty="0"/>
              <a:t>Remember, keywords are not necessarily single words but can be simple phrases as well; for example, artificial intelligence or software engineering.</a:t>
            </a:r>
            <a:endParaRPr lang="en-GB" dirty="0"/>
          </a:p>
        </p:txBody>
      </p:sp>
    </p:spTree>
    <p:extLst>
      <p:ext uri="{BB962C8B-B14F-4D97-AF65-F5344CB8AC3E}">
        <p14:creationId xmlns:p14="http://schemas.microsoft.com/office/powerpoint/2010/main" val="21853522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5. Introduction/background/overview</a:t>
            </a:r>
          </a:p>
        </p:txBody>
      </p:sp>
      <p:sp>
        <p:nvSpPr>
          <p:cNvPr id="3" name="Content Placeholder 2"/>
          <p:cNvSpPr>
            <a:spLocks noGrp="1"/>
          </p:cNvSpPr>
          <p:nvPr>
            <p:ph idx="1"/>
          </p:nvPr>
        </p:nvSpPr>
        <p:spPr/>
        <p:txBody>
          <a:bodyPr>
            <a:noAutofit/>
          </a:bodyPr>
          <a:lstStyle/>
          <a:p>
            <a:pPr algn="just"/>
            <a:r>
              <a:rPr lang="en-US" dirty="0"/>
              <a:t>In this section you might wish to include reasons</a:t>
            </a:r>
          </a:p>
          <a:p>
            <a:pPr lvl="2" algn="just"/>
            <a:r>
              <a:rPr lang="en-US" sz="2800" dirty="0"/>
              <a:t> An introduction to the industry (organization) being investigated or evaluated (current scenario)</a:t>
            </a:r>
          </a:p>
          <a:p>
            <a:pPr lvl="2" algn="just"/>
            <a:r>
              <a:rPr lang="en-US" sz="2800" dirty="0"/>
              <a:t>What is the problem domain? (why this project needs to be done?)</a:t>
            </a:r>
          </a:p>
          <a:p>
            <a:pPr lvl="2" algn="just"/>
            <a:r>
              <a:rPr lang="en-US" sz="2800" dirty="0"/>
              <a:t>What sort of solution is going to be presented?</a:t>
            </a:r>
          </a:p>
          <a:p>
            <a:pPr lvl="2" algn="just"/>
            <a:r>
              <a:rPr lang="en-US" sz="2800" dirty="0"/>
              <a:t>Mainly set the scene for the project.</a:t>
            </a:r>
            <a:endParaRPr lang="en-GB" sz="2800" dirty="0"/>
          </a:p>
        </p:txBody>
      </p:sp>
    </p:spTree>
    <p:extLst>
      <p:ext uri="{BB962C8B-B14F-4D97-AF65-F5344CB8AC3E}">
        <p14:creationId xmlns:p14="http://schemas.microsoft.com/office/powerpoint/2010/main" val="36498320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6. Related research</a:t>
            </a:r>
          </a:p>
        </p:txBody>
      </p:sp>
      <p:sp>
        <p:nvSpPr>
          <p:cNvPr id="3" name="Content Placeholder 2"/>
          <p:cNvSpPr>
            <a:spLocks noGrp="1"/>
          </p:cNvSpPr>
          <p:nvPr>
            <p:ph idx="1"/>
          </p:nvPr>
        </p:nvSpPr>
        <p:spPr/>
        <p:txBody>
          <a:bodyPr>
            <a:normAutofit/>
          </a:bodyPr>
          <a:lstStyle/>
          <a:p>
            <a:pPr algn="just"/>
            <a:r>
              <a:rPr lang="en-US" dirty="0"/>
              <a:t>This section identifies other work, publications and research related to your topic. </a:t>
            </a:r>
          </a:p>
          <a:p>
            <a:pPr algn="just"/>
            <a:r>
              <a:rPr lang="en-US" dirty="0"/>
              <a:t>It will demonstrate that your project does not exist in an academic vacuum but relates to other research topics and fields of current interest. </a:t>
            </a:r>
          </a:p>
          <a:p>
            <a:pPr algn="just"/>
            <a:r>
              <a:rPr lang="en-US" dirty="0"/>
              <a:t>Related research can also help demonstrate your understanding of your topic area, showing the reader that you are aware of what is currently happening in the field and are conversant with other topics that impinge upon it.</a:t>
            </a:r>
            <a:endParaRPr lang="en-GB" dirty="0"/>
          </a:p>
        </p:txBody>
      </p:sp>
    </p:spTree>
    <p:extLst>
      <p:ext uri="{BB962C8B-B14F-4D97-AF65-F5344CB8AC3E}">
        <p14:creationId xmlns:p14="http://schemas.microsoft.com/office/powerpoint/2010/main" val="13162812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7. Methods</a:t>
            </a:r>
          </a:p>
        </p:txBody>
      </p:sp>
      <p:sp>
        <p:nvSpPr>
          <p:cNvPr id="3" name="Content Placeholder 2"/>
          <p:cNvSpPr>
            <a:spLocks noGrp="1"/>
          </p:cNvSpPr>
          <p:nvPr>
            <p:ph idx="1"/>
          </p:nvPr>
        </p:nvSpPr>
        <p:spPr/>
        <p:txBody>
          <a:bodyPr>
            <a:normAutofit lnSpcReduction="10000"/>
          </a:bodyPr>
          <a:lstStyle/>
          <a:p>
            <a:pPr algn="just"/>
            <a:r>
              <a:rPr lang="en-US" dirty="0"/>
              <a:t>This section describes the research and project methods you will use in performing your project. </a:t>
            </a:r>
          </a:p>
          <a:p>
            <a:pPr algn="just"/>
            <a:r>
              <a:rPr lang="en-US" dirty="0"/>
              <a:t>This section should not identify methods that you might be investigating as part of your project, but those methods you are actually using. </a:t>
            </a:r>
          </a:p>
          <a:p>
            <a:pPr algn="just"/>
            <a:r>
              <a:rPr lang="en-US" dirty="0"/>
              <a:t>It might include development methods that you are using as part of a systems development (for example, SSADM); survey methods for a case study evaluation and evaluation methods for comparing two or more systems.</a:t>
            </a:r>
            <a:endParaRPr lang="en-GB" dirty="0"/>
          </a:p>
        </p:txBody>
      </p:sp>
    </p:spTree>
    <p:extLst>
      <p:ext uri="{BB962C8B-B14F-4D97-AF65-F5344CB8AC3E}">
        <p14:creationId xmlns:p14="http://schemas.microsoft.com/office/powerpoint/2010/main" val="19641823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8. Resource requirements (1)</a:t>
            </a:r>
          </a:p>
        </p:txBody>
      </p:sp>
      <p:sp>
        <p:nvSpPr>
          <p:cNvPr id="3" name="Content Placeholder 2"/>
          <p:cNvSpPr>
            <a:spLocks noGrp="1"/>
          </p:cNvSpPr>
          <p:nvPr>
            <p:ph idx="1"/>
          </p:nvPr>
        </p:nvSpPr>
        <p:spPr/>
        <p:txBody>
          <a:bodyPr>
            <a:noAutofit/>
          </a:bodyPr>
          <a:lstStyle/>
          <a:p>
            <a:r>
              <a:rPr lang="en-US" dirty="0"/>
              <a:t>You might need to identify any resource requirements for your project, such as hardware, software and access to particular computers. </a:t>
            </a:r>
          </a:p>
          <a:p>
            <a:r>
              <a:rPr lang="en-US" dirty="0"/>
              <a:t>If you have access to particular resources, this fact should be pointed out in this </a:t>
            </a:r>
          </a:p>
          <a:p>
            <a:r>
              <a:rPr lang="en-US" dirty="0"/>
              <a:t>Quite clearly, if the resources for your project are not available in your department, or are too expensive to obtain, your project will be unacceptable. </a:t>
            </a:r>
          </a:p>
        </p:txBody>
      </p:sp>
    </p:spTree>
    <p:extLst>
      <p:ext uri="{BB962C8B-B14F-4D97-AF65-F5344CB8AC3E}">
        <p14:creationId xmlns:p14="http://schemas.microsoft.com/office/powerpoint/2010/main" val="13393895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8. Resource requirements (2)</a:t>
            </a:r>
          </a:p>
        </p:txBody>
      </p:sp>
      <p:sp>
        <p:nvSpPr>
          <p:cNvPr id="3" name="Content Placeholder 2"/>
          <p:cNvSpPr>
            <a:spLocks noGrp="1"/>
          </p:cNvSpPr>
          <p:nvPr>
            <p:ph idx="1"/>
          </p:nvPr>
        </p:nvSpPr>
        <p:spPr/>
        <p:txBody>
          <a:bodyPr>
            <a:noAutofit/>
          </a:bodyPr>
          <a:lstStyle/>
          <a:p>
            <a:r>
              <a:rPr lang="en-US" dirty="0"/>
              <a:t>However, if you know you need a particular piece of software or hardware, you must find out its cost and include this information within this section. </a:t>
            </a:r>
          </a:p>
          <a:p>
            <a:r>
              <a:rPr lang="en-US" dirty="0"/>
              <a:t>A proposal that omits this information may be rejected if the assessor does not know how inexpensive or available the item is and might assume it is beyond your project’s budget section. </a:t>
            </a:r>
            <a:endParaRPr lang="en-GB" dirty="0"/>
          </a:p>
        </p:txBody>
      </p:sp>
    </p:spTree>
    <p:extLst>
      <p:ext uri="{BB962C8B-B14F-4D97-AF65-F5344CB8AC3E}">
        <p14:creationId xmlns:p14="http://schemas.microsoft.com/office/powerpoint/2010/main" val="2536402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9. Project plan</a:t>
            </a:r>
          </a:p>
        </p:txBody>
      </p:sp>
      <p:sp>
        <p:nvSpPr>
          <p:cNvPr id="3" name="Content Placeholder 2"/>
          <p:cNvSpPr>
            <a:spLocks noGrp="1"/>
          </p:cNvSpPr>
          <p:nvPr>
            <p:ph idx="1"/>
          </p:nvPr>
        </p:nvSpPr>
        <p:spPr/>
        <p:txBody>
          <a:bodyPr>
            <a:noAutofit/>
          </a:bodyPr>
          <a:lstStyle/>
          <a:p>
            <a:r>
              <a:rPr lang="en-US" dirty="0"/>
              <a:t>It is very useful to present a project plan as part of your proposal. </a:t>
            </a:r>
          </a:p>
          <a:p>
            <a:r>
              <a:rPr lang="en-US" dirty="0"/>
              <a:t>This emphasizes that the project is ‘doable’ in the time allowed; it shows that you have some idea of the work involved and you have a clear pathway to follow in order to complete that work. </a:t>
            </a:r>
          </a:p>
          <a:p>
            <a:r>
              <a:rPr lang="en-US" dirty="0"/>
              <a:t>The best way to present a project plan is by using a visual representation such as a Gantt chart. </a:t>
            </a:r>
          </a:p>
          <a:p>
            <a:r>
              <a:rPr lang="en-US" dirty="0"/>
              <a:t>While the presentation of a Gantt chart is important, try to limit your chart to a single page</a:t>
            </a:r>
            <a:endParaRPr lang="en-GB" dirty="0"/>
          </a:p>
        </p:txBody>
      </p:sp>
    </p:spTree>
    <p:extLst>
      <p:ext uri="{BB962C8B-B14F-4D97-AF65-F5344CB8AC3E}">
        <p14:creationId xmlns:p14="http://schemas.microsoft.com/office/powerpoint/2010/main" val="14699936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Reviewing your proposal</a:t>
            </a:r>
          </a:p>
        </p:txBody>
      </p:sp>
      <p:sp>
        <p:nvSpPr>
          <p:cNvPr id="3" name="Content Placeholder 2"/>
          <p:cNvSpPr>
            <a:spLocks noGrp="1"/>
          </p:cNvSpPr>
          <p:nvPr>
            <p:ph idx="1"/>
          </p:nvPr>
        </p:nvSpPr>
        <p:spPr/>
        <p:txBody>
          <a:bodyPr>
            <a:normAutofit lnSpcReduction="10000"/>
          </a:bodyPr>
          <a:lstStyle/>
          <a:p>
            <a:pPr algn="just"/>
            <a:r>
              <a:rPr lang="en-US" dirty="0"/>
              <a:t>The second golden rule for preparing a project proposal states that you should proofread your complete proposal thoroughly.</a:t>
            </a:r>
          </a:p>
          <a:p>
            <a:pPr algn="just"/>
            <a:r>
              <a:rPr lang="en-US" dirty="0"/>
              <a:t>Check your proposal for spelling mistakes, omissions and grammatical errors.</a:t>
            </a:r>
          </a:p>
          <a:p>
            <a:pPr algn="just"/>
            <a:r>
              <a:rPr lang="en-US" dirty="0"/>
              <a:t> Have you included all the sections you were supposed to and have you completed them in sufficient depth? </a:t>
            </a:r>
          </a:p>
          <a:p>
            <a:pPr algn="just"/>
            <a:r>
              <a:rPr lang="en-US" dirty="0"/>
              <a:t>Is the proposal well presented (typed rather than hand-written, for example)? Do the sections flow logically?</a:t>
            </a:r>
            <a:endParaRPr lang="en-GB" dirty="0"/>
          </a:p>
        </p:txBody>
      </p:sp>
    </p:spTree>
    <p:extLst>
      <p:ext uri="{BB962C8B-B14F-4D97-AF65-F5344CB8AC3E}">
        <p14:creationId xmlns:p14="http://schemas.microsoft.com/office/powerpoint/2010/main" val="5108047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Choosing your supervisor</a:t>
            </a:r>
          </a:p>
        </p:txBody>
      </p:sp>
      <p:sp>
        <p:nvSpPr>
          <p:cNvPr id="3" name="Content Placeholder 2"/>
          <p:cNvSpPr>
            <a:spLocks noGrp="1"/>
          </p:cNvSpPr>
          <p:nvPr>
            <p:ph idx="1"/>
          </p:nvPr>
        </p:nvSpPr>
        <p:spPr>
          <a:xfrm>
            <a:off x="285749" y="1030288"/>
            <a:ext cx="8531225" cy="5827712"/>
          </a:xfrm>
        </p:spPr>
        <p:txBody>
          <a:bodyPr>
            <a:normAutofit fontScale="92500" lnSpcReduction="10000"/>
          </a:bodyPr>
          <a:lstStyle/>
          <a:p>
            <a:r>
              <a:rPr lang="en-US" sz="3800" dirty="0"/>
              <a:t>Academic departments have different ways of assigning project supervisors to students.</a:t>
            </a:r>
          </a:p>
          <a:p>
            <a:r>
              <a:rPr lang="en-US" sz="3800" dirty="0"/>
              <a:t>There are only a finite number of projects a supervisor can effectively supervise</a:t>
            </a:r>
          </a:p>
          <a:p>
            <a:r>
              <a:rPr lang="en-US" sz="3800" dirty="0"/>
              <a:t> Sharp et al.(2002) identify five questions that students should find about their potential supervisors:</a:t>
            </a:r>
          </a:p>
          <a:p>
            <a:pPr marL="342900" lvl="1" indent="0">
              <a:buNone/>
            </a:pPr>
            <a:r>
              <a:rPr lang="en-US" sz="3000" dirty="0"/>
              <a:t>1. Their records in terms of student completions</a:t>
            </a:r>
          </a:p>
          <a:p>
            <a:pPr marL="342900" lvl="1" indent="0">
              <a:buNone/>
            </a:pPr>
            <a:r>
              <a:rPr lang="en-US" sz="3000" dirty="0"/>
              <a:t>2. Their views on the management of student research 3. Eminence in their specialisms</a:t>
            </a:r>
          </a:p>
          <a:p>
            <a:pPr marL="342900" lvl="1" indent="0">
              <a:buNone/>
            </a:pPr>
            <a:r>
              <a:rPr lang="en-US" sz="3000" dirty="0"/>
              <a:t>4. Their competence in research methodology</a:t>
            </a:r>
          </a:p>
          <a:p>
            <a:pPr marL="342900" lvl="1" indent="0">
              <a:buNone/>
            </a:pPr>
            <a:r>
              <a:rPr lang="en-US" sz="3000" dirty="0"/>
              <a:t>5. Their accessibility </a:t>
            </a:r>
            <a:endParaRPr lang="en-GB" sz="3000" dirty="0"/>
          </a:p>
        </p:txBody>
      </p:sp>
    </p:spTree>
    <p:extLst>
      <p:ext uri="{BB962C8B-B14F-4D97-AF65-F5344CB8AC3E}">
        <p14:creationId xmlns:p14="http://schemas.microsoft.com/office/powerpoint/2010/main" val="7515390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Any Questions?</a:t>
            </a:r>
          </a:p>
        </p:txBody>
      </p:sp>
      <p:pic>
        <p:nvPicPr>
          <p:cNvPr id="3074" name="Picture 2" descr="http://i.huffpost.com/gen/1604482/images/o-WOMAN-ASKING-QUESTION-faceboo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075" y="1446212"/>
            <a:ext cx="8480425" cy="4240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68484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285728"/>
            <a:ext cx="8858250" cy="762000"/>
          </a:xfrm>
        </p:spPr>
        <p:txBody>
          <a:bodyPr/>
          <a:lstStyle/>
          <a:p>
            <a:r>
              <a:rPr lang="en-US" dirty="0"/>
              <a:t>Summary: Week 3 Lecture</a:t>
            </a:r>
          </a:p>
        </p:txBody>
      </p:sp>
      <p:sp>
        <p:nvSpPr>
          <p:cNvPr id="6" name="Content Placeholder 5"/>
          <p:cNvSpPr>
            <a:spLocks noGrp="1"/>
          </p:cNvSpPr>
          <p:nvPr>
            <p:ph idx="1"/>
          </p:nvPr>
        </p:nvSpPr>
        <p:spPr>
          <a:xfrm>
            <a:off x="285750" y="1047728"/>
            <a:ext cx="8531225" cy="5357834"/>
          </a:xfrm>
        </p:spPr>
        <p:txBody>
          <a:bodyPr/>
          <a:lstStyle/>
          <a:p>
            <a:pPr algn="just"/>
            <a:r>
              <a:rPr lang="en-US" dirty="0"/>
              <a:t>Need to be careful while choosing a project</a:t>
            </a:r>
          </a:p>
          <a:p>
            <a:pPr algn="just"/>
            <a:r>
              <a:rPr lang="en-US" dirty="0"/>
              <a:t>Consider things like scope, usefulness, future prospect</a:t>
            </a:r>
          </a:p>
          <a:p>
            <a:pPr algn="just"/>
            <a:r>
              <a:rPr lang="en-GB" dirty="0"/>
              <a:t>Understand the different aspects of the proposal while writing it</a:t>
            </a:r>
          </a:p>
          <a:p>
            <a:pPr algn="just"/>
            <a:r>
              <a:rPr lang="en-GB" dirty="0"/>
              <a:t>Know your supervisor well before selecting him/her</a:t>
            </a:r>
          </a:p>
          <a:p>
            <a:pPr algn="just"/>
            <a:endParaRPr lang="en-GB" dirty="0"/>
          </a:p>
          <a:p>
            <a:pPr algn="just"/>
            <a:endParaRPr lang="en-GB" dirty="0"/>
          </a:p>
        </p:txBody>
      </p:sp>
    </p:spTree>
    <p:extLst>
      <p:ext uri="{BB962C8B-B14F-4D97-AF65-F5344CB8AC3E}">
        <p14:creationId xmlns:p14="http://schemas.microsoft.com/office/powerpoint/2010/main" val="132398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Expect: Week 3 Activities</a:t>
            </a:r>
          </a:p>
        </p:txBody>
      </p:sp>
      <p:sp>
        <p:nvSpPr>
          <p:cNvPr id="3" name="Content Placeholder 2"/>
          <p:cNvSpPr>
            <a:spLocks noGrp="1"/>
          </p:cNvSpPr>
          <p:nvPr>
            <p:ph idx="1"/>
          </p:nvPr>
        </p:nvSpPr>
        <p:spPr>
          <a:xfrm>
            <a:off x="285750" y="1030288"/>
            <a:ext cx="8531225" cy="4870450"/>
          </a:xfrm>
        </p:spPr>
        <p:txBody>
          <a:bodyPr/>
          <a:lstStyle/>
          <a:p>
            <a:pPr marL="228600" lvl="1">
              <a:buFont typeface="Arial" panose="020B0604020202020204" pitchFamily="34" charset="0"/>
              <a:buChar char="•"/>
            </a:pPr>
            <a:r>
              <a:rPr lang="en-US" sz="3200" dirty="0"/>
              <a:t>Task: Research into potential computing projects</a:t>
            </a:r>
          </a:p>
        </p:txBody>
      </p:sp>
    </p:spTree>
    <p:extLst>
      <p:ext uri="{BB962C8B-B14F-4D97-AF65-F5344CB8AC3E}">
        <p14:creationId xmlns:p14="http://schemas.microsoft.com/office/powerpoint/2010/main" val="746805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srcRect/>
          <a:stretch>
            <a:fillRect/>
          </a:stretch>
        </p:blipFill>
        <p:spPr bwMode="auto">
          <a:xfrm>
            <a:off x="2387600" y="1527175"/>
            <a:ext cx="4327525" cy="3973513"/>
          </a:xfrm>
          <a:prstGeom prst="rect">
            <a:avLst/>
          </a:prstGeom>
          <a:noFill/>
          <a:ln w="9525">
            <a:noFill/>
            <a:miter lim="800000"/>
            <a:headEnd/>
            <a:tailEnd/>
          </a:ln>
        </p:spPr>
      </p:pic>
    </p:spTree>
    <p:extLst>
      <p:ext uri="{BB962C8B-B14F-4D97-AF65-F5344CB8AC3E}">
        <p14:creationId xmlns:p14="http://schemas.microsoft.com/office/powerpoint/2010/main" val="2352807415"/>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518</TotalTime>
  <Words>2484</Words>
  <Application>Microsoft Office PowerPoint</Application>
  <PresentationFormat>On-screen Show (4:3)</PresentationFormat>
  <Paragraphs>179</Paragraphs>
  <Slides>39</Slides>
  <Notes>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39</vt:i4>
      </vt:variant>
    </vt:vector>
  </HeadingPairs>
  <TitlesOfParts>
    <vt:vector size="47" baseType="lpstr">
      <vt:lpstr>Arial</vt:lpstr>
      <vt:lpstr>Calibri</vt:lpstr>
      <vt:lpstr>Calibri Light</vt:lpstr>
      <vt:lpstr>Times New Roman</vt:lpstr>
      <vt:lpstr>Wingdings</vt:lpstr>
      <vt:lpstr>1_Office Theme</vt:lpstr>
      <vt:lpstr>2_Office Theme</vt:lpstr>
      <vt:lpstr>Office Theme</vt:lpstr>
      <vt:lpstr>Choosing a project in Computing</vt:lpstr>
      <vt:lpstr>Agenda </vt:lpstr>
      <vt:lpstr>PowerPoint Presentation</vt:lpstr>
      <vt:lpstr>Review of Week 2</vt:lpstr>
      <vt:lpstr>Any Confusion?</vt:lpstr>
      <vt:lpstr>Choosing a project (1)</vt:lpstr>
      <vt:lpstr>Choosing a project (2)</vt:lpstr>
      <vt:lpstr>Techniques and Information Sources: Lecturers’/departmental lists</vt:lpstr>
      <vt:lpstr>Techniques and Information Sources: Industrial projects (1)</vt:lpstr>
      <vt:lpstr>Techniques and Information Sources: Industrial projects (2)</vt:lpstr>
      <vt:lpstr>Techniques and Information Sources: Industrial projects (3)</vt:lpstr>
      <vt:lpstr>Techniques and Information Sources: Past Projects (1)</vt:lpstr>
      <vt:lpstr>Techniques and Information Sources: Past Projects (2)</vt:lpstr>
      <vt:lpstr>Techniques and Information Sources: Talking with colleagues</vt:lpstr>
      <vt:lpstr>Techniques and Information Sources: Reading around subject areas</vt:lpstr>
      <vt:lpstr>Techniques and Information Sources: Clustering (1)</vt:lpstr>
      <vt:lpstr>Techniques and Information Sources: Clustering (2)</vt:lpstr>
      <vt:lpstr>Techniques and Information Sources: Brainstorming (1)</vt:lpstr>
      <vt:lpstr>Techniques and Information Sources: Brainstorming (2)</vt:lpstr>
      <vt:lpstr>Preparing a project proposal (1)</vt:lpstr>
      <vt:lpstr>Preparing a project proposal (2)</vt:lpstr>
      <vt:lpstr>Proposal: Implicit content</vt:lpstr>
      <vt:lpstr>Proposal: Explicit sections</vt:lpstr>
      <vt:lpstr>1. Title</vt:lpstr>
      <vt:lpstr>2. Aims and Objectives</vt:lpstr>
      <vt:lpstr>3. Expected outcomes/deliverables(1)</vt:lpstr>
      <vt:lpstr>4. Keywords</vt:lpstr>
      <vt:lpstr>5. Introduction/background/overview</vt:lpstr>
      <vt:lpstr>6. Related research</vt:lpstr>
      <vt:lpstr>7. Methods</vt:lpstr>
      <vt:lpstr>8. Resource requirements (1)</vt:lpstr>
      <vt:lpstr>8. Resource requirements (2)</vt:lpstr>
      <vt:lpstr>9. Project plan</vt:lpstr>
      <vt:lpstr>Reviewing your proposal</vt:lpstr>
      <vt:lpstr>Choosing your supervisor</vt:lpstr>
      <vt:lpstr>Any Questions?</vt:lpstr>
      <vt:lpstr>Summary: Week 3 Lecture</vt:lpstr>
      <vt:lpstr>What to Expect: Week 3 Activities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3</dc:title>
  <dc:creator>Sanjiv</dc:creator>
  <cp:lastModifiedBy>Biraj Dulal</cp:lastModifiedBy>
  <cp:revision>79</cp:revision>
  <dcterms:created xsi:type="dcterms:W3CDTF">2016-03-30T12:45:31Z</dcterms:created>
  <dcterms:modified xsi:type="dcterms:W3CDTF">2020-03-16T16:29:09Z</dcterms:modified>
</cp:coreProperties>
</file>