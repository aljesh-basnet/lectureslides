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1"/>
  </p:notesMasterIdLst>
  <p:sldIdLst>
    <p:sldId id="275" r:id="rId3"/>
    <p:sldId id="276" r:id="rId4"/>
    <p:sldId id="277" r:id="rId5"/>
    <p:sldId id="278" r:id="rId6"/>
    <p:sldId id="279" r:id="rId7"/>
    <p:sldId id="280" r:id="rId8"/>
    <p:sldId id="281" r:id="rId9"/>
    <p:sldId id="282" r:id="rId10"/>
    <p:sldId id="283" r:id="rId11"/>
    <p:sldId id="284" r:id="rId12"/>
    <p:sldId id="285" r:id="rId13"/>
    <p:sldId id="258" r:id="rId14"/>
    <p:sldId id="295" r:id="rId15"/>
    <p:sldId id="260" r:id="rId16"/>
    <p:sldId id="261" r:id="rId17"/>
    <p:sldId id="262" r:id="rId18"/>
    <p:sldId id="296" r:id="rId19"/>
    <p:sldId id="263" r:id="rId20"/>
    <p:sldId id="264" r:id="rId21"/>
    <p:sldId id="286" r:id="rId22"/>
    <p:sldId id="265" r:id="rId23"/>
    <p:sldId id="266" r:id="rId24"/>
    <p:sldId id="297" r:id="rId25"/>
    <p:sldId id="267" r:id="rId26"/>
    <p:sldId id="268" r:id="rId27"/>
    <p:sldId id="287" r:id="rId28"/>
    <p:sldId id="269" r:id="rId29"/>
    <p:sldId id="288" r:id="rId30"/>
    <p:sldId id="270" r:id="rId31"/>
    <p:sldId id="289" r:id="rId32"/>
    <p:sldId id="271" r:id="rId33"/>
    <p:sldId id="290" r:id="rId34"/>
    <p:sldId id="272" r:id="rId35"/>
    <p:sldId id="273" r:id="rId36"/>
    <p:sldId id="291" r:id="rId37"/>
    <p:sldId id="292" r:id="rId38"/>
    <p:sldId id="293" r:id="rId39"/>
    <p:sldId id="294"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3EBD8-4D7E-4B4C-A36D-600063617162}" type="datetimeFigureOut">
              <a:rPr lang="en-US" smtClean="0"/>
              <a:t>3/4/2020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2775DE-5434-44F0-AAC7-2EFA75275C04}" type="slidenum">
              <a:rPr lang="en-US" smtClean="0"/>
              <a:t>‹#›</a:t>
            </a:fld>
            <a:endParaRPr lang="en-US"/>
          </a:p>
        </p:txBody>
      </p:sp>
    </p:spTree>
    <p:extLst>
      <p:ext uri="{BB962C8B-B14F-4D97-AF65-F5344CB8AC3E}">
        <p14:creationId xmlns:p14="http://schemas.microsoft.com/office/powerpoint/2010/main" val="1326372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99195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995981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6543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690148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1230772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50" y="1214438"/>
            <a:ext cx="8531225"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3213502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2007938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3559993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954269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498886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825389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475637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184344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572173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62717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28326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50"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1619797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17970285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217102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5142219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2884513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0100982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7015905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478059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0494932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04/03/2020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11979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6082987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304958994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685800" y="785794"/>
            <a:ext cx="7772400" cy="1470025"/>
          </a:xfrm>
        </p:spPr>
        <p:txBody>
          <a:bodyPr/>
          <a:lstStyle/>
          <a:p>
            <a:pPr algn="ctr"/>
            <a:r>
              <a:rPr lang="en-US" dirty="0"/>
              <a:t>Understanding Final Year Projects</a:t>
            </a:r>
            <a:endParaRPr lang="en-GB" dirty="0"/>
          </a:p>
        </p:txBody>
      </p:sp>
      <p:sp>
        <p:nvSpPr>
          <p:cNvPr id="10" name="Subtitle 5"/>
          <p:cNvSpPr>
            <a:spLocks noGrp="1"/>
          </p:cNvSpPr>
          <p:nvPr>
            <p:ph type="subTitle" idx="1"/>
          </p:nvPr>
        </p:nvSpPr>
        <p:spPr>
          <a:xfrm>
            <a:off x="357158" y="2684444"/>
            <a:ext cx="8358246" cy="2387629"/>
          </a:xfrm>
        </p:spPr>
        <p:txBody>
          <a:bodyPr/>
          <a:lstStyle/>
          <a:p>
            <a:r>
              <a:rPr lang="en-GB" dirty="0"/>
              <a:t>Research and Development Skills in Computing</a:t>
            </a:r>
          </a:p>
          <a:p>
            <a:r>
              <a:rPr lang="en-US" sz="2800" dirty="0"/>
              <a:t>Lecture 1</a:t>
            </a:r>
          </a:p>
          <a:p>
            <a:endParaRPr lang="en-US" sz="2800" dirty="0"/>
          </a:p>
          <a:p>
            <a:r>
              <a:rPr lang="en-US" sz="2400" i="1" dirty="0"/>
              <a:t>Introduction and Overview of Module</a:t>
            </a:r>
          </a:p>
          <a:p>
            <a:r>
              <a:rPr lang="en-US" sz="2400" i="1" dirty="0"/>
              <a:t>Understanding Projects</a:t>
            </a:r>
            <a:endParaRPr lang="en-GB" sz="2400" i="1" dirty="0"/>
          </a:p>
        </p:txBody>
      </p:sp>
      <p:sp>
        <p:nvSpPr>
          <p:cNvPr id="11" name="TextBox 3"/>
          <p:cNvSpPr txBox="1">
            <a:spLocks noChangeArrowheads="1"/>
          </p:cNvSpPr>
          <p:nvPr/>
        </p:nvSpPr>
        <p:spPr bwMode="auto">
          <a:xfrm>
            <a:off x="142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4180742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p:txBody>
          <a:bodyPr/>
          <a:lstStyle/>
          <a:p>
            <a:pPr marL="342900" indent="-342900" defTabSz="449263" eaLnBrk="0" fontAlgn="base" hangingPunct="0">
              <a:spcBef>
                <a:spcPts val="700"/>
              </a:spcBef>
              <a:spcAft>
                <a:spcPct val="0"/>
              </a:spcAft>
              <a:buClr>
                <a:srgbClr val="000000"/>
              </a:buClr>
              <a:buSzPct val="100000"/>
              <a:buFont typeface="Times New Roman" pitchFamily="16" charset="0"/>
              <a:buChar char="•"/>
            </a:pPr>
            <a:r>
              <a:rPr lang="en-US" sz="3200" dirty="0">
                <a:solidFill>
                  <a:srgbClr val="000000"/>
                </a:solidFill>
                <a:ea typeface="宋体" pitchFamily="2" charset="-122"/>
              </a:rPr>
              <a:t>Introduction to your Module leader</a:t>
            </a:r>
          </a:p>
          <a:p>
            <a:pPr marL="342900" indent="-342900" defTabSz="449263" eaLnBrk="0" fontAlgn="base" hangingPunct="0">
              <a:spcBef>
                <a:spcPts val="700"/>
              </a:spcBef>
              <a:spcAft>
                <a:spcPct val="0"/>
              </a:spcAft>
              <a:buClr>
                <a:srgbClr val="000000"/>
              </a:buClr>
              <a:buSzPct val="100000"/>
              <a:buFont typeface="Times New Roman" pitchFamily="16" charset="0"/>
              <a:buChar char="•"/>
            </a:pPr>
            <a:r>
              <a:rPr lang="en-US" sz="3200" dirty="0">
                <a:solidFill>
                  <a:srgbClr val="000000"/>
                </a:solidFill>
                <a:ea typeface="宋体" pitchFamily="2" charset="-122"/>
              </a:rPr>
              <a:t>Week 1 Lecture Coverage</a:t>
            </a:r>
          </a:p>
          <a:p>
            <a:pPr lvl="1"/>
            <a:r>
              <a:rPr lang="en-GB" dirty="0"/>
              <a:t>What are projects?</a:t>
            </a:r>
          </a:p>
          <a:p>
            <a:pPr lvl="1"/>
            <a:r>
              <a:rPr lang="en-GB" dirty="0"/>
              <a:t>Types of projects in Computing</a:t>
            </a:r>
          </a:p>
          <a:p>
            <a:pPr lvl="1"/>
            <a:r>
              <a:rPr lang="en-GB" dirty="0"/>
              <a:t>Different degree structures and project requirements</a:t>
            </a:r>
          </a:p>
          <a:p>
            <a:pPr lvl="1"/>
            <a:r>
              <a:rPr lang="en-GB" dirty="0"/>
              <a:t>Stakeholders in a project</a:t>
            </a:r>
          </a:p>
        </p:txBody>
      </p:sp>
    </p:spTree>
    <p:extLst>
      <p:ext uri="{BB962C8B-B14F-4D97-AF65-F5344CB8AC3E}">
        <p14:creationId xmlns:p14="http://schemas.microsoft.com/office/powerpoint/2010/main" val="2898695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Leader</a:t>
            </a:r>
            <a:endParaRPr lang="en-GB" dirty="0"/>
          </a:p>
        </p:txBody>
      </p:sp>
      <p:sp>
        <p:nvSpPr>
          <p:cNvPr id="3" name="Content Placeholder 2"/>
          <p:cNvSpPr>
            <a:spLocks noGrp="1"/>
          </p:cNvSpPr>
          <p:nvPr>
            <p:ph idx="1"/>
          </p:nvPr>
        </p:nvSpPr>
        <p:spPr>
          <a:xfrm>
            <a:off x="661182" y="1214438"/>
            <a:ext cx="8155793" cy="4870450"/>
          </a:xfrm>
        </p:spPr>
        <p:txBody>
          <a:bodyPr/>
          <a:lstStyle/>
          <a:p>
            <a:pPr defTabSz="449263" eaLnBrk="0" fontAlgn="base" hangingPunct="0">
              <a:spcAft>
                <a:spcPct val="0"/>
              </a:spcAft>
              <a:buClr>
                <a:srgbClr val="000000"/>
              </a:buClr>
              <a:buSzPct val="100000"/>
              <a:buFont typeface="Times New Roman" pitchFamily="16" charset="0"/>
            </a:pPr>
            <a:r>
              <a:rPr lang="en-US" sz="3200" b="1" dirty="0">
                <a:solidFill>
                  <a:srgbClr val="000000"/>
                </a:solidFill>
                <a:ea typeface="宋体" pitchFamily="2" charset="-122"/>
              </a:rPr>
              <a:t>Biraj Dulal</a:t>
            </a:r>
          </a:p>
          <a:p>
            <a:pPr marL="457200" lvl="1" indent="0" defTabSz="449263" eaLnBrk="0" fontAlgn="base" hangingPunct="0">
              <a:spcAft>
                <a:spcPct val="0"/>
              </a:spcAft>
              <a:buClr>
                <a:srgbClr val="000000"/>
              </a:buClr>
              <a:buSzPct val="100000"/>
              <a:buNone/>
            </a:pPr>
            <a:r>
              <a:rPr lang="en-US" dirty="0">
                <a:solidFill>
                  <a:srgbClr val="000000"/>
                </a:solidFill>
                <a:ea typeface="宋体" pitchFamily="2" charset="-122"/>
              </a:rPr>
              <a:t>MSc. IT Data Analytics</a:t>
            </a:r>
          </a:p>
          <a:p>
            <a:pPr marL="457200" lvl="1" indent="0" defTabSz="449263" eaLnBrk="0" fontAlgn="base" hangingPunct="0">
              <a:spcAft>
                <a:spcPct val="0"/>
              </a:spcAft>
              <a:buClr>
                <a:srgbClr val="000000"/>
              </a:buClr>
              <a:buSzPct val="100000"/>
              <a:buNone/>
            </a:pPr>
            <a:r>
              <a:rPr lang="en-US" dirty="0">
                <a:solidFill>
                  <a:srgbClr val="000000"/>
                </a:solidFill>
                <a:ea typeface="宋体" pitchFamily="2" charset="-122"/>
              </a:rPr>
              <a:t>BSc. (Hons.) IT Computing </a:t>
            </a:r>
          </a:p>
          <a:p>
            <a:pPr marL="457200" lvl="1" indent="0" defTabSz="449263" eaLnBrk="0" fontAlgn="base" hangingPunct="0">
              <a:spcAft>
                <a:spcPct val="0"/>
              </a:spcAft>
              <a:buClr>
                <a:srgbClr val="000000"/>
              </a:buClr>
              <a:buSzPct val="100000"/>
              <a:buNone/>
            </a:pPr>
            <a:endParaRPr lang="en-US" dirty="0">
              <a:solidFill>
                <a:srgbClr val="000000"/>
              </a:solidFill>
              <a:ea typeface="宋体" pitchFamily="2" charset="-122"/>
            </a:endParaRPr>
          </a:p>
          <a:p>
            <a:pPr marL="457200" lvl="1" indent="0" defTabSz="449263" eaLnBrk="0" fontAlgn="base" hangingPunct="0">
              <a:spcAft>
                <a:spcPct val="0"/>
              </a:spcAft>
              <a:buClr>
                <a:srgbClr val="000000"/>
              </a:buClr>
              <a:buSzPct val="100000"/>
              <a:buNone/>
            </a:pPr>
            <a:r>
              <a:rPr lang="en-US" dirty="0">
                <a:solidFill>
                  <a:srgbClr val="000000"/>
                </a:solidFill>
                <a:ea typeface="宋体" pitchFamily="2" charset="-122"/>
              </a:rPr>
              <a:t>Work Related Description</a:t>
            </a:r>
          </a:p>
          <a:p>
            <a:pPr marL="457200" lvl="1" indent="0" defTabSz="449263" eaLnBrk="0" fontAlgn="base" hangingPunct="0">
              <a:spcAft>
                <a:spcPct val="0"/>
              </a:spcAft>
              <a:buClr>
                <a:srgbClr val="000000"/>
              </a:buClr>
              <a:buSzPct val="100000"/>
              <a:buNone/>
            </a:pPr>
            <a:r>
              <a:rPr lang="en-US" dirty="0">
                <a:solidFill>
                  <a:srgbClr val="000000"/>
                </a:solidFill>
                <a:ea typeface="宋体" pitchFamily="2" charset="-122"/>
              </a:rPr>
              <a:t>Lecturer Herald College Kathmandu</a:t>
            </a:r>
          </a:p>
          <a:p>
            <a:pPr marL="457200" lvl="1" indent="0" defTabSz="449263" eaLnBrk="0" fontAlgn="base" hangingPunct="0">
              <a:spcAft>
                <a:spcPct val="0"/>
              </a:spcAft>
              <a:buClr>
                <a:srgbClr val="000000"/>
              </a:buClr>
              <a:buSzPct val="100000"/>
              <a:buNone/>
            </a:pPr>
            <a:r>
              <a:rPr lang="en-US" dirty="0">
                <a:solidFill>
                  <a:srgbClr val="000000"/>
                </a:solidFill>
                <a:ea typeface="宋体" pitchFamily="2" charset="-122"/>
              </a:rPr>
              <a:t>Personal Academic Tutor </a:t>
            </a:r>
          </a:p>
          <a:p>
            <a:pPr marL="457200" lvl="1" indent="0" defTabSz="449263" eaLnBrk="0" fontAlgn="base" hangingPunct="0">
              <a:spcAft>
                <a:spcPct val="0"/>
              </a:spcAft>
              <a:buClr>
                <a:srgbClr val="000000"/>
              </a:buClr>
              <a:buSzPct val="100000"/>
              <a:buNone/>
            </a:pPr>
            <a:r>
              <a:rPr lang="en-US" dirty="0">
                <a:solidFill>
                  <a:srgbClr val="000000"/>
                </a:solidFill>
                <a:ea typeface="宋体" pitchFamily="2" charset="-122"/>
              </a:rPr>
              <a:t>Former Project Manager White </a:t>
            </a:r>
            <a:r>
              <a:rPr lang="en-US" dirty="0" err="1">
                <a:solidFill>
                  <a:srgbClr val="000000"/>
                </a:solidFill>
                <a:ea typeface="宋体" pitchFamily="2" charset="-122"/>
              </a:rPr>
              <a:t>Danphe</a:t>
            </a:r>
            <a:r>
              <a:rPr lang="en-US" dirty="0">
                <a:solidFill>
                  <a:srgbClr val="000000"/>
                </a:solidFill>
                <a:ea typeface="宋体" pitchFamily="2" charset="-122"/>
              </a:rPr>
              <a:t> </a:t>
            </a:r>
            <a:r>
              <a:rPr lang="en-US" dirty="0" err="1">
                <a:solidFill>
                  <a:srgbClr val="000000"/>
                </a:solidFill>
                <a:ea typeface="宋体" pitchFamily="2" charset="-122"/>
              </a:rPr>
              <a:t>Pvt.Ltd</a:t>
            </a:r>
            <a:r>
              <a:rPr lang="en-US" dirty="0">
                <a:solidFill>
                  <a:srgbClr val="000000"/>
                </a:solidFill>
                <a:ea typeface="宋体" pitchFamily="2" charset="-122"/>
              </a:rPr>
              <a:t>.</a:t>
            </a:r>
            <a:endParaRPr lang="en-GB" dirty="0">
              <a:solidFill>
                <a:srgbClr val="000000"/>
              </a:solidFill>
              <a:ea typeface="宋体" pitchFamily="2" charset="-122"/>
            </a:endParaRPr>
          </a:p>
        </p:txBody>
      </p:sp>
      <p:pic>
        <p:nvPicPr>
          <p:cNvPr id="5" name="Picture 2" descr="https://d30y9cdsu7xlg0.cloudfront.net/png/27740-200.png">
            <a:extLst>
              <a:ext uri="{FF2B5EF4-FFF2-40B4-BE49-F238E27FC236}">
                <a16:creationId xmlns:a16="http://schemas.microsoft.com/office/drawing/2014/main" id="{4E71965C-B2AF-4DF3-958D-2E8446CD2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0386" y="1427846"/>
            <a:ext cx="2450441" cy="2450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262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Module</a:t>
            </a:r>
            <a:endParaRPr lang="en-GB" dirty="0"/>
          </a:p>
        </p:txBody>
      </p:sp>
      <p:sp>
        <p:nvSpPr>
          <p:cNvPr id="3" name="Content Placeholder 2"/>
          <p:cNvSpPr>
            <a:spLocks noGrp="1"/>
          </p:cNvSpPr>
          <p:nvPr>
            <p:ph idx="1"/>
          </p:nvPr>
        </p:nvSpPr>
        <p:spPr>
          <a:xfrm>
            <a:off x="285750" y="1030288"/>
            <a:ext cx="8531225" cy="4870450"/>
          </a:xfrm>
        </p:spPr>
        <p:txBody>
          <a:bodyPr/>
          <a:lstStyle/>
          <a:p>
            <a:pPr lvl="0"/>
            <a:r>
              <a:rPr lang="en-GB" dirty="0"/>
              <a:t>Research and Research process</a:t>
            </a:r>
            <a:endParaRPr lang="en-US" dirty="0"/>
          </a:p>
          <a:p>
            <a:pPr lvl="0"/>
            <a:r>
              <a:rPr lang="en-GB" dirty="0"/>
              <a:t>Choosing a project in Computing</a:t>
            </a:r>
            <a:endParaRPr lang="en-US" dirty="0"/>
          </a:p>
          <a:p>
            <a:pPr lvl="0"/>
            <a:r>
              <a:rPr lang="en-GB" dirty="0"/>
              <a:t>Writing and Presenting a Proposal</a:t>
            </a:r>
            <a:endParaRPr lang="en-US" dirty="0"/>
          </a:p>
          <a:p>
            <a:pPr lvl="0"/>
            <a:r>
              <a:rPr lang="en-GB" dirty="0"/>
              <a:t>Project Planning an risk management</a:t>
            </a:r>
            <a:endParaRPr lang="en-US" dirty="0"/>
          </a:p>
          <a:p>
            <a:pPr lvl="0"/>
            <a:r>
              <a:rPr lang="en-GB" dirty="0"/>
              <a:t>Literature search &amp; Literature review</a:t>
            </a:r>
            <a:endParaRPr lang="en-US" dirty="0"/>
          </a:p>
          <a:p>
            <a:pPr lvl="0"/>
            <a:r>
              <a:rPr lang="en-GB" dirty="0"/>
              <a:t>Development approaches</a:t>
            </a:r>
            <a:endParaRPr lang="en-US" dirty="0"/>
          </a:p>
          <a:p>
            <a:pPr lvl="0"/>
            <a:r>
              <a:rPr lang="en-GB" dirty="0"/>
              <a:t>How to write your Final Year Undergraduate Major Project</a:t>
            </a:r>
            <a:endParaRPr lang="en-US" dirty="0"/>
          </a:p>
          <a:p>
            <a:r>
              <a:rPr lang="en-GB" dirty="0"/>
              <a:t>Social, Legal and Ethical issues related to the project</a:t>
            </a:r>
          </a:p>
        </p:txBody>
      </p:sp>
    </p:spTree>
    <p:extLst>
      <p:ext uri="{BB962C8B-B14F-4D97-AF65-F5344CB8AC3E}">
        <p14:creationId xmlns:p14="http://schemas.microsoft.com/office/powerpoint/2010/main" val="61092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(1)</a:t>
            </a:r>
            <a:endParaRPr lang="en-GB" dirty="0"/>
          </a:p>
        </p:txBody>
      </p:sp>
      <p:sp>
        <p:nvSpPr>
          <p:cNvPr id="3" name="Content Placeholder 2"/>
          <p:cNvSpPr>
            <a:spLocks noGrp="1"/>
          </p:cNvSpPr>
          <p:nvPr>
            <p:ph idx="1"/>
          </p:nvPr>
        </p:nvSpPr>
        <p:spPr>
          <a:xfrm>
            <a:off x="285750" y="1030288"/>
            <a:ext cx="8531225" cy="4870450"/>
          </a:xfrm>
        </p:spPr>
        <p:txBody>
          <a:bodyPr/>
          <a:lstStyle/>
          <a:p>
            <a:r>
              <a:rPr lang="en-US" dirty="0"/>
              <a:t>On successful completion of this module, students will be able to demonstrate:</a:t>
            </a:r>
          </a:p>
          <a:p>
            <a:pPr marL="514350" lvl="0" indent="-514350">
              <a:buFont typeface="+mj-lt"/>
              <a:buAutoNum type="arabicPeriod"/>
            </a:pPr>
            <a:r>
              <a:rPr lang="en-GB" dirty="0"/>
              <a:t>An understanding of different research approaches leading to selection of a project area for final year</a:t>
            </a:r>
            <a:endParaRPr lang="en-US" dirty="0"/>
          </a:p>
          <a:p>
            <a:pPr marL="514350" lvl="0" indent="-514350">
              <a:buFont typeface="+mj-lt"/>
              <a:buAutoNum type="arabicPeriod"/>
            </a:pPr>
            <a:r>
              <a:rPr lang="en-GB" dirty="0"/>
              <a:t>An understanding of proper project planning and risk management in a computing project</a:t>
            </a:r>
            <a:endParaRPr lang="en-US" dirty="0"/>
          </a:p>
          <a:p>
            <a:pPr marL="514350" lvl="0" indent="-514350">
              <a:buFont typeface="+mj-lt"/>
              <a:buAutoNum type="arabicPeriod"/>
            </a:pPr>
            <a:r>
              <a:rPr lang="en-GB" dirty="0"/>
              <a:t>An understanding of different development approaches suitable for the project</a:t>
            </a:r>
            <a:endParaRPr lang="en-US" dirty="0"/>
          </a:p>
        </p:txBody>
      </p:sp>
    </p:spTree>
    <p:extLst>
      <p:ext uri="{BB962C8B-B14F-4D97-AF65-F5344CB8AC3E}">
        <p14:creationId xmlns:p14="http://schemas.microsoft.com/office/powerpoint/2010/main" val="301184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 (2)</a:t>
            </a:r>
            <a:endParaRPr lang="en-GB" dirty="0"/>
          </a:p>
        </p:txBody>
      </p:sp>
      <p:sp>
        <p:nvSpPr>
          <p:cNvPr id="3" name="Content Placeholder 2"/>
          <p:cNvSpPr>
            <a:spLocks noGrp="1"/>
          </p:cNvSpPr>
          <p:nvPr>
            <p:ph idx="1"/>
          </p:nvPr>
        </p:nvSpPr>
        <p:spPr>
          <a:xfrm>
            <a:off x="285750" y="1030288"/>
            <a:ext cx="8531225" cy="4870450"/>
          </a:xfrm>
        </p:spPr>
        <p:txBody>
          <a:bodyPr/>
          <a:lstStyle/>
          <a:p>
            <a:pPr marL="514350" lvl="0" indent="-514350">
              <a:buFont typeface="+mj-lt"/>
              <a:buAutoNum type="arabicPeriod" startAt="4"/>
            </a:pPr>
            <a:r>
              <a:rPr lang="en-GB" dirty="0"/>
              <a:t>Ability to write and present a proposal for a project leading to the Final Year Project</a:t>
            </a:r>
            <a:endParaRPr lang="en-US" dirty="0"/>
          </a:p>
          <a:p>
            <a:pPr marL="514350" lvl="0" indent="-514350">
              <a:buFont typeface="+mj-lt"/>
              <a:buAutoNum type="arabicPeriod" startAt="4"/>
            </a:pPr>
            <a:r>
              <a:rPr lang="en-GB" dirty="0"/>
              <a:t>An understanding of social, legal and ethical issues that may arise during or after the project</a:t>
            </a:r>
            <a:endParaRPr lang="en-US" dirty="0"/>
          </a:p>
          <a:p>
            <a:pPr marL="514350" indent="-514350">
              <a:buFont typeface="+mj-lt"/>
              <a:buAutoNum type="arabicPeriod" startAt="4"/>
            </a:pPr>
            <a:r>
              <a:rPr lang="en-GB" dirty="0"/>
              <a:t>An understanding of the different aspects of Final Year Project</a:t>
            </a:r>
          </a:p>
        </p:txBody>
      </p:sp>
    </p:spTree>
    <p:extLst>
      <p:ext uri="{BB962C8B-B14F-4D97-AF65-F5344CB8AC3E}">
        <p14:creationId xmlns:p14="http://schemas.microsoft.com/office/powerpoint/2010/main" val="3608040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Strategy</a:t>
            </a:r>
            <a:endParaRPr lang="en-GB" dirty="0"/>
          </a:p>
        </p:txBody>
      </p:sp>
      <p:sp>
        <p:nvSpPr>
          <p:cNvPr id="3" name="Content Placeholder 2"/>
          <p:cNvSpPr>
            <a:spLocks noGrp="1"/>
          </p:cNvSpPr>
          <p:nvPr>
            <p:ph idx="1"/>
          </p:nvPr>
        </p:nvSpPr>
        <p:spPr>
          <a:xfrm>
            <a:off x="285750" y="1030288"/>
            <a:ext cx="8531225" cy="4870450"/>
          </a:xfrm>
        </p:spPr>
        <p:txBody>
          <a:bodyPr/>
          <a:lstStyle/>
          <a:p>
            <a:r>
              <a:rPr lang="en-US" dirty="0"/>
              <a:t>The module is run over 1 semester, containing 10 teaching weeks. </a:t>
            </a:r>
          </a:p>
          <a:p>
            <a:r>
              <a:rPr lang="en-US" dirty="0"/>
              <a:t>In each teaching week, students will attend 1 lecture and 1 lab session.</a:t>
            </a:r>
          </a:p>
          <a:p>
            <a:r>
              <a:rPr lang="en-US" dirty="0"/>
              <a:t>The purpose of the learning activity is to provide students with the opportunity to apply lecture knowledge through different lab sessions.</a:t>
            </a:r>
            <a:endParaRPr lang="en-GB" dirty="0"/>
          </a:p>
        </p:txBody>
      </p:sp>
    </p:spTree>
    <p:extLst>
      <p:ext uri="{BB962C8B-B14F-4D97-AF65-F5344CB8AC3E}">
        <p14:creationId xmlns:p14="http://schemas.microsoft.com/office/powerpoint/2010/main" val="293073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Assessment Details</a:t>
            </a:r>
            <a:endParaRPr lang="en-GB" dirty="0"/>
          </a:p>
        </p:txBody>
      </p:sp>
      <p:sp>
        <p:nvSpPr>
          <p:cNvPr id="3" name="Content Placeholder 2"/>
          <p:cNvSpPr>
            <a:spLocks noGrp="1"/>
          </p:cNvSpPr>
          <p:nvPr>
            <p:ph idx="1"/>
          </p:nvPr>
        </p:nvSpPr>
        <p:spPr>
          <a:xfrm>
            <a:off x="285750" y="1030288"/>
            <a:ext cx="8531225" cy="4870450"/>
          </a:xfrm>
        </p:spPr>
        <p:txBody>
          <a:bodyPr/>
          <a:lstStyle/>
          <a:p>
            <a:pPr algn="just"/>
            <a:r>
              <a:rPr lang="en-US" dirty="0"/>
              <a:t>CW 1 (</a:t>
            </a:r>
            <a:r>
              <a:rPr lang="en-GB" dirty="0"/>
              <a:t>65%) Week 11</a:t>
            </a:r>
          </a:p>
          <a:p>
            <a:pPr lvl="1" algn="just"/>
            <a:r>
              <a:rPr lang="en-US" dirty="0"/>
              <a:t>Proposal for a computing project leading to the Final Year Project. </a:t>
            </a:r>
          </a:p>
          <a:p>
            <a:pPr lvl="1" algn="just"/>
            <a:r>
              <a:rPr lang="en-US" dirty="0"/>
              <a:t>Students are expected to conduct a research focusing on a specific computing area and submit a proposal of 2500 words.</a:t>
            </a:r>
            <a:endParaRPr lang="en-GB" dirty="0"/>
          </a:p>
          <a:p>
            <a:pPr algn="just"/>
            <a:r>
              <a:rPr lang="en-US" dirty="0"/>
              <a:t>CW 2 (35%) Week 12/13</a:t>
            </a:r>
          </a:p>
          <a:p>
            <a:pPr lvl="1" algn="just"/>
            <a:r>
              <a:rPr lang="en-US" dirty="0"/>
              <a:t>Oral presentation of the proposal and submission of a research Folder. </a:t>
            </a:r>
          </a:p>
          <a:p>
            <a:pPr lvl="1" algn="just"/>
            <a:r>
              <a:rPr lang="en-US" dirty="0"/>
              <a:t>The research folder will include meeting minutes with possible supervisors and all the research material that students have gone through for the development of the proposal</a:t>
            </a:r>
            <a:endParaRPr lang="en-GB" dirty="0"/>
          </a:p>
        </p:txBody>
      </p:sp>
    </p:spTree>
    <p:extLst>
      <p:ext uri="{BB962C8B-B14F-4D97-AF65-F5344CB8AC3E}">
        <p14:creationId xmlns:p14="http://schemas.microsoft.com/office/powerpoint/2010/main" val="1795931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68288"/>
            <a:ext cx="8858250" cy="762000"/>
          </a:xfrm>
        </p:spPr>
        <p:txBody>
          <a:bodyPr/>
          <a:lstStyle/>
          <a:p>
            <a:r>
              <a:rPr lang="en-US" dirty="0"/>
              <a:t>Assessment Details</a:t>
            </a:r>
          </a:p>
        </p:txBody>
      </p:sp>
      <p:sp>
        <p:nvSpPr>
          <p:cNvPr id="3" name="Content Placeholder 2"/>
          <p:cNvSpPr>
            <a:spLocks noGrp="1"/>
          </p:cNvSpPr>
          <p:nvPr>
            <p:ph idx="1"/>
          </p:nvPr>
        </p:nvSpPr>
        <p:spPr>
          <a:xfrm>
            <a:off x="285750" y="1030288"/>
            <a:ext cx="8858250" cy="5643562"/>
          </a:xfrm>
        </p:spPr>
        <p:txBody>
          <a:bodyPr/>
          <a:lstStyle/>
          <a:p>
            <a:r>
              <a:rPr lang="en-US" b="1" dirty="0"/>
              <a:t>Module Grading Standards in the UK</a:t>
            </a:r>
          </a:p>
        </p:txBody>
      </p:sp>
      <p:graphicFrame>
        <p:nvGraphicFramePr>
          <p:cNvPr id="4" name="Table 3"/>
          <p:cNvGraphicFramePr>
            <a:graphicFrameLocks noGrp="1"/>
          </p:cNvGraphicFramePr>
          <p:nvPr>
            <p:extLst>
              <p:ext uri="{D42A27DB-BD31-4B8C-83A1-F6EECF244321}">
                <p14:modId xmlns:p14="http://schemas.microsoft.com/office/powerpoint/2010/main" val="3322142433"/>
              </p:ext>
            </p:extLst>
          </p:nvPr>
        </p:nvGraphicFramePr>
        <p:xfrm>
          <a:off x="428594" y="1671627"/>
          <a:ext cx="8429685" cy="4410710"/>
        </p:xfrm>
        <a:graphic>
          <a:graphicData uri="http://schemas.openxmlformats.org/drawingml/2006/table">
            <a:tbl>
              <a:tblPr firstRow="1" bandRow="1">
                <a:tableStyleId>{5C22544A-7EE6-4342-B048-85BDC9FD1C3A}</a:tableStyleId>
              </a:tblPr>
              <a:tblGrid>
                <a:gridCol w="1571636">
                  <a:extLst>
                    <a:ext uri="{9D8B030D-6E8A-4147-A177-3AD203B41FA5}">
                      <a16:colId xmlns:a16="http://schemas.microsoft.com/office/drawing/2014/main" val="20000"/>
                    </a:ext>
                  </a:extLst>
                </a:gridCol>
                <a:gridCol w="1214447">
                  <a:extLst>
                    <a:ext uri="{9D8B030D-6E8A-4147-A177-3AD203B41FA5}">
                      <a16:colId xmlns:a16="http://schemas.microsoft.com/office/drawing/2014/main" val="20001"/>
                    </a:ext>
                  </a:extLst>
                </a:gridCol>
                <a:gridCol w="5643602">
                  <a:extLst>
                    <a:ext uri="{9D8B030D-6E8A-4147-A177-3AD203B41FA5}">
                      <a16:colId xmlns:a16="http://schemas.microsoft.com/office/drawing/2014/main" val="20002"/>
                    </a:ext>
                  </a:extLst>
                </a:gridCol>
              </a:tblGrid>
              <a:tr h="370840">
                <a:tc>
                  <a:txBody>
                    <a:bodyPr/>
                    <a:lstStyle/>
                    <a:p>
                      <a:pPr marL="0" marR="0" algn="ctr">
                        <a:lnSpc>
                          <a:spcPct val="125000"/>
                        </a:lnSpc>
                        <a:spcBef>
                          <a:spcPts val="0"/>
                        </a:spcBef>
                        <a:spcAft>
                          <a:spcPts val="0"/>
                        </a:spcAft>
                      </a:pPr>
                      <a:r>
                        <a:rPr lang="en-GB" sz="2000" b="1" dirty="0">
                          <a:solidFill>
                            <a:schemeClr val="tx1"/>
                          </a:solidFill>
                          <a:latin typeface="+mn-lt"/>
                          <a:ea typeface="Times New Roman"/>
                        </a:rPr>
                        <a:t>Range of Marks</a:t>
                      </a:r>
                      <a:endParaRPr lang="en-GB" sz="2000" dirty="0">
                        <a:solidFill>
                          <a:schemeClr val="tx1"/>
                        </a:solidFill>
                        <a:latin typeface="+mn-lt"/>
                        <a:ea typeface="Times New Roman"/>
                      </a:endParaRPr>
                    </a:p>
                  </a:txBody>
                  <a:tcPr marL="68580" marR="68580" marT="0" marB="0" anchor="ctr"/>
                </a:tc>
                <a:tc>
                  <a:txBody>
                    <a:bodyPr/>
                    <a:lstStyle/>
                    <a:p>
                      <a:pPr marL="0" marR="0" algn="ctr">
                        <a:lnSpc>
                          <a:spcPct val="125000"/>
                        </a:lnSpc>
                        <a:spcBef>
                          <a:spcPts val="0"/>
                        </a:spcBef>
                        <a:spcAft>
                          <a:spcPts val="0"/>
                        </a:spcAft>
                      </a:pPr>
                      <a:r>
                        <a:rPr lang="en-GB" sz="2000" b="1" dirty="0">
                          <a:solidFill>
                            <a:schemeClr val="tx1"/>
                          </a:solidFill>
                          <a:latin typeface="+mn-lt"/>
                          <a:ea typeface="Times New Roman"/>
                        </a:rPr>
                        <a:t>Grade</a:t>
                      </a:r>
                      <a:endParaRPr lang="en-GB" sz="2000" dirty="0">
                        <a:solidFill>
                          <a:schemeClr val="tx1"/>
                        </a:solidFill>
                        <a:latin typeface="+mn-lt"/>
                        <a:ea typeface="Times New Roman"/>
                      </a:endParaRPr>
                    </a:p>
                  </a:txBody>
                  <a:tcPr marL="68580" marR="68580" marT="0" marB="0" anchor="ctr"/>
                </a:tc>
                <a:tc>
                  <a:txBody>
                    <a:bodyPr/>
                    <a:lstStyle/>
                    <a:p>
                      <a:pPr marL="0" marR="0">
                        <a:lnSpc>
                          <a:spcPct val="125000"/>
                        </a:lnSpc>
                        <a:spcBef>
                          <a:spcPts val="0"/>
                        </a:spcBef>
                        <a:spcAft>
                          <a:spcPts val="0"/>
                        </a:spcAft>
                      </a:pPr>
                      <a:r>
                        <a:rPr lang="en-GB" sz="2000" b="1" dirty="0">
                          <a:solidFill>
                            <a:schemeClr val="tx1"/>
                          </a:solidFill>
                          <a:latin typeface="+mn-lt"/>
                          <a:ea typeface="Times New Roman"/>
                        </a:rPr>
                        <a:t>Remarks</a:t>
                      </a:r>
                      <a:endParaRPr lang="en-GB" sz="2000" dirty="0">
                        <a:solidFill>
                          <a:schemeClr val="tx1"/>
                        </a:solidFill>
                        <a:latin typeface="+mn-lt"/>
                        <a:ea typeface="Times New Roman"/>
                      </a:endParaRPr>
                    </a:p>
                  </a:txBody>
                  <a:tcPr marL="68580" marR="68580" marT="0" marB="0" anchor="ctr"/>
                </a:tc>
                <a:extLst>
                  <a:ext uri="{0D108BD9-81ED-4DB2-BD59-A6C34878D82A}">
                    <a16:rowId xmlns:a16="http://schemas.microsoft.com/office/drawing/2014/main" val="10000"/>
                  </a:ext>
                </a:extLst>
              </a:tr>
              <a:tr h="370840">
                <a:tc>
                  <a:txBody>
                    <a:bodyPr/>
                    <a:lstStyle/>
                    <a:p>
                      <a:pPr marL="0" marR="0" algn="ctr">
                        <a:lnSpc>
                          <a:spcPct val="125000"/>
                        </a:lnSpc>
                        <a:spcBef>
                          <a:spcPts val="0"/>
                        </a:spcBef>
                        <a:spcAft>
                          <a:spcPts val="0"/>
                        </a:spcAft>
                      </a:pPr>
                      <a:r>
                        <a:rPr lang="en-GB" sz="2000" b="1" dirty="0">
                          <a:solidFill>
                            <a:schemeClr val="tx1"/>
                          </a:solidFill>
                          <a:latin typeface="+mn-lt"/>
                          <a:ea typeface="宋体"/>
                        </a:rPr>
                        <a:t>70 - 100</a:t>
                      </a:r>
                      <a:endParaRPr lang="en-GB" sz="2000" dirty="0">
                        <a:solidFill>
                          <a:schemeClr val="tx1"/>
                        </a:solidFill>
                        <a:latin typeface="+mn-lt"/>
                        <a:ea typeface="Times New Roman"/>
                      </a:endParaRPr>
                    </a:p>
                  </a:txBody>
                  <a:tcPr marL="68580" marR="68580" marT="0" marB="0" anchor="ctr"/>
                </a:tc>
                <a:tc>
                  <a:txBody>
                    <a:bodyPr/>
                    <a:lstStyle/>
                    <a:p>
                      <a:pPr marL="0" marR="0" algn="ctr">
                        <a:lnSpc>
                          <a:spcPct val="125000"/>
                        </a:lnSpc>
                        <a:spcBef>
                          <a:spcPts val="0"/>
                        </a:spcBef>
                        <a:spcAft>
                          <a:spcPts val="0"/>
                        </a:spcAft>
                      </a:pPr>
                      <a:r>
                        <a:rPr lang="en-GB" sz="2000" b="1" dirty="0">
                          <a:solidFill>
                            <a:schemeClr val="tx1"/>
                          </a:solidFill>
                          <a:latin typeface="+mn-lt"/>
                          <a:ea typeface="宋体"/>
                        </a:rPr>
                        <a:t>A</a:t>
                      </a:r>
                      <a:endParaRPr lang="en-GB" sz="2000" dirty="0">
                        <a:solidFill>
                          <a:schemeClr val="tx1"/>
                        </a:solidFill>
                        <a:latin typeface="+mn-lt"/>
                        <a:ea typeface="Times New Roman"/>
                      </a:endParaRPr>
                    </a:p>
                  </a:txBody>
                  <a:tcPr marL="68580" marR="68580" marT="0" marB="0" anchor="ctr"/>
                </a:tc>
                <a:tc>
                  <a:txBody>
                    <a:bodyPr/>
                    <a:lstStyle/>
                    <a:p>
                      <a:pPr marL="0" marR="0">
                        <a:lnSpc>
                          <a:spcPct val="125000"/>
                        </a:lnSpc>
                        <a:spcBef>
                          <a:spcPts val="0"/>
                        </a:spcBef>
                        <a:spcAft>
                          <a:spcPts val="0"/>
                        </a:spcAft>
                      </a:pPr>
                      <a:r>
                        <a:rPr lang="en-GB" sz="2000">
                          <a:solidFill>
                            <a:schemeClr val="tx1"/>
                          </a:solidFill>
                          <a:latin typeface="+mn-lt"/>
                          <a:ea typeface="宋体"/>
                        </a:rPr>
                        <a:t>Excellent: outstanding performance with only minor errors</a:t>
                      </a:r>
                      <a:endParaRPr lang="en-GB" sz="2000">
                        <a:solidFill>
                          <a:schemeClr val="tx1"/>
                        </a:solidFill>
                        <a:latin typeface="+mn-lt"/>
                        <a:ea typeface="Times New Roman"/>
                      </a:endParaRPr>
                    </a:p>
                  </a:txBody>
                  <a:tcPr marL="68580" marR="68580" marT="0" marB="0" anchor="ctr"/>
                </a:tc>
                <a:extLst>
                  <a:ext uri="{0D108BD9-81ED-4DB2-BD59-A6C34878D82A}">
                    <a16:rowId xmlns:a16="http://schemas.microsoft.com/office/drawing/2014/main" val="10001"/>
                  </a:ext>
                </a:extLst>
              </a:tr>
              <a:tr h="370840">
                <a:tc>
                  <a:txBody>
                    <a:bodyPr/>
                    <a:lstStyle/>
                    <a:p>
                      <a:pPr marL="0" marR="0" algn="ctr">
                        <a:lnSpc>
                          <a:spcPct val="125000"/>
                        </a:lnSpc>
                        <a:spcBef>
                          <a:spcPts val="0"/>
                        </a:spcBef>
                        <a:spcAft>
                          <a:spcPts val="0"/>
                        </a:spcAft>
                      </a:pPr>
                      <a:r>
                        <a:rPr lang="en-GB" sz="2000" b="1" dirty="0">
                          <a:solidFill>
                            <a:schemeClr val="tx1"/>
                          </a:solidFill>
                          <a:latin typeface="+mn-lt"/>
                          <a:ea typeface="宋体"/>
                        </a:rPr>
                        <a:t>60 - 69</a:t>
                      </a:r>
                      <a:endParaRPr lang="en-GB" sz="2000" dirty="0">
                        <a:solidFill>
                          <a:schemeClr val="tx1"/>
                        </a:solidFill>
                        <a:latin typeface="+mn-lt"/>
                        <a:ea typeface="Times New Roman"/>
                      </a:endParaRPr>
                    </a:p>
                  </a:txBody>
                  <a:tcPr marL="68580" marR="68580" marT="0" marB="0" anchor="ctr"/>
                </a:tc>
                <a:tc>
                  <a:txBody>
                    <a:bodyPr/>
                    <a:lstStyle/>
                    <a:p>
                      <a:pPr marL="0" marR="0" algn="ctr">
                        <a:lnSpc>
                          <a:spcPct val="125000"/>
                        </a:lnSpc>
                        <a:spcBef>
                          <a:spcPts val="0"/>
                        </a:spcBef>
                        <a:spcAft>
                          <a:spcPts val="0"/>
                        </a:spcAft>
                      </a:pPr>
                      <a:r>
                        <a:rPr lang="en-GB" sz="2000" b="1" dirty="0">
                          <a:solidFill>
                            <a:schemeClr val="tx1"/>
                          </a:solidFill>
                          <a:latin typeface="+mn-lt"/>
                          <a:ea typeface="宋体"/>
                        </a:rPr>
                        <a:t>B</a:t>
                      </a:r>
                      <a:endParaRPr lang="en-GB" sz="2000" dirty="0">
                        <a:solidFill>
                          <a:schemeClr val="tx1"/>
                        </a:solidFill>
                        <a:latin typeface="+mn-lt"/>
                        <a:ea typeface="Times New Roman"/>
                      </a:endParaRPr>
                    </a:p>
                  </a:txBody>
                  <a:tcPr marL="68580" marR="68580" marT="0" marB="0" anchor="ctr"/>
                </a:tc>
                <a:tc>
                  <a:txBody>
                    <a:bodyPr/>
                    <a:lstStyle/>
                    <a:p>
                      <a:pPr marL="0" marR="0">
                        <a:lnSpc>
                          <a:spcPct val="125000"/>
                        </a:lnSpc>
                        <a:spcBef>
                          <a:spcPts val="0"/>
                        </a:spcBef>
                        <a:spcAft>
                          <a:spcPts val="0"/>
                        </a:spcAft>
                      </a:pPr>
                      <a:r>
                        <a:rPr lang="en-GB" sz="2000" dirty="0">
                          <a:solidFill>
                            <a:schemeClr val="tx1"/>
                          </a:solidFill>
                          <a:latin typeface="+mn-lt"/>
                          <a:ea typeface="宋体"/>
                        </a:rPr>
                        <a:t>Very Good: above the average standard but with some errors</a:t>
                      </a:r>
                      <a:endParaRPr lang="en-GB" sz="2000" dirty="0">
                        <a:solidFill>
                          <a:schemeClr val="tx1"/>
                        </a:solidFill>
                        <a:latin typeface="+mn-lt"/>
                        <a:ea typeface="Times New Roman"/>
                      </a:endParaRPr>
                    </a:p>
                  </a:txBody>
                  <a:tcPr marL="68580" marR="68580" marT="0" marB="0" anchor="ctr"/>
                </a:tc>
                <a:extLst>
                  <a:ext uri="{0D108BD9-81ED-4DB2-BD59-A6C34878D82A}">
                    <a16:rowId xmlns:a16="http://schemas.microsoft.com/office/drawing/2014/main" val="10002"/>
                  </a:ext>
                </a:extLst>
              </a:tr>
              <a:tr h="370840">
                <a:tc>
                  <a:txBody>
                    <a:bodyPr/>
                    <a:lstStyle/>
                    <a:p>
                      <a:pPr marL="0" marR="0" algn="ctr">
                        <a:lnSpc>
                          <a:spcPct val="125000"/>
                        </a:lnSpc>
                        <a:spcBef>
                          <a:spcPts val="0"/>
                        </a:spcBef>
                        <a:spcAft>
                          <a:spcPts val="0"/>
                        </a:spcAft>
                      </a:pPr>
                      <a:r>
                        <a:rPr lang="en-GB" sz="2000" b="1" dirty="0">
                          <a:solidFill>
                            <a:schemeClr val="tx1"/>
                          </a:solidFill>
                          <a:latin typeface="+mn-lt"/>
                          <a:ea typeface="宋体"/>
                        </a:rPr>
                        <a:t>50 - 59</a:t>
                      </a:r>
                      <a:endParaRPr lang="en-GB" sz="2000" dirty="0">
                        <a:solidFill>
                          <a:schemeClr val="tx1"/>
                        </a:solidFill>
                        <a:latin typeface="+mn-lt"/>
                        <a:ea typeface="Times New Roman"/>
                      </a:endParaRPr>
                    </a:p>
                  </a:txBody>
                  <a:tcPr marL="68580" marR="68580" marT="0" marB="0" anchor="ctr"/>
                </a:tc>
                <a:tc>
                  <a:txBody>
                    <a:bodyPr/>
                    <a:lstStyle/>
                    <a:p>
                      <a:pPr marL="0" marR="0" algn="ctr">
                        <a:lnSpc>
                          <a:spcPct val="125000"/>
                        </a:lnSpc>
                        <a:spcBef>
                          <a:spcPts val="0"/>
                        </a:spcBef>
                        <a:spcAft>
                          <a:spcPts val="0"/>
                        </a:spcAft>
                      </a:pPr>
                      <a:r>
                        <a:rPr lang="en-GB" sz="2000" b="1" dirty="0">
                          <a:solidFill>
                            <a:schemeClr val="tx1"/>
                          </a:solidFill>
                          <a:latin typeface="+mn-lt"/>
                          <a:ea typeface="宋体"/>
                        </a:rPr>
                        <a:t>C</a:t>
                      </a:r>
                      <a:endParaRPr lang="en-GB" sz="2000" dirty="0">
                        <a:solidFill>
                          <a:schemeClr val="tx1"/>
                        </a:solidFill>
                        <a:latin typeface="+mn-lt"/>
                        <a:ea typeface="Times New Roman"/>
                      </a:endParaRPr>
                    </a:p>
                  </a:txBody>
                  <a:tcPr marL="68580" marR="68580" marT="0" marB="0" anchor="ctr"/>
                </a:tc>
                <a:tc>
                  <a:txBody>
                    <a:bodyPr/>
                    <a:lstStyle/>
                    <a:p>
                      <a:pPr marL="0" marR="0">
                        <a:lnSpc>
                          <a:spcPct val="125000"/>
                        </a:lnSpc>
                        <a:spcBef>
                          <a:spcPts val="0"/>
                        </a:spcBef>
                        <a:spcAft>
                          <a:spcPts val="0"/>
                        </a:spcAft>
                      </a:pPr>
                      <a:r>
                        <a:rPr lang="en-GB" sz="2000">
                          <a:solidFill>
                            <a:schemeClr val="tx1"/>
                          </a:solidFill>
                          <a:latin typeface="+mn-lt"/>
                          <a:ea typeface="宋体"/>
                        </a:rPr>
                        <a:t>Good: generally sound work with a number of notable errors</a:t>
                      </a:r>
                      <a:endParaRPr lang="en-GB" sz="2000">
                        <a:solidFill>
                          <a:schemeClr val="tx1"/>
                        </a:solidFill>
                        <a:latin typeface="+mn-lt"/>
                        <a:ea typeface="Times New Roman"/>
                      </a:endParaRPr>
                    </a:p>
                  </a:txBody>
                  <a:tcPr marL="68580" marR="68580" marT="0" marB="0" anchor="ctr"/>
                </a:tc>
                <a:extLst>
                  <a:ext uri="{0D108BD9-81ED-4DB2-BD59-A6C34878D82A}">
                    <a16:rowId xmlns:a16="http://schemas.microsoft.com/office/drawing/2014/main" val="10003"/>
                  </a:ext>
                </a:extLst>
              </a:tr>
              <a:tr h="370840">
                <a:tc>
                  <a:txBody>
                    <a:bodyPr/>
                    <a:lstStyle/>
                    <a:p>
                      <a:pPr marL="0" marR="0" algn="ctr">
                        <a:lnSpc>
                          <a:spcPct val="125000"/>
                        </a:lnSpc>
                        <a:spcBef>
                          <a:spcPts val="0"/>
                        </a:spcBef>
                        <a:spcAft>
                          <a:spcPts val="0"/>
                        </a:spcAft>
                      </a:pPr>
                      <a:r>
                        <a:rPr lang="en-GB" sz="2000" b="1" dirty="0">
                          <a:solidFill>
                            <a:schemeClr val="tx1"/>
                          </a:solidFill>
                          <a:latin typeface="+mn-lt"/>
                          <a:ea typeface="宋体"/>
                        </a:rPr>
                        <a:t>43 - 49</a:t>
                      </a:r>
                      <a:endParaRPr lang="en-GB" sz="2000" dirty="0">
                        <a:solidFill>
                          <a:schemeClr val="tx1"/>
                        </a:solidFill>
                        <a:latin typeface="+mn-lt"/>
                        <a:ea typeface="Times New Roman"/>
                      </a:endParaRPr>
                    </a:p>
                  </a:txBody>
                  <a:tcPr marL="68580" marR="68580" marT="0" marB="0" anchor="ctr"/>
                </a:tc>
                <a:tc>
                  <a:txBody>
                    <a:bodyPr/>
                    <a:lstStyle/>
                    <a:p>
                      <a:pPr marL="0" marR="0" algn="ctr">
                        <a:lnSpc>
                          <a:spcPct val="125000"/>
                        </a:lnSpc>
                        <a:spcBef>
                          <a:spcPts val="0"/>
                        </a:spcBef>
                        <a:spcAft>
                          <a:spcPts val="0"/>
                        </a:spcAft>
                      </a:pPr>
                      <a:r>
                        <a:rPr lang="en-GB" sz="2000" b="1" dirty="0">
                          <a:solidFill>
                            <a:schemeClr val="tx1"/>
                          </a:solidFill>
                          <a:latin typeface="+mn-lt"/>
                          <a:ea typeface="宋体"/>
                        </a:rPr>
                        <a:t>D</a:t>
                      </a:r>
                      <a:endParaRPr lang="en-GB" sz="2000" dirty="0">
                        <a:solidFill>
                          <a:schemeClr val="tx1"/>
                        </a:solidFill>
                        <a:latin typeface="+mn-lt"/>
                        <a:ea typeface="Times New Roman"/>
                      </a:endParaRPr>
                    </a:p>
                  </a:txBody>
                  <a:tcPr marL="68580" marR="68580" marT="0" marB="0" anchor="ctr"/>
                </a:tc>
                <a:tc>
                  <a:txBody>
                    <a:bodyPr/>
                    <a:lstStyle/>
                    <a:p>
                      <a:pPr marL="0" marR="0">
                        <a:lnSpc>
                          <a:spcPct val="125000"/>
                        </a:lnSpc>
                        <a:spcBef>
                          <a:spcPts val="0"/>
                        </a:spcBef>
                        <a:spcAft>
                          <a:spcPts val="0"/>
                        </a:spcAft>
                      </a:pPr>
                      <a:r>
                        <a:rPr lang="en-GB" sz="2000">
                          <a:solidFill>
                            <a:schemeClr val="tx1"/>
                          </a:solidFill>
                          <a:latin typeface="+mn-lt"/>
                          <a:ea typeface="宋体"/>
                        </a:rPr>
                        <a:t>Satisfactory: fair but with significant shortcomings</a:t>
                      </a:r>
                      <a:endParaRPr lang="en-GB" sz="2000">
                        <a:solidFill>
                          <a:schemeClr val="tx1"/>
                        </a:solidFill>
                        <a:latin typeface="+mn-lt"/>
                        <a:ea typeface="Times New Roman"/>
                      </a:endParaRPr>
                    </a:p>
                  </a:txBody>
                  <a:tcPr marL="68580" marR="68580" marT="0" marB="0" anchor="ctr"/>
                </a:tc>
                <a:extLst>
                  <a:ext uri="{0D108BD9-81ED-4DB2-BD59-A6C34878D82A}">
                    <a16:rowId xmlns:a16="http://schemas.microsoft.com/office/drawing/2014/main" val="10004"/>
                  </a:ext>
                </a:extLst>
              </a:tr>
              <a:tr h="370840">
                <a:tc>
                  <a:txBody>
                    <a:bodyPr/>
                    <a:lstStyle/>
                    <a:p>
                      <a:pPr marL="0" marR="0" algn="ctr">
                        <a:lnSpc>
                          <a:spcPct val="125000"/>
                        </a:lnSpc>
                        <a:spcBef>
                          <a:spcPts val="0"/>
                        </a:spcBef>
                        <a:spcAft>
                          <a:spcPts val="0"/>
                        </a:spcAft>
                      </a:pPr>
                      <a:r>
                        <a:rPr lang="en-GB" sz="2000" b="1" dirty="0">
                          <a:solidFill>
                            <a:schemeClr val="tx1"/>
                          </a:solidFill>
                          <a:latin typeface="+mn-lt"/>
                          <a:ea typeface="宋体"/>
                        </a:rPr>
                        <a:t>40 - 42</a:t>
                      </a:r>
                      <a:endParaRPr lang="en-GB" sz="2000" dirty="0">
                        <a:solidFill>
                          <a:schemeClr val="tx1"/>
                        </a:solidFill>
                        <a:latin typeface="+mn-lt"/>
                        <a:ea typeface="Times New Roman"/>
                      </a:endParaRPr>
                    </a:p>
                  </a:txBody>
                  <a:tcPr marL="68580" marR="68580" marT="0" marB="0" anchor="ctr"/>
                </a:tc>
                <a:tc>
                  <a:txBody>
                    <a:bodyPr/>
                    <a:lstStyle/>
                    <a:p>
                      <a:pPr marL="0" marR="0" algn="ctr">
                        <a:lnSpc>
                          <a:spcPct val="125000"/>
                        </a:lnSpc>
                        <a:spcBef>
                          <a:spcPts val="0"/>
                        </a:spcBef>
                        <a:spcAft>
                          <a:spcPts val="0"/>
                        </a:spcAft>
                      </a:pPr>
                      <a:r>
                        <a:rPr lang="en-GB" sz="2000" b="1" dirty="0">
                          <a:solidFill>
                            <a:schemeClr val="tx1"/>
                          </a:solidFill>
                          <a:latin typeface="+mn-lt"/>
                          <a:ea typeface="宋体"/>
                        </a:rPr>
                        <a:t>E</a:t>
                      </a:r>
                      <a:endParaRPr lang="en-GB" sz="2000" dirty="0">
                        <a:solidFill>
                          <a:schemeClr val="tx1"/>
                        </a:solidFill>
                        <a:latin typeface="+mn-lt"/>
                        <a:ea typeface="Times New Roman"/>
                      </a:endParaRPr>
                    </a:p>
                  </a:txBody>
                  <a:tcPr marL="68580" marR="68580" marT="0" marB="0" anchor="ctr"/>
                </a:tc>
                <a:tc>
                  <a:txBody>
                    <a:bodyPr/>
                    <a:lstStyle/>
                    <a:p>
                      <a:pPr marL="0" marR="0">
                        <a:lnSpc>
                          <a:spcPct val="125000"/>
                        </a:lnSpc>
                        <a:spcBef>
                          <a:spcPts val="0"/>
                        </a:spcBef>
                        <a:spcAft>
                          <a:spcPts val="0"/>
                        </a:spcAft>
                      </a:pPr>
                      <a:r>
                        <a:rPr lang="en-GB" sz="2000">
                          <a:solidFill>
                            <a:schemeClr val="tx1"/>
                          </a:solidFill>
                          <a:latin typeface="+mn-lt"/>
                          <a:ea typeface="宋体"/>
                        </a:rPr>
                        <a:t>Sufficient: performance meets the minimum criteria</a:t>
                      </a:r>
                      <a:endParaRPr lang="en-GB" sz="2000">
                        <a:solidFill>
                          <a:schemeClr val="tx1"/>
                        </a:solidFill>
                        <a:latin typeface="+mn-lt"/>
                        <a:ea typeface="Times New Roman"/>
                      </a:endParaRPr>
                    </a:p>
                  </a:txBody>
                  <a:tcPr marL="68580" marR="68580" marT="0" marB="0" anchor="ctr"/>
                </a:tc>
                <a:extLst>
                  <a:ext uri="{0D108BD9-81ED-4DB2-BD59-A6C34878D82A}">
                    <a16:rowId xmlns:a16="http://schemas.microsoft.com/office/drawing/2014/main" val="10005"/>
                  </a:ext>
                </a:extLst>
              </a:tr>
              <a:tr h="370840">
                <a:tc>
                  <a:txBody>
                    <a:bodyPr/>
                    <a:lstStyle/>
                    <a:p>
                      <a:pPr marL="0" marR="0" algn="ctr">
                        <a:lnSpc>
                          <a:spcPct val="125000"/>
                        </a:lnSpc>
                        <a:spcBef>
                          <a:spcPts val="0"/>
                        </a:spcBef>
                        <a:spcAft>
                          <a:spcPts val="0"/>
                        </a:spcAft>
                      </a:pPr>
                      <a:r>
                        <a:rPr lang="en-GB" sz="2000" b="1" dirty="0">
                          <a:solidFill>
                            <a:schemeClr val="tx1"/>
                          </a:solidFill>
                          <a:latin typeface="+mn-lt"/>
                          <a:ea typeface="宋体"/>
                        </a:rPr>
                        <a:t>0 - 39</a:t>
                      </a:r>
                      <a:endParaRPr lang="en-GB" sz="2000" dirty="0">
                        <a:solidFill>
                          <a:schemeClr val="tx1"/>
                        </a:solidFill>
                        <a:latin typeface="+mn-lt"/>
                        <a:ea typeface="Times New Roman"/>
                      </a:endParaRPr>
                    </a:p>
                  </a:txBody>
                  <a:tcPr marL="68580" marR="68580" marT="0" marB="0" anchor="ctr"/>
                </a:tc>
                <a:tc>
                  <a:txBody>
                    <a:bodyPr/>
                    <a:lstStyle/>
                    <a:p>
                      <a:pPr marL="0" marR="0" algn="ctr">
                        <a:lnSpc>
                          <a:spcPct val="125000"/>
                        </a:lnSpc>
                        <a:spcBef>
                          <a:spcPts val="0"/>
                        </a:spcBef>
                        <a:spcAft>
                          <a:spcPts val="0"/>
                        </a:spcAft>
                      </a:pPr>
                      <a:r>
                        <a:rPr lang="en-GB" sz="2000" b="1" dirty="0">
                          <a:solidFill>
                            <a:schemeClr val="tx1"/>
                          </a:solidFill>
                          <a:latin typeface="+mn-lt"/>
                          <a:ea typeface="宋体"/>
                        </a:rPr>
                        <a:t>F</a:t>
                      </a:r>
                      <a:endParaRPr lang="en-GB" sz="2000" dirty="0">
                        <a:solidFill>
                          <a:schemeClr val="tx1"/>
                        </a:solidFill>
                        <a:latin typeface="+mn-lt"/>
                        <a:ea typeface="Times New Roman"/>
                      </a:endParaRPr>
                    </a:p>
                  </a:txBody>
                  <a:tcPr marL="68580" marR="68580" marT="0" marB="0" anchor="ctr"/>
                </a:tc>
                <a:tc>
                  <a:txBody>
                    <a:bodyPr/>
                    <a:lstStyle/>
                    <a:p>
                      <a:pPr marL="0" marR="0">
                        <a:lnSpc>
                          <a:spcPct val="125000"/>
                        </a:lnSpc>
                        <a:spcBef>
                          <a:spcPts val="0"/>
                        </a:spcBef>
                        <a:spcAft>
                          <a:spcPts val="0"/>
                        </a:spcAft>
                      </a:pPr>
                      <a:r>
                        <a:rPr lang="en-GB" sz="2000" dirty="0">
                          <a:solidFill>
                            <a:schemeClr val="tx1"/>
                          </a:solidFill>
                          <a:latin typeface="+mn-lt"/>
                          <a:ea typeface="宋体"/>
                        </a:rPr>
                        <a:t>Fail: performance does not meet the minimum criteria and considerable further work is required</a:t>
                      </a:r>
                      <a:endParaRPr lang="en-GB" sz="2000" dirty="0">
                        <a:solidFill>
                          <a:schemeClr val="tx1"/>
                        </a:solidFill>
                        <a:latin typeface="+mn-lt"/>
                        <a:ea typeface="Times New Roman"/>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4419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403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68288"/>
            <a:ext cx="8858250" cy="762000"/>
          </a:xfrm>
        </p:spPr>
        <p:txBody>
          <a:bodyPr/>
          <a:lstStyle/>
          <a:p>
            <a:r>
              <a:rPr lang="en-US" dirty="0"/>
              <a:t>Let’s get started with Lecture 1</a:t>
            </a:r>
          </a:p>
        </p:txBody>
      </p:sp>
      <p:sp>
        <p:nvSpPr>
          <p:cNvPr id="6" name="Title 1"/>
          <p:cNvSpPr txBox="1">
            <a:spLocks/>
          </p:cNvSpPr>
          <p:nvPr/>
        </p:nvSpPr>
        <p:spPr bwMode="auto">
          <a:xfrm>
            <a:off x="0" y="5643578"/>
            <a:ext cx="9143970"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algn="ctr" defTabSz="457200"/>
            <a:r>
              <a:rPr lang="en-US" sz="4400" b="1" dirty="0">
                <a:solidFill>
                  <a:prstClr val="black"/>
                </a:solidFill>
              </a:rPr>
              <a:t>Understanding Project</a:t>
            </a:r>
            <a:endParaRPr lang="en-GB" sz="4400" b="1" dirty="0">
              <a:solidFill>
                <a:prstClr val="black"/>
              </a:solidFill>
            </a:endParaRPr>
          </a:p>
        </p:txBody>
      </p:sp>
      <p:pic>
        <p:nvPicPr>
          <p:cNvPr id="3" name="Picture 2" descr="Image result for business projec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5490" y="1030288"/>
            <a:ext cx="6812989" cy="4683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151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computing projects? (1)</a:t>
            </a:r>
          </a:p>
        </p:txBody>
      </p:sp>
      <p:sp>
        <p:nvSpPr>
          <p:cNvPr id="3" name="Content Placeholder 2"/>
          <p:cNvSpPr>
            <a:spLocks noGrp="1"/>
          </p:cNvSpPr>
          <p:nvPr>
            <p:ph idx="1"/>
          </p:nvPr>
        </p:nvSpPr>
        <p:spPr>
          <a:xfrm>
            <a:off x="285749" y="1030288"/>
            <a:ext cx="8531225" cy="4870450"/>
          </a:xfrm>
        </p:spPr>
        <p:txBody>
          <a:bodyPr>
            <a:noAutofit/>
          </a:bodyPr>
          <a:lstStyle/>
          <a:p>
            <a:pPr algn="just"/>
            <a:r>
              <a:rPr lang="en-GB" dirty="0"/>
              <a:t>“Project can be defined as something which has a beginning and an end” (Barnes, 1989)</a:t>
            </a:r>
          </a:p>
          <a:p>
            <a:pPr algn="just"/>
            <a:r>
              <a:rPr lang="en-GB" dirty="0"/>
              <a:t>Unfortunately, this broad definition of projects does not encapsulate their underlying purpose i.e. to bring about some form of beneficial change.</a:t>
            </a:r>
          </a:p>
          <a:p>
            <a:pPr algn="just"/>
            <a:r>
              <a:rPr lang="en-US" dirty="0"/>
              <a:t>Computing projects come in all different shapes and sizes, as the field they are drawn from is immense. However, these days it is more widely recognized, within academic institutions, that computing projects need to do more than develop a piece of software.</a:t>
            </a:r>
            <a:endParaRPr lang="en-GB" dirty="0"/>
          </a:p>
        </p:txBody>
      </p:sp>
    </p:spTree>
    <p:extLst>
      <p:ext uri="{BB962C8B-B14F-4D97-AF65-F5344CB8AC3E}">
        <p14:creationId xmlns:p14="http://schemas.microsoft.com/office/powerpoint/2010/main" val="3265953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computing projects? (2)</a:t>
            </a:r>
          </a:p>
        </p:txBody>
      </p:sp>
      <p:sp>
        <p:nvSpPr>
          <p:cNvPr id="3" name="Content Placeholder 2"/>
          <p:cNvSpPr>
            <a:spLocks noGrp="1"/>
          </p:cNvSpPr>
          <p:nvPr>
            <p:ph idx="1"/>
          </p:nvPr>
        </p:nvSpPr>
        <p:spPr>
          <a:xfrm>
            <a:off x="285749" y="1030288"/>
            <a:ext cx="8531225" cy="4870450"/>
          </a:xfrm>
        </p:spPr>
        <p:txBody>
          <a:bodyPr>
            <a:noAutofit/>
          </a:bodyPr>
          <a:lstStyle/>
          <a:p>
            <a:pPr algn="just">
              <a:spcBef>
                <a:spcPts val="0"/>
              </a:spcBef>
            </a:pPr>
            <a:r>
              <a:rPr lang="en-US" dirty="0"/>
              <a:t>The project that you pursue must involve an element of research, it must justify its context and you must evaluate and discuss its results.</a:t>
            </a:r>
          </a:p>
          <a:p>
            <a:pPr lvl="1" algn="just">
              <a:spcBef>
                <a:spcPts val="0"/>
              </a:spcBef>
            </a:pPr>
            <a:r>
              <a:rPr lang="en-US" dirty="0"/>
              <a:t>Merely developing a tool or algorithm with no evaluation or contextualization may well be acceptable in industry, where commercial solutions are required.</a:t>
            </a:r>
            <a:endParaRPr lang="en-GB" dirty="0"/>
          </a:p>
          <a:p>
            <a:pPr lvl="1" algn="just">
              <a:spcBef>
                <a:spcPts val="0"/>
              </a:spcBef>
            </a:pPr>
            <a:r>
              <a:rPr lang="en-US" dirty="0"/>
              <a:t>However, within the academic world, your project must contain to some extent an element of research.</a:t>
            </a:r>
          </a:p>
          <a:p>
            <a:pPr algn="just">
              <a:spcBef>
                <a:spcPts val="0"/>
              </a:spcBef>
            </a:pPr>
            <a:r>
              <a:rPr lang="en-US" dirty="0"/>
              <a:t>The computing project you embark upon gives you an opportunity to make your own contribution.</a:t>
            </a:r>
            <a:endParaRPr lang="en-GB" dirty="0"/>
          </a:p>
        </p:txBody>
      </p:sp>
    </p:spTree>
    <p:extLst>
      <p:ext uri="{BB962C8B-B14F-4D97-AF65-F5344CB8AC3E}">
        <p14:creationId xmlns:p14="http://schemas.microsoft.com/office/powerpoint/2010/main" val="3467752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project in Computing</a:t>
            </a:r>
          </a:p>
        </p:txBody>
      </p:sp>
      <p:sp>
        <p:nvSpPr>
          <p:cNvPr id="3" name="Content Placeholder 2"/>
          <p:cNvSpPr>
            <a:spLocks noGrp="1"/>
          </p:cNvSpPr>
          <p:nvPr>
            <p:ph idx="1"/>
          </p:nvPr>
        </p:nvSpPr>
        <p:spPr>
          <a:xfrm>
            <a:off x="285750" y="1030288"/>
            <a:ext cx="8531225" cy="4870450"/>
          </a:xfrm>
        </p:spPr>
        <p:txBody>
          <a:bodyPr>
            <a:normAutofit/>
          </a:bodyPr>
          <a:lstStyle/>
          <a:p>
            <a:pPr marL="742913" indent="-742913">
              <a:buFont typeface="+mj-lt"/>
              <a:buAutoNum type="arabicPeriod"/>
            </a:pPr>
            <a:r>
              <a:rPr lang="en-GB" dirty="0"/>
              <a:t>Research-based</a:t>
            </a:r>
          </a:p>
          <a:p>
            <a:pPr marL="742913" indent="-742913">
              <a:buFont typeface="+mj-lt"/>
              <a:buAutoNum type="arabicPeriod"/>
            </a:pPr>
            <a:r>
              <a:rPr lang="en-GB" dirty="0"/>
              <a:t>Development</a:t>
            </a:r>
          </a:p>
          <a:p>
            <a:pPr marL="742913" indent="-742913">
              <a:buFont typeface="+mj-lt"/>
              <a:buAutoNum type="arabicPeriod"/>
            </a:pPr>
            <a:r>
              <a:rPr lang="en-GB" dirty="0"/>
              <a:t>Evaluation</a:t>
            </a:r>
          </a:p>
          <a:p>
            <a:pPr marL="742913" indent="-742913">
              <a:buFont typeface="+mj-lt"/>
              <a:buAutoNum type="arabicPeriod"/>
            </a:pPr>
            <a:r>
              <a:rPr lang="en-GB" dirty="0"/>
              <a:t>Industry-based</a:t>
            </a:r>
          </a:p>
          <a:p>
            <a:pPr marL="742913" indent="-742913">
              <a:buFont typeface="+mj-lt"/>
              <a:buAutoNum type="arabicPeriod"/>
            </a:pPr>
            <a:r>
              <a:rPr lang="en-GB" dirty="0"/>
              <a:t>Problem Solving</a:t>
            </a:r>
          </a:p>
          <a:p>
            <a:endParaRPr lang="en-GB" sz="4000" dirty="0"/>
          </a:p>
        </p:txBody>
      </p:sp>
    </p:spTree>
    <p:extLst>
      <p:ext uri="{BB962C8B-B14F-4D97-AF65-F5344CB8AC3E}">
        <p14:creationId xmlns:p14="http://schemas.microsoft.com/office/powerpoint/2010/main" val="701370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Research-based</a:t>
            </a:r>
          </a:p>
        </p:txBody>
      </p:sp>
      <p:sp>
        <p:nvSpPr>
          <p:cNvPr id="3" name="Content Placeholder 2"/>
          <p:cNvSpPr>
            <a:spLocks noGrp="1"/>
          </p:cNvSpPr>
          <p:nvPr>
            <p:ph idx="1"/>
          </p:nvPr>
        </p:nvSpPr>
        <p:spPr>
          <a:xfrm>
            <a:off x="285749" y="1030288"/>
            <a:ext cx="8531225" cy="5527675"/>
          </a:xfrm>
        </p:spPr>
        <p:txBody>
          <a:bodyPr>
            <a:normAutofit/>
          </a:bodyPr>
          <a:lstStyle/>
          <a:p>
            <a:r>
              <a:rPr lang="en-US" sz="3200" dirty="0"/>
              <a:t>Involves:</a:t>
            </a:r>
          </a:p>
          <a:p>
            <a:pPr lvl="1"/>
            <a:r>
              <a:rPr lang="en-US" sz="2800" dirty="0"/>
              <a:t> a thorough investigation of a particular area; </a:t>
            </a:r>
          </a:p>
          <a:p>
            <a:pPr lvl="1"/>
            <a:r>
              <a:rPr lang="en-US" sz="2800" dirty="0"/>
              <a:t>improving your understanding of that area, </a:t>
            </a:r>
          </a:p>
          <a:p>
            <a:pPr lvl="1"/>
            <a:r>
              <a:rPr lang="en-US" sz="2800" dirty="0"/>
              <a:t>identifying strengths and weaknesses within the field, </a:t>
            </a:r>
          </a:p>
          <a:p>
            <a:pPr lvl="1"/>
            <a:r>
              <a:rPr lang="en-US" sz="2800" dirty="0"/>
              <a:t>discussing how the field has evolved, and acknowledging areas suitable for further development and investigation</a:t>
            </a:r>
          </a:p>
          <a:p>
            <a:r>
              <a:rPr lang="en-US" sz="3200" dirty="0"/>
              <a:t>Will involve some form of literature search and review</a:t>
            </a:r>
          </a:p>
          <a:p>
            <a:r>
              <a:rPr lang="en-US" sz="3200" dirty="0"/>
              <a:t>Mostly suitable for taught master’s course </a:t>
            </a:r>
            <a:endParaRPr lang="en-GB" sz="3200" dirty="0"/>
          </a:p>
        </p:txBody>
      </p:sp>
    </p:spTree>
    <p:extLst>
      <p:ext uri="{BB962C8B-B14F-4D97-AF65-F5344CB8AC3E}">
        <p14:creationId xmlns:p14="http://schemas.microsoft.com/office/powerpoint/2010/main" val="3028874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Development (1)</a:t>
            </a:r>
          </a:p>
        </p:txBody>
      </p:sp>
      <p:sp>
        <p:nvSpPr>
          <p:cNvPr id="3" name="Content Placeholder 2"/>
          <p:cNvSpPr>
            <a:spLocks noGrp="1"/>
          </p:cNvSpPr>
          <p:nvPr>
            <p:ph idx="1"/>
          </p:nvPr>
        </p:nvSpPr>
        <p:spPr>
          <a:xfrm>
            <a:off x="285750" y="1030288"/>
            <a:ext cx="8531225" cy="5486401"/>
          </a:xfrm>
        </p:spPr>
        <p:txBody>
          <a:bodyPr>
            <a:normAutofit lnSpcReduction="10000"/>
          </a:bodyPr>
          <a:lstStyle/>
          <a:p>
            <a:pPr algn="just"/>
            <a:r>
              <a:rPr lang="en-US" dirty="0"/>
              <a:t>Includes the development of, not only software and hardware systems, but also of process models, methods, algorithms, theories, designs, requirement speciﬁcations, and other interim documents. </a:t>
            </a:r>
          </a:p>
          <a:p>
            <a:pPr algn="just"/>
            <a:r>
              <a:rPr lang="en-US" dirty="0"/>
              <a:t>Examples of software development projects include database systems, multimedia systems, information systems, and web-based systems. </a:t>
            </a:r>
          </a:p>
          <a:p>
            <a:pPr algn="just"/>
            <a:r>
              <a:rPr lang="en-US" dirty="0"/>
              <a:t>For some developments (notably software) you will be required to include requirements documentation, designs, analyses, and fully documented test results along with user manuals or guides. </a:t>
            </a:r>
            <a:endParaRPr lang="en-GB" dirty="0"/>
          </a:p>
        </p:txBody>
      </p:sp>
    </p:spTree>
    <p:extLst>
      <p:ext uri="{BB962C8B-B14F-4D97-AF65-F5344CB8AC3E}">
        <p14:creationId xmlns:p14="http://schemas.microsoft.com/office/powerpoint/2010/main" val="3026715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1030286"/>
            <a:ext cx="8531225" cy="5827713"/>
          </a:xfrm>
        </p:spPr>
        <p:txBody>
          <a:bodyPr>
            <a:normAutofit/>
          </a:bodyPr>
          <a:lstStyle/>
          <a:p>
            <a:pPr algn="just"/>
            <a:r>
              <a:rPr lang="en-US" dirty="0"/>
              <a:t>Illustration of a student project and an industry-based project both attempting to develop a software system to meet a user’s need.</a:t>
            </a:r>
          </a:p>
          <a:p>
            <a:pPr algn="just"/>
            <a:endParaRPr lang="en-US" dirty="0"/>
          </a:p>
          <a:p>
            <a:pPr algn="just"/>
            <a:endParaRPr lang="en-US" dirty="0"/>
          </a:p>
          <a:p>
            <a:pPr algn="just"/>
            <a:endParaRPr lang="en-US" dirty="0"/>
          </a:p>
          <a:p>
            <a:endParaRPr lang="en-GB" dirty="0"/>
          </a:p>
        </p:txBody>
      </p:sp>
      <p:pic>
        <p:nvPicPr>
          <p:cNvPr id="4" name="Picture 3"/>
          <p:cNvPicPr>
            <a:picLocks noChangeAspect="1"/>
          </p:cNvPicPr>
          <p:nvPr/>
        </p:nvPicPr>
        <p:blipFill>
          <a:blip r:embed="rId2"/>
          <a:stretch>
            <a:fillRect/>
          </a:stretch>
        </p:blipFill>
        <p:spPr>
          <a:xfrm>
            <a:off x="1223208" y="3275891"/>
            <a:ext cx="6943291" cy="2524833"/>
          </a:xfrm>
          <a:prstGeom prst="rect">
            <a:avLst/>
          </a:prstGeom>
        </p:spPr>
      </p:pic>
      <p:sp>
        <p:nvSpPr>
          <p:cNvPr id="2" name="Title 1"/>
          <p:cNvSpPr>
            <a:spLocks noGrp="1"/>
          </p:cNvSpPr>
          <p:nvPr>
            <p:ph type="title"/>
          </p:nvPr>
        </p:nvSpPr>
        <p:spPr/>
        <p:txBody>
          <a:bodyPr/>
          <a:lstStyle/>
          <a:p>
            <a:r>
              <a:rPr lang="en-GB" dirty="0"/>
              <a:t>2. Development (2)</a:t>
            </a:r>
          </a:p>
        </p:txBody>
      </p:sp>
    </p:spTree>
    <p:extLst>
      <p:ext uri="{BB962C8B-B14F-4D97-AF65-F5344CB8AC3E}">
        <p14:creationId xmlns:p14="http://schemas.microsoft.com/office/powerpoint/2010/main" val="761811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0" y="1030286"/>
            <a:ext cx="8531225" cy="5827713"/>
          </a:xfrm>
        </p:spPr>
        <p:txBody>
          <a:bodyPr>
            <a:normAutofit/>
          </a:bodyPr>
          <a:lstStyle/>
          <a:p>
            <a:pPr algn="just"/>
            <a:r>
              <a:rPr lang="en-US" dirty="0"/>
              <a:t>While the student project goes some way toward meeting the user’s needs, the project includes much more than that (and hence may only partly fulfil the user’s need). </a:t>
            </a:r>
          </a:p>
          <a:p>
            <a:pPr algn="just"/>
            <a:r>
              <a:rPr lang="en-US" dirty="0"/>
              <a:t>In contrast, the industrial-based project focuses primarily on solving the user’s problem and little else. </a:t>
            </a:r>
          </a:p>
          <a:p>
            <a:pPr algn="just"/>
            <a:r>
              <a:rPr lang="en-US" dirty="0"/>
              <a:t>Consequently, the industrial project develops a system that is close as possible to meeting the user’s requirements (although it is never perfect), whereas the student project does not.</a:t>
            </a:r>
          </a:p>
          <a:p>
            <a:endParaRPr lang="en-GB" dirty="0"/>
          </a:p>
        </p:txBody>
      </p:sp>
      <p:sp>
        <p:nvSpPr>
          <p:cNvPr id="2" name="Title 1"/>
          <p:cNvSpPr>
            <a:spLocks noGrp="1"/>
          </p:cNvSpPr>
          <p:nvPr>
            <p:ph type="title"/>
          </p:nvPr>
        </p:nvSpPr>
        <p:spPr/>
        <p:txBody>
          <a:bodyPr/>
          <a:lstStyle/>
          <a:p>
            <a:r>
              <a:rPr lang="en-GB" dirty="0"/>
              <a:t>2. Development (3)</a:t>
            </a:r>
          </a:p>
        </p:txBody>
      </p:sp>
    </p:spTree>
    <p:extLst>
      <p:ext uri="{BB962C8B-B14F-4D97-AF65-F5344CB8AC3E}">
        <p14:creationId xmlns:p14="http://schemas.microsoft.com/office/powerpoint/2010/main" val="3742780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Evaluation (1)	</a:t>
            </a:r>
          </a:p>
        </p:txBody>
      </p:sp>
      <p:sp>
        <p:nvSpPr>
          <p:cNvPr id="3" name="Content Placeholder 2"/>
          <p:cNvSpPr>
            <a:spLocks noGrp="1"/>
          </p:cNvSpPr>
          <p:nvPr>
            <p:ph idx="1"/>
          </p:nvPr>
        </p:nvSpPr>
        <p:spPr>
          <a:xfrm>
            <a:off x="285750" y="1030288"/>
            <a:ext cx="8531225" cy="4870450"/>
          </a:xfrm>
        </p:spPr>
        <p:txBody>
          <a:bodyPr>
            <a:noAutofit/>
          </a:bodyPr>
          <a:lstStyle/>
          <a:p>
            <a:pPr algn="just"/>
            <a:r>
              <a:rPr lang="en-US" dirty="0"/>
              <a:t>Encompasses all projects that involve some form of evaluation as their main focus. </a:t>
            </a:r>
          </a:p>
          <a:p>
            <a:pPr algn="just"/>
            <a:r>
              <a:rPr lang="en-US" dirty="0"/>
              <a:t>For example, such a project might involve </a:t>
            </a:r>
          </a:p>
          <a:p>
            <a:pPr lvl="1" algn="just"/>
            <a:r>
              <a:rPr lang="en-US" dirty="0"/>
              <a:t>comparing several approaches to a particular problem; </a:t>
            </a:r>
          </a:p>
          <a:p>
            <a:pPr lvl="1" algn="just"/>
            <a:r>
              <a:rPr lang="en-US" dirty="0"/>
              <a:t>evaluating two or more programming languages (applied in different contexts or to different problems); </a:t>
            </a:r>
          </a:p>
          <a:p>
            <a:pPr lvl="1" algn="just"/>
            <a:r>
              <a:rPr lang="en-US" dirty="0"/>
              <a:t>analyzing an implementation process within a particular industry; assessing different user interfaces; </a:t>
            </a:r>
          </a:p>
        </p:txBody>
      </p:sp>
    </p:spTree>
    <p:extLst>
      <p:ext uri="{BB962C8B-B14F-4D97-AF65-F5344CB8AC3E}">
        <p14:creationId xmlns:p14="http://schemas.microsoft.com/office/powerpoint/2010/main" val="3447922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Evaluation (2)	</a:t>
            </a:r>
          </a:p>
        </p:txBody>
      </p:sp>
      <p:sp>
        <p:nvSpPr>
          <p:cNvPr id="3" name="Content Placeholder 2"/>
          <p:cNvSpPr>
            <a:spLocks noGrp="1"/>
          </p:cNvSpPr>
          <p:nvPr>
            <p:ph idx="1"/>
          </p:nvPr>
        </p:nvSpPr>
        <p:spPr>
          <a:xfrm>
            <a:off x="285750" y="1030288"/>
            <a:ext cx="8531225" cy="4870450"/>
          </a:xfrm>
        </p:spPr>
        <p:txBody>
          <a:bodyPr>
            <a:noAutofit/>
          </a:bodyPr>
          <a:lstStyle/>
          <a:p>
            <a:pPr lvl="1" algn="just"/>
            <a:r>
              <a:rPr lang="en-US" dirty="0"/>
              <a:t>analyzing a particular concept; considering alternative and new technological approaches to a problem; </a:t>
            </a:r>
          </a:p>
          <a:p>
            <a:pPr lvl="1" algn="just"/>
            <a:r>
              <a:rPr lang="en-US" dirty="0"/>
              <a:t>appraising development methodologies to a problem; and so on. </a:t>
            </a:r>
          </a:p>
          <a:p>
            <a:pPr algn="just"/>
            <a:r>
              <a:rPr lang="en-US" dirty="0"/>
              <a:t>Projects in this category may well include case studies as a vehicle for evaluating the issue under consideration.</a:t>
            </a:r>
            <a:endParaRPr lang="en-GB" dirty="0"/>
          </a:p>
        </p:txBody>
      </p:sp>
    </p:spTree>
    <p:extLst>
      <p:ext uri="{BB962C8B-B14F-4D97-AF65-F5344CB8AC3E}">
        <p14:creationId xmlns:p14="http://schemas.microsoft.com/office/powerpoint/2010/main" val="3449082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4. Industry-based	</a:t>
            </a:r>
          </a:p>
        </p:txBody>
      </p:sp>
      <p:sp>
        <p:nvSpPr>
          <p:cNvPr id="3" name="Content Placeholder 2"/>
          <p:cNvSpPr>
            <a:spLocks noGrp="1"/>
          </p:cNvSpPr>
          <p:nvPr>
            <p:ph idx="1"/>
          </p:nvPr>
        </p:nvSpPr>
        <p:spPr>
          <a:xfrm>
            <a:off x="285750" y="1030288"/>
            <a:ext cx="8531225" cy="4870450"/>
          </a:xfrm>
        </p:spPr>
        <p:txBody>
          <a:bodyPr>
            <a:noAutofit/>
          </a:bodyPr>
          <a:lstStyle/>
          <a:p>
            <a:pPr algn="just"/>
            <a:r>
              <a:rPr lang="en-US" dirty="0"/>
              <a:t>Involves solving a problem within either an organization or another university department. </a:t>
            </a:r>
          </a:p>
          <a:p>
            <a:pPr algn="just"/>
            <a:r>
              <a:rPr lang="en-US" dirty="0"/>
              <a:t>Industry-based projects might be any of the other kinds of projects identified in this section.</a:t>
            </a:r>
          </a:p>
          <a:p>
            <a:pPr lvl="1" algn="just"/>
            <a:r>
              <a:rPr lang="en-US" dirty="0"/>
              <a:t>The difference in this case is that you undertake the project for an actual client, which carries with it a number of benefits as well as drawbacks. </a:t>
            </a:r>
          </a:p>
          <a:p>
            <a:pPr lvl="1" algn="just"/>
            <a:r>
              <a:rPr lang="en-US" dirty="0"/>
              <a:t>The most important point is that the sponsor does not ‘hijack’ the project – that is, force it into a direction the company wishes it to go, regardless of whether it is suitable for your academic work or your course. </a:t>
            </a:r>
            <a:endParaRPr lang="en-GB" dirty="0"/>
          </a:p>
        </p:txBody>
      </p:sp>
    </p:spTree>
    <p:extLst>
      <p:ext uri="{BB962C8B-B14F-4D97-AF65-F5344CB8AC3E}">
        <p14:creationId xmlns:p14="http://schemas.microsoft.com/office/powerpoint/2010/main" val="992357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5. Problem solving (1)</a:t>
            </a:r>
          </a:p>
        </p:txBody>
      </p:sp>
      <p:sp>
        <p:nvSpPr>
          <p:cNvPr id="3" name="Content Placeholder 2"/>
          <p:cNvSpPr>
            <a:spLocks noGrp="1"/>
          </p:cNvSpPr>
          <p:nvPr>
            <p:ph idx="1"/>
          </p:nvPr>
        </p:nvSpPr>
        <p:spPr>
          <a:xfrm>
            <a:off x="285749" y="1030288"/>
            <a:ext cx="8531225" cy="5713412"/>
          </a:xfrm>
        </p:spPr>
        <p:txBody>
          <a:bodyPr>
            <a:normAutofit/>
          </a:bodyPr>
          <a:lstStyle/>
          <a:p>
            <a:pPr algn="just"/>
            <a:r>
              <a:rPr lang="en-US" dirty="0"/>
              <a:t>Involves developing a new technique to solve a problem, improving the efficiency of existing approaches or an evaluation of different approaches or theories in different situations. </a:t>
            </a:r>
          </a:p>
          <a:p>
            <a:pPr algn="just"/>
            <a:r>
              <a:rPr lang="en-US" dirty="0"/>
              <a:t>It might also involve applying an existing problem-solving technique or theory to a new area. </a:t>
            </a:r>
          </a:p>
        </p:txBody>
      </p:sp>
    </p:spTree>
    <p:extLst>
      <p:ext uri="{BB962C8B-B14F-4D97-AF65-F5344CB8AC3E}">
        <p14:creationId xmlns:p14="http://schemas.microsoft.com/office/powerpoint/2010/main" val="18061899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5. Problem solving (2)</a:t>
            </a:r>
          </a:p>
        </p:txBody>
      </p:sp>
      <p:sp>
        <p:nvSpPr>
          <p:cNvPr id="3" name="Content Placeholder 2"/>
          <p:cNvSpPr>
            <a:spLocks noGrp="1"/>
          </p:cNvSpPr>
          <p:nvPr>
            <p:ph idx="1"/>
          </p:nvPr>
        </p:nvSpPr>
        <p:spPr>
          <a:xfrm>
            <a:off x="285749" y="1030288"/>
            <a:ext cx="8531225" cy="5713412"/>
          </a:xfrm>
        </p:spPr>
        <p:txBody>
          <a:bodyPr>
            <a:normAutofit/>
          </a:bodyPr>
          <a:lstStyle/>
          <a:p>
            <a:pPr algn="just"/>
            <a:r>
              <a:rPr lang="en-US" dirty="0"/>
              <a:t>In these cases, some form of evaluation would be expected: for example, </a:t>
            </a:r>
          </a:p>
          <a:p>
            <a:pPr lvl="1" algn="just"/>
            <a:r>
              <a:rPr lang="en-US" dirty="0"/>
              <a:t>Did your new approach work well or did you discover reasons why it was unsuitable for problems of this nature? </a:t>
            </a:r>
          </a:p>
          <a:p>
            <a:pPr lvl="1" algn="just"/>
            <a:r>
              <a:rPr lang="en-US" dirty="0"/>
              <a:t>Why does one approach or theory work better in some situations than in others?</a:t>
            </a:r>
            <a:endParaRPr lang="en-GB" dirty="0"/>
          </a:p>
        </p:txBody>
      </p:sp>
    </p:spTree>
    <p:extLst>
      <p:ext uri="{BB962C8B-B14F-4D97-AF65-F5344CB8AC3E}">
        <p14:creationId xmlns:p14="http://schemas.microsoft.com/office/powerpoint/2010/main" val="1577380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Degree Structures</a:t>
            </a:r>
          </a:p>
        </p:txBody>
      </p:sp>
      <p:sp>
        <p:nvSpPr>
          <p:cNvPr id="3" name="Content Placeholder 2"/>
          <p:cNvSpPr>
            <a:spLocks noGrp="1"/>
          </p:cNvSpPr>
          <p:nvPr>
            <p:ph idx="1"/>
          </p:nvPr>
        </p:nvSpPr>
        <p:spPr/>
        <p:txBody>
          <a:bodyPr/>
          <a:lstStyle/>
          <a:p>
            <a:endParaRPr lang="en-GB" dirty="0"/>
          </a:p>
          <a:p>
            <a:endParaRPr lang="en-GB" dirty="0"/>
          </a:p>
          <a:p>
            <a:endParaRPr lang="en-GB" dirty="0"/>
          </a:p>
          <a:p>
            <a:endParaRPr lang="en-GB" dirty="0"/>
          </a:p>
          <a:p>
            <a:endParaRPr lang="en-GB" dirty="0"/>
          </a:p>
          <a:p>
            <a:endParaRPr lang="en-GB" dirty="0"/>
          </a:p>
        </p:txBody>
      </p:sp>
      <p:pic>
        <p:nvPicPr>
          <p:cNvPr id="5" name="Picture 4"/>
          <p:cNvPicPr>
            <a:picLocks noChangeAspect="1"/>
          </p:cNvPicPr>
          <p:nvPr/>
        </p:nvPicPr>
        <p:blipFill>
          <a:blip r:embed="rId2"/>
          <a:stretch>
            <a:fillRect/>
          </a:stretch>
        </p:blipFill>
        <p:spPr>
          <a:xfrm>
            <a:off x="448595" y="1986752"/>
            <a:ext cx="8205533" cy="2043078"/>
          </a:xfrm>
          <a:prstGeom prst="rect">
            <a:avLst/>
          </a:prstGeom>
        </p:spPr>
      </p:pic>
    </p:spTree>
    <p:extLst>
      <p:ext uri="{BB962C8B-B14F-4D97-AF65-F5344CB8AC3E}">
        <p14:creationId xmlns:p14="http://schemas.microsoft.com/office/powerpoint/2010/main" val="3973438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68288"/>
            <a:ext cx="8858250" cy="762000"/>
          </a:xfrm>
        </p:spPr>
        <p:txBody>
          <a:bodyPr/>
          <a:lstStyle/>
          <a:p>
            <a:r>
              <a:rPr lang="en-GB" dirty="0"/>
              <a:t>Degree requirements for projects (1)</a:t>
            </a:r>
          </a:p>
        </p:txBody>
      </p:sp>
      <p:sp>
        <p:nvSpPr>
          <p:cNvPr id="3" name="Content Placeholder 2"/>
          <p:cNvSpPr>
            <a:spLocks noGrp="1"/>
          </p:cNvSpPr>
          <p:nvPr>
            <p:ph idx="1"/>
          </p:nvPr>
        </p:nvSpPr>
        <p:spPr>
          <a:xfrm>
            <a:off x="285749" y="1030287"/>
            <a:ext cx="8531225" cy="6370637"/>
          </a:xfrm>
        </p:spPr>
        <p:txBody>
          <a:bodyPr>
            <a:noAutofit/>
          </a:bodyPr>
          <a:lstStyle/>
          <a:p>
            <a:pPr algn="just"/>
            <a:r>
              <a:rPr lang="en-US" dirty="0"/>
              <a:t>A project undertaken as part of a taught course (bachelor’s or master’s degree) does not need to make great breakthroughs in science. </a:t>
            </a:r>
          </a:p>
          <a:p>
            <a:pPr algn="just"/>
            <a:r>
              <a:rPr lang="en-US" dirty="0"/>
              <a:t>It might involve the development of some software, it could be an extended case study, or it might be research-based.</a:t>
            </a:r>
          </a:p>
          <a:p>
            <a:pPr algn="just"/>
            <a:r>
              <a:rPr lang="en-US" dirty="0"/>
              <a:t>However, generally speaking, you would not be expected to produce work at a level that could be published in an academic journal or presented at an international conference.</a:t>
            </a:r>
          </a:p>
        </p:txBody>
      </p:sp>
    </p:spTree>
    <p:extLst>
      <p:ext uri="{BB962C8B-B14F-4D97-AF65-F5344CB8AC3E}">
        <p14:creationId xmlns:p14="http://schemas.microsoft.com/office/powerpoint/2010/main" val="3750575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68288"/>
            <a:ext cx="8858250" cy="762000"/>
          </a:xfrm>
        </p:spPr>
        <p:txBody>
          <a:bodyPr/>
          <a:lstStyle/>
          <a:p>
            <a:r>
              <a:rPr lang="en-GB" dirty="0"/>
              <a:t>Degree requirements for projects (2)</a:t>
            </a:r>
          </a:p>
        </p:txBody>
      </p:sp>
      <p:sp>
        <p:nvSpPr>
          <p:cNvPr id="3" name="Content Placeholder 2"/>
          <p:cNvSpPr>
            <a:spLocks noGrp="1"/>
          </p:cNvSpPr>
          <p:nvPr>
            <p:ph idx="1"/>
          </p:nvPr>
        </p:nvSpPr>
        <p:spPr>
          <a:xfrm>
            <a:off x="285749" y="1030287"/>
            <a:ext cx="8531225" cy="6370637"/>
          </a:xfrm>
        </p:spPr>
        <p:txBody>
          <a:bodyPr>
            <a:normAutofit/>
          </a:bodyPr>
          <a:lstStyle/>
          <a:p>
            <a:pPr algn="just"/>
            <a:r>
              <a:rPr lang="en-US" dirty="0"/>
              <a:t>This is not the case for research degrees, however. </a:t>
            </a:r>
          </a:p>
          <a:p>
            <a:pPr lvl="1" algn="just"/>
            <a:r>
              <a:rPr lang="en-US" dirty="0"/>
              <a:t>An MPhil should produce work that could be published </a:t>
            </a:r>
          </a:p>
          <a:p>
            <a:pPr lvl="1" algn="just"/>
            <a:r>
              <a:rPr lang="en-US" dirty="0"/>
              <a:t>whereas students pursuing a PhD will probably be expected to have published some of their work before completing the final thesis.</a:t>
            </a:r>
          </a:p>
          <a:p>
            <a:pPr lvl="1" algn="just"/>
            <a:r>
              <a:rPr lang="en-US" dirty="0"/>
              <a:t>The contribution of knowledge of a Master’s thesis can be in the nature of an incremental improvement in an area of knowledge, or the application of known techniques in a new area. </a:t>
            </a:r>
          </a:p>
          <a:p>
            <a:pPr lvl="1" algn="just"/>
            <a:r>
              <a:rPr lang="en-US" dirty="0"/>
              <a:t>The PhD must be a substantial and innovative contribution to knowledge </a:t>
            </a:r>
            <a:endParaRPr lang="en-GB" dirty="0"/>
          </a:p>
        </p:txBody>
      </p:sp>
    </p:spTree>
    <p:extLst>
      <p:ext uri="{BB962C8B-B14F-4D97-AF65-F5344CB8AC3E}">
        <p14:creationId xmlns:p14="http://schemas.microsoft.com/office/powerpoint/2010/main" val="1998124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Stakeholders (1)</a:t>
            </a:r>
          </a:p>
        </p:txBody>
      </p:sp>
      <p:sp>
        <p:nvSpPr>
          <p:cNvPr id="3" name="Content Placeholder 2"/>
          <p:cNvSpPr>
            <a:spLocks noGrp="1"/>
          </p:cNvSpPr>
          <p:nvPr>
            <p:ph idx="1"/>
          </p:nvPr>
        </p:nvSpPr>
        <p:spPr>
          <a:xfrm>
            <a:off x="285750" y="1030288"/>
            <a:ext cx="8531225" cy="4870450"/>
          </a:xfrm>
        </p:spPr>
        <p:txBody>
          <a:bodyPr>
            <a:normAutofit/>
          </a:bodyPr>
          <a:lstStyle/>
          <a:p>
            <a:pPr algn="just"/>
            <a:r>
              <a:rPr lang="en-US" dirty="0"/>
              <a:t>Stakeholders are any individuals who are involved with your project. The most important person in your project is you.</a:t>
            </a:r>
          </a:p>
          <a:p>
            <a:pPr algn="just"/>
            <a:r>
              <a:rPr lang="en-US" dirty="0"/>
              <a:t>You are responsible for the overall completion of your project, meeting milestones, achieving objectives, satisfying users, satisfying the examiners, and so forth. </a:t>
            </a:r>
          </a:p>
          <a:p>
            <a:pPr algn="just"/>
            <a:r>
              <a:rPr lang="en-US" dirty="0"/>
              <a:t>Your project has many other stakeholders, and they all have significant roles to play. </a:t>
            </a:r>
          </a:p>
        </p:txBody>
      </p:sp>
    </p:spTree>
    <p:extLst>
      <p:ext uri="{BB962C8B-B14F-4D97-AF65-F5344CB8AC3E}">
        <p14:creationId xmlns:p14="http://schemas.microsoft.com/office/powerpoint/2010/main" val="2351242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Stakeholders (2)</a:t>
            </a:r>
          </a:p>
        </p:txBody>
      </p:sp>
      <p:sp>
        <p:nvSpPr>
          <p:cNvPr id="3" name="Content Placeholder 2"/>
          <p:cNvSpPr>
            <a:spLocks noGrp="1"/>
          </p:cNvSpPr>
          <p:nvPr>
            <p:ph idx="1"/>
          </p:nvPr>
        </p:nvSpPr>
        <p:spPr>
          <a:xfrm>
            <a:off x="285750" y="1030288"/>
            <a:ext cx="8531225" cy="4870450"/>
          </a:xfrm>
        </p:spPr>
        <p:txBody>
          <a:bodyPr>
            <a:normAutofit/>
          </a:bodyPr>
          <a:lstStyle/>
          <a:p>
            <a:r>
              <a:rPr lang="en-US" dirty="0"/>
              <a:t>They include your </a:t>
            </a:r>
          </a:p>
          <a:p>
            <a:pPr lvl="1"/>
            <a:r>
              <a:rPr lang="en-US" dirty="0"/>
              <a:t>supervisor(s), </a:t>
            </a:r>
          </a:p>
          <a:p>
            <a:pPr lvl="1"/>
            <a:r>
              <a:rPr lang="en-US" dirty="0"/>
              <a:t>your user(s), your client(s), </a:t>
            </a:r>
          </a:p>
          <a:p>
            <a:pPr lvl="1"/>
            <a:r>
              <a:rPr lang="en-US" dirty="0"/>
              <a:t>your examiner(s) and </a:t>
            </a:r>
          </a:p>
          <a:p>
            <a:pPr lvl="1"/>
            <a:r>
              <a:rPr lang="en-US" dirty="0"/>
              <a:t>any software testers/evaluators you might employ as part of your system evaluation (if you have one in your project).</a:t>
            </a:r>
            <a:endParaRPr lang="en-GB" dirty="0"/>
          </a:p>
        </p:txBody>
      </p:sp>
    </p:spTree>
    <p:extLst>
      <p:ext uri="{BB962C8B-B14F-4D97-AF65-F5344CB8AC3E}">
        <p14:creationId xmlns:p14="http://schemas.microsoft.com/office/powerpoint/2010/main" val="1723804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Your Supervisor (1)</a:t>
            </a:r>
          </a:p>
        </p:txBody>
      </p:sp>
      <p:sp>
        <p:nvSpPr>
          <p:cNvPr id="3" name="Content Placeholder 2"/>
          <p:cNvSpPr>
            <a:spLocks noGrp="1"/>
          </p:cNvSpPr>
          <p:nvPr>
            <p:ph idx="1"/>
          </p:nvPr>
        </p:nvSpPr>
        <p:spPr>
          <a:xfrm>
            <a:off x="285749" y="1030288"/>
            <a:ext cx="8531225" cy="5213350"/>
          </a:xfrm>
        </p:spPr>
        <p:txBody>
          <a:bodyPr>
            <a:normAutofit lnSpcReduction="10000"/>
          </a:bodyPr>
          <a:lstStyle/>
          <a:p>
            <a:pPr algn="just"/>
            <a:r>
              <a:rPr lang="en-US" dirty="0"/>
              <a:t>Imagine your project as a large boulder. At the start of your project, this boulder is quite difficult to push (stationary objects like to remain stationary). </a:t>
            </a:r>
          </a:p>
          <a:p>
            <a:pPr algn="just"/>
            <a:r>
              <a:rPr lang="en-US" dirty="0"/>
              <a:t>Getting a project started is always difficult. However, once the project is underway (the boulder is rolling), it becomes much easier to push and gathers momentum as the project unfolds. </a:t>
            </a:r>
          </a:p>
          <a:p>
            <a:pPr algn="just"/>
            <a:r>
              <a:rPr lang="en-US" dirty="0"/>
              <a:t>Now, picture your supervisor alongside you. It is that person’s role to encourage you as you push this boulder (your project) along. </a:t>
            </a:r>
          </a:p>
        </p:txBody>
      </p:sp>
    </p:spTree>
    <p:extLst>
      <p:ext uri="{BB962C8B-B14F-4D97-AF65-F5344CB8AC3E}">
        <p14:creationId xmlns:p14="http://schemas.microsoft.com/office/powerpoint/2010/main" val="3464962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Your Supervisor (2)</a:t>
            </a:r>
          </a:p>
        </p:txBody>
      </p:sp>
      <p:sp>
        <p:nvSpPr>
          <p:cNvPr id="3" name="Content Placeholder 2"/>
          <p:cNvSpPr>
            <a:spLocks noGrp="1"/>
          </p:cNvSpPr>
          <p:nvPr>
            <p:ph idx="1"/>
          </p:nvPr>
        </p:nvSpPr>
        <p:spPr>
          <a:xfrm>
            <a:off x="285749" y="1030287"/>
            <a:ext cx="8531225" cy="5170487"/>
          </a:xfrm>
        </p:spPr>
        <p:txBody>
          <a:bodyPr>
            <a:normAutofit/>
          </a:bodyPr>
          <a:lstStyle/>
          <a:p>
            <a:pPr algn="just"/>
            <a:r>
              <a:rPr lang="en-US" dirty="0"/>
              <a:t>Your supervisor:</a:t>
            </a:r>
          </a:p>
          <a:p>
            <a:pPr lvl="1" algn="just"/>
            <a:r>
              <a:rPr lang="en-US" dirty="0"/>
              <a:t>Will encourage you at the start as you try to get the boulder moving. </a:t>
            </a:r>
          </a:p>
          <a:p>
            <a:pPr lvl="1" algn="just"/>
            <a:r>
              <a:rPr lang="en-US" dirty="0"/>
              <a:t>Are also there to ensure you are pushing in the right direction. </a:t>
            </a:r>
          </a:p>
          <a:p>
            <a:pPr lvl="1" algn="just"/>
            <a:r>
              <a:rPr lang="en-US" dirty="0"/>
              <a:t>Will have an eye on the route you are taking and provide the occasional prod to keep you (and the boulder) on course. </a:t>
            </a:r>
          </a:p>
          <a:p>
            <a:pPr lvl="1" algn="just"/>
            <a:r>
              <a:rPr lang="en-US" dirty="0"/>
              <a:t>Is also there to provide encouragement. If you feel yourself flagging at any stage, your supervisor should be there to support you and give you the help you need.</a:t>
            </a:r>
            <a:endParaRPr lang="en-GB" dirty="0"/>
          </a:p>
        </p:txBody>
      </p:sp>
    </p:spTree>
    <p:extLst>
      <p:ext uri="{BB962C8B-B14F-4D97-AF65-F5344CB8AC3E}">
        <p14:creationId xmlns:p14="http://schemas.microsoft.com/office/powerpoint/2010/main" val="2414510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Client(s) and user(s) (1)</a:t>
            </a:r>
          </a:p>
        </p:txBody>
      </p:sp>
      <p:sp>
        <p:nvSpPr>
          <p:cNvPr id="3" name="Content Placeholder 2"/>
          <p:cNvSpPr>
            <a:spLocks noGrp="1"/>
          </p:cNvSpPr>
          <p:nvPr>
            <p:ph idx="1"/>
          </p:nvPr>
        </p:nvSpPr>
        <p:spPr>
          <a:xfrm>
            <a:off x="285750" y="1030288"/>
            <a:ext cx="8531225" cy="4870450"/>
          </a:xfrm>
        </p:spPr>
        <p:txBody>
          <a:bodyPr>
            <a:normAutofit lnSpcReduction="10000"/>
          </a:bodyPr>
          <a:lstStyle/>
          <a:p>
            <a:pPr algn="just"/>
            <a:r>
              <a:rPr lang="en-US" dirty="0"/>
              <a:t>If your project involves the development of a software system or involves action research or case studies, you will probably be working with a client and/or a user. </a:t>
            </a:r>
          </a:p>
          <a:p>
            <a:pPr algn="just"/>
            <a:r>
              <a:rPr lang="en-US" dirty="0"/>
              <a:t>It is important to realize the distinction between these two stakeholders. </a:t>
            </a:r>
          </a:p>
          <a:p>
            <a:pPr lvl="1" algn="just"/>
            <a:r>
              <a:rPr lang="en-US" dirty="0"/>
              <a:t>A client is usually the project’s sponsor – the one who has requested the system be developed or study undertaken. </a:t>
            </a:r>
          </a:p>
          <a:p>
            <a:pPr lvl="1" algn="just"/>
            <a:r>
              <a:rPr lang="en-US" dirty="0"/>
              <a:t>The user, on the other hand, will be the one who eventually uses the system or the results of the project. </a:t>
            </a:r>
          </a:p>
          <a:p>
            <a:pPr algn="just"/>
            <a:endParaRPr lang="en-GB" dirty="0"/>
          </a:p>
        </p:txBody>
      </p:sp>
    </p:spTree>
    <p:extLst>
      <p:ext uri="{BB962C8B-B14F-4D97-AF65-F5344CB8AC3E}">
        <p14:creationId xmlns:p14="http://schemas.microsoft.com/office/powerpoint/2010/main" val="2457103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Client(s) and user(s) (2)</a:t>
            </a:r>
          </a:p>
        </p:txBody>
      </p:sp>
      <p:sp>
        <p:nvSpPr>
          <p:cNvPr id="3" name="Content Placeholder 2"/>
          <p:cNvSpPr>
            <a:spLocks noGrp="1"/>
          </p:cNvSpPr>
          <p:nvPr>
            <p:ph idx="1"/>
          </p:nvPr>
        </p:nvSpPr>
        <p:spPr>
          <a:xfrm>
            <a:off x="285750" y="1030288"/>
            <a:ext cx="8531225" cy="4870450"/>
          </a:xfrm>
        </p:spPr>
        <p:txBody>
          <a:bodyPr>
            <a:normAutofit/>
          </a:bodyPr>
          <a:lstStyle/>
          <a:p>
            <a:pPr lvl="1" algn="just"/>
            <a:r>
              <a:rPr lang="en-US" dirty="0"/>
              <a:t>Sometimes the client and the user are one and the same but often, if you are developing a system for a company, for example, they are not. </a:t>
            </a:r>
          </a:p>
          <a:p>
            <a:pPr lvl="1" algn="just"/>
            <a:r>
              <a:rPr lang="en-US" dirty="0"/>
              <a:t>For instance, you might be asked to develop a web site for a company to sell its products. </a:t>
            </a:r>
          </a:p>
          <a:p>
            <a:pPr lvl="1" algn="just"/>
            <a:r>
              <a:rPr lang="en-US" dirty="0"/>
              <a:t>The client is your contact within the company, but your user(s) is anyone who will access that site.</a:t>
            </a:r>
          </a:p>
          <a:p>
            <a:pPr algn="just"/>
            <a:endParaRPr lang="en-GB" dirty="0"/>
          </a:p>
        </p:txBody>
      </p:sp>
    </p:spTree>
    <p:extLst>
      <p:ext uri="{BB962C8B-B14F-4D97-AF65-F5344CB8AC3E}">
        <p14:creationId xmlns:p14="http://schemas.microsoft.com/office/powerpoint/2010/main" val="1406102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Examiners	</a:t>
            </a:r>
          </a:p>
        </p:txBody>
      </p:sp>
      <p:sp>
        <p:nvSpPr>
          <p:cNvPr id="3" name="Content Placeholder 2"/>
          <p:cNvSpPr>
            <a:spLocks noGrp="1"/>
          </p:cNvSpPr>
          <p:nvPr>
            <p:ph idx="1"/>
          </p:nvPr>
        </p:nvSpPr>
        <p:spPr>
          <a:xfrm>
            <a:off x="285750" y="1030288"/>
            <a:ext cx="8531225" cy="4870450"/>
          </a:xfrm>
        </p:spPr>
        <p:txBody>
          <a:bodyPr>
            <a:noAutofit/>
          </a:bodyPr>
          <a:lstStyle/>
          <a:p>
            <a:pPr algn="just"/>
            <a:r>
              <a:rPr lang="en-US" dirty="0"/>
              <a:t>At the undergraduate level, for example, your supervisor may be the only person to mark your project. </a:t>
            </a:r>
          </a:p>
          <a:p>
            <a:pPr algn="just"/>
            <a:r>
              <a:rPr lang="en-US" dirty="0"/>
              <a:t>However, it is more likely that another academic in your department (or perhaps another department within your university) will be involved. </a:t>
            </a:r>
          </a:p>
          <a:p>
            <a:pPr algn="just"/>
            <a:r>
              <a:rPr lang="en-US" dirty="0"/>
              <a:t>Moving to postgraduate projects, external examiners (those from other departments and usually other universities) will be involved.</a:t>
            </a:r>
          </a:p>
        </p:txBody>
      </p:sp>
    </p:spTree>
    <p:extLst>
      <p:ext uri="{BB962C8B-B14F-4D97-AF65-F5344CB8AC3E}">
        <p14:creationId xmlns:p14="http://schemas.microsoft.com/office/powerpoint/2010/main" val="2386601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Evaluators and testers</a:t>
            </a:r>
          </a:p>
        </p:txBody>
      </p:sp>
      <p:sp>
        <p:nvSpPr>
          <p:cNvPr id="3" name="Content Placeholder 2"/>
          <p:cNvSpPr>
            <a:spLocks noGrp="1"/>
          </p:cNvSpPr>
          <p:nvPr>
            <p:ph idx="1"/>
          </p:nvPr>
        </p:nvSpPr>
        <p:spPr>
          <a:xfrm>
            <a:off x="285749" y="1030287"/>
            <a:ext cx="8531225" cy="5513387"/>
          </a:xfrm>
        </p:spPr>
        <p:txBody>
          <a:bodyPr>
            <a:normAutofit lnSpcReduction="10000"/>
          </a:bodyPr>
          <a:lstStyle/>
          <a:p>
            <a:pPr algn="just"/>
            <a:r>
              <a:rPr lang="en-US" dirty="0"/>
              <a:t>If you are developing a software system as part of your project, you will need to test and evaluate this system at some point. </a:t>
            </a:r>
          </a:p>
          <a:p>
            <a:pPr algn="just"/>
            <a:r>
              <a:rPr lang="en-US" dirty="0"/>
              <a:t>It would be wrong to complete all the testing and especially evaluation on your own, and so others will be involved. </a:t>
            </a:r>
          </a:p>
          <a:p>
            <a:pPr algn="just"/>
            <a:r>
              <a:rPr lang="en-US" dirty="0"/>
              <a:t>These people can range from:</a:t>
            </a:r>
          </a:p>
          <a:p>
            <a:pPr lvl="1" algn="just"/>
            <a:r>
              <a:rPr lang="en-US" dirty="0"/>
              <a:t>your client, who has requested the software, </a:t>
            </a:r>
          </a:p>
          <a:p>
            <a:pPr lvl="1" algn="just"/>
            <a:r>
              <a:rPr lang="en-US" dirty="0"/>
              <a:t>the user(s) who will actually use the software, </a:t>
            </a:r>
          </a:p>
          <a:p>
            <a:pPr lvl="1" algn="just"/>
            <a:r>
              <a:rPr lang="en-US" dirty="0"/>
              <a:t>to people (either expert or not – for example, colleagues from your course) who are not involved with the project but can nevertheless provide useful feedback.</a:t>
            </a:r>
            <a:endParaRPr lang="en-GB" dirty="0"/>
          </a:p>
        </p:txBody>
      </p:sp>
    </p:spTree>
    <p:extLst>
      <p:ext uri="{BB962C8B-B14F-4D97-AF65-F5344CB8AC3E}">
        <p14:creationId xmlns:p14="http://schemas.microsoft.com/office/powerpoint/2010/main" val="9596343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067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285728"/>
            <a:ext cx="8858250" cy="762000"/>
          </a:xfrm>
        </p:spPr>
        <p:txBody>
          <a:bodyPr/>
          <a:lstStyle/>
          <a:p>
            <a:r>
              <a:rPr lang="en-US" dirty="0"/>
              <a:t>Summary: Week 1 Lecture</a:t>
            </a:r>
          </a:p>
        </p:txBody>
      </p:sp>
      <p:sp>
        <p:nvSpPr>
          <p:cNvPr id="6" name="Content Placeholder 5"/>
          <p:cNvSpPr>
            <a:spLocks noGrp="1"/>
          </p:cNvSpPr>
          <p:nvPr>
            <p:ph idx="1"/>
          </p:nvPr>
        </p:nvSpPr>
        <p:spPr>
          <a:xfrm>
            <a:off x="285750" y="1047728"/>
            <a:ext cx="8531225" cy="5357834"/>
          </a:xfrm>
        </p:spPr>
        <p:txBody>
          <a:bodyPr/>
          <a:lstStyle/>
          <a:p>
            <a:r>
              <a:rPr lang="en-GB" dirty="0"/>
              <a:t>Project can be defined as something which has a beginning and an end</a:t>
            </a:r>
          </a:p>
          <a:p>
            <a:r>
              <a:rPr lang="en-GB" dirty="0"/>
              <a:t>Projects can be of the following nature:</a:t>
            </a:r>
          </a:p>
          <a:p>
            <a:pPr lvl="1"/>
            <a:r>
              <a:rPr lang="en-GB" dirty="0"/>
              <a:t>Research-based, Development, Evaluation, Industry-based, Problem Solving</a:t>
            </a:r>
          </a:p>
          <a:p>
            <a:r>
              <a:rPr lang="en-GB" dirty="0"/>
              <a:t>There are various stakeholders in your project:</a:t>
            </a:r>
          </a:p>
          <a:p>
            <a:pPr lvl="1"/>
            <a:r>
              <a:rPr lang="en-US" dirty="0"/>
              <a:t>supervisor(s), your user(s), your client(s), your examiner(s) and any software testers/evaluators you might employ as part of your system evaluation</a:t>
            </a:r>
          </a:p>
        </p:txBody>
      </p:sp>
    </p:spTree>
    <p:extLst>
      <p:ext uri="{BB962C8B-B14F-4D97-AF65-F5344CB8AC3E}">
        <p14:creationId xmlns:p14="http://schemas.microsoft.com/office/powerpoint/2010/main" val="3083762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1 Activities</a:t>
            </a:r>
          </a:p>
        </p:txBody>
      </p:sp>
      <p:sp>
        <p:nvSpPr>
          <p:cNvPr id="3" name="Content Placeholder 2"/>
          <p:cNvSpPr>
            <a:spLocks noGrp="1"/>
          </p:cNvSpPr>
          <p:nvPr>
            <p:ph idx="1"/>
          </p:nvPr>
        </p:nvSpPr>
        <p:spPr>
          <a:xfrm>
            <a:off x="285750" y="1030288"/>
            <a:ext cx="8531225" cy="4870450"/>
          </a:xfrm>
        </p:spPr>
        <p:txBody>
          <a:bodyPr/>
          <a:lstStyle/>
          <a:p>
            <a:pPr marL="228600" lvl="1">
              <a:buFont typeface="Arial" panose="020B0604020202020204" pitchFamily="34" charset="0"/>
              <a:buChar char="•"/>
            </a:pPr>
            <a:r>
              <a:rPr lang="en-US" sz="3200"/>
              <a:t>Task</a:t>
            </a:r>
            <a:r>
              <a:rPr lang="en-US" sz="3200" dirty="0"/>
              <a:t>: Searching for examples of project types</a:t>
            </a:r>
          </a:p>
        </p:txBody>
      </p:sp>
    </p:spTree>
    <p:extLst>
      <p:ext uri="{BB962C8B-B14F-4D97-AF65-F5344CB8AC3E}">
        <p14:creationId xmlns:p14="http://schemas.microsoft.com/office/powerpoint/2010/main" val="2642036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2387600" y="1527175"/>
            <a:ext cx="4327525" cy="3973513"/>
          </a:xfrm>
          <a:prstGeom prst="rect">
            <a:avLst/>
          </a:prstGeom>
          <a:noFill/>
          <a:ln w="9525">
            <a:noFill/>
            <a:miter lim="800000"/>
            <a:headEnd/>
            <a:tailEnd/>
          </a:ln>
        </p:spPr>
      </p:pic>
    </p:spTree>
    <p:extLst>
      <p:ext uri="{BB962C8B-B14F-4D97-AF65-F5344CB8AC3E}">
        <p14:creationId xmlns:p14="http://schemas.microsoft.com/office/powerpoint/2010/main" val="2340792983"/>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987</TotalTime>
  <Words>2345</Words>
  <Application>Microsoft Office PowerPoint</Application>
  <PresentationFormat>On-screen Show (4:3)</PresentationFormat>
  <Paragraphs>199</Paragraphs>
  <Slides>38</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38</vt:i4>
      </vt:variant>
    </vt:vector>
  </HeadingPairs>
  <TitlesOfParts>
    <vt:vector size="44" baseType="lpstr">
      <vt:lpstr>Arial</vt:lpstr>
      <vt:lpstr>Calibri</vt:lpstr>
      <vt:lpstr>Times New Roman</vt:lpstr>
      <vt:lpstr>Wingdings</vt:lpstr>
      <vt:lpstr>1_Office Theme</vt:lpstr>
      <vt:lpstr>Office Theme</vt:lpstr>
      <vt:lpstr>Understanding Final Year Projects</vt:lpstr>
      <vt:lpstr>Agenda </vt:lpstr>
      <vt:lpstr>Module Leader</vt:lpstr>
      <vt:lpstr>Overview of Module</vt:lpstr>
      <vt:lpstr>Learning Objectives (1)</vt:lpstr>
      <vt:lpstr>Learning Objectives (2)</vt:lpstr>
      <vt:lpstr>Learning Strategy</vt:lpstr>
      <vt:lpstr>Assessment Details</vt:lpstr>
      <vt:lpstr>Assessment Details</vt:lpstr>
      <vt:lpstr>Any Questions?</vt:lpstr>
      <vt:lpstr>Let’s get started with Lecture 1</vt:lpstr>
      <vt:lpstr>What are computing projects? (1)</vt:lpstr>
      <vt:lpstr>What are computing projects? (2)</vt:lpstr>
      <vt:lpstr>Types of project in Computing</vt:lpstr>
      <vt:lpstr>1. Research-based</vt:lpstr>
      <vt:lpstr>2. Development (1)</vt:lpstr>
      <vt:lpstr>2. Development (2)</vt:lpstr>
      <vt:lpstr>2. Development (3)</vt:lpstr>
      <vt:lpstr>3. Evaluation (1) </vt:lpstr>
      <vt:lpstr>3. Evaluation (2) </vt:lpstr>
      <vt:lpstr>4. Industry-based </vt:lpstr>
      <vt:lpstr>5. Problem solving (1)</vt:lpstr>
      <vt:lpstr>5. Problem solving (2)</vt:lpstr>
      <vt:lpstr>Degree Structures</vt:lpstr>
      <vt:lpstr>Degree requirements for projects (1)</vt:lpstr>
      <vt:lpstr>Degree requirements for projects (2)</vt:lpstr>
      <vt:lpstr>Stakeholders (1)</vt:lpstr>
      <vt:lpstr>Stakeholders (2)</vt:lpstr>
      <vt:lpstr>Your Supervisor (1)</vt:lpstr>
      <vt:lpstr>Your Supervisor (2)</vt:lpstr>
      <vt:lpstr>Client(s) and user(s) (1)</vt:lpstr>
      <vt:lpstr>Client(s) and user(s) (2)</vt:lpstr>
      <vt:lpstr>Examiners </vt:lpstr>
      <vt:lpstr>Evaluators and testers</vt:lpstr>
      <vt:lpstr>Any Questions?</vt:lpstr>
      <vt:lpstr>Summary: Week 1 Lecture</vt:lpstr>
      <vt:lpstr>What to Expect: Week 1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dc:title>
  <dc:creator/>
  <cp:lastModifiedBy>Biraj Dulal</cp:lastModifiedBy>
  <cp:revision>59</cp:revision>
  <dcterms:created xsi:type="dcterms:W3CDTF">2016-02-27T15:15:41Z</dcterms:created>
  <dcterms:modified xsi:type="dcterms:W3CDTF">2020-03-04T03:45:57Z</dcterms:modified>
</cp:coreProperties>
</file>