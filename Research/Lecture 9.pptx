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8" r:id="rId3"/>
  </p:sldMasterIdLst>
  <p:notesMasterIdLst>
    <p:notesMasterId r:id="rId31"/>
  </p:notesMasterIdLst>
  <p:sldIdLst>
    <p:sldId id="276" r:id="rId4"/>
    <p:sldId id="277" r:id="rId5"/>
    <p:sldId id="278" r:id="rId6"/>
    <p:sldId id="279" r:id="rId7"/>
    <p:sldId id="280" r:id="rId8"/>
    <p:sldId id="285" r:id="rId9"/>
    <p:sldId id="259" r:id="rId10"/>
    <p:sldId id="286" r:id="rId11"/>
    <p:sldId id="261" r:id="rId12"/>
    <p:sldId id="263" r:id="rId13"/>
    <p:sldId id="264" r:id="rId14"/>
    <p:sldId id="265" r:id="rId15"/>
    <p:sldId id="266" r:id="rId16"/>
    <p:sldId id="267" r:id="rId17"/>
    <p:sldId id="290" r:id="rId18"/>
    <p:sldId id="268" r:id="rId19"/>
    <p:sldId id="289" r:id="rId20"/>
    <p:sldId id="262" r:id="rId21"/>
    <p:sldId id="287" r:id="rId22"/>
    <p:sldId id="288" r:id="rId23"/>
    <p:sldId id="271" r:id="rId24"/>
    <p:sldId id="274" r:id="rId25"/>
    <p:sldId id="275"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60"/>
  </p:normalViewPr>
  <p:slideViewPr>
    <p:cSldViewPr snapToGrid="0">
      <p:cViewPr varScale="1">
        <p:scale>
          <a:sx n="67" d="100"/>
          <a:sy n="67" d="100"/>
        </p:scale>
        <p:origin x="76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6B55DC-2A8C-4EED-8296-6312F4DD2C26}" type="datetimeFigureOut">
              <a:rPr lang="en-US" smtClean="0"/>
              <a:t>10/26/2017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79A68B-9BB5-45B3-BCF2-4E2C9199C184}" type="slidenum">
              <a:rPr lang="en-US" smtClean="0"/>
              <a:t>‹#›</a:t>
            </a:fld>
            <a:endParaRPr lang="en-US"/>
          </a:p>
        </p:txBody>
      </p:sp>
    </p:spTree>
    <p:extLst>
      <p:ext uri="{BB962C8B-B14F-4D97-AF65-F5344CB8AC3E}">
        <p14:creationId xmlns:p14="http://schemas.microsoft.com/office/powerpoint/2010/main" val="2402796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986250" y="-11796713"/>
            <a:ext cx="22134513"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248268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986250" y="-11796713"/>
            <a:ext cx="22134513"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20937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914400" y="2130426"/>
            <a:ext cx="10363200" cy="1470025"/>
          </a:xfrm>
          <a:prstGeom prst="rect">
            <a:avLst/>
          </a:prstGeom>
        </p:spPr>
        <p:txBody>
          <a:bodyPr/>
          <a:lstStyle/>
          <a:p>
            <a:r>
              <a:rPr lang="en-US" smtClean="0"/>
              <a:t>Click to edit Master title style</a:t>
            </a:r>
            <a:endParaRPr lang="en-SG"/>
          </a:p>
        </p:txBody>
      </p:sp>
      <p:sp>
        <p:nvSpPr>
          <p:cNvPr id="8"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SG"/>
          </a:p>
        </p:txBody>
      </p:sp>
      <p:sp>
        <p:nvSpPr>
          <p:cNvPr id="9" name="Rectangle 3"/>
          <p:cNvSpPr>
            <a:spLocks noGrp="1" noChangeArrowheads="1"/>
          </p:cNvSpPr>
          <p:nvPr>
            <p:ph type="dt" idx="10"/>
          </p:nvPr>
        </p:nvSpPr>
        <p:spPr>
          <a:xfrm>
            <a:off x="609601" y="6353176"/>
            <a:ext cx="2789767"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424170376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Academy">
    <p:spTree>
      <p:nvGrpSpPr>
        <p:cNvPr id="1" name=""/>
        <p:cNvGrpSpPr/>
        <p:nvPr/>
      </p:nvGrpSpPr>
      <p:grpSpPr>
        <a:xfrm>
          <a:off x="0" y="0"/>
          <a:ext cx="0" cy="0"/>
          <a:chOff x="0" y="0"/>
          <a:chExt cx="0" cy="0"/>
        </a:xfrm>
      </p:grpSpPr>
      <p:sp>
        <p:nvSpPr>
          <p:cNvPr id="7" name="Title 1"/>
          <p:cNvSpPr>
            <a:spLocks noGrp="1"/>
          </p:cNvSpPr>
          <p:nvPr>
            <p:ph type="title"/>
          </p:nvPr>
        </p:nvSpPr>
        <p:spPr>
          <a:xfrm>
            <a:off x="381001" y="268288"/>
            <a:ext cx="11374967" cy="762000"/>
          </a:xfrm>
        </p:spPr>
        <p:txBody>
          <a:bodyPr/>
          <a:lstStyle>
            <a:lvl1pPr>
              <a:defRPr b="1"/>
            </a:lvl1pPr>
          </a:lstStyle>
          <a:p>
            <a:r>
              <a:rPr lang="en-US" dirty="0" smtClean="0"/>
              <a:t>Click to edit Master title style</a:t>
            </a:r>
            <a:endParaRPr lang="en-SG" dirty="0"/>
          </a:p>
        </p:txBody>
      </p:sp>
      <p:sp>
        <p:nvSpPr>
          <p:cNvPr id="8" name="Content Placeholder 2"/>
          <p:cNvSpPr>
            <a:spLocks noGrp="1"/>
          </p:cNvSpPr>
          <p:nvPr>
            <p:ph idx="1"/>
          </p:nvPr>
        </p:nvSpPr>
        <p:spPr>
          <a:xfrm>
            <a:off x="380999" y="1030288"/>
            <a:ext cx="11374967" cy="487045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SG" dirty="0"/>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131511828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SG"/>
          </a:p>
        </p:txBody>
      </p:sp>
      <p:sp>
        <p:nvSpPr>
          <p:cNvPr id="8"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282630435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381001" y="268288"/>
            <a:ext cx="11374967" cy="762000"/>
          </a:xfrm>
        </p:spPr>
        <p:txBody>
          <a:bodyPr/>
          <a:lstStyle/>
          <a:p>
            <a:r>
              <a:rPr lang="en-US" dirty="0" smtClean="0"/>
              <a:t>Click to edit Master title style</a:t>
            </a:r>
            <a:endParaRPr lang="en-SG" dirty="0"/>
          </a:p>
        </p:txBody>
      </p:sp>
      <p:sp>
        <p:nvSpPr>
          <p:cNvPr id="9" name="Content Placeholder 2"/>
          <p:cNvSpPr>
            <a:spLocks noGrp="1"/>
          </p:cNvSpPr>
          <p:nvPr>
            <p:ph sz="half" idx="1"/>
          </p:nvPr>
        </p:nvSpPr>
        <p:spPr>
          <a:xfrm>
            <a:off x="381001" y="1214438"/>
            <a:ext cx="5585884"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10" name="Content Placeholder 3"/>
          <p:cNvSpPr>
            <a:spLocks noGrp="1"/>
          </p:cNvSpPr>
          <p:nvPr>
            <p:ph sz="half" idx="2"/>
          </p:nvPr>
        </p:nvSpPr>
        <p:spPr>
          <a:xfrm>
            <a:off x="6170084" y="1214438"/>
            <a:ext cx="558588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11"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12176581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a:prstGeom prst="rect">
            <a:avLst/>
          </a:prstGeo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926280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973186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883468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46230992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44950506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63221765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415421825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5503E7AE-D891-4742-9343-5EF205D83184}"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22052542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787813"/>
          </a:xfrm>
        </p:spPr>
        <p:txBody>
          <a:bodyPr>
            <a:normAutofit/>
          </a:bodyPr>
          <a:lstStyle>
            <a:lvl1pPr>
              <a:defRPr sz="4400"/>
            </a:lvl1pPr>
          </a:lstStyle>
          <a:p>
            <a:r>
              <a:rPr lang="en-US" dirty="0" smtClean="0"/>
              <a:t>Click to edit Master title style</a:t>
            </a:r>
            <a:endParaRPr lang="en-US" dirty="0"/>
          </a:p>
        </p:txBody>
      </p:sp>
      <p:sp>
        <p:nvSpPr>
          <p:cNvPr id="3" name="Content Placeholder 2"/>
          <p:cNvSpPr>
            <a:spLocks noGrp="1"/>
          </p:cNvSpPr>
          <p:nvPr>
            <p:ph idx="1"/>
          </p:nvPr>
        </p:nvSpPr>
        <p:spPr>
          <a:xfrm>
            <a:off x="838200" y="1285461"/>
            <a:ext cx="10515600" cy="4891502"/>
          </a:xfrm>
        </p:spPr>
        <p:txBody>
          <a:bodyPr/>
          <a:lstStyle>
            <a:lvl1pPr>
              <a:defRPr sz="3200"/>
            </a:lvl1pPr>
            <a:lvl2pPr>
              <a:defRPr sz="28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5741C6D-44DB-4C04-9CB5-747DFD8034D5}"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9511269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89AF2F3-A1D1-4097-8ADA-9467C774BABF}"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8821284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389D06B8-A366-4D7D-8D93-3C162260D047}"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237124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7D8B09C-13EB-4CA6-8318-C71FFF147362}" type="datetimeFigureOut">
              <a:rPr lang="en-GB" smtClean="0">
                <a:solidFill>
                  <a:prstClr val="black">
                    <a:tint val="75000"/>
                  </a:prstClr>
                </a:solidFill>
              </a:rPr>
              <a:pPr/>
              <a:t>26/10/2017</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pPr defTabSz="342900"/>
            <a:endParaRPr lang="en-GB">
              <a:solidFill>
                <a:prstClr val="black"/>
              </a:solidFill>
            </a:endParaRPr>
          </a:p>
        </p:txBody>
      </p:sp>
      <p:sp>
        <p:nvSpPr>
          <p:cNvPr id="9" name="Slide Number Placeholder 8"/>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84066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7D8B09C-13EB-4CA6-8318-C71FFF147362}" type="datetimeFigureOut">
              <a:rPr lang="en-GB" smtClean="0">
                <a:solidFill>
                  <a:prstClr val="black">
                    <a:tint val="75000"/>
                  </a:prstClr>
                </a:solidFill>
              </a:rPr>
              <a:pPr/>
              <a:t>26/10/2017</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pPr defTabSz="342900"/>
            <a:endParaRPr lang="en-GB">
              <a:solidFill>
                <a:prstClr val="black"/>
              </a:solidFill>
            </a:endParaRPr>
          </a:p>
        </p:txBody>
      </p:sp>
      <p:sp>
        <p:nvSpPr>
          <p:cNvPr id="5" name="Slide Number Placeholder 4"/>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011588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D8B09C-13EB-4CA6-8318-C71FFF147362}" type="datetimeFigureOut">
              <a:rPr lang="en-GB" smtClean="0">
                <a:solidFill>
                  <a:prstClr val="black">
                    <a:tint val="75000"/>
                  </a:prstClr>
                </a:solidFill>
              </a:rPr>
              <a:pPr/>
              <a:t>26/10/2017</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pPr defTabSz="342900"/>
            <a:endParaRPr lang="en-GB">
              <a:solidFill>
                <a:prstClr val="black"/>
              </a:solidFill>
            </a:endParaRPr>
          </a:p>
        </p:txBody>
      </p:sp>
      <p:sp>
        <p:nvSpPr>
          <p:cNvPr id="4" name="Slide Number Placeholder 3"/>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8193928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26/10/2017</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66810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26/10/2017</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9717148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26/10/2017</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7822774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26/10/2017</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928350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914400" y="2130428"/>
            <a:ext cx="10363200" cy="1470025"/>
          </a:xfrm>
          <a:prstGeom prst="rect">
            <a:avLst/>
          </a:prstGeom>
        </p:spPr>
        <p:txBody>
          <a:bodyPr/>
          <a:lstStyle/>
          <a:p>
            <a:r>
              <a:rPr lang="en-US" smtClean="0"/>
              <a:t>Click to edit Master title style</a:t>
            </a:r>
            <a:endParaRPr lang="en-SG"/>
          </a:p>
        </p:txBody>
      </p:sp>
      <p:sp>
        <p:nvSpPr>
          <p:cNvPr id="8"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en-SG"/>
          </a:p>
        </p:txBody>
      </p:sp>
      <p:sp>
        <p:nvSpPr>
          <p:cNvPr id="9" name="Rectangle 3"/>
          <p:cNvSpPr>
            <a:spLocks noGrp="1" noChangeArrowheads="1"/>
          </p:cNvSpPr>
          <p:nvPr>
            <p:ph type="dt" idx="10"/>
          </p:nvPr>
        </p:nvSpPr>
        <p:spPr>
          <a:xfrm>
            <a:off x="609602" y="6353178"/>
            <a:ext cx="2789767" cy="371475"/>
          </a:xfrm>
          <a:prstGeom prst="rect">
            <a:avLst/>
          </a:prstGeo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8737602" y="6353178"/>
            <a:ext cx="2789767" cy="371475"/>
          </a:xfrm>
          <a:prstGeom prst="rect">
            <a:avLst/>
          </a:prstGeom>
          <a:ln/>
        </p:spPr>
        <p:txBody>
          <a:bodyPr/>
          <a:lstStyle>
            <a:lvl1pPr>
              <a:defRPr/>
            </a:lvl1pPr>
          </a:lstStyle>
          <a:p>
            <a:pPr>
              <a:defRPr/>
            </a:pPr>
            <a:fld id="{5503E7AE-D891-4742-9343-5EF205D83184}"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449115305"/>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381002" y="268288"/>
            <a:ext cx="11374967" cy="762000"/>
          </a:xfrm>
        </p:spPr>
        <p:txBody>
          <a:bodyPr/>
          <a:lstStyle/>
          <a:p>
            <a:r>
              <a:rPr lang="en-US" dirty="0" smtClean="0"/>
              <a:t>Click to edit Master title style</a:t>
            </a:r>
            <a:endParaRPr lang="en-SG" dirty="0"/>
          </a:p>
        </p:txBody>
      </p:sp>
      <p:sp>
        <p:nvSpPr>
          <p:cNvPr id="8" name="Content Placeholder 2"/>
          <p:cNvSpPr>
            <a:spLocks noGrp="1"/>
          </p:cNvSpPr>
          <p:nvPr>
            <p:ph idx="1"/>
          </p:nvPr>
        </p:nvSpPr>
        <p:spPr>
          <a:xfrm>
            <a:off x="381002" y="1214438"/>
            <a:ext cx="11374967" cy="48704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9" name="Rectangle 3"/>
          <p:cNvSpPr>
            <a:spLocks noGrp="1" noChangeArrowheads="1"/>
          </p:cNvSpPr>
          <p:nvPr>
            <p:ph type="dt" idx="10"/>
          </p:nvPr>
        </p:nvSpPr>
        <p:spPr>
          <a:xfrm>
            <a:off x="609602" y="6353178"/>
            <a:ext cx="2789767"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8737602" y="6353178"/>
            <a:ext cx="2789767" cy="371475"/>
          </a:xfrm>
          <a:ln/>
        </p:spPr>
        <p:txBody>
          <a:bodyPr/>
          <a:lstStyle>
            <a:lvl1pPr>
              <a:defRPr/>
            </a:lvl1pPr>
          </a:lstStyle>
          <a:p>
            <a:pPr>
              <a:defRPr/>
            </a:pPr>
            <a:fld id="{D5741C6D-44DB-4C04-9CB5-747DFD8034D5}"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821777128"/>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963084" y="4406903"/>
            <a:ext cx="10363200" cy="1362075"/>
          </a:xfrm>
        </p:spPr>
        <p:txBody>
          <a:bodyPr anchor="t"/>
          <a:lstStyle>
            <a:lvl1pPr algn="l">
              <a:defRPr sz="3000" b="1" cap="all"/>
            </a:lvl1pPr>
          </a:lstStyle>
          <a:p>
            <a:r>
              <a:rPr lang="en-US" smtClean="0"/>
              <a:t>Click to edit Master title style</a:t>
            </a:r>
            <a:endParaRPr lang="en-SG"/>
          </a:p>
        </p:txBody>
      </p:sp>
      <p:sp>
        <p:nvSpPr>
          <p:cNvPr id="8"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smtClean="0"/>
              <a:t>Click to edit Master text styles</a:t>
            </a:r>
          </a:p>
        </p:txBody>
      </p:sp>
      <p:sp>
        <p:nvSpPr>
          <p:cNvPr id="9" name="Rectangle 3"/>
          <p:cNvSpPr>
            <a:spLocks noGrp="1" noChangeArrowheads="1"/>
          </p:cNvSpPr>
          <p:nvPr>
            <p:ph type="dt" idx="10"/>
          </p:nvPr>
        </p:nvSpPr>
        <p:spPr>
          <a:xfrm>
            <a:off x="609602" y="6353178"/>
            <a:ext cx="2789767"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8737602" y="6353178"/>
            <a:ext cx="2789767" cy="371475"/>
          </a:xfrm>
          <a:ln/>
        </p:spPr>
        <p:txBody>
          <a:bodyPr/>
          <a:lstStyle>
            <a:lvl1pPr>
              <a:defRPr/>
            </a:lvl1pPr>
          </a:lstStyle>
          <a:p>
            <a:pPr>
              <a:defRPr/>
            </a:pPr>
            <a:fld id="{389AF2F3-A1D1-4097-8ADA-9467C774BABF}"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557998690"/>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itle 1"/>
          <p:cNvSpPr>
            <a:spLocks noGrp="1"/>
          </p:cNvSpPr>
          <p:nvPr>
            <p:ph type="title"/>
          </p:nvPr>
        </p:nvSpPr>
        <p:spPr>
          <a:xfrm>
            <a:off x="381002" y="268288"/>
            <a:ext cx="11374967" cy="762000"/>
          </a:xfrm>
        </p:spPr>
        <p:txBody>
          <a:bodyPr/>
          <a:lstStyle/>
          <a:p>
            <a:r>
              <a:rPr lang="en-US" dirty="0" smtClean="0"/>
              <a:t>Click to edit Master title style</a:t>
            </a:r>
            <a:endParaRPr lang="en-SG" dirty="0"/>
          </a:p>
        </p:txBody>
      </p:sp>
      <p:sp>
        <p:nvSpPr>
          <p:cNvPr id="9" name="Content Placeholder 2"/>
          <p:cNvSpPr>
            <a:spLocks noGrp="1"/>
          </p:cNvSpPr>
          <p:nvPr>
            <p:ph sz="half" idx="1"/>
          </p:nvPr>
        </p:nvSpPr>
        <p:spPr>
          <a:xfrm>
            <a:off x="381002" y="1214438"/>
            <a:ext cx="5585884"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10" name="Content Placeholder 3"/>
          <p:cNvSpPr>
            <a:spLocks noGrp="1"/>
          </p:cNvSpPr>
          <p:nvPr>
            <p:ph sz="half" idx="2"/>
          </p:nvPr>
        </p:nvSpPr>
        <p:spPr>
          <a:xfrm>
            <a:off x="6170085" y="1214438"/>
            <a:ext cx="5585883"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11" name="Rectangle 3"/>
          <p:cNvSpPr>
            <a:spLocks noGrp="1" noChangeArrowheads="1"/>
          </p:cNvSpPr>
          <p:nvPr>
            <p:ph type="dt" idx="10"/>
          </p:nvPr>
        </p:nvSpPr>
        <p:spPr>
          <a:xfrm>
            <a:off x="609602" y="6353178"/>
            <a:ext cx="2789767" cy="371475"/>
          </a:xfrm>
          <a:ln/>
        </p:spPr>
        <p:txBody>
          <a:bodyPr/>
          <a:lstStyle>
            <a:lvl1pPr>
              <a:defRPr/>
            </a:lvl1pPr>
          </a:lstStyle>
          <a:p>
            <a:pPr>
              <a:defRPr/>
            </a:pPr>
            <a:endParaRPr lang="en-US" dirty="0">
              <a:solidFill>
                <a:prstClr val="black">
                  <a:tint val="75000"/>
                </a:prstClr>
              </a:solidFill>
            </a:endParaRPr>
          </a:p>
        </p:txBody>
      </p:sp>
      <p:sp>
        <p:nvSpPr>
          <p:cNvPr id="12" name="Rectangle 5"/>
          <p:cNvSpPr>
            <a:spLocks noGrp="1" noChangeArrowheads="1"/>
          </p:cNvSpPr>
          <p:nvPr>
            <p:ph type="sldNum" idx="11"/>
          </p:nvPr>
        </p:nvSpPr>
        <p:spPr>
          <a:xfrm>
            <a:off x="8737602" y="6353178"/>
            <a:ext cx="2789767" cy="371475"/>
          </a:xfrm>
          <a:ln/>
        </p:spPr>
        <p:txBody>
          <a:bodyPr/>
          <a:lstStyle>
            <a:lvl1pPr>
              <a:defRPr/>
            </a:lvl1pPr>
          </a:lstStyle>
          <a:p>
            <a:pPr>
              <a:defRPr/>
            </a:pPr>
            <a:fld id="{389D06B8-A366-4D7D-8D93-3C162260D047}"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460971171"/>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914400" y="2130426"/>
            <a:ext cx="10363200" cy="1470025"/>
          </a:xfrm>
          <a:prstGeom prst="rect">
            <a:avLst/>
          </a:prstGeom>
        </p:spPr>
        <p:txBody>
          <a:bodyPr/>
          <a:lstStyle/>
          <a:p>
            <a:r>
              <a:rPr lang="en-US" smtClean="0"/>
              <a:t>Click to edit Master title style</a:t>
            </a:r>
            <a:endParaRPr lang="en-SG"/>
          </a:p>
        </p:txBody>
      </p:sp>
      <p:sp>
        <p:nvSpPr>
          <p:cNvPr id="8"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SG"/>
          </a:p>
        </p:txBody>
      </p:sp>
      <p:sp>
        <p:nvSpPr>
          <p:cNvPr id="9" name="Rectangle 3"/>
          <p:cNvSpPr>
            <a:spLocks noGrp="1" noChangeArrowheads="1"/>
          </p:cNvSpPr>
          <p:nvPr>
            <p:ph type="dt" idx="10"/>
          </p:nvPr>
        </p:nvSpPr>
        <p:spPr>
          <a:xfrm>
            <a:off x="609601" y="6353176"/>
            <a:ext cx="2789767"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1586996393"/>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381001" y="268288"/>
            <a:ext cx="11374967" cy="762000"/>
          </a:xfrm>
        </p:spPr>
        <p:txBody>
          <a:bodyPr/>
          <a:lstStyle>
            <a:lvl1pPr>
              <a:defRPr b="1"/>
            </a:lvl1pPr>
          </a:lstStyle>
          <a:p>
            <a:r>
              <a:rPr lang="en-US" dirty="0" smtClean="0"/>
              <a:t>Click to edit Master title style</a:t>
            </a:r>
            <a:endParaRPr lang="en-SG" dirty="0"/>
          </a:p>
        </p:txBody>
      </p:sp>
      <p:sp>
        <p:nvSpPr>
          <p:cNvPr id="8" name="Content Placeholder 2"/>
          <p:cNvSpPr>
            <a:spLocks noGrp="1"/>
          </p:cNvSpPr>
          <p:nvPr>
            <p:ph idx="1"/>
          </p:nvPr>
        </p:nvSpPr>
        <p:spPr>
          <a:xfrm>
            <a:off x="381001" y="1214438"/>
            <a:ext cx="11374967" cy="48704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4162899290"/>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SG"/>
          </a:p>
        </p:txBody>
      </p:sp>
      <p:sp>
        <p:nvSpPr>
          <p:cNvPr id="8"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3723240"/>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381001" y="268288"/>
            <a:ext cx="11374967" cy="762000"/>
          </a:xfrm>
        </p:spPr>
        <p:txBody>
          <a:bodyPr/>
          <a:lstStyle/>
          <a:p>
            <a:r>
              <a:rPr lang="en-US" dirty="0" smtClean="0"/>
              <a:t>Click to edit Master title style</a:t>
            </a:r>
            <a:endParaRPr lang="en-SG" dirty="0"/>
          </a:p>
        </p:txBody>
      </p:sp>
      <p:sp>
        <p:nvSpPr>
          <p:cNvPr id="9" name="Content Placeholder 2"/>
          <p:cNvSpPr>
            <a:spLocks noGrp="1"/>
          </p:cNvSpPr>
          <p:nvPr>
            <p:ph sz="half" idx="1"/>
          </p:nvPr>
        </p:nvSpPr>
        <p:spPr>
          <a:xfrm>
            <a:off x="381001" y="1214438"/>
            <a:ext cx="5585884"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10" name="Content Placeholder 3"/>
          <p:cNvSpPr>
            <a:spLocks noGrp="1"/>
          </p:cNvSpPr>
          <p:nvPr>
            <p:ph sz="half" idx="2"/>
          </p:nvPr>
        </p:nvSpPr>
        <p:spPr>
          <a:xfrm>
            <a:off x="6170084" y="1214438"/>
            <a:ext cx="558588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11"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2630816565"/>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a:prstGeom prst="rect">
            <a:avLst/>
          </a:prstGeo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391740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7466083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3393832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102790788"/>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4041677946"/>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682344063"/>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26/10/2017</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13518502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381001" y="268288"/>
            <a:ext cx="11374967"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smtClean="0"/>
              <a:t>Click to edit the title text format</a:t>
            </a:r>
          </a:p>
        </p:txBody>
      </p:sp>
      <p:sp>
        <p:nvSpPr>
          <p:cNvPr id="12" name="Rectangle 2"/>
          <p:cNvSpPr>
            <a:spLocks noGrp="1" noChangeArrowheads="1"/>
          </p:cNvSpPr>
          <p:nvPr>
            <p:ph type="body" idx="1"/>
          </p:nvPr>
        </p:nvSpPr>
        <p:spPr bwMode="auto">
          <a:xfrm>
            <a:off x="381001" y="1214438"/>
            <a:ext cx="11374967"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smtClean="0"/>
              <a:t>Click to edit the outline text format</a:t>
            </a:r>
          </a:p>
          <a:p>
            <a:pPr lvl="1"/>
            <a:r>
              <a:rPr lang="en-GB" dirty="0" smtClean="0"/>
              <a:t>Second Outline Level</a:t>
            </a:r>
          </a:p>
          <a:p>
            <a:pPr lvl="2"/>
            <a:r>
              <a:rPr lang="en-GB" dirty="0" smtClean="0"/>
              <a:t>Third Outline Level</a:t>
            </a:r>
          </a:p>
          <a:p>
            <a:pPr lvl="3"/>
            <a:r>
              <a:rPr lang="en-GB" dirty="0" smtClean="0"/>
              <a:t>Fourth Outline Level</a:t>
            </a:r>
          </a:p>
          <a:p>
            <a:pPr lvl="4"/>
            <a:r>
              <a:rPr lang="en-GB" dirty="0" smtClean="0"/>
              <a:t>Fifth Outline Level</a:t>
            </a:r>
          </a:p>
          <a:p>
            <a:pPr lvl="4"/>
            <a:r>
              <a:rPr lang="en-GB" dirty="0" smtClean="0"/>
              <a:t>Sixth Outline Level</a:t>
            </a:r>
          </a:p>
          <a:p>
            <a:pPr lvl="4"/>
            <a:r>
              <a:rPr lang="en-GB" dirty="0" smtClean="0"/>
              <a:t>Seventh Outline Level</a:t>
            </a:r>
          </a:p>
          <a:p>
            <a:pPr lvl="4"/>
            <a:r>
              <a:rPr lang="en-GB" dirty="0" smtClean="0"/>
              <a:t>Eighth Outline Level</a:t>
            </a:r>
          </a:p>
          <a:p>
            <a:pPr lvl="4"/>
            <a:r>
              <a:rPr lang="en-GB" dirty="0" smtClean="0"/>
              <a:t>Ninth Outline Level</a:t>
            </a:r>
          </a:p>
        </p:txBody>
      </p:sp>
      <p:sp>
        <p:nvSpPr>
          <p:cNvPr id="13" name="Rectangle 3"/>
          <p:cNvSpPr>
            <a:spLocks noGrp="1" noChangeArrowheads="1"/>
          </p:cNvSpPr>
          <p:nvPr>
            <p:ph type="dt" idx="2"/>
          </p:nvPr>
        </p:nvSpPr>
        <p:spPr bwMode="auto">
          <a:xfrm>
            <a:off x="609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4165600" y="6354763"/>
            <a:ext cx="38608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8737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smtClean="0"/>
              <a:pPr defTabSz="457200">
                <a:defRPr/>
              </a:pPr>
              <a:t>‹#›</a:t>
            </a:fld>
            <a:endParaRPr lang="en-SG" dirty="0"/>
          </a:p>
        </p:txBody>
      </p:sp>
      <p:sp>
        <p:nvSpPr>
          <p:cNvPr id="16" name="Rectangle 6"/>
          <p:cNvSpPr>
            <a:spLocks noChangeArrowheads="1"/>
          </p:cNvSpPr>
          <p:nvPr userDrawn="1"/>
        </p:nvSpPr>
        <p:spPr bwMode="auto">
          <a:xfrm>
            <a:off x="0" y="0"/>
            <a:ext cx="12192000" cy="214313"/>
          </a:xfrm>
          <a:prstGeom prst="rect">
            <a:avLst/>
          </a:prstGeom>
          <a:solidFill>
            <a:srgbClr val="C00000"/>
          </a:solidFill>
          <a:ln w="9525">
            <a:noFill/>
            <a:round/>
            <a:headEnd/>
            <a:tailEnd/>
          </a:ln>
          <a:effectLst/>
        </p:spPr>
        <p:txBody>
          <a:bodyPr wrap="none" anchor="ctr"/>
          <a:lstStyle/>
          <a:p>
            <a:pPr algn="r" defTabSz="457200">
              <a:defRPr/>
            </a:pPr>
            <a:r>
              <a:rPr lang="en-SG" dirty="0" err="1" smtClean="0">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10572781"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43" y="6643712"/>
            <a:ext cx="12192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smtClean="0">
                <a:solidFill>
                  <a:prstClr val="white"/>
                </a:solidFill>
              </a:rPr>
              <a:t>iAcademy</a:t>
            </a:r>
            <a:endParaRPr lang="en-SG" dirty="0" smtClean="0">
              <a:solidFill>
                <a:prstClr val="white"/>
              </a:solidFill>
            </a:endParaRPr>
          </a:p>
        </p:txBody>
      </p:sp>
      <p:sp>
        <p:nvSpPr>
          <p:cNvPr id="19" name="Rectangle 7"/>
          <p:cNvSpPr>
            <a:spLocks noChangeArrowheads="1"/>
          </p:cNvSpPr>
          <p:nvPr userDrawn="1"/>
        </p:nvSpPr>
        <p:spPr bwMode="auto">
          <a:xfrm flipV="1">
            <a:off x="1619219" y="6786585"/>
            <a:ext cx="10572739"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38128871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8B09C-13EB-4CA6-8318-C71FFF147362}" type="datetimeFigureOut">
              <a:rPr lang="en-GB" smtClean="0">
                <a:solidFill>
                  <a:prstClr val="black">
                    <a:tint val="75000"/>
                  </a:prstClr>
                </a:solidFill>
              </a:rPr>
              <a:pPr/>
              <a:t>26/10/2017</a:t>
            </a:fld>
            <a:endParaRPr lang="en-GB">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
        <p:nvSpPr>
          <p:cNvPr id="7" name="Text Box 4"/>
          <p:cNvSpPr txBox="1">
            <a:spLocks noChangeArrowheads="1"/>
          </p:cNvSpPr>
          <p:nvPr userDrawn="1"/>
        </p:nvSpPr>
        <p:spPr bwMode="auto">
          <a:xfrm>
            <a:off x="4165600" y="6354763"/>
            <a:ext cx="3860800" cy="368300"/>
          </a:xfrm>
          <a:prstGeom prst="rect">
            <a:avLst/>
          </a:prstGeom>
          <a:noFill/>
          <a:ln w="9525">
            <a:noFill/>
            <a:round/>
            <a:headEnd/>
            <a:tailEnd/>
          </a:ln>
          <a:effectLst/>
        </p:spPr>
        <p:txBody>
          <a:bodyPr wrap="none" anchor="ctr"/>
          <a:lstStyle/>
          <a:p>
            <a:pPr defTabSz="342900">
              <a:defRPr/>
            </a:pPr>
            <a:endParaRPr lang="en-SG" sz="1350" dirty="0">
              <a:solidFill>
                <a:prstClr val="black"/>
              </a:solidFill>
            </a:endParaRPr>
          </a:p>
        </p:txBody>
      </p:sp>
      <p:sp>
        <p:nvSpPr>
          <p:cNvPr id="8" name="Rectangle 6"/>
          <p:cNvSpPr>
            <a:spLocks noChangeArrowheads="1"/>
          </p:cNvSpPr>
          <p:nvPr userDrawn="1"/>
        </p:nvSpPr>
        <p:spPr bwMode="auto">
          <a:xfrm>
            <a:off x="0" y="0"/>
            <a:ext cx="12192000" cy="214313"/>
          </a:xfrm>
          <a:prstGeom prst="rect">
            <a:avLst/>
          </a:prstGeom>
          <a:solidFill>
            <a:srgbClr val="C00000"/>
          </a:solidFill>
          <a:ln w="9525">
            <a:noFill/>
            <a:round/>
            <a:headEnd/>
            <a:tailEnd/>
          </a:ln>
          <a:effectLst/>
        </p:spPr>
        <p:txBody>
          <a:bodyPr wrap="none" anchor="ctr"/>
          <a:lstStyle/>
          <a:p>
            <a:pPr algn="r" defTabSz="342900">
              <a:defRPr/>
            </a:pPr>
            <a:r>
              <a:rPr lang="en-SG" sz="1350" dirty="0" err="1" smtClean="0">
                <a:solidFill>
                  <a:prstClr val="white"/>
                </a:solidFill>
              </a:rPr>
              <a:t>iAcademy</a:t>
            </a:r>
            <a:endParaRPr lang="en-SG" sz="1350" dirty="0">
              <a:solidFill>
                <a:prstClr val="white"/>
              </a:solidFill>
            </a:endParaRPr>
          </a:p>
        </p:txBody>
      </p:sp>
      <p:sp>
        <p:nvSpPr>
          <p:cNvPr id="9" name="Rectangle 7"/>
          <p:cNvSpPr>
            <a:spLocks noChangeArrowheads="1"/>
          </p:cNvSpPr>
          <p:nvPr userDrawn="1"/>
        </p:nvSpPr>
        <p:spPr bwMode="auto">
          <a:xfrm flipV="1">
            <a:off x="0" y="-1"/>
            <a:ext cx="10572781" cy="45719"/>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
        <p:nvSpPr>
          <p:cNvPr id="10" name="Rectangle 6"/>
          <p:cNvSpPr>
            <a:spLocks noChangeArrowheads="1"/>
          </p:cNvSpPr>
          <p:nvPr userDrawn="1"/>
        </p:nvSpPr>
        <p:spPr bwMode="auto">
          <a:xfrm>
            <a:off x="-43" y="6643714"/>
            <a:ext cx="12192000" cy="214313"/>
          </a:xfrm>
          <a:prstGeom prst="rect">
            <a:avLst/>
          </a:prstGeom>
          <a:solidFill>
            <a:srgbClr val="C00000"/>
          </a:solidFill>
          <a:ln w="9525">
            <a:noFill/>
            <a:round/>
            <a:headEnd/>
            <a:tailEnd/>
          </a:ln>
          <a:effectLst/>
        </p:spPr>
        <p:txBody>
          <a:bodyPr wrap="none" anchor="ctr"/>
          <a:lstStyle/>
          <a:p>
            <a:pPr defTabSz="336947" fontAlgn="base">
              <a:spcBef>
                <a:spcPct val="0"/>
              </a:spcBef>
              <a:spcAft>
                <a:spcPct val="0"/>
              </a:spcAft>
              <a:buClr>
                <a:srgbClr val="000000"/>
              </a:buClr>
              <a:buSzPct val="100000"/>
              <a:buFont typeface="Times New Roman" pitchFamily="16" charset="0"/>
              <a:buNone/>
              <a:defRPr/>
            </a:pPr>
            <a:r>
              <a:rPr lang="en-SG" sz="1350" dirty="0" err="1" smtClean="0">
                <a:solidFill>
                  <a:prstClr val="white"/>
                </a:solidFill>
              </a:rPr>
              <a:t>iAcademy</a:t>
            </a:r>
            <a:endParaRPr lang="en-SG" sz="1350" dirty="0" smtClean="0">
              <a:solidFill>
                <a:prstClr val="white"/>
              </a:solidFill>
            </a:endParaRPr>
          </a:p>
        </p:txBody>
      </p:sp>
      <p:sp>
        <p:nvSpPr>
          <p:cNvPr id="11" name="Rectangle 7"/>
          <p:cNvSpPr>
            <a:spLocks noChangeArrowheads="1"/>
          </p:cNvSpPr>
          <p:nvPr userDrawn="1"/>
        </p:nvSpPr>
        <p:spPr bwMode="auto">
          <a:xfrm flipV="1">
            <a:off x="1619220" y="6786587"/>
            <a:ext cx="10572739" cy="71415"/>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Tree>
    <p:extLst>
      <p:ext uri="{BB962C8B-B14F-4D97-AF65-F5344CB8AC3E}">
        <p14:creationId xmlns:p14="http://schemas.microsoft.com/office/powerpoint/2010/main" val="27110136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381001" y="268288"/>
            <a:ext cx="11374967"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smtClean="0"/>
              <a:t>Click to edit the title text format</a:t>
            </a:r>
          </a:p>
        </p:txBody>
      </p:sp>
      <p:sp>
        <p:nvSpPr>
          <p:cNvPr id="12" name="Rectangle 2"/>
          <p:cNvSpPr>
            <a:spLocks noGrp="1" noChangeArrowheads="1"/>
          </p:cNvSpPr>
          <p:nvPr>
            <p:ph type="body" idx="1"/>
          </p:nvPr>
        </p:nvSpPr>
        <p:spPr bwMode="auto">
          <a:xfrm>
            <a:off x="381001" y="1214438"/>
            <a:ext cx="11374967"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smtClean="0"/>
              <a:t>Click to edit the outline text format</a:t>
            </a:r>
          </a:p>
          <a:p>
            <a:pPr lvl="1"/>
            <a:r>
              <a:rPr lang="en-GB" dirty="0" smtClean="0"/>
              <a:t>Second Outline Level</a:t>
            </a:r>
          </a:p>
          <a:p>
            <a:pPr lvl="2"/>
            <a:r>
              <a:rPr lang="en-GB" dirty="0" smtClean="0"/>
              <a:t>Third Outline Level</a:t>
            </a:r>
          </a:p>
          <a:p>
            <a:pPr lvl="3"/>
            <a:r>
              <a:rPr lang="en-GB" dirty="0" smtClean="0"/>
              <a:t>Fourth Outline Level</a:t>
            </a:r>
          </a:p>
          <a:p>
            <a:pPr lvl="4"/>
            <a:r>
              <a:rPr lang="en-GB" dirty="0" smtClean="0"/>
              <a:t>Fifth Outline Level</a:t>
            </a:r>
          </a:p>
          <a:p>
            <a:pPr lvl="4"/>
            <a:r>
              <a:rPr lang="en-GB" dirty="0" smtClean="0"/>
              <a:t>Sixth Outline Level</a:t>
            </a:r>
          </a:p>
          <a:p>
            <a:pPr lvl="4"/>
            <a:r>
              <a:rPr lang="en-GB" dirty="0" smtClean="0"/>
              <a:t>Seventh Outline Level</a:t>
            </a:r>
          </a:p>
          <a:p>
            <a:pPr lvl="4"/>
            <a:r>
              <a:rPr lang="en-GB" dirty="0" smtClean="0"/>
              <a:t>Eighth Outline Level</a:t>
            </a:r>
          </a:p>
          <a:p>
            <a:pPr lvl="4"/>
            <a:r>
              <a:rPr lang="en-GB" dirty="0" smtClean="0"/>
              <a:t>Ninth Outline Level</a:t>
            </a:r>
          </a:p>
        </p:txBody>
      </p:sp>
      <p:sp>
        <p:nvSpPr>
          <p:cNvPr id="13" name="Rectangle 3"/>
          <p:cNvSpPr>
            <a:spLocks noGrp="1" noChangeArrowheads="1"/>
          </p:cNvSpPr>
          <p:nvPr>
            <p:ph type="dt" idx="2"/>
          </p:nvPr>
        </p:nvSpPr>
        <p:spPr bwMode="auto">
          <a:xfrm>
            <a:off x="609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4165600" y="6354763"/>
            <a:ext cx="38608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8737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smtClean="0"/>
              <a:pPr defTabSz="457200">
                <a:defRPr/>
              </a:pPr>
              <a:t>‹#›</a:t>
            </a:fld>
            <a:endParaRPr lang="en-SG" dirty="0"/>
          </a:p>
        </p:txBody>
      </p:sp>
      <p:sp>
        <p:nvSpPr>
          <p:cNvPr id="16" name="Rectangle 6"/>
          <p:cNvSpPr>
            <a:spLocks noChangeArrowheads="1"/>
          </p:cNvSpPr>
          <p:nvPr userDrawn="1"/>
        </p:nvSpPr>
        <p:spPr bwMode="auto">
          <a:xfrm>
            <a:off x="0" y="0"/>
            <a:ext cx="12192000" cy="214313"/>
          </a:xfrm>
          <a:prstGeom prst="rect">
            <a:avLst/>
          </a:prstGeom>
          <a:solidFill>
            <a:srgbClr val="C00000"/>
          </a:solidFill>
          <a:ln w="9525">
            <a:noFill/>
            <a:round/>
            <a:headEnd/>
            <a:tailEnd/>
          </a:ln>
          <a:effectLst/>
        </p:spPr>
        <p:txBody>
          <a:bodyPr wrap="none" anchor="ctr"/>
          <a:lstStyle/>
          <a:p>
            <a:pPr algn="r" defTabSz="457200">
              <a:defRPr/>
            </a:pPr>
            <a:r>
              <a:rPr lang="en-SG" dirty="0" err="1" smtClean="0">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10572781"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43" y="6643712"/>
            <a:ext cx="12192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smtClean="0">
                <a:solidFill>
                  <a:prstClr val="white"/>
                </a:solidFill>
              </a:rPr>
              <a:t>iAcademy</a:t>
            </a:r>
            <a:endParaRPr lang="en-SG" dirty="0" smtClean="0">
              <a:solidFill>
                <a:prstClr val="white"/>
              </a:solidFill>
            </a:endParaRPr>
          </a:p>
        </p:txBody>
      </p:sp>
      <p:sp>
        <p:nvSpPr>
          <p:cNvPr id="19" name="Rectangle 7"/>
          <p:cNvSpPr>
            <a:spLocks noChangeArrowheads="1"/>
          </p:cNvSpPr>
          <p:nvPr userDrawn="1"/>
        </p:nvSpPr>
        <p:spPr bwMode="auto">
          <a:xfrm flipV="1">
            <a:off x="1619219" y="6786585"/>
            <a:ext cx="10572739"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1696795074"/>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2209800" y="785795"/>
            <a:ext cx="7772400" cy="1470025"/>
          </a:xfrm>
        </p:spPr>
        <p:txBody>
          <a:bodyPr/>
          <a:lstStyle/>
          <a:p>
            <a:pPr algn="ctr"/>
            <a:r>
              <a:rPr lang="en-US" dirty="0" smtClean="0"/>
              <a:t>Presentation</a:t>
            </a:r>
            <a:endParaRPr lang="en-GB" dirty="0"/>
          </a:p>
        </p:txBody>
      </p:sp>
      <p:sp>
        <p:nvSpPr>
          <p:cNvPr id="10" name="Subtitle 5"/>
          <p:cNvSpPr>
            <a:spLocks noGrp="1"/>
          </p:cNvSpPr>
          <p:nvPr>
            <p:ph type="subTitle" idx="1"/>
          </p:nvPr>
        </p:nvSpPr>
        <p:spPr>
          <a:xfrm>
            <a:off x="1881158" y="2684445"/>
            <a:ext cx="8358246" cy="2387629"/>
          </a:xfrm>
        </p:spPr>
        <p:txBody>
          <a:bodyPr/>
          <a:lstStyle/>
          <a:p>
            <a:r>
              <a:rPr lang="en-GB" dirty="0" smtClean="0"/>
              <a:t>Research and </a:t>
            </a:r>
            <a:r>
              <a:rPr lang="en-GB" dirty="0"/>
              <a:t>Development Skills </a:t>
            </a:r>
            <a:r>
              <a:rPr lang="en-GB" dirty="0" smtClean="0"/>
              <a:t>in Computing</a:t>
            </a:r>
          </a:p>
          <a:p>
            <a:r>
              <a:rPr lang="en-US" sz="2800" dirty="0"/>
              <a:t>Lecture 9</a:t>
            </a:r>
          </a:p>
          <a:p>
            <a:endParaRPr lang="en-US" sz="2800" dirty="0"/>
          </a:p>
          <a:p>
            <a:r>
              <a:rPr lang="en-US" sz="2400" i="1" dirty="0" smtClean="0"/>
              <a:t>How to deliver good oral presentations</a:t>
            </a:r>
            <a:endParaRPr lang="en-GB" sz="2400" i="1" dirty="0"/>
          </a:p>
        </p:txBody>
      </p:sp>
      <p:sp>
        <p:nvSpPr>
          <p:cNvPr id="11" name="TextBox 3"/>
          <p:cNvSpPr txBox="1">
            <a:spLocks noChangeArrowheads="1"/>
          </p:cNvSpPr>
          <p:nvPr/>
        </p:nvSpPr>
        <p:spPr bwMode="auto">
          <a:xfrm>
            <a:off x="1666844" y="5214950"/>
            <a:ext cx="8786874" cy="1285884"/>
          </a:xfrm>
          <a:prstGeom prst="rect">
            <a:avLst/>
          </a:prstGeom>
          <a:ln w="9525"/>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p>
            <a:pPr algn="just" defTabSz="457200">
              <a:spcBef>
                <a:spcPct val="20000"/>
              </a:spcBef>
            </a:pPr>
            <a:r>
              <a:rPr lang="en-GB" sz="1400" dirty="0">
                <a:solidFill>
                  <a:prstClr val="black"/>
                </a:solidFill>
              </a:rPr>
              <a:t>This lecture and its associated materials have been produced by </a:t>
            </a:r>
            <a:r>
              <a:rPr lang="en-US" sz="1400" dirty="0">
                <a:solidFill>
                  <a:prstClr val="black"/>
                </a:solidFill>
              </a:rPr>
              <a:t>Mr. </a:t>
            </a:r>
            <a:r>
              <a:rPr lang="en-US" sz="1400" dirty="0" err="1">
                <a:solidFill>
                  <a:prstClr val="black"/>
                </a:solidFill>
              </a:rPr>
              <a:t>Sanjiv</a:t>
            </a:r>
            <a:r>
              <a:rPr lang="en-US" sz="1400" dirty="0">
                <a:solidFill>
                  <a:prstClr val="black"/>
                </a:solidFill>
              </a:rPr>
              <a:t> </a:t>
            </a:r>
            <a:r>
              <a:rPr lang="en-US" sz="1400" dirty="0" err="1">
                <a:solidFill>
                  <a:prstClr val="black"/>
                </a:solidFill>
              </a:rPr>
              <a:t>Udash</a:t>
            </a:r>
            <a:r>
              <a:rPr lang="en-US" sz="1400" dirty="0">
                <a:solidFill>
                  <a:prstClr val="black"/>
                </a:solidFill>
              </a:rPr>
              <a:t> (MSc, University of Northampton) </a:t>
            </a:r>
            <a:r>
              <a:rPr lang="en-GB" sz="1400" dirty="0">
                <a:solidFill>
                  <a:prstClr val="black"/>
                </a:solidFill>
              </a:rPr>
              <a:t>of </a:t>
            </a:r>
            <a:r>
              <a:rPr lang="en-GB" sz="1400" dirty="0" err="1">
                <a:solidFill>
                  <a:prstClr val="black"/>
                </a:solidFill>
              </a:rPr>
              <a:t>iAcademy</a:t>
            </a:r>
            <a:r>
              <a:rPr lang="en-GB" sz="1400" dirty="0">
                <a:solidFill>
                  <a:prstClr val="black"/>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400" dirty="0" err="1">
                <a:solidFill>
                  <a:prstClr val="black"/>
                </a:solidFill>
              </a:rPr>
              <a:t>iAcademy</a:t>
            </a:r>
            <a:r>
              <a:rPr lang="en-GB" sz="1400" dirty="0">
                <a:solidFill>
                  <a:prstClr val="black"/>
                </a:solidFill>
              </a:rPr>
              <a:t> do not accept any liability for the consequences of any action taken as a result of the work or any recommendations made or inferred. Permission to use any of these materials must be first granted by </a:t>
            </a:r>
            <a:r>
              <a:rPr lang="en-GB" sz="1400" dirty="0" err="1">
                <a:solidFill>
                  <a:prstClr val="black"/>
                </a:solidFill>
              </a:rPr>
              <a:t>iAcademy</a:t>
            </a:r>
            <a:r>
              <a:rPr lang="en-GB" sz="1400" dirty="0">
                <a:solidFill>
                  <a:prstClr val="black"/>
                </a:solidFill>
              </a:rPr>
              <a:t>.</a:t>
            </a:r>
            <a:endParaRPr lang="en-US" sz="1400" dirty="0">
              <a:solidFill>
                <a:prstClr val="black"/>
              </a:solidFill>
            </a:endParaRPr>
          </a:p>
        </p:txBody>
      </p:sp>
    </p:spTree>
    <p:extLst>
      <p:ext uri="{BB962C8B-B14F-4D97-AF65-F5344CB8AC3E}">
        <p14:creationId xmlns:p14="http://schemas.microsoft.com/office/powerpoint/2010/main" val="38132297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libri" pitchFamily="34" charset="0"/>
              </a:rPr>
              <a:t>Agenda</a:t>
            </a:r>
            <a:r>
              <a:rPr lang="en-US" b="1" dirty="0" smtClean="0"/>
              <a:t>	</a:t>
            </a:r>
            <a:endParaRPr lang="en-GB" b="1" dirty="0"/>
          </a:p>
        </p:txBody>
      </p:sp>
      <p:sp>
        <p:nvSpPr>
          <p:cNvPr id="3" name="Content Placeholder 2"/>
          <p:cNvSpPr>
            <a:spLocks noGrp="1"/>
          </p:cNvSpPr>
          <p:nvPr>
            <p:ph idx="1"/>
          </p:nvPr>
        </p:nvSpPr>
        <p:spPr>
          <a:xfrm>
            <a:off x="381001" y="1073987"/>
            <a:ext cx="8531225" cy="4870450"/>
          </a:xfrm>
        </p:spPr>
        <p:txBody>
          <a:bodyPr/>
          <a:lstStyle/>
          <a:p>
            <a:pPr marL="342900" indent="-342900" algn="just" defTabSz="449263" eaLnBrk="0" fontAlgn="base" hangingPunct="0">
              <a:spcBef>
                <a:spcPts val="700"/>
              </a:spcBef>
              <a:spcAft>
                <a:spcPct val="0"/>
              </a:spcAft>
              <a:buClr>
                <a:srgbClr val="000000"/>
              </a:buClr>
              <a:buSzPct val="100000"/>
              <a:buFont typeface="Times New Roman" pitchFamily="16" charset="0"/>
              <a:buChar char="•"/>
            </a:pPr>
            <a:r>
              <a:rPr lang="en-US" dirty="0" smtClean="0">
                <a:solidFill>
                  <a:srgbClr val="000000"/>
                </a:solidFill>
                <a:ea typeface="宋体" pitchFamily="2" charset="-122"/>
              </a:rPr>
              <a:t>Week 9 Lecture Coverage</a:t>
            </a:r>
          </a:p>
          <a:p>
            <a:pPr lvl="1"/>
            <a:r>
              <a:rPr lang="en-GB" dirty="0"/>
              <a:t>Oral Presentation</a:t>
            </a:r>
          </a:p>
          <a:p>
            <a:pPr lvl="1"/>
            <a:r>
              <a:rPr lang="en-GB" dirty="0"/>
              <a:t>Software demonstration</a:t>
            </a:r>
          </a:p>
        </p:txBody>
      </p:sp>
    </p:spTree>
    <p:extLst>
      <p:ext uri="{BB962C8B-B14F-4D97-AF65-F5344CB8AC3E}">
        <p14:creationId xmlns:p14="http://schemas.microsoft.com/office/powerpoint/2010/main" val="223437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835120" y="2195068"/>
            <a:ext cx="8501122" cy="2554545"/>
          </a:xfrm>
          <a:prstGeom prst="rect">
            <a:avLst/>
          </a:prstGeom>
          <a:noFill/>
          <a:ln w="63500">
            <a:solidFill>
              <a:srgbClr val="C00000"/>
            </a:solidFill>
          </a:ln>
        </p:spPr>
        <p:txBody>
          <a:bodyPr wrap="square" rtlCol="0">
            <a:spAutoFit/>
          </a:bodyPr>
          <a:lstStyle/>
          <a:p>
            <a:pPr algn="ctr"/>
            <a:endParaRPr lang="en-US" sz="4000" b="1" dirty="0">
              <a:solidFill>
                <a:prstClr val="black"/>
              </a:solidFill>
            </a:endParaRPr>
          </a:p>
          <a:p>
            <a:pPr algn="ctr"/>
            <a:r>
              <a:rPr lang="en-US" sz="4000" b="1" dirty="0">
                <a:solidFill>
                  <a:prstClr val="black"/>
                </a:solidFill>
              </a:rPr>
              <a:t>But first let’s review what have we learned from week </a:t>
            </a:r>
            <a:r>
              <a:rPr lang="en-US" sz="4000" b="1" dirty="0" smtClean="0">
                <a:solidFill>
                  <a:prstClr val="black"/>
                </a:solidFill>
              </a:rPr>
              <a:t>8</a:t>
            </a:r>
            <a:endParaRPr lang="en-US" sz="4000" b="1" dirty="0">
              <a:solidFill>
                <a:prstClr val="black"/>
              </a:solidFill>
            </a:endParaRPr>
          </a:p>
          <a:p>
            <a:pPr algn="ctr"/>
            <a:endParaRPr lang="en-US" sz="4000" b="1" dirty="0">
              <a:solidFill>
                <a:prstClr val="black"/>
              </a:solidFill>
            </a:endParaRPr>
          </a:p>
        </p:txBody>
      </p:sp>
    </p:spTree>
    <p:extLst>
      <p:ext uri="{BB962C8B-B14F-4D97-AF65-F5344CB8AC3E}">
        <p14:creationId xmlns:p14="http://schemas.microsoft.com/office/powerpoint/2010/main" val="204484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8"/>
            <a:ext cx="11491685" cy="762000"/>
          </a:xfrm>
        </p:spPr>
        <p:txBody>
          <a:bodyPr/>
          <a:lstStyle/>
          <a:p>
            <a:r>
              <a:rPr lang="en-US" dirty="0" smtClean="0"/>
              <a:t>Review of Week 8</a:t>
            </a:r>
            <a:endParaRPr lang="en-GB" dirty="0"/>
          </a:p>
        </p:txBody>
      </p:sp>
      <p:sp>
        <p:nvSpPr>
          <p:cNvPr id="3" name="Content Placeholder 2"/>
          <p:cNvSpPr>
            <a:spLocks noGrp="1"/>
          </p:cNvSpPr>
          <p:nvPr>
            <p:ph idx="1"/>
          </p:nvPr>
        </p:nvSpPr>
        <p:spPr/>
        <p:txBody>
          <a:bodyPr>
            <a:normAutofit lnSpcReduction="10000"/>
          </a:bodyPr>
          <a:lstStyle/>
          <a:p>
            <a:pPr algn="just"/>
            <a:r>
              <a:rPr lang="en-US" dirty="0"/>
              <a:t>Always remember: </a:t>
            </a:r>
          </a:p>
          <a:p>
            <a:pPr lvl="1" algn="just"/>
            <a:r>
              <a:rPr lang="en-US" dirty="0"/>
              <a:t>What is the purpose of the report?</a:t>
            </a:r>
          </a:p>
          <a:p>
            <a:pPr lvl="1" algn="just"/>
            <a:r>
              <a:rPr lang="en-US" dirty="0"/>
              <a:t>Who is going to read it?</a:t>
            </a:r>
            <a:r>
              <a:rPr lang="en-US" b="1" dirty="0"/>
              <a:t> </a:t>
            </a:r>
          </a:p>
          <a:p>
            <a:r>
              <a:rPr lang="en-US" dirty="0"/>
              <a:t> There are two main approaches that people tend to use when they write reports: </a:t>
            </a:r>
          </a:p>
          <a:p>
            <a:pPr lvl="1"/>
            <a:r>
              <a:rPr lang="en-US" dirty="0"/>
              <a:t>the top-down approach and </a:t>
            </a:r>
          </a:p>
          <a:p>
            <a:pPr lvl="1"/>
            <a:r>
              <a:rPr lang="en-US" dirty="0"/>
              <a:t>the evolutionary delivery.</a:t>
            </a:r>
          </a:p>
          <a:p>
            <a:pPr algn="just"/>
            <a:r>
              <a:rPr lang="en-US" dirty="0"/>
              <a:t>Your report should be structured into the specific sections</a:t>
            </a:r>
          </a:p>
          <a:p>
            <a:r>
              <a:rPr lang="en-US" dirty="0"/>
              <a:t>The style of writing that you adopt to present your report can be discussed from three points of view: presentation style, grammar and overall content structure </a:t>
            </a:r>
          </a:p>
          <a:p>
            <a:pPr algn="just"/>
            <a:endParaRPr lang="en-US" dirty="0"/>
          </a:p>
          <a:p>
            <a:pPr algn="just"/>
            <a:endParaRPr lang="en-US" b="1" dirty="0"/>
          </a:p>
          <a:p>
            <a:pPr marL="457200" lvl="1" indent="0">
              <a:buNone/>
            </a:pPr>
            <a:endParaRPr lang="en-US" dirty="0"/>
          </a:p>
          <a:p>
            <a:pPr lvl="1"/>
            <a:endParaRPr lang="en-US" dirty="0"/>
          </a:p>
          <a:p>
            <a:pPr algn="just"/>
            <a:endParaRPr lang="en-GB" dirty="0"/>
          </a:p>
          <a:p>
            <a:pPr algn="just"/>
            <a:endParaRPr lang="en-GB" dirty="0"/>
          </a:p>
        </p:txBody>
      </p:sp>
    </p:spTree>
    <p:extLst>
      <p:ext uri="{BB962C8B-B14F-4D97-AF65-F5344CB8AC3E}">
        <p14:creationId xmlns:p14="http://schemas.microsoft.com/office/powerpoint/2010/main" val="20805165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isha.ws/blog/wp-content/uploads/2013/08/confusion-clarity-spiritual-pat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788" y="1152940"/>
            <a:ext cx="8480425" cy="477023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title"/>
          </p:nvPr>
        </p:nvSpPr>
        <p:spPr/>
        <p:txBody>
          <a:bodyPr/>
          <a:lstStyle/>
          <a:p>
            <a:r>
              <a:rPr lang="en-US" b="1" dirty="0" smtClean="0">
                <a:latin typeface="+mn-lt"/>
              </a:rPr>
              <a:t>Any Confusion?</a:t>
            </a:r>
            <a:endParaRPr lang="en-US" b="1" dirty="0">
              <a:latin typeface="+mn-lt"/>
            </a:endParaRPr>
          </a:p>
        </p:txBody>
      </p:sp>
    </p:spTree>
    <p:extLst>
      <p:ext uri="{BB962C8B-B14F-4D97-AF65-F5344CB8AC3E}">
        <p14:creationId xmlns:p14="http://schemas.microsoft.com/office/powerpoint/2010/main" val="16513252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a:t>
            </a:r>
            <a:endParaRPr lang="en-GB" dirty="0"/>
          </a:p>
        </p:txBody>
      </p:sp>
      <p:sp>
        <p:nvSpPr>
          <p:cNvPr id="3" name="Content Placeholder 2"/>
          <p:cNvSpPr>
            <a:spLocks noGrp="1"/>
          </p:cNvSpPr>
          <p:nvPr>
            <p:ph idx="1"/>
          </p:nvPr>
        </p:nvSpPr>
        <p:spPr>
          <a:xfrm>
            <a:off x="380999" y="1030288"/>
            <a:ext cx="11374967" cy="5827712"/>
          </a:xfrm>
        </p:spPr>
        <p:txBody>
          <a:bodyPr>
            <a:normAutofit lnSpcReduction="10000"/>
          </a:bodyPr>
          <a:lstStyle/>
          <a:p>
            <a:r>
              <a:rPr lang="en-US" dirty="0"/>
              <a:t>Oral presentations are an essential part of many degree courses these days. </a:t>
            </a:r>
            <a:endParaRPr lang="en-US" dirty="0" smtClean="0"/>
          </a:p>
          <a:p>
            <a:r>
              <a:rPr lang="en-US" dirty="0" smtClean="0"/>
              <a:t>They </a:t>
            </a:r>
            <a:r>
              <a:rPr lang="en-US" dirty="0"/>
              <a:t>are frequently used to assess students’ understanding of their work and their abilities to </a:t>
            </a:r>
            <a:r>
              <a:rPr lang="en-US" dirty="0" smtClean="0"/>
              <a:t>present their </a:t>
            </a:r>
            <a:r>
              <a:rPr lang="en-US" dirty="0"/>
              <a:t>findings to others in oral form</a:t>
            </a:r>
            <a:r>
              <a:rPr lang="en-US" dirty="0" smtClean="0"/>
              <a:t>.</a:t>
            </a:r>
            <a:endParaRPr lang="en-GB" dirty="0"/>
          </a:p>
          <a:p>
            <a:r>
              <a:rPr lang="en-US" dirty="0"/>
              <a:t>For many </a:t>
            </a:r>
            <a:r>
              <a:rPr lang="en-US" dirty="0" smtClean="0"/>
              <a:t>people:</a:t>
            </a:r>
          </a:p>
          <a:p>
            <a:pPr lvl="1"/>
            <a:r>
              <a:rPr lang="en-US" dirty="0" smtClean="0"/>
              <a:t>Their </a:t>
            </a:r>
            <a:r>
              <a:rPr lang="en-US" dirty="0"/>
              <a:t>only involvement or encounter with you and your </a:t>
            </a:r>
            <a:r>
              <a:rPr lang="en-US" dirty="0" smtClean="0"/>
              <a:t>project will </a:t>
            </a:r>
            <a:r>
              <a:rPr lang="en-US" dirty="0"/>
              <a:t>be at your oral presentation. </a:t>
            </a:r>
            <a:endParaRPr lang="en-US" dirty="0" smtClean="0"/>
          </a:p>
          <a:p>
            <a:pPr lvl="1"/>
            <a:r>
              <a:rPr lang="en-US" dirty="0" smtClean="0"/>
              <a:t>They </a:t>
            </a:r>
            <a:r>
              <a:rPr lang="en-US" dirty="0"/>
              <a:t>may be interested in your work from a professional or personal viewpoint or they may be part of the assessment team </a:t>
            </a:r>
            <a:r>
              <a:rPr lang="en-US" dirty="0" smtClean="0"/>
              <a:t>evaluating your </a:t>
            </a:r>
            <a:r>
              <a:rPr lang="en-US" dirty="0"/>
              <a:t>work. </a:t>
            </a:r>
            <a:endParaRPr lang="en-US" dirty="0" smtClean="0"/>
          </a:p>
          <a:p>
            <a:r>
              <a:rPr lang="en-US" dirty="0" smtClean="0"/>
              <a:t>Your main goal is to </a:t>
            </a:r>
            <a:r>
              <a:rPr lang="en-US" dirty="0"/>
              <a:t>interest and inspire your audience, and to emphasize your own interest and enthusiasm </a:t>
            </a:r>
            <a:r>
              <a:rPr lang="en-US" dirty="0" smtClean="0"/>
              <a:t>in your </a:t>
            </a:r>
            <a:r>
              <a:rPr lang="en-US" dirty="0"/>
              <a:t>project.</a:t>
            </a:r>
            <a:endParaRPr lang="en-GB" dirty="0"/>
          </a:p>
        </p:txBody>
      </p:sp>
    </p:spTree>
    <p:extLst>
      <p:ext uri="{BB962C8B-B14F-4D97-AF65-F5344CB8AC3E}">
        <p14:creationId xmlns:p14="http://schemas.microsoft.com/office/powerpoint/2010/main" val="34126151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preparation (1)</a:t>
            </a:r>
            <a:endParaRPr lang="en-GB" dirty="0"/>
          </a:p>
        </p:txBody>
      </p:sp>
      <p:sp>
        <p:nvSpPr>
          <p:cNvPr id="3" name="Content Placeholder 2"/>
          <p:cNvSpPr>
            <a:spLocks noGrp="1"/>
          </p:cNvSpPr>
          <p:nvPr>
            <p:ph idx="1"/>
          </p:nvPr>
        </p:nvSpPr>
        <p:spPr>
          <a:xfrm>
            <a:off x="380999" y="1030287"/>
            <a:ext cx="11374967" cy="6499226"/>
          </a:xfrm>
        </p:spPr>
        <p:txBody>
          <a:bodyPr>
            <a:normAutofit/>
          </a:bodyPr>
          <a:lstStyle/>
          <a:p>
            <a:r>
              <a:rPr lang="en-US" dirty="0" smtClean="0"/>
              <a:t>During </a:t>
            </a:r>
            <a:r>
              <a:rPr lang="en-US" dirty="0"/>
              <a:t>this stage you clarify </a:t>
            </a:r>
            <a:r>
              <a:rPr lang="en-US" dirty="0" smtClean="0"/>
              <a:t>your presentation’s </a:t>
            </a:r>
            <a:r>
              <a:rPr lang="en-US" dirty="0"/>
              <a:t>objectives, taking into </a:t>
            </a:r>
            <a:r>
              <a:rPr lang="en-US" dirty="0" smtClean="0"/>
              <a:t>account </a:t>
            </a:r>
            <a:r>
              <a:rPr lang="en-US" dirty="0"/>
              <a:t>the audience who will be attending </a:t>
            </a:r>
            <a:r>
              <a:rPr lang="en-US" dirty="0" smtClean="0"/>
              <a:t>and the </a:t>
            </a:r>
            <a:r>
              <a:rPr lang="en-US" dirty="0"/>
              <a:t>time you have available (including time for questions). </a:t>
            </a:r>
            <a:endParaRPr lang="en-US" dirty="0" smtClean="0"/>
          </a:p>
          <a:p>
            <a:r>
              <a:rPr lang="en-US" dirty="0" smtClean="0"/>
              <a:t>If </a:t>
            </a:r>
            <a:r>
              <a:rPr lang="en-US" dirty="0"/>
              <a:t>you don’t know </a:t>
            </a:r>
            <a:r>
              <a:rPr lang="en-US" dirty="0" smtClean="0"/>
              <a:t>these things</a:t>
            </a:r>
            <a:r>
              <a:rPr lang="en-US" dirty="0"/>
              <a:t>, it is important to clarify them as soon as possible as they will have a </a:t>
            </a:r>
            <a:r>
              <a:rPr lang="en-US" dirty="0" smtClean="0"/>
              <a:t>significant bearing </a:t>
            </a:r>
            <a:r>
              <a:rPr lang="en-US" dirty="0"/>
              <a:t>on how you create your presentation</a:t>
            </a:r>
            <a:r>
              <a:rPr lang="en-US" dirty="0" smtClean="0"/>
              <a:t>.</a:t>
            </a:r>
          </a:p>
          <a:p>
            <a:pPr lvl="1"/>
            <a:r>
              <a:rPr lang="en-US" b="1" dirty="0" smtClean="0"/>
              <a:t>Objective: </a:t>
            </a:r>
            <a:r>
              <a:rPr lang="en-US" dirty="0" smtClean="0"/>
              <a:t>Begin </a:t>
            </a:r>
            <a:r>
              <a:rPr lang="en-US" dirty="0"/>
              <a:t>by clarifying the objectives of your presentation </a:t>
            </a:r>
            <a:endParaRPr lang="en-US" dirty="0" smtClean="0"/>
          </a:p>
          <a:p>
            <a:pPr lvl="2"/>
            <a:r>
              <a:rPr lang="en-US" dirty="0" smtClean="0"/>
              <a:t>what </a:t>
            </a:r>
            <a:r>
              <a:rPr lang="en-US" dirty="0"/>
              <a:t>do you hope to </a:t>
            </a:r>
            <a:r>
              <a:rPr lang="en-US" dirty="0" smtClean="0"/>
              <a:t>achieve and what </a:t>
            </a:r>
            <a:r>
              <a:rPr lang="en-US" dirty="0"/>
              <a:t>should your focus be? </a:t>
            </a:r>
            <a:endParaRPr lang="en-US" dirty="0" smtClean="0"/>
          </a:p>
          <a:p>
            <a:pPr lvl="2"/>
            <a:r>
              <a:rPr lang="en-US" dirty="0" smtClean="0"/>
              <a:t>will </a:t>
            </a:r>
            <a:r>
              <a:rPr lang="en-US" dirty="0"/>
              <a:t>you be discussing the project itself rather </a:t>
            </a:r>
            <a:r>
              <a:rPr lang="en-US" dirty="0" smtClean="0"/>
              <a:t>than its outcomes?</a:t>
            </a:r>
          </a:p>
          <a:p>
            <a:pPr lvl="1"/>
            <a:r>
              <a:rPr lang="en-US" b="1" dirty="0" smtClean="0"/>
              <a:t>Time</a:t>
            </a:r>
            <a:r>
              <a:rPr lang="en-US" b="1" dirty="0"/>
              <a:t>: </a:t>
            </a:r>
            <a:r>
              <a:rPr lang="en-US" dirty="0"/>
              <a:t>Begin by clarifying the objectives of your presentation </a:t>
            </a:r>
            <a:endParaRPr lang="en-US" dirty="0" smtClean="0"/>
          </a:p>
          <a:p>
            <a:pPr lvl="2"/>
            <a:r>
              <a:rPr lang="en-US" dirty="0" smtClean="0"/>
              <a:t>what </a:t>
            </a:r>
            <a:r>
              <a:rPr lang="en-US" dirty="0"/>
              <a:t>do you hope to </a:t>
            </a:r>
            <a:r>
              <a:rPr lang="en-US" dirty="0" smtClean="0"/>
              <a:t>achieve and </a:t>
            </a:r>
            <a:r>
              <a:rPr lang="en-US" dirty="0"/>
              <a:t>what should your focus be? </a:t>
            </a:r>
            <a:endParaRPr lang="en-US" dirty="0" smtClean="0"/>
          </a:p>
          <a:p>
            <a:pPr lvl="2"/>
            <a:r>
              <a:rPr lang="en-US" dirty="0" smtClean="0"/>
              <a:t>will </a:t>
            </a:r>
            <a:r>
              <a:rPr lang="en-US" dirty="0"/>
              <a:t>you be discussing the project itself rather </a:t>
            </a:r>
            <a:r>
              <a:rPr lang="en-US" dirty="0" smtClean="0"/>
              <a:t>than its outcomes</a:t>
            </a:r>
          </a:p>
        </p:txBody>
      </p:sp>
    </p:spTree>
    <p:extLst>
      <p:ext uri="{BB962C8B-B14F-4D97-AF65-F5344CB8AC3E}">
        <p14:creationId xmlns:p14="http://schemas.microsoft.com/office/powerpoint/2010/main" val="10185166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preparation</a:t>
            </a:r>
            <a:endParaRPr lang="en-GB" dirty="0"/>
          </a:p>
        </p:txBody>
      </p:sp>
      <p:sp>
        <p:nvSpPr>
          <p:cNvPr id="3" name="Content Placeholder 2"/>
          <p:cNvSpPr>
            <a:spLocks noGrp="1"/>
          </p:cNvSpPr>
          <p:nvPr>
            <p:ph idx="1"/>
          </p:nvPr>
        </p:nvSpPr>
        <p:spPr/>
        <p:txBody>
          <a:bodyPr>
            <a:normAutofit/>
          </a:bodyPr>
          <a:lstStyle/>
          <a:p>
            <a:pPr lvl="1"/>
            <a:r>
              <a:rPr lang="en-US" b="1" dirty="0" smtClean="0"/>
              <a:t>Audience</a:t>
            </a:r>
            <a:r>
              <a:rPr lang="en-US" b="1" dirty="0"/>
              <a:t>: </a:t>
            </a:r>
            <a:r>
              <a:rPr lang="en-US" dirty="0"/>
              <a:t>The number and type of people who will be attending your presentation will have </a:t>
            </a:r>
            <a:r>
              <a:rPr lang="en-US" dirty="0" smtClean="0"/>
              <a:t>a significant </a:t>
            </a:r>
            <a:r>
              <a:rPr lang="en-US" dirty="0"/>
              <a:t>bearing on its style and content. Ask yourself these questions: </a:t>
            </a:r>
            <a:endParaRPr lang="en-US" dirty="0" smtClean="0"/>
          </a:p>
          <a:p>
            <a:pPr lvl="2"/>
            <a:r>
              <a:rPr lang="en-US" dirty="0" smtClean="0"/>
              <a:t>Will your audience </a:t>
            </a:r>
            <a:r>
              <a:rPr lang="en-US" dirty="0"/>
              <a:t>be assessing you? </a:t>
            </a:r>
            <a:endParaRPr lang="en-US" dirty="0" smtClean="0"/>
          </a:p>
          <a:p>
            <a:pPr lvl="2"/>
            <a:r>
              <a:rPr lang="en-US" dirty="0" smtClean="0"/>
              <a:t>What </a:t>
            </a:r>
            <a:r>
              <a:rPr lang="en-US" dirty="0"/>
              <a:t>do they already know</a:t>
            </a:r>
            <a:r>
              <a:rPr lang="en-US" dirty="0" smtClean="0"/>
              <a:t>? </a:t>
            </a:r>
          </a:p>
          <a:p>
            <a:pPr lvl="2"/>
            <a:r>
              <a:rPr lang="en-US" dirty="0" smtClean="0"/>
              <a:t>What </a:t>
            </a:r>
            <a:r>
              <a:rPr lang="en-US" dirty="0"/>
              <a:t>do you want to teach them? </a:t>
            </a:r>
            <a:endParaRPr lang="en-US" dirty="0" smtClean="0"/>
          </a:p>
          <a:p>
            <a:pPr lvl="2"/>
            <a:r>
              <a:rPr lang="en-US" dirty="0" smtClean="0"/>
              <a:t>What </a:t>
            </a:r>
            <a:r>
              <a:rPr lang="en-US" dirty="0"/>
              <a:t>do you want to show them?</a:t>
            </a:r>
            <a:endParaRPr lang="en-GB" dirty="0"/>
          </a:p>
        </p:txBody>
      </p:sp>
    </p:spTree>
    <p:extLst>
      <p:ext uri="{BB962C8B-B14F-4D97-AF65-F5344CB8AC3E}">
        <p14:creationId xmlns:p14="http://schemas.microsoft.com/office/powerpoint/2010/main" val="9078591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the presentation content</a:t>
            </a:r>
            <a:endParaRPr lang="en-GB" dirty="0"/>
          </a:p>
        </p:txBody>
      </p:sp>
      <p:sp>
        <p:nvSpPr>
          <p:cNvPr id="3" name="Content Placeholder 2"/>
          <p:cNvSpPr>
            <a:spLocks noGrp="1"/>
          </p:cNvSpPr>
          <p:nvPr>
            <p:ph idx="1"/>
          </p:nvPr>
        </p:nvSpPr>
        <p:spPr>
          <a:xfrm>
            <a:off x="380999" y="1030288"/>
            <a:ext cx="11374967" cy="5827712"/>
          </a:xfrm>
        </p:spPr>
        <p:txBody>
          <a:bodyPr>
            <a:normAutofit lnSpcReduction="10000"/>
          </a:bodyPr>
          <a:lstStyle/>
          <a:p>
            <a:r>
              <a:rPr lang="en-US" dirty="0"/>
              <a:t>All presentations should have three main sections: the beginning, </a:t>
            </a:r>
            <a:r>
              <a:rPr lang="en-US" dirty="0" smtClean="0"/>
              <a:t>middle and end.</a:t>
            </a:r>
          </a:p>
          <a:p>
            <a:r>
              <a:rPr lang="en-US" dirty="0" smtClean="0"/>
              <a:t>The purpose </a:t>
            </a:r>
            <a:r>
              <a:rPr lang="en-US" dirty="0"/>
              <a:t>of the beginning is to set the scene and tone for the audience and provide </a:t>
            </a:r>
            <a:r>
              <a:rPr lang="en-US" dirty="0" smtClean="0"/>
              <a:t>them with </a:t>
            </a:r>
            <a:r>
              <a:rPr lang="en-US" dirty="0"/>
              <a:t>information about your presentation’s content. </a:t>
            </a:r>
            <a:endParaRPr lang="en-US" dirty="0" smtClean="0"/>
          </a:p>
          <a:p>
            <a:r>
              <a:rPr lang="en-US" dirty="0" smtClean="0"/>
              <a:t>To </a:t>
            </a:r>
            <a:r>
              <a:rPr lang="en-US" dirty="0"/>
              <a:t>cover all the points </a:t>
            </a:r>
            <a:r>
              <a:rPr lang="en-US" dirty="0" smtClean="0"/>
              <a:t>necessary for </a:t>
            </a:r>
            <a:r>
              <a:rPr lang="en-US" dirty="0"/>
              <a:t>your introduction, tell your audience who, what, how, </a:t>
            </a:r>
            <a:r>
              <a:rPr lang="en-US" dirty="0" smtClean="0"/>
              <a:t>why and </a:t>
            </a:r>
            <a:r>
              <a:rPr lang="en-US" dirty="0"/>
              <a:t>when</a:t>
            </a:r>
            <a:r>
              <a:rPr lang="en-US" dirty="0" smtClean="0"/>
              <a:t>:</a:t>
            </a:r>
          </a:p>
          <a:p>
            <a:pPr lvl="1"/>
            <a:r>
              <a:rPr lang="en-US" dirty="0" smtClean="0"/>
              <a:t>Who are </a:t>
            </a:r>
            <a:r>
              <a:rPr lang="en-US" dirty="0"/>
              <a:t>you – what is your affiliation, why are you there?</a:t>
            </a:r>
          </a:p>
          <a:p>
            <a:pPr lvl="1"/>
            <a:r>
              <a:rPr lang="en-US" dirty="0" smtClean="0"/>
              <a:t>What are </a:t>
            </a:r>
            <a:r>
              <a:rPr lang="en-US" dirty="0"/>
              <a:t>you going to talk about?</a:t>
            </a:r>
          </a:p>
          <a:p>
            <a:pPr lvl="1"/>
            <a:r>
              <a:rPr lang="en-US" dirty="0" smtClean="0"/>
              <a:t>How long </a:t>
            </a:r>
            <a:r>
              <a:rPr lang="en-US" dirty="0"/>
              <a:t>will the presentation last?</a:t>
            </a:r>
          </a:p>
          <a:p>
            <a:pPr lvl="1"/>
            <a:r>
              <a:rPr lang="en-US" dirty="0" smtClean="0"/>
              <a:t>Why should </a:t>
            </a:r>
            <a:r>
              <a:rPr lang="en-US" dirty="0"/>
              <a:t>they listen to you – why is what you are going to say important and timely?</a:t>
            </a:r>
          </a:p>
          <a:p>
            <a:pPr lvl="1"/>
            <a:r>
              <a:rPr lang="en-US" dirty="0" smtClean="0"/>
              <a:t>When can </a:t>
            </a:r>
            <a:r>
              <a:rPr lang="en-US" dirty="0"/>
              <a:t>they ask questions – during the talk or at the end?</a:t>
            </a:r>
            <a:endParaRPr lang="en-GB" dirty="0"/>
          </a:p>
        </p:txBody>
      </p:sp>
    </p:spTree>
    <p:extLst>
      <p:ext uri="{BB962C8B-B14F-4D97-AF65-F5344CB8AC3E}">
        <p14:creationId xmlns:p14="http://schemas.microsoft.com/office/powerpoint/2010/main" val="23921532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visual aids</a:t>
            </a:r>
            <a:endParaRPr lang="en-GB" dirty="0"/>
          </a:p>
        </p:txBody>
      </p:sp>
      <p:sp>
        <p:nvSpPr>
          <p:cNvPr id="3" name="Content Placeholder 2"/>
          <p:cNvSpPr>
            <a:spLocks noGrp="1"/>
          </p:cNvSpPr>
          <p:nvPr>
            <p:ph idx="1"/>
          </p:nvPr>
        </p:nvSpPr>
        <p:spPr/>
        <p:txBody>
          <a:bodyPr>
            <a:normAutofit lnSpcReduction="10000"/>
          </a:bodyPr>
          <a:lstStyle/>
          <a:p>
            <a:pPr marL="0" indent="0">
              <a:buNone/>
            </a:pPr>
            <a:r>
              <a:rPr lang="en-US" dirty="0"/>
              <a:t>For presentations using overhead transparencies or a computer program </a:t>
            </a:r>
            <a:r>
              <a:rPr lang="en-US" dirty="0" smtClean="0"/>
              <a:t>like PowerPoint</a:t>
            </a:r>
            <a:r>
              <a:rPr lang="en-US" dirty="0"/>
              <a:t>, keep in mind these simple considerations</a:t>
            </a:r>
            <a:r>
              <a:rPr lang="en-US" dirty="0" smtClean="0"/>
              <a:t>:</a:t>
            </a:r>
          </a:p>
          <a:p>
            <a:pPr lvl="1"/>
            <a:r>
              <a:rPr lang="en-US" b="1" dirty="0" smtClean="0"/>
              <a:t>Detail </a:t>
            </a:r>
          </a:p>
          <a:p>
            <a:pPr lvl="1"/>
            <a:r>
              <a:rPr lang="en-US" b="1" dirty="0" smtClean="0"/>
              <a:t>Pictures </a:t>
            </a:r>
          </a:p>
          <a:p>
            <a:pPr lvl="1"/>
            <a:r>
              <a:rPr lang="en-US" b="1" dirty="0" smtClean="0"/>
              <a:t>Font </a:t>
            </a:r>
          </a:p>
          <a:p>
            <a:pPr lvl="1"/>
            <a:r>
              <a:rPr lang="en-US" b="1" dirty="0" smtClean="0"/>
              <a:t>Color </a:t>
            </a:r>
          </a:p>
          <a:p>
            <a:pPr lvl="1"/>
            <a:r>
              <a:rPr lang="en-GB" b="1" dirty="0" smtClean="0"/>
              <a:t>Multimedia </a:t>
            </a:r>
            <a:endParaRPr lang="en-GB" dirty="0" smtClean="0"/>
          </a:p>
          <a:p>
            <a:pPr lvl="1"/>
            <a:r>
              <a:rPr lang="en-GB" b="1" dirty="0" smtClean="0"/>
              <a:t>Orientation</a:t>
            </a:r>
          </a:p>
          <a:p>
            <a:pPr lvl="1"/>
            <a:r>
              <a:rPr lang="en-GB" b="1" dirty="0" smtClean="0"/>
              <a:t>Bullet points</a:t>
            </a:r>
          </a:p>
          <a:p>
            <a:pPr lvl="1"/>
            <a:r>
              <a:rPr lang="en-GB" b="1" dirty="0" smtClean="0"/>
              <a:t>Style</a:t>
            </a:r>
          </a:p>
          <a:p>
            <a:pPr lvl="1"/>
            <a:r>
              <a:rPr lang="en-GB" b="1" dirty="0" smtClean="0"/>
              <a:t>Slide transitions</a:t>
            </a:r>
            <a:endParaRPr lang="en-GB" b="1" dirty="0"/>
          </a:p>
        </p:txBody>
      </p:sp>
    </p:spTree>
    <p:extLst>
      <p:ext uri="{BB962C8B-B14F-4D97-AF65-F5344CB8AC3E}">
        <p14:creationId xmlns:p14="http://schemas.microsoft.com/office/powerpoint/2010/main" val="20238582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slide content</a:t>
            </a:r>
            <a:endParaRPr lang="en-GB" dirty="0"/>
          </a:p>
        </p:txBody>
      </p:sp>
      <p:sp>
        <p:nvSpPr>
          <p:cNvPr id="3" name="Content Placeholder 2"/>
          <p:cNvSpPr>
            <a:spLocks noGrp="1"/>
          </p:cNvSpPr>
          <p:nvPr>
            <p:ph idx="1"/>
          </p:nvPr>
        </p:nvSpPr>
        <p:spPr/>
        <p:txBody>
          <a:bodyPr>
            <a:normAutofit/>
          </a:bodyPr>
          <a:lstStyle/>
          <a:p>
            <a:pPr marL="0" indent="0">
              <a:buNone/>
            </a:pPr>
            <a:r>
              <a:rPr lang="en-US" dirty="0" smtClean="0"/>
              <a:t>Organize </a:t>
            </a:r>
            <a:r>
              <a:rPr lang="en-US" dirty="0"/>
              <a:t>your presentation into three distinct </a:t>
            </a:r>
            <a:r>
              <a:rPr lang="en-US" dirty="0" smtClean="0"/>
              <a:t>components:</a:t>
            </a:r>
          </a:p>
          <a:p>
            <a:pPr marL="514350" indent="-514350">
              <a:buFont typeface="+mj-lt"/>
              <a:buAutoNum type="arabicPeriod"/>
            </a:pPr>
            <a:r>
              <a:rPr lang="en-US" b="1" dirty="0" smtClean="0"/>
              <a:t>Introduction. </a:t>
            </a:r>
            <a:r>
              <a:rPr lang="en-US" dirty="0" smtClean="0"/>
              <a:t>One </a:t>
            </a:r>
            <a:r>
              <a:rPr lang="en-US" dirty="0"/>
              <a:t>or two slides that introduce you and your talk.</a:t>
            </a:r>
          </a:p>
          <a:p>
            <a:pPr marL="514350" indent="-514350">
              <a:buFont typeface="+mj-lt"/>
              <a:buAutoNum type="arabicPeriod"/>
            </a:pPr>
            <a:r>
              <a:rPr lang="en-US" b="1" dirty="0" smtClean="0"/>
              <a:t>Main body. </a:t>
            </a:r>
            <a:r>
              <a:rPr lang="en-US" dirty="0" smtClean="0"/>
              <a:t>The </a:t>
            </a:r>
            <a:r>
              <a:rPr lang="en-US" dirty="0"/>
              <a:t>slides that constitute the bulk of your presentation and cover </a:t>
            </a:r>
            <a:r>
              <a:rPr lang="en-US" dirty="0" smtClean="0"/>
              <a:t>the main </a:t>
            </a:r>
            <a:r>
              <a:rPr lang="en-US" dirty="0"/>
              <a:t>points that you wish to get across. How many slides you use within this </a:t>
            </a:r>
            <a:r>
              <a:rPr lang="en-US" dirty="0" smtClean="0"/>
              <a:t>section will </a:t>
            </a:r>
            <a:r>
              <a:rPr lang="en-US" dirty="0"/>
              <a:t>depend on the length of the presentation and the information you wish to convey</a:t>
            </a:r>
            <a:r>
              <a:rPr lang="en-US" dirty="0" smtClean="0"/>
              <a:t>.</a:t>
            </a:r>
          </a:p>
          <a:p>
            <a:pPr marL="514350" indent="-514350">
              <a:buFont typeface="+mj-lt"/>
              <a:buAutoNum type="arabicPeriod"/>
            </a:pPr>
            <a:r>
              <a:rPr lang="en-US" b="1" dirty="0" smtClean="0"/>
              <a:t>Summary/conclusion. </a:t>
            </a:r>
            <a:r>
              <a:rPr lang="en-US" dirty="0" smtClean="0"/>
              <a:t>A </a:t>
            </a:r>
            <a:r>
              <a:rPr lang="en-US" dirty="0"/>
              <a:t>few slides that </a:t>
            </a:r>
            <a:r>
              <a:rPr lang="en-US" dirty="0" smtClean="0"/>
              <a:t>summarize </a:t>
            </a:r>
            <a:r>
              <a:rPr lang="en-US" dirty="0"/>
              <a:t>your presentation and </a:t>
            </a:r>
            <a:r>
              <a:rPr lang="en-US" dirty="0" smtClean="0"/>
              <a:t>perhaps identify </a:t>
            </a:r>
            <a:r>
              <a:rPr lang="en-US" dirty="0"/>
              <a:t>areas of further work.</a:t>
            </a:r>
            <a:endParaRPr lang="en-GB" dirty="0"/>
          </a:p>
        </p:txBody>
      </p:sp>
    </p:spTree>
    <p:extLst>
      <p:ext uri="{BB962C8B-B14F-4D97-AF65-F5344CB8AC3E}">
        <p14:creationId xmlns:p14="http://schemas.microsoft.com/office/powerpoint/2010/main" val="35924262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delivery (1)</a:t>
            </a:r>
            <a:endParaRPr lang="en-GB" dirty="0"/>
          </a:p>
        </p:txBody>
      </p:sp>
      <p:sp>
        <p:nvSpPr>
          <p:cNvPr id="3" name="Content Placeholder 2"/>
          <p:cNvSpPr>
            <a:spLocks noGrp="1"/>
          </p:cNvSpPr>
          <p:nvPr>
            <p:ph idx="1"/>
          </p:nvPr>
        </p:nvSpPr>
        <p:spPr/>
        <p:txBody>
          <a:bodyPr>
            <a:normAutofit lnSpcReduction="10000"/>
          </a:bodyPr>
          <a:lstStyle/>
          <a:p>
            <a:r>
              <a:rPr lang="en-US" dirty="0"/>
              <a:t>Although you might be well prepared and your visual aids stunning, a poor </a:t>
            </a:r>
            <a:r>
              <a:rPr lang="en-US" dirty="0" smtClean="0"/>
              <a:t>delivery can </a:t>
            </a:r>
            <a:r>
              <a:rPr lang="en-US" dirty="0"/>
              <a:t>ruin your presentation. </a:t>
            </a:r>
            <a:endParaRPr lang="en-US" dirty="0" smtClean="0"/>
          </a:p>
          <a:p>
            <a:r>
              <a:rPr lang="en-US" dirty="0"/>
              <a:t>Rogerson (</a:t>
            </a:r>
            <a:r>
              <a:rPr lang="en-US" dirty="0" smtClean="0"/>
              <a:t>1989) </a:t>
            </a:r>
            <a:r>
              <a:rPr lang="en-US" dirty="0"/>
              <a:t>identifies a number of factors that </a:t>
            </a:r>
            <a:r>
              <a:rPr lang="en-US" dirty="0" smtClean="0"/>
              <a:t>can distract </a:t>
            </a:r>
            <a:r>
              <a:rPr lang="en-US" dirty="0"/>
              <a:t>the audience from what you are saying during delivery</a:t>
            </a:r>
            <a:r>
              <a:rPr lang="en-US" dirty="0" smtClean="0"/>
              <a:t>:</a:t>
            </a:r>
          </a:p>
          <a:p>
            <a:pPr lvl="1"/>
            <a:r>
              <a:rPr lang="en-US" dirty="0"/>
              <a:t>talking with your back to audience or mumbling. Lots of ‘</a:t>
            </a:r>
            <a:r>
              <a:rPr lang="en-US" dirty="0" err="1"/>
              <a:t>mmms</a:t>
            </a:r>
            <a:r>
              <a:rPr lang="en-US" dirty="0"/>
              <a:t>’ and ‘errs’;</a:t>
            </a:r>
          </a:p>
          <a:p>
            <a:pPr lvl="1"/>
            <a:r>
              <a:rPr lang="en-US" dirty="0" smtClean="0"/>
              <a:t>not </a:t>
            </a:r>
            <a:r>
              <a:rPr lang="en-US" dirty="0"/>
              <a:t>scanning the audience as a whole but focusing on one part of the room only;</a:t>
            </a:r>
          </a:p>
          <a:p>
            <a:pPr lvl="1"/>
            <a:r>
              <a:rPr lang="en-US" dirty="0" smtClean="0"/>
              <a:t>wild </a:t>
            </a:r>
            <a:r>
              <a:rPr lang="en-US" dirty="0"/>
              <a:t>gesticulation – people focus on this rather than what you are saying;</a:t>
            </a:r>
          </a:p>
          <a:p>
            <a:pPr lvl="1"/>
            <a:r>
              <a:rPr lang="en-US" dirty="0" smtClean="0"/>
              <a:t>irrelevant </a:t>
            </a:r>
            <a:r>
              <a:rPr lang="en-US" dirty="0"/>
              <a:t>information or sidetracking from the main point; or</a:t>
            </a:r>
          </a:p>
          <a:p>
            <a:pPr lvl="1"/>
            <a:r>
              <a:rPr lang="en-US" dirty="0" smtClean="0"/>
              <a:t>extraneous </a:t>
            </a:r>
            <a:r>
              <a:rPr lang="en-US" dirty="0"/>
              <a:t>noise.</a:t>
            </a:r>
            <a:endParaRPr lang="en-GB" dirty="0"/>
          </a:p>
        </p:txBody>
      </p:sp>
    </p:spTree>
    <p:extLst>
      <p:ext uri="{BB962C8B-B14F-4D97-AF65-F5344CB8AC3E}">
        <p14:creationId xmlns:p14="http://schemas.microsoft.com/office/powerpoint/2010/main" val="42832769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delivery (2)</a:t>
            </a:r>
            <a:endParaRPr lang="en-GB" dirty="0"/>
          </a:p>
        </p:txBody>
      </p:sp>
      <p:sp>
        <p:nvSpPr>
          <p:cNvPr id="3" name="Content Placeholder 2"/>
          <p:cNvSpPr>
            <a:spLocks noGrp="1"/>
          </p:cNvSpPr>
          <p:nvPr>
            <p:ph idx="1"/>
          </p:nvPr>
        </p:nvSpPr>
        <p:spPr>
          <a:xfrm>
            <a:off x="380999" y="1030288"/>
            <a:ext cx="11374967" cy="5556250"/>
          </a:xfrm>
        </p:spPr>
        <p:txBody>
          <a:bodyPr>
            <a:normAutofit/>
          </a:bodyPr>
          <a:lstStyle/>
          <a:p>
            <a:pPr marL="0" indent="0">
              <a:buNone/>
            </a:pPr>
            <a:r>
              <a:rPr lang="en-US" dirty="0"/>
              <a:t>Following are some tips for successful delivery</a:t>
            </a:r>
            <a:r>
              <a:rPr lang="en-US" dirty="0" smtClean="0"/>
              <a:t>:</a:t>
            </a:r>
          </a:p>
          <a:p>
            <a:pPr lvl="1"/>
            <a:r>
              <a:rPr lang="en-US" b="1" dirty="0"/>
              <a:t>Scanning</a:t>
            </a:r>
            <a:r>
              <a:rPr lang="en-US" b="1" dirty="0" smtClean="0"/>
              <a:t>. </a:t>
            </a:r>
            <a:r>
              <a:rPr lang="en-US" dirty="0" smtClean="0"/>
              <a:t>Make </a:t>
            </a:r>
            <a:r>
              <a:rPr lang="en-US" dirty="0"/>
              <a:t>sure that you scan around all the audience during your </a:t>
            </a:r>
            <a:r>
              <a:rPr lang="en-US" dirty="0" smtClean="0"/>
              <a:t>presentation and </a:t>
            </a:r>
            <a:r>
              <a:rPr lang="en-US" dirty="0"/>
              <a:t>remember to talk to people, not just their faces</a:t>
            </a:r>
            <a:r>
              <a:rPr lang="en-US" dirty="0" smtClean="0"/>
              <a:t>.</a:t>
            </a:r>
          </a:p>
          <a:p>
            <a:pPr lvl="1"/>
            <a:r>
              <a:rPr lang="en-US" b="1" dirty="0"/>
              <a:t>All clear</a:t>
            </a:r>
            <a:r>
              <a:rPr lang="en-US" b="1" dirty="0" smtClean="0"/>
              <a:t>? </a:t>
            </a:r>
            <a:r>
              <a:rPr lang="en-US" dirty="0" smtClean="0"/>
              <a:t>When </a:t>
            </a:r>
            <a:r>
              <a:rPr lang="en-US" dirty="0"/>
              <a:t>you put slides onto the overhead projector or you project slides </a:t>
            </a:r>
            <a:r>
              <a:rPr lang="en-US" dirty="0" smtClean="0"/>
              <a:t>from your </a:t>
            </a:r>
            <a:r>
              <a:rPr lang="en-US" dirty="0"/>
              <a:t>computer, make sure that they are clear</a:t>
            </a:r>
            <a:r>
              <a:rPr lang="en-US" dirty="0" smtClean="0"/>
              <a:t>.</a:t>
            </a:r>
          </a:p>
          <a:p>
            <a:pPr lvl="1"/>
            <a:r>
              <a:rPr lang="en-US" b="1" dirty="0"/>
              <a:t>Voice</a:t>
            </a:r>
            <a:r>
              <a:rPr lang="en-US" b="1" dirty="0" smtClean="0"/>
              <a:t>. </a:t>
            </a:r>
            <a:r>
              <a:rPr lang="en-US" dirty="0" smtClean="0"/>
              <a:t>Make </a:t>
            </a:r>
            <a:r>
              <a:rPr lang="en-US" dirty="0"/>
              <a:t>sure that you maintain a clear, confident voice throughout your presentation and don’t mumble. </a:t>
            </a:r>
            <a:endParaRPr lang="en-US" dirty="0" smtClean="0"/>
          </a:p>
          <a:p>
            <a:pPr lvl="1"/>
            <a:r>
              <a:rPr lang="en-US" b="1" dirty="0" smtClean="0"/>
              <a:t>Timing. </a:t>
            </a:r>
            <a:r>
              <a:rPr lang="en-US" dirty="0" smtClean="0"/>
              <a:t>Make </a:t>
            </a:r>
            <a:r>
              <a:rPr lang="en-US" dirty="0"/>
              <a:t>sure that you keep to your allotted time during your presentation</a:t>
            </a:r>
            <a:r>
              <a:rPr lang="en-US" dirty="0" smtClean="0"/>
              <a:t>.</a:t>
            </a:r>
          </a:p>
          <a:p>
            <a:pPr lvl="1"/>
            <a:r>
              <a:rPr lang="en-GB" b="1" dirty="0"/>
              <a:t>Pauses</a:t>
            </a:r>
            <a:r>
              <a:rPr lang="en-GB" b="1" dirty="0" smtClean="0"/>
              <a:t>. </a:t>
            </a:r>
            <a:r>
              <a:rPr lang="en-GB" dirty="0" smtClean="0"/>
              <a:t>Pauses</a:t>
            </a:r>
            <a:r>
              <a:rPr lang="en-US" dirty="0" smtClean="0"/>
              <a:t> </a:t>
            </a:r>
            <a:r>
              <a:rPr lang="en-US" dirty="0"/>
              <a:t>can be used for good effect during a presentation. The audience </a:t>
            </a:r>
            <a:r>
              <a:rPr lang="en-US" dirty="0" smtClean="0"/>
              <a:t>will pay </a:t>
            </a:r>
            <a:r>
              <a:rPr lang="en-US" dirty="0"/>
              <a:t>close attention to what you have to say after a pause, so use them only before </a:t>
            </a:r>
            <a:r>
              <a:rPr lang="en-US" dirty="0" smtClean="0"/>
              <a:t>you have </a:t>
            </a:r>
            <a:r>
              <a:rPr lang="en-US" dirty="0"/>
              <a:t>something important to say.</a:t>
            </a:r>
            <a:endParaRPr lang="en-GB" dirty="0"/>
          </a:p>
        </p:txBody>
      </p:sp>
    </p:spTree>
    <p:extLst>
      <p:ext uri="{BB962C8B-B14F-4D97-AF65-F5344CB8AC3E}">
        <p14:creationId xmlns:p14="http://schemas.microsoft.com/office/powerpoint/2010/main" val="30814323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dealing with questions (1)</a:t>
            </a:r>
            <a:endParaRPr lang="en-GB" dirty="0"/>
          </a:p>
        </p:txBody>
      </p:sp>
      <p:sp>
        <p:nvSpPr>
          <p:cNvPr id="3" name="Content Placeholder 2"/>
          <p:cNvSpPr>
            <a:spLocks noGrp="1"/>
          </p:cNvSpPr>
          <p:nvPr>
            <p:ph idx="1"/>
          </p:nvPr>
        </p:nvSpPr>
        <p:spPr>
          <a:xfrm>
            <a:off x="380999" y="1030288"/>
            <a:ext cx="11374967" cy="6013450"/>
          </a:xfrm>
        </p:spPr>
        <p:txBody>
          <a:bodyPr>
            <a:normAutofit/>
          </a:bodyPr>
          <a:lstStyle/>
          <a:p>
            <a:r>
              <a:rPr lang="en-US" dirty="0"/>
              <a:t>Although you might complete your presentation satisfactorily, quite often the hardest </a:t>
            </a:r>
            <a:r>
              <a:rPr lang="en-US" dirty="0" smtClean="0"/>
              <a:t>part of </a:t>
            </a:r>
            <a:r>
              <a:rPr lang="en-US" dirty="0"/>
              <a:t>an oral presentation is fielding the questions at the end. </a:t>
            </a:r>
            <a:endParaRPr lang="en-US" dirty="0" smtClean="0"/>
          </a:p>
          <a:p>
            <a:r>
              <a:rPr lang="en-US" dirty="0"/>
              <a:t>Following are a few points to help you deal with questions</a:t>
            </a:r>
            <a:r>
              <a:rPr lang="en-US" dirty="0" smtClean="0"/>
              <a:t>:</a:t>
            </a:r>
          </a:p>
          <a:p>
            <a:pPr lvl="1"/>
            <a:r>
              <a:rPr lang="en-US" b="1" dirty="0" smtClean="0"/>
              <a:t>Preparation:</a:t>
            </a:r>
          </a:p>
          <a:p>
            <a:pPr lvl="2"/>
            <a:r>
              <a:rPr lang="en-US" dirty="0" smtClean="0"/>
              <a:t>Try to </a:t>
            </a:r>
            <a:r>
              <a:rPr lang="en-US" dirty="0"/>
              <a:t>think beforehand what kinds of questions you might be asked</a:t>
            </a:r>
            <a:r>
              <a:rPr lang="en-US" dirty="0" smtClean="0"/>
              <a:t>: will </a:t>
            </a:r>
            <a:r>
              <a:rPr lang="en-US" dirty="0"/>
              <a:t>they be technical or more general</a:t>
            </a:r>
            <a:r>
              <a:rPr lang="en-US" dirty="0" smtClean="0"/>
              <a:t>?</a:t>
            </a:r>
          </a:p>
          <a:p>
            <a:pPr lvl="1"/>
            <a:r>
              <a:rPr lang="en-US" b="1" dirty="0"/>
              <a:t>Repeat the </a:t>
            </a:r>
            <a:r>
              <a:rPr lang="en-US" b="1" dirty="0" smtClean="0"/>
              <a:t>question:</a:t>
            </a:r>
          </a:p>
          <a:p>
            <a:pPr lvl="2"/>
            <a:r>
              <a:rPr lang="en-US" dirty="0" smtClean="0"/>
              <a:t>Sometimes </a:t>
            </a:r>
            <a:r>
              <a:rPr lang="en-US" dirty="0"/>
              <a:t>the audience doesn’t hear the whole question </a:t>
            </a:r>
            <a:r>
              <a:rPr lang="en-US" dirty="0" smtClean="0"/>
              <a:t>when it </a:t>
            </a:r>
            <a:r>
              <a:rPr lang="en-US" dirty="0"/>
              <a:t>is asked so repeat the question </a:t>
            </a:r>
            <a:r>
              <a:rPr lang="en-US" dirty="0" smtClean="0"/>
              <a:t>before </a:t>
            </a:r>
            <a:r>
              <a:rPr lang="en-US" dirty="0"/>
              <a:t>you begin to answer it. </a:t>
            </a:r>
            <a:endParaRPr lang="en-US" dirty="0" smtClean="0"/>
          </a:p>
          <a:p>
            <a:pPr lvl="2"/>
            <a:r>
              <a:rPr lang="en-US" dirty="0" smtClean="0"/>
              <a:t>This technique </a:t>
            </a:r>
            <a:r>
              <a:rPr lang="en-US" dirty="0"/>
              <a:t>will also give you a moment to collect your </a:t>
            </a:r>
            <a:r>
              <a:rPr lang="en-US" dirty="0" smtClean="0"/>
              <a:t>thoughts.</a:t>
            </a:r>
          </a:p>
        </p:txBody>
      </p:sp>
    </p:spTree>
    <p:extLst>
      <p:ext uri="{BB962C8B-B14F-4D97-AF65-F5344CB8AC3E}">
        <p14:creationId xmlns:p14="http://schemas.microsoft.com/office/powerpoint/2010/main" val="41638957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dealing with questions (2)</a:t>
            </a:r>
            <a:endParaRPr lang="en-GB" dirty="0"/>
          </a:p>
        </p:txBody>
      </p:sp>
      <p:sp>
        <p:nvSpPr>
          <p:cNvPr id="3" name="Content Placeholder 2"/>
          <p:cNvSpPr>
            <a:spLocks noGrp="1"/>
          </p:cNvSpPr>
          <p:nvPr>
            <p:ph idx="1"/>
          </p:nvPr>
        </p:nvSpPr>
        <p:spPr>
          <a:xfrm>
            <a:off x="380999" y="1030288"/>
            <a:ext cx="11374967" cy="6013450"/>
          </a:xfrm>
        </p:spPr>
        <p:txBody>
          <a:bodyPr>
            <a:normAutofit/>
          </a:bodyPr>
          <a:lstStyle/>
          <a:p>
            <a:pPr lvl="1"/>
            <a:r>
              <a:rPr lang="en-US" b="1" dirty="0" smtClean="0"/>
              <a:t>Confidence:</a:t>
            </a:r>
          </a:p>
          <a:p>
            <a:pPr lvl="2"/>
            <a:r>
              <a:rPr lang="en-US" dirty="0" smtClean="0"/>
              <a:t> At </a:t>
            </a:r>
            <a:r>
              <a:rPr lang="en-US" dirty="0"/>
              <a:t>all times try to remain confident. </a:t>
            </a:r>
            <a:endParaRPr lang="en-US" dirty="0" smtClean="0"/>
          </a:p>
          <a:p>
            <a:pPr lvl="1"/>
            <a:r>
              <a:rPr lang="en-US" b="1" dirty="0" smtClean="0"/>
              <a:t>Brevity:</a:t>
            </a:r>
          </a:p>
          <a:p>
            <a:pPr lvl="2"/>
            <a:r>
              <a:rPr lang="en-US" b="1" dirty="0" smtClean="0"/>
              <a:t> </a:t>
            </a:r>
            <a:r>
              <a:rPr lang="en-US" dirty="0" smtClean="0"/>
              <a:t>Try </a:t>
            </a:r>
            <a:r>
              <a:rPr lang="en-US" dirty="0"/>
              <a:t>to keep your answers brief and to the point</a:t>
            </a:r>
            <a:r>
              <a:rPr lang="en-US" dirty="0" smtClean="0"/>
              <a:t>.</a:t>
            </a:r>
          </a:p>
          <a:p>
            <a:pPr lvl="1"/>
            <a:r>
              <a:rPr lang="en-US" b="1" dirty="0" smtClean="0"/>
              <a:t>Clarification:</a:t>
            </a:r>
          </a:p>
          <a:p>
            <a:pPr lvl="2"/>
            <a:r>
              <a:rPr lang="en-US" dirty="0" smtClean="0"/>
              <a:t> You </a:t>
            </a:r>
            <a:r>
              <a:rPr lang="en-US" dirty="0"/>
              <a:t>should always ask for clarification if you haven’t understood </a:t>
            </a:r>
            <a:r>
              <a:rPr lang="en-US" dirty="0" smtClean="0"/>
              <a:t>a question.</a:t>
            </a:r>
          </a:p>
          <a:p>
            <a:pPr lvl="1"/>
            <a:r>
              <a:rPr lang="en-US" b="1" dirty="0"/>
              <a:t>Address the </a:t>
            </a:r>
            <a:r>
              <a:rPr lang="en-US" b="1" dirty="0" smtClean="0"/>
              <a:t>audience:</a:t>
            </a:r>
            <a:r>
              <a:rPr lang="en-US" dirty="0" smtClean="0"/>
              <a:t> </a:t>
            </a:r>
          </a:p>
          <a:p>
            <a:pPr lvl="2"/>
            <a:r>
              <a:rPr lang="en-US" dirty="0" smtClean="0"/>
              <a:t>When </a:t>
            </a:r>
            <a:r>
              <a:rPr lang="en-US" dirty="0"/>
              <a:t>you answer questions, make sure that you </a:t>
            </a:r>
            <a:r>
              <a:rPr lang="en-US" dirty="0" smtClean="0"/>
              <a:t>address your </a:t>
            </a:r>
            <a:r>
              <a:rPr lang="en-US" dirty="0"/>
              <a:t>answer to the whole audience.</a:t>
            </a:r>
            <a:endParaRPr lang="en-US" dirty="0" smtClean="0"/>
          </a:p>
          <a:p>
            <a:pPr lvl="1"/>
            <a:endParaRPr lang="en-GB" dirty="0"/>
          </a:p>
        </p:txBody>
      </p:sp>
    </p:spTree>
    <p:extLst>
      <p:ext uri="{BB962C8B-B14F-4D97-AF65-F5344CB8AC3E}">
        <p14:creationId xmlns:p14="http://schemas.microsoft.com/office/powerpoint/2010/main" val="20746636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presentation tips (1)</a:t>
            </a:r>
            <a:endParaRPr lang="en-GB" dirty="0"/>
          </a:p>
        </p:txBody>
      </p:sp>
      <p:sp>
        <p:nvSpPr>
          <p:cNvPr id="3" name="Content Placeholder 2"/>
          <p:cNvSpPr>
            <a:spLocks noGrp="1"/>
          </p:cNvSpPr>
          <p:nvPr>
            <p:ph idx="1"/>
          </p:nvPr>
        </p:nvSpPr>
        <p:spPr>
          <a:xfrm>
            <a:off x="380999" y="1030287"/>
            <a:ext cx="11374967" cy="5827713"/>
          </a:xfrm>
        </p:spPr>
        <p:txBody>
          <a:bodyPr>
            <a:normAutofit/>
          </a:bodyPr>
          <a:lstStyle/>
          <a:p>
            <a:pPr marL="0" indent="0">
              <a:buNone/>
            </a:pPr>
            <a:r>
              <a:rPr lang="en-US" dirty="0"/>
              <a:t>Following are a few tips to improve your oral presentations.</a:t>
            </a:r>
          </a:p>
          <a:p>
            <a:pPr lvl="1"/>
            <a:r>
              <a:rPr lang="en-US" b="1" dirty="0" smtClean="0"/>
              <a:t>Time:</a:t>
            </a:r>
          </a:p>
          <a:p>
            <a:pPr lvl="2"/>
            <a:r>
              <a:rPr lang="en-US" b="1" dirty="0" smtClean="0"/>
              <a:t> </a:t>
            </a:r>
            <a:r>
              <a:rPr lang="en-US" dirty="0" smtClean="0"/>
              <a:t>If </a:t>
            </a:r>
            <a:r>
              <a:rPr lang="en-US" dirty="0"/>
              <a:t>you have difficulty keeping to </a:t>
            </a:r>
            <a:r>
              <a:rPr lang="en-US" dirty="0" smtClean="0"/>
              <a:t>time, have some </a:t>
            </a:r>
            <a:r>
              <a:rPr lang="en-US" dirty="0"/>
              <a:t>spare slides you can ‘drop in’ or take out of your presentation depending </a:t>
            </a:r>
            <a:r>
              <a:rPr lang="en-US" dirty="0" smtClean="0"/>
              <a:t>on how </a:t>
            </a:r>
            <a:r>
              <a:rPr lang="en-US" dirty="0"/>
              <a:t>time is progressing.</a:t>
            </a:r>
          </a:p>
          <a:p>
            <a:pPr lvl="1"/>
            <a:r>
              <a:rPr lang="en-US" b="1" dirty="0" smtClean="0"/>
              <a:t>Pointers:</a:t>
            </a:r>
          </a:p>
          <a:p>
            <a:pPr lvl="2"/>
            <a:r>
              <a:rPr lang="en-US" dirty="0" smtClean="0"/>
              <a:t>Try </a:t>
            </a:r>
            <a:r>
              <a:rPr lang="en-US" dirty="0"/>
              <a:t>to avoid using laser pointers</a:t>
            </a:r>
            <a:r>
              <a:rPr lang="en-US" dirty="0" smtClean="0"/>
              <a:t>.</a:t>
            </a:r>
          </a:p>
          <a:p>
            <a:pPr lvl="1"/>
            <a:r>
              <a:rPr lang="en-US" b="1" dirty="0" smtClean="0"/>
              <a:t>Movement</a:t>
            </a:r>
            <a:r>
              <a:rPr lang="en-US" b="1" dirty="0"/>
              <a:t>:</a:t>
            </a:r>
            <a:r>
              <a:rPr lang="en-US" b="1" dirty="0" smtClean="0"/>
              <a:t> </a:t>
            </a:r>
          </a:p>
          <a:p>
            <a:pPr lvl="2"/>
            <a:r>
              <a:rPr lang="en-US" dirty="0" smtClean="0"/>
              <a:t>Many </a:t>
            </a:r>
            <a:r>
              <a:rPr lang="en-US" dirty="0"/>
              <a:t>people fidget and move around alarmingly when they are giving </a:t>
            </a:r>
            <a:r>
              <a:rPr lang="en-US" dirty="0" smtClean="0"/>
              <a:t>a presentation</a:t>
            </a:r>
            <a:r>
              <a:rPr lang="en-US" dirty="0"/>
              <a:t>. </a:t>
            </a:r>
            <a:endParaRPr lang="en-US" dirty="0" smtClean="0"/>
          </a:p>
          <a:p>
            <a:pPr lvl="2"/>
            <a:r>
              <a:rPr lang="en-US" dirty="0" smtClean="0"/>
              <a:t>With </a:t>
            </a:r>
            <a:r>
              <a:rPr lang="en-US" dirty="0"/>
              <a:t>practice you can suppress these urges and learn to avoid </a:t>
            </a:r>
            <a:r>
              <a:rPr lang="en-US" dirty="0" smtClean="0"/>
              <a:t>annoying habits </a:t>
            </a:r>
            <a:r>
              <a:rPr lang="en-US" dirty="0"/>
              <a:t>such as jangling keys in your pocket</a:t>
            </a:r>
            <a:r>
              <a:rPr lang="en-US" dirty="0" smtClean="0"/>
              <a:t>.</a:t>
            </a:r>
          </a:p>
          <a:p>
            <a:endParaRPr lang="en-GB" dirty="0"/>
          </a:p>
        </p:txBody>
      </p:sp>
    </p:spTree>
    <p:extLst>
      <p:ext uri="{BB962C8B-B14F-4D97-AF65-F5344CB8AC3E}">
        <p14:creationId xmlns:p14="http://schemas.microsoft.com/office/powerpoint/2010/main" val="84973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Oral Presentation: presentation tips (2)</a:t>
            </a:r>
            <a:endParaRPr lang="en-GB" dirty="0"/>
          </a:p>
        </p:txBody>
      </p:sp>
      <p:sp>
        <p:nvSpPr>
          <p:cNvPr id="3" name="Content Placeholder 2"/>
          <p:cNvSpPr>
            <a:spLocks noGrp="1"/>
          </p:cNvSpPr>
          <p:nvPr>
            <p:ph idx="1"/>
          </p:nvPr>
        </p:nvSpPr>
        <p:spPr>
          <a:xfrm>
            <a:off x="380999" y="1030287"/>
            <a:ext cx="11374967" cy="5827713"/>
          </a:xfrm>
        </p:spPr>
        <p:txBody>
          <a:bodyPr>
            <a:normAutofit/>
          </a:bodyPr>
          <a:lstStyle/>
          <a:p>
            <a:pPr lvl="1"/>
            <a:r>
              <a:rPr lang="en-US" b="1" dirty="0" smtClean="0"/>
              <a:t>Nerves:</a:t>
            </a:r>
          </a:p>
          <a:p>
            <a:pPr lvl="2"/>
            <a:r>
              <a:rPr lang="en-US" b="1" dirty="0" smtClean="0"/>
              <a:t> </a:t>
            </a:r>
            <a:r>
              <a:rPr lang="en-US" dirty="0" smtClean="0"/>
              <a:t>Everybody </a:t>
            </a:r>
            <a:r>
              <a:rPr lang="en-US" dirty="0"/>
              <a:t>suffers from nerves to some extent or another. </a:t>
            </a:r>
            <a:endParaRPr lang="en-US" dirty="0" smtClean="0"/>
          </a:p>
          <a:p>
            <a:pPr lvl="2"/>
            <a:r>
              <a:rPr lang="en-US" dirty="0" smtClean="0"/>
              <a:t>While </a:t>
            </a:r>
            <a:r>
              <a:rPr lang="en-US" dirty="0"/>
              <a:t>nerves </a:t>
            </a:r>
            <a:r>
              <a:rPr lang="en-US" dirty="0" smtClean="0"/>
              <a:t>are never </a:t>
            </a:r>
            <a:r>
              <a:rPr lang="en-US" dirty="0"/>
              <a:t>totally eliminated, they do ebb as you become more and more used to </a:t>
            </a:r>
            <a:r>
              <a:rPr lang="en-US" dirty="0" smtClean="0"/>
              <a:t>giving presentations</a:t>
            </a:r>
            <a:r>
              <a:rPr lang="en-US" dirty="0"/>
              <a:t>. </a:t>
            </a:r>
            <a:endParaRPr lang="en-US" dirty="0" smtClean="0"/>
          </a:p>
          <a:p>
            <a:pPr lvl="1"/>
            <a:r>
              <a:rPr lang="en-US" b="1" dirty="0"/>
              <a:t>Technical </a:t>
            </a:r>
            <a:r>
              <a:rPr lang="en-US" b="1" dirty="0" smtClean="0"/>
              <a:t>failure: </a:t>
            </a:r>
          </a:p>
          <a:p>
            <a:pPr lvl="2"/>
            <a:r>
              <a:rPr lang="en-US" dirty="0" smtClean="0"/>
              <a:t>Overhead </a:t>
            </a:r>
            <a:r>
              <a:rPr lang="en-US" dirty="0"/>
              <a:t>projectors are not infallible (the bulbs do blow </a:t>
            </a:r>
            <a:r>
              <a:rPr lang="en-US" dirty="0" smtClean="0"/>
              <a:t>in them </a:t>
            </a:r>
            <a:r>
              <a:rPr lang="en-US" dirty="0"/>
              <a:t>quite frequently) and laptops linked to projectors do go wrong from time </a:t>
            </a:r>
            <a:r>
              <a:rPr lang="en-US" dirty="0" smtClean="0"/>
              <a:t>to time. </a:t>
            </a:r>
          </a:p>
          <a:p>
            <a:pPr lvl="2"/>
            <a:r>
              <a:rPr lang="en-US" dirty="0" smtClean="0"/>
              <a:t>Have a contingency plan – may be continue with printed handouts.</a:t>
            </a:r>
            <a:endParaRPr lang="en-US" dirty="0"/>
          </a:p>
          <a:p>
            <a:endParaRPr lang="en-GB" dirty="0"/>
          </a:p>
        </p:txBody>
      </p:sp>
    </p:spTree>
    <p:extLst>
      <p:ext uri="{BB962C8B-B14F-4D97-AF65-F5344CB8AC3E}">
        <p14:creationId xmlns:p14="http://schemas.microsoft.com/office/powerpoint/2010/main" val="39828364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Demonstrating software (1)</a:t>
            </a:r>
            <a:endParaRPr lang="en-GB" dirty="0"/>
          </a:p>
        </p:txBody>
      </p:sp>
      <p:sp>
        <p:nvSpPr>
          <p:cNvPr id="3" name="Content Placeholder 2"/>
          <p:cNvSpPr>
            <a:spLocks noGrp="1"/>
          </p:cNvSpPr>
          <p:nvPr>
            <p:ph idx="1"/>
          </p:nvPr>
        </p:nvSpPr>
        <p:spPr/>
        <p:txBody>
          <a:bodyPr>
            <a:normAutofit/>
          </a:bodyPr>
          <a:lstStyle/>
          <a:p>
            <a:r>
              <a:rPr lang="en-US" dirty="0" smtClean="0"/>
              <a:t>There are ways </a:t>
            </a:r>
            <a:r>
              <a:rPr lang="en-US" dirty="0"/>
              <a:t>to prepare </a:t>
            </a:r>
            <a:r>
              <a:rPr lang="en-US" dirty="0" smtClean="0"/>
              <a:t>for such </a:t>
            </a:r>
            <a:r>
              <a:rPr lang="en-US" dirty="0"/>
              <a:t>a presentation, some considerations you should make before your </a:t>
            </a:r>
            <a:r>
              <a:rPr lang="en-US" dirty="0" smtClean="0"/>
              <a:t>demonstration and </a:t>
            </a:r>
            <a:r>
              <a:rPr lang="en-US" dirty="0"/>
              <a:t>some tips that will assist you</a:t>
            </a:r>
            <a:r>
              <a:rPr lang="en-US" dirty="0" smtClean="0"/>
              <a:t>.</a:t>
            </a:r>
            <a:endParaRPr lang="en-GB" dirty="0"/>
          </a:p>
          <a:p>
            <a:r>
              <a:rPr lang="en-US" dirty="0" smtClean="0"/>
              <a:t>First you </a:t>
            </a:r>
            <a:r>
              <a:rPr lang="en-US" dirty="0"/>
              <a:t>should </a:t>
            </a:r>
            <a:r>
              <a:rPr lang="en-US" dirty="0" smtClean="0"/>
              <a:t>decide </a:t>
            </a:r>
            <a:r>
              <a:rPr lang="en-US" dirty="0"/>
              <a:t>how you want the demonstration to be performed</a:t>
            </a:r>
            <a:r>
              <a:rPr lang="en-US" dirty="0" smtClean="0"/>
              <a:t>:</a:t>
            </a:r>
          </a:p>
          <a:p>
            <a:pPr marL="971550" lvl="1" indent="-514350">
              <a:buFont typeface="+mj-lt"/>
              <a:buAutoNum type="arabicPeriod"/>
            </a:pPr>
            <a:r>
              <a:rPr lang="en-US" dirty="0" smtClean="0"/>
              <a:t>Solo running</a:t>
            </a:r>
          </a:p>
          <a:p>
            <a:pPr marL="971550" lvl="1" indent="-514350">
              <a:buFont typeface="+mj-lt"/>
              <a:buAutoNum type="arabicPeriod"/>
            </a:pPr>
            <a:r>
              <a:rPr lang="en-US" dirty="0" smtClean="0"/>
              <a:t>Rolling demonstration</a:t>
            </a:r>
          </a:p>
          <a:p>
            <a:pPr marL="971550" lvl="1" indent="-514350">
              <a:buFont typeface="+mj-lt"/>
              <a:buAutoNum type="arabicPeriod"/>
            </a:pPr>
            <a:r>
              <a:rPr lang="en-US" dirty="0" smtClean="0"/>
              <a:t>Audience participation</a:t>
            </a:r>
          </a:p>
          <a:p>
            <a:pPr marL="971550" lvl="1" indent="-514350">
              <a:buFont typeface="+mj-lt"/>
              <a:buAutoNum type="arabicPeriod"/>
            </a:pPr>
            <a:r>
              <a:rPr lang="en-US" dirty="0" smtClean="0"/>
              <a:t>Audience running</a:t>
            </a:r>
          </a:p>
          <a:p>
            <a:pPr marL="971550" lvl="1" indent="-514350">
              <a:buFont typeface="+mj-lt"/>
              <a:buAutoNum type="arabicPeriod"/>
            </a:pPr>
            <a:r>
              <a:rPr lang="en-US" dirty="0" smtClean="0"/>
              <a:t>Supporting presentation</a:t>
            </a:r>
            <a:endParaRPr lang="en-GB" dirty="0"/>
          </a:p>
        </p:txBody>
      </p:sp>
    </p:spTree>
    <p:extLst>
      <p:ext uri="{BB962C8B-B14F-4D97-AF65-F5344CB8AC3E}">
        <p14:creationId xmlns:p14="http://schemas.microsoft.com/office/powerpoint/2010/main" val="183671016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Demonstrating software (2)</a:t>
            </a:r>
            <a:endParaRPr lang="en-GB" dirty="0"/>
          </a:p>
        </p:txBody>
      </p:sp>
      <p:sp>
        <p:nvSpPr>
          <p:cNvPr id="3" name="Content Placeholder 2"/>
          <p:cNvSpPr>
            <a:spLocks noGrp="1"/>
          </p:cNvSpPr>
          <p:nvPr>
            <p:ph idx="1"/>
          </p:nvPr>
        </p:nvSpPr>
        <p:spPr/>
        <p:txBody>
          <a:bodyPr>
            <a:normAutofit/>
          </a:bodyPr>
          <a:lstStyle/>
          <a:p>
            <a:r>
              <a:rPr lang="en-GB" b="1" dirty="0"/>
              <a:t>Solo </a:t>
            </a:r>
            <a:r>
              <a:rPr lang="en-GB" b="1" dirty="0" smtClean="0"/>
              <a:t>running</a:t>
            </a:r>
          </a:p>
          <a:p>
            <a:pPr lvl="1"/>
            <a:r>
              <a:rPr lang="en-US" dirty="0"/>
              <a:t>You run through a particular, planned sequence of tasks on your own with no interruptions or audience interaction. </a:t>
            </a:r>
          </a:p>
          <a:p>
            <a:pPr lvl="1"/>
            <a:r>
              <a:rPr lang="en-US" dirty="0"/>
              <a:t>This approach is not advisable as it might appear that you are ‘protecting’ your program’s weaknesses by merely demonstrating some simplistic features. </a:t>
            </a:r>
          </a:p>
          <a:p>
            <a:r>
              <a:rPr lang="en-GB" b="1" dirty="0"/>
              <a:t>Rolling </a:t>
            </a:r>
            <a:r>
              <a:rPr lang="en-GB" b="1" dirty="0" smtClean="0"/>
              <a:t>demonstration</a:t>
            </a:r>
          </a:p>
          <a:p>
            <a:pPr lvl="1"/>
            <a:r>
              <a:rPr lang="en-US" dirty="0"/>
              <a:t>The software runs itself through a predetermined demonstration that cannot be interacted with. </a:t>
            </a:r>
          </a:p>
          <a:p>
            <a:pPr lvl="1"/>
            <a:r>
              <a:rPr lang="en-US" dirty="0"/>
              <a:t>This might be a demonstration package you have developed rather than the software package itself.</a:t>
            </a:r>
            <a:endParaRPr lang="en-GB" dirty="0"/>
          </a:p>
          <a:p>
            <a:endParaRPr lang="en-GB" dirty="0"/>
          </a:p>
          <a:p>
            <a:endParaRPr lang="en-GB" dirty="0"/>
          </a:p>
        </p:txBody>
      </p:sp>
    </p:spTree>
    <p:extLst>
      <p:ext uri="{BB962C8B-B14F-4D97-AF65-F5344CB8AC3E}">
        <p14:creationId xmlns:p14="http://schemas.microsoft.com/office/powerpoint/2010/main" val="3842787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Demonstrating software (3)</a:t>
            </a:r>
            <a:endParaRPr lang="en-GB" dirty="0"/>
          </a:p>
        </p:txBody>
      </p:sp>
      <p:sp>
        <p:nvSpPr>
          <p:cNvPr id="3" name="Content Placeholder 2"/>
          <p:cNvSpPr>
            <a:spLocks noGrp="1"/>
          </p:cNvSpPr>
          <p:nvPr>
            <p:ph idx="1"/>
          </p:nvPr>
        </p:nvSpPr>
        <p:spPr/>
        <p:txBody>
          <a:bodyPr>
            <a:normAutofit/>
          </a:bodyPr>
          <a:lstStyle/>
          <a:p>
            <a:r>
              <a:rPr lang="en-GB" b="1" dirty="0"/>
              <a:t>Audience participation</a:t>
            </a:r>
          </a:p>
          <a:p>
            <a:pPr lvl="1"/>
            <a:r>
              <a:rPr lang="en-US" dirty="0"/>
              <a:t>You allow the audience to request things or suggest examples as you run through the program in a relatively free manner. </a:t>
            </a:r>
          </a:p>
          <a:p>
            <a:pPr lvl="1"/>
            <a:r>
              <a:rPr lang="en-US" dirty="0"/>
              <a:t>This is the most common approach to software demonstrations where you have an approximate idea</a:t>
            </a:r>
          </a:p>
          <a:p>
            <a:r>
              <a:rPr lang="en-GB" b="1" dirty="0"/>
              <a:t>Audience running</a:t>
            </a:r>
          </a:p>
          <a:p>
            <a:pPr lvl="1"/>
            <a:r>
              <a:rPr lang="en-US" dirty="0"/>
              <a:t>You permit the audience to play with the software with you guiding them. </a:t>
            </a:r>
          </a:p>
          <a:p>
            <a:pPr lvl="1"/>
            <a:r>
              <a:rPr lang="en-US" dirty="0"/>
              <a:t>This approach is suitable for a software tool that is demonstrating usability and ease of learning.</a:t>
            </a:r>
            <a:endParaRPr lang="en-GB" dirty="0"/>
          </a:p>
          <a:p>
            <a:endParaRPr lang="en-GB" dirty="0"/>
          </a:p>
          <a:p>
            <a:endParaRPr lang="en-GB" dirty="0"/>
          </a:p>
        </p:txBody>
      </p:sp>
    </p:spTree>
    <p:extLst>
      <p:ext uri="{BB962C8B-B14F-4D97-AF65-F5344CB8AC3E}">
        <p14:creationId xmlns:p14="http://schemas.microsoft.com/office/powerpoint/2010/main" val="38802788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Demonstrating software (4)</a:t>
            </a:r>
            <a:endParaRPr lang="en-GB" dirty="0"/>
          </a:p>
        </p:txBody>
      </p:sp>
      <p:sp>
        <p:nvSpPr>
          <p:cNvPr id="3" name="Content Placeholder 2"/>
          <p:cNvSpPr>
            <a:spLocks noGrp="1"/>
          </p:cNvSpPr>
          <p:nvPr>
            <p:ph idx="1"/>
          </p:nvPr>
        </p:nvSpPr>
        <p:spPr/>
        <p:txBody>
          <a:bodyPr>
            <a:normAutofit/>
          </a:bodyPr>
          <a:lstStyle/>
          <a:p>
            <a:pPr marL="0" indent="0">
              <a:buNone/>
            </a:pPr>
            <a:r>
              <a:rPr lang="en-GB" b="1" dirty="0" smtClean="0"/>
              <a:t>Supporting participation</a:t>
            </a:r>
            <a:endParaRPr lang="en-US" b="1" dirty="0" smtClean="0"/>
          </a:p>
          <a:p>
            <a:pPr lvl="1"/>
            <a:r>
              <a:rPr lang="en-US" dirty="0" smtClean="0"/>
              <a:t>When students perform software demonstrations they sometimes use two machines. </a:t>
            </a:r>
          </a:p>
          <a:p>
            <a:pPr lvl="1"/>
            <a:r>
              <a:rPr lang="en-US" dirty="0" smtClean="0"/>
              <a:t>One </a:t>
            </a:r>
            <a:r>
              <a:rPr lang="en-US" dirty="0"/>
              <a:t>is for the demonstration of the software; the </a:t>
            </a:r>
            <a:r>
              <a:rPr lang="en-US" dirty="0" smtClean="0"/>
              <a:t>other is </a:t>
            </a:r>
            <a:r>
              <a:rPr lang="en-US" dirty="0"/>
              <a:t>for a short PowerPoint-style presentation that introduces the demonstration – </a:t>
            </a:r>
            <a:r>
              <a:rPr lang="en-US" dirty="0" smtClean="0"/>
              <a:t>the project</a:t>
            </a:r>
            <a:r>
              <a:rPr lang="en-US" dirty="0"/>
              <a:t>, the client, the format of the demonstration and so on. </a:t>
            </a:r>
            <a:endParaRPr lang="en-US" dirty="0" smtClean="0"/>
          </a:p>
          <a:p>
            <a:pPr lvl="1"/>
            <a:r>
              <a:rPr lang="en-US" dirty="0" smtClean="0"/>
              <a:t>You </a:t>
            </a:r>
            <a:r>
              <a:rPr lang="en-US" dirty="0"/>
              <a:t>can run the presentation and the demonstration on the same machine but there is a risk that </a:t>
            </a:r>
            <a:r>
              <a:rPr lang="en-US" dirty="0" smtClean="0"/>
              <a:t>your software </a:t>
            </a:r>
            <a:r>
              <a:rPr lang="en-US" dirty="0"/>
              <a:t>won’t load and run smoothly while the presentation package is still </a:t>
            </a:r>
            <a:r>
              <a:rPr lang="en-US" dirty="0" smtClean="0"/>
              <a:t>running in </a:t>
            </a:r>
            <a:r>
              <a:rPr lang="en-US" dirty="0"/>
              <a:t>the background.</a:t>
            </a:r>
            <a:endParaRPr lang="en-US" dirty="0" smtClean="0"/>
          </a:p>
        </p:txBody>
      </p:sp>
    </p:spTree>
    <p:extLst>
      <p:ext uri="{BB962C8B-B14F-4D97-AF65-F5344CB8AC3E}">
        <p14:creationId xmlns:p14="http://schemas.microsoft.com/office/powerpoint/2010/main" val="3060648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Demonstrating software: Things to remember</a:t>
            </a:r>
            <a:endParaRPr lang="en-GB" dirty="0"/>
          </a:p>
        </p:txBody>
      </p:sp>
      <p:sp>
        <p:nvSpPr>
          <p:cNvPr id="3" name="Content Placeholder 2"/>
          <p:cNvSpPr>
            <a:spLocks noGrp="1"/>
          </p:cNvSpPr>
          <p:nvPr>
            <p:ph idx="1"/>
          </p:nvPr>
        </p:nvSpPr>
        <p:spPr>
          <a:xfrm>
            <a:off x="380999" y="1030288"/>
            <a:ext cx="11374967" cy="5656262"/>
          </a:xfrm>
        </p:spPr>
        <p:txBody>
          <a:bodyPr>
            <a:normAutofit lnSpcReduction="10000"/>
          </a:bodyPr>
          <a:lstStyle/>
          <a:p>
            <a:pPr marL="0" indent="0">
              <a:buNone/>
            </a:pPr>
            <a:r>
              <a:rPr lang="en-US" dirty="0"/>
              <a:t>When you prepare your demonstration, keep in mind the </a:t>
            </a:r>
            <a:r>
              <a:rPr lang="en-US" dirty="0" smtClean="0"/>
              <a:t>time, the audience and </a:t>
            </a:r>
            <a:r>
              <a:rPr lang="en-US" dirty="0"/>
              <a:t>the focus</a:t>
            </a:r>
            <a:r>
              <a:rPr lang="en-US" dirty="0" smtClean="0"/>
              <a:t>.</a:t>
            </a:r>
          </a:p>
          <a:p>
            <a:pPr lvl="1"/>
            <a:r>
              <a:rPr lang="en-US" b="1" dirty="0"/>
              <a:t>Time: </a:t>
            </a:r>
            <a:endParaRPr lang="en-US" b="1" dirty="0" smtClean="0"/>
          </a:p>
          <a:p>
            <a:pPr lvl="2"/>
            <a:r>
              <a:rPr lang="en-US" dirty="0" smtClean="0"/>
              <a:t>How </a:t>
            </a:r>
            <a:r>
              <a:rPr lang="en-US" dirty="0"/>
              <a:t>much time is available? </a:t>
            </a:r>
            <a:endParaRPr lang="en-US" dirty="0" smtClean="0"/>
          </a:p>
          <a:p>
            <a:pPr lvl="2"/>
            <a:r>
              <a:rPr lang="en-US" dirty="0" smtClean="0"/>
              <a:t>You </a:t>
            </a:r>
            <a:r>
              <a:rPr lang="en-US" dirty="0"/>
              <a:t>do not want to overrun or underrun </a:t>
            </a:r>
            <a:r>
              <a:rPr lang="en-US" dirty="0" smtClean="0"/>
              <a:t>your demonstration </a:t>
            </a:r>
            <a:r>
              <a:rPr lang="en-US" dirty="0"/>
              <a:t>so careful preparation and timing of actions during rehearsal </a:t>
            </a:r>
            <a:r>
              <a:rPr lang="en-US" dirty="0" smtClean="0"/>
              <a:t>is important.</a:t>
            </a:r>
          </a:p>
          <a:p>
            <a:pPr lvl="1"/>
            <a:r>
              <a:rPr lang="en-US" b="1" dirty="0"/>
              <a:t>Audience: </a:t>
            </a:r>
            <a:endParaRPr lang="en-US" b="1" dirty="0" smtClean="0"/>
          </a:p>
          <a:p>
            <a:pPr lvl="2"/>
            <a:r>
              <a:rPr lang="en-US" dirty="0" smtClean="0"/>
              <a:t>Know </a:t>
            </a:r>
            <a:r>
              <a:rPr lang="en-US" dirty="0"/>
              <a:t>who the audience will be – what do they know, want to see/ learn? </a:t>
            </a:r>
            <a:endParaRPr lang="en-US" dirty="0" smtClean="0"/>
          </a:p>
          <a:p>
            <a:pPr lvl="2"/>
            <a:r>
              <a:rPr lang="en-US" dirty="0" smtClean="0"/>
              <a:t>Your </a:t>
            </a:r>
            <a:r>
              <a:rPr lang="en-US" dirty="0"/>
              <a:t>tutor, therefore</a:t>
            </a:r>
            <a:r>
              <a:rPr lang="en-US" dirty="0" smtClean="0"/>
              <a:t>, may </a:t>
            </a:r>
            <a:r>
              <a:rPr lang="en-US" dirty="0"/>
              <a:t>be more interested in your design, interface development and so on</a:t>
            </a:r>
            <a:r>
              <a:rPr lang="en-US" dirty="0" smtClean="0"/>
              <a:t>, </a:t>
            </a:r>
          </a:p>
          <a:p>
            <a:pPr lvl="2"/>
            <a:r>
              <a:rPr lang="en-US" dirty="0" smtClean="0"/>
              <a:t>whereas the client (if available) </a:t>
            </a:r>
            <a:r>
              <a:rPr lang="en-US" dirty="0"/>
              <a:t>may be more interested in learning how the software works and its functionality and limitations.</a:t>
            </a:r>
            <a:endParaRPr lang="en-US" dirty="0" smtClean="0"/>
          </a:p>
          <a:p>
            <a:pPr lvl="1"/>
            <a:r>
              <a:rPr lang="en-US" b="1" dirty="0"/>
              <a:t>Focus: </a:t>
            </a:r>
            <a:endParaRPr lang="en-US" b="1" dirty="0" smtClean="0"/>
          </a:p>
          <a:p>
            <a:pPr lvl="2"/>
            <a:r>
              <a:rPr lang="en-US" dirty="0" smtClean="0"/>
              <a:t>Concentrate </a:t>
            </a:r>
            <a:r>
              <a:rPr lang="en-US" dirty="0"/>
              <a:t>and focus on the good points of your software – not just </a:t>
            </a:r>
            <a:r>
              <a:rPr lang="en-US" dirty="0" smtClean="0"/>
              <a:t>basic functions </a:t>
            </a:r>
            <a:r>
              <a:rPr lang="en-US" dirty="0"/>
              <a:t>such as loading and saving files, printing and so on. </a:t>
            </a:r>
            <a:endParaRPr lang="en-US" dirty="0" smtClean="0"/>
          </a:p>
        </p:txBody>
      </p:sp>
    </p:spTree>
    <p:extLst>
      <p:ext uri="{BB962C8B-B14F-4D97-AF65-F5344CB8AC3E}">
        <p14:creationId xmlns:p14="http://schemas.microsoft.com/office/powerpoint/2010/main" val="214631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Demonstrating software: demonstration tips </a:t>
            </a:r>
            <a:endParaRPr lang="en-GB" dirty="0"/>
          </a:p>
        </p:txBody>
      </p:sp>
      <p:sp>
        <p:nvSpPr>
          <p:cNvPr id="3" name="Content Placeholder 2"/>
          <p:cNvSpPr>
            <a:spLocks noGrp="1"/>
          </p:cNvSpPr>
          <p:nvPr>
            <p:ph idx="1"/>
          </p:nvPr>
        </p:nvSpPr>
        <p:spPr>
          <a:xfrm>
            <a:off x="380999" y="1030287"/>
            <a:ext cx="11374967" cy="5584826"/>
          </a:xfrm>
        </p:spPr>
        <p:txBody>
          <a:bodyPr>
            <a:normAutofit lnSpcReduction="10000"/>
          </a:bodyPr>
          <a:lstStyle/>
          <a:p>
            <a:pPr marL="0" indent="0">
              <a:buNone/>
            </a:pPr>
            <a:r>
              <a:rPr lang="en-US" dirty="0"/>
              <a:t>The following points will help you prepare and present effective software demonstrations</a:t>
            </a:r>
            <a:r>
              <a:rPr lang="en-US" dirty="0" smtClean="0"/>
              <a:t>.</a:t>
            </a:r>
          </a:p>
          <a:p>
            <a:pPr lvl="1"/>
            <a:r>
              <a:rPr lang="en-US" dirty="0"/>
              <a:t>If possible, try to set up as much as you can beforehand. </a:t>
            </a:r>
            <a:endParaRPr lang="en-US" dirty="0" smtClean="0"/>
          </a:p>
          <a:p>
            <a:pPr lvl="1"/>
            <a:r>
              <a:rPr lang="en-US" dirty="0"/>
              <a:t>Make sure that all the audience can see the screen clearly</a:t>
            </a:r>
            <a:r>
              <a:rPr lang="en-US" dirty="0" smtClean="0"/>
              <a:t>.</a:t>
            </a:r>
          </a:p>
          <a:p>
            <a:pPr lvl="1"/>
            <a:r>
              <a:rPr lang="en-US" dirty="0"/>
              <a:t>Know your software’s limitations, bugs and faults so that you don’t try to do </a:t>
            </a:r>
            <a:r>
              <a:rPr lang="en-US" dirty="0" smtClean="0"/>
              <a:t>something that </a:t>
            </a:r>
            <a:r>
              <a:rPr lang="en-US" dirty="0"/>
              <a:t>your software can’t handle</a:t>
            </a:r>
            <a:r>
              <a:rPr lang="en-US" dirty="0" smtClean="0"/>
              <a:t>.</a:t>
            </a:r>
          </a:p>
          <a:p>
            <a:pPr lvl="1"/>
            <a:r>
              <a:rPr lang="en-US" dirty="0"/>
              <a:t>Know how your software works and how it is </a:t>
            </a:r>
            <a:r>
              <a:rPr lang="en-US" dirty="0" smtClean="0"/>
              <a:t>structured.</a:t>
            </a:r>
          </a:p>
          <a:p>
            <a:pPr lvl="1"/>
            <a:r>
              <a:rPr lang="en-US" dirty="0"/>
              <a:t>Highlight some additional features you have included that may not be </a:t>
            </a:r>
            <a:r>
              <a:rPr lang="en-US" dirty="0" smtClean="0"/>
              <a:t>apparent from </a:t>
            </a:r>
            <a:r>
              <a:rPr lang="en-US" dirty="0"/>
              <a:t>a straightforward demonstration</a:t>
            </a:r>
            <a:r>
              <a:rPr lang="en-US" dirty="0" smtClean="0"/>
              <a:t>.</a:t>
            </a:r>
            <a:endParaRPr lang="en-US" dirty="0"/>
          </a:p>
          <a:p>
            <a:pPr lvl="1"/>
            <a:r>
              <a:rPr lang="en-US" dirty="0"/>
              <a:t>Never say ‘Oh, that shouldn’t have happened’, or ‘What’s happening now</a:t>
            </a:r>
            <a:r>
              <a:rPr lang="en-US" dirty="0" smtClean="0"/>
              <a:t>?’</a:t>
            </a:r>
          </a:p>
          <a:p>
            <a:pPr lvl="1"/>
            <a:r>
              <a:rPr lang="en-US" dirty="0"/>
              <a:t>Know the competition and understand </a:t>
            </a:r>
            <a:r>
              <a:rPr lang="en-US" dirty="0" smtClean="0"/>
              <a:t>how your </a:t>
            </a:r>
            <a:r>
              <a:rPr lang="en-US" dirty="0"/>
              <a:t>software compares with (and improves upon) them</a:t>
            </a:r>
            <a:r>
              <a:rPr lang="en-US" dirty="0" smtClean="0"/>
              <a:t>.</a:t>
            </a:r>
          </a:p>
          <a:p>
            <a:pPr lvl="1"/>
            <a:r>
              <a:rPr lang="en-US" dirty="0"/>
              <a:t>Practice beforehand.</a:t>
            </a:r>
          </a:p>
          <a:p>
            <a:endParaRPr lang="en-US" dirty="0" smtClean="0"/>
          </a:p>
        </p:txBody>
      </p:sp>
    </p:spTree>
    <p:extLst>
      <p:ext uri="{BB962C8B-B14F-4D97-AF65-F5344CB8AC3E}">
        <p14:creationId xmlns:p14="http://schemas.microsoft.com/office/powerpoint/2010/main" val="3922451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smtClean="0"/>
              <a:t>Any Questions?</a:t>
            </a:r>
            <a:endParaRPr lang="en-US" dirty="0"/>
          </a:p>
        </p:txBody>
      </p:sp>
      <p:pic>
        <p:nvPicPr>
          <p:cNvPr id="3074" name="Picture 2" descr="http://i.huffpost.com/gen/1604482/images/o-WOMAN-ASKING-QUESTION-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834" y="1030288"/>
            <a:ext cx="10401299" cy="520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173638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Week 9 Lecture</a:t>
            </a:r>
            <a:endParaRPr lang="en-US" dirty="0"/>
          </a:p>
        </p:txBody>
      </p:sp>
      <p:sp>
        <p:nvSpPr>
          <p:cNvPr id="6" name="Content Placeholder 5"/>
          <p:cNvSpPr>
            <a:spLocks noGrp="1"/>
          </p:cNvSpPr>
          <p:nvPr>
            <p:ph idx="1"/>
          </p:nvPr>
        </p:nvSpPr>
        <p:spPr>
          <a:xfrm>
            <a:off x="381001" y="1030288"/>
            <a:ext cx="11374967" cy="4870450"/>
          </a:xfrm>
        </p:spPr>
        <p:txBody>
          <a:bodyPr/>
          <a:lstStyle/>
          <a:p>
            <a:pPr algn="just"/>
            <a:r>
              <a:rPr lang="en-US" dirty="0"/>
              <a:t>Your main </a:t>
            </a:r>
            <a:r>
              <a:rPr lang="en-US" dirty="0" smtClean="0"/>
              <a:t>goal in an presentation </a:t>
            </a:r>
            <a:r>
              <a:rPr lang="en-US" dirty="0"/>
              <a:t>is to interest and inspire your audience, and to emphasize your own interest and enthusiasm in your </a:t>
            </a:r>
            <a:r>
              <a:rPr lang="en-US" dirty="0" smtClean="0"/>
              <a:t>project.</a:t>
            </a:r>
          </a:p>
          <a:p>
            <a:pPr algn="just"/>
            <a:r>
              <a:rPr lang="en-US" dirty="0"/>
              <a:t>Organize your presentation into three distinct components:</a:t>
            </a:r>
          </a:p>
          <a:p>
            <a:pPr marL="971550" lvl="1" indent="-514350">
              <a:buFont typeface="+mj-lt"/>
              <a:buAutoNum type="arabicPeriod"/>
            </a:pPr>
            <a:r>
              <a:rPr lang="en-US" dirty="0" smtClean="0"/>
              <a:t>Introduction </a:t>
            </a:r>
            <a:r>
              <a:rPr lang="en-US" dirty="0" smtClean="0"/>
              <a:t>	2</a:t>
            </a:r>
            <a:r>
              <a:rPr lang="en-US" dirty="0" smtClean="0"/>
              <a:t>. Main </a:t>
            </a:r>
            <a:r>
              <a:rPr lang="en-US" smtClean="0"/>
              <a:t>body </a:t>
            </a:r>
            <a:r>
              <a:rPr lang="en-US" smtClean="0"/>
              <a:t>	3</a:t>
            </a:r>
            <a:r>
              <a:rPr lang="en-US" dirty="0" smtClean="0"/>
              <a:t>. Summary/conclusion</a:t>
            </a:r>
            <a:endParaRPr lang="en-US" dirty="0"/>
          </a:p>
          <a:p>
            <a:r>
              <a:rPr lang="en-US" dirty="0" smtClean="0"/>
              <a:t>Some </a:t>
            </a:r>
            <a:r>
              <a:rPr lang="en-US" dirty="0"/>
              <a:t>tips for successful </a:t>
            </a:r>
            <a:r>
              <a:rPr lang="en-US" dirty="0" smtClean="0"/>
              <a:t>delivery are: Scanning the audience, clear slides, clear </a:t>
            </a:r>
            <a:r>
              <a:rPr lang="en-US" dirty="0"/>
              <a:t>v</a:t>
            </a:r>
            <a:r>
              <a:rPr lang="en-US" dirty="0" smtClean="0"/>
              <a:t>oice, proper timing and </a:t>
            </a:r>
            <a:r>
              <a:rPr lang="en-GB" dirty="0" smtClean="0"/>
              <a:t>pauses.</a:t>
            </a:r>
          </a:p>
          <a:p>
            <a:r>
              <a:rPr lang="en-US" dirty="0" smtClean="0"/>
              <a:t>A </a:t>
            </a:r>
            <a:r>
              <a:rPr lang="en-US" dirty="0"/>
              <a:t>few points to help you deal with </a:t>
            </a:r>
            <a:r>
              <a:rPr lang="en-US" dirty="0" smtClean="0"/>
              <a:t>questions are: Proper preparations, repeating the question, confidence, brevity, clarification and addressing the audience</a:t>
            </a:r>
            <a:endParaRPr lang="en-US" dirty="0"/>
          </a:p>
        </p:txBody>
      </p:sp>
    </p:spTree>
    <p:extLst>
      <p:ext uri="{BB962C8B-B14F-4D97-AF65-F5344CB8AC3E}">
        <p14:creationId xmlns:p14="http://schemas.microsoft.com/office/powerpoint/2010/main" val="7616212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to Expect: Week 9 Activities</a:t>
            </a:r>
            <a:endParaRPr lang="en-US" dirty="0"/>
          </a:p>
        </p:txBody>
      </p:sp>
      <p:sp>
        <p:nvSpPr>
          <p:cNvPr id="3" name="Content Placeholder 2"/>
          <p:cNvSpPr>
            <a:spLocks noGrp="1"/>
          </p:cNvSpPr>
          <p:nvPr>
            <p:ph idx="1"/>
          </p:nvPr>
        </p:nvSpPr>
        <p:spPr>
          <a:xfrm>
            <a:off x="381001" y="1031876"/>
            <a:ext cx="11374967" cy="5216524"/>
          </a:xfrm>
        </p:spPr>
        <p:txBody>
          <a:bodyPr/>
          <a:lstStyle/>
          <a:p>
            <a:pPr algn="just"/>
            <a:r>
              <a:rPr lang="en-US" sz="3200" dirty="0"/>
              <a:t>Task: </a:t>
            </a:r>
            <a:r>
              <a:rPr lang="en-US" dirty="0" smtClean="0"/>
              <a:t>Create </a:t>
            </a:r>
            <a:r>
              <a:rPr lang="en-GB" dirty="0" smtClean="0"/>
              <a:t>a </a:t>
            </a:r>
            <a:r>
              <a:rPr lang="en-GB" dirty="0"/>
              <a:t>draft presentation slide for the project undertaken and present it to the </a:t>
            </a:r>
            <a:r>
              <a:rPr lang="en-GB" dirty="0" smtClean="0"/>
              <a:t>class.</a:t>
            </a:r>
            <a:endParaRPr lang="en-GB" dirty="0"/>
          </a:p>
        </p:txBody>
      </p:sp>
    </p:spTree>
    <p:extLst>
      <p:ext uri="{BB962C8B-B14F-4D97-AF65-F5344CB8AC3E}">
        <p14:creationId xmlns:p14="http://schemas.microsoft.com/office/powerpoint/2010/main" val="1893457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3911601" y="1527176"/>
            <a:ext cx="4327525" cy="3973513"/>
          </a:xfrm>
          <a:prstGeom prst="rect">
            <a:avLst/>
          </a:prstGeom>
          <a:noFill/>
          <a:ln w="9525">
            <a:noFill/>
            <a:miter lim="800000"/>
            <a:headEnd/>
            <a:tailEnd/>
          </a:ln>
        </p:spPr>
      </p:pic>
    </p:spTree>
    <p:extLst>
      <p:ext uri="{BB962C8B-B14F-4D97-AF65-F5344CB8AC3E}">
        <p14:creationId xmlns:p14="http://schemas.microsoft.com/office/powerpoint/2010/main" val="211355019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TotalTime>
  <Words>2057</Words>
  <Application>Microsoft Office PowerPoint</Application>
  <PresentationFormat>Widescreen</PresentationFormat>
  <Paragraphs>178</Paragraphs>
  <Slides>27</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27</vt:i4>
      </vt:variant>
    </vt:vector>
  </HeadingPairs>
  <TitlesOfParts>
    <vt:vector size="36" baseType="lpstr">
      <vt:lpstr>宋体</vt:lpstr>
      <vt:lpstr>Arial</vt:lpstr>
      <vt:lpstr>Calibri</vt:lpstr>
      <vt:lpstr>Calibri Light</vt:lpstr>
      <vt:lpstr>Times New Roman</vt:lpstr>
      <vt:lpstr>Wingdings</vt:lpstr>
      <vt:lpstr>1_Office Theme</vt:lpstr>
      <vt:lpstr>2_Office Theme</vt:lpstr>
      <vt:lpstr>3_Office Theme</vt:lpstr>
      <vt:lpstr>Presentation</vt:lpstr>
      <vt:lpstr>Agenda </vt:lpstr>
      <vt:lpstr>PowerPoint Presentation</vt:lpstr>
      <vt:lpstr>Review of Week 8</vt:lpstr>
      <vt:lpstr>Any Confusion?</vt:lpstr>
      <vt:lpstr>Oral Presentation</vt:lpstr>
      <vt:lpstr>Oral Presentation: preparation (1)</vt:lpstr>
      <vt:lpstr>Oral Presentation: preparation</vt:lpstr>
      <vt:lpstr>Oral Presentation: the presentation content</vt:lpstr>
      <vt:lpstr>Oral Presentation: visual aids</vt:lpstr>
      <vt:lpstr>Oral Presentation: slide content</vt:lpstr>
      <vt:lpstr>Oral Presentation: delivery (1)</vt:lpstr>
      <vt:lpstr>Oral Presentation: delivery (2)</vt:lpstr>
      <vt:lpstr>Oral Presentation: dealing with questions (1)</vt:lpstr>
      <vt:lpstr>Oral Presentation: dealing with questions (2)</vt:lpstr>
      <vt:lpstr>Oral Presentation: presentation tips (1)</vt:lpstr>
      <vt:lpstr>Oral Presentation: presentation tips (2)</vt:lpstr>
      <vt:lpstr>Demonstrating software (1)</vt:lpstr>
      <vt:lpstr>Demonstrating software (2)</vt:lpstr>
      <vt:lpstr>Demonstrating software (3)</vt:lpstr>
      <vt:lpstr>Demonstrating software (4)</vt:lpstr>
      <vt:lpstr>Demonstrating software: Things to remember</vt:lpstr>
      <vt:lpstr>Demonstrating software: demonstration tips </vt:lpstr>
      <vt:lpstr>Any Questions?</vt:lpstr>
      <vt:lpstr>Summary: Week 9 Lecture</vt:lpstr>
      <vt:lpstr>What to Expect: Week 9 Activities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dc:title>
  <dc:creator>Sanjiv</dc:creator>
  <cp:lastModifiedBy>san10</cp:lastModifiedBy>
  <cp:revision>55</cp:revision>
  <dcterms:created xsi:type="dcterms:W3CDTF">2016-03-30T12:45:31Z</dcterms:created>
  <dcterms:modified xsi:type="dcterms:W3CDTF">2017-10-26T05:45:53Z</dcterms:modified>
</cp:coreProperties>
</file>