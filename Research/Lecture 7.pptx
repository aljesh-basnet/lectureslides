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8" r:id="rId3"/>
  </p:sldMasterIdLst>
  <p:notesMasterIdLst>
    <p:notesMasterId r:id="rId33"/>
  </p:notesMasterIdLst>
  <p:sldIdLst>
    <p:sldId id="277" r:id="rId4"/>
    <p:sldId id="278" r:id="rId5"/>
    <p:sldId id="279" r:id="rId6"/>
    <p:sldId id="258" r:id="rId7"/>
    <p:sldId id="259" r:id="rId8"/>
    <p:sldId id="286" r:id="rId9"/>
    <p:sldId id="260" r:id="rId10"/>
    <p:sldId id="265" r:id="rId11"/>
    <p:sldId id="266" r:id="rId12"/>
    <p:sldId id="261" r:id="rId13"/>
    <p:sldId id="267" r:id="rId14"/>
    <p:sldId id="268" r:id="rId15"/>
    <p:sldId id="262" r:id="rId16"/>
    <p:sldId id="287" r:id="rId17"/>
    <p:sldId id="269" r:id="rId18"/>
    <p:sldId id="270" r:id="rId19"/>
    <p:sldId id="271" r:id="rId20"/>
    <p:sldId id="272" r:id="rId21"/>
    <p:sldId id="273" r:id="rId22"/>
    <p:sldId id="274" r:id="rId23"/>
    <p:sldId id="263" r:id="rId24"/>
    <p:sldId id="288" r:id="rId25"/>
    <p:sldId id="275" r:id="rId26"/>
    <p:sldId id="289" r:id="rId27"/>
    <p:sldId id="276" r:id="rId28"/>
    <p:sldId id="282" r:id="rId29"/>
    <p:sldId id="283" r:id="rId30"/>
    <p:sldId id="284" r:id="rId31"/>
    <p:sldId id="28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AA9D9-467F-4AF9-AA49-34F654478B1E}" type="datetimeFigureOut">
              <a:rPr lang="en-US" smtClean="0"/>
              <a:t>4/14/2020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9008AA-4937-4B65-9617-88E92C6C8DCB}" type="slidenum">
              <a:rPr lang="en-US" smtClean="0"/>
              <a:t>‹#›</a:t>
            </a:fld>
            <a:endParaRPr lang="en-US"/>
          </a:p>
        </p:txBody>
      </p:sp>
    </p:spTree>
    <p:extLst>
      <p:ext uri="{BB962C8B-B14F-4D97-AF65-F5344CB8AC3E}">
        <p14:creationId xmlns:p14="http://schemas.microsoft.com/office/powerpoint/2010/main" val="3370903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986250" y="-11796713"/>
            <a:ext cx="22134513"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481351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986250" y="-11796713"/>
            <a:ext cx="22134513"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9250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914400" y="2130426"/>
            <a:ext cx="103632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609601" y="6353176"/>
            <a:ext cx="2789767" cy="371475"/>
          </a:xfrm>
          <a:prstGeom prst="rect">
            <a:avLst/>
          </a:prstGeo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8737601" y="6353176"/>
            <a:ext cx="2789767" cy="371475"/>
          </a:xfrm>
          <a:prstGeom prst="rect">
            <a:avLst/>
          </a:prstGeom>
          <a:ln/>
        </p:spPr>
        <p:txBody>
          <a:bodyPr/>
          <a:lstStyle>
            <a:lvl1pPr>
              <a:defRPr/>
            </a:lvl1pPr>
          </a:lstStyle>
          <a:p>
            <a:pPr>
              <a:defRPr/>
            </a:pPr>
            <a:fld id="{5503E7AE-D891-4742-9343-5EF205D83184}" type="slidenum">
              <a:rPr lang="en-SG"/>
              <a:pPr>
                <a:defRPr/>
              </a:pPr>
              <a:t>‹#›</a:t>
            </a:fld>
            <a:endParaRPr lang="en-SG" dirty="0"/>
          </a:p>
        </p:txBody>
      </p:sp>
    </p:spTree>
    <p:extLst>
      <p:ext uri="{BB962C8B-B14F-4D97-AF65-F5344CB8AC3E}">
        <p14:creationId xmlns:p14="http://schemas.microsoft.com/office/powerpoint/2010/main" val="1114633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Academy">
    <p:spTree>
      <p:nvGrpSpPr>
        <p:cNvPr id="1" name=""/>
        <p:cNvGrpSpPr/>
        <p:nvPr/>
      </p:nvGrpSpPr>
      <p:grpSpPr>
        <a:xfrm>
          <a:off x="0" y="0"/>
          <a:ext cx="0" cy="0"/>
          <a:chOff x="0" y="0"/>
          <a:chExt cx="0" cy="0"/>
        </a:xfrm>
      </p:grpSpPr>
      <p:sp>
        <p:nvSpPr>
          <p:cNvPr id="7" name="Title 1"/>
          <p:cNvSpPr>
            <a:spLocks noGrp="1"/>
          </p:cNvSpPr>
          <p:nvPr>
            <p:ph type="title"/>
          </p:nvPr>
        </p:nvSpPr>
        <p:spPr>
          <a:xfrm>
            <a:off x="381001" y="268288"/>
            <a:ext cx="11374967" cy="762000"/>
          </a:xfrm>
        </p:spPr>
        <p:txBody>
          <a:bodyPr/>
          <a:lstStyle>
            <a:lvl1pPr>
              <a:defRPr b="1"/>
            </a:lvl1pPr>
          </a:lstStyle>
          <a:p>
            <a:r>
              <a:rPr lang="en-US" dirty="0"/>
              <a:t>Click to edit Master title style</a:t>
            </a:r>
            <a:endParaRPr lang="en-SG" dirty="0"/>
          </a:p>
        </p:txBody>
      </p:sp>
      <p:sp>
        <p:nvSpPr>
          <p:cNvPr id="8" name="Content Placeholder 2"/>
          <p:cNvSpPr>
            <a:spLocks noGrp="1"/>
          </p:cNvSpPr>
          <p:nvPr>
            <p:ph idx="1"/>
          </p:nvPr>
        </p:nvSpPr>
        <p:spPr>
          <a:xfrm>
            <a:off x="380999" y="1030288"/>
            <a:ext cx="11374967" cy="4870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9" name="Rectangle 3"/>
          <p:cNvSpPr>
            <a:spLocks noGrp="1" noChangeArrowheads="1"/>
          </p:cNvSpPr>
          <p:nvPr>
            <p:ph type="dt" idx="10"/>
          </p:nvPr>
        </p:nvSpPr>
        <p:spPr>
          <a:xfrm>
            <a:off x="609601" y="6353176"/>
            <a:ext cx="2789767"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8737601" y="6353176"/>
            <a:ext cx="2789767" cy="371475"/>
          </a:xfrm>
          <a:ln/>
        </p:spPr>
        <p:txBody>
          <a:bodyPr/>
          <a:lstStyle>
            <a:lvl1pPr>
              <a:defRPr/>
            </a:lvl1pPr>
          </a:lstStyle>
          <a:p>
            <a:pPr>
              <a:defRPr/>
            </a:pPr>
            <a:fld id="{D5741C6D-44DB-4C04-9CB5-747DFD8034D5}" type="slidenum">
              <a:rPr lang="en-SG"/>
              <a:pPr>
                <a:defRPr/>
              </a:pPr>
              <a:t>‹#›</a:t>
            </a:fld>
            <a:endParaRPr lang="en-SG" dirty="0"/>
          </a:p>
        </p:txBody>
      </p:sp>
    </p:spTree>
    <p:extLst>
      <p:ext uri="{BB962C8B-B14F-4D97-AF65-F5344CB8AC3E}">
        <p14:creationId xmlns:p14="http://schemas.microsoft.com/office/powerpoint/2010/main" val="484753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SG"/>
          </a:p>
        </p:txBody>
      </p:sp>
      <p:sp>
        <p:nvSpPr>
          <p:cNvPr id="8"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9" name="Rectangle 3"/>
          <p:cNvSpPr>
            <a:spLocks noGrp="1" noChangeArrowheads="1"/>
          </p:cNvSpPr>
          <p:nvPr>
            <p:ph type="dt" idx="10"/>
          </p:nvPr>
        </p:nvSpPr>
        <p:spPr>
          <a:xfrm>
            <a:off x="609601" y="6353176"/>
            <a:ext cx="2789767"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8737601" y="6353176"/>
            <a:ext cx="2789767" cy="371475"/>
          </a:xfrm>
          <a:ln/>
        </p:spPr>
        <p:txBody>
          <a:bodyPr/>
          <a:lstStyle>
            <a:lvl1pPr>
              <a:defRPr/>
            </a:lvl1pPr>
          </a:lstStyle>
          <a:p>
            <a:pPr>
              <a:defRPr/>
            </a:pPr>
            <a:fld id="{389AF2F3-A1D1-4097-8ADA-9467C774BABF}" type="slidenum">
              <a:rPr lang="en-SG"/>
              <a:pPr>
                <a:defRPr/>
              </a:pPr>
              <a:t>‹#›</a:t>
            </a:fld>
            <a:endParaRPr lang="en-SG" dirty="0"/>
          </a:p>
        </p:txBody>
      </p:sp>
    </p:spTree>
    <p:extLst>
      <p:ext uri="{BB962C8B-B14F-4D97-AF65-F5344CB8AC3E}">
        <p14:creationId xmlns:p14="http://schemas.microsoft.com/office/powerpoint/2010/main" val="876061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381001" y="268288"/>
            <a:ext cx="11374967"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381001" y="1214438"/>
            <a:ext cx="5585884"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6170084" y="1214438"/>
            <a:ext cx="558588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609601" y="6353176"/>
            <a:ext cx="2789767" cy="371475"/>
          </a:xfrm>
          <a:ln/>
        </p:spPr>
        <p:txBody>
          <a:bodyPr/>
          <a:lstStyle>
            <a:lvl1pPr>
              <a:defRPr/>
            </a:lvl1pPr>
          </a:lstStyle>
          <a:p>
            <a:pPr>
              <a:defRPr/>
            </a:pPr>
            <a:endParaRPr lang="en-US" dirty="0"/>
          </a:p>
        </p:txBody>
      </p:sp>
      <p:sp>
        <p:nvSpPr>
          <p:cNvPr id="12" name="Rectangle 5"/>
          <p:cNvSpPr>
            <a:spLocks noGrp="1" noChangeArrowheads="1"/>
          </p:cNvSpPr>
          <p:nvPr>
            <p:ph type="sldNum" idx="11"/>
          </p:nvPr>
        </p:nvSpPr>
        <p:spPr>
          <a:xfrm>
            <a:off x="8737601" y="6353176"/>
            <a:ext cx="2789767" cy="371475"/>
          </a:xfrm>
          <a:ln/>
        </p:spPr>
        <p:txBody>
          <a:bodyPr/>
          <a:lstStyle>
            <a:lvl1pPr>
              <a:defRPr/>
            </a:lvl1pPr>
          </a:lstStyle>
          <a:p>
            <a:pPr>
              <a:defRPr/>
            </a:pPr>
            <a:fld id="{389D06B8-A366-4D7D-8D93-3C162260D047}" type="slidenum">
              <a:rPr lang="en-SG"/>
              <a:pPr>
                <a:defRPr/>
              </a:pPr>
              <a:t>‹#›</a:t>
            </a:fld>
            <a:endParaRPr lang="en-SG" dirty="0"/>
          </a:p>
        </p:txBody>
      </p:sp>
    </p:spTree>
    <p:extLst>
      <p:ext uri="{BB962C8B-B14F-4D97-AF65-F5344CB8AC3E}">
        <p14:creationId xmlns:p14="http://schemas.microsoft.com/office/powerpoint/2010/main" val="2943943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14/04/2020</a:t>
            </a:fld>
            <a:endParaRPr lang="en-GB"/>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9" name="Slide Number Placeholder 8"/>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790756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14/04/2020</a:t>
            </a:fld>
            <a:endParaRPr lang="en-GB"/>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5" name="Slide Number Placeholder 4"/>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844745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14/04/2020</a:t>
            </a:fld>
            <a:endParaRPr lang="en-GB"/>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4" name="Slide Number Placeholder 3"/>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757503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14/04/2020</a:t>
            </a:fld>
            <a:endParaRPr lang="en-GB"/>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4169038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14/04/2020</a:t>
            </a:fld>
            <a:endParaRPr lang="en-GB"/>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219838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14/04/2020</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2904437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14/04/2020</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4077056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5503E7AE-D891-4742-9343-5EF205D83184}"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1750146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787813"/>
          </a:xfrm>
        </p:spPr>
        <p:txBody>
          <a:bodyPr>
            <a:normAutofit/>
          </a:bodyPr>
          <a:lstStyle>
            <a:lvl1pPr>
              <a:defRPr sz="4400"/>
            </a:lvl1pPr>
          </a:lstStyle>
          <a:p>
            <a:r>
              <a:rPr lang="en-US" dirty="0"/>
              <a:t>Click to edit Master title style</a:t>
            </a:r>
          </a:p>
        </p:txBody>
      </p:sp>
      <p:sp>
        <p:nvSpPr>
          <p:cNvPr id="3" name="Content Placeholder 2"/>
          <p:cNvSpPr>
            <a:spLocks noGrp="1"/>
          </p:cNvSpPr>
          <p:nvPr>
            <p:ph idx="1"/>
          </p:nvPr>
        </p:nvSpPr>
        <p:spPr>
          <a:xfrm>
            <a:off x="838200" y="1285461"/>
            <a:ext cx="10515600" cy="4891502"/>
          </a:xfrm>
        </p:spPr>
        <p:txBody>
          <a:bodyPr/>
          <a:lstStyle>
            <a:lvl1pPr>
              <a:defRPr sz="3200"/>
            </a:lvl1pPr>
            <a:lvl2pPr>
              <a:defRPr sz="28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D5741C6D-44DB-4C04-9CB5-747DFD8034D5}"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10085526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89AF2F3-A1D1-4097-8ADA-9467C774BABF}"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1820456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389D06B8-A366-4D7D-8D93-3C162260D047}"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4313056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D8B09C-13EB-4CA6-8318-C71FFF147362}" type="datetimeFigureOut">
              <a:rPr lang="en-GB" smtClean="0">
                <a:solidFill>
                  <a:prstClr val="black">
                    <a:tint val="75000"/>
                  </a:prstClr>
                </a:solidFill>
              </a:rPr>
              <a:pPr/>
              <a:t>14/04/2020</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pPr defTabSz="342900"/>
            <a:endParaRPr lang="en-GB">
              <a:solidFill>
                <a:prstClr val="black"/>
              </a:solidFill>
            </a:endParaRPr>
          </a:p>
        </p:txBody>
      </p:sp>
      <p:sp>
        <p:nvSpPr>
          <p:cNvPr id="9" name="Slide Number Placeholder 8"/>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4712553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D8B09C-13EB-4CA6-8318-C71FFF147362}" type="datetimeFigureOut">
              <a:rPr lang="en-GB" smtClean="0">
                <a:solidFill>
                  <a:prstClr val="black">
                    <a:tint val="75000"/>
                  </a:prstClr>
                </a:solidFill>
              </a:rPr>
              <a:pPr/>
              <a:t>14/04/2020</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pPr defTabSz="342900"/>
            <a:endParaRPr lang="en-GB">
              <a:solidFill>
                <a:prstClr val="black"/>
              </a:solidFill>
            </a:endParaRPr>
          </a:p>
        </p:txBody>
      </p:sp>
      <p:sp>
        <p:nvSpPr>
          <p:cNvPr id="5" name="Slide Number Placeholder 4"/>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5760533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D8B09C-13EB-4CA6-8318-C71FFF147362}" type="datetimeFigureOut">
              <a:rPr lang="en-GB" smtClean="0">
                <a:solidFill>
                  <a:prstClr val="black">
                    <a:tint val="75000"/>
                  </a:prstClr>
                </a:solidFill>
              </a:rPr>
              <a:pPr/>
              <a:t>14/04/2020</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pPr defTabSz="342900"/>
            <a:endParaRPr lang="en-GB">
              <a:solidFill>
                <a:prstClr val="black"/>
              </a:solidFill>
            </a:endParaRPr>
          </a:p>
        </p:txBody>
      </p:sp>
      <p:sp>
        <p:nvSpPr>
          <p:cNvPr id="4" name="Slide Number Placeholder 3"/>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7924534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D8B09C-13EB-4CA6-8318-C71FFF147362}" type="datetimeFigureOut">
              <a:rPr lang="en-GB" smtClean="0">
                <a:solidFill>
                  <a:prstClr val="black">
                    <a:tint val="75000"/>
                  </a:prstClr>
                </a:solidFill>
              </a:rPr>
              <a:pPr/>
              <a:t>14/04/2020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pPr defTabSz="342900"/>
            <a:endParaRPr lang="en-GB">
              <a:solidFill>
                <a:prstClr val="black"/>
              </a:solidFill>
            </a:endParaRPr>
          </a:p>
        </p:txBody>
      </p:sp>
      <p:sp>
        <p:nvSpPr>
          <p:cNvPr id="7" name="Slide Number Placeholder 6"/>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8486957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D8B09C-13EB-4CA6-8318-C71FFF147362}" type="datetimeFigureOut">
              <a:rPr lang="en-GB" smtClean="0">
                <a:solidFill>
                  <a:prstClr val="black">
                    <a:tint val="75000"/>
                  </a:prstClr>
                </a:solidFill>
              </a:rPr>
              <a:pPr/>
              <a:t>14/04/2020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pPr defTabSz="342900"/>
            <a:endParaRPr lang="en-GB">
              <a:solidFill>
                <a:prstClr val="black"/>
              </a:solidFill>
            </a:endParaRPr>
          </a:p>
        </p:txBody>
      </p:sp>
      <p:sp>
        <p:nvSpPr>
          <p:cNvPr id="7" name="Slide Number Placeholder 6"/>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072776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D8B09C-13EB-4CA6-8318-C71FFF147362}" type="datetimeFigureOut">
              <a:rPr lang="en-GB" smtClean="0">
                <a:solidFill>
                  <a:prstClr val="black">
                    <a:tint val="75000"/>
                  </a:prstClr>
                </a:solidFill>
              </a:rPr>
              <a:pPr/>
              <a:t>14/04/2020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pPr defTabSz="342900"/>
            <a:endParaRPr lang="en-GB">
              <a:solidFill>
                <a:prstClr val="black"/>
              </a:solidFill>
            </a:endParaRPr>
          </a:p>
        </p:txBody>
      </p:sp>
      <p:sp>
        <p:nvSpPr>
          <p:cNvPr id="6" name="Slide Number Placeholder 5"/>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2034385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D8B09C-13EB-4CA6-8318-C71FFF147362}" type="datetimeFigureOut">
              <a:rPr lang="en-GB" smtClean="0">
                <a:solidFill>
                  <a:prstClr val="black">
                    <a:tint val="75000"/>
                  </a:prstClr>
                </a:solidFill>
              </a:rPr>
              <a:pPr/>
              <a:t>14/04/2020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pPr defTabSz="342900"/>
            <a:endParaRPr lang="en-GB">
              <a:solidFill>
                <a:prstClr val="black"/>
              </a:solidFill>
            </a:endParaRPr>
          </a:p>
        </p:txBody>
      </p:sp>
      <p:sp>
        <p:nvSpPr>
          <p:cNvPr id="6" name="Slide Number Placeholder 5"/>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1520626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914400" y="2130428"/>
            <a:ext cx="103632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609602" y="6353178"/>
            <a:ext cx="2789767" cy="371475"/>
          </a:xfrm>
          <a:prstGeom prst="rect">
            <a:avLst/>
          </a:prstGeo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8737602" y="6353178"/>
            <a:ext cx="2789767" cy="371475"/>
          </a:xfrm>
          <a:prstGeom prst="rect">
            <a:avLst/>
          </a:prstGeom>
          <a:ln/>
        </p:spPr>
        <p:txBody>
          <a:bodyPr/>
          <a:lstStyle>
            <a:lvl1pPr>
              <a:defRPr/>
            </a:lvl1pPr>
          </a:lstStyle>
          <a:p>
            <a:pPr>
              <a:defRPr/>
            </a:pPr>
            <a:fld id="{5503E7AE-D891-4742-9343-5EF205D83184}"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26073501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381002" y="268288"/>
            <a:ext cx="11374967" cy="762000"/>
          </a:xfrm>
        </p:spPr>
        <p:txBody>
          <a:bodyPr/>
          <a:lstStyle/>
          <a:p>
            <a:r>
              <a:rPr lang="en-US" dirty="0"/>
              <a:t>Click to edit Master title style</a:t>
            </a:r>
            <a:endParaRPr lang="en-SG" dirty="0"/>
          </a:p>
        </p:txBody>
      </p:sp>
      <p:sp>
        <p:nvSpPr>
          <p:cNvPr id="8" name="Content Placeholder 2"/>
          <p:cNvSpPr>
            <a:spLocks noGrp="1"/>
          </p:cNvSpPr>
          <p:nvPr>
            <p:ph idx="1"/>
          </p:nvPr>
        </p:nvSpPr>
        <p:spPr>
          <a:xfrm>
            <a:off x="381002" y="1214438"/>
            <a:ext cx="11374967" cy="487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9" name="Rectangle 3"/>
          <p:cNvSpPr>
            <a:spLocks noGrp="1" noChangeArrowheads="1"/>
          </p:cNvSpPr>
          <p:nvPr>
            <p:ph type="dt" idx="10"/>
          </p:nvPr>
        </p:nvSpPr>
        <p:spPr>
          <a:xfrm>
            <a:off x="609602" y="6353178"/>
            <a:ext cx="2789767" cy="371475"/>
          </a:xfr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8737602" y="6353178"/>
            <a:ext cx="2789767" cy="371475"/>
          </a:xfrm>
          <a:ln/>
        </p:spPr>
        <p:txBody>
          <a:bodyPr/>
          <a:lstStyle>
            <a:lvl1pPr>
              <a:defRPr/>
            </a:lvl1pPr>
          </a:lstStyle>
          <a:p>
            <a:pPr>
              <a:defRPr/>
            </a:pPr>
            <a:fld id="{D5741C6D-44DB-4C04-9CB5-747DFD8034D5}"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34347111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963084" y="4406903"/>
            <a:ext cx="10363200" cy="1362075"/>
          </a:xfrm>
        </p:spPr>
        <p:txBody>
          <a:bodyPr anchor="t"/>
          <a:lstStyle>
            <a:lvl1pPr algn="l">
              <a:defRPr sz="3000" b="1" cap="all"/>
            </a:lvl1pPr>
          </a:lstStyle>
          <a:p>
            <a:r>
              <a:rPr lang="en-US"/>
              <a:t>Click to edit Master title style</a:t>
            </a:r>
            <a:endParaRPr lang="en-SG"/>
          </a:p>
        </p:txBody>
      </p:sp>
      <p:sp>
        <p:nvSpPr>
          <p:cNvPr id="8" name="Text Placeholder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9" name="Rectangle 3"/>
          <p:cNvSpPr>
            <a:spLocks noGrp="1" noChangeArrowheads="1"/>
          </p:cNvSpPr>
          <p:nvPr>
            <p:ph type="dt" idx="10"/>
          </p:nvPr>
        </p:nvSpPr>
        <p:spPr>
          <a:xfrm>
            <a:off x="609602" y="6353178"/>
            <a:ext cx="2789767" cy="371475"/>
          </a:xfr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8737602" y="6353178"/>
            <a:ext cx="2789767" cy="371475"/>
          </a:xfrm>
          <a:ln/>
        </p:spPr>
        <p:txBody>
          <a:bodyPr/>
          <a:lstStyle>
            <a:lvl1pPr>
              <a:defRPr/>
            </a:lvl1pPr>
          </a:lstStyle>
          <a:p>
            <a:pPr>
              <a:defRPr/>
            </a:pPr>
            <a:fld id="{389AF2F3-A1D1-4097-8ADA-9467C774BABF}"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39287656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Title 1"/>
          <p:cNvSpPr>
            <a:spLocks noGrp="1"/>
          </p:cNvSpPr>
          <p:nvPr>
            <p:ph type="title"/>
          </p:nvPr>
        </p:nvSpPr>
        <p:spPr>
          <a:xfrm>
            <a:off x="381002" y="268288"/>
            <a:ext cx="11374967"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381002" y="1214438"/>
            <a:ext cx="5585884" cy="48704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6170085" y="1214438"/>
            <a:ext cx="5585883" cy="48704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609602" y="6353178"/>
            <a:ext cx="2789767" cy="371475"/>
          </a:xfrm>
          <a:ln/>
        </p:spPr>
        <p:txBody>
          <a:bodyPr/>
          <a:lstStyle>
            <a:lvl1pPr>
              <a:defRPr/>
            </a:lvl1pPr>
          </a:lstStyle>
          <a:p>
            <a:pPr>
              <a:defRPr/>
            </a:pPr>
            <a:endParaRPr lang="en-US" dirty="0">
              <a:solidFill>
                <a:prstClr val="black">
                  <a:tint val="75000"/>
                </a:prstClr>
              </a:solidFill>
            </a:endParaRPr>
          </a:p>
        </p:txBody>
      </p:sp>
      <p:sp>
        <p:nvSpPr>
          <p:cNvPr id="12" name="Rectangle 5"/>
          <p:cNvSpPr>
            <a:spLocks noGrp="1" noChangeArrowheads="1"/>
          </p:cNvSpPr>
          <p:nvPr>
            <p:ph type="sldNum" idx="11"/>
          </p:nvPr>
        </p:nvSpPr>
        <p:spPr>
          <a:xfrm>
            <a:off x="8737602" y="6353178"/>
            <a:ext cx="2789767" cy="371475"/>
          </a:xfrm>
          <a:ln/>
        </p:spPr>
        <p:txBody>
          <a:bodyPr/>
          <a:lstStyle>
            <a:lvl1pPr>
              <a:defRPr/>
            </a:lvl1pPr>
          </a:lstStyle>
          <a:p>
            <a:pPr>
              <a:defRPr/>
            </a:pPr>
            <a:fld id="{389D06B8-A366-4D7D-8D93-3C162260D047}"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35813293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914400" y="2130426"/>
            <a:ext cx="103632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609601" y="6353176"/>
            <a:ext cx="2789767" cy="371475"/>
          </a:xfrm>
          <a:prstGeom prst="rect">
            <a:avLst/>
          </a:prstGeo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8737601" y="6353176"/>
            <a:ext cx="2789767" cy="371475"/>
          </a:xfrm>
          <a:prstGeom prst="rect">
            <a:avLst/>
          </a:prstGeom>
          <a:ln/>
        </p:spPr>
        <p:txBody>
          <a:bodyPr/>
          <a:lstStyle>
            <a:lvl1pPr>
              <a:defRPr/>
            </a:lvl1pPr>
          </a:lstStyle>
          <a:p>
            <a:pPr>
              <a:defRPr/>
            </a:pPr>
            <a:fld id="{5503E7AE-D891-4742-9343-5EF205D83184}" type="slidenum">
              <a:rPr lang="en-SG"/>
              <a:pPr>
                <a:defRPr/>
              </a:pPr>
              <a:t>‹#›</a:t>
            </a:fld>
            <a:endParaRPr lang="en-SG" dirty="0"/>
          </a:p>
        </p:txBody>
      </p:sp>
    </p:spTree>
    <p:extLst>
      <p:ext uri="{BB962C8B-B14F-4D97-AF65-F5344CB8AC3E}">
        <p14:creationId xmlns:p14="http://schemas.microsoft.com/office/powerpoint/2010/main" val="9987113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381001" y="268288"/>
            <a:ext cx="11374967" cy="762000"/>
          </a:xfrm>
        </p:spPr>
        <p:txBody>
          <a:bodyPr/>
          <a:lstStyle>
            <a:lvl1pPr>
              <a:defRPr b="1"/>
            </a:lvl1pPr>
          </a:lstStyle>
          <a:p>
            <a:r>
              <a:rPr lang="en-US" dirty="0"/>
              <a:t>Click to edit Master title style</a:t>
            </a:r>
            <a:endParaRPr lang="en-SG" dirty="0"/>
          </a:p>
        </p:txBody>
      </p:sp>
      <p:sp>
        <p:nvSpPr>
          <p:cNvPr id="8" name="Content Placeholder 2"/>
          <p:cNvSpPr>
            <a:spLocks noGrp="1"/>
          </p:cNvSpPr>
          <p:nvPr>
            <p:ph idx="1"/>
          </p:nvPr>
        </p:nvSpPr>
        <p:spPr>
          <a:xfrm>
            <a:off x="381001" y="1214438"/>
            <a:ext cx="11374967" cy="487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9" name="Rectangle 3"/>
          <p:cNvSpPr>
            <a:spLocks noGrp="1" noChangeArrowheads="1"/>
          </p:cNvSpPr>
          <p:nvPr>
            <p:ph type="dt" idx="10"/>
          </p:nvPr>
        </p:nvSpPr>
        <p:spPr>
          <a:xfrm>
            <a:off x="609601" y="6353176"/>
            <a:ext cx="2789767"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8737601" y="6353176"/>
            <a:ext cx="2789767" cy="371475"/>
          </a:xfrm>
          <a:ln/>
        </p:spPr>
        <p:txBody>
          <a:bodyPr/>
          <a:lstStyle>
            <a:lvl1pPr>
              <a:defRPr/>
            </a:lvl1pPr>
          </a:lstStyle>
          <a:p>
            <a:pPr>
              <a:defRPr/>
            </a:pPr>
            <a:fld id="{D5741C6D-44DB-4C04-9CB5-747DFD8034D5}" type="slidenum">
              <a:rPr lang="en-SG"/>
              <a:pPr>
                <a:defRPr/>
              </a:pPr>
              <a:t>‹#›</a:t>
            </a:fld>
            <a:endParaRPr lang="en-SG" dirty="0"/>
          </a:p>
        </p:txBody>
      </p:sp>
    </p:spTree>
    <p:extLst>
      <p:ext uri="{BB962C8B-B14F-4D97-AF65-F5344CB8AC3E}">
        <p14:creationId xmlns:p14="http://schemas.microsoft.com/office/powerpoint/2010/main" val="3363864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SG"/>
          </a:p>
        </p:txBody>
      </p:sp>
      <p:sp>
        <p:nvSpPr>
          <p:cNvPr id="8"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9" name="Rectangle 3"/>
          <p:cNvSpPr>
            <a:spLocks noGrp="1" noChangeArrowheads="1"/>
          </p:cNvSpPr>
          <p:nvPr>
            <p:ph type="dt" idx="10"/>
          </p:nvPr>
        </p:nvSpPr>
        <p:spPr>
          <a:xfrm>
            <a:off x="609601" y="6353176"/>
            <a:ext cx="2789767"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8737601" y="6353176"/>
            <a:ext cx="2789767" cy="371475"/>
          </a:xfrm>
          <a:ln/>
        </p:spPr>
        <p:txBody>
          <a:bodyPr/>
          <a:lstStyle>
            <a:lvl1pPr>
              <a:defRPr/>
            </a:lvl1pPr>
          </a:lstStyle>
          <a:p>
            <a:pPr>
              <a:defRPr/>
            </a:pPr>
            <a:fld id="{389AF2F3-A1D1-4097-8ADA-9467C774BABF}" type="slidenum">
              <a:rPr lang="en-SG"/>
              <a:pPr>
                <a:defRPr/>
              </a:pPr>
              <a:t>‹#›</a:t>
            </a:fld>
            <a:endParaRPr lang="en-SG" dirty="0"/>
          </a:p>
        </p:txBody>
      </p:sp>
    </p:spTree>
    <p:extLst>
      <p:ext uri="{BB962C8B-B14F-4D97-AF65-F5344CB8AC3E}">
        <p14:creationId xmlns:p14="http://schemas.microsoft.com/office/powerpoint/2010/main" val="11563284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381001" y="268288"/>
            <a:ext cx="11374967"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381001" y="1214438"/>
            <a:ext cx="5585884"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6170084" y="1214438"/>
            <a:ext cx="558588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609601" y="6353176"/>
            <a:ext cx="2789767" cy="371475"/>
          </a:xfrm>
          <a:ln/>
        </p:spPr>
        <p:txBody>
          <a:bodyPr/>
          <a:lstStyle>
            <a:lvl1pPr>
              <a:defRPr/>
            </a:lvl1pPr>
          </a:lstStyle>
          <a:p>
            <a:pPr>
              <a:defRPr/>
            </a:pPr>
            <a:endParaRPr lang="en-US" dirty="0"/>
          </a:p>
        </p:txBody>
      </p:sp>
      <p:sp>
        <p:nvSpPr>
          <p:cNvPr id="12" name="Rectangle 5"/>
          <p:cNvSpPr>
            <a:spLocks noGrp="1" noChangeArrowheads="1"/>
          </p:cNvSpPr>
          <p:nvPr>
            <p:ph type="sldNum" idx="11"/>
          </p:nvPr>
        </p:nvSpPr>
        <p:spPr>
          <a:xfrm>
            <a:off x="8737601" y="6353176"/>
            <a:ext cx="2789767" cy="371475"/>
          </a:xfrm>
          <a:ln/>
        </p:spPr>
        <p:txBody>
          <a:bodyPr/>
          <a:lstStyle>
            <a:lvl1pPr>
              <a:defRPr/>
            </a:lvl1pPr>
          </a:lstStyle>
          <a:p>
            <a:pPr>
              <a:defRPr/>
            </a:pPr>
            <a:fld id="{389D06B8-A366-4D7D-8D93-3C162260D047}" type="slidenum">
              <a:rPr lang="en-SG"/>
              <a:pPr>
                <a:defRPr/>
              </a:pPr>
              <a:t>‹#›</a:t>
            </a:fld>
            <a:endParaRPr lang="en-SG" dirty="0"/>
          </a:p>
        </p:txBody>
      </p:sp>
    </p:spTree>
    <p:extLst>
      <p:ext uri="{BB962C8B-B14F-4D97-AF65-F5344CB8AC3E}">
        <p14:creationId xmlns:p14="http://schemas.microsoft.com/office/powerpoint/2010/main" val="21295627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14/04/2020</a:t>
            </a:fld>
            <a:endParaRPr lang="en-GB"/>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9" name="Slide Number Placeholder 8"/>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8376273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14/04/2020</a:t>
            </a:fld>
            <a:endParaRPr lang="en-GB"/>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5" name="Slide Number Placeholder 4"/>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40823312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14/04/2020</a:t>
            </a:fld>
            <a:endParaRPr lang="en-GB"/>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4" name="Slide Number Placeholder 3"/>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0984372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14/04/2020</a:t>
            </a:fld>
            <a:endParaRPr lang="en-GB"/>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4665916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14/04/2020</a:t>
            </a:fld>
            <a:endParaRPr lang="en-GB"/>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788685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14/04/2020</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41533955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14/04/2020</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605331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
          <p:cNvSpPr>
            <a:spLocks noGrp="1" noChangeArrowheads="1"/>
          </p:cNvSpPr>
          <p:nvPr>
            <p:ph type="title"/>
          </p:nvPr>
        </p:nvSpPr>
        <p:spPr bwMode="auto">
          <a:xfrm>
            <a:off x="381001" y="268288"/>
            <a:ext cx="11374967"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dirty="0"/>
              <a:t>Click to edit the title text format</a:t>
            </a:r>
          </a:p>
        </p:txBody>
      </p:sp>
      <p:sp>
        <p:nvSpPr>
          <p:cNvPr id="12" name="Rectangle 2"/>
          <p:cNvSpPr>
            <a:spLocks noGrp="1" noChangeArrowheads="1"/>
          </p:cNvSpPr>
          <p:nvPr>
            <p:ph type="body" idx="1"/>
          </p:nvPr>
        </p:nvSpPr>
        <p:spPr bwMode="auto">
          <a:xfrm>
            <a:off x="381001" y="1214438"/>
            <a:ext cx="11374967" cy="487045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dirty="0"/>
              <a:t>Click to edit the outline text format</a:t>
            </a:r>
          </a:p>
          <a:p>
            <a:pPr lvl="1"/>
            <a:r>
              <a:rPr lang="en-GB" dirty="0"/>
              <a:t>Second Outline Level</a:t>
            </a:r>
          </a:p>
          <a:p>
            <a:pPr lvl="2"/>
            <a:r>
              <a:rPr lang="en-GB" dirty="0"/>
              <a:t>Third Outline Level</a:t>
            </a:r>
          </a:p>
          <a:p>
            <a:pPr lvl="3"/>
            <a:r>
              <a:rPr lang="en-GB" dirty="0"/>
              <a:t>Fourth Outline Level</a:t>
            </a:r>
          </a:p>
          <a:p>
            <a:pPr lvl="4"/>
            <a:r>
              <a:rPr lang="en-GB" dirty="0"/>
              <a:t>Fifth Outline Level</a:t>
            </a:r>
          </a:p>
          <a:p>
            <a:pPr lvl="4"/>
            <a:r>
              <a:rPr lang="en-GB" dirty="0"/>
              <a:t>Sixth Outline Level</a:t>
            </a:r>
          </a:p>
          <a:p>
            <a:pPr lvl="4"/>
            <a:r>
              <a:rPr lang="en-GB" dirty="0"/>
              <a:t>Seventh Outline Level</a:t>
            </a:r>
          </a:p>
          <a:p>
            <a:pPr lvl="4"/>
            <a:r>
              <a:rPr lang="en-GB" dirty="0"/>
              <a:t>Eighth Outline Level</a:t>
            </a:r>
          </a:p>
          <a:p>
            <a:pPr lvl="4"/>
            <a:r>
              <a:rPr lang="en-GB" dirty="0"/>
              <a:t>Ninth Outline Level</a:t>
            </a:r>
          </a:p>
        </p:txBody>
      </p:sp>
      <p:sp>
        <p:nvSpPr>
          <p:cNvPr id="13" name="Rectangle 3"/>
          <p:cNvSpPr>
            <a:spLocks noGrp="1" noChangeArrowheads="1"/>
          </p:cNvSpPr>
          <p:nvPr>
            <p:ph type="dt" idx="2"/>
          </p:nvPr>
        </p:nvSpPr>
        <p:spPr bwMode="auto">
          <a:xfrm>
            <a:off x="609601" y="6353176"/>
            <a:ext cx="2789767"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endParaRPr lang="en-US" dirty="0"/>
          </a:p>
        </p:txBody>
      </p:sp>
      <p:sp>
        <p:nvSpPr>
          <p:cNvPr id="14" name="Text Box 4"/>
          <p:cNvSpPr txBox="1">
            <a:spLocks noChangeArrowheads="1"/>
          </p:cNvSpPr>
          <p:nvPr userDrawn="1"/>
        </p:nvSpPr>
        <p:spPr bwMode="auto">
          <a:xfrm>
            <a:off x="4165600" y="6354763"/>
            <a:ext cx="3860800" cy="368300"/>
          </a:xfrm>
          <a:prstGeom prst="rect">
            <a:avLst/>
          </a:prstGeom>
          <a:noFill/>
          <a:ln w="9525">
            <a:noFill/>
            <a:round/>
            <a:headEnd/>
            <a:tailEnd/>
          </a:ln>
          <a:effectLst/>
        </p:spPr>
        <p:txBody>
          <a:bodyPr wrap="none" anchor="ctr"/>
          <a:lstStyle/>
          <a:p>
            <a:pPr defTabSz="457200">
              <a:defRPr/>
            </a:pPr>
            <a:endParaRPr lang="en-SG" sz="1800" dirty="0">
              <a:solidFill>
                <a:prstClr val="black"/>
              </a:solidFill>
            </a:endParaRPr>
          </a:p>
        </p:txBody>
      </p:sp>
      <p:sp>
        <p:nvSpPr>
          <p:cNvPr id="15" name="Rectangle 5"/>
          <p:cNvSpPr>
            <a:spLocks noGrp="1" noChangeArrowheads="1"/>
          </p:cNvSpPr>
          <p:nvPr>
            <p:ph type="sldNum" idx="4"/>
          </p:nvPr>
        </p:nvSpPr>
        <p:spPr bwMode="auto">
          <a:xfrm>
            <a:off x="8737601" y="6353176"/>
            <a:ext cx="2789767"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fld id="{D605CA8D-3D6C-42DF-9A5B-66FCBCC600DC}" type="slidenum">
              <a:rPr lang="en-SG" smtClean="0"/>
              <a:pPr defTabSz="457200">
                <a:defRPr/>
              </a:pPr>
              <a:t>‹#›</a:t>
            </a:fld>
            <a:endParaRPr lang="en-SG" dirty="0"/>
          </a:p>
        </p:txBody>
      </p:sp>
      <p:sp>
        <p:nvSpPr>
          <p:cNvPr id="16" name="Rectangle 6"/>
          <p:cNvSpPr>
            <a:spLocks noChangeArrowheads="1"/>
          </p:cNvSpPr>
          <p:nvPr userDrawn="1"/>
        </p:nvSpPr>
        <p:spPr bwMode="auto">
          <a:xfrm>
            <a:off x="0" y="0"/>
            <a:ext cx="12192000" cy="214313"/>
          </a:xfrm>
          <a:prstGeom prst="rect">
            <a:avLst/>
          </a:prstGeom>
          <a:solidFill>
            <a:srgbClr val="C00000"/>
          </a:solidFill>
          <a:ln w="9525">
            <a:noFill/>
            <a:round/>
            <a:headEnd/>
            <a:tailEnd/>
          </a:ln>
          <a:effectLst/>
        </p:spPr>
        <p:txBody>
          <a:bodyPr wrap="none" anchor="ctr"/>
          <a:lstStyle/>
          <a:p>
            <a:pPr algn="r" defTabSz="457200">
              <a:defRPr/>
            </a:pPr>
            <a:r>
              <a:rPr lang="en-SG" sz="1800" dirty="0" err="1">
                <a:solidFill>
                  <a:prstClr val="white"/>
                </a:solidFill>
              </a:rPr>
              <a:t>iAcademy</a:t>
            </a:r>
            <a:endParaRPr lang="en-SG" sz="1800" dirty="0">
              <a:solidFill>
                <a:prstClr val="white"/>
              </a:solidFill>
            </a:endParaRPr>
          </a:p>
        </p:txBody>
      </p:sp>
      <p:sp>
        <p:nvSpPr>
          <p:cNvPr id="17" name="Rectangle 7"/>
          <p:cNvSpPr>
            <a:spLocks noChangeArrowheads="1"/>
          </p:cNvSpPr>
          <p:nvPr userDrawn="1"/>
        </p:nvSpPr>
        <p:spPr bwMode="auto">
          <a:xfrm flipV="1">
            <a:off x="0" y="-1"/>
            <a:ext cx="10572781" cy="45719"/>
          </a:xfrm>
          <a:prstGeom prst="rect">
            <a:avLst/>
          </a:prstGeom>
          <a:solidFill>
            <a:srgbClr val="FFC000"/>
          </a:solidFill>
          <a:ln w="9525">
            <a:noFill/>
            <a:round/>
            <a:headEnd/>
            <a:tailEnd/>
          </a:ln>
          <a:effectLst/>
        </p:spPr>
        <p:txBody>
          <a:bodyPr wrap="none" anchor="ctr"/>
          <a:lstStyle/>
          <a:p>
            <a:pPr defTabSz="457200">
              <a:defRPr/>
            </a:pPr>
            <a:endParaRPr lang="en-SG" sz="1800" dirty="0">
              <a:solidFill>
                <a:prstClr val="black"/>
              </a:solidFill>
            </a:endParaRPr>
          </a:p>
        </p:txBody>
      </p:sp>
      <p:sp>
        <p:nvSpPr>
          <p:cNvPr id="18" name="Rectangle 6"/>
          <p:cNvSpPr>
            <a:spLocks noChangeArrowheads="1"/>
          </p:cNvSpPr>
          <p:nvPr userDrawn="1"/>
        </p:nvSpPr>
        <p:spPr bwMode="auto">
          <a:xfrm>
            <a:off x="-43" y="6643712"/>
            <a:ext cx="12192000" cy="214313"/>
          </a:xfrm>
          <a:prstGeom prst="rect">
            <a:avLst/>
          </a:prstGeom>
          <a:solidFill>
            <a:srgbClr val="C00000"/>
          </a:solidFill>
          <a:ln w="9525">
            <a:noFill/>
            <a:round/>
            <a:headEnd/>
            <a:tailEnd/>
          </a:ln>
          <a:effectLst/>
        </p:spPr>
        <p:txBody>
          <a:bodyPr wrap="none" anchor="ctr"/>
          <a:lstStyle/>
          <a:p>
            <a:pPr defTabSz="449263" fontAlgn="base">
              <a:spcBef>
                <a:spcPct val="0"/>
              </a:spcBef>
              <a:spcAft>
                <a:spcPct val="0"/>
              </a:spcAft>
              <a:buClr>
                <a:srgbClr val="000000"/>
              </a:buClr>
              <a:buSzPct val="100000"/>
              <a:buFont typeface="Times New Roman" pitchFamily="16" charset="0"/>
              <a:buNone/>
              <a:defRPr/>
            </a:pPr>
            <a:r>
              <a:rPr lang="en-SG" sz="1800" dirty="0" err="1">
                <a:solidFill>
                  <a:prstClr val="white"/>
                </a:solidFill>
              </a:rPr>
              <a:t>iAcademy</a:t>
            </a:r>
            <a:endParaRPr lang="en-SG" sz="1800" dirty="0">
              <a:solidFill>
                <a:prstClr val="white"/>
              </a:solidFill>
            </a:endParaRPr>
          </a:p>
        </p:txBody>
      </p:sp>
      <p:sp>
        <p:nvSpPr>
          <p:cNvPr id="19" name="Rectangle 7"/>
          <p:cNvSpPr>
            <a:spLocks noChangeArrowheads="1"/>
          </p:cNvSpPr>
          <p:nvPr userDrawn="1"/>
        </p:nvSpPr>
        <p:spPr bwMode="auto">
          <a:xfrm flipV="1">
            <a:off x="1619219" y="6786585"/>
            <a:ext cx="10572739" cy="71415"/>
          </a:xfrm>
          <a:prstGeom prst="rect">
            <a:avLst/>
          </a:prstGeom>
          <a:solidFill>
            <a:srgbClr val="FFC000"/>
          </a:solidFill>
          <a:ln w="9525">
            <a:noFill/>
            <a:round/>
            <a:headEnd/>
            <a:tailEnd/>
          </a:ln>
          <a:effectLst/>
        </p:spPr>
        <p:txBody>
          <a:bodyPr wrap="none" anchor="ctr"/>
          <a:lstStyle/>
          <a:p>
            <a:pPr defTabSz="457200">
              <a:defRPr/>
            </a:pPr>
            <a:endParaRPr lang="en-SG" sz="1800" dirty="0">
              <a:solidFill>
                <a:prstClr val="black"/>
              </a:solidFill>
            </a:endParaRPr>
          </a:p>
        </p:txBody>
      </p:sp>
    </p:spTree>
    <p:extLst>
      <p:ext uri="{BB962C8B-B14F-4D97-AF65-F5344CB8AC3E}">
        <p14:creationId xmlns:p14="http://schemas.microsoft.com/office/powerpoint/2010/main" val="1574219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Calibri"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itchFamily="34" charset="0"/>
        <a:buChar char="-"/>
        <a:defRPr sz="2800" kern="1200">
          <a:solidFill>
            <a:schemeClr val="tx1"/>
          </a:solidFill>
          <a:latin typeface="+mn-lt"/>
          <a:ea typeface="+mn-ea"/>
          <a:cs typeface="+mn-cs"/>
        </a:defRPr>
      </a:lvl2pPr>
      <a:lvl3pPr marL="1371600" indent="-457200" algn="l" defTabSz="914400" rtl="0" eaLnBrk="1" latinLnBrk="0" hangingPunct="1">
        <a:lnSpc>
          <a:spcPct val="90000"/>
        </a:lnSpc>
        <a:spcBef>
          <a:spcPts val="5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D8B09C-13EB-4CA6-8318-C71FFF147362}" type="datetimeFigureOut">
              <a:rPr lang="en-GB" smtClean="0">
                <a:solidFill>
                  <a:prstClr val="black">
                    <a:tint val="75000"/>
                  </a:prstClr>
                </a:solidFill>
              </a:rPr>
              <a:pPr/>
              <a:t>14/04/2020</a:t>
            </a:fld>
            <a:endParaRPr lang="en-GB">
              <a:solidFill>
                <a:prstClr val="black">
                  <a:tint val="75000"/>
                </a:prstClr>
              </a:solidFil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
        <p:nvSpPr>
          <p:cNvPr id="7" name="Text Box 4"/>
          <p:cNvSpPr txBox="1">
            <a:spLocks noChangeArrowheads="1"/>
          </p:cNvSpPr>
          <p:nvPr userDrawn="1"/>
        </p:nvSpPr>
        <p:spPr bwMode="auto">
          <a:xfrm>
            <a:off x="4165600" y="6354763"/>
            <a:ext cx="3860800" cy="368300"/>
          </a:xfrm>
          <a:prstGeom prst="rect">
            <a:avLst/>
          </a:prstGeom>
          <a:noFill/>
          <a:ln w="9525">
            <a:noFill/>
            <a:round/>
            <a:headEnd/>
            <a:tailEnd/>
          </a:ln>
          <a:effectLst/>
        </p:spPr>
        <p:txBody>
          <a:bodyPr wrap="none" anchor="ctr"/>
          <a:lstStyle/>
          <a:p>
            <a:pPr defTabSz="342900">
              <a:defRPr/>
            </a:pPr>
            <a:endParaRPr lang="en-SG" sz="1350" dirty="0">
              <a:solidFill>
                <a:prstClr val="black"/>
              </a:solidFill>
            </a:endParaRPr>
          </a:p>
        </p:txBody>
      </p:sp>
      <p:sp>
        <p:nvSpPr>
          <p:cNvPr id="8" name="Rectangle 6"/>
          <p:cNvSpPr>
            <a:spLocks noChangeArrowheads="1"/>
          </p:cNvSpPr>
          <p:nvPr userDrawn="1"/>
        </p:nvSpPr>
        <p:spPr bwMode="auto">
          <a:xfrm>
            <a:off x="0" y="0"/>
            <a:ext cx="12192000" cy="214313"/>
          </a:xfrm>
          <a:prstGeom prst="rect">
            <a:avLst/>
          </a:prstGeom>
          <a:solidFill>
            <a:srgbClr val="C00000"/>
          </a:solidFill>
          <a:ln w="9525">
            <a:noFill/>
            <a:round/>
            <a:headEnd/>
            <a:tailEnd/>
          </a:ln>
          <a:effectLst/>
        </p:spPr>
        <p:txBody>
          <a:bodyPr wrap="none" anchor="ctr"/>
          <a:lstStyle/>
          <a:p>
            <a:pPr algn="r" defTabSz="342900">
              <a:defRPr/>
            </a:pPr>
            <a:r>
              <a:rPr lang="en-SG" sz="1350" dirty="0" err="1">
                <a:solidFill>
                  <a:prstClr val="white"/>
                </a:solidFill>
              </a:rPr>
              <a:t>iAcademy</a:t>
            </a:r>
            <a:endParaRPr lang="en-SG" sz="1350" dirty="0">
              <a:solidFill>
                <a:prstClr val="white"/>
              </a:solidFill>
            </a:endParaRPr>
          </a:p>
        </p:txBody>
      </p:sp>
      <p:sp>
        <p:nvSpPr>
          <p:cNvPr id="9" name="Rectangle 7"/>
          <p:cNvSpPr>
            <a:spLocks noChangeArrowheads="1"/>
          </p:cNvSpPr>
          <p:nvPr userDrawn="1"/>
        </p:nvSpPr>
        <p:spPr bwMode="auto">
          <a:xfrm flipV="1">
            <a:off x="0" y="-1"/>
            <a:ext cx="10572781" cy="45719"/>
          </a:xfrm>
          <a:prstGeom prst="rect">
            <a:avLst/>
          </a:prstGeom>
          <a:solidFill>
            <a:srgbClr val="FFC000"/>
          </a:solidFill>
          <a:ln w="9525">
            <a:noFill/>
            <a:round/>
            <a:headEnd/>
            <a:tailEnd/>
          </a:ln>
          <a:effectLst/>
        </p:spPr>
        <p:txBody>
          <a:bodyPr wrap="none" anchor="ctr"/>
          <a:lstStyle/>
          <a:p>
            <a:pPr defTabSz="342900">
              <a:defRPr/>
            </a:pPr>
            <a:endParaRPr lang="en-SG" sz="1350" dirty="0">
              <a:solidFill>
                <a:prstClr val="black"/>
              </a:solidFill>
            </a:endParaRPr>
          </a:p>
        </p:txBody>
      </p:sp>
      <p:sp>
        <p:nvSpPr>
          <p:cNvPr id="10" name="Rectangle 6"/>
          <p:cNvSpPr>
            <a:spLocks noChangeArrowheads="1"/>
          </p:cNvSpPr>
          <p:nvPr userDrawn="1"/>
        </p:nvSpPr>
        <p:spPr bwMode="auto">
          <a:xfrm>
            <a:off x="-43" y="6643714"/>
            <a:ext cx="12192000" cy="214313"/>
          </a:xfrm>
          <a:prstGeom prst="rect">
            <a:avLst/>
          </a:prstGeom>
          <a:solidFill>
            <a:srgbClr val="C00000"/>
          </a:solidFill>
          <a:ln w="9525">
            <a:noFill/>
            <a:round/>
            <a:headEnd/>
            <a:tailEnd/>
          </a:ln>
          <a:effectLst/>
        </p:spPr>
        <p:txBody>
          <a:bodyPr wrap="none" anchor="ctr"/>
          <a:lstStyle/>
          <a:p>
            <a:pPr defTabSz="336947" fontAlgn="base">
              <a:spcBef>
                <a:spcPct val="0"/>
              </a:spcBef>
              <a:spcAft>
                <a:spcPct val="0"/>
              </a:spcAft>
              <a:buClr>
                <a:srgbClr val="000000"/>
              </a:buClr>
              <a:buSzPct val="100000"/>
              <a:buFont typeface="Times New Roman" pitchFamily="16" charset="0"/>
              <a:buNone/>
              <a:defRPr/>
            </a:pPr>
            <a:r>
              <a:rPr lang="en-SG" sz="1350" dirty="0" err="1">
                <a:solidFill>
                  <a:prstClr val="white"/>
                </a:solidFill>
              </a:rPr>
              <a:t>iAcademy</a:t>
            </a:r>
            <a:endParaRPr lang="en-SG" sz="1350" dirty="0">
              <a:solidFill>
                <a:prstClr val="white"/>
              </a:solidFill>
            </a:endParaRPr>
          </a:p>
        </p:txBody>
      </p:sp>
      <p:sp>
        <p:nvSpPr>
          <p:cNvPr id="11" name="Rectangle 7"/>
          <p:cNvSpPr>
            <a:spLocks noChangeArrowheads="1"/>
          </p:cNvSpPr>
          <p:nvPr userDrawn="1"/>
        </p:nvSpPr>
        <p:spPr bwMode="auto">
          <a:xfrm flipV="1">
            <a:off x="1619220" y="6786587"/>
            <a:ext cx="10572739" cy="71415"/>
          </a:xfrm>
          <a:prstGeom prst="rect">
            <a:avLst/>
          </a:prstGeom>
          <a:solidFill>
            <a:srgbClr val="FFC000"/>
          </a:solidFill>
          <a:ln w="9525">
            <a:noFill/>
            <a:round/>
            <a:headEnd/>
            <a:tailEnd/>
          </a:ln>
          <a:effectLst/>
        </p:spPr>
        <p:txBody>
          <a:bodyPr wrap="none" anchor="ctr"/>
          <a:lstStyle/>
          <a:p>
            <a:pPr defTabSz="342900">
              <a:defRPr/>
            </a:pPr>
            <a:endParaRPr lang="en-SG" sz="1350" dirty="0">
              <a:solidFill>
                <a:prstClr val="black"/>
              </a:solidFill>
            </a:endParaRPr>
          </a:p>
        </p:txBody>
      </p:sp>
    </p:spTree>
    <p:extLst>
      <p:ext uri="{BB962C8B-B14F-4D97-AF65-F5344CB8AC3E}">
        <p14:creationId xmlns:p14="http://schemas.microsoft.com/office/powerpoint/2010/main" val="121547960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
          <p:cNvSpPr>
            <a:spLocks noGrp="1" noChangeArrowheads="1"/>
          </p:cNvSpPr>
          <p:nvPr>
            <p:ph type="title"/>
          </p:nvPr>
        </p:nvSpPr>
        <p:spPr bwMode="auto">
          <a:xfrm>
            <a:off x="381001" y="268288"/>
            <a:ext cx="11374967"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dirty="0"/>
              <a:t>Click to edit the title text format</a:t>
            </a:r>
          </a:p>
        </p:txBody>
      </p:sp>
      <p:sp>
        <p:nvSpPr>
          <p:cNvPr id="12" name="Rectangle 2"/>
          <p:cNvSpPr>
            <a:spLocks noGrp="1" noChangeArrowheads="1"/>
          </p:cNvSpPr>
          <p:nvPr>
            <p:ph type="body" idx="1"/>
          </p:nvPr>
        </p:nvSpPr>
        <p:spPr bwMode="auto">
          <a:xfrm>
            <a:off x="381001" y="1214438"/>
            <a:ext cx="11374967" cy="487045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dirty="0"/>
              <a:t>Click to edit the outline text format</a:t>
            </a:r>
          </a:p>
          <a:p>
            <a:pPr lvl="1"/>
            <a:r>
              <a:rPr lang="en-GB" dirty="0"/>
              <a:t>Second Outline Level</a:t>
            </a:r>
          </a:p>
          <a:p>
            <a:pPr lvl="2"/>
            <a:r>
              <a:rPr lang="en-GB" dirty="0"/>
              <a:t>Third Outline Level</a:t>
            </a:r>
          </a:p>
          <a:p>
            <a:pPr lvl="3"/>
            <a:r>
              <a:rPr lang="en-GB" dirty="0"/>
              <a:t>Fourth Outline Level</a:t>
            </a:r>
          </a:p>
          <a:p>
            <a:pPr lvl="4"/>
            <a:r>
              <a:rPr lang="en-GB" dirty="0"/>
              <a:t>Fifth Outline Level</a:t>
            </a:r>
          </a:p>
          <a:p>
            <a:pPr lvl="4"/>
            <a:r>
              <a:rPr lang="en-GB" dirty="0"/>
              <a:t>Sixth Outline Level</a:t>
            </a:r>
          </a:p>
          <a:p>
            <a:pPr lvl="4"/>
            <a:r>
              <a:rPr lang="en-GB" dirty="0"/>
              <a:t>Seventh Outline Level</a:t>
            </a:r>
          </a:p>
          <a:p>
            <a:pPr lvl="4"/>
            <a:r>
              <a:rPr lang="en-GB" dirty="0"/>
              <a:t>Eighth Outline Level</a:t>
            </a:r>
          </a:p>
          <a:p>
            <a:pPr lvl="4"/>
            <a:r>
              <a:rPr lang="en-GB" dirty="0"/>
              <a:t>Ninth Outline Level</a:t>
            </a:r>
          </a:p>
        </p:txBody>
      </p:sp>
      <p:sp>
        <p:nvSpPr>
          <p:cNvPr id="13" name="Rectangle 3"/>
          <p:cNvSpPr>
            <a:spLocks noGrp="1" noChangeArrowheads="1"/>
          </p:cNvSpPr>
          <p:nvPr>
            <p:ph type="dt" idx="2"/>
          </p:nvPr>
        </p:nvSpPr>
        <p:spPr bwMode="auto">
          <a:xfrm>
            <a:off x="609601" y="6353176"/>
            <a:ext cx="2789767"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endParaRPr lang="en-US" dirty="0"/>
          </a:p>
        </p:txBody>
      </p:sp>
      <p:sp>
        <p:nvSpPr>
          <p:cNvPr id="14" name="Text Box 4"/>
          <p:cNvSpPr txBox="1">
            <a:spLocks noChangeArrowheads="1"/>
          </p:cNvSpPr>
          <p:nvPr userDrawn="1"/>
        </p:nvSpPr>
        <p:spPr bwMode="auto">
          <a:xfrm>
            <a:off x="4165600" y="6354763"/>
            <a:ext cx="3860800" cy="368300"/>
          </a:xfrm>
          <a:prstGeom prst="rect">
            <a:avLst/>
          </a:prstGeom>
          <a:noFill/>
          <a:ln w="9525">
            <a:noFill/>
            <a:round/>
            <a:headEnd/>
            <a:tailEnd/>
          </a:ln>
          <a:effectLst/>
        </p:spPr>
        <p:txBody>
          <a:bodyPr wrap="none" anchor="ctr"/>
          <a:lstStyle/>
          <a:p>
            <a:pPr defTabSz="457200">
              <a:defRPr/>
            </a:pPr>
            <a:endParaRPr lang="en-SG" dirty="0">
              <a:solidFill>
                <a:prstClr val="black"/>
              </a:solidFill>
            </a:endParaRPr>
          </a:p>
        </p:txBody>
      </p:sp>
      <p:sp>
        <p:nvSpPr>
          <p:cNvPr id="15" name="Rectangle 5"/>
          <p:cNvSpPr>
            <a:spLocks noGrp="1" noChangeArrowheads="1"/>
          </p:cNvSpPr>
          <p:nvPr>
            <p:ph type="sldNum" idx="4"/>
          </p:nvPr>
        </p:nvSpPr>
        <p:spPr bwMode="auto">
          <a:xfrm>
            <a:off x="8737601" y="6353176"/>
            <a:ext cx="2789767"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fld id="{D605CA8D-3D6C-42DF-9A5B-66FCBCC600DC}" type="slidenum">
              <a:rPr lang="en-SG" smtClean="0"/>
              <a:pPr defTabSz="457200">
                <a:defRPr/>
              </a:pPr>
              <a:t>‹#›</a:t>
            </a:fld>
            <a:endParaRPr lang="en-SG" dirty="0"/>
          </a:p>
        </p:txBody>
      </p:sp>
      <p:sp>
        <p:nvSpPr>
          <p:cNvPr id="16" name="Rectangle 6"/>
          <p:cNvSpPr>
            <a:spLocks noChangeArrowheads="1"/>
          </p:cNvSpPr>
          <p:nvPr userDrawn="1"/>
        </p:nvSpPr>
        <p:spPr bwMode="auto">
          <a:xfrm>
            <a:off x="0" y="0"/>
            <a:ext cx="12192000" cy="214313"/>
          </a:xfrm>
          <a:prstGeom prst="rect">
            <a:avLst/>
          </a:prstGeom>
          <a:solidFill>
            <a:srgbClr val="C00000"/>
          </a:solidFill>
          <a:ln w="9525">
            <a:noFill/>
            <a:round/>
            <a:headEnd/>
            <a:tailEnd/>
          </a:ln>
          <a:effectLst/>
        </p:spPr>
        <p:txBody>
          <a:bodyPr wrap="none" anchor="ctr"/>
          <a:lstStyle/>
          <a:p>
            <a:pPr algn="r" defTabSz="457200">
              <a:defRPr/>
            </a:pPr>
            <a:r>
              <a:rPr lang="en-SG" dirty="0" err="1">
                <a:solidFill>
                  <a:prstClr val="white"/>
                </a:solidFill>
              </a:rPr>
              <a:t>iAcademy</a:t>
            </a:r>
            <a:endParaRPr lang="en-SG" dirty="0">
              <a:solidFill>
                <a:prstClr val="white"/>
              </a:solidFill>
            </a:endParaRPr>
          </a:p>
        </p:txBody>
      </p:sp>
      <p:sp>
        <p:nvSpPr>
          <p:cNvPr id="17" name="Rectangle 7"/>
          <p:cNvSpPr>
            <a:spLocks noChangeArrowheads="1"/>
          </p:cNvSpPr>
          <p:nvPr userDrawn="1"/>
        </p:nvSpPr>
        <p:spPr bwMode="auto">
          <a:xfrm flipV="1">
            <a:off x="0" y="-1"/>
            <a:ext cx="10572781" cy="45719"/>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
        <p:nvSpPr>
          <p:cNvPr id="18" name="Rectangle 6"/>
          <p:cNvSpPr>
            <a:spLocks noChangeArrowheads="1"/>
          </p:cNvSpPr>
          <p:nvPr userDrawn="1"/>
        </p:nvSpPr>
        <p:spPr bwMode="auto">
          <a:xfrm>
            <a:off x="-43" y="6643712"/>
            <a:ext cx="12192000" cy="214313"/>
          </a:xfrm>
          <a:prstGeom prst="rect">
            <a:avLst/>
          </a:prstGeom>
          <a:solidFill>
            <a:srgbClr val="C00000"/>
          </a:solidFill>
          <a:ln w="9525">
            <a:noFill/>
            <a:round/>
            <a:headEnd/>
            <a:tailEnd/>
          </a:ln>
          <a:effectLst/>
        </p:spPr>
        <p:txBody>
          <a:bodyPr wrap="none" anchor="ctr"/>
          <a:lstStyle/>
          <a:p>
            <a:pPr defTabSz="449263" fontAlgn="base">
              <a:spcBef>
                <a:spcPct val="0"/>
              </a:spcBef>
              <a:spcAft>
                <a:spcPct val="0"/>
              </a:spcAft>
              <a:buClr>
                <a:srgbClr val="000000"/>
              </a:buClr>
              <a:buSzPct val="100000"/>
              <a:buFont typeface="Times New Roman" pitchFamily="16" charset="0"/>
              <a:buNone/>
              <a:defRPr/>
            </a:pPr>
            <a:r>
              <a:rPr lang="en-SG" dirty="0" err="1">
                <a:solidFill>
                  <a:prstClr val="white"/>
                </a:solidFill>
              </a:rPr>
              <a:t>iAcademy</a:t>
            </a:r>
            <a:endParaRPr lang="en-SG" dirty="0">
              <a:solidFill>
                <a:prstClr val="white"/>
              </a:solidFill>
            </a:endParaRPr>
          </a:p>
        </p:txBody>
      </p:sp>
      <p:sp>
        <p:nvSpPr>
          <p:cNvPr id="19" name="Rectangle 7"/>
          <p:cNvSpPr>
            <a:spLocks noChangeArrowheads="1"/>
          </p:cNvSpPr>
          <p:nvPr userDrawn="1"/>
        </p:nvSpPr>
        <p:spPr bwMode="auto">
          <a:xfrm flipV="1">
            <a:off x="1619219" y="6786585"/>
            <a:ext cx="10572739" cy="71415"/>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Tree>
    <p:extLst>
      <p:ext uri="{BB962C8B-B14F-4D97-AF65-F5344CB8AC3E}">
        <p14:creationId xmlns:p14="http://schemas.microsoft.com/office/powerpoint/2010/main" val="474699788"/>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xStyles>
    <p:titleStyle>
      <a:lvl1pPr algn="l" defTabSz="914400" rtl="0" eaLnBrk="1" latinLnBrk="0" hangingPunct="1">
        <a:lnSpc>
          <a:spcPct val="90000"/>
        </a:lnSpc>
        <a:spcBef>
          <a:spcPct val="0"/>
        </a:spcBef>
        <a:buNone/>
        <a:defRPr sz="4400" kern="1200">
          <a:solidFill>
            <a:schemeClr val="tx1"/>
          </a:solidFill>
          <a:latin typeface="Calibri"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itchFamily="34" charset="0"/>
        <a:buChar char="-"/>
        <a:defRPr sz="2800" kern="1200">
          <a:solidFill>
            <a:schemeClr val="tx1"/>
          </a:solidFill>
          <a:latin typeface="+mn-lt"/>
          <a:ea typeface="+mn-ea"/>
          <a:cs typeface="+mn-cs"/>
        </a:defRPr>
      </a:lvl2pPr>
      <a:lvl3pPr marL="1371600" indent="-457200" algn="l" defTabSz="914400" rtl="0" eaLnBrk="1" latinLnBrk="0" hangingPunct="1">
        <a:lnSpc>
          <a:spcPct val="90000"/>
        </a:lnSpc>
        <a:spcBef>
          <a:spcPts val="5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4"/>
          <p:cNvSpPr>
            <a:spLocks noGrp="1"/>
          </p:cNvSpPr>
          <p:nvPr>
            <p:ph type="ctrTitle"/>
          </p:nvPr>
        </p:nvSpPr>
        <p:spPr>
          <a:xfrm>
            <a:off x="2209800" y="785795"/>
            <a:ext cx="7772400" cy="1470025"/>
          </a:xfrm>
        </p:spPr>
        <p:txBody>
          <a:bodyPr/>
          <a:lstStyle/>
          <a:p>
            <a:pPr algn="ctr"/>
            <a:r>
              <a:rPr lang="en-US" dirty="0"/>
              <a:t>Project Planning</a:t>
            </a:r>
            <a:endParaRPr lang="en-GB" dirty="0"/>
          </a:p>
        </p:txBody>
      </p:sp>
      <p:sp>
        <p:nvSpPr>
          <p:cNvPr id="10" name="Subtitle 5"/>
          <p:cNvSpPr>
            <a:spLocks noGrp="1"/>
          </p:cNvSpPr>
          <p:nvPr>
            <p:ph type="subTitle" idx="1"/>
          </p:nvPr>
        </p:nvSpPr>
        <p:spPr>
          <a:xfrm>
            <a:off x="1881158" y="2684445"/>
            <a:ext cx="8358246" cy="2387629"/>
          </a:xfrm>
        </p:spPr>
        <p:txBody>
          <a:bodyPr/>
          <a:lstStyle/>
          <a:p>
            <a:r>
              <a:rPr lang="en-GB" dirty="0"/>
              <a:t>Research and Development Skills in Computing</a:t>
            </a:r>
          </a:p>
          <a:p>
            <a:r>
              <a:rPr lang="en-US" sz="2800" dirty="0"/>
              <a:t>Lecture 7</a:t>
            </a:r>
          </a:p>
          <a:p>
            <a:endParaRPr lang="en-US" sz="2800" dirty="0"/>
          </a:p>
          <a:p>
            <a:r>
              <a:rPr lang="en-US" sz="2400" i="1" dirty="0"/>
              <a:t>Project Initiation, Control, Problems and Management</a:t>
            </a:r>
            <a:endParaRPr lang="en-GB" sz="2400" i="1" dirty="0"/>
          </a:p>
        </p:txBody>
      </p:sp>
      <p:sp>
        <p:nvSpPr>
          <p:cNvPr id="11" name="TextBox 3"/>
          <p:cNvSpPr txBox="1">
            <a:spLocks noChangeArrowheads="1"/>
          </p:cNvSpPr>
          <p:nvPr/>
        </p:nvSpPr>
        <p:spPr bwMode="auto">
          <a:xfrm>
            <a:off x="1666844" y="5214950"/>
            <a:ext cx="8786874" cy="1285884"/>
          </a:xfrm>
          <a:prstGeom prst="rect">
            <a:avLst/>
          </a:prstGeom>
          <a:ln w="9525"/>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p>
            <a:pPr algn="just" defTabSz="457200">
              <a:spcBef>
                <a:spcPct val="20000"/>
              </a:spcBef>
            </a:pPr>
            <a:r>
              <a:rPr lang="en-GB" sz="1400" dirty="0">
                <a:solidFill>
                  <a:prstClr val="black"/>
                </a:solidFill>
              </a:rPr>
              <a:t>This lecture and its associated materials have been produced by </a:t>
            </a:r>
            <a:r>
              <a:rPr lang="en-US" sz="1400" dirty="0">
                <a:solidFill>
                  <a:prstClr val="black"/>
                </a:solidFill>
              </a:rPr>
              <a:t>Mr. </a:t>
            </a:r>
            <a:r>
              <a:rPr lang="en-US" sz="1400" dirty="0" err="1">
                <a:solidFill>
                  <a:prstClr val="black"/>
                </a:solidFill>
              </a:rPr>
              <a:t>Sanjiv</a:t>
            </a:r>
            <a:r>
              <a:rPr lang="en-US" sz="1400" dirty="0">
                <a:solidFill>
                  <a:prstClr val="black"/>
                </a:solidFill>
              </a:rPr>
              <a:t> </a:t>
            </a:r>
            <a:r>
              <a:rPr lang="en-US" sz="1400" dirty="0" err="1">
                <a:solidFill>
                  <a:prstClr val="black"/>
                </a:solidFill>
              </a:rPr>
              <a:t>Udash</a:t>
            </a:r>
            <a:r>
              <a:rPr lang="en-US" sz="1400" dirty="0">
                <a:solidFill>
                  <a:prstClr val="black"/>
                </a:solidFill>
              </a:rPr>
              <a:t> (MSc, University of Northampton) </a:t>
            </a:r>
            <a:r>
              <a:rPr lang="en-GB" sz="1400" dirty="0">
                <a:solidFill>
                  <a:prstClr val="black"/>
                </a:solidFill>
              </a:rPr>
              <a:t>of </a:t>
            </a:r>
            <a:r>
              <a:rPr lang="en-GB" sz="1400" dirty="0" err="1">
                <a:solidFill>
                  <a:prstClr val="black"/>
                </a:solidFill>
              </a:rPr>
              <a:t>iAcademy</a:t>
            </a:r>
            <a:r>
              <a:rPr lang="en-GB" sz="1400" dirty="0">
                <a:solidFill>
                  <a:prstClr val="black"/>
                </a:solidFill>
              </a:rPr>
              <a:t> for the purposes of lecturing on the above described subject and the material should be viewed in this context. The work does not constitute professional advice and no warranties are made regarding the information presented. The Author and </a:t>
            </a:r>
            <a:r>
              <a:rPr lang="en-GB" sz="1400" dirty="0" err="1">
                <a:solidFill>
                  <a:prstClr val="black"/>
                </a:solidFill>
              </a:rPr>
              <a:t>iAcademy</a:t>
            </a:r>
            <a:r>
              <a:rPr lang="en-GB" sz="1400" dirty="0">
                <a:solidFill>
                  <a:prstClr val="black"/>
                </a:solidFill>
              </a:rPr>
              <a:t> do not accept any liability for the consequences of any action taken as a result of the work or any recommendations made or inferred. Permission to use any of these materials must be first granted by </a:t>
            </a:r>
            <a:r>
              <a:rPr lang="en-GB" sz="1400" dirty="0" err="1">
                <a:solidFill>
                  <a:prstClr val="black"/>
                </a:solidFill>
              </a:rPr>
              <a:t>iAcademy</a:t>
            </a:r>
            <a:r>
              <a:rPr lang="en-GB" sz="1400" dirty="0">
                <a:solidFill>
                  <a:prstClr val="black"/>
                </a:solidFill>
              </a:rPr>
              <a:t>.</a:t>
            </a:r>
            <a:endParaRPr lang="en-US" sz="1400" dirty="0">
              <a:solidFill>
                <a:prstClr val="black"/>
              </a:solidFill>
            </a:endParaRPr>
          </a:p>
        </p:txBody>
      </p:sp>
    </p:spTree>
    <p:extLst>
      <p:ext uri="{BB962C8B-B14F-4D97-AF65-F5344CB8AC3E}">
        <p14:creationId xmlns:p14="http://schemas.microsoft.com/office/powerpoint/2010/main" val="3451694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itchFamily="34" charset="0"/>
              </a:rPr>
              <a:t>Agenda</a:t>
            </a:r>
            <a:r>
              <a:rPr lang="en-US" b="1" dirty="0"/>
              <a:t>	</a:t>
            </a:r>
            <a:endParaRPr lang="en-GB" b="1" dirty="0"/>
          </a:p>
        </p:txBody>
      </p:sp>
      <p:sp>
        <p:nvSpPr>
          <p:cNvPr id="3" name="Content Placeholder 2"/>
          <p:cNvSpPr>
            <a:spLocks noGrp="1"/>
          </p:cNvSpPr>
          <p:nvPr>
            <p:ph idx="1"/>
          </p:nvPr>
        </p:nvSpPr>
        <p:spPr>
          <a:xfrm>
            <a:off x="381001" y="1073987"/>
            <a:ext cx="8531225" cy="4870450"/>
          </a:xfrm>
        </p:spPr>
        <p:txBody>
          <a:bodyPr/>
          <a:lstStyle/>
          <a:p>
            <a:pPr marL="342900" indent="-342900" algn="just" defTabSz="449263" eaLnBrk="0" fontAlgn="base" hangingPunct="0">
              <a:spcBef>
                <a:spcPts val="700"/>
              </a:spcBef>
              <a:spcAft>
                <a:spcPct val="0"/>
              </a:spcAft>
              <a:buClr>
                <a:srgbClr val="000000"/>
              </a:buClr>
              <a:buSzPct val="100000"/>
              <a:buFont typeface="Times New Roman" pitchFamily="16" charset="0"/>
              <a:buChar char="•"/>
            </a:pPr>
            <a:r>
              <a:rPr lang="en-US" dirty="0">
                <a:solidFill>
                  <a:srgbClr val="000000"/>
                </a:solidFill>
                <a:ea typeface="宋体" pitchFamily="2" charset="-122"/>
              </a:rPr>
              <a:t>Week 7 Lecture Coverage</a:t>
            </a:r>
          </a:p>
          <a:p>
            <a:pPr lvl="1"/>
            <a:r>
              <a:rPr lang="en-GB" dirty="0"/>
              <a:t>Controlling your project</a:t>
            </a:r>
          </a:p>
          <a:p>
            <a:pPr lvl="1"/>
            <a:r>
              <a:rPr lang="en-GB" dirty="0"/>
              <a:t>Project Initiation</a:t>
            </a:r>
          </a:p>
          <a:p>
            <a:pPr lvl="1"/>
            <a:r>
              <a:rPr lang="en-GB" dirty="0"/>
              <a:t>Five Project Elements</a:t>
            </a:r>
          </a:p>
          <a:p>
            <a:pPr lvl="1"/>
            <a:r>
              <a:rPr lang="en-GB" dirty="0"/>
              <a:t>Project Control</a:t>
            </a:r>
          </a:p>
          <a:p>
            <a:pPr lvl="1"/>
            <a:r>
              <a:rPr lang="en-GB" dirty="0"/>
              <a:t>Dealing with problems</a:t>
            </a:r>
          </a:p>
          <a:p>
            <a:pPr lvl="1"/>
            <a:r>
              <a:rPr lang="en-GB" dirty="0"/>
              <a:t>Time Management</a:t>
            </a:r>
          </a:p>
          <a:p>
            <a:pPr lvl="1"/>
            <a:r>
              <a:rPr lang="en-GB" dirty="0"/>
              <a:t>Working with supervisors</a:t>
            </a:r>
          </a:p>
        </p:txBody>
      </p:sp>
    </p:spTree>
    <p:extLst>
      <p:ext uri="{BB962C8B-B14F-4D97-AF65-F5344CB8AC3E}">
        <p14:creationId xmlns:p14="http://schemas.microsoft.com/office/powerpoint/2010/main" val="144784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835120" y="2195068"/>
            <a:ext cx="8501122" cy="2554545"/>
          </a:xfrm>
          <a:prstGeom prst="rect">
            <a:avLst/>
          </a:prstGeom>
          <a:noFill/>
          <a:ln w="63500">
            <a:solidFill>
              <a:srgbClr val="C00000"/>
            </a:solidFill>
          </a:ln>
        </p:spPr>
        <p:txBody>
          <a:bodyPr wrap="square" rtlCol="0">
            <a:spAutoFit/>
          </a:bodyPr>
          <a:lstStyle/>
          <a:p>
            <a:pPr algn="ctr"/>
            <a:endParaRPr lang="en-US" sz="4000" b="1" dirty="0">
              <a:solidFill>
                <a:prstClr val="black"/>
              </a:solidFill>
            </a:endParaRPr>
          </a:p>
          <a:p>
            <a:pPr algn="ctr"/>
            <a:r>
              <a:rPr lang="en-US" sz="4000" b="1" dirty="0">
                <a:solidFill>
                  <a:prstClr val="black"/>
                </a:solidFill>
              </a:rPr>
              <a:t>But first let’s review what have we learned from week 6</a:t>
            </a:r>
          </a:p>
          <a:p>
            <a:pPr algn="ctr"/>
            <a:endParaRPr lang="en-US" sz="4000" b="1" dirty="0">
              <a:solidFill>
                <a:prstClr val="black"/>
              </a:solidFill>
            </a:endParaRPr>
          </a:p>
        </p:txBody>
      </p:sp>
    </p:spTree>
    <p:extLst>
      <p:ext uri="{BB962C8B-B14F-4D97-AF65-F5344CB8AC3E}">
        <p14:creationId xmlns:p14="http://schemas.microsoft.com/office/powerpoint/2010/main" val="3565134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Controlling Your Project</a:t>
            </a:r>
          </a:p>
        </p:txBody>
      </p:sp>
      <p:sp>
        <p:nvSpPr>
          <p:cNvPr id="3" name="Content Placeholder 2"/>
          <p:cNvSpPr>
            <a:spLocks noGrp="1"/>
          </p:cNvSpPr>
          <p:nvPr>
            <p:ph idx="1"/>
          </p:nvPr>
        </p:nvSpPr>
        <p:spPr/>
        <p:txBody>
          <a:bodyPr>
            <a:normAutofit/>
          </a:bodyPr>
          <a:lstStyle/>
          <a:p>
            <a:r>
              <a:rPr lang="en-US" dirty="0"/>
              <a:t>Although you may have proposed an interesting and worthwhile project and planned it well, once your project is underway it needs to be carefully managed and controlled or it will fall apart. </a:t>
            </a:r>
          </a:p>
          <a:p>
            <a:r>
              <a:rPr lang="en-US" dirty="0"/>
              <a:t>You cannot assume that, having completed a detailed project plan and a solid literature survey, the project itself will be plain sailing and you can relax. </a:t>
            </a:r>
          </a:p>
          <a:p>
            <a:r>
              <a:rPr lang="en-US" dirty="0"/>
              <a:t>You need to be aware of problems that might arise, remain motivated, manage your time effectively, make effective use of your supervisor and deal with other stakeholders appropriately. </a:t>
            </a:r>
            <a:endParaRPr lang="en-GB" dirty="0"/>
          </a:p>
        </p:txBody>
      </p:sp>
    </p:spTree>
    <p:extLst>
      <p:ext uri="{BB962C8B-B14F-4D97-AF65-F5344CB8AC3E}">
        <p14:creationId xmlns:p14="http://schemas.microsoft.com/office/powerpoint/2010/main" val="4097951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Project Initiation (1)</a:t>
            </a:r>
          </a:p>
        </p:txBody>
      </p:sp>
      <p:sp>
        <p:nvSpPr>
          <p:cNvPr id="3" name="Content Placeholder 2"/>
          <p:cNvSpPr>
            <a:spLocks noGrp="1"/>
          </p:cNvSpPr>
          <p:nvPr>
            <p:ph idx="1"/>
          </p:nvPr>
        </p:nvSpPr>
        <p:spPr/>
        <p:txBody>
          <a:bodyPr>
            <a:normAutofit/>
          </a:bodyPr>
          <a:lstStyle/>
          <a:p>
            <a:r>
              <a:rPr lang="en-US" dirty="0"/>
              <a:t>Once you’ve planned your project (the focus of lecture 4) you are ready to start work on the actual project itself called project initiation or get-go. </a:t>
            </a:r>
            <a:endParaRPr lang="en-US" i="1" dirty="0"/>
          </a:p>
          <a:p>
            <a:r>
              <a:rPr lang="en-US" dirty="0"/>
              <a:t>In large industrial projects, initiation can be a major task. </a:t>
            </a:r>
          </a:p>
          <a:p>
            <a:pPr lvl="1"/>
            <a:r>
              <a:rPr lang="en-US" dirty="0"/>
              <a:t>It might involve a launch workshop, where stakeholders are introduced, the project plan discussed and work assigned. </a:t>
            </a:r>
          </a:p>
          <a:p>
            <a:pPr lvl="1"/>
            <a:r>
              <a:rPr lang="en-US" dirty="0"/>
              <a:t>It might involve bringing the project team together, inspiring a shared vision for the project, establishing a project office, working practices, booking rooms and other tasks. </a:t>
            </a:r>
          </a:p>
        </p:txBody>
      </p:sp>
    </p:spTree>
    <p:extLst>
      <p:ext uri="{BB962C8B-B14F-4D97-AF65-F5344CB8AC3E}">
        <p14:creationId xmlns:p14="http://schemas.microsoft.com/office/powerpoint/2010/main" val="99889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Project Initiation (2)</a:t>
            </a:r>
          </a:p>
        </p:txBody>
      </p:sp>
      <p:sp>
        <p:nvSpPr>
          <p:cNvPr id="3" name="Content Placeholder 2"/>
          <p:cNvSpPr>
            <a:spLocks noGrp="1"/>
          </p:cNvSpPr>
          <p:nvPr>
            <p:ph idx="1"/>
          </p:nvPr>
        </p:nvSpPr>
        <p:spPr/>
        <p:txBody>
          <a:bodyPr>
            <a:normAutofit/>
          </a:bodyPr>
          <a:lstStyle/>
          <a:p>
            <a:r>
              <a:rPr lang="en-US" dirty="0"/>
              <a:t>While these issues are more important in large projects, you can adopt some of these ideas for your own project.</a:t>
            </a:r>
          </a:p>
          <a:p>
            <a:r>
              <a:rPr lang="en-US" dirty="0"/>
              <a:t>It is also a good idea to put together a project folder. This will contain important information such as:</a:t>
            </a:r>
          </a:p>
          <a:p>
            <a:pPr lvl="1"/>
            <a:r>
              <a:rPr lang="en-US" dirty="0"/>
              <a:t>your project plan and risk plan, </a:t>
            </a:r>
          </a:p>
          <a:p>
            <a:pPr lvl="1"/>
            <a:r>
              <a:rPr lang="en-US" dirty="0"/>
              <a:t>your PID (project initiation document), </a:t>
            </a:r>
          </a:p>
          <a:p>
            <a:pPr lvl="1"/>
            <a:r>
              <a:rPr lang="en-US" dirty="0"/>
              <a:t>contact details of other team members if you are working on a group project, etc. </a:t>
            </a:r>
          </a:p>
          <a:p>
            <a:pPr lvl="1"/>
            <a:r>
              <a:rPr lang="en-US" dirty="0"/>
              <a:t>It is also where you might keep your references or useful papers, articles, newspaper/magazine clippings and other documentation. </a:t>
            </a:r>
            <a:endParaRPr lang="en-GB" dirty="0"/>
          </a:p>
        </p:txBody>
      </p:sp>
    </p:spTree>
    <p:extLst>
      <p:ext uri="{BB962C8B-B14F-4D97-AF65-F5344CB8AC3E}">
        <p14:creationId xmlns:p14="http://schemas.microsoft.com/office/powerpoint/2010/main" val="1786365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Five Project Elements (1)</a:t>
            </a:r>
          </a:p>
        </p:txBody>
      </p:sp>
      <p:sp>
        <p:nvSpPr>
          <p:cNvPr id="3" name="Content Placeholder 2"/>
          <p:cNvSpPr>
            <a:spLocks noGrp="1"/>
          </p:cNvSpPr>
          <p:nvPr>
            <p:ph idx="1"/>
          </p:nvPr>
        </p:nvSpPr>
        <p:spPr/>
        <p:txBody>
          <a:bodyPr>
            <a:normAutofit lnSpcReduction="10000"/>
          </a:bodyPr>
          <a:lstStyle/>
          <a:p>
            <a:r>
              <a:rPr lang="en-US" dirty="0"/>
              <a:t> A project consists of five elements – three consumables: time, resources and money and two attributes of the project’s product; scope and quality.</a:t>
            </a:r>
          </a:p>
          <a:p>
            <a:r>
              <a:rPr lang="en-US" dirty="0"/>
              <a:t>Within academic projects students will often argue that </a:t>
            </a:r>
            <a:r>
              <a:rPr lang="en-US" b="1" i="1" dirty="0"/>
              <a:t>time</a:t>
            </a:r>
            <a:r>
              <a:rPr lang="en-US" dirty="0"/>
              <a:t> is the most important of these elements. It is an element that you will always seem to be in need of. </a:t>
            </a:r>
          </a:p>
          <a:p>
            <a:r>
              <a:rPr lang="en-US" b="1" i="1" dirty="0"/>
              <a:t>Money(cost) </a:t>
            </a:r>
            <a:r>
              <a:rPr lang="en-US" dirty="0"/>
              <a:t>is another factor over which you have little control. However, in most academic projects, costs aren’t usually a concern. All the facilities you require are generally available; if not, your project would probably not have been accepted in the first place.</a:t>
            </a:r>
            <a:endParaRPr lang="en-GB" dirty="0"/>
          </a:p>
        </p:txBody>
      </p:sp>
    </p:spTree>
    <p:extLst>
      <p:ext uri="{BB962C8B-B14F-4D97-AF65-F5344CB8AC3E}">
        <p14:creationId xmlns:p14="http://schemas.microsoft.com/office/powerpoint/2010/main" val="2640251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Five Project Elements (2)</a:t>
            </a:r>
          </a:p>
        </p:txBody>
      </p:sp>
      <p:sp>
        <p:nvSpPr>
          <p:cNvPr id="3" name="Content Placeholder 2"/>
          <p:cNvSpPr>
            <a:spLocks noGrp="1"/>
          </p:cNvSpPr>
          <p:nvPr>
            <p:ph idx="1"/>
          </p:nvPr>
        </p:nvSpPr>
        <p:spPr/>
        <p:txBody>
          <a:bodyPr>
            <a:noAutofit/>
          </a:bodyPr>
          <a:lstStyle/>
          <a:p>
            <a:r>
              <a:rPr lang="en-US" b="1" i="1" dirty="0"/>
              <a:t>Quality</a:t>
            </a:r>
            <a:r>
              <a:rPr lang="en-US" dirty="0"/>
              <a:t> and </a:t>
            </a:r>
            <a:r>
              <a:rPr lang="en-US" b="1" i="1" dirty="0"/>
              <a:t>scope</a:t>
            </a:r>
            <a:r>
              <a:rPr lang="en-US" dirty="0"/>
              <a:t> are those elements over which you have most control and appropriately have the greatest responsibility for.</a:t>
            </a:r>
          </a:p>
          <a:p>
            <a:r>
              <a:rPr lang="en-US" dirty="0"/>
              <a:t>Whereas quality can be measured by the depth of your project (for example, how well you develop or investigate a particular aspect of study), scope is an indication of its breadth.</a:t>
            </a:r>
          </a:p>
          <a:p>
            <a:r>
              <a:rPr lang="en-US" dirty="0"/>
              <a:t>Sometimes scope is viewed as an attribute of quality. It represents the final outcome of your project, what it actually achieves, its contribution, its magnitude and its limits.</a:t>
            </a:r>
          </a:p>
        </p:txBody>
      </p:sp>
    </p:spTree>
    <p:extLst>
      <p:ext uri="{BB962C8B-B14F-4D97-AF65-F5344CB8AC3E}">
        <p14:creationId xmlns:p14="http://schemas.microsoft.com/office/powerpoint/2010/main" val="1451647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Five Project Elements (3)</a:t>
            </a:r>
          </a:p>
        </p:txBody>
      </p:sp>
      <p:sp>
        <p:nvSpPr>
          <p:cNvPr id="3" name="Content Placeholder 2"/>
          <p:cNvSpPr>
            <a:spLocks noGrp="1"/>
          </p:cNvSpPr>
          <p:nvPr>
            <p:ph idx="1"/>
          </p:nvPr>
        </p:nvSpPr>
        <p:spPr/>
        <p:txBody>
          <a:bodyPr>
            <a:noAutofit/>
          </a:bodyPr>
          <a:lstStyle/>
          <a:p>
            <a:r>
              <a:rPr lang="en-US" b="1" i="1" dirty="0"/>
              <a:t>Resources</a:t>
            </a:r>
            <a:r>
              <a:rPr lang="en-US" dirty="0"/>
              <a:t> are probably the most important element of all. Without resources there will be no project. </a:t>
            </a:r>
          </a:p>
          <a:p>
            <a:r>
              <a:rPr lang="en-US" dirty="0"/>
              <a:t>In this case interest falls on the human resources that are available – i.e., you, your supervisor and possibly a project team.</a:t>
            </a:r>
          </a:p>
          <a:p>
            <a:r>
              <a:rPr lang="en-US" dirty="0"/>
              <a:t> For individual projects, organizing yourself boils down to your ability to manage your own time.</a:t>
            </a:r>
            <a:endParaRPr lang="en-GB" dirty="0"/>
          </a:p>
        </p:txBody>
      </p:sp>
    </p:spTree>
    <p:extLst>
      <p:ext uri="{BB962C8B-B14F-4D97-AF65-F5344CB8AC3E}">
        <p14:creationId xmlns:p14="http://schemas.microsoft.com/office/powerpoint/2010/main" val="1852604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Project control (1)</a:t>
            </a:r>
          </a:p>
        </p:txBody>
      </p:sp>
      <p:sp>
        <p:nvSpPr>
          <p:cNvPr id="3" name="Content Placeholder 2"/>
          <p:cNvSpPr>
            <a:spLocks noGrp="1"/>
          </p:cNvSpPr>
          <p:nvPr>
            <p:ph idx="1"/>
          </p:nvPr>
        </p:nvSpPr>
        <p:spPr/>
        <p:txBody>
          <a:bodyPr>
            <a:noAutofit/>
          </a:bodyPr>
          <a:lstStyle/>
          <a:p>
            <a:r>
              <a:rPr lang="en-US" dirty="0"/>
              <a:t>The five project elements require managing and controlling through the five main project stages identified before: </a:t>
            </a:r>
            <a:r>
              <a:rPr lang="en-US" b="1" dirty="0"/>
              <a:t>definition, planning, initiation, control </a:t>
            </a:r>
            <a:r>
              <a:rPr lang="en-US" dirty="0"/>
              <a:t>and</a:t>
            </a:r>
            <a:r>
              <a:rPr lang="en-US" b="1" dirty="0"/>
              <a:t> closure.</a:t>
            </a:r>
          </a:p>
          <a:p>
            <a:r>
              <a:rPr lang="en-US" dirty="0"/>
              <a:t>Focus on these five elements changes as the project progresses through these stages.</a:t>
            </a:r>
          </a:p>
          <a:p>
            <a:r>
              <a:rPr lang="en-US" dirty="0"/>
              <a:t>For example, during your project’s inauguration you won’t be too concerned about time and will probably concentrate more on identifying your project’s scope. </a:t>
            </a:r>
          </a:p>
          <a:p>
            <a:r>
              <a:rPr lang="en-US" dirty="0"/>
              <a:t>During this stage you will feel that there is an eternity before the final report is due to be handed in.</a:t>
            </a:r>
          </a:p>
        </p:txBody>
      </p:sp>
    </p:spTree>
    <p:extLst>
      <p:ext uri="{BB962C8B-B14F-4D97-AF65-F5344CB8AC3E}">
        <p14:creationId xmlns:p14="http://schemas.microsoft.com/office/powerpoint/2010/main" val="1907322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Project control (2)</a:t>
            </a:r>
          </a:p>
        </p:txBody>
      </p:sp>
      <p:sp>
        <p:nvSpPr>
          <p:cNvPr id="3" name="Content Placeholder 2"/>
          <p:cNvSpPr>
            <a:spLocks noGrp="1"/>
          </p:cNvSpPr>
          <p:nvPr>
            <p:ph idx="1"/>
          </p:nvPr>
        </p:nvSpPr>
        <p:spPr>
          <a:xfrm>
            <a:off x="380999" y="1030288"/>
            <a:ext cx="11374967" cy="6470650"/>
          </a:xfrm>
        </p:spPr>
        <p:txBody>
          <a:bodyPr>
            <a:normAutofit/>
          </a:bodyPr>
          <a:lstStyle/>
          <a:p>
            <a:r>
              <a:rPr lang="en-US" dirty="0"/>
              <a:t>However, two weeks before you are due to submit your dissertation, time will suddenly become a very rare commodity and a serious concern to you.</a:t>
            </a:r>
          </a:p>
          <a:p>
            <a:r>
              <a:rPr lang="en-US" dirty="0"/>
              <a:t>As your project progresses into the initiation and control stages emphasis moves from project management activities to product-oriented activities. </a:t>
            </a:r>
          </a:p>
          <a:p>
            <a:r>
              <a:rPr lang="en-US" dirty="0"/>
              <a:t>In other words, you will begin to focus on the actual work of your project itself and direct your efforts towards investigating, developing and producing your project’s deliverable, whatever you have identified this to be.</a:t>
            </a:r>
          </a:p>
          <a:p>
            <a:r>
              <a:rPr lang="en-US" dirty="0"/>
              <a:t>As your project progresses through these working stages, you will still need to perform certain project management activities.</a:t>
            </a:r>
          </a:p>
          <a:p>
            <a:endParaRPr lang="en-GB" dirty="0"/>
          </a:p>
        </p:txBody>
      </p:sp>
    </p:spTree>
    <p:extLst>
      <p:ext uri="{BB962C8B-B14F-4D97-AF65-F5344CB8AC3E}">
        <p14:creationId xmlns:p14="http://schemas.microsoft.com/office/powerpoint/2010/main" val="3076486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Project control (3)</a:t>
            </a:r>
          </a:p>
        </p:txBody>
      </p:sp>
      <p:pic>
        <p:nvPicPr>
          <p:cNvPr id="4" name="Content Placeholder 3"/>
          <p:cNvPicPr>
            <a:picLocks noGrp="1" noChangeAspect="1"/>
          </p:cNvPicPr>
          <p:nvPr>
            <p:ph idx="1"/>
          </p:nvPr>
        </p:nvPicPr>
        <p:blipFill>
          <a:blip r:embed="rId2"/>
          <a:stretch>
            <a:fillRect/>
          </a:stretch>
        </p:blipFill>
        <p:spPr>
          <a:xfrm>
            <a:off x="1350544" y="1030288"/>
            <a:ext cx="9105899" cy="4775951"/>
          </a:xfrm>
          <a:prstGeom prst="rect">
            <a:avLst/>
          </a:prstGeom>
        </p:spPr>
      </p:pic>
      <p:pic>
        <p:nvPicPr>
          <p:cNvPr id="5" name="Picture 4"/>
          <p:cNvPicPr>
            <a:picLocks noChangeAspect="1"/>
          </p:cNvPicPr>
          <p:nvPr/>
        </p:nvPicPr>
        <p:blipFill>
          <a:blip r:embed="rId3"/>
          <a:stretch>
            <a:fillRect/>
          </a:stretch>
        </p:blipFill>
        <p:spPr>
          <a:xfrm>
            <a:off x="3005650" y="5968658"/>
            <a:ext cx="5795686" cy="394041"/>
          </a:xfrm>
          <a:prstGeom prst="rect">
            <a:avLst/>
          </a:prstGeom>
        </p:spPr>
      </p:pic>
    </p:spTree>
    <p:extLst>
      <p:ext uri="{BB962C8B-B14F-4D97-AF65-F5344CB8AC3E}">
        <p14:creationId xmlns:p14="http://schemas.microsoft.com/office/powerpoint/2010/main" val="3276850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Dealing with problems (1)</a:t>
            </a:r>
          </a:p>
        </p:txBody>
      </p:sp>
      <p:sp>
        <p:nvSpPr>
          <p:cNvPr id="3" name="Content Placeholder 2"/>
          <p:cNvSpPr>
            <a:spLocks noGrp="1"/>
          </p:cNvSpPr>
          <p:nvPr>
            <p:ph idx="1"/>
          </p:nvPr>
        </p:nvSpPr>
        <p:spPr>
          <a:xfrm>
            <a:off x="380999" y="1030288"/>
            <a:ext cx="11374967" cy="5827712"/>
          </a:xfrm>
        </p:spPr>
        <p:txBody>
          <a:bodyPr>
            <a:normAutofit/>
          </a:bodyPr>
          <a:lstStyle/>
          <a:p>
            <a:r>
              <a:rPr lang="en-US" dirty="0"/>
              <a:t>It is not really the nature of the problem that you encounter that can lead to project failure, but how you deal with the problem that counts.</a:t>
            </a:r>
          </a:p>
          <a:p>
            <a:r>
              <a:rPr lang="en-US" dirty="0"/>
              <a:t>The key to successfully overcoming any problems is not to panic, tackle them objectively and professionally and make best of the situation.</a:t>
            </a:r>
          </a:p>
          <a:p>
            <a:r>
              <a:rPr lang="en-US" dirty="0"/>
              <a:t>The following six points encapsulate perhaps the most likely problems you will encounter when performing your project, with suggestions on how they might be overcome:</a:t>
            </a:r>
          </a:p>
        </p:txBody>
      </p:sp>
    </p:spTree>
    <p:extLst>
      <p:ext uri="{BB962C8B-B14F-4D97-AF65-F5344CB8AC3E}">
        <p14:creationId xmlns:p14="http://schemas.microsoft.com/office/powerpoint/2010/main" val="3668663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Dealing with problems (2)</a:t>
            </a:r>
          </a:p>
        </p:txBody>
      </p:sp>
      <p:sp>
        <p:nvSpPr>
          <p:cNvPr id="3" name="Content Placeholder 2"/>
          <p:cNvSpPr>
            <a:spLocks noGrp="1"/>
          </p:cNvSpPr>
          <p:nvPr>
            <p:ph idx="1"/>
          </p:nvPr>
        </p:nvSpPr>
        <p:spPr>
          <a:xfrm>
            <a:off x="380999" y="1030288"/>
            <a:ext cx="11374967" cy="5827712"/>
          </a:xfrm>
        </p:spPr>
        <p:txBody>
          <a:bodyPr>
            <a:normAutofit/>
          </a:bodyPr>
          <a:lstStyle/>
          <a:p>
            <a:pPr marL="914400" lvl="1" indent="-457200">
              <a:buFont typeface="+mj-lt"/>
              <a:buAutoNum type="arabicPeriod"/>
            </a:pPr>
            <a:r>
              <a:rPr lang="en-US" dirty="0"/>
              <a:t>Weakening</a:t>
            </a:r>
          </a:p>
          <a:p>
            <a:pPr marL="914400" lvl="1" indent="-457200">
              <a:buFont typeface="+mj-lt"/>
              <a:buAutoNum type="arabicPeriod"/>
            </a:pPr>
            <a:r>
              <a:rPr lang="en-US" dirty="0"/>
              <a:t>Personal problems</a:t>
            </a:r>
          </a:p>
          <a:p>
            <a:pPr marL="914400" lvl="1" indent="-457200">
              <a:buFont typeface="+mj-lt"/>
              <a:buAutoNum type="arabicPeriod"/>
            </a:pPr>
            <a:r>
              <a:rPr lang="en-US" dirty="0"/>
              <a:t>Hardware failure</a:t>
            </a:r>
          </a:p>
          <a:p>
            <a:pPr marL="914400" lvl="1" indent="-457200">
              <a:buFont typeface="+mj-lt"/>
              <a:buAutoNum type="arabicPeriod"/>
            </a:pPr>
            <a:r>
              <a:rPr lang="en-GB" dirty="0"/>
              <a:t>Data availability</a:t>
            </a:r>
          </a:p>
          <a:p>
            <a:pPr marL="914400" lvl="1" indent="-457200">
              <a:buFont typeface="+mj-lt"/>
              <a:buAutoNum type="arabicPeriod"/>
            </a:pPr>
            <a:r>
              <a:rPr lang="en-GB" dirty="0"/>
              <a:t>Discovering your work/research has been done before</a:t>
            </a:r>
          </a:p>
          <a:p>
            <a:pPr marL="914400" lvl="1" indent="-457200">
              <a:buFont typeface="+mj-lt"/>
              <a:buAutoNum type="arabicPeriod"/>
            </a:pPr>
            <a:r>
              <a:rPr lang="en-GB" dirty="0"/>
              <a:t>Other things taking priority</a:t>
            </a:r>
          </a:p>
        </p:txBody>
      </p:sp>
    </p:spTree>
    <p:extLst>
      <p:ext uri="{BB962C8B-B14F-4D97-AF65-F5344CB8AC3E}">
        <p14:creationId xmlns:p14="http://schemas.microsoft.com/office/powerpoint/2010/main" val="3223543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 Weakening</a:t>
            </a:r>
          </a:p>
        </p:txBody>
      </p:sp>
      <p:sp>
        <p:nvSpPr>
          <p:cNvPr id="3" name="Content Placeholder 2"/>
          <p:cNvSpPr>
            <a:spLocks noGrp="1"/>
          </p:cNvSpPr>
          <p:nvPr>
            <p:ph idx="1"/>
          </p:nvPr>
        </p:nvSpPr>
        <p:spPr/>
        <p:txBody>
          <a:bodyPr>
            <a:normAutofit lnSpcReduction="10000"/>
          </a:bodyPr>
          <a:lstStyle/>
          <a:p>
            <a:r>
              <a:rPr lang="en-US" dirty="0"/>
              <a:t>Weakening is something that can happen at any stage of your project. It can stem from a lack of motivation, a lack of confidence in what you are doing, losing your direction, working yourself too hard and burning yourself out or the feeling that you have attempted to do far too much in the time available. </a:t>
            </a:r>
          </a:p>
          <a:p>
            <a:r>
              <a:rPr lang="en-US" dirty="0"/>
              <a:t>Make sure that you select a topic in which you are really interested, define and plan it thoroughly and ensure that you have planned some flexibility into your project so that you can expand or contract its scope depending on the time available.</a:t>
            </a:r>
          </a:p>
          <a:p>
            <a:r>
              <a:rPr lang="en-US" dirty="0"/>
              <a:t>Another way to overcome a lack of motivation towards your work is to move on to something else. </a:t>
            </a:r>
          </a:p>
          <a:p>
            <a:endParaRPr lang="en-GB" dirty="0"/>
          </a:p>
        </p:txBody>
      </p:sp>
    </p:spTree>
    <p:extLst>
      <p:ext uri="{BB962C8B-B14F-4D97-AF65-F5344CB8AC3E}">
        <p14:creationId xmlns:p14="http://schemas.microsoft.com/office/powerpoint/2010/main" val="730519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 Personal problems</a:t>
            </a:r>
          </a:p>
        </p:txBody>
      </p:sp>
      <p:sp>
        <p:nvSpPr>
          <p:cNvPr id="3" name="Content Placeholder 2"/>
          <p:cNvSpPr>
            <a:spLocks noGrp="1"/>
          </p:cNvSpPr>
          <p:nvPr>
            <p:ph idx="1"/>
          </p:nvPr>
        </p:nvSpPr>
        <p:spPr>
          <a:xfrm>
            <a:off x="380999" y="1030288"/>
            <a:ext cx="11374967" cy="5408612"/>
          </a:xfrm>
        </p:spPr>
        <p:txBody>
          <a:bodyPr>
            <a:normAutofit lnSpcReduction="10000"/>
          </a:bodyPr>
          <a:lstStyle/>
          <a:p>
            <a:r>
              <a:rPr lang="en-US" dirty="0"/>
              <a:t>Over the period of your project, be it six months, a year or more, chances are that you will experience a personal incident of one kind or another.</a:t>
            </a:r>
          </a:p>
          <a:p>
            <a:r>
              <a:rPr lang="en-US" dirty="0"/>
              <a:t>The most important thing to do in any of these situations is to tell somebody what has happened – be it your supervisor, </a:t>
            </a:r>
            <a:r>
              <a:rPr lang="en-US" dirty="0" err="1"/>
              <a:t>personalacademic</a:t>
            </a:r>
            <a:r>
              <a:rPr lang="en-US" dirty="0"/>
              <a:t> tutor or course leader. </a:t>
            </a:r>
          </a:p>
          <a:p>
            <a:r>
              <a:rPr lang="en-US" dirty="0"/>
              <a:t>Your own institution should have guidelines on whom to approach first with problems of different natures and you should follow these suggestions. </a:t>
            </a:r>
          </a:p>
          <a:p>
            <a:r>
              <a:rPr lang="en-US" dirty="0"/>
              <a:t>Chances are that your institution also maintains some form of ‘extenuating circumstances’ or ‘impaired performance’ procedures.</a:t>
            </a:r>
            <a:endParaRPr lang="en-GB" dirty="0"/>
          </a:p>
        </p:txBody>
      </p:sp>
    </p:spTree>
    <p:extLst>
      <p:ext uri="{BB962C8B-B14F-4D97-AF65-F5344CB8AC3E}">
        <p14:creationId xmlns:p14="http://schemas.microsoft.com/office/powerpoint/2010/main" val="1477570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 Hardware failure</a:t>
            </a:r>
          </a:p>
        </p:txBody>
      </p:sp>
      <p:sp>
        <p:nvSpPr>
          <p:cNvPr id="3" name="Content Placeholder 2"/>
          <p:cNvSpPr>
            <a:spLocks noGrp="1"/>
          </p:cNvSpPr>
          <p:nvPr>
            <p:ph idx="1"/>
          </p:nvPr>
        </p:nvSpPr>
        <p:spPr>
          <a:xfrm>
            <a:off x="380999" y="1030288"/>
            <a:ext cx="11374967" cy="5503862"/>
          </a:xfrm>
        </p:spPr>
        <p:txBody>
          <a:bodyPr>
            <a:normAutofit lnSpcReduction="10000"/>
          </a:bodyPr>
          <a:lstStyle/>
          <a:p>
            <a:r>
              <a:rPr lang="en-US" dirty="0"/>
              <a:t>In almost all projects these days, computers are used to a greater or lesser extent. They might be used simply to word process your final report or they might be used throughout the entirety of your project as you develop a program or use them to analyze data.</a:t>
            </a:r>
          </a:p>
          <a:p>
            <a:r>
              <a:rPr lang="en-US" dirty="0"/>
              <a:t>Whatever the case you may well find that the computer you use fails and that data and files you are using are lost or erased forever</a:t>
            </a:r>
          </a:p>
          <a:p>
            <a:r>
              <a:rPr lang="en-US" dirty="0"/>
              <a:t>The only answer to these kinds of problems is to make numerous and frequent back-ups.</a:t>
            </a:r>
          </a:p>
          <a:p>
            <a:r>
              <a:rPr lang="en-US" dirty="0"/>
              <a:t>Certainly, towards the end of your project, daily back-ups will be essential. Losing an entire week’s work at the start of your project is not too serious, but at the end it would be disastrous.</a:t>
            </a:r>
            <a:endParaRPr lang="en-GB" dirty="0"/>
          </a:p>
        </p:txBody>
      </p:sp>
    </p:spTree>
    <p:extLst>
      <p:ext uri="{BB962C8B-B14F-4D97-AF65-F5344CB8AC3E}">
        <p14:creationId xmlns:p14="http://schemas.microsoft.com/office/powerpoint/2010/main" val="391022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4. Data availability</a:t>
            </a:r>
          </a:p>
        </p:txBody>
      </p:sp>
      <p:sp>
        <p:nvSpPr>
          <p:cNvPr id="3" name="Content Placeholder 2"/>
          <p:cNvSpPr>
            <a:spLocks noGrp="1"/>
          </p:cNvSpPr>
          <p:nvPr>
            <p:ph idx="1"/>
          </p:nvPr>
        </p:nvSpPr>
        <p:spPr>
          <a:xfrm>
            <a:off x="380999" y="1030288"/>
            <a:ext cx="11374967" cy="5446712"/>
          </a:xfrm>
        </p:spPr>
        <p:txBody>
          <a:bodyPr>
            <a:normAutofit lnSpcReduction="10000"/>
          </a:bodyPr>
          <a:lstStyle/>
          <a:p>
            <a:r>
              <a:rPr lang="en-US" dirty="0"/>
              <a:t>Data availability is often a problem with student projects. Either a journal or a book you require is unavailable, you can’t get hold of some data, you lose your contact in a local company where you hoped to perform a case study or you receive a poor response from some questionnaires you issued. </a:t>
            </a:r>
          </a:p>
          <a:p>
            <a:r>
              <a:rPr lang="en-US" dirty="0"/>
              <a:t>Whatever the problem, your project looks as though it will suffer from a lack of available data.</a:t>
            </a:r>
          </a:p>
          <a:p>
            <a:r>
              <a:rPr lang="en-US" dirty="0"/>
              <a:t>In a similar vein to weakening discussed earlier, problems with data availability can often be traced back to your project’s early stages.</a:t>
            </a:r>
          </a:p>
          <a:p>
            <a:r>
              <a:rPr lang="en-US" dirty="0"/>
              <a:t>If, however, data availability problems only become apparent well into your project they must be dealt with there and then</a:t>
            </a:r>
            <a:endParaRPr lang="en-GB" dirty="0"/>
          </a:p>
        </p:txBody>
      </p:sp>
    </p:spTree>
    <p:extLst>
      <p:ext uri="{BB962C8B-B14F-4D97-AF65-F5344CB8AC3E}">
        <p14:creationId xmlns:p14="http://schemas.microsoft.com/office/powerpoint/2010/main" val="3273047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1" y="268288"/>
            <a:ext cx="11374967" cy="1389062"/>
          </a:xfrm>
        </p:spPr>
        <p:txBody>
          <a:bodyPr/>
          <a:lstStyle/>
          <a:p>
            <a:r>
              <a:rPr lang="en-GB" dirty="0"/>
              <a:t>5. Discovering you work/research has been done before</a:t>
            </a:r>
          </a:p>
        </p:txBody>
      </p:sp>
      <p:sp>
        <p:nvSpPr>
          <p:cNvPr id="3" name="Content Placeholder 2"/>
          <p:cNvSpPr>
            <a:spLocks noGrp="1"/>
          </p:cNvSpPr>
          <p:nvPr>
            <p:ph idx="1"/>
          </p:nvPr>
        </p:nvSpPr>
        <p:spPr>
          <a:xfrm>
            <a:off x="380999" y="1657350"/>
            <a:ext cx="11374967" cy="4243388"/>
          </a:xfrm>
        </p:spPr>
        <p:txBody>
          <a:bodyPr/>
          <a:lstStyle/>
          <a:p>
            <a:r>
              <a:rPr lang="en-US" dirty="0"/>
              <a:t>The first means of avoiding this problem is to ensure that you have conducted a thorough literature survey in the first place. </a:t>
            </a:r>
          </a:p>
          <a:p>
            <a:r>
              <a:rPr lang="en-US" dirty="0"/>
              <a:t>Your supervisor should be an expert in your field of study. They should know about developments in the field and what contribution your work is going to make.</a:t>
            </a:r>
          </a:p>
          <a:p>
            <a:r>
              <a:rPr lang="en-US" dirty="0"/>
              <a:t>Discuss with them any concerns you have with repeating the work of others – they should be able to advise you</a:t>
            </a:r>
            <a:endParaRPr lang="en-GB" dirty="0"/>
          </a:p>
        </p:txBody>
      </p:sp>
    </p:spTree>
    <p:extLst>
      <p:ext uri="{BB962C8B-B14F-4D97-AF65-F5344CB8AC3E}">
        <p14:creationId xmlns:p14="http://schemas.microsoft.com/office/powerpoint/2010/main" val="24846115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6. Other things taking priority</a:t>
            </a:r>
          </a:p>
        </p:txBody>
      </p:sp>
      <p:sp>
        <p:nvSpPr>
          <p:cNvPr id="3" name="Content Placeholder 2"/>
          <p:cNvSpPr>
            <a:spLocks noGrp="1"/>
          </p:cNvSpPr>
          <p:nvPr>
            <p:ph idx="1"/>
          </p:nvPr>
        </p:nvSpPr>
        <p:spPr/>
        <p:txBody>
          <a:bodyPr/>
          <a:lstStyle/>
          <a:p>
            <a:r>
              <a:rPr lang="en-US" dirty="0"/>
              <a:t>Your project will never be (and shouldn’t be) your only interest. You will have other subjects to deal with, coursework, your part-time or full-time job, a social life, a personal life and so on. </a:t>
            </a:r>
          </a:p>
          <a:p>
            <a:r>
              <a:rPr lang="en-US" dirty="0"/>
              <a:t>All of these things take time and often you will find that your project takes second place to all of them at one stage or another. </a:t>
            </a:r>
          </a:p>
          <a:p>
            <a:r>
              <a:rPr lang="en-US" dirty="0"/>
              <a:t>The only way to deal with this problem is through better time management.</a:t>
            </a:r>
            <a:endParaRPr lang="en-GB" dirty="0"/>
          </a:p>
        </p:txBody>
      </p:sp>
    </p:spTree>
    <p:extLst>
      <p:ext uri="{BB962C8B-B14F-4D97-AF65-F5344CB8AC3E}">
        <p14:creationId xmlns:p14="http://schemas.microsoft.com/office/powerpoint/2010/main" val="12586598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 management (1)</a:t>
            </a:r>
          </a:p>
        </p:txBody>
      </p:sp>
      <p:sp>
        <p:nvSpPr>
          <p:cNvPr id="3" name="Content Placeholder 2"/>
          <p:cNvSpPr>
            <a:spLocks noGrp="1"/>
          </p:cNvSpPr>
          <p:nvPr>
            <p:ph idx="1"/>
          </p:nvPr>
        </p:nvSpPr>
        <p:spPr>
          <a:xfrm>
            <a:off x="380999" y="1030288"/>
            <a:ext cx="11374967" cy="5370512"/>
          </a:xfrm>
        </p:spPr>
        <p:txBody>
          <a:bodyPr>
            <a:normAutofit lnSpcReduction="10000"/>
          </a:bodyPr>
          <a:lstStyle/>
          <a:p>
            <a:r>
              <a:rPr lang="en-US" dirty="0"/>
              <a:t>Everybody is limited in the amount of time they have available – there are only 24 hours in a day and seven days in a week, no matter who you are. </a:t>
            </a:r>
          </a:p>
          <a:p>
            <a:r>
              <a:rPr lang="en-US" dirty="0"/>
              <a:t>Although everyone needs to use some of this time for essential activities such as sleeping, eating and dressing, some people make more effective use of the remaining serviceable time than others. </a:t>
            </a:r>
          </a:p>
          <a:p>
            <a:r>
              <a:rPr lang="en-US" dirty="0"/>
              <a:t>How you become more efficient in your use of serviceable time is the focus of time management.</a:t>
            </a:r>
          </a:p>
          <a:p>
            <a:r>
              <a:rPr lang="en-US" dirty="0"/>
              <a:t>Although there are some specific techniques you can employ to save time, the only way to make dramatic improvements in your use of time is to approach time management from a fundamental analysis. </a:t>
            </a:r>
          </a:p>
        </p:txBody>
      </p:sp>
    </p:spTree>
    <p:extLst>
      <p:ext uri="{BB962C8B-B14F-4D97-AF65-F5344CB8AC3E}">
        <p14:creationId xmlns:p14="http://schemas.microsoft.com/office/powerpoint/2010/main" val="734476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 management (2)</a:t>
            </a:r>
          </a:p>
        </p:txBody>
      </p:sp>
      <p:sp>
        <p:nvSpPr>
          <p:cNvPr id="3" name="Content Placeholder 2"/>
          <p:cNvSpPr>
            <a:spLocks noGrp="1"/>
          </p:cNvSpPr>
          <p:nvPr>
            <p:ph idx="1"/>
          </p:nvPr>
        </p:nvSpPr>
        <p:spPr/>
        <p:txBody>
          <a:bodyPr>
            <a:normAutofit/>
          </a:bodyPr>
          <a:lstStyle/>
          <a:p>
            <a:r>
              <a:rPr lang="en-US" dirty="0"/>
              <a:t>This fundamental analysis is a process that involves three stages</a:t>
            </a:r>
          </a:p>
          <a:p>
            <a:pPr marL="914400" lvl="1" indent="-457200">
              <a:buFont typeface="+mj-lt"/>
              <a:buAutoNum type="arabicPeriod"/>
            </a:pPr>
            <a:r>
              <a:rPr lang="en-US" dirty="0"/>
              <a:t>Decide what you want to do.</a:t>
            </a:r>
          </a:p>
          <a:p>
            <a:pPr marL="914400" lvl="1" indent="-457200">
              <a:buFont typeface="+mj-lt"/>
              <a:buAutoNum type="arabicPeriod"/>
            </a:pPr>
            <a:r>
              <a:rPr lang="en-US" dirty="0"/>
              <a:t>Analyze what you are currently doing.</a:t>
            </a:r>
          </a:p>
          <a:p>
            <a:pPr marL="914400" lvl="1" indent="-457200">
              <a:buFont typeface="+mj-lt"/>
              <a:buAutoNum type="arabicPeriod"/>
            </a:pPr>
            <a:r>
              <a:rPr lang="en-US" dirty="0"/>
              <a:t>Change what you are doing to achieve your aims.</a:t>
            </a:r>
            <a:endParaRPr lang="en-GB" dirty="0"/>
          </a:p>
        </p:txBody>
      </p:sp>
    </p:spTree>
    <p:extLst>
      <p:ext uri="{BB962C8B-B14F-4D97-AF65-F5344CB8AC3E}">
        <p14:creationId xmlns:p14="http://schemas.microsoft.com/office/powerpoint/2010/main" val="3848553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Working with supervisors(1)</a:t>
            </a:r>
          </a:p>
        </p:txBody>
      </p:sp>
      <p:sp>
        <p:nvSpPr>
          <p:cNvPr id="3" name="Content Placeholder 2"/>
          <p:cNvSpPr>
            <a:spLocks noGrp="1"/>
          </p:cNvSpPr>
          <p:nvPr>
            <p:ph idx="1"/>
          </p:nvPr>
        </p:nvSpPr>
        <p:spPr>
          <a:xfrm>
            <a:off x="380999" y="1030288"/>
            <a:ext cx="11374967" cy="5522912"/>
          </a:xfrm>
        </p:spPr>
        <p:txBody>
          <a:bodyPr>
            <a:normAutofit lnSpcReduction="10000"/>
          </a:bodyPr>
          <a:lstStyle/>
          <a:p>
            <a:r>
              <a:rPr lang="en-US" dirty="0"/>
              <a:t>A ‘supervisor’s primary professional responsibility is to develop his or her research students so that they can think and behave as independent academic and scholarly researchers in the field of study concerned.’ (</a:t>
            </a:r>
            <a:r>
              <a:rPr lang="en-US" dirty="0" err="1"/>
              <a:t>Cryer</a:t>
            </a:r>
            <a:r>
              <a:rPr lang="en-US" dirty="0"/>
              <a:t> 2006)</a:t>
            </a:r>
          </a:p>
          <a:p>
            <a:r>
              <a:rPr lang="en-US" dirty="0"/>
              <a:t>Your supervisor should be able to advise you on when acting in an academic capacity:</a:t>
            </a:r>
          </a:p>
          <a:p>
            <a:pPr lvl="1"/>
            <a:r>
              <a:rPr lang="en-US" dirty="0"/>
              <a:t>research design and scheduling</a:t>
            </a:r>
          </a:p>
          <a:p>
            <a:pPr lvl="1"/>
            <a:r>
              <a:rPr lang="en-US" dirty="0"/>
              <a:t>literature surveys</a:t>
            </a:r>
          </a:p>
          <a:p>
            <a:pPr lvl="1"/>
            <a:r>
              <a:rPr lang="en-US" dirty="0"/>
              <a:t>theoretical and conceptual development</a:t>
            </a:r>
          </a:p>
          <a:p>
            <a:pPr lvl="1"/>
            <a:r>
              <a:rPr lang="en-US" dirty="0"/>
              <a:t>methodological issues</a:t>
            </a:r>
          </a:p>
          <a:p>
            <a:pPr lvl="1"/>
            <a:r>
              <a:rPr lang="en-US" dirty="0"/>
              <a:t>development of appropriate research skills</a:t>
            </a:r>
          </a:p>
          <a:p>
            <a:pPr lvl="1"/>
            <a:r>
              <a:rPr lang="en-US" dirty="0"/>
              <a:t>data collection and analyses.</a:t>
            </a:r>
            <a:endParaRPr lang="en-GB" dirty="0"/>
          </a:p>
        </p:txBody>
      </p:sp>
    </p:spTree>
    <p:extLst>
      <p:ext uri="{BB962C8B-B14F-4D97-AF65-F5344CB8AC3E}">
        <p14:creationId xmlns:p14="http://schemas.microsoft.com/office/powerpoint/2010/main" val="4026302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Working with supervisors(2)</a:t>
            </a:r>
          </a:p>
        </p:txBody>
      </p:sp>
      <p:sp>
        <p:nvSpPr>
          <p:cNvPr id="3" name="Content Placeholder 2"/>
          <p:cNvSpPr>
            <a:spLocks noGrp="1"/>
          </p:cNvSpPr>
          <p:nvPr>
            <p:ph idx="1"/>
          </p:nvPr>
        </p:nvSpPr>
        <p:spPr/>
        <p:txBody>
          <a:bodyPr>
            <a:normAutofit/>
          </a:bodyPr>
          <a:lstStyle/>
          <a:p>
            <a:r>
              <a:rPr lang="en-US" dirty="0"/>
              <a:t>Try to use your time with your supervisor effectively:</a:t>
            </a:r>
          </a:p>
          <a:p>
            <a:r>
              <a:rPr lang="en-US" dirty="0"/>
              <a:t>Prepare for your meetings. Don’t just turn up to a meeting with your supervisor without any ideas on what you want to get out of it. </a:t>
            </a:r>
          </a:p>
          <a:p>
            <a:r>
              <a:rPr lang="en-US" dirty="0"/>
              <a:t>As part of your meetings you may well want to discuss the following topics each time:</a:t>
            </a:r>
          </a:p>
          <a:p>
            <a:pPr lvl="1"/>
            <a:r>
              <a:rPr lang="en-US" dirty="0"/>
              <a:t>Progress</a:t>
            </a:r>
          </a:p>
          <a:p>
            <a:pPr lvl="1"/>
            <a:r>
              <a:rPr lang="en-US" dirty="0"/>
              <a:t>Problem encountered</a:t>
            </a:r>
          </a:p>
          <a:p>
            <a:pPr lvl="1"/>
            <a:r>
              <a:rPr lang="en-US" dirty="0"/>
              <a:t>Meetings if any</a:t>
            </a:r>
          </a:p>
          <a:p>
            <a:pPr lvl="1"/>
            <a:r>
              <a:rPr lang="en-US" dirty="0"/>
              <a:t>Next task</a:t>
            </a:r>
          </a:p>
        </p:txBody>
      </p:sp>
    </p:spTree>
    <p:extLst>
      <p:ext uri="{BB962C8B-B14F-4D97-AF65-F5344CB8AC3E}">
        <p14:creationId xmlns:p14="http://schemas.microsoft.com/office/powerpoint/2010/main" val="20584351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Working with supervisors(3)</a:t>
            </a:r>
          </a:p>
        </p:txBody>
      </p:sp>
      <p:sp>
        <p:nvSpPr>
          <p:cNvPr id="3" name="Content Placeholder 2"/>
          <p:cNvSpPr>
            <a:spLocks noGrp="1"/>
          </p:cNvSpPr>
          <p:nvPr>
            <p:ph idx="1"/>
          </p:nvPr>
        </p:nvSpPr>
        <p:spPr/>
        <p:txBody>
          <a:bodyPr>
            <a:normAutofit/>
          </a:bodyPr>
          <a:lstStyle/>
          <a:p>
            <a:r>
              <a:rPr lang="en-US" dirty="0"/>
              <a:t>Make notes during your meetings. </a:t>
            </a:r>
          </a:p>
          <a:p>
            <a:r>
              <a:rPr lang="en-US" dirty="0"/>
              <a:t>Arrange your next meeting</a:t>
            </a:r>
          </a:p>
          <a:p>
            <a:r>
              <a:rPr lang="en-US" dirty="0"/>
              <a:t>Follow your supervisor’s advice</a:t>
            </a:r>
          </a:p>
          <a:p>
            <a:r>
              <a:rPr lang="en-US" dirty="0"/>
              <a:t>Be prepared to communicate with your supervisor through other means – by email or telephone for example</a:t>
            </a:r>
            <a:endParaRPr lang="en-GB" dirty="0"/>
          </a:p>
        </p:txBody>
      </p:sp>
    </p:spTree>
    <p:extLst>
      <p:ext uri="{BB962C8B-B14F-4D97-AF65-F5344CB8AC3E}">
        <p14:creationId xmlns:p14="http://schemas.microsoft.com/office/powerpoint/2010/main" val="3810974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Any Questions?</a:t>
            </a:r>
          </a:p>
        </p:txBody>
      </p:sp>
      <p:pic>
        <p:nvPicPr>
          <p:cNvPr id="3074" name="Picture 2" descr="http://i.huffpost.com/gen/1604482/images/o-WOMAN-ASKING-QUESTION-faceboo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7834" y="1030288"/>
            <a:ext cx="10401299" cy="5200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3804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Week 7 Lecture</a:t>
            </a:r>
          </a:p>
        </p:txBody>
      </p:sp>
      <p:sp>
        <p:nvSpPr>
          <p:cNvPr id="6" name="Content Placeholder 5"/>
          <p:cNvSpPr>
            <a:spLocks noGrp="1"/>
          </p:cNvSpPr>
          <p:nvPr>
            <p:ph idx="1"/>
          </p:nvPr>
        </p:nvSpPr>
        <p:spPr>
          <a:xfrm>
            <a:off x="381001" y="1030288"/>
            <a:ext cx="11374967" cy="4870450"/>
          </a:xfrm>
        </p:spPr>
        <p:txBody>
          <a:bodyPr/>
          <a:lstStyle/>
          <a:p>
            <a:pPr algn="just"/>
            <a:r>
              <a:rPr lang="en-US" dirty="0"/>
              <a:t>Although you may have proposed an interesting and worthwhile project and planned it well, once your project is underway it needs to be carefully managed and controlled or it will fall apart. </a:t>
            </a:r>
          </a:p>
          <a:p>
            <a:pPr algn="just"/>
            <a:r>
              <a:rPr lang="en-US" dirty="0"/>
              <a:t>A project consists of five elements – three consumables: time, resources and money and two attributes of the project’s product; scope and quality.</a:t>
            </a:r>
          </a:p>
          <a:p>
            <a:pPr algn="just"/>
            <a:r>
              <a:rPr lang="en-US" dirty="0"/>
              <a:t>It is not really the nature of the problem that you encounter that can lead to project failure, but how you deal with the problem that counts.</a:t>
            </a:r>
          </a:p>
          <a:p>
            <a:pPr algn="just"/>
            <a:r>
              <a:rPr lang="en-US" dirty="0"/>
              <a:t>The focus of time management is to learn how to become more efficient in your use of serviceable time.</a:t>
            </a:r>
            <a:endParaRPr lang="en-GB" dirty="0"/>
          </a:p>
        </p:txBody>
      </p:sp>
    </p:spTree>
    <p:extLst>
      <p:ext uri="{BB962C8B-B14F-4D97-AF65-F5344CB8AC3E}">
        <p14:creationId xmlns:p14="http://schemas.microsoft.com/office/powerpoint/2010/main" val="19101648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Expect: Week 7 Activities</a:t>
            </a:r>
          </a:p>
        </p:txBody>
      </p:sp>
      <p:sp>
        <p:nvSpPr>
          <p:cNvPr id="3" name="Content Placeholder 2"/>
          <p:cNvSpPr>
            <a:spLocks noGrp="1"/>
          </p:cNvSpPr>
          <p:nvPr>
            <p:ph idx="1"/>
          </p:nvPr>
        </p:nvSpPr>
        <p:spPr>
          <a:xfrm>
            <a:off x="381001" y="1031876"/>
            <a:ext cx="11374967" cy="5216524"/>
          </a:xfrm>
        </p:spPr>
        <p:txBody>
          <a:bodyPr/>
          <a:lstStyle/>
          <a:p>
            <a:pPr marL="228600" lvl="1" algn="just">
              <a:buFont typeface="Arial" panose="020B0604020202020204" pitchFamily="34" charset="0"/>
              <a:buChar char="•"/>
            </a:pPr>
            <a:r>
              <a:rPr lang="en-US" sz="3200" dirty="0"/>
              <a:t>Task: Creating Work Break Down Structure and Gantt Chart for your project</a:t>
            </a:r>
          </a:p>
        </p:txBody>
      </p:sp>
    </p:spTree>
    <p:extLst>
      <p:ext uri="{BB962C8B-B14F-4D97-AF65-F5344CB8AC3E}">
        <p14:creationId xmlns:p14="http://schemas.microsoft.com/office/powerpoint/2010/main" val="4158275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srcRect/>
          <a:stretch>
            <a:fillRect/>
          </a:stretch>
        </p:blipFill>
        <p:spPr bwMode="auto">
          <a:xfrm>
            <a:off x="3911601" y="1527176"/>
            <a:ext cx="4327525" cy="3973513"/>
          </a:xfrm>
          <a:prstGeom prst="rect">
            <a:avLst/>
          </a:prstGeom>
          <a:noFill/>
          <a:ln w="9525">
            <a:noFill/>
            <a:miter lim="800000"/>
            <a:headEnd/>
            <a:tailEnd/>
          </a:ln>
        </p:spPr>
      </p:pic>
    </p:spTree>
    <p:extLst>
      <p:ext uri="{BB962C8B-B14F-4D97-AF65-F5344CB8AC3E}">
        <p14:creationId xmlns:p14="http://schemas.microsoft.com/office/powerpoint/2010/main" val="1384740117"/>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450</TotalTime>
  <Words>2221</Words>
  <Application>Microsoft Office PowerPoint</Application>
  <PresentationFormat>Widescreen</PresentationFormat>
  <Paragraphs>134</Paragraphs>
  <Slides>29</Slides>
  <Notes>2</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29</vt:i4>
      </vt:variant>
    </vt:vector>
  </HeadingPairs>
  <TitlesOfParts>
    <vt:vector size="37" baseType="lpstr">
      <vt:lpstr>Arial</vt:lpstr>
      <vt:lpstr>Calibri</vt:lpstr>
      <vt:lpstr>Calibri Light</vt:lpstr>
      <vt:lpstr>Times New Roman</vt:lpstr>
      <vt:lpstr>Wingdings</vt:lpstr>
      <vt:lpstr>1_Office Theme</vt:lpstr>
      <vt:lpstr>2_Office Theme</vt:lpstr>
      <vt:lpstr>3_Office Theme</vt:lpstr>
      <vt:lpstr>Project Planning</vt:lpstr>
      <vt:lpstr>Agenda </vt:lpstr>
      <vt:lpstr>PowerPoint Presentation</vt:lpstr>
      <vt:lpstr>Controlling Your Project</vt:lpstr>
      <vt:lpstr>Project Initiation (1)</vt:lpstr>
      <vt:lpstr>Project Initiation (2)</vt:lpstr>
      <vt:lpstr>Five Project Elements (1)</vt:lpstr>
      <vt:lpstr>Five Project Elements (2)</vt:lpstr>
      <vt:lpstr>Five Project Elements (3)</vt:lpstr>
      <vt:lpstr>Project control (1)</vt:lpstr>
      <vt:lpstr>Project control (2)</vt:lpstr>
      <vt:lpstr>Project control (3)</vt:lpstr>
      <vt:lpstr>Dealing with problems (1)</vt:lpstr>
      <vt:lpstr>Dealing with problems (2)</vt:lpstr>
      <vt:lpstr>1. Weakening</vt:lpstr>
      <vt:lpstr>2. Personal problems</vt:lpstr>
      <vt:lpstr>3. Hardware failure</vt:lpstr>
      <vt:lpstr>4. Data availability</vt:lpstr>
      <vt:lpstr>5. Discovering you work/research has been done before</vt:lpstr>
      <vt:lpstr>6. Other things taking priority</vt:lpstr>
      <vt:lpstr>Time management (1)</vt:lpstr>
      <vt:lpstr>Time management (2)</vt:lpstr>
      <vt:lpstr>Working with supervisors(1)</vt:lpstr>
      <vt:lpstr>Working with supervisors(2)</vt:lpstr>
      <vt:lpstr>Working with supervisors(3)</vt:lpstr>
      <vt:lpstr>Any Questions?</vt:lpstr>
      <vt:lpstr>Summary: Week 7 Lecture</vt:lpstr>
      <vt:lpstr>What to Expect: Week 7 Activities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3</dc:title>
  <dc:creator>Sanjiv</dc:creator>
  <cp:lastModifiedBy>Biraj Dulal</cp:lastModifiedBy>
  <cp:revision>51</cp:revision>
  <dcterms:created xsi:type="dcterms:W3CDTF">2016-03-30T12:45:31Z</dcterms:created>
  <dcterms:modified xsi:type="dcterms:W3CDTF">2020-04-14T15:37:30Z</dcterms:modified>
</cp:coreProperties>
</file>