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00" r:id="rId3"/>
  </p:sldMasterIdLst>
  <p:notesMasterIdLst>
    <p:notesMasterId r:id="rId33"/>
  </p:notesMasterIdLst>
  <p:sldIdLst>
    <p:sldId id="273" r:id="rId4"/>
    <p:sldId id="274" r:id="rId5"/>
    <p:sldId id="275" r:id="rId6"/>
    <p:sldId id="276" r:id="rId7"/>
    <p:sldId id="277" r:id="rId8"/>
    <p:sldId id="258" r:id="rId9"/>
    <p:sldId id="259" r:id="rId10"/>
    <p:sldId id="260" r:id="rId11"/>
    <p:sldId id="261" r:id="rId12"/>
    <p:sldId id="282" r:id="rId13"/>
    <p:sldId id="262" r:id="rId14"/>
    <p:sldId id="283" r:id="rId15"/>
    <p:sldId id="263" r:id="rId16"/>
    <p:sldId id="264" r:id="rId17"/>
    <p:sldId id="265" r:id="rId18"/>
    <p:sldId id="284" r:id="rId19"/>
    <p:sldId id="266" r:id="rId20"/>
    <p:sldId id="285" r:id="rId21"/>
    <p:sldId id="268" r:id="rId22"/>
    <p:sldId id="287" r:id="rId23"/>
    <p:sldId id="269" r:id="rId24"/>
    <p:sldId id="288" r:id="rId25"/>
    <p:sldId id="271" r:id="rId26"/>
    <p:sldId id="289" r:id="rId27"/>
    <p:sldId id="272" r:id="rId28"/>
    <p:sldId id="278" r:id="rId29"/>
    <p:sldId id="279" r:id="rId30"/>
    <p:sldId id="280" r:id="rId31"/>
    <p:sldId id="281"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BB70A-7860-429E-ADD7-05B2F59135A1}" type="datetimeFigureOut">
              <a:rPr lang="en-US" smtClean="0"/>
              <a:t>4/1/2020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FE0BC-7C42-4B91-AE02-9FDC7E299082}" type="slidenum">
              <a:rPr lang="en-US" smtClean="0"/>
              <a:t>‹#›</a:t>
            </a:fld>
            <a:endParaRPr lang="en-US"/>
          </a:p>
        </p:txBody>
      </p:sp>
    </p:spTree>
    <p:extLst>
      <p:ext uri="{BB962C8B-B14F-4D97-AF65-F5344CB8AC3E}">
        <p14:creationId xmlns:p14="http://schemas.microsoft.com/office/powerpoint/2010/main" val="249117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045773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549227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632778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49" y="1030288"/>
            <a:ext cx="8531225"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3563476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249547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94647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06384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91344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426641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742514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444501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287940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359037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618887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7813"/>
          </a:xfrm>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a:xfrm>
            <a:off x="628650" y="1285461"/>
            <a:ext cx="7886700" cy="4891502"/>
          </a:xfrm>
        </p:spPr>
        <p:txBody>
          <a:bodyPr/>
          <a:lstStyle>
            <a:lvl1pPr>
              <a:defRPr sz="32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621611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705253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734370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058277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1576706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31639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273078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802312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053497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6820720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1" y="6353177"/>
            <a:ext cx="2092325"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1236934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8" name="Content Placeholder 2"/>
          <p:cNvSpPr>
            <a:spLocks noGrp="1"/>
          </p:cNvSpPr>
          <p:nvPr>
            <p:ph idx="1"/>
          </p:nvPr>
        </p:nvSpPr>
        <p:spPr>
          <a:xfrm>
            <a:off x="285751"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6020887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9540356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1" y="1214438"/>
            <a:ext cx="418941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4" y="1214438"/>
            <a:ext cx="4189412"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499889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258995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50"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38963800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4768272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34898993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299934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4847321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798676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5546423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8402237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2060312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01/04/2020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95402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10100259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01/04/2020</a:t>
            </a:fld>
            <a:endParaRPr lang="en-GB">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32" y="6643713"/>
            <a:ext cx="9144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a:solidFill>
                  <a:prstClr val="white"/>
                </a:solidFill>
              </a:rPr>
              <a:t>iAcademy</a:t>
            </a:r>
            <a:endParaRPr lang="en-SG" sz="1350" dirty="0">
              <a:solidFill>
                <a:prstClr val="white"/>
              </a:solidFill>
            </a:endParaRPr>
          </a:p>
        </p:txBody>
      </p:sp>
      <p:sp>
        <p:nvSpPr>
          <p:cNvPr id="11" name="Rectangle 7"/>
          <p:cNvSpPr>
            <a:spLocks noChangeArrowheads="1"/>
          </p:cNvSpPr>
          <p:nvPr userDrawn="1"/>
        </p:nvSpPr>
        <p:spPr bwMode="auto">
          <a:xfrm flipV="1">
            <a:off x="1214415" y="6786586"/>
            <a:ext cx="7929554"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24336519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3085639887"/>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685800" y="785794"/>
            <a:ext cx="7772400" cy="1470025"/>
          </a:xfrm>
        </p:spPr>
        <p:txBody>
          <a:bodyPr/>
          <a:lstStyle/>
          <a:p>
            <a:pPr algn="ctr"/>
            <a:r>
              <a:rPr lang="en-US" dirty="0"/>
              <a:t>Literature search and review</a:t>
            </a:r>
            <a:endParaRPr lang="en-GB" dirty="0"/>
          </a:p>
        </p:txBody>
      </p:sp>
      <p:sp>
        <p:nvSpPr>
          <p:cNvPr id="10" name="Subtitle 5"/>
          <p:cNvSpPr>
            <a:spLocks noGrp="1"/>
          </p:cNvSpPr>
          <p:nvPr>
            <p:ph type="subTitle" idx="1"/>
          </p:nvPr>
        </p:nvSpPr>
        <p:spPr>
          <a:xfrm>
            <a:off x="357158" y="2684444"/>
            <a:ext cx="8358246" cy="2387629"/>
          </a:xfrm>
        </p:spPr>
        <p:txBody>
          <a:bodyPr/>
          <a:lstStyle/>
          <a:p>
            <a:r>
              <a:rPr lang="en-GB" dirty="0"/>
              <a:t>Research and Development Skills in Computing</a:t>
            </a:r>
          </a:p>
          <a:p>
            <a:r>
              <a:rPr lang="en-US" sz="2800" dirty="0"/>
              <a:t>Lecture 5</a:t>
            </a:r>
          </a:p>
          <a:p>
            <a:endParaRPr lang="en-US" sz="2800" dirty="0"/>
          </a:p>
          <a:p>
            <a:r>
              <a:rPr lang="en-US" sz="2400" i="1" dirty="0"/>
              <a:t>Understanding the art of literature search, manage and review</a:t>
            </a:r>
            <a:endParaRPr lang="en-GB" sz="2400" i="1" dirty="0"/>
          </a:p>
        </p:txBody>
      </p:sp>
      <p:sp>
        <p:nvSpPr>
          <p:cNvPr id="11" name="TextBox 3"/>
          <p:cNvSpPr txBox="1">
            <a:spLocks noChangeArrowheads="1"/>
          </p:cNvSpPr>
          <p:nvPr/>
        </p:nvSpPr>
        <p:spPr bwMode="auto">
          <a:xfrm>
            <a:off x="142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391680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a:xfrm>
            <a:off x="285750" y="1030288"/>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sz="3200" dirty="0">
                <a:solidFill>
                  <a:srgbClr val="000000"/>
                </a:solidFill>
                <a:ea typeface="宋体" pitchFamily="2" charset="-122"/>
              </a:rPr>
              <a:t>Week 5 Lecture Coverage</a:t>
            </a:r>
          </a:p>
          <a:p>
            <a:pPr lvl="1"/>
            <a:r>
              <a:rPr lang="en-GB" dirty="0"/>
              <a:t>Literature survey process</a:t>
            </a:r>
          </a:p>
          <a:p>
            <a:pPr lvl="1"/>
            <a:r>
              <a:rPr lang="en-GB" dirty="0"/>
              <a:t>Literature searching</a:t>
            </a:r>
          </a:p>
          <a:p>
            <a:pPr lvl="1"/>
            <a:r>
              <a:rPr lang="en-GB" dirty="0"/>
              <a:t>Managing information</a:t>
            </a:r>
          </a:p>
          <a:p>
            <a:pPr lvl="1"/>
            <a:r>
              <a:rPr lang="en-GB" dirty="0"/>
              <a:t>Critical evaluation</a:t>
            </a:r>
          </a:p>
          <a:p>
            <a:pPr lvl="1"/>
            <a:r>
              <a:rPr lang="en-GB" dirty="0"/>
              <a:t>Writing literature reviews</a:t>
            </a:r>
          </a:p>
        </p:txBody>
      </p:sp>
    </p:spTree>
    <p:extLst>
      <p:ext uri="{BB962C8B-B14F-4D97-AF65-F5344CB8AC3E}">
        <p14:creationId xmlns:p14="http://schemas.microsoft.com/office/powerpoint/2010/main" val="67065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11120" y="2195067"/>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4</a:t>
            </a:r>
          </a:p>
          <a:p>
            <a:pPr algn="ctr"/>
            <a:endParaRPr lang="en-US" sz="4000" b="1" dirty="0">
              <a:solidFill>
                <a:prstClr val="black"/>
              </a:solidFill>
            </a:endParaRPr>
          </a:p>
        </p:txBody>
      </p:sp>
    </p:spTree>
    <p:extLst>
      <p:ext uri="{BB962C8B-B14F-4D97-AF65-F5344CB8AC3E}">
        <p14:creationId xmlns:p14="http://schemas.microsoft.com/office/powerpoint/2010/main" val="358263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mn-lt"/>
              </a:rPr>
              <a:t>Review of Week 4</a:t>
            </a:r>
          </a:p>
        </p:txBody>
      </p:sp>
      <p:sp>
        <p:nvSpPr>
          <p:cNvPr id="3" name="Content Placeholder 2"/>
          <p:cNvSpPr>
            <a:spLocks noGrp="1"/>
          </p:cNvSpPr>
          <p:nvPr>
            <p:ph idx="1"/>
          </p:nvPr>
        </p:nvSpPr>
        <p:spPr/>
        <p:txBody>
          <a:bodyPr>
            <a:normAutofit fontScale="92500" lnSpcReduction="10000"/>
          </a:bodyPr>
          <a:lstStyle/>
          <a:p>
            <a:pPr algn="just"/>
            <a:r>
              <a:rPr lang="en-US" dirty="0"/>
              <a:t>The five main stages are: </a:t>
            </a:r>
          </a:p>
          <a:p>
            <a:pPr marL="971550" lvl="1" indent="-514350" algn="just">
              <a:buFont typeface="+mj-lt"/>
              <a:buAutoNum type="arabicPeriod"/>
            </a:pPr>
            <a:r>
              <a:rPr lang="en-US" dirty="0"/>
              <a:t>Definition</a:t>
            </a:r>
          </a:p>
          <a:p>
            <a:pPr marL="971550" lvl="1" indent="-514350" algn="just">
              <a:buFont typeface="+mj-lt"/>
              <a:buAutoNum type="arabicPeriod"/>
            </a:pPr>
            <a:r>
              <a:rPr lang="en-US" dirty="0"/>
              <a:t>Planning</a:t>
            </a:r>
          </a:p>
          <a:p>
            <a:pPr marL="971550" lvl="1" indent="-514350" algn="just">
              <a:buFont typeface="+mj-lt"/>
              <a:buAutoNum type="arabicPeriod"/>
            </a:pPr>
            <a:r>
              <a:rPr lang="en-US" dirty="0"/>
              <a:t>Initiation </a:t>
            </a:r>
          </a:p>
          <a:p>
            <a:pPr marL="971550" lvl="1" indent="-514350" algn="just">
              <a:buFont typeface="+mj-lt"/>
              <a:buAutoNum type="arabicPeriod"/>
            </a:pPr>
            <a:r>
              <a:rPr lang="en-US" dirty="0"/>
              <a:t>Control</a:t>
            </a:r>
          </a:p>
          <a:p>
            <a:pPr marL="971550" lvl="1" indent="-514350" algn="just">
              <a:buFont typeface="+mj-lt"/>
              <a:buAutoNum type="arabicPeriod"/>
            </a:pPr>
            <a:r>
              <a:rPr lang="en-US" dirty="0"/>
              <a:t>Closure</a:t>
            </a:r>
          </a:p>
          <a:p>
            <a:pPr algn="just"/>
            <a:r>
              <a:rPr lang="en-US" dirty="0"/>
              <a:t>The four main stages of this risk management process are:</a:t>
            </a:r>
          </a:p>
          <a:p>
            <a:pPr marL="842963" lvl="1" indent="-385763" algn="just">
              <a:buFont typeface="+mj-lt"/>
              <a:buAutoNum type="arabicPeriod"/>
            </a:pPr>
            <a:r>
              <a:rPr lang="en-US" dirty="0"/>
              <a:t>Identify risks</a:t>
            </a:r>
          </a:p>
          <a:p>
            <a:pPr marL="842963" lvl="1" indent="-385763" algn="just">
              <a:buFont typeface="+mj-lt"/>
              <a:buAutoNum type="arabicPeriod"/>
            </a:pPr>
            <a:r>
              <a:rPr lang="en-US" dirty="0"/>
              <a:t>Assess impact of risks</a:t>
            </a:r>
          </a:p>
          <a:p>
            <a:pPr marL="842963" lvl="1" indent="-385763" algn="just">
              <a:buFont typeface="+mj-lt"/>
              <a:buAutoNum type="arabicPeriod"/>
            </a:pPr>
            <a:r>
              <a:rPr lang="en-US" dirty="0"/>
              <a:t>Alleviate critical risks</a:t>
            </a:r>
          </a:p>
          <a:p>
            <a:pPr marL="842963" lvl="1" indent="-385763" algn="just">
              <a:buFont typeface="+mj-lt"/>
              <a:buAutoNum type="arabicPeriod"/>
            </a:pPr>
            <a:r>
              <a:rPr lang="en-US" dirty="0"/>
              <a:t>Control risks.</a:t>
            </a:r>
            <a:endParaRPr lang="en-GB" dirty="0"/>
          </a:p>
        </p:txBody>
      </p:sp>
    </p:spTree>
    <p:extLst>
      <p:ext uri="{BB962C8B-B14F-4D97-AF65-F5344CB8AC3E}">
        <p14:creationId xmlns:p14="http://schemas.microsoft.com/office/powerpoint/2010/main" val="327930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isha.ws/blog/wp-content/uploads/2013/08/confusion-clarity-spiritual-pa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7" y="1152939"/>
            <a:ext cx="8480425" cy="477023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p:txBody>
          <a:bodyPr/>
          <a:lstStyle/>
          <a:p>
            <a:r>
              <a:rPr lang="en-US" b="1" dirty="0">
                <a:latin typeface="+mn-lt"/>
              </a:rPr>
              <a:t>Any Confusion?</a:t>
            </a:r>
          </a:p>
        </p:txBody>
      </p:sp>
    </p:spTree>
    <p:extLst>
      <p:ext uri="{BB962C8B-B14F-4D97-AF65-F5344CB8AC3E}">
        <p14:creationId xmlns:p14="http://schemas.microsoft.com/office/powerpoint/2010/main" val="3618271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survey (1)</a:t>
            </a:r>
          </a:p>
        </p:txBody>
      </p:sp>
      <p:sp>
        <p:nvSpPr>
          <p:cNvPr id="3" name="Content Placeholder 2"/>
          <p:cNvSpPr>
            <a:spLocks noGrp="1"/>
          </p:cNvSpPr>
          <p:nvPr>
            <p:ph idx="1"/>
          </p:nvPr>
        </p:nvSpPr>
        <p:spPr/>
        <p:txBody>
          <a:bodyPr>
            <a:normAutofit/>
          </a:bodyPr>
          <a:lstStyle/>
          <a:p>
            <a:pPr algn="just"/>
            <a:r>
              <a:rPr lang="en-US" dirty="0"/>
              <a:t>The initial foundation for your project is a literature survey. </a:t>
            </a:r>
          </a:p>
          <a:p>
            <a:pPr algn="just"/>
            <a:r>
              <a:rPr lang="en-US" dirty="0"/>
              <a:t>This survey has two main components: a literature search and a literature review.</a:t>
            </a:r>
          </a:p>
          <a:p>
            <a:pPr lvl="1" algn="just"/>
            <a:r>
              <a:rPr lang="en-US" dirty="0"/>
              <a:t>The literature search represents the mechanics of looking for, sorting, managing and digesting the available research material. </a:t>
            </a:r>
          </a:p>
          <a:p>
            <a:pPr lvl="1" algn="just"/>
            <a:r>
              <a:rPr lang="en-US" dirty="0"/>
              <a:t>The literature review represents your written understanding, critical evaluation, conceptualization and presentation of the material you have obtained.</a:t>
            </a:r>
            <a:endParaRPr lang="en-GB" dirty="0"/>
          </a:p>
        </p:txBody>
      </p:sp>
    </p:spTree>
    <p:extLst>
      <p:ext uri="{BB962C8B-B14F-4D97-AF65-F5344CB8AC3E}">
        <p14:creationId xmlns:p14="http://schemas.microsoft.com/office/powerpoint/2010/main" val="1524182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survey (2)</a:t>
            </a:r>
          </a:p>
        </p:txBody>
      </p:sp>
      <p:sp>
        <p:nvSpPr>
          <p:cNvPr id="3" name="Content Placeholder 2"/>
          <p:cNvSpPr>
            <a:spLocks noGrp="1"/>
          </p:cNvSpPr>
          <p:nvPr>
            <p:ph idx="1"/>
          </p:nvPr>
        </p:nvSpPr>
        <p:spPr>
          <a:xfrm>
            <a:off x="285749" y="1030288"/>
            <a:ext cx="8531225" cy="5516816"/>
          </a:xfrm>
        </p:spPr>
        <p:txBody>
          <a:bodyPr>
            <a:normAutofit lnSpcReduction="10000"/>
          </a:bodyPr>
          <a:lstStyle/>
          <a:p>
            <a:pPr marL="0" indent="0" algn="just">
              <a:buNone/>
            </a:pPr>
            <a:r>
              <a:rPr lang="en-US" dirty="0"/>
              <a:t>A literature survey acts as an introduction to your project and serves a number of purposes:</a:t>
            </a:r>
          </a:p>
          <a:p>
            <a:pPr lvl="1" algn="just"/>
            <a:r>
              <a:rPr lang="en-US" dirty="0"/>
              <a:t>It justifies your project – i.e., it shows that your project is worth doing; the area that you are investigating is recognized and meaningful. </a:t>
            </a:r>
          </a:p>
          <a:p>
            <a:pPr lvl="1" algn="just"/>
            <a:r>
              <a:rPr lang="en-US" dirty="0"/>
              <a:t>It sets your project within context by discussing and critically evaluating past and current research in your area. Through this contextualization you will identify how your project fits within and contributes to wider issues. </a:t>
            </a:r>
          </a:p>
          <a:p>
            <a:pPr lvl="1" algn="just"/>
            <a:r>
              <a:rPr lang="en-US" dirty="0"/>
              <a:t>It provides other researchers with a starting point from which they can understand how your project evolved and to identify what literature is relevant to your project in order that they can continue where you left off.</a:t>
            </a:r>
            <a:endParaRPr lang="en-GB" dirty="0"/>
          </a:p>
        </p:txBody>
      </p:sp>
    </p:spTree>
    <p:extLst>
      <p:ext uri="{BB962C8B-B14F-4D97-AF65-F5344CB8AC3E}">
        <p14:creationId xmlns:p14="http://schemas.microsoft.com/office/powerpoint/2010/main" val="830713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literature survey process (1)</a:t>
            </a:r>
          </a:p>
        </p:txBody>
      </p:sp>
      <p:pic>
        <p:nvPicPr>
          <p:cNvPr id="4" name="Content Placeholder 3"/>
          <p:cNvPicPr>
            <a:picLocks noGrp="1" noChangeAspect="1"/>
          </p:cNvPicPr>
          <p:nvPr>
            <p:ph idx="1"/>
          </p:nvPr>
        </p:nvPicPr>
        <p:blipFill>
          <a:blip r:embed="rId2"/>
          <a:stretch>
            <a:fillRect/>
          </a:stretch>
        </p:blipFill>
        <p:spPr>
          <a:xfrm>
            <a:off x="1260737" y="1030288"/>
            <a:ext cx="6581250" cy="4122483"/>
          </a:xfrm>
          <a:prstGeom prst="rect">
            <a:avLst/>
          </a:prstGeom>
        </p:spPr>
      </p:pic>
    </p:spTree>
    <p:extLst>
      <p:ext uri="{BB962C8B-B14F-4D97-AF65-F5344CB8AC3E}">
        <p14:creationId xmlns:p14="http://schemas.microsoft.com/office/powerpoint/2010/main" val="831201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literature survey process (2)</a:t>
            </a:r>
          </a:p>
        </p:txBody>
      </p:sp>
      <p:sp>
        <p:nvSpPr>
          <p:cNvPr id="3" name="Content Placeholder 2"/>
          <p:cNvSpPr>
            <a:spLocks noGrp="1"/>
          </p:cNvSpPr>
          <p:nvPr>
            <p:ph idx="1"/>
          </p:nvPr>
        </p:nvSpPr>
        <p:spPr/>
        <p:txBody>
          <a:bodyPr>
            <a:noAutofit/>
          </a:bodyPr>
          <a:lstStyle/>
          <a:p>
            <a:pPr algn="just"/>
            <a:r>
              <a:rPr lang="en-US" b="1" dirty="0"/>
              <a:t>Step 1: </a:t>
            </a:r>
            <a:r>
              <a:rPr lang="en-US" dirty="0"/>
              <a:t>The starting point for your literature survey is the definition of your literature search. This definition might be as simple as your subjective understanding of your project area and might lead you to popular texts in your field.</a:t>
            </a:r>
          </a:p>
          <a:p>
            <a:pPr algn="just"/>
            <a:r>
              <a:rPr lang="en-US" b="1" dirty="0"/>
              <a:t>Step 2: </a:t>
            </a:r>
            <a:r>
              <a:rPr lang="en-US" dirty="0"/>
              <a:t>Having decided broadly (or specifically) what you are interested in searching for, you can then begin to perform your literature search </a:t>
            </a:r>
          </a:p>
          <a:p>
            <a:pPr algn="just"/>
            <a:r>
              <a:rPr lang="en-US" b="1" dirty="0"/>
              <a:t>Step 3:</a:t>
            </a:r>
            <a:r>
              <a:rPr lang="en-US" dirty="0"/>
              <a:t> Your literature search will provide you with material that requires your critical evaluation. </a:t>
            </a:r>
          </a:p>
        </p:txBody>
      </p:sp>
    </p:spTree>
    <p:extLst>
      <p:ext uri="{BB962C8B-B14F-4D97-AF65-F5344CB8AC3E}">
        <p14:creationId xmlns:p14="http://schemas.microsoft.com/office/powerpoint/2010/main" val="3232381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literature survey process (3)</a:t>
            </a:r>
          </a:p>
        </p:txBody>
      </p:sp>
      <p:sp>
        <p:nvSpPr>
          <p:cNvPr id="3" name="Content Placeholder 2"/>
          <p:cNvSpPr>
            <a:spLocks noGrp="1"/>
          </p:cNvSpPr>
          <p:nvPr>
            <p:ph idx="1"/>
          </p:nvPr>
        </p:nvSpPr>
        <p:spPr/>
        <p:txBody>
          <a:bodyPr>
            <a:noAutofit/>
          </a:bodyPr>
          <a:lstStyle/>
          <a:p>
            <a:pPr algn="just"/>
            <a:r>
              <a:rPr lang="en-US" b="1" dirty="0"/>
              <a:t>Step 4: </a:t>
            </a:r>
            <a:r>
              <a:rPr lang="en-US" dirty="0"/>
              <a:t>The critical evaluation will provide you with a firm understanding of your chosen subject area and will form the basis of the next stage of the process – your literature review.</a:t>
            </a:r>
          </a:p>
          <a:p>
            <a:pPr algn="just"/>
            <a:r>
              <a:rPr lang="en-US" dirty="0"/>
              <a:t>Having completed one cycle of the literature survey process you will find that you are really just beginning. You will find that you are moving back into the cycle once again by refining and redefining your search for material.</a:t>
            </a:r>
          </a:p>
          <a:p>
            <a:pPr algn="just"/>
            <a:endParaRPr lang="en-US" dirty="0"/>
          </a:p>
          <a:p>
            <a:pPr algn="just"/>
            <a:endParaRPr lang="en-GB" dirty="0"/>
          </a:p>
        </p:txBody>
      </p:sp>
    </p:spTree>
    <p:extLst>
      <p:ext uri="{BB962C8B-B14F-4D97-AF65-F5344CB8AC3E}">
        <p14:creationId xmlns:p14="http://schemas.microsoft.com/office/powerpoint/2010/main" val="2739485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(1)</a:t>
            </a:r>
          </a:p>
        </p:txBody>
      </p:sp>
      <p:sp>
        <p:nvSpPr>
          <p:cNvPr id="3" name="Content Placeholder 2"/>
          <p:cNvSpPr>
            <a:spLocks noGrp="1"/>
          </p:cNvSpPr>
          <p:nvPr>
            <p:ph idx="1"/>
          </p:nvPr>
        </p:nvSpPr>
        <p:spPr>
          <a:xfrm>
            <a:off x="285749" y="1030288"/>
            <a:ext cx="8531225" cy="5553392"/>
          </a:xfrm>
        </p:spPr>
        <p:txBody>
          <a:bodyPr>
            <a:normAutofit/>
          </a:bodyPr>
          <a:lstStyle/>
          <a:p>
            <a:pPr algn="just"/>
            <a:r>
              <a:rPr lang="en-US" dirty="0"/>
              <a:t>A literature search is a ‘</a:t>
            </a:r>
            <a:r>
              <a:rPr lang="en-US" b="1" i="1" dirty="0"/>
              <a:t>systematic</a:t>
            </a:r>
            <a:r>
              <a:rPr lang="en-US" dirty="0"/>
              <a:t> gathering of </a:t>
            </a:r>
            <a:r>
              <a:rPr lang="en-US" b="1" i="1" dirty="0"/>
              <a:t>published</a:t>
            </a:r>
            <a:r>
              <a:rPr lang="en-US" dirty="0"/>
              <a:t> information relating to a subject’</a:t>
            </a:r>
          </a:p>
          <a:p>
            <a:pPr algn="just"/>
            <a:r>
              <a:rPr lang="en-US" b="1" dirty="0"/>
              <a:t>Systematic: </a:t>
            </a:r>
          </a:p>
          <a:p>
            <a:pPr lvl="1" algn="just"/>
            <a:r>
              <a:rPr lang="en-US" dirty="0"/>
              <a:t>A literature search should not be performed in an ad hoc manner, but should be approached in a structured and professional way. </a:t>
            </a:r>
          </a:p>
          <a:p>
            <a:pPr lvl="1" algn="just"/>
            <a:r>
              <a:rPr lang="en-US" dirty="0"/>
              <a:t>You should, therefore, identify your boundaries and know when to stop. </a:t>
            </a:r>
          </a:p>
          <a:p>
            <a:pPr lvl="1" algn="just"/>
            <a:r>
              <a:rPr lang="en-US" dirty="0"/>
              <a:t>Although this can be difficult at the start of your project, you should try to limit your search as much as possible.</a:t>
            </a:r>
          </a:p>
          <a:p>
            <a:pPr algn="just"/>
            <a:endParaRPr lang="en-GB" dirty="0"/>
          </a:p>
        </p:txBody>
      </p:sp>
    </p:spTree>
    <p:extLst>
      <p:ext uri="{BB962C8B-B14F-4D97-AF65-F5344CB8AC3E}">
        <p14:creationId xmlns:p14="http://schemas.microsoft.com/office/powerpoint/2010/main" val="673108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(2)</a:t>
            </a:r>
          </a:p>
        </p:txBody>
      </p:sp>
      <p:sp>
        <p:nvSpPr>
          <p:cNvPr id="3" name="Content Placeholder 2"/>
          <p:cNvSpPr>
            <a:spLocks noGrp="1"/>
          </p:cNvSpPr>
          <p:nvPr>
            <p:ph idx="1"/>
          </p:nvPr>
        </p:nvSpPr>
        <p:spPr>
          <a:xfrm>
            <a:off x="285749" y="1030288"/>
            <a:ext cx="8531225" cy="5553392"/>
          </a:xfrm>
        </p:spPr>
        <p:txBody>
          <a:bodyPr>
            <a:normAutofit/>
          </a:bodyPr>
          <a:lstStyle/>
          <a:p>
            <a:pPr algn="just"/>
            <a:r>
              <a:rPr lang="en-US" b="1" dirty="0"/>
              <a:t>Published: </a:t>
            </a:r>
          </a:p>
          <a:p>
            <a:pPr lvl="1" algn="just"/>
            <a:r>
              <a:rPr lang="en-US" dirty="0"/>
              <a:t>This implies that the material which you trace should be recognized. </a:t>
            </a:r>
          </a:p>
          <a:p>
            <a:pPr lvl="1" algn="just"/>
            <a:r>
              <a:rPr lang="en-US" dirty="0"/>
              <a:t>Using only material from sources on the Internet (such as Wikipedia) will undermine the legitimacy of your project. </a:t>
            </a:r>
          </a:p>
          <a:p>
            <a:pPr lvl="1" algn="just"/>
            <a:r>
              <a:rPr lang="en-US" dirty="0"/>
              <a:t>While such sources can provide useful background information and overviews, you should try to extend your literature search to peer reviewed sources.</a:t>
            </a:r>
          </a:p>
          <a:p>
            <a:pPr algn="just"/>
            <a:endParaRPr lang="en-GB" dirty="0"/>
          </a:p>
        </p:txBody>
      </p:sp>
    </p:spTree>
    <p:extLst>
      <p:ext uri="{BB962C8B-B14F-4D97-AF65-F5344CB8AC3E}">
        <p14:creationId xmlns:p14="http://schemas.microsoft.com/office/powerpoint/2010/main" val="2939978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(3)</a:t>
            </a:r>
          </a:p>
        </p:txBody>
      </p:sp>
      <p:sp>
        <p:nvSpPr>
          <p:cNvPr id="3" name="Content Placeholder 2"/>
          <p:cNvSpPr>
            <a:spLocks noGrp="1"/>
          </p:cNvSpPr>
          <p:nvPr>
            <p:ph idx="1"/>
          </p:nvPr>
        </p:nvSpPr>
        <p:spPr>
          <a:xfrm>
            <a:off x="285750" y="1030288"/>
            <a:ext cx="8531225" cy="5480240"/>
          </a:xfrm>
        </p:spPr>
        <p:txBody>
          <a:bodyPr>
            <a:normAutofit lnSpcReduction="10000"/>
          </a:bodyPr>
          <a:lstStyle/>
          <a:p>
            <a:pPr algn="just"/>
            <a:r>
              <a:rPr lang="en-US" dirty="0"/>
              <a:t>Bearing these two points in mind, there are two golden rules you should remember when performing a literature search:</a:t>
            </a:r>
          </a:p>
          <a:p>
            <a:pPr lvl="1" algn="just"/>
            <a:r>
              <a:rPr lang="en-US" dirty="0"/>
              <a:t>Allow plenty of time – it can, and probably will, take a long time. Therefore, you should start as soon as possible, avoid procrastinating and steer clear of material unrelated to your chosen topic.</a:t>
            </a:r>
          </a:p>
          <a:p>
            <a:pPr lvl="1" algn="just"/>
            <a:r>
              <a:rPr lang="en-US" dirty="0"/>
              <a:t>Ensure that you make note of the full reference of any material you obtain. This will save a significant amount of time at the end of your project because you won’t waste  time trying to remember precise details of articles you have read but have since lost or returned to your local library. It is also important to avoid plagiarizing the work of others. </a:t>
            </a:r>
            <a:endParaRPr lang="en-GB" dirty="0"/>
          </a:p>
        </p:txBody>
      </p:sp>
    </p:spTree>
    <p:extLst>
      <p:ext uri="{BB962C8B-B14F-4D97-AF65-F5344CB8AC3E}">
        <p14:creationId xmlns:p14="http://schemas.microsoft.com/office/powerpoint/2010/main" val="834504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(4)</a:t>
            </a:r>
          </a:p>
        </p:txBody>
      </p:sp>
      <p:sp>
        <p:nvSpPr>
          <p:cNvPr id="3" name="Content Placeholder 2"/>
          <p:cNvSpPr>
            <a:spLocks noGrp="1"/>
          </p:cNvSpPr>
          <p:nvPr>
            <p:ph idx="1"/>
          </p:nvPr>
        </p:nvSpPr>
        <p:spPr>
          <a:xfrm>
            <a:off x="285749" y="1030288"/>
            <a:ext cx="8531225" cy="5827712"/>
          </a:xfrm>
        </p:spPr>
        <p:txBody>
          <a:bodyPr>
            <a:normAutofit/>
          </a:bodyPr>
          <a:lstStyle/>
          <a:p>
            <a:pPr algn="just"/>
            <a:r>
              <a:rPr lang="en-US" dirty="0"/>
              <a:t>Literature is presented in a number of different formats</a:t>
            </a:r>
          </a:p>
          <a:p>
            <a:pPr algn="just"/>
            <a:r>
              <a:rPr lang="en-US" dirty="0"/>
              <a:t>The following list is a summary of the forms of material you might come across during your literature search:</a:t>
            </a:r>
          </a:p>
          <a:p>
            <a:pPr lvl="1" algn="just"/>
            <a:r>
              <a:rPr lang="en-US" dirty="0"/>
              <a:t>Books, Journals, Conference proceedings, </a:t>
            </a:r>
            <a:r>
              <a:rPr lang="en-GB" dirty="0"/>
              <a:t>CDs and DVDs, Company reports, Theses, Manuals, Software, The Internet</a:t>
            </a:r>
          </a:p>
        </p:txBody>
      </p:sp>
    </p:spTree>
    <p:extLst>
      <p:ext uri="{BB962C8B-B14F-4D97-AF65-F5344CB8AC3E}">
        <p14:creationId xmlns:p14="http://schemas.microsoft.com/office/powerpoint/2010/main" val="1934926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(5)</a:t>
            </a:r>
          </a:p>
        </p:txBody>
      </p:sp>
      <p:sp>
        <p:nvSpPr>
          <p:cNvPr id="3" name="Content Placeholder 2"/>
          <p:cNvSpPr>
            <a:spLocks noGrp="1"/>
          </p:cNvSpPr>
          <p:nvPr>
            <p:ph idx="1"/>
          </p:nvPr>
        </p:nvSpPr>
        <p:spPr>
          <a:xfrm>
            <a:off x="285749" y="1030288"/>
            <a:ext cx="8531225" cy="5242496"/>
          </a:xfrm>
        </p:spPr>
        <p:txBody>
          <a:bodyPr>
            <a:normAutofit lnSpcReduction="10000"/>
          </a:bodyPr>
          <a:lstStyle/>
          <a:p>
            <a:pPr algn="just"/>
            <a:r>
              <a:rPr lang="en-US" dirty="0"/>
              <a:t>Some points that you should consider when evaluating the quality of material on the Internet include:</a:t>
            </a:r>
          </a:p>
          <a:p>
            <a:pPr lvl="1" algn="just"/>
            <a:r>
              <a:rPr lang="en-US" dirty="0"/>
              <a:t>What is the purpose of the site – is it to provide information or to sell a product?</a:t>
            </a:r>
          </a:p>
          <a:p>
            <a:pPr lvl="1" algn="just"/>
            <a:r>
              <a:rPr lang="en-US" dirty="0"/>
              <a:t>When was the site updated? How up-to-date is the material on the site? Is it still relevant?</a:t>
            </a:r>
          </a:p>
          <a:p>
            <a:pPr lvl="1" algn="just"/>
            <a:r>
              <a:rPr lang="en-US" dirty="0"/>
              <a:t>Is the site part of (or related to) an official organization (a professional body, government department or academic institute or research group)? For example, the IEEE, the Project Management Institute, British Computer Society, etc.?</a:t>
            </a:r>
          </a:p>
        </p:txBody>
      </p:sp>
    </p:spTree>
    <p:extLst>
      <p:ext uri="{BB962C8B-B14F-4D97-AF65-F5344CB8AC3E}">
        <p14:creationId xmlns:p14="http://schemas.microsoft.com/office/powerpoint/2010/main" val="216647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(6)</a:t>
            </a:r>
          </a:p>
        </p:txBody>
      </p:sp>
      <p:sp>
        <p:nvSpPr>
          <p:cNvPr id="3" name="Content Placeholder 2"/>
          <p:cNvSpPr>
            <a:spLocks noGrp="1"/>
          </p:cNvSpPr>
          <p:nvPr>
            <p:ph idx="1"/>
          </p:nvPr>
        </p:nvSpPr>
        <p:spPr/>
        <p:txBody>
          <a:bodyPr>
            <a:normAutofit lnSpcReduction="10000"/>
          </a:bodyPr>
          <a:lstStyle/>
          <a:p>
            <a:pPr lvl="1" algn="just"/>
            <a:r>
              <a:rPr lang="en-US" dirty="0"/>
              <a:t>Are there any copyright issues associated with the material? Will you be able to use the material without breaching copyright?</a:t>
            </a:r>
          </a:p>
          <a:p>
            <a:pPr lvl="1" algn="just"/>
            <a:r>
              <a:rPr lang="en-US" dirty="0"/>
              <a:t>Is there an author for the material? Is the author qualified to provide the information? Are they presenting opinions rather than facts? Are they biased?</a:t>
            </a:r>
          </a:p>
          <a:p>
            <a:pPr lvl="1" algn="just"/>
            <a:r>
              <a:rPr lang="en-US" dirty="0"/>
              <a:t>Is the site recognized from other sources? Is it a recognized body? Are there other links to the site and is it reviewed anywhere?</a:t>
            </a:r>
          </a:p>
          <a:p>
            <a:pPr lvl="1" algn="just"/>
            <a:r>
              <a:rPr lang="en-US" dirty="0"/>
              <a:t>Is the material biased? ‘Does the author have a “vested interest” in the topic’ or an axe to grind?</a:t>
            </a:r>
            <a:endParaRPr lang="en-GB" dirty="0"/>
          </a:p>
        </p:txBody>
      </p:sp>
    </p:spTree>
    <p:extLst>
      <p:ext uri="{BB962C8B-B14F-4D97-AF65-F5344CB8AC3E}">
        <p14:creationId xmlns:p14="http://schemas.microsoft.com/office/powerpoint/2010/main" val="2752695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(7)</a:t>
            </a:r>
          </a:p>
        </p:txBody>
      </p:sp>
      <p:sp>
        <p:nvSpPr>
          <p:cNvPr id="3" name="Content Placeholder 2"/>
          <p:cNvSpPr>
            <a:spLocks noGrp="1"/>
          </p:cNvSpPr>
          <p:nvPr>
            <p:ph idx="1"/>
          </p:nvPr>
        </p:nvSpPr>
        <p:spPr/>
        <p:txBody>
          <a:bodyPr>
            <a:noAutofit/>
          </a:bodyPr>
          <a:lstStyle/>
          <a:p>
            <a:pPr algn="just"/>
            <a:r>
              <a:rPr lang="en-US" dirty="0"/>
              <a:t>Few tips on undertaking a literature search:</a:t>
            </a:r>
          </a:p>
          <a:p>
            <a:pPr lvl="1" algn="just"/>
            <a:r>
              <a:rPr lang="en-US" dirty="0"/>
              <a:t>Note interesting quotes and their full reference as you go along. This will be invaluable later when you write your report and try to trace your references.</a:t>
            </a:r>
          </a:p>
          <a:p>
            <a:pPr lvl="1" algn="just"/>
            <a:r>
              <a:rPr lang="en-US" dirty="0"/>
              <a:t>Use review articles and books to help your search.</a:t>
            </a:r>
          </a:p>
          <a:p>
            <a:pPr lvl="1" algn="just"/>
            <a:r>
              <a:rPr lang="en-US" dirty="0"/>
              <a:t>Reference correctly from the start </a:t>
            </a:r>
          </a:p>
          <a:p>
            <a:pPr lvl="1" algn="just"/>
            <a:r>
              <a:rPr lang="en-US" dirty="0"/>
              <a:t>Know when to stop – or at least when to move on to the next stage of your project. You will know this from your project plan and the research boundaries, which you have set yourself.</a:t>
            </a:r>
          </a:p>
        </p:txBody>
      </p:sp>
    </p:spTree>
    <p:extLst>
      <p:ext uri="{BB962C8B-B14F-4D97-AF65-F5344CB8AC3E}">
        <p14:creationId xmlns:p14="http://schemas.microsoft.com/office/powerpoint/2010/main" val="3868364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searching (8)</a:t>
            </a:r>
          </a:p>
        </p:txBody>
      </p:sp>
      <p:sp>
        <p:nvSpPr>
          <p:cNvPr id="3" name="Content Placeholder 2"/>
          <p:cNvSpPr>
            <a:spLocks noGrp="1"/>
          </p:cNvSpPr>
          <p:nvPr>
            <p:ph idx="1"/>
          </p:nvPr>
        </p:nvSpPr>
        <p:spPr/>
        <p:txBody>
          <a:bodyPr>
            <a:noAutofit/>
          </a:bodyPr>
          <a:lstStyle/>
          <a:p>
            <a:pPr lvl="1" algn="just"/>
            <a:r>
              <a:rPr lang="en-US" dirty="0"/>
              <a:t>Have a system to organize and catalogue the material you read. The following section provides a discussion on how to manage your information effectively.</a:t>
            </a:r>
          </a:p>
          <a:p>
            <a:pPr lvl="1" algn="just"/>
            <a:r>
              <a:rPr lang="en-US" dirty="0"/>
              <a:t>Read recognized leaders and original theorists in your field.</a:t>
            </a:r>
          </a:p>
          <a:p>
            <a:pPr lvl="1" algn="just"/>
            <a:r>
              <a:rPr lang="en-US" dirty="0"/>
              <a:t>Start with a broad search before you focus; don’t jump straight into the most complicated recent article on your subject. You may be put off by its apparent complexity.</a:t>
            </a:r>
            <a:endParaRPr lang="en-GB" dirty="0"/>
          </a:p>
        </p:txBody>
      </p:sp>
    </p:spTree>
    <p:extLst>
      <p:ext uri="{BB962C8B-B14F-4D97-AF65-F5344CB8AC3E}">
        <p14:creationId xmlns:p14="http://schemas.microsoft.com/office/powerpoint/2010/main" val="427555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evaluation (1)</a:t>
            </a:r>
          </a:p>
        </p:txBody>
      </p:sp>
      <p:sp>
        <p:nvSpPr>
          <p:cNvPr id="3" name="Content Placeholder 2"/>
          <p:cNvSpPr>
            <a:spLocks noGrp="1"/>
          </p:cNvSpPr>
          <p:nvPr>
            <p:ph idx="1"/>
          </p:nvPr>
        </p:nvSpPr>
        <p:spPr/>
        <p:txBody>
          <a:bodyPr>
            <a:noAutofit/>
          </a:bodyPr>
          <a:lstStyle/>
          <a:p>
            <a:pPr algn="just"/>
            <a:r>
              <a:rPr lang="en-US" dirty="0"/>
              <a:t>Normally when people hear or read the word ‘criticize’ they think of it in a negative sense, however, to critically evaluate an article means far more than looking for faults</a:t>
            </a:r>
          </a:p>
          <a:p>
            <a:pPr algn="just"/>
            <a:r>
              <a:rPr lang="en-US" dirty="0"/>
              <a:t>You should also try to think how the article could contribute to your own work.</a:t>
            </a:r>
          </a:p>
          <a:p>
            <a:pPr lvl="1" algn="just"/>
            <a:r>
              <a:rPr lang="en-US" dirty="0"/>
              <a:t>What kind of article is it ?</a:t>
            </a:r>
          </a:p>
          <a:p>
            <a:pPr lvl="1" algn="just"/>
            <a:r>
              <a:rPr lang="en-US" dirty="0"/>
              <a:t>What can you gain from the article? </a:t>
            </a:r>
          </a:p>
          <a:p>
            <a:pPr lvl="1" algn="just"/>
            <a:r>
              <a:rPr lang="en-US" dirty="0"/>
              <a:t>Is the author well recognized in his/her field? </a:t>
            </a:r>
          </a:p>
          <a:p>
            <a:pPr lvl="1" algn="just"/>
            <a:r>
              <a:rPr lang="en-US" dirty="0"/>
              <a:t>What contribution is the article making? </a:t>
            </a:r>
          </a:p>
          <a:p>
            <a:pPr lvl="1" algn="just"/>
            <a:r>
              <a:rPr lang="en-US" dirty="0"/>
              <a:t>How does the article fit within its context? </a:t>
            </a:r>
          </a:p>
        </p:txBody>
      </p:sp>
    </p:spTree>
    <p:extLst>
      <p:ext uri="{BB962C8B-B14F-4D97-AF65-F5344CB8AC3E}">
        <p14:creationId xmlns:p14="http://schemas.microsoft.com/office/powerpoint/2010/main" val="408678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evaluation (2)</a:t>
            </a:r>
          </a:p>
        </p:txBody>
      </p:sp>
      <p:sp>
        <p:nvSpPr>
          <p:cNvPr id="3" name="Content Placeholder 2"/>
          <p:cNvSpPr>
            <a:spLocks noGrp="1"/>
          </p:cNvSpPr>
          <p:nvPr>
            <p:ph idx="1"/>
          </p:nvPr>
        </p:nvSpPr>
        <p:spPr/>
        <p:txBody>
          <a:bodyPr>
            <a:noAutofit/>
          </a:bodyPr>
          <a:lstStyle/>
          <a:p>
            <a:pPr lvl="1" algn="just"/>
            <a:r>
              <a:rPr lang="en-US" dirty="0"/>
              <a:t>Do conclusions follow logically from the work that has been presented? </a:t>
            </a:r>
          </a:p>
          <a:p>
            <a:pPr lvl="1" algn="just"/>
            <a:r>
              <a:rPr lang="en-US" dirty="0"/>
              <a:t>What do you feel about what has been written?</a:t>
            </a:r>
          </a:p>
          <a:p>
            <a:pPr lvl="1" algn="just"/>
            <a:r>
              <a:rPr lang="en-US" dirty="0"/>
              <a:t>Does the article contradict other viewpoints or support the status quo? </a:t>
            </a:r>
          </a:p>
          <a:p>
            <a:pPr lvl="1" algn="just"/>
            <a:r>
              <a:rPr lang="en-US" dirty="0"/>
              <a:t>What references does it use?</a:t>
            </a:r>
          </a:p>
          <a:p>
            <a:pPr lvl="1" algn="just"/>
            <a:r>
              <a:rPr lang="en-US" dirty="0"/>
              <a:t>Are there limits to what the author is suggesting?</a:t>
            </a:r>
          </a:p>
          <a:p>
            <a:pPr lvl="1" algn="just"/>
            <a:r>
              <a:rPr lang="en-US" dirty="0"/>
              <a:t>Can you use the results from the article in your own work?</a:t>
            </a:r>
          </a:p>
          <a:p>
            <a:pPr algn="just"/>
            <a:r>
              <a:rPr lang="en-US" dirty="0" err="1"/>
              <a:t>Rudestam</a:t>
            </a:r>
            <a:r>
              <a:rPr lang="en-US" dirty="0"/>
              <a:t> and Newton suggest some additional points which should be considered when reading and critically evaluating articles.</a:t>
            </a:r>
          </a:p>
          <a:p>
            <a:pPr algn="just"/>
            <a:endParaRPr lang="en-US" dirty="0"/>
          </a:p>
          <a:p>
            <a:pPr algn="just"/>
            <a:endParaRPr lang="en-US" dirty="0"/>
          </a:p>
          <a:p>
            <a:pPr algn="just"/>
            <a:endParaRPr lang="en-GB" dirty="0"/>
          </a:p>
        </p:txBody>
      </p:sp>
    </p:spTree>
    <p:extLst>
      <p:ext uri="{BB962C8B-B14F-4D97-AF65-F5344CB8AC3E}">
        <p14:creationId xmlns:p14="http://schemas.microsoft.com/office/powerpoint/2010/main" val="841303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evaluation (3)</a:t>
            </a:r>
          </a:p>
        </p:txBody>
      </p:sp>
      <p:sp>
        <p:nvSpPr>
          <p:cNvPr id="3" name="Content Placeholder 2"/>
          <p:cNvSpPr>
            <a:spLocks noGrp="1"/>
          </p:cNvSpPr>
          <p:nvPr>
            <p:ph idx="1"/>
          </p:nvPr>
        </p:nvSpPr>
        <p:spPr/>
        <p:txBody>
          <a:bodyPr>
            <a:noAutofit/>
          </a:bodyPr>
          <a:lstStyle/>
          <a:p>
            <a:pPr algn="just"/>
            <a:r>
              <a:rPr lang="en-US" dirty="0"/>
              <a:t>They break their points down into five key areas: </a:t>
            </a:r>
          </a:p>
          <a:p>
            <a:pPr lvl="1" algn="just"/>
            <a:r>
              <a:rPr lang="en-US" dirty="0"/>
              <a:t>Conceptualization, Theoretical Framework and Hypotheses, Research Design, Results and Discussion and Summary. </a:t>
            </a:r>
          </a:p>
          <a:p>
            <a:pPr algn="just"/>
            <a:r>
              <a:rPr lang="en-US" dirty="0"/>
              <a:t>Those which supplement the points made above and are applicable for computing projects can be summarized as:</a:t>
            </a:r>
          </a:p>
          <a:p>
            <a:pPr lvl="1" algn="just"/>
            <a:r>
              <a:rPr lang="en-US" dirty="0"/>
              <a:t>What is the major problem or issue being investigated?</a:t>
            </a:r>
          </a:p>
          <a:p>
            <a:pPr lvl="1" algn="just"/>
            <a:r>
              <a:rPr lang="en-US" dirty="0"/>
              <a:t>How clearly are the major concepts defined/explained?</a:t>
            </a:r>
          </a:p>
          <a:p>
            <a:pPr lvl="1" algn="just"/>
            <a:r>
              <a:rPr lang="en-US" dirty="0"/>
              <a:t>Is there a clear research question/hypothesis that can be, and is, tested?</a:t>
            </a:r>
          </a:p>
        </p:txBody>
      </p:sp>
    </p:spTree>
    <p:extLst>
      <p:ext uri="{BB962C8B-B14F-4D97-AF65-F5344CB8AC3E}">
        <p14:creationId xmlns:p14="http://schemas.microsoft.com/office/powerpoint/2010/main" val="3353729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evaluation (4)</a:t>
            </a:r>
          </a:p>
        </p:txBody>
      </p:sp>
      <p:sp>
        <p:nvSpPr>
          <p:cNvPr id="3" name="Content Placeholder 2"/>
          <p:cNvSpPr>
            <a:spLocks noGrp="1"/>
          </p:cNvSpPr>
          <p:nvPr>
            <p:ph idx="1"/>
          </p:nvPr>
        </p:nvSpPr>
        <p:spPr/>
        <p:txBody>
          <a:bodyPr>
            <a:noAutofit/>
          </a:bodyPr>
          <a:lstStyle/>
          <a:p>
            <a:pPr lvl="1" algn="just"/>
            <a:r>
              <a:rPr lang="en-US" dirty="0"/>
              <a:t>What type of research design/methodology is employed? Is it suitable and reliable?</a:t>
            </a:r>
          </a:p>
          <a:p>
            <a:pPr lvl="1" algn="just"/>
            <a:r>
              <a:rPr lang="en-US" dirty="0"/>
              <a:t>Have algorithms and statistical techniques been used appropriately? Can you apply them in your own work? What are the limitations of these techniques?</a:t>
            </a:r>
          </a:p>
          <a:p>
            <a:pPr lvl="1" algn="just"/>
            <a:r>
              <a:rPr lang="en-US" dirty="0"/>
              <a:t>Is the choice of measures, sample sizes and data appropriate? Have extraneous factors/variables been considered?</a:t>
            </a:r>
          </a:p>
          <a:p>
            <a:pPr lvl="1" algn="just"/>
            <a:r>
              <a:rPr lang="en-US" dirty="0"/>
              <a:t>Can generalizations be made from these results? </a:t>
            </a:r>
          </a:p>
          <a:p>
            <a:pPr lvl="1" algn="just"/>
            <a:r>
              <a:rPr lang="en-US" dirty="0"/>
              <a:t>Are the implications of the results discussed?</a:t>
            </a:r>
          </a:p>
          <a:p>
            <a:pPr lvl="1" algn="just"/>
            <a:r>
              <a:rPr lang="en-US" dirty="0"/>
              <a:t>What is your overall assessment of the study – in terms of its adequacy for explaining the research problem and the contribution it is making?</a:t>
            </a:r>
            <a:endParaRPr lang="en-GB" dirty="0"/>
          </a:p>
        </p:txBody>
      </p:sp>
    </p:spTree>
    <p:extLst>
      <p:ext uri="{BB962C8B-B14F-4D97-AF65-F5344CB8AC3E}">
        <p14:creationId xmlns:p14="http://schemas.microsoft.com/office/powerpoint/2010/main" val="30236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Writing literature reviews (1)</a:t>
            </a:r>
          </a:p>
        </p:txBody>
      </p:sp>
      <p:sp>
        <p:nvSpPr>
          <p:cNvPr id="3" name="Content Placeholder 2"/>
          <p:cNvSpPr>
            <a:spLocks noGrp="1"/>
          </p:cNvSpPr>
          <p:nvPr>
            <p:ph idx="1"/>
          </p:nvPr>
        </p:nvSpPr>
        <p:spPr/>
        <p:txBody>
          <a:bodyPr>
            <a:noAutofit/>
          </a:bodyPr>
          <a:lstStyle/>
          <a:p>
            <a:pPr algn="just"/>
            <a:r>
              <a:rPr lang="en-US" dirty="0"/>
              <a:t>There are no specific, infallible rules you can apply to write the perfect literature review.</a:t>
            </a:r>
          </a:p>
          <a:p>
            <a:pPr algn="just"/>
            <a:r>
              <a:rPr lang="en-US" dirty="0"/>
              <a:t>Quite clearly the approach you adopt is up to you and is something about which your supervisor should advise you.</a:t>
            </a:r>
          </a:p>
          <a:p>
            <a:pPr algn="just"/>
            <a:r>
              <a:rPr lang="en-US" dirty="0"/>
              <a:t>When writing your literature review remember what it is not:</a:t>
            </a:r>
          </a:p>
          <a:p>
            <a:pPr lvl="1" algn="just"/>
            <a:r>
              <a:rPr lang="en-US" sz="3200" dirty="0"/>
              <a:t>It is not a report that lists all the papers and books you have read whether they are relevant or not. You must be selective about that to which you refer.</a:t>
            </a:r>
          </a:p>
        </p:txBody>
      </p:sp>
    </p:spTree>
    <p:extLst>
      <p:ext uri="{BB962C8B-B14F-4D97-AF65-F5344CB8AC3E}">
        <p14:creationId xmlns:p14="http://schemas.microsoft.com/office/powerpoint/2010/main" val="392303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Writing literature reviews (2)</a:t>
            </a:r>
          </a:p>
        </p:txBody>
      </p:sp>
      <p:sp>
        <p:nvSpPr>
          <p:cNvPr id="3" name="Content Placeholder 2"/>
          <p:cNvSpPr>
            <a:spLocks noGrp="1"/>
          </p:cNvSpPr>
          <p:nvPr>
            <p:ph idx="1"/>
          </p:nvPr>
        </p:nvSpPr>
        <p:spPr/>
        <p:txBody>
          <a:bodyPr>
            <a:noAutofit/>
          </a:bodyPr>
          <a:lstStyle/>
          <a:p>
            <a:pPr lvl="1" algn="just"/>
            <a:r>
              <a:rPr lang="en-US" sz="3200" dirty="0"/>
              <a:t>It must not dedicate a page or paragraph to each article in turn merely reporting on their content. Haywood and </a:t>
            </a:r>
            <a:r>
              <a:rPr lang="en-US" sz="3200" dirty="0" err="1"/>
              <a:t>Wragg</a:t>
            </a:r>
            <a:r>
              <a:rPr lang="en-US" sz="3200" dirty="0"/>
              <a:t> refer to this as ‘the furniture sales catalogue, in which everything merits a one-paragraph entry no matter how skillfully it has been conducted’.</a:t>
            </a:r>
            <a:endParaRPr lang="en-GB" sz="3200" dirty="0"/>
          </a:p>
          <a:p>
            <a:pPr algn="just"/>
            <a:r>
              <a:rPr lang="en-US" dirty="0"/>
              <a:t>Your literature review forms the foundation of your project. </a:t>
            </a:r>
          </a:p>
          <a:p>
            <a:pPr algn="just"/>
            <a:r>
              <a:rPr lang="en-US" dirty="0"/>
              <a:t>Remember, literature reviews evolve over a period of time</a:t>
            </a:r>
            <a:endParaRPr lang="en-US" sz="3200" dirty="0"/>
          </a:p>
        </p:txBody>
      </p:sp>
    </p:spTree>
    <p:extLst>
      <p:ext uri="{BB962C8B-B14F-4D97-AF65-F5344CB8AC3E}">
        <p14:creationId xmlns:p14="http://schemas.microsoft.com/office/powerpoint/2010/main" val="1382049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Writing literature reviews (2)</a:t>
            </a:r>
          </a:p>
        </p:txBody>
      </p:sp>
      <p:sp>
        <p:nvSpPr>
          <p:cNvPr id="3" name="Content Placeholder 2"/>
          <p:cNvSpPr>
            <a:spLocks noGrp="1"/>
          </p:cNvSpPr>
          <p:nvPr>
            <p:ph idx="1"/>
          </p:nvPr>
        </p:nvSpPr>
        <p:spPr/>
        <p:txBody>
          <a:bodyPr>
            <a:normAutofit/>
          </a:bodyPr>
          <a:lstStyle/>
          <a:p>
            <a:pPr algn="just"/>
            <a:r>
              <a:rPr lang="en-US" dirty="0"/>
              <a:t>Although you will not split your literature review into specific sections your review should implicitly cover the following four points:</a:t>
            </a:r>
          </a:p>
          <a:p>
            <a:pPr marL="685800" lvl="1" indent="-342900" algn="just">
              <a:buFont typeface="+mj-lt"/>
              <a:buAutoNum type="arabicPeriod"/>
            </a:pPr>
            <a:r>
              <a:rPr lang="en-US" dirty="0"/>
              <a:t>Arrangement of relevant literature in the field.</a:t>
            </a:r>
          </a:p>
          <a:p>
            <a:pPr marL="685800" lvl="1" indent="-342900" algn="just">
              <a:buFont typeface="+mj-lt"/>
              <a:buAutoNum type="arabicPeriod"/>
            </a:pPr>
            <a:r>
              <a:rPr lang="en-US" dirty="0"/>
              <a:t>Critical evaluation of past and current research in the field.</a:t>
            </a:r>
          </a:p>
          <a:p>
            <a:pPr marL="685800" lvl="1" indent="-342900" algn="just">
              <a:buFont typeface="+mj-lt"/>
              <a:buAutoNum type="arabicPeriod"/>
            </a:pPr>
            <a:r>
              <a:rPr lang="en-US" dirty="0"/>
              <a:t>Identification of your project within a wider context.</a:t>
            </a:r>
          </a:p>
          <a:p>
            <a:pPr marL="685800" lvl="1" indent="-342900" algn="just">
              <a:buFont typeface="+mj-lt"/>
              <a:buAutoNum type="arabicPeriod"/>
            </a:pPr>
            <a:r>
              <a:rPr lang="en-US" dirty="0"/>
              <a:t>Justification of the existence of your project by identifying a gap in the field and showing how your project will fill that gap (particularly important at research degree level).</a:t>
            </a:r>
            <a:endParaRPr lang="en-GB" dirty="0"/>
          </a:p>
        </p:txBody>
      </p:sp>
    </p:spTree>
    <p:extLst>
      <p:ext uri="{BB962C8B-B14F-4D97-AF65-F5344CB8AC3E}">
        <p14:creationId xmlns:p14="http://schemas.microsoft.com/office/powerpoint/2010/main" val="2922271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228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Week 5 Lecture</a:t>
            </a:r>
          </a:p>
        </p:txBody>
      </p:sp>
      <p:sp>
        <p:nvSpPr>
          <p:cNvPr id="6" name="Content Placeholder 5"/>
          <p:cNvSpPr>
            <a:spLocks noGrp="1"/>
          </p:cNvSpPr>
          <p:nvPr>
            <p:ph idx="1"/>
          </p:nvPr>
        </p:nvSpPr>
        <p:spPr>
          <a:xfrm>
            <a:off x="285750" y="1030288"/>
            <a:ext cx="8531225" cy="4870450"/>
          </a:xfrm>
        </p:spPr>
        <p:txBody>
          <a:bodyPr/>
          <a:lstStyle/>
          <a:p>
            <a:pPr algn="just"/>
            <a:r>
              <a:rPr lang="en-US" dirty="0"/>
              <a:t>The initial foundation for your project is a literature survey and has two main components: a literature search and a literature review.</a:t>
            </a:r>
          </a:p>
          <a:p>
            <a:pPr algn="just"/>
            <a:r>
              <a:rPr lang="en-US" dirty="0"/>
              <a:t>A literature search is a ‘</a:t>
            </a:r>
            <a:r>
              <a:rPr lang="en-US" b="1" i="1" dirty="0"/>
              <a:t>systematic</a:t>
            </a:r>
            <a:r>
              <a:rPr lang="en-US" dirty="0"/>
              <a:t> gathering of </a:t>
            </a:r>
            <a:r>
              <a:rPr lang="en-US" b="1" i="1" dirty="0"/>
              <a:t>published</a:t>
            </a:r>
            <a:r>
              <a:rPr lang="en-US" dirty="0"/>
              <a:t> information relating to a subject’</a:t>
            </a:r>
          </a:p>
          <a:p>
            <a:pPr algn="just"/>
            <a:r>
              <a:rPr lang="en-US" dirty="0"/>
              <a:t>Literature review should implicitly cover the following four points:</a:t>
            </a:r>
          </a:p>
          <a:p>
            <a:pPr marL="800100" lvl="1" indent="-457200" algn="just"/>
            <a:r>
              <a:rPr lang="en-US" b="1" dirty="0"/>
              <a:t>Arrangement</a:t>
            </a:r>
            <a:r>
              <a:rPr lang="en-US" dirty="0"/>
              <a:t> of relevant literature in the field, </a:t>
            </a:r>
            <a:r>
              <a:rPr lang="en-US" b="1" dirty="0"/>
              <a:t>Critically evaluation </a:t>
            </a:r>
            <a:r>
              <a:rPr lang="en-US" dirty="0"/>
              <a:t>of </a:t>
            </a:r>
            <a:r>
              <a:rPr lang="en-US"/>
              <a:t>the research </a:t>
            </a:r>
            <a:r>
              <a:rPr lang="en-US" dirty="0"/>
              <a:t>in the field, </a:t>
            </a:r>
            <a:r>
              <a:rPr lang="en-US" b="1" dirty="0"/>
              <a:t>Identification</a:t>
            </a:r>
            <a:r>
              <a:rPr lang="en-US" dirty="0"/>
              <a:t> of your project within a wider context and </a:t>
            </a:r>
            <a:r>
              <a:rPr lang="en-US" b="1" dirty="0"/>
              <a:t>justification</a:t>
            </a:r>
            <a:r>
              <a:rPr lang="en-US" dirty="0"/>
              <a:t> of the existence of your project by identifying a gap and solution.</a:t>
            </a:r>
            <a:endParaRPr lang="en-GB" dirty="0"/>
          </a:p>
          <a:p>
            <a:pPr algn="just"/>
            <a:endParaRPr lang="en-US" dirty="0"/>
          </a:p>
          <a:p>
            <a:pPr algn="just"/>
            <a:endParaRPr lang="en-US" dirty="0"/>
          </a:p>
          <a:p>
            <a:pPr algn="just"/>
            <a:endParaRPr lang="en-GB" sz="3200" dirty="0"/>
          </a:p>
          <a:p>
            <a:pPr algn="just"/>
            <a:endParaRPr lang="en-GB" dirty="0"/>
          </a:p>
          <a:p>
            <a:pPr algn="just"/>
            <a:endParaRPr lang="en-GB" dirty="0"/>
          </a:p>
        </p:txBody>
      </p:sp>
    </p:spTree>
    <p:extLst>
      <p:ext uri="{BB962C8B-B14F-4D97-AF65-F5344CB8AC3E}">
        <p14:creationId xmlns:p14="http://schemas.microsoft.com/office/powerpoint/2010/main" val="87320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5 Activities</a:t>
            </a:r>
          </a:p>
        </p:txBody>
      </p:sp>
      <p:sp>
        <p:nvSpPr>
          <p:cNvPr id="3" name="Content Placeholder 2"/>
          <p:cNvSpPr>
            <a:spLocks noGrp="1"/>
          </p:cNvSpPr>
          <p:nvPr>
            <p:ph idx="1"/>
          </p:nvPr>
        </p:nvSpPr>
        <p:spPr>
          <a:xfrm>
            <a:off x="285750" y="1030288"/>
            <a:ext cx="8531225" cy="4870450"/>
          </a:xfrm>
        </p:spPr>
        <p:txBody>
          <a:bodyPr/>
          <a:lstStyle/>
          <a:p>
            <a:pPr marL="228600" lvl="1" algn="just">
              <a:buFont typeface="Arial" panose="020B0604020202020204" pitchFamily="34" charset="0"/>
              <a:buChar char="•"/>
            </a:pPr>
            <a:r>
              <a:rPr lang="en-US" sz="3200" dirty="0"/>
              <a:t>Task: Looking into similar systems/apps/concepts</a:t>
            </a:r>
          </a:p>
        </p:txBody>
      </p:sp>
    </p:spTree>
    <p:extLst>
      <p:ext uri="{BB962C8B-B14F-4D97-AF65-F5344CB8AC3E}">
        <p14:creationId xmlns:p14="http://schemas.microsoft.com/office/powerpoint/2010/main" val="10821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2387600" y="1527175"/>
            <a:ext cx="4327525" cy="3973513"/>
          </a:xfrm>
          <a:prstGeom prst="rect">
            <a:avLst/>
          </a:prstGeom>
          <a:noFill/>
          <a:ln w="9525">
            <a:noFill/>
            <a:miter lim="800000"/>
            <a:headEnd/>
            <a:tailEnd/>
          </a:ln>
        </p:spPr>
      </p:pic>
    </p:spTree>
    <p:extLst>
      <p:ext uri="{BB962C8B-B14F-4D97-AF65-F5344CB8AC3E}">
        <p14:creationId xmlns:p14="http://schemas.microsoft.com/office/powerpoint/2010/main" val="1314320535"/>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349</TotalTime>
  <Words>2037</Words>
  <Application>Microsoft Office PowerPoint</Application>
  <PresentationFormat>On-screen Show (4:3)</PresentationFormat>
  <Paragraphs>142</Paragraphs>
  <Slides>29</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29</vt:i4>
      </vt:variant>
    </vt:vector>
  </HeadingPairs>
  <TitlesOfParts>
    <vt:vector size="37" baseType="lpstr">
      <vt:lpstr>Arial</vt:lpstr>
      <vt:lpstr>Calibri</vt:lpstr>
      <vt:lpstr>Calibri Light</vt:lpstr>
      <vt:lpstr>Times New Roman</vt:lpstr>
      <vt:lpstr>Wingdings</vt:lpstr>
      <vt:lpstr>1_Office Theme</vt:lpstr>
      <vt:lpstr>2_Office Theme</vt:lpstr>
      <vt:lpstr>3_Office Theme</vt:lpstr>
      <vt:lpstr>Literature search and review</vt:lpstr>
      <vt:lpstr>Agenda </vt:lpstr>
      <vt:lpstr>PowerPoint Presentation</vt:lpstr>
      <vt:lpstr>Review of Week 4</vt:lpstr>
      <vt:lpstr>Any Confusion?</vt:lpstr>
      <vt:lpstr>Literature survey (1)</vt:lpstr>
      <vt:lpstr>Literature survey (2)</vt:lpstr>
      <vt:lpstr>The literature survey process (1)</vt:lpstr>
      <vt:lpstr>The literature survey process (2)</vt:lpstr>
      <vt:lpstr>The literature survey process (3)</vt:lpstr>
      <vt:lpstr>Literature searching (1)</vt:lpstr>
      <vt:lpstr>Literature searching (2)</vt:lpstr>
      <vt:lpstr>Literature searching (3)</vt:lpstr>
      <vt:lpstr>Literature searching (4)</vt:lpstr>
      <vt:lpstr>Literature searching (5)</vt:lpstr>
      <vt:lpstr>Literature searching (6)</vt:lpstr>
      <vt:lpstr>Literature searching (7)</vt:lpstr>
      <vt:lpstr>Literature searching (8)</vt:lpstr>
      <vt:lpstr>Critical evaluation (1)</vt:lpstr>
      <vt:lpstr>Critical evaluation (2)</vt:lpstr>
      <vt:lpstr>Critical evaluation (3)</vt:lpstr>
      <vt:lpstr>Critical evaluation (4)</vt:lpstr>
      <vt:lpstr>Writing literature reviews (1)</vt:lpstr>
      <vt:lpstr>Writing literature reviews (2)</vt:lpstr>
      <vt:lpstr>Writing literature reviews (2)</vt:lpstr>
      <vt:lpstr>Any Questions?</vt:lpstr>
      <vt:lpstr>Summary: Week 5 Lecture</vt:lpstr>
      <vt:lpstr>What to Expect: Week 5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Sanjiv</dc:creator>
  <cp:lastModifiedBy>Biraj Dulal</cp:lastModifiedBy>
  <cp:revision>66</cp:revision>
  <dcterms:created xsi:type="dcterms:W3CDTF">2016-03-30T12:45:31Z</dcterms:created>
  <dcterms:modified xsi:type="dcterms:W3CDTF">2020-04-01T13:15:16Z</dcterms:modified>
</cp:coreProperties>
</file>