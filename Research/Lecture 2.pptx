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 id="2147483708" r:id="rId2"/>
    <p:sldMasterId id="2147483740" r:id="rId3"/>
  </p:sldMasterIdLst>
  <p:notesMasterIdLst>
    <p:notesMasterId r:id="rId51"/>
  </p:notesMasterIdLst>
  <p:sldIdLst>
    <p:sldId id="288" r:id="rId4"/>
    <p:sldId id="289" r:id="rId5"/>
    <p:sldId id="290" r:id="rId6"/>
    <p:sldId id="258" r:id="rId7"/>
    <p:sldId id="292" r:id="rId8"/>
    <p:sldId id="291" r:id="rId9"/>
    <p:sldId id="259" r:id="rId10"/>
    <p:sldId id="260" r:id="rId11"/>
    <p:sldId id="293" r:id="rId12"/>
    <p:sldId id="261" r:id="rId13"/>
    <p:sldId id="262" r:id="rId14"/>
    <p:sldId id="263" r:id="rId15"/>
    <p:sldId id="264" r:id="rId16"/>
    <p:sldId id="294" r:id="rId17"/>
    <p:sldId id="266" r:id="rId18"/>
    <p:sldId id="295" r:id="rId19"/>
    <p:sldId id="267" r:id="rId20"/>
    <p:sldId id="268" r:id="rId21"/>
    <p:sldId id="310" r:id="rId22"/>
    <p:sldId id="269" r:id="rId23"/>
    <p:sldId id="270" r:id="rId24"/>
    <p:sldId id="296" r:id="rId25"/>
    <p:sldId id="271" r:id="rId26"/>
    <p:sldId id="297" r:id="rId27"/>
    <p:sldId id="272" r:id="rId28"/>
    <p:sldId id="273" r:id="rId29"/>
    <p:sldId id="298" r:id="rId30"/>
    <p:sldId id="274" r:id="rId31"/>
    <p:sldId id="276" r:id="rId32"/>
    <p:sldId id="277" r:id="rId33"/>
    <p:sldId id="278" r:id="rId34"/>
    <p:sldId id="279" r:id="rId35"/>
    <p:sldId id="280" r:id="rId36"/>
    <p:sldId id="299" r:id="rId37"/>
    <p:sldId id="300" r:id="rId38"/>
    <p:sldId id="281" r:id="rId39"/>
    <p:sldId id="301" r:id="rId40"/>
    <p:sldId id="282" r:id="rId41"/>
    <p:sldId id="283" r:id="rId42"/>
    <p:sldId id="284" r:id="rId43"/>
    <p:sldId id="302" r:id="rId44"/>
    <p:sldId id="304" r:id="rId45"/>
    <p:sldId id="305" r:id="rId46"/>
    <p:sldId id="306" r:id="rId47"/>
    <p:sldId id="307" r:id="rId48"/>
    <p:sldId id="308" r:id="rId49"/>
    <p:sldId id="309" r:id="rId5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630" autoAdjust="0"/>
    <p:restoredTop sz="94660"/>
  </p:normalViewPr>
  <p:slideViewPr>
    <p:cSldViewPr snapToGrid="0">
      <p:cViewPr varScale="1">
        <p:scale>
          <a:sx n="68" d="100"/>
          <a:sy n="68" d="100"/>
        </p:scale>
        <p:origin x="168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8" Type="http://schemas.openxmlformats.org/officeDocument/2006/relationships/slide" Target="slides/slide5.xml"/><Relationship Id="rId51" Type="http://schemas.openxmlformats.org/officeDocument/2006/relationships/notesMaster" Target="notesMasters/notesMaster1.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52B666-6D48-40E4-B172-640E0530E1CB}" type="datetimeFigureOut">
              <a:rPr lang="en-US" smtClean="0"/>
              <a:t>3/11/2020</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395E33-6FEC-4B3D-A889-C6490E7F1F64}" type="slidenum">
              <a:rPr lang="en-US" smtClean="0"/>
              <a:t>‹#›</a:t>
            </a:fld>
            <a:endParaRPr lang="en-US"/>
          </a:p>
        </p:txBody>
      </p:sp>
    </p:spTree>
    <p:extLst>
      <p:ext uri="{BB962C8B-B14F-4D97-AF65-F5344CB8AC3E}">
        <p14:creationId xmlns:p14="http://schemas.microsoft.com/office/powerpoint/2010/main" val="2278306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19238" y="-11796713"/>
            <a:ext cx="16600488" cy="12452351"/>
          </a:xfrm>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1683948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19238" y="-11796713"/>
            <a:ext cx="16600488" cy="12452351"/>
          </a:xfrm>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2541226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SG"/>
          </a:p>
        </p:txBody>
      </p:sp>
      <p:sp>
        <p:nvSpPr>
          <p:cNvPr id="8"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SG"/>
          </a:p>
        </p:txBody>
      </p:sp>
      <p:sp>
        <p:nvSpPr>
          <p:cNvPr id="9" name="Rectangle 3"/>
          <p:cNvSpPr>
            <a:spLocks noGrp="1" noChangeArrowheads="1"/>
          </p:cNvSpPr>
          <p:nvPr>
            <p:ph type="dt" idx="10"/>
          </p:nvPr>
        </p:nvSpPr>
        <p:spPr>
          <a:xfrm>
            <a:off x="457200" y="6353175"/>
            <a:ext cx="2092325" cy="371475"/>
          </a:xfrm>
          <a:prstGeom prst="rect">
            <a:avLst/>
          </a:prstGeo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6553200" y="6353175"/>
            <a:ext cx="2092325" cy="371475"/>
          </a:xfrm>
          <a:prstGeom prst="rect">
            <a:avLst/>
          </a:prstGeom>
          <a:ln/>
        </p:spPr>
        <p:txBody>
          <a:bodyPr/>
          <a:lstStyle>
            <a:lvl1pPr>
              <a:defRPr/>
            </a:lvl1pPr>
          </a:lstStyle>
          <a:p>
            <a:pPr>
              <a:defRPr/>
            </a:pPr>
            <a:fld id="{5503E7AE-D891-4742-9343-5EF205D83184}" type="slidenum">
              <a:rPr lang="en-SG"/>
              <a:pPr>
                <a:defRPr/>
              </a:pPr>
              <a:t>‹#›</a:t>
            </a:fld>
            <a:endParaRPr lang="en-SG" dirty="0"/>
          </a:p>
        </p:txBody>
      </p:sp>
    </p:spTree>
    <p:extLst>
      <p:ext uri="{BB962C8B-B14F-4D97-AF65-F5344CB8AC3E}">
        <p14:creationId xmlns:p14="http://schemas.microsoft.com/office/powerpoint/2010/main" val="8871433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Academy">
    <p:spTree>
      <p:nvGrpSpPr>
        <p:cNvPr id="1" name=""/>
        <p:cNvGrpSpPr/>
        <p:nvPr/>
      </p:nvGrpSpPr>
      <p:grpSpPr>
        <a:xfrm>
          <a:off x="0" y="0"/>
          <a:ext cx="0" cy="0"/>
          <a:chOff x="0" y="0"/>
          <a:chExt cx="0" cy="0"/>
        </a:xfrm>
      </p:grpSpPr>
      <p:sp>
        <p:nvSpPr>
          <p:cNvPr id="7" name="Title 1"/>
          <p:cNvSpPr>
            <a:spLocks noGrp="1"/>
          </p:cNvSpPr>
          <p:nvPr>
            <p:ph type="title"/>
          </p:nvPr>
        </p:nvSpPr>
        <p:spPr>
          <a:xfrm>
            <a:off x="285750" y="268288"/>
            <a:ext cx="8531225" cy="762000"/>
          </a:xfrm>
        </p:spPr>
        <p:txBody>
          <a:bodyPr/>
          <a:lstStyle>
            <a:lvl1pPr>
              <a:defRPr b="1"/>
            </a:lvl1pPr>
          </a:lstStyle>
          <a:p>
            <a:r>
              <a:rPr lang="en-US" dirty="0"/>
              <a:t>Click to edit Master title style</a:t>
            </a:r>
            <a:endParaRPr lang="en-SG" dirty="0"/>
          </a:p>
        </p:txBody>
      </p:sp>
      <p:sp>
        <p:nvSpPr>
          <p:cNvPr id="8" name="Content Placeholder 2"/>
          <p:cNvSpPr>
            <a:spLocks noGrp="1"/>
          </p:cNvSpPr>
          <p:nvPr>
            <p:ph idx="1"/>
          </p:nvPr>
        </p:nvSpPr>
        <p:spPr>
          <a:xfrm>
            <a:off x="285749" y="1030288"/>
            <a:ext cx="8531225" cy="48704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9" name="Rectangle 3"/>
          <p:cNvSpPr>
            <a:spLocks noGrp="1" noChangeArrowheads="1"/>
          </p:cNvSpPr>
          <p:nvPr>
            <p:ph type="dt" idx="10"/>
          </p:nvPr>
        </p:nvSpPr>
        <p:spPr>
          <a:xfrm>
            <a:off x="457200" y="6353175"/>
            <a:ext cx="2092325" cy="371475"/>
          </a:xfr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6553200" y="6353175"/>
            <a:ext cx="2092325" cy="371475"/>
          </a:xfrm>
          <a:ln/>
        </p:spPr>
        <p:txBody>
          <a:bodyPr/>
          <a:lstStyle>
            <a:lvl1pPr>
              <a:defRPr/>
            </a:lvl1pPr>
          </a:lstStyle>
          <a:p>
            <a:pPr>
              <a:defRPr/>
            </a:pPr>
            <a:fld id="{D5741C6D-44DB-4C04-9CB5-747DFD8034D5}" type="slidenum">
              <a:rPr lang="en-SG"/>
              <a:pPr>
                <a:defRPr/>
              </a:pPr>
              <a:t>‹#›</a:t>
            </a:fld>
            <a:endParaRPr lang="en-SG" dirty="0"/>
          </a:p>
        </p:txBody>
      </p:sp>
    </p:spTree>
    <p:extLst>
      <p:ext uri="{BB962C8B-B14F-4D97-AF65-F5344CB8AC3E}">
        <p14:creationId xmlns:p14="http://schemas.microsoft.com/office/powerpoint/2010/main" val="33166644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SG"/>
          </a:p>
        </p:txBody>
      </p:sp>
      <p:sp>
        <p:nvSpPr>
          <p:cNvPr id="8"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9" name="Rectangle 3"/>
          <p:cNvSpPr>
            <a:spLocks noGrp="1" noChangeArrowheads="1"/>
          </p:cNvSpPr>
          <p:nvPr>
            <p:ph type="dt" idx="10"/>
          </p:nvPr>
        </p:nvSpPr>
        <p:spPr>
          <a:xfrm>
            <a:off x="457200" y="6353175"/>
            <a:ext cx="2092325" cy="371475"/>
          </a:xfr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6553200" y="6353175"/>
            <a:ext cx="2092325" cy="371475"/>
          </a:xfrm>
          <a:ln/>
        </p:spPr>
        <p:txBody>
          <a:bodyPr/>
          <a:lstStyle>
            <a:lvl1pPr>
              <a:defRPr/>
            </a:lvl1pPr>
          </a:lstStyle>
          <a:p>
            <a:pPr>
              <a:defRPr/>
            </a:pPr>
            <a:fld id="{389AF2F3-A1D1-4097-8ADA-9467C774BABF}" type="slidenum">
              <a:rPr lang="en-SG"/>
              <a:pPr>
                <a:defRPr/>
              </a:pPr>
              <a:t>‹#›</a:t>
            </a:fld>
            <a:endParaRPr lang="en-SG" dirty="0"/>
          </a:p>
        </p:txBody>
      </p:sp>
    </p:spTree>
    <p:extLst>
      <p:ext uri="{BB962C8B-B14F-4D97-AF65-F5344CB8AC3E}">
        <p14:creationId xmlns:p14="http://schemas.microsoft.com/office/powerpoint/2010/main" val="2057865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p:cNvSpPr>
            <a:spLocks noGrp="1"/>
          </p:cNvSpPr>
          <p:nvPr>
            <p:ph type="title"/>
          </p:nvPr>
        </p:nvSpPr>
        <p:spPr>
          <a:xfrm>
            <a:off x="285750" y="268288"/>
            <a:ext cx="8531225" cy="762000"/>
          </a:xfrm>
        </p:spPr>
        <p:txBody>
          <a:bodyPr/>
          <a:lstStyle/>
          <a:p>
            <a:r>
              <a:rPr lang="en-US" dirty="0"/>
              <a:t>Click to edit Master title style</a:t>
            </a:r>
            <a:endParaRPr lang="en-SG" dirty="0"/>
          </a:p>
        </p:txBody>
      </p:sp>
      <p:sp>
        <p:nvSpPr>
          <p:cNvPr id="9" name="Content Placeholder 2"/>
          <p:cNvSpPr>
            <a:spLocks noGrp="1"/>
          </p:cNvSpPr>
          <p:nvPr>
            <p:ph sz="half" idx="1"/>
          </p:nvPr>
        </p:nvSpPr>
        <p:spPr>
          <a:xfrm>
            <a:off x="285750" y="1214438"/>
            <a:ext cx="4189413"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0" name="Content Placeholder 3"/>
          <p:cNvSpPr>
            <a:spLocks noGrp="1"/>
          </p:cNvSpPr>
          <p:nvPr>
            <p:ph sz="half" idx="2"/>
          </p:nvPr>
        </p:nvSpPr>
        <p:spPr>
          <a:xfrm>
            <a:off x="4627563" y="1214438"/>
            <a:ext cx="4189412"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1" name="Rectangle 3"/>
          <p:cNvSpPr>
            <a:spLocks noGrp="1" noChangeArrowheads="1"/>
          </p:cNvSpPr>
          <p:nvPr>
            <p:ph type="dt" idx="10"/>
          </p:nvPr>
        </p:nvSpPr>
        <p:spPr>
          <a:xfrm>
            <a:off x="457200" y="6353175"/>
            <a:ext cx="2092325" cy="371475"/>
          </a:xfrm>
          <a:ln/>
        </p:spPr>
        <p:txBody>
          <a:bodyPr/>
          <a:lstStyle>
            <a:lvl1pPr>
              <a:defRPr/>
            </a:lvl1pPr>
          </a:lstStyle>
          <a:p>
            <a:pPr>
              <a:defRPr/>
            </a:pPr>
            <a:endParaRPr lang="en-US" dirty="0"/>
          </a:p>
        </p:txBody>
      </p:sp>
      <p:sp>
        <p:nvSpPr>
          <p:cNvPr id="12" name="Rectangle 5"/>
          <p:cNvSpPr>
            <a:spLocks noGrp="1" noChangeArrowheads="1"/>
          </p:cNvSpPr>
          <p:nvPr>
            <p:ph type="sldNum" idx="11"/>
          </p:nvPr>
        </p:nvSpPr>
        <p:spPr>
          <a:xfrm>
            <a:off x="6553200" y="6353175"/>
            <a:ext cx="2092325" cy="371475"/>
          </a:xfrm>
          <a:ln/>
        </p:spPr>
        <p:txBody>
          <a:bodyPr/>
          <a:lstStyle>
            <a:lvl1pPr>
              <a:defRPr/>
            </a:lvl1pPr>
          </a:lstStyle>
          <a:p>
            <a:pPr>
              <a:defRPr/>
            </a:pPr>
            <a:fld id="{389D06B8-A366-4D7D-8D93-3C162260D047}" type="slidenum">
              <a:rPr lang="en-SG"/>
              <a:pPr>
                <a:defRPr/>
              </a:pPr>
              <a:t>‹#›</a:t>
            </a:fld>
            <a:endParaRPr lang="en-SG" dirty="0"/>
          </a:p>
        </p:txBody>
      </p:sp>
    </p:spTree>
    <p:extLst>
      <p:ext uri="{BB962C8B-B14F-4D97-AF65-F5344CB8AC3E}">
        <p14:creationId xmlns:p14="http://schemas.microsoft.com/office/powerpoint/2010/main" val="39434517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11/03/2020</a:t>
            </a:fld>
            <a:endParaRPr lang="en-GB"/>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3207284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11/03/2020</a:t>
            </a:fld>
            <a:endParaRPr lang="en-GB"/>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2942581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11/03/2020</a:t>
            </a:fld>
            <a:endParaRPr lang="en-GB"/>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3525667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11/03/2020</a:t>
            </a:fld>
            <a:endParaRPr lang="en-GB"/>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2467235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11/03/2020</a:t>
            </a:fld>
            <a:endParaRPr lang="en-GB"/>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10067452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11/03/2020</a:t>
            </a:fld>
            <a:endParaRPr lang="en-GB"/>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15699788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11/03/2020</a:t>
            </a:fld>
            <a:endParaRPr lang="en-GB"/>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21729698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5503E7AE-D891-4742-9343-5EF205D83184}" type="slidenum">
              <a:rPr lang="en-SG" smtClean="0">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14570279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787813"/>
          </a:xfrm>
        </p:spPr>
        <p:txBody>
          <a:bodyPr>
            <a:normAutofit/>
          </a:bodyPr>
          <a:lstStyle>
            <a:lvl1pPr>
              <a:defRPr sz="4400"/>
            </a:lvl1pPr>
          </a:lstStyle>
          <a:p>
            <a:r>
              <a:rPr lang="en-US" dirty="0"/>
              <a:t>Click to edit Master title style</a:t>
            </a:r>
          </a:p>
        </p:txBody>
      </p:sp>
      <p:sp>
        <p:nvSpPr>
          <p:cNvPr id="3" name="Content Placeholder 2"/>
          <p:cNvSpPr>
            <a:spLocks noGrp="1"/>
          </p:cNvSpPr>
          <p:nvPr>
            <p:ph idx="1"/>
          </p:nvPr>
        </p:nvSpPr>
        <p:spPr>
          <a:xfrm>
            <a:off x="628650" y="1285461"/>
            <a:ext cx="7886700" cy="4891502"/>
          </a:xfrm>
        </p:spPr>
        <p:txBody>
          <a:bodyPr/>
          <a:lstStyle>
            <a:lvl1pPr>
              <a:defRPr sz="3200"/>
            </a:lvl1pPr>
            <a:lvl2pPr>
              <a:defRPr sz="28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pPr>
              <a:defRPr/>
            </a:pPr>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D5741C6D-44DB-4C04-9CB5-747DFD8034D5}" type="slidenum">
              <a:rPr lang="en-SG" smtClean="0">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5328563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389AF2F3-A1D1-4097-8ADA-9467C774BABF}" type="slidenum">
              <a:rPr lang="en-SG" smtClean="0">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26314045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389D06B8-A366-4D7D-8D93-3C162260D047}" type="slidenum">
              <a:rPr lang="en-SG" smtClean="0">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7519807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D8B09C-13EB-4CA6-8318-C71FFF147362}" type="datetimeFigureOut">
              <a:rPr lang="en-GB" smtClean="0">
                <a:solidFill>
                  <a:prstClr val="black">
                    <a:tint val="75000"/>
                  </a:prstClr>
                </a:solidFill>
              </a:rPr>
              <a:pPr/>
              <a:t>11/03/2020</a:t>
            </a:fld>
            <a:endParaRPr lang="en-GB">
              <a:solidFill>
                <a:prstClr val="black">
                  <a:tint val="75000"/>
                </a:prstClr>
              </a:solidFill>
            </a:endParaRPr>
          </a:p>
        </p:txBody>
      </p:sp>
      <p:sp>
        <p:nvSpPr>
          <p:cNvPr id="8" name="Footer Placeholder 7"/>
          <p:cNvSpPr>
            <a:spLocks noGrp="1"/>
          </p:cNvSpPr>
          <p:nvPr>
            <p:ph type="ftr" sz="quarter" idx="11"/>
          </p:nvPr>
        </p:nvSpPr>
        <p:spPr/>
        <p:txBody>
          <a:bodyPr/>
          <a:lstStyle/>
          <a:p>
            <a:pPr defTabSz="342900"/>
            <a:endParaRPr lang="en-GB">
              <a:solidFill>
                <a:prstClr val="black"/>
              </a:solidFill>
            </a:endParaRPr>
          </a:p>
        </p:txBody>
      </p:sp>
      <p:sp>
        <p:nvSpPr>
          <p:cNvPr id="9" name="Slide Number Placeholder 8"/>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6743680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D8B09C-13EB-4CA6-8318-C71FFF147362}" type="datetimeFigureOut">
              <a:rPr lang="en-GB" smtClean="0">
                <a:solidFill>
                  <a:prstClr val="black">
                    <a:tint val="75000"/>
                  </a:prstClr>
                </a:solidFill>
              </a:rPr>
              <a:pPr/>
              <a:t>11/03/2020</a:t>
            </a:fld>
            <a:endParaRPr lang="en-GB">
              <a:solidFill>
                <a:prstClr val="black">
                  <a:tint val="75000"/>
                </a:prstClr>
              </a:solidFill>
            </a:endParaRPr>
          </a:p>
        </p:txBody>
      </p:sp>
      <p:sp>
        <p:nvSpPr>
          <p:cNvPr id="4" name="Footer Placeholder 3"/>
          <p:cNvSpPr>
            <a:spLocks noGrp="1"/>
          </p:cNvSpPr>
          <p:nvPr>
            <p:ph type="ftr" sz="quarter" idx="11"/>
          </p:nvPr>
        </p:nvSpPr>
        <p:spPr/>
        <p:txBody>
          <a:bodyPr/>
          <a:lstStyle/>
          <a:p>
            <a:pPr defTabSz="342900"/>
            <a:endParaRPr lang="en-GB">
              <a:solidFill>
                <a:prstClr val="black"/>
              </a:solidFill>
            </a:endParaRPr>
          </a:p>
        </p:txBody>
      </p:sp>
      <p:sp>
        <p:nvSpPr>
          <p:cNvPr id="5" name="Slide Number Placeholder 4"/>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5001672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D8B09C-13EB-4CA6-8318-C71FFF147362}" type="datetimeFigureOut">
              <a:rPr lang="en-GB" smtClean="0">
                <a:solidFill>
                  <a:prstClr val="black">
                    <a:tint val="75000"/>
                  </a:prstClr>
                </a:solidFill>
              </a:rPr>
              <a:pPr/>
              <a:t>11/03/2020</a:t>
            </a:fld>
            <a:endParaRPr lang="en-GB">
              <a:solidFill>
                <a:prstClr val="black">
                  <a:tint val="75000"/>
                </a:prstClr>
              </a:solidFill>
            </a:endParaRPr>
          </a:p>
        </p:txBody>
      </p:sp>
      <p:sp>
        <p:nvSpPr>
          <p:cNvPr id="3" name="Footer Placeholder 2"/>
          <p:cNvSpPr>
            <a:spLocks noGrp="1"/>
          </p:cNvSpPr>
          <p:nvPr>
            <p:ph type="ftr" sz="quarter" idx="11"/>
          </p:nvPr>
        </p:nvSpPr>
        <p:spPr/>
        <p:txBody>
          <a:bodyPr/>
          <a:lstStyle/>
          <a:p>
            <a:pPr defTabSz="342900"/>
            <a:endParaRPr lang="en-GB">
              <a:solidFill>
                <a:prstClr val="black"/>
              </a:solidFill>
            </a:endParaRPr>
          </a:p>
        </p:txBody>
      </p:sp>
      <p:sp>
        <p:nvSpPr>
          <p:cNvPr id="4" name="Slide Number Placeholder 3"/>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6335002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7D8B09C-13EB-4CA6-8318-C71FFF147362}" type="datetimeFigureOut">
              <a:rPr lang="en-GB" smtClean="0">
                <a:solidFill>
                  <a:prstClr val="black">
                    <a:tint val="75000"/>
                  </a:prstClr>
                </a:solidFill>
              </a:rPr>
              <a:pPr/>
              <a:t>11/03/2020</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pPr defTabSz="342900"/>
            <a:endParaRPr lang="en-GB">
              <a:solidFill>
                <a:prstClr val="black"/>
              </a:solidFill>
            </a:endParaRPr>
          </a:p>
        </p:txBody>
      </p:sp>
      <p:sp>
        <p:nvSpPr>
          <p:cNvPr id="7" name="Slide Number Placeholder 6"/>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2435868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7D8B09C-13EB-4CA6-8318-C71FFF147362}" type="datetimeFigureOut">
              <a:rPr lang="en-GB" smtClean="0">
                <a:solidFill>
                  <a:prstClr val="black">
                    <a:tint val="75000"/>
                  </a:prstClr>
                </a:solidFill>
              </a:rPr>
              <a:pPr/>
              <a:t>11/03/2020</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pPr defTabSz="342900"/>
            <a:endParaRPr lang="en-GB">
              <a:solidFill>
                <a:prstClr val="black"/>
              </a:solidFill>
            </a:endParaRPr>
          </a:p>
        </p:txBody>
      </p:sp>
      <p:sp>
        <p:nvSpPr>
          <p:cNvPr id="7" name="Slide Number Placeholder 6"/>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6038777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D8B09C-13EB-4CA6-8318-C71FFF147362}" type="datetimeFigureOut">
              <a:rPr lang="en-GB" smtClean="0">
                <a:solidFill>
                  <a:prstClr val="black">
                    <a:tint val="75000"/>
                  </a:prstClr>
                </a:solidFill>
              </a:rPr>
              <a:pPr/>
              <a:t>11/03/2020</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pPr defTabSz="342900"/>
            <a:endParaRPr lang="en-GB">
              <a:solidFill>
                <a:prstClr val="black"/>
              </a:solidFill>
            </a:endParaRPr>
          </a:p>
        </p:txBody>
      </p:sp>
      <p:sp>
        <p:nvSpPr>
          <p:cNvPr id="6" name="Slide Number Placeholder 5"/>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0639002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D8B09C-13EB-4CA6-8318-C71FFF147362}" type="datetimeFigureOut">
              <a:rPr lang="en-GB" smtClean="0">
                <a:solidFill>
                  <a:prstClr val="black">
                    <a:tint val="75000"/>
                  </a:prstClr>
                </a:solidFill>
              </a:rPr>
              <a:pPr/>
              <a:t>11/03/2020</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pPr defTabSz="342900"/>
            <a:endParaRPr lang="en-GB">
              <a:solidFill>
                <a:prstClr val="black"/>
              </a:solidFill>
            </a:endParaRPr>
          </a:p>
        </p:txBody>
      </p:sp>
      <p:sp>
        <p:nvSpPr>
          <p:cNvPr id="6" name="Slide Number Placeholder 5"/>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72885998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685800" y="2130427"/>
            <a:ext cx="7772400" cy="1470025"/>
          </a:xfrm>
          <a:prstGeom prst="rect">
            <a:avLst/>
          </a:prstGeom>
        </p:spPr>
        <p:txBody>
          <a:bodyPr/>
          <a:lstStyle/>
          <a:p>
            <a:r>
              <a:rPr lang="en-US"/>
              <a:t>Click to edit Master title style</a:t>
            </a:r>
            <a:endParaRPr lang="en-SG"/>
          </a:p>
        </p:txBody>
      </p:sp>
      <p:sp>
        <p:nvSpPr>
          <p:cNvPr id="8"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endParaRPr lang="en-SG"/>
          </a:p>
        </p:txBody>
      </p:sp>
      <p:sp>
        <p:nvSpPr>
          <p:cNvPr id="9" name="Rectangle 3"/>
          <p:cNvSpPr>
            <a:spLocks noGrp="1" noChangeArrowheads="1"/>
          </p:cNvSpPr>
          <p:nvPr>
            <p:ph type="dt" idx="10"/>
          </p:nvPr>
        </p:nvSpPr>
        <p:spPr>
          <a:xfrm>
            <a:off x="457201" y="6353177"/>
            <a:ext cx="2092325" cy="371475"/>
          </a:xfrm>
          <a:prstGeom prst="rect">
            <a:avLst/>
          </a:prstGeom>
          <a:ln/>
        </p:spPr>
        <p:txBody>
          <a:bodyPr/>
          <a:lstStyle>
            <a:lvl1pPr>
              <a:defRPr/>
            </a:lvl1pPr>
          </a:lstStyle>
          <a:p>
            <a:pPr>
              <a:defRPr/>
            </a:pPr>
            <a:endParaRPr lang="en-US" dirty="0">
              <a:solidFill>
                <a:prstClr val="black">
                  <a:tint val="75000"/>
                </a:prstClr>
              </a:solidFill>
            </a:endParaRPr>
          </a:p>
        </p:txBody>
      </p:sp>
      <p:sp>
        <p:nvSpPr>
          <p:cNvPr id="10" name="Rectangle 5"/>
          <p:cNvSpPr>
            <a:spLocks noGrp="1" noChangeArrowheads="1"/>
          </p:cNvSpPr>
          <p:nvPr>
            <p:ph type="sldNum" idx="11"/>
          </p:nvPr>
        </p:nvSpPr>
        <p:spPr>
          <a:xfrm>
            <a:off x="6553201" y="6353177"/>
            <a:ext cx="2092325" cy="371475"/>
          </a:xfrm>
          <a:prstGeom prst="rect">
            <a:avLst/>
          </a:prstGeom>
          <a:ln/>
        </p:spPr>
        <p:txBody>
          <a:bodyPr/>
          <a:lstStyle>
            <a:lvl1pPr>
              <a:defRPr/>
            </a:lvl1pPr>
          </a:lstStyle>
          <a:p>
            <a:pPr>
              <a:defRPr/>
            </a:pPr>
            <a:fld id="{5503E7AE-D891-4742-9343-5EF205D83184}" type="slidenum">
              <a:rPr lang="en-SG">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21665394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285751" y="268288"/>
            <a:ext cx="8531225" cy="762000"/>
          </a:xfrm>
        </p:spPr>
        <p:txBody>
          <a:bodyPr/>
          <a:lstStyle/>
          <a:p>
            <a:r>
              <a:rPr lang="en-US" dirty="0"/>
              <a:t>Click to edit Master title style</a:t>
            </a:r>
            <a:endParaRPr lang="en-SG" dirty="0"/>
          </a:p>
        </p:txBody>
      </p:sp>
      <p:sp>
        <p:nvSpPr>
          <p:cNvPr id="8" name="Content Placeholder 2"/>
          <p:cNvSpPr>
            <a:spLocks noGrp="1"/>
          </p:cNvSpPr>
          <p:nvPr>
            <p:ph idx="1"/>
          </p:nvPr>
        </p:nvSpPr>
        <p:spPr>
          <a:xfrm>
            <a:off x="285751" y="1214438"/>
            <a:ext cx="8531225" cy="4870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9" name="Rectangle 3"/>
          <p:cNvSpPr>
            <a:spLocks noGrp="1" noChangeArrowheads="1"/>
          </p:cNvSpPr>
          <p:nvPr>
            <p:ph type="dt" idx="10"/>
          </p:nvPr>
        </p:nvSpPr>
        <p:spPr>
          <a:xfrm>
            <a:off x="457201" y="6353177"/>
            <a:ext cx="2092325" cy="371475"/>
          </a:xfrm>
          <a:ln/>
        </p:spPr>
        <p:txBody>
          <a:bodyPr/>
          <a:lstStyle>
            <a:lvl1pPr>
              <a:defRPr/>
            </a:lvl1pPr>
          </a:lstStyle>
          <a:p>
            <a:pPr>
              <a:defRPr/>
            </a:pPr>
            <a:endParaRPr lang="en-US" dirty="0">
              <a:solidFill>
                <a:prstClr val="black">
                  <a:tint val="75000"/>
                </a:prstClr>
              </a:solidFill>
            </a:endParaRPr>
          </a:p>
        </p:txBody>
      </p:sp>
      <p:sp>
        <p:nvSpPr>
          <p:cNvPr id="10" name="Rectangle 5"/>
          <p:cNvSpPr>
            <a:spLocks noGrp="1" noChangeArrowheads="1"/>
          </p:cNvSpPr>
          <p:nvPr>
            <p:ph type="sldNum" idx="11"/>
          </p:nvPr>
        </p:nvSpPr>
        <p:spPr>
          <a:xfrm>
            <a:off x="6553201" y="6353177"/>
            <a:ext cx="2092325" cy="371475"/>
          </a:xfrm>
          <a:ln/>
        </p:spPr>
        <p:txBody>
          <a:bodyPr/>
          <a:lstStyle>
            <a:lvl1pPr>
              <a:defRPr/>
            </a:lvl1pPr>
          </a:lstStyle>
          <a:p>
            <a:pPr>
              <a:defRPr/>
            </a:pPr>
            <a:fld id="{D5741C6D-44DB-4C04-9CB5-747DFD8034D5}" type="slidenum">
              <a:rPr lang="en-SG">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9953855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7"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endParaRPr lang="en-SG"/>
          </a:p>
        </p:txBody>
      </p:sp>
      <p:sp>
        <p:nvSpPr>
          <p:cNvPr id="8" name="Text Placehold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9" name="Rectangle 3"/>
          <p:cNvSpPr>
            <a:spLocks noGrp="1" noChangeArrowheads="1"/>
          </p:cNvSpPr>
          <p:nvPr>
            <p:ph type="dt" idx="10"/>
          </p:nvPr>
        </p:nvSpPr>
        <p:spPr>
          <a:xfrm>
            <a:off x="457201" y="6353177"/>
            <a:ext cx="2092325" cy="371475"/>
          </a:xfrm>
          <a:ln/>
        </p:spPr>
        <p:txBody>
          <a:bodyPr/>
          <a:lstStyle>
            <a:lvl1pPr>
              <a:defRPr/>
            </a:lvl1pPr>
          </a:lstStyle>
          <a:p>
            <a:pPr>
              <a:defRPr/>
            </a:pPr>
            <a:endParaRPr lang="en-US" dirty="0">
              <a:solidFill>
                <a:prstClr val="black">
                  <a:tint val="75000"/>
                </a:prstClr>
              </a:solidFill>
            </a:endParaRPr>
          </a:p>
        </p:txBody>
      </p:sp>
      <p:sp>
        <p:nvSpPr>
          <p:cNvPr id="10" name="Rectangle 5"/>
          <p:cNvSpPr>
            <a:spLocks noGrp="1" noChangeArrowheads="1"/>
          </p:cNvSpPr>
          <p:nvPr>
            <p:ph type="sldNum" idx="11"/>
          </p:nvPr>
        </p:nvSpPr>
        <p:spPr>
          <a:xfrm>
            <a:off x="6553201" y="6353177"/>
            <a:ext cx="2092325" cy="371475"/>
          </a:xfrm>
          <a:ln/>
        </p:spPr>
        <p:txBody>
          <a:bodyPr/>
          <a:lstStyle>
            <a:lvl1pPr>
              <a:defRPr/>
            </a:lvl1pPr>
          </a:lstStyle>
          <a:p>
            <a:pPr>
              <a:defRPr/>
            </a:pPr>
            <a:fld id="{389AF2F3-A1D1-4097-8ADA-9467C774BABF}" type="slidenum">
              <a:rPr lang="en-SG">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12265201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8" name="Title 1"/>
          <p:cNvSpPr>
            <a:spLocks noGrp="1"/>
          </p:cNvSpPr>
          <p:nvPr>
            <p:ph type="title"/>
          </p:nvPr>
        </p:nvSpPr>
        <p:spPr>
          <a:xfrm>
            <a:off x="285751" y="268288"/>
            <a:ext cx="8531225" cy="762000"/>
          </a:xfrm>
        </p:spPr>
        <p:txBody>
          <a:bodyPr/>
          <a:lstStyle/>
          <a:p>
            <a:r>
              <a:rPr lang="en-US" dirty="0"/>
              <a:t>Click to edit Master title style</a:t>
            </a:r>
            <a:endParaRPr lang="en-SG" dirty="0"/>
          </a:p>
        </p:txBody>
      </p:sp>
      <p:sp>
        <p:nvSpPr>
          <p:cNvPr id="9" name="Content Placeholder 2"/>
          <p:cNvSpPr>
            <a:spLocks noGrp="1"/>
          </p:cNvSpPr>
          <p:nvPr>
            <p:ph sz="half" idx="1"/>
          </p:nvPr>
        </p:nvSpPr>
        <p:spPr>
          <a:xfrm>
            <a:off x="285751" y="1214438"/>
            <a:ext cx="4189413" cy="48704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0" name="Content Placeholder 3"/>
          <p:cNvSpPr>
            <a:spLocks noGrp="1"/>
          </p:cNvSpPr>
          <p:nvPr>
            <p:ph sz="half" idx="2"/>
          </p:nvPr>
        </p:nvSpPr>
        <p:spPr>
          <a:xfrm>
            <a:off x="4627564" y="1214438"/>
            <a:ext cx="4189412" cy="48704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1" name="Rectangle 3"/>
          <p:cNvSpPr>
            <a:spLocks noGrp="1" noChangeArrowheads="1"/>
          </p:cNvSpPr>
          <p:nvPr>
            <p:ph type="dt" idx="10"/>
          </p:nvPr>
        </p:nvSpPr>
        <p:spPr>
          <a:xfrm>
            <a:off x="457201" y="6353177"/>
            <a:ext cx="2092325" cy="371475"/>
          </a:xfrm>
          <a:ln/>
        </p:spPr>
        <p:txBody>
          <a:bodyPr/>
          <a:lstStyle>
            <a:lvl1pPr>
              <a:defRPr/>
            </a:lvl1pPr>
          </a:lstStyle>
          <a:p>
            <a:pPr>
              <a:defRPr/>
            </a:pPr>
            <a:endParaRPr lang="en-US" dirty="0">
              <a:solidFill>
                <a:prstClr val="black">
                  <a:tint val="75000"/>
                </a:prstClr>
              </a:solidFill>
            </a:endParaRPr>
          </a:p>
        </p:txBody>
      </p:sp>
      <p:sp>
        <p:nvSpPr>
          <p:cNvPr id="12" name="Rectangle 5"/>
          <p:cNvSpPr>
            <a:spLocks noGrp="1" noChangeArrowheads="1"/>
          </p:cNvSpPr>
          <p:nvPr>
            <p:ph type="sldNum" idx="11"/>
          </p:nvPr>
        </p:nvSpPr>
        <p:spPr>
          <a:xfrm>
            <a:off x="6553201" y="6353177"/>
            <a:ext cx="2092325" cy="371475"/>
          </a:xfrm>
          <a:ln/>
        </p:spPr>
        <p:txBody>
          <a:bodyPr/>
          <a:lstStyle>
            <a:lvl1pPr>
              <a:defRPr/>
            </a:lvl1pPr>
          </a:lstStyle>
          <a:p>
            <a:pPr>
              <a:defRPr/>
            </a:pPr>
            <a:fld id="{389D06B8-A366-4D7D-8D93-3C162260D047}" type="slidenum">
              <a:rPr lang="en-SG">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26512263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SG"/>
          </a:p>
        </p:txBody>
      </p:sp>
      <p:sp>
        <p:nvSpPr>
          <p:cNvPr id="8"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SG"/>
          </a:p>
        </p:txBody>
      </p:sp>
      <p:sp>
        <p:nvSpPr>
          <p:cNvPr id="9" name="Rectangle 3"/>
          <p:cNvSpPr>
            <a:spLocks noGrp="1" noChangeArrowheads="1"/>
          </p:cNvSpPr>
          <p:nvPr>
            <p:ph type="dt" idx="10"/>
          </p:nvPr>
        </p:nvSpPr>
        <p:spPr>
          <a:xfrm>
            <a:off x="457200" y="6353175"/>
            <a:ext cx="2092325" cy="371475"/>
          </a:xfrm>
          <a:prstGeom prst="rect">
            <a:avLst/>
          </a:prstGeo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6553200" y="6353175"/>
            <a:ext cx="2092325" cy="371475"/>
          </a:xfrm>
          <a:prstGeom prst="rect">
            <a:avLst/>
          </a:prstGeom>
          <a:ln/>
        </p:spPr>
        <p:txBody>
          <a:bodyPr/>
          <a:lstStyle>
            <a:lvl1pPr>
              <a:defRPr/>
            </a:lvl1pPr>
          </a:lstStyle>
          <a:p>
            <a:pPr>
              <a:defRPr/>
            </a:pPr>
            <a:fld id="{5503E7AE-D891-4742-9343-5EF205D83184}" type="slidenum">
              <a:rPr lang="en-SG"/>
              <a:pPr>
                <a:defRPr/>
              </a:pPr>
              <a:t>‹#›</a:t>
            </a:fld>
            <a:endParaRPr lang="en-SG" dirty="0"/>
          </a:p>
        </p:txBody>
      </p:sp>
    </p:spTree>
    <p:extLst>
      <p:ext uri="{BB962C8B-B14F-4D97-AF65-F5344CB8AC3E}">
        <p14:creationId xmlns:p14="http://schemas.microsoft.com/office/powerpoint/2010/main" val="40715236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285750" y="268288"/>
            <a:ext cx="8531225" cy="762000"/>
          </a:xfrm>
        </p:spPr>
        <p:txBody>
          <a:bodyPr/>
          <a:lstStyle>
            <a:lvl1pPr>
              <a:defRPr b="1"/>
            </a:lvl1pPr>
          </a:lstStyle>
          <a:p>
            <a:r>
              <a:rPr lang="en-US" dirty="0"/>
              <a:t>Click to edit Master title style</a:t>
            </a:r>
            <a:endParaRPr lang="en-SG" dirty="0"/>
          </a:p>
        </p:txBody>
      </p:sp>
      <p:sp>
        <p:nvSpPr>
          <p:cNvPr id="8" name="Content Placeholder 2"/>
          <p:cNvSpPr>
            <a:spLocks noGrp="1"/>
          </p:cNvSpPr>
          <p:nvPr>
            <p:ph idx="1"/>
          </p:nvPr>
        </p:nvSpPr>
        <p:spPr>
          <a:xfrm>
            <a:off x="285750" y="1214438"/>
            <a:ext cx="8531225" cy="4870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9" name="Rectangle 3"/>
          <p:cNvSpPr>
            <a:spLocks noGrp="1" noChangeArrowheads="1"/>
          </p:cNvSpPr>
          <p:nvPr>
            <p:ph type="dt" idx="10"/>
          </p:nvPr>
        </p:nvSpPr>
        <p:spPr>
          <a:xfrm>
            <a:off x="457200" y="6353175"/>
            <a:ext cx="2092325" cy="371475"/>
          </a:xfr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6553200" y="6353175"/>
            <a:ext cx="2092325" cy="371475"/>
          </a:xfrm>
          <a:ln/>
        </p:spPr>
        <p:txBody>
          <a:bodyPr/>
          <a:lstStyle>
            <a:lvl1pPr>
              <a:defRPr/>
            </a:lvl1pPr>
          </a:lstStyle>
          <a:p>
            <a:pPr>
              <a:defRPr/>
            </a:pPr>
            <a:fld id="{D5741C6D-44DB-4C04-9CB5-747DFD8034D5}" type="slidenum">
              <a:rPr lang="en-SG"/>
              <a:pPr>
                <a:defRPr/>
              </a:pPr>
              <a:t>‹#›</a:t>
            </a:fld>
            <a:endParaRPr lang="en-SG" dirty="0"/>
          </a:p>
        </p:txBody>
      </p:sp>
    </p:spTree>
    <p:extLst>
      <p:ext uri="{BB962C8B-B14F-4D97-AF65-F5344CB8AC3E}">
        <p14:creationId xmlns:p14="http://schemas.microsoft.com/office/powerpoint/2010/main" val="73086545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SG"/>
          </a:p>
        </p:txBody>
      </p:sp>
      <p:sp>
        <p:nvSpPr>
          <p:cNvPr id="8"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9" name="Rectangle 3"/>
          <p:cNvSpPr>
            <a:spLocks noGrp="1" noChangeArrowheads="1"/>
          </p:cNvSpPr>
          <p:nvPr>
            <p:ph type="dt" idx="10"/>
          </p:nvPr>
        </p:nvSpPr>
        <p:spPr>
          <a:xfrm>
            <a:off x="457200" y="6353175"/>
            <a:ext cx="2092325" cy="371475"/>
          </a:xfr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6553200" y="6353175"/>
            <a:ext cx="2092325" cy="371475"/>
          </a:xfrm>
          <a:ln/>
        </p:spPr>
        <p:txBody>
          <a:bodyPr/>
          <a:lstStyle>
            <a:lvl1pPr>
              <a:defRPr/>
            </a:lvl1pPr>
          </a:lstStyle>
          <a:p>
            <a:pPr>
              <a:defRPr/>
            </a:pPr>
            <a:fld id="{389AF2F3-A1D1-4097-8ADA-9467C774BABF}" type="slidenum">
              <a:rPr lang="en-SG"/>
              <a:pPr>
                <a:defRPr/>
              </a:pPr>
              <a:t>‹#›</a:t>
            </a:fld>
            <a:endParaRPr lang="en-SG" dirty="0"/>
          </a:p>
        </p:txBody>
      </p:sp>
    </p:spTree>
    <p:extLst>
      <p:ext uri="{BB962C8B-B14F-4D97-AF65-F5344CB8AC3E}">
        <p14:creationId xmlns:p14="http://schemas.microsoft.com/office/powerpoint/2010/main" val="9689477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p:cNvSpPr>
            <a:spLocks noGrp="1"/>
          </p:cNvSpPr>
          <p:nvPr>
            <p:ph type="title"/>
          </p:nvPr>
        </p:nvSpPr>
        <p:spPr>
          <a:xfrm>
            <a:off x="285750" y="268288"/>
            <a:ext cx="8531225" cy="762000"/>
          </a:xfrm>
        </p:spPr>
        <p:txBody>
          <a:bodyPr/>
          <a:lstStyle/>
          <a:p>
            <a:r>
              <a:rPr lang="en-US" dirty="0"/>
              <a:t>Click to edit Master title style</a:t>
            </a:r>
            <a:endParaRPr lang="en-SG" dirty="0"/>
          </a:p>
        </p:txBody>
      </p:sp>
      <p:sp>
        <p:nvSpPr>
          <p:cNvPr id="9" name="Content Placeholder 2"/>
          <p:cNvSpPr>
            <a:spLocks noGrp="1"/>
          </p:cNvSpPr>
          <p:nvPr>
            <p:ph sz="half" idx="1"/>
          </p:nvPr>
        </p:nvSpPr>
        <p:spPr>
          <a:xfrm>
            <a:off x="285750" y="1214438"/>
            <a:ext cx="4189413"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0" name="Content Placeholder 3"/>
          <p:cNvSpPr>
            <a:spLocks noGrp="1"/>
          </p:cNvSpPr>
          <p:nvPr>
            <p:ph sz="half" idx="2"/>
          </p:nvPr>
        </p:nvSpPr>
        <p:spPr>
          <a:xfrm>
            <a:off x="4627563" y="1214438"/>
            <a:ext cx="4189412"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1" name="Rectangle 3"/>
          <p:cNvSpPr>
            <a:spLocks noGrp="1" noChangeArrowheads="1"/>
          </p:cNvSpPr>
          <p:nvPr>
            <p:ph type="dt" idx="10"/>
          </p:nvPr>
        </p:nvSpPr>
        <p:spPr>
          <a:xfrm>
            <a:off x="457200" y="6353175"/>
            <a:ext cx="2092325" cy="371475"/>
          </a:xfrm>
          <a:ln/>
        </p:spPr>
        <p:txBody>
          <a:bodyPr/>
          <a:lstStyle>
            <a:lvl1pPr>
              <a:defRPr/>
            </a:lvl1pPr>
          </a:lstStyle>
          <a:p>
            <a:pPr>
              <a:defRPr/>
            </a:pPr>
            <a:endParaRPr lang="en-US" dirty="0"/>
          </a:p>
        </p:txBody>
      </p:sp>
      <p:sp>
        <p:nvSpPr>
          <p:cNvPr id="12" name="Rectangle 5"/>
          <p:cNvSpPr>
            <a:spLocks noGrp="1" noChangeArrowheads="1"/>
          </p:cNvSpPr>
          <p:nvPr>
            <p:ph type="sldNum" idx="11"/>
          </p:nvPr>
        </p:nvSpPr>
        <p:spPr>
          <a:xfrm>
            <a:off x="6553200" y="6353175"/>
            <a:ext cx="2092325" cy="371475"/>
          </a:xfrm>
          <a:ln/>
        </p:spPr>
        <p:txBody>
          <a:bodyPr/>
          <a:lstStyle>
            <a:lvl1pPr>
              <a:defRPr/>
            </a:lvl1pPr>
          </a:lstStyle>
          <a:p>
            <a:pPr>
              <a:defRPr/>
            </a:pPr>
            <a:fld id="{389D06B8-A366-4D7D-8D93-3C162260D047}" type="slidenum">
              <a:rPr lang="en-SG"/>
              <a:pPr>
                <a:defRPr/>
              </a:pPr>
              <a:t>‹#›</a:t>
            </a:fld>
            <a:endParaRPr lang="en-SG" dirty="0"/>
          </a:p>
        </p:txBody>
      </p:sp>
    </p:spTree>
    <p:extLst>
      <p:ext uri="{BB962C8B-B14F-4D97-AF65-F5344CB8AC3E}">
        <p14:creationId xmlns:p14="http://schemas.microsoft.com/office/powerpoint/2010/main" val="290536485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11/03/2020</a:t>
            </a:fld>
            <a:endParaRPr lang="en-GB"/>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240411122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11/03/2020</a:t>
            </a:fld>
            <a:endParaRPr lang="en-GB"/>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199743822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11/03/2020</a:t>
            </a:fld>
            <a:endParaRPr lang="en-GB"/>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147960182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11/03/2020</a:t>
            </a:fld>
            <a:endParaRPr lang="en-GB"/>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261529673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11/03/2020</a:t>
            </a:fld>
            <a:endParaRPr lang="en-GB"/>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295436865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11/03/2020</a:t>
            </a:fld>
            <a:endParaRPr lang="en-GB"/>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159892591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11/03/2020</a:t>
            </a:fld>
            <a:endParaRPr lang="en-GB"/>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21426859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angle 1"/>
          <p:cNvSpPr>
            <a:spLocks noGrp="1" noChangeArrowheads="1"/>
          </p:cNvSpPr>
          <p:nvPr>
            <p:ph type="title"/>
          </p:nvPr>
        </p:nvSpPr>
        <p:spPr bwMode="auto">
          <a:xfrm>
            <a:off x="285750" y="268288"/>
            <a:ext cx="8531225" cy="762000"/>
          </a:xfrm>
          <a:prstGeom prst="rect">
            <a:avLst/>
          </a:prstGeom>
          <a:noFill/>
          <a:ln w="9525">
            <a:noFill/>
            <a:round/>
            <a:headEnd/>
            <a:tailEnd/>
          </a:ln>
        </p:spPr>
        <p:txBody>
          <a:bodyPr vert="horz" wrap="square" lIns="90000" tIns="46800" rIns="90000" bIns="46800" numCol="1" anchor="ctr" anchorCtr="0" compatLnSpc="1">
            <a:prstTxWarp prst="textNoShape">
              <a:avLst/>
            </a:prstTxWarp>
          </a:bodyPr>
          <a:lstStyle/>
          <a:p>
            <a:pPr lvl="0"/>
            <a:r>
              <a:rPr lang="en-GB" dirty="0"/>
              <a:t>Click to edit the title text format</a:t>
            </a:r>
          </a:p>
        </p:txBody>
      </p:sp>
      <p:sp>
        <p:nvSpPr>
          <p:cNvPr id="12" name="Rectangle 2"/>
          <p:cNvSpPr>
            <a:spLocks noGrp="1" noChangeArrowheads="1"/>
          </p:cNvSpPr>
          <p:nvPr>
            <p:ph type="body" idx="1"/>
          </p:nvPr>
        </p:nvSpPr>
        <p:spPr bwMode="auto">
          <a:xfrm>
            <a:off x="285750" y="1214438"/>
            <a:ext cx="8531225" cy="4870450"/>
          </a:xfrm>
          <a:prstGeom prst="rect">
            <a:avLst/>
          </a:prstGeom>
          <a:noFill/>
          <a:ln w="9525">
            <a:noFill/>
            <a:round/>
            <a:headEnd/>
            <a:tailEnd/>
          </a:ln>
        </p:spPr>
        <p:txBody>
          <a:bodyPr vert="horz" wrap="square" lIns="90000" tIns="46800" rIns="90000" bIns="46800" numCol="1" anchor="t" anchorCtr="0" compatLnSpc="1">
            <a:prstTxWarp prst="textNoShape">
              <a:avLst/>
            </a:prstTxWarp>
          </a:bodyPr>
          <a:lstStyle/>
          <a:p>
            <a:pPr lvl="0"/>
            <a:r>
              <a:rPr lang="en-GB" dirty="0"/>
              <a:t>Click to edit the outline text format</a:t>
            </a:r>
          </a:p>
          <a:p>
            <a:pPr lvl="1"/>
            <a:r>
              <a:rPr lang="en-GB" dirty="0"/>
              <a:t>Second Outline Level</a:t>
            </a:r>
          </a:p>
          <a:p>
            <a:pPr lvl="2"/>
            <a:r>
              <a:rPr lang="en-GB" dirty="0"/>
              <a:t>Third Outline Level</a:t>
            </a:r>
          </a:p>
          <a:p>
            <a:pPr lvl="3"/>
            <a:r>
              <a:rPr lang="en-GB" dirty="0"/>
              <a:t>Fourth Outline Level</a:t>
            </a:r>
          </a:p>
          <a:p>
            <a:pPr lvl="4"/>
            <a:r>
              <a:rPr lang="en-GB" dirty="0"/>
              <a:t>Fifth Outline Level</a:t>
            </a:r>
          </a:p>
          <a:p>
            <a:pPr lvl="4"/>
            <a:r>
              <a:rPr lang="en-GB" dirty="0"/>
              <a:t>Sixth Outline Level</a:t>
            </a:r>
          </a:p>
          <a:p>
            <a:pPr lvl="4"/>
            <a:r>
              <a:rPr lang="en-GB" dirty="0"/>
              <a:t>Seventh Outline Level</a:t>
            </a:r>
          </a:p>
          <a:p>
            <a:pPr lvl="4"/>
            <a:r>
              <a:rPr lang="en-GB" dirty="0"/>
              <a:t>Eighth Outline Level</a:t>
            </a:r>
          </a:p>
          <a:p>
            <a:pPr lvl="4"/>
            <a:r>
              <a:rPr lang="en-GB" dirty="0"/>
              <a:t>Ninth Outline Level</a:t>
            </a:r>
          </a:p>
        </p:txBody>
      </p:sp>
      <p:sp>
        <p:nvSpPr>
          <p:cNvPr id="13" name="Rectangle 3"/>
          <p:cNvSpPr>
            <a:spLocks noGrp="1" noChangeArrowheads="1"/>
          </p:cNvSpPr>
          <p:nvPr>
            <p:ph type="dt" idx="2"/>
          </p:nvPr>
        </p:nvSpPr>
        <p:spPr bwMode="auto">
          <a:xfrm>
            <a:off x="457200" y="6353175"/>
            <a:ext cx="2092325" cy="371475"/>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a:buClrTx/>
              <a:buFontTx/>
              <a:buNone/>
              <a:defRPr>
                <a:solidFill>
                  <a:srgbClr val="000000"/>
                </a:solidFill>
              </a:defRPr>
            </a:lvl1pPr>
          </a:lstStyle>
          <a:p>
            <a:pPr defTabSz="457200">
              <a:defRPr/>
            </a:pPr>
            <a:endParaRPr lang="en-US" dirty="0"/>
          </a:p>
        </p:txBody>
      </p:sp>
      <p:sp>
        <p:nvSpPr>
          <p:cNvPr id="14" name="Text Box 4"/>
          <p:cNvSpPr txBox="1">
            <a:spLocks noChangeArrowheads="1"/>
          </p:cNvSpPr>
          <p:nvPr userDrawn="1"/>
        </p:nvSpPr>
        <p:spPr bwMode="auto">
          <a:xfrm>
            <a:off x="3124200" y="6354763"/>
            <a:ext cx="2895600" cy="368300"/>
          </a:xfrm>
          <a:prstGeom prst="rect">
            <a:avLst/>
          </a:prstGeom>
          <a:noFill/>
          <a:ln w="9525">
            <a:noFill/>
            <a:round/>
            <a:headEnd/>
            <a:tailEnd/>
          </a:ln>
          <a:effectLst/>
        </p:spPr>
        <p:txBody>
          <a:bodyPr wrap="none" anchor="ctr"/>
          <a:lstStyle/>
          <a:p>
            <a:pPr defTabSz="457200">
              <a:defRPr/>
            </a:pPr>
            <a:endParaRPr lang="en-SG" dirty="0">
              <a:solidFill>
                <a:prstClr val="black"/>
              </a:solidFill>
            </a:endParaRPr>
          </a:p>
        </p:txBody>
      </p:sp>
      <p:sp>
        <p:nvSpPr>
          <p:cNvPr id="15" name="Rectangle 5"/>
          <p:cNvSpPr>
            <a:spLocks noGrp="1" noChangeArrowheads="1"/>
          </p:cNvSpPr>
          <p:nvPr>
            <p:ph type="sldNum" idx="4"/>
          </p:nvPr>
        </p:nvSpPr>
        <p:spPr bwMode="auto">
          <a:xfrm>
            <a:off x="6553200" y="6353175"/>
            <a:ext cx="2092325" cy="371475"/>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a:buClrTx/>
              <a:buFontTx/>
              <a:buNone/>
              <a:defRPr>
                <a:solidFill>
                  <a:srgbClr val="000000"/>
                </a:solidFill>
              </a:defRPr>
            </a:lvl1pPr>
          </a:lstStyle>
          <a:p>
            <a:pPr defTabSz="457200">
              <a:defRPr/>
            </a:pPr>
            <a:fld id="{D605CA8D-3D6C-42DF-9A5B-66FCBCC600DC}" type="slidenum">
              <a:rPr lang="en-SG"/>
              <a:pPr defTabSz="457200">
                <a:defRPr/>
              </a:pPr>
              <a:t>‹#›</a:t>
            </a:fld>
            <a:endParaRPr lang="en-SG" dirty="0"/>
          </a:p>
        </p:txBody>
      </p:sp>
      <p:sp>
        <p:nvSpPr>
          <p:cNvPr id="16" name="Rectangle 6"/>
          <p:cNvSpPr>
            <a:spLocks noChangeArrowheads="1"/>
          </p:cNvSpPr>
          <p:nvPr userDrawn="1"/>
        </p:nvSpPr>
        <p:spPr bwMode="auto">
          <a:xfrm>
            <a:off x="0" y="0"/>
            <a:ext cx="9144000" cy="214313"/>
          </a:xfrm>
          <a:prstGeom prst="rect">
            <a:avLst/>
          </a:prstGeom>
          <a:solidFill>
            <a:srgbClr val="C00000"/>
          </a:solidFill>
          <a:ln w="9525">
            <a:noFill/>
            <a:round/>
            <a:headEnd/>
            <a:tailEnd/>
          </a:ln>
          <a:effectLst/>
        </p:spPr>
        <p:txBody>
          <a:bodyPr wrap="none" anchor="ctr"/>
          <a:lstStyle/>
          <a:p>
            <a:pPr algn="r" defTabSz="457200">
              <a:defRPr/>
            </a:pPr>
            <a:r>
              <a:rPr lang="en-SG" dirty="0" err="1">
                <a:solidFill>
                  <a:prstClr val="white"/>
                </a:solidFill>
              </a:rPr>
              <a:t>iAcademy</a:t>
            </a:r>
            <a:endParaRPr lang="en-SG" dirty="0">
              <a:solidFill>
                <a:prstClr val="white"/>
              </a:solidFill>
            </a:endParaRPr>
          </a:p>
        </p:txBody>
      </p:sp>
      <p:sp>
        <p:nvSpPr>
          <p:cNvPr id="17" name="Rectangle 7"/>
          <p:cNvSpPr>
            <a:spLocks noChangeArrowheads="1"/>
          </p:cNvSpPr>
          <p:nvPr userDrawn="1"/>
        </p:nvSpPr>
        <p:spPr bwMode="auto">
          <a:xfrm flipV="1">
            <a:off x="0" y="-1"/>
            <a:ext cx="7929586" cy="45719"/>
          </a:xfrm>
          <a:prstGeom prst="rect">
            <a:avLst/>
          </a:prstGeom>
          <a:solidFill>
            <a:srgbClr val="FFC000"/>
          </a:solidFill>
          <a:ln w="9525">
            <a:noFill/>
            <a:round/>
            <a:headEnd/>
            <a:tailEnd/>
          </a:ln>
          <a:effectLst/>
        </p:spPr>
        <p:txBody>
          <a:bodyPr wrap="none" anchor="ctr"/>
          <a:lstStyle/>
          <a:p>
            <a:pPr defTabSz="457200">
              <a:defRPr/>
            </a:pPr>
            <a:endParaRPr lang="en-SG" dirty="0">
              <a:solidFill>
                <a:prstClr val="black"/>
              </a:solidFill>
            </a:endParaRPr>
          </a:p>
        </p:txBody>
      </p:sp>
      <p:sp>
        <p:nvSpPr>
          <p:cNvPr id="18" name="Rectangle 6"/>
          <p:cNvSpPr>
            <a:spLocks noChangeArrowheads="1"/>
          </p:cNvSpPr>
          <p:nvPr userDrawn="1"/>
        </p:nvSpPr>
        <p:spPr bwMode="auto">
          <a:xfrm>
            <a:off x="-32" y="6643711"/>
            <a:ext cx="9144000" cy="214313"/>
          </a:xfrm>
          <a:prstGeom prst="rect">
            <a:avLst/>
          </a:prstGeom>
          <a:solidFill>
            <a:srgbClr val="C00000"/>
          </a:solidFill>
          <a:ln w="9525">
            <a:noFill/>
            <a:round/>
            <a:headEnd/>
            <a:tailEnd/>
          </a:ln>
          <a:effectLst/>
        </p:spPr>
        <p:txBody>
          <a:bodyPr wrap="none" anchor="ctr"/>
          <a:lstStyle/>
          <a:p>
            <a:pPr defTabSz="449263" fontAlgn="base">
              <a:spcBef>
                <a:spcPct val="0"/>
              </a:spcBef>
              <a:spcAft>
                <a:spcPct val="0"/>
              </a:spcAft>
              <a:buClr>
                <a:srgbClr val="000000"/>
              </a:buClr>
              <a:buSzPct val="100000"/>
              <a:buFont typeface="Times New Roman" pitchFamily="16" charset="0"/>
              <a:buNone/>
              <a:defRPr/>
            </a:pPr>
            <a:r>
              <a:rPr lang="en-SG" dirty="0" err="1">
                <a:solidFill>
                  <a:prstClr val="white"/>
                </a:solidFill>
              </a:rPr>
              <a:t>iAcademy</a:t>
            </a:r>
            <a:endParaRPr lang="en-SG" dirty="0">
              <a:solidFill>
                <a:prstClr val="white"/>
              </a:solidFill>
            </a:endParaRPr>
          </a:p>
        </p:txBody>
      </p:sp>
      <p:sp>
        <p:nvSpPr>
          <p:cNvPr id="19" name="Rectangle 7"/>
          <p:cNvSpPr>
            <a:spLocks noChangeArrowheads="1"/>
          </p:cNvSpPr>
          <p:nvPr userDrawn="1"/>
        </p:nvSpPr>
        <p:spPr bwMode="auto">
          <a:xfrm flipV="1">
            <a:off x="1214414" y="6786584"/>
            <a:ext cx="7929554" cy="71415"/>
          </a:xfrm>
          <a:prstGeom prst="rect">
            <a:avLst/>
          </a:prstGeom>
          <a:solidFill>
            <a:srgbClr val="FFC000"/>
          </a:solidFill>
          <a:ln w="9525">
            <a:noFill/>
            <a:round/>
            <a:headEnd/>
            <a:tailEnd/>
          </a:ln>
          <a:effectLst/>
        </p:spPr>
        <p:txBody>
          <a:bodyPr wrap="none" anchor="ctr"/>
          <a:lstStyle/>
          <a:p>
            <a:pPr defTabSz="457200">
              <a:defRPr/>
            </a:pPr>
            <a:endParaRPr lang="en-SG" dirty="0">
              <a:solidFill>
                <a:prstClr val="black"/>
              </a:solidFill>
            </a:endParaRPr>
          </a:p>
        </p:txBody>
      </p:sp>
    </p:spTree>
    <p:extLst>
      <p:ext uri="{BB962C8B-B14F-4D97-AF65-F5344CB8AC3E}">
        <p14:creationId xmlns:p14="http://schemas.microsoft.com/office/powerpoint/2010/main" val="161206291"/>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Calibri"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Calibri" pitchFamily="34" charset="0"/>
        <a:buChar char="-"/>
        <a:defRPr sz="2800" kern="1200">
          <a:solidFill>
            <a:schemeClr val="tx1"/>
          </a:solidFill>
          <a:latin typeface="+mn-lt"/>
          <a:ea typeface="+mn-ea"/>
          <a:cs typeface="+mn-cs"/>
        </a:defRPr>
      </a:lvl2pPr>
      <a:lvl3pPr marL="1371600" indent="-457200" algn="l" defTabSz="914400" rtl="0" eaLnBrk="1" latinLnBrk="0" hangingPunct="1">
        <a:lnSpc>
          <a:spcPct val="90000"/>
        </a:lnSpc>
        <a:spcBef>
          <a:spcPts val="500"/>
        </a:spcBef>
        <a:buFont typeface="Wingdings"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D8B09C-13EB-4CA6-8318-C71FFF147362}" type="datetimeFigureOut">
              <a:rPr lang="en-GB" smtClean="0">
                <a:solidFill>
                  <a:prstClr val="black">
                    <a:tint val="75000"/>
                  </a:prstClr>
                </a:solidFill>
              </a:rPr>
              <a:pPr/>
              <a:t>11/03/2020</a:t>
            </a:fld>
            <a:endParaRPr lang="en-GB">
              <a:solidFill>
                <a:prstClr val="black">
                  <a:tint val="75000"/>
                </a:prstClr>
              </a:solidFill>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solidFill>
                <a:prstClr val="black">
                  <a:tint val="75000"/>
                </a:prstClr>
              </a:solidFill>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
        <p:nvSpPr>
          <p:cNvPr id="7" name="Text Box 4"/>
          <p:cNvSpPr txBox="1">
            <a:spLocks noChangeArrowheads="1"/>
          </p:cNvSpPr>
          <p:nvPr userDrawn="1"/>
        </p:nvSpPr>
        <p:spPr bwMode="auto">
          <a:xfrm>
            <a:off x="3124200" y="6354763"/>
            <a:ext cx="2895600" cy="368300"/>
          </a:xfrm>
          <a:prstGeom prst="rect">
            <a:avLst/>
          </a:prstGeom>
          <a:noFill/>
          <a:ln w="9525">
            <a:noFill/>
            <a:round/>
            <a:headEnd/>
            <a:tailEnd/>
          </a:ln>
          <a:effectLst/>
        </p:spPr>
        <p:txBody>
          <a:bodyPr wrap="none" anchor="ctr"/>
          <a:lstStyle/>
          <a:p>
            <a:pPr defTabSz="342900">
              <a:defRPr/>
            </a:pPr>
            <a:endParaRPr lang="en-SG" sz="1350" dirty="0">
              <a:solidFill>
                <a:prstClr val="black"/>
              </a:solidFill>
            </a:endParaRPr>
          </a:p>
        </p:txBody>
      </p:sp>
      <p:sp>
        <p:nvSpPr>
          <p:cNvPr id="8" name="Rectangle 6"/>
          <p:cNvSpPr>
            <a:spLocks noChangeArrowheads="1"/>
          </p:cNvSpPr>
          <p:nvPr userDrawn="1"/>
        </p:nvSpPr>
        <p:spPr bwMode="auto">
          <a:xfrm>
            <a:off x="0" y="0"/>
            <a:ext cx="9144000" cy="214313"/>
          </a:xfrm>
          <a:prstGeom prst="rect">
            <a:avLst/>
          </a:prstGeom>
          <a:solidFill>
            <a:srgbClr val="C00000"/>
          </a:solidFill>
          <a:ln w="9525">
            <a:noFill/>
            <a:round/>
            <a:headEnd/>
            <a:tailEnd/>
          </a:ln>
          <a:effectLst/>
        </p:spPr>
        <p:txBody>
          <a:bodyPr wrap="none" anchor="ctr"/>
          <a:lstStyle/>
          <a:p>
            <a:pPr algn="r" defTabSz="342900">
              <a:defRPr/>
            </a:pPr>
            <a:r>
              <a:rPr lang="en-SG" sz="1350" dirty="0" err="1">
                <a:solidFill>
                  <a:prstClr val="white"/>
                </a:solidFill>
              </a:rPr>
              <a:t>iAcademy</a:t>
            </a:r>
            <a:endParaRPr lang="en-SG" sz="1350" dirty="0">
              <a:solidFill>
                <a:prstClr val="white"/>
              </a:solidFill>
            </a:endParaRPr>
          </a:p>
        </p:txBody>
      </p:sp>
      <p:sp>
        <p:nvSpPr>
          <p:cNvPr id="9" name="Rectangle 7"/>
          <p:cNvSpPr>
            <a:spLocks noChangeArrowheads="1"/>
          </p:cNvSpPr>
          <p:nvPr userDrawn="1"/>
        </p:nvSpPr>
        <p:spPr bwMode="auto">
          <a:xfrm flipV="1">
            <a:off x="0" y="-1"/>
            <a:ext cx="7929586" cy="45719"/>
          </a:xfrm>
          <a:prstGeom prst="rect">
            <a:avLst/>
          </a:prstGeom>
          <a:solidFill>
            <a:srgbClr val="FFC000"/>
          </a:solidFill>
          <a:ln w="9525">
            <a:noFill/>
            <a:round/>
            <a:headEnd/>
            <a:tailEnd/>
          </a:ln>
          <a:effectLst/>
        </p:spPr>
        <p:txBody>
          <a:bodyPr wrap="none" anchor="ctr"/>
          <a:lstStyle/>
          <a:p>
            <a:pPr defTabSz="342900">
              <a:defRPr/>
            </a:pPr>
            <a:endParaRPr lang="en-SG" sz="1350" dirty="0">
              <a:solidFill>
                <a:prstClr val="black"/>
              </a:solidFill>
            </a:endParaRPr>
          </a:p>
        </p:txBody>
      </p:sp>
      <p:sp>
        <p:nvSpPr>
          <p:cNvPr id="10" name="Rectangle 6"/>
          <p:cNvSpPr>
            <a:spLocks noChangeArrowheads="1"/>
          </p:cNvSpPr>
          <p:nvPr userDrawn="1"/>
        </p:nvSpPr>
        <p:spPr bwMode="auto">
          <a:xfrm>
            <a:off x="-32" y="6643713"/>
            <a:ext cx="9144000" cy="214313"/>
          </a:xfrm>
          <a:prstGeom prst="rect">
            <a:avLst/>
          </a:prstGeom>
          <a:solidFill>
            <a:srgbClr val="C00000"/>
          </a:solidFill>
          <a:ln w="9525">
            <a:noFill/>
            <a:round/>
            <a:headEnd/>
            <a:tailEnd/>
          </a:ln>
          <a:effectLst/>
        </p:spPr>
        <p:txBody>
          <a:bodyPr wrap="none" anchor="ctr"/>
          <a:lstStyle/>
          <a:p>
            <a:pPr defTabSz="336947" fontAlgn="base">
              <a:spcBef>
                <a:spcPct val="0"/>
              </a:spcBef>
              <a:spcAft>
                <a:spcPct val="0"/>
              </a:spcAft>
              <a:buClr>
                <a:srgbClr val="000000"/>
              </a:buClr>
              <a:buSzPct val="100000"/>
              <a:buFont typeface="Times New Roman" pitchFamily="16" charset="0"/>
              <a:buNone/>
              <a:defRPr/>
            </a:pPr>
            <a:r>
              <a:rPr lang="en-SG" sz="1350" dirty="0" err="1">
                <a:solidFill>
                  <a:prstClr val="white"/>
                </a:solidFill>
              </a:rPr>
              <a:t>iAcademy</a:t>
            </a:r>
            <a:endParaRPr lang="en-SG" sz="1350" dirty="0">
              <a:solidFill>
                <a:prstClr val="white"/>
              </a:solidFill>
            </a:endParaRPr>
          </a:p>
        </p:txBody>
      </p:sp>
      <p:sp>
        <p:nvSpPr>
          <p:cNvPr id="11" name="Rectangle 7"/>
          <p:cNvSpPr>
            <a:spLocks noChangeArrowheads="1"/>
          </p:cNvSpPr>
          <p:nvPr userDrawn="1"/>
        </p:nvSpPr>
        <p:spPr bwMode="auto">
          <a:xfrm flipV="1">
            <a:off x="1214415" y="6786586"/>
            <a:ext cx="7929554" cy="71415"/>
          </a:xfrm>
          <a:prstGeom prst="rect">
            <a:avLst/>
          </a:prstGeom>
          <a:solidFill>
            <a:srgbClr val="FFC000"/>
          </a:solidFill>
          <a:ln w="9525">
            <a:noFill/>
            <a:round/>
            <a:headEnd/>
            <a:tailEnd/>
          </a:ln>
          <a:effectLst/>
        </p:spPr>
        <p:txBody>
          <a:bodyPr wrap="none" anchor="ctr"/>
          <a:lstStyle/>
          <a:p>
            <a:pPr defTabSz="342900">
              <a:defRPr/>
            </a:pPr>
            <a:endParaRPr lang="en-SG" sz="1350" dirty="0">
              <a:solidFill>
                <a:prstClr val="black"/>
              </a:solidFill>
            </a:endParaRPr>
          </a:p>
        </p:txBody>
      </p:sp>
    </p:spTree>
    <p:extLst>
      <p:ext uri="{BB962C8B-B14F-4D97-AF65-F5344CB8AC3E}">
        <p14:creationId xmlns:p14="http://schemas.microsoft.com/office/powerpoint/2010/main" val="4055287514"/>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angle 1"/>
          <p:cNvSpPr>
            <a:spLocks noGrp="1" noChangeArrowheads="1"/>
          </p:cNvSpPr>
          <p:nvPr>
            <p:ph type="title"/>
          </p:nvPr>
        </p:nvSpPr>
        <p:spPr bwMode="auto">
          <a:xfrm>
            <a:off x="285750" y="268288"/>
            <a:ext cx="8531225" cy="762000"/>
          </a:xfrm>
          <a:prstGeom prst="rect">
            <a:avLst/>
          </a:prstGeom>
          <a:noFill/>
          <a:ln w="9525">
            <a:noFill/>
            <a:round/>
            <a:headEnd/>
            <a:tailEnd/>
          </a:ln>
        </p:spPr>
        <p:txBody>
          <a:bodyPr vert="horz" wrap="square" lIns="90000" tIns="46800" rIns="90000" bIns="46800" numCol="1" anchor="ctr" anchorCtr="0" compatLnSpc="1">
            <a:prstTxWarp prst="textNoShape">
              <a:avLst/>
            </a:prstTxWarp>
          </a:bodyPr>
          <a:lstStyle/>
          <a:p>
            <a:pPr lvl="0"/>
            <a:r>
              <a:rPr lang="en-GB" dirty="0"/>
              <a:t>Click to edit the title text format</a:t>
            </a:r>
          </a:p>
        </p:txBody>
      </p:sp>
      <p:sp>
        <p:nvSpPr>
          <p:cNvPr id="12" name="Rectangle 2"/>
          <p:cNvSpPr>
            <a:spLocks noGrp="1" noChangeArrowheads="1"/>
          </p:cNvSpPr>
          <p:nvPr>
            <p:ph type="body" idx="1"/>
          </p:nvPr>
        </p:nvSpPr>
        <p:spPr bwMode="auto">
          <a:xfrm>
            <a:off x="285750" y="1214438"/>
            <a:ext cx="8531225" cy="4870450"/>
          </a:xfrm>
          <a:prstGeom prst="rect">
            <a:avLst/>
          </a:prstGeom>
          <a:noFill/>
          <a:ln w="9525">
            <a:noFill/>
            <a:round/>
            <a:headEnd/>
            <a:tailEnd/>
          </a:ln>
        </p:spPr>
        <p:txBody>
          <a:bodyPr vert="horz" wrap="square" lIns="90000" tIns="46800" rIns="90000" bIns="46800" numCol="1" anchor="t" anchorCtr="0" compatLnSpc="1">
            <a:prstTxWarp prst="textNoShape">
              <a:avLst/>
            </a:prstTxWarp>
          </a:bodyPr>
          <a:lstStyle/>
          <a:p>
            <a:pPr lvl="0"/>
            <a:r>
              <a:rPr lang="en-GB" dirty="0"/>
              <a:t>Click to edit the outline text format</a:t>
            </a:r>
          </a:p>
          <a:p>
            <a:pPr lvl="1"/>
            <a:r>
              <a:rPr lang="en-GB" dirty="0"/>
              <a:t>Second Outline Level</a:t>
            </a:r>
          </a:p>
          <a:p>
            <a:pPr lvl="2"/>
            <a:r>
              <a:rPr lang="en-GB" dirty="0"/>
              <a:t>Third Outline Level</a:t>
            </a:r>
          </a:p>
          <a:p>
            <a:pPr lvl="3"/>
            <a:r>
              <a:rPr lang="en-GB" dirty="0"/>
              <a:t>Fourth Outline Level</a:t>
            </a:r>
          </a:p>
          <a:p>
            <a:pPr lvl="4"/>
            <a:r>
              <a:rPr lang="en-GB" dirty="0"/>
              <a:t>Fifth Outline Level</a:t>
            </a:r>
          </a:p>
          <a:p>
            <a:pPr lvl="4"/>
            <a:r>
              <a:rPr lang="en-GB" dirty="0"/>
              <a:t>Sixth Outline Level</a:t>
            </a:r>
          </a:p>
          <a:p>
            <a:pPr lvl="4"/>
            <a:r>
              <a:rPr lang="en-GB" dirty="0"/>
              <a:t>Seventh Outline Level</a:t>
            </a:r>
          </a:p>
          <a:p>
            <a:pPr lvl="4"/>
            <a:r>
              <a:rPr lang="en-GB" dirty="0"/>
              <a:t>Eighth Outline Level</a:t>
            </a:r>
          </a:p>
          <a:p>
            <a:pPr lvl="4"/>
            <a:r>
              <a:rPr lang="en-GB" dirty="0"/>
              <a:t>Ninth Outline Level</a:t>
            </a:r>
          </a:p>
        </p:txBody>
      </p:sp>
      <p:sp>
        <p:nvSpPr>
          <p:cNvPr id="13" name="Rectangle 3"/>
          <p:cNvSpPr>
            <a:spLocks noGrp="1" noChangeArrowheads="1"/>
          </p:cNvSpPr>
          <p:nvPr>
            <p:ph type="dt" idx="2"/>
          </p:nvPr>
        </p:nvSpPr>
        <p:spPr bwMode="auto">
          <a:xfrm>
            <a:off x="457200" y="6353175"/>
            <a:ext cx="2092325" cy="371475"/>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a:buClrTx/>
              <a:buFontTx/>
              <a:buNone/>
              <a:defRPr>
                <a:solidFill>
                  <a:srgbClr val="000000"/>
                </a:solidFill>
              </a:defRPr>
            </a:lvl1pPr>
          </a:lstStyle>
          <a:p>
            <a:pPr defTabSz="457200">
              <a:defRPr/>
            </a:pPr>
            <a:endParaRPr lang="en-US" dirty="0"/>
          </a:p>
        </p:txBody>
      </p:sp>
      <p:sp>
        <p:nvSpPr>
          <p:cNvPr id="14" name="Text Box 4"/>
          <p:cNvSpPr txBox="1">
            <a:spLocks noChangeArrowheads="1"/>
          </p:cNvSpPr>
          <p:nvPr userDrawn="1"/>
        </p:nvSpPr>
        <p:spPr bwMode="auto">
          <a:xfrm>
            <a:off x="3124200" y="6354763"/>
            <a:ext cx="2895600" cy="368300"/>
          </a:xfrm>
          <a:prstGeom prst="rect">
            <a:avLst/>
          </a:prstGeom>
          <a:noFill/>
          <a:ln w="9525">
            <a:noFill/>
            <a:round/>
            <a:headEnd/>
            <a:tailEnd/>
          </a:ln>
          <a:effectLst/>
        </p:spPr>
        <p:txBody>
          <a:bodyPr wrap="none" anchor="ctr"/>
          <a:lstStyle/>
          <a:p>
            <a:pPr defTabSz="457200">
              <a:defRPr/>
            </a:pPr>
            <a:endParaRPr lang="en-SG" dirty="0">
              <a:solidFill>
                <a:prstClr val="black"/>
              </a:solidFill>
            </a:endParaRPr>
          </a:p>
        </p:txBody>
      </p:sp>
      <p:sp>
        <p:nvSpPr>
          <p:cNvPr id="15" name="Rectangle 5"/>
          <p:cNvSpPr>
            <a:spLocks noGrp="1" noChangeArrowheads="1"/>
          </p:cNvSpPr>
          <p:nvPr>
            <p:ph type="sldNum" idx="4"/>
          </p:nvPr>
        </p:nvSpPr>
        <p:spPr bwMode="auto">
          <a:xfrm>
            <a:off x="6553200" y="6353175"/>
            <a:ext cx="2092325" cy="371475"/>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a:buClrTx/>
              <a:buFontTx/>
              <a:buNone/>
              <a:defRPr>
                <a:solidFill>
                  <a:srgbClr val="000000"/>
                </a:solidFill>
              </a:defRPr>
            </a:lvl1pPr>
          </a:lstStyle>
          <a:p>
            <a:pPr defTabSz="457200">
              <a:defRPr/>
            </a:pPr>
            <a:fld id="{D605CA8D-3D6C-42DF-9A5B-66FCBCC600DC}" type="slidenum">
              <a:rPr lang="en-SG"/>
              <a:pPr defTabSz="457200">
                <a:defRPr/>
              </a:pPr>
              <a:t>‹#›</a:t>
            </a:fld>
            <a:endParaRPr lang="en-SG" dirty="0"/>
          </a:p>
        </p:txBody>
      </p:sp>
      <p:sp>
        <p:nvSpPr>
          <p:cNvPr id="16" name="Rectangle 6"/>
          <p:cNvSpPr>
            <a:spLocks noChangeArrowheads="1"/>
          </p:cNvSpPr>
          <p:nvPr userDrawn="1"/>
        </p:nvSpPr>
        <p:spPr bwMode="auto">
          <a:xfrm>
            <a:off x="0" y="0"/>
            <a:ext cx="9144000" cy="214313"/>
          </a:xfrm>
          <a:prstGeom prst="rect">
            <a:avLst/>
          </a:prstGeom>
          <a:solidFill>
            <a:srgbClr val="C00000"/>
          </a:solidFill>
          <a:ln w="9525">
            <a:noFill/>
            <a:round/>
            <a:headEnd/>
            <a:tailEnd/>
          </a:ln>
          <a:effectLst/>
        </p:spPr>
        <p:txBody>
          <a:bodyPr wrap="none" anchor="ctr"/>
          <a:lstStyle/>
          <a:p>
            <a:pPr algn="r" defTabSz="457200">
              <a:defRPr/>
            </a:pPr>
            <a:r>
              <a:rPr lang="en-SG" dirty="0" err="1">
                <a:solidFill>
                  <a:prstClr val="white"/>
                </a:solidFill>
              </a:rPr>
              <a:t>iAcademy</a:t>
            </a:r>
            <a:endParaRPr lang="en-SG" dirty="0">
              <a:solidFill>
                <a:prstClr val="white"/>
              </a:solidFill>
            </a:endParaRPr>
          </a:p>
        </p:txBody>
      </p:sp>
      <p:sp>
        <p:nvSpPr>
          <p:cNvPr id="17" name="Rectangle 7"/>
          <p:cNvSpPr>
            <a:spLocks noChangeArrowheads="1"/>
          </p:cNvSpPr>
          <p:nvPr userDrawn="1"/>
        </p:nvSpPr>
        <p:spPr bwMode="auto">
          <a:xfrm flipV="1">
            <a:off x="0" y="-1"/>
            <a:ext cx="7929586" cy="45719"/>
          </a:xfrm>
          <a:prstGeom prst="rect">
            <a:avLst/>
          </a:prstGeom>
          <a:solidFill>
            <a:srgbClr val="FFC000"/>
          </a:solidFill>
          <a:ln w="9525">
            <a:noFill/>
            <a:round/>
            <a:headEnd/>
            <a:tailEnd/>
          </a:ln>
          <a:effectLst/>
        </p:spPr>
        <p:txBody>
          <a:bodyPr wrap="none" anchor="ctr"/>
          <a:lstStyle/>
          <a:p>
            <a:pPr defTabSz="457200">
              <a:defRPr/>
            </a:pPr>
            <a:endParaRPr lang="en-SG" dirty="0">
              <a:solidFill>
                <a:prstClr val="black"/>
              </a:solidFill>
            </a:endParaRPr>
          </a:p>
        </p:txBody>
      </p:sp>
      <p:sp>
        <p:nvSpPr>
          <p:cNvPr id="18" name="Rectangle 6"/>
          <p:cNvSpPr>
            <a:spLocks noChangeArrowheads="1"/>
          </p:cNvSpPr>
          <p:nvPr userDrawn="1"/>
        </p:nvSpPr>
        <p:spPr bwMode="auto">
          <a:xfrm>
            <a:off x="-32" y="6643711"/>
            <a:ext cx="9144000" cy="214313"/>
          </a:xfrm>
          <a:prstGeom prst="rect">
            <a:avLst/>
          </a:prstGeom>
          <a:solidFill>
            <a:srgbClr val="C00000"/>
          </a:solidFill>
          <a:ln w="9525">
            <a:noFill/>
            <a:round/>
            <a:headEnd/>
            <a:tailEnd/>
          </a:ln>
          <a:effectLst/>
        </p:spPr>
        <p:txBody>
          <a:bodyPr wrap="none" anchor="ctr"/>
          <a:lstStyle/>
          <a:p>
            <a:pPr defTabSz="449263" fontAlgn="base">
              <a:spcBef>
                <a:spcPct val="0"/>
              </a:spcBef>
              <a:spcAft>
                <a:spcPct val="0"/>
              </a:spcAft>
              <a:buClr>
                <a:srgbClr val="000000"/>
              </a:buClr>
              <a:buSzPct val="100000"/>
              <a:buFont typeface="Times New Roman" pitchFamily="16" charset="0"/>
              <a:buNone/>
              <a:defRPr/>
            </a:pPr>
            <a:r>
              <a:rPr lang="en-SG" dirty="0" err="1">
                <a:solidFill>
                  <a:prstClr val="white"/>
                </a:solidFill>
              </a:rPr>
              <a:t>iAcademy</a:t>
            </a:r>
            <a:endParaRPr lang="en-SG" dirty="0">
              <a:solidFill>
                <a:prstClr val="white"/>
              </a:solidFill>
            </a:endParaRPr>
          </a:p>
        </p:txBody>
      </p:sp>
      <p:sp>
        <p:nvSpPr>
          <p:cNvPr id="19" name="Rectangle 7"/>
          <p:cNvSpPr>
            <a:spLocks noChangeArrowheads="1"/>
          </p:cNvSpPr>
          <p:nvPr userDrawn="1"/>
        </p:nvSpPr>
        <p:spPr bwMode="auto">
          <a:xfrm flipV="1">
            <a:off x="1214414" y="6786584"/>
            <a:ext cx="7929554" cy="71415"/>
          </a:xfrm>
          <a:prstGeom prst="rect">
            <a:avLst/>
          </a:prstGeom>
          <a:solidFill>
            <a:srgbClr val="FFC000"/>
          </a:solidFill>
          <a:ln w="9525">
            <a:noFill/>
            <a:round/>
            <a:headEnd/>
            <a:tailEnd/>
          </a:ln>
          <a:effectLst/>
        </p:spPr>
        <p:txBody>
          <a:bodyPr wrap="none" anchor="ctr"/>
          <a:lstStyle/>
          <a:p>
            <a:pPr defTabSz="457200">
              <a:defRPr/>
            </a:pPr>
            <a:endParaRPr lang="en-SG" dirty="0">
              <a:solidFill>
                <a:prstClr val="black"/>
              </a:solidFill>
            </a:endParaRPr>
          </a:p>
        </p:txBody>
      </p:sp>
    </p:spTree>
    <p:extLst>
      <p:ext uri="{BB962C8B-B14F-4D97-AF65-F5344CB8AC3E}">
        <p14:creationId xmlns:p14="http://schemas.microsoft.com/office/powerpoint/2010/main" val="1125711306"/>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Lst>
  <p:txStyles>
    <p:titleStyle>
      <a:lvl1pPr algn="l" defTabSz="914400" rtl="0" eaLnBrk="1" latinLnBrk="0" hangingPunct="1">
        <a:lnSpc>
          <a:spcPct val="90000"/>
        </a:lnSpc>
        <a:spcBef>
          <a:spcPct val="0"/>
        </a:spcBef>
        <a:buNone/>
        <a:defRPr sz="4400" kern="1200">
          <a:solidFill>
            <a:schemeClr val="tx1"/>
          </a:solidFill>
          <a:latin typeface="Calibri"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Calibri" pitchFamily="34" charset="0"/>
        <a:buChar char="-"/>
        <a:defRPr sz="2800" kern="1200">
          <a:solidFill>
            <a:schemeClr val="tx1"/>
          </a:solidFill>
          <a:latin typeface="+mn-lt"/>
          <a:ea typeface="+mn-ea"/>
          <a:cs typeface="+mn-cs"/>
        </a:defRPr>
      </a:lvl2pPr>
      <a:lvl3pPr marL="1371600" indent="-457200" algn="l" defTabSz="914400" rtl="0" eaLnBrk="1" latinLnBrk="0" hangingPunct="1">
        <a:lnSpc>
          <a:spcPct val="90000"/>
        </a:lnSpc>
        <a:spcBef>
          <a:spcPts val="500"/>
        </a:spcBef>
        <a:buFont typeface="Wingdings"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4"/>
          <p:cNvSpPr>
            <a:spLocks noGrp="1"/>
          </p:cNvSpPr>
          <p:nvPr>
            <p:ph type="ctrTitle"/>
          </p:nvPr>
        </p:nvSpPr>
        <p:spPr>
          <a:xfrm>
            <a:off x="685800" y="785794"/>
            <a:ext cx="7772400" cy="1470025"/>
          </a:xfrm>
        </p:spPr>
        <p:txBody>
          <a:bodyPr/>
          <a:lstStyle/>
          <a:p>
            <a:pPr algn="ctr"/>
            <a:r>
              <a:rPr lang="en-US" dirty="0"/>
              <a:t>Research and research process</a:t>
            </a:r>
            <a:endParaRPr lang="en-GB" dirty="0"/>
          </a:p>
        </p:txBody>
      </p:sp>
      <p:sp>
        <p:nvSpPr>
          <p:cNvPr id="10" name="Subtitle 5"/>
          <p:cNvSpPr>
            <a:spLocks noGrp="1"/>
          </p:cNvSpPr>
          <p:nvPr>
            <p:ph type="subTitle" idx="1"/>
          </p:nvPr>
        </p:nvSpPr>
        <p:spPr>
          <a:xfrm>
            <a:off x="357158" y="2684444"/>
            <a:ext cx="8358246" cy="2387629"/>
          </a:xfrm>
        </p:spPr>
        <p:txBody>
          <a:bodyPr/>
          <a:lstStyle/>
          <a:p>
            <a:r>
              <a:rPr lang="en-GB" dirty="0"/>
              <a:t>Research and Development Skills in Computing</a:t>
            </a:r>
          </a:p>
          <a:p>
            <a:r>
              <a:rPr lang="en-US" sz="2800" dirty="0"/>
              <a:t>Lecture 2</a:t>
            </a:r>
          </a:p>
          <a:p>
            <a:endParaRPr lang="en-US" sz="2800" dirty="0"/>
          </a:p>
          <a:p>
            <a:r>
              <a:rPr lang="en-US" sz="2400" i="1" dirty="0"/>
              <a:t>Understanding research and the different process involved in it</a:t>
            </a:r>
            <a:endParaRPr lang="en-GB" sz="2400" i="1" dirty="0"/>
          </a:p>
        </p:txBody>
      </p:sp>
      <p:sp>
        <p:nvSpPr>
          <p:cNvPr id="11" name="TextBox 3"/>
          <p:cNvSpPr txBox="1">
            <a:spLocks noChangeArrowheads="1"/>
          </p:cNvSpPr>
          <p:nvPr/>
        </p:nvSpPr>
        <p:spPr bwMode="auto">
          <a:xfrm>
            <a:off x="142844" y="5214950"/>
            <a:ext cx="8786874" cy="1285884"/>
          </a:xfrm>
          <a:prstGeom prst="rect">
            <a:avLst/>
          </a:prstGeom>
          <a:ln w="9525"/>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p>
            <a:pPr algn="just" defTabSz="457200">
              <a:spcBef>
                <a:spcPct val="20000"/>
              </a:spcBef>
            </a:pPr>
            <a:r>
              <a:rPr lang="en-GB" sz="1400" dirty="0">
                <a:solidFill>
                  <a:prstClr val="black"/>
                </a:solidFill>
              </a:rPr>
              <a:t>This lecture and its associated materials have been produced by </a:t>
            </a:r>
            <a:r>
              <a:rPr lang="en-US" sz="1400" dirty="0">
                <a:solidFill>
                  <a:prstClr val="black"/>
                </a:solidFill>
              </a:rPr>
              <a:t>Mr. </a:t>
            </a:r>
            <a:r>
              <a:rPr lang="en-US" sz="1400" dirty="0" err="1">
                <a:solidFill>
                  <a:prstClr val="black"/>
                </a:solidFill>
              </a:rPr>
              <a:t>Sanjiv</a:t>
            </a:r>
            <a:r>
              <a:rPr lang="en-US" sz="1400" dirty="0">
                <a:solidFill>
                  <a:prstClr val="black"/>
                </a:solidFill>
              </a:rPr>
              <a:t> </a:t>
            </a:r>
            <a:r>
              <a:rPr lang="en-US" sz="1400" dirty="0" err="1">
                <a:solidFill>
                  <a:prstClr val="black"/>
                </a:solidFill>
              </a:rPr>
              <a:t>Udash</a:t>
            </a:r>
            <a:r>
              <a:rPr lang="en-US" sz="1400" dirty="0">
                <a:solidFill>
                  <a:prstClr val="black"/>
                </a:solidFill>
              </a:rPr>
              <a:t> (MSc, University of Northampton) </a:t>
            </a:r>
            <a:r>
              <a:rPr lang="en-GB" sz="1400" dirty="0">
                <a:solidFill>
                  <a:prstClr val="black"/>
                </a:solidFill>
              </a:rPr>
              <a:t>of </a:t>
            </a:r>
            <a:r>
              <a:rPr lang="en-GB" sz="1400" dirty="0" err="1">
                <a:solidFill>
                  <a:prstClr val="black"/>
                </a:solidFill>
              </a:rPr>
              <a:t>iAcademy</a:t>
            </a:r>
            <a:r>
              <a:rPr lang="en-GB" sz="1400" dirty="0">
                <a:solidFill>
                  <a:prstClr val="black"/>
                </a:solidFill>
              </a:rPr>
              <a:t> for the purposes of lecturing on the above described subject and the material should be viewed in this context. The work does not constitute professional advice and no warranties are made regarding the information presented. The Author and </a:t>
            </a:r>
            <a:r>
              <a:rPr lang="en-GB" sz="1400" dirty="0" err="1">
                <a:solidFill>
                  <a:prstClr val="black"/>
                </a:solidFill>
              </a:rPr>
              <a:t>iAcademy</a:t>
            </a:r>
            <a:r>
              <a:rPr lang="en-GB" sz="1400" dirty="0">
                <a:solidFill>
                  <a:prstClr val="black"/>
                </a:solidFill>
              </a:rPr>
              <a:t> do not accept any liability for the consequences of any action taken as a result of the work or any recommendations made or inferred. Permission to use any of these materials must be first granted by </a:t>
            </a:r>
            <a:r>
              <a:rPr lang="en-GB" sz="1400" dirty="0" err="1">
                <a:solidFill>
                  <a:prstClr val="black"/>
                </a:solidFill>
              </a:rPr>
              <a:t>iAcademy</a:t>
            </a:r>
            <a:r>
              <a:rPr lang="en-GB" sz="1400" dirty="0">
                <a:solidFill>
                  <a:prstClr val="black"/>
                </a:solidFill>
              </a:rPr>
              <a:t>.</a:t>
            </a:r>
            <a:endParaRPr lang="en-US" sz="1400" dirty="0">
              <a:solidFill>
                <a:prstClr val="black"/>
              </a:solidFill>
            </a:endParaRPr>
          </a:p>
        </p:txBody>
      </p:sp>
    </p:spTree>
    <p:extLst>
      <p:ext uri="{BB962C8B-B14F-4D97-AF65-F5344CB8AC3E}">
        <p14:creationId xmlns:p14="http://schemas.microsoft.com/office/powerpoint/2010/main" val="41972173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pitchFamily="34" charset="0"/>
              </a:rPr>
              <a:t>Agenda</a:t>
            </a:r>
            <a:r>
              <a:rPr lang="en-US" b="1" dirty="0"/>
              <a:t>	</a:t>
            </a:r>
            <a:endParaRPr lang="en-GB" b="1" dirty="0"/>
          </a:p>
        </p:txBody>
      </p:sp>
      <p:sp>
        <p:nvSpPr>
          <p:cNvPr id="3" name="Content Placeholder 2"/>
          <p:cNvSpPr>
            <a:spLocks noGrp="1"/>
          </p:cNvSpPr>
          <p:nvPr>
            <p:ph idx="1"/>
          </p:nvPr>
        </p:nvSpPr>
        <p:spPr>
          <a:xfrm>
            <a:off x="285750" y="1030288"/>
            <a:ext cx="8531225" cy="4870450"/>
          </a:xfrm>
        </p:spPr>
        <p:txBody>
          <a:bodyPr/>
          <a:lstStyle/>
          <a:p>
            <a:pPr marL="342900" indent="-342900" algn="just" defTabSz="449263" eaLnBrk="0" fontAlgn="base" hangingPunct="0">
              <a:spcBef>
                <a:spcPts val="700"/>
              </a:spcBef>
              <a:spcAft>
                <a:spcPct val="0"/>
              </a:spcAft>
              <a:buClr>
                <a:srgbClr val="000000"/>
              </a:buClr>
              <a:buSzPct val="100000"/>
              <a:buFont typeface="Times New Roman" pitchFamily="16" charset="0"/>
              <a:buChar char="•"/>
            </a:pPr>
            <a:r>
              <a:rPr lang="en-US" sz="3200" dirty="0">
                <a:solidFill>
                  <a:srgbClr val="000000"/>
                </a:solidFill>
                <a:ea typeface="宋体" pitchFamily="2" charset="-122"/>
              </a:rPr>
              <a:t>Week 2 Lecture Coverage</a:t>
            </a:r>
          </a:p>
          <a:p>
            <a:pPr lvl="1" algn="just"/>
            <a:r>
              <a:rPr lang="en-GB" dirty="0"/>
              <a:t>What is research?</a:t>
            </a:r>
          </a:p>
          <a:p>
            <a:pPr lvl="1" algn="just"/>
            <a:r>
              <a:rPr lang="en-GB" dirty="0"/>
              <a:t>The research process</a:t>
            </a:r>
          </a:p>
          <a:p>
            <a:pPr lvl="1" algn="just"/>
            <a:r>
              <a:rPr lang="en-GB" dirty="0"/>
              <a:t>Research methods</a:t>
            </a:r>
          </a:p>
        </p:txBody>
      </p:sp>
    </p:spTree>
    <p:extLst>
      <p:ext uri="{BB962C8B-B14F-4D97-AF65-F5344CB8AC3E}">
        <p14:creationId xmlns:p14="http://schemas.microsoft.com/office/powerpoint/2010/main" val="2894713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11120" y="2195067"/>
            <a:ext cx="8501122" cy="2554545"/>
          </a:xfrm>
          <a:prstGeom prst="rect">
            <a:avLst/>
          </a:prstGeom>
          <a:noFill/>
          <a:ln w="63500">
            <a:solidFill>
              <a:srgbClr val="C00000"/>
            </a:solidFill>
          </a:ln>
        </p:spPr>
        <p:txBody>
          <a:bodyPr wrap="square" rtlCol="0">
            <a:spAutoFit/>
          </a:bodyPr>
          <a:lstStyle/>
          <a:p>
            <a:pPr algn="ctr"/>
            <a:endParaRPr lang="en-US" sz="4000" b="1" dirty="0">
              <a:solidFill>
                <a:prstClr val="black"/>
              </a:solidFill>
            </a:endParaRPr>
          </a:p>
          <a:p>
            <a:pPr algn="ctr"/>
            <a:r>
              <a:rPr lang="en-US" sz="4000" b="1" dirty="0">
                <a:solidFill>
                  <a:prstClr val="black"/>
                </a:solidFill>
              </a:rPr>
              <a:t>But first let’s review what have we learned from week 1</a:t>
            </a:r>
          </a:p>
          <a:p>
            <a:pPr algn="ctr"/>
            <a:endParaRPr lang="en-US" sz="4000" b="1" dirty="0">
              <a:solidFill>
                <a:prstClr val="black"/>
              </a:solidFill>
            </a:endParaRPr>
          </a:p>
        </p:txBody>
      </p:sp>
    </p:spTree>
    <p:extLst>
      <p:ext uri="{BB962C8B-B14F-4D97-AF65-F5344CB8AC3E}">
        <p14:creationId xmlns:p14="http://schemas.microsoft.com/office/powerpoint/2010/main" val="3200791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Research</a:t>
            </a:r>
          </a:p>
        </p:txBody>
      </p:sp>
      <p:sp>
        <p:nvSpPr>
          <p:cNvPr id="3" name="Content Placeholder 2"/>
          <p:cNvSpPr>
            <a:spLocks noGrp="1"/>
          </p:cNvSpPr>
          <p:nvPr>
            <p:ph idx="1"/>
          </p:nvPr>
        </p:nvSpPr>
        <p:spPr/>
        <p:txBody>
          <a:bodyPr>
            <a:normAutofit/>
          </a:bodyPr>
          <a:lstStyle/>
          <a:p>
            <a:pPr algn="just"/>
            <a:r>
              <a:rPr lang="en-GB" dirty="0"/>
              <a:t>As defined by the </a:t>
            </a:r>
            <a:r>
              <a:rPr lang="en-US" dirty="0"/>
              <a:t>Higher Education Funding Council for England (HECFE), research is an </a:t>
            </a:r>
            <a:r>
              <a:rPr lang="en-GB" dirty="0"/>
              <a:t>‘</a:t>
            </a:r>
            <a:r>
              <a:rPr lang="en-GB" i="1" dirty="0"/>
              <a:t>Original</a:t>
            </a:r>
            <a:r>
              <a:rPr lang="en-GB" dirty="0"/>
              <a:t> investigation undertaken in order to </a:t>
            </a:r>
            <a:r>
              <a:rPr lang="en-GB" i="1" dirty="0"/>
              <a:t>gain</a:t>
            </a:r>
            <a:r>
              <a:rPr lang="en-GB" dirty="0"/>
              <a:t> </a:t>
            </a:r>
            <a:r>
              <a:rPr lang="en-GB" i="1" dirty="0"/>
              <a:t>knowledge</a:t>
            </a:r>
            <a:r>
              <a:rPr lang="en-GB" dirty="0"/>
              <a:t> and </a:t>
            </a:r>
            <a:r>
              <a:rPr lang="en-GB" i="1" dirty="0"/>
              <a:t>understanding</a:t>
            </a:r>
            <a:r>
              <a:rPr lang="en-GB" dirty="0"/>
              <a:t>’</a:t>
            </a:r>
          </a:p>
          <a:p>
            <a:pPr algn="just"/>
            <a:r>
              <a:rPr lang="en-US" dirty="0"/>
              <a:t>Three key terms in this definition have been italicized for emphasis; </a:t>
            </a:r>
          </a:p>
          <a:p>
            <a:pPr marL="728663" lvl="1" indent="-385763" algn="just">
              <a:buFont typeface="+mj-lt"/>
              <a:buAutoNum type="arabicPeriod"/>
            </a:pPr>
            <a:r>
              <a:rPr lang="en-US" dirty="0"/>
              <a:t>original, </a:t>
            </a:r>
          </a:p>
          <a:p>
            <a:pPr marL="728663" lvl="1" indent="-385763" algn="just">
              <a:buFont typeface="+mj-lt"/>
              <a:buAutoNum type="arabicPeriod"/>
            </a:pPr>
            <a:r>
              <a:rPr lang="en-US" dirty="0"/>
              <a:t>gain knowledge and </a:t>
            </a:r>
          </a:p>
          <a:p>
            <a:pPr marL="728663" lvl="1" indent="-385763" algn="just">
              <a:buFont typeface="+mj-lt"/>
              <a:buAutoNum type="arabicPeriod"/>
            </a:pPr>
            <a:r>
              <a:rPr lang="en-US" dirty="0"/>
              <a:t>understanding</a:t>
            </a:r>
            <a:endParaRPr lang="en-GB" dirty="0"/>
          </a:p>
        </p:txBody>
      </p:sp>
    </p:spTree>
    <p:extLst>
      <p:ext uri="{BB962C8B-B14F-4D97-AF65-F5344CB8AC3E}">
        <p14:creationId xmlns:p14="http://schemas.microsoft.com/office/powerpoint/2010/main" val="23089301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mn-lt"/>
              </a:rPr>
              <a:t>Review of Week 1</a:t>
            </a:r>
          </a:p>
        </p:txBody>
      </p:sp>
      <p:sp>
        <p:nvSpPr>
          <p:cNvPr id="3" name="Content Placeholder 2"/>
          <p:cNvSpPr>
            <a:spLocks noGrp="1"/>
          </p:cNvSpPr>
          <p:nvPr>
            <p:ph idx="1"/>
          </p:nvPr>
        </p:nvSpPr>
        <p:spPr/>
        <p:txBody>
          <a:bodyPr>
            <a:normAutofit/>
          </a:bodyPr>
          <a:lstStyle/>
          <a:p>
            <a:pPr algn="just"/>
            <a:r>
              <a:rPr lang="en-US" sz="3500" dirty="0"/>
              <a:t>From first week we should have understood:</a:t>
            </a:r>
          </a:p>
          <a:p>
            <a:pPr lvl="1" algn="just"/>
            <a:r>
              <a:rPr lang="en-GB" dirty="0"/>
              <a:t>Project can be defined as something which has a beginning and an end</a:t>
            </a:r>
          </a:p>
          <a:p>
            <a:pPr lvl="1" algn="just"/>
            <a:r>
              <a:rPr lang="en-GB" dirty="0"/>
              <a:t>Projects can be of the following nature: Research-based, Development, Evaluation, Industry-based, Problem Solving</a:t>
            </a:r>
          </a:p>
          <a:p>
            <a:pPr lvl="1" algn="just"/>
            <a:r>
              <a:rPr lang="en-GB" dirty="0"/>
              <a:t>There are various stakeholders in your project: </a:t>
            </a:r>
            <a:r>
              <a:rPr lang="en-US" dirty="0"/>
              <a:t>supervisor(s), your user(s), your client(s), your examiner(s) and any software testers/evaluators you might employ as part of your system evaluation</a:t>
            </a:r>
          </a:p>
          <a:p>
            <a:pPr algn="just"/>
            <a:endParaRPr lang="en-GB" dirty="0"/>
          </a:p>
        </p:txBody>
      </p:sp>
    </p:spTree>
    <p:extLst>
      <p:ext uri="{BB962C8B-B14F-4D97-AF65-F5344CB8AC3E}">
        <p14:creationId xmlns:p14="http://schemas.microsoft.com/office/powerpoint/2010/main" val="2963105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ttp://s.isha.ws/blog/wp-content/uploads/2013/08/confusion-clarity-spiritual-path.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787" y="1152939"/>
            <a:ext cx="8480425" cy="4770239"/>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p:cNvSpPr>
            <a:spLocks noGrp="1"/>
          </p:cNvSpPr>
          <p:nvPr>
            <p:ph type="title"/>
          </p:nvPr>
        </p:nvSpPr>
        <p:spPr/>
        <p:txBody>
          <a:bodyPr/>
          <a:lstStyle/>
          <a:p>
            <a:r>
              <a:rPr lang="en-US" b="1" dirty="0">
                <a:latin typeface="+mn-lt"/>
              </a:rPr>
              <a:t>Any Confusion?</a:t>
            </a:r>
          </a:p>
        </p:txBody>
      </p:sp>
    </p:spTree>
    <p:extLst>
      <p:ext uri="{BB962C8B-B14F-4D97-AF65-F5344CB8AC3E}">
        <p14:creationId xmlns:p14="http://schemas.microsoft.com/office/powerpoint/2010/main" val="19759705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1. Originality (1)</a:t>
            </a:r>
          </a:p>
        </p:txBody>
      </p:sp>
      <p:sp>
        <p:nvSpPr>
          <p:cNvPr id="3" name="Content Placeholder 2"/>
          <p:cNvSpPr>
            <a:spLocks noGrp="1"/>
          </p:cNvSpPr>
          <p:nvPr>
            <p:ph idx="1"/>
          </p:nvPr>
        </p:nvSpPr>
        <p:spPr/>
        <p:txBody>
          <a:bodyPr>
            <a:noAutofit/>
          </a:bodyPr>
          <a:lstStyle/>
          <a:p>
            <a:r>
              <a:rPr lang="en-US" dirty="0"/>
              <a:t>Originality is doing something that has not been done before. </a:t>
            </a:r>
          </a:p>
          <a:p>
            <a:r>
              <a:rPr lang="en-US" dirty="0"/>
              <a:t>It is important to discuss how originality relates to projects. </a:t>
            </a:r>
          </a:p>
          <a:p>
            <a:pPr lvl="1"/>
            <a:r>
              <a:rPr lang="en-US" dirty="0"/>
              <a:t>What can you do that is original? </a:t>
            </a:r>
          </a:p>
          <a:p>
            <a:pPr lvl="1"/>
            <a:r>
              <a:rPr lang="en-US" dirty="0"/>
              <a:t>What type of things can you produce that are original?</a:t>
            </a:r>
          </a:p>
          <a:p>
            <a:r>
              <a:rPr lang="en-US" dirty="0"/>
              <a:t>You can be original in two ways. </a:t>
            </a:r>
          </a:p>
          <a:p>
            <a:pPr lvl="1"/>
            <a:r>
              <a:rPr lang="en-US" dirty="0"/>
              <a:t>First, you can do something that someone has done before but using a different technique or approach. </a:t>
            </a:r>
          </a:p>
          <a:p>
            <a:pPr lvl="1"/>
            <a:r>
              <a:rPr lang="en-US" dirty="0"/>
              <a:t>Second, you can produce or develop something that has not been produced before.</a:t>
            </a:r>
          </a:p>
          <a:p>
            <a:endParaRPr lang="en-GB" dirty="0"/>
          </a:p>
        </p:txBody>
      </p:sp>
    </p:spTree>
    <p:extLst>
      <p:ext uri="{BB962C8B-B14F-4D97-AF65-F5344CB8AC3E}">
        <p14:creationId xmlns:p14="http://schemas.microsoft.com/office/powerpoint/2010/main" val="2453660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1. Originality (2)</a:t>
            </a:r>
          </a:p>
        </p:txBody>
      </p:sp>
      <p:sp>
        <p:nvSpPr>
          <p:cNvPr id="3" name="Content Placeholder 2"/>
          <p:cNvSpPr>
            <a:spLocks noGrp="1"/>
          </p:cNvSpPr>
          <p:nvPr>
            <p:ph idx="1"/>
          </p:nvPr>
        </p:nvSpPr>
        <p:spPr/>
        <p:txBody>
          <a:bodyPr>
            <a:noAutofit/>
          </a:bodyPr>
          <a:lstStyle/>
          <a:p>
            <a:r>
              <a:rPr lang="en-US" dirty="0"/>
              <a:t>In terms of originality in the way you do things, identifies a number of areas in which your project can be original:</a:t>
            </a:r>
          </a:p>
          <a:p>
            <a:pPr lvl="1"/>
            <a:r>
              <a:rPr lang="en-US" b="1" dirty="0"/>
              <a:t>Tools, techniques, procedures and methods. </a:t>
            </a:r>
            <a:r>
              <a:rPr lang="en-US" dirty="0"/>
              <a:t>You may apply new tools and techniques to existing problems or try new procedures and methods in contexts where they have not been applied before. </a:t>
            </a:r>
          </a:p>
          <a:p>
            <a:pPr lvl="1"/>
            <a:r>
              <a:rPr lang="en-US" b="1" dirty="0"/>
              <a:t>Exploring the unknown.</a:t>
            </a:r>
            <a:r>
              <a:rPr lang="en-US" dirty="0"/>
              <a:t> Although rare, you may investigate a field that no one has thought to investigate before. </a:t>
            </a:r>
          </a:p>
          <a:p>
            <a:pPr lvl="1"/>
            <a:endParaRPr lang="en-US" dirty="0"/>
          </a:p>
        </p:txBody>
      </p:sp>
    </p:spTree>
    <p:extLst>
      <p:ext uri="{BB962C8B-B14F-4D97-AF65-F5344CB8AC3E}">
        <p14:creationId xmlns:p14="http://schemas.microsoft.com/office/powerpoint/2010/main" val="3861813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1. Originality (3)</a:t>
            </a:r>
          </a:p>
        </p:txBody>
      </p:sp>
      <p:sp>
        <p:nvSpPr>
          <p:cNvPr id="3" name="Content Placeholder 2"/>
          <p:cNvSpPr>
            <a:spLocks noGrp="1"/>
          </p:cNvSpPr>
          <p:nvPr>
            <p:ph idx="1"/>
          </p:nvPr>
        </p:nvSpPr>
        <p:spPr/>
        <p:txBody>
          <a:bodyPr>
            <a:noAutofit/>
          </a:bodyPr>
          <a:lstStyle/>
          <a:p>
            <a:pPr lvl="1"/>
            <a:r>
              <a:rPr lang="en-US" b="1" dirty="0"/>
              <a:t>Exploring the unanticipated.</a:t>
            </a:r>
            <a:r>
              <a:rPr lang="en-US" dirty="0"/>
              <a:t> Although you may investigate a field of research that has been looked at many times before, you may come across unexpected results or exciting new directions as yet unexplored. </a:t>
            </a:r>
          </a:p>
          <a:p>
            <a:pPr lvl="1"/>
            <a:r>
              <a:rPr lang="en-US" b="1" dirty="0"/>
              <a:t>The use of data.</a:t>
            </a:r>
            <a:r>
              <a:rPr lang="en-US" dirty="0"/>
              <a:t> You can interpret data in different ways, use them in new ways or apply them in alternative areas that have not yet been investigated.</a:t>
            </a:r>
          </a:p>
        </p:txBody>
      </p:sp>
    </p:spTree>
    <p:extLst>
      <p:ext uri="{BB962C8B-B14F-4D97-AF65-F5344CB8AC3E}">
        <p14:creationId xmlns:p14="http://schemas.microsoft.com/office/powerpoint/2010/main" val="2655770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2. Gain/contribution</a:t>
            </a:r>
          </a:p>
        </p:txBody>
      </p:sp>
      <p:sp>
        <p:nvSpPr>
          <p:cNvPr id="3" name="Content Placeholder 2"/>
          <p:cNvSpPr>
            <a:spLocks noGrp="1"/>
          </p:cNvSpPr>
          <p:nvPr>
            <p:ph idx="1"/>
          </p:nvPr>
        </p:nvSpPr>
        <p:spPr/>
        <p:txBody>
          <a:bodyPr>
            <a:normAutofit/>
          </a:bodyPr>
          <a:lstStyle/>
          <a:p>
            <a:pPr algn="just"/>
            <a:r>
              <a:rPr lang="en-US" dirty="0"/>
              <a:t>‘Gain’ is, perhaps, an unfortunate term in the HEFCE definition because it does not allude to the fact that research should actually lead to a contribution to knowledge. </a:t>
            </a:r>
          </a:p>
          <a:p>
            <a:pPr algn="just"/>
            <a:r>
              <a:rPr lang="en-US" dirty="0"/>
              <a:t>It is all very well performing an exclusive piece of research and learning something new for ourselves, but unless you can disseminate this knowledge to others, the results of your research are somewhat wasted. </a:t>
            </a:r>
          </a:p>
          <a:p>
            <a:pPr algn="just"/>
            <a:endParaRPr lang="en-US" dirty="0"/>
          </a:p>
        </p:txBody>
      </p:sp>
    </p:spTree>
    <p:extLst>
      <p:ext uri="{BB962C8B-B14F-4D97-AF65-F5344CB8AC3E}">
        <p14:creationId xmlns:p14="http://schemas.microsoft.com/office/powerpoint/2010/main" val="18208587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3. Knowledge and understanding</a:t>
            </a:r>
          </a:p>
        </p:txBody>
      </p:sp>
      <p:sp>
        <p:nvSpPr>
          <p:cNvPr id="3" name="Content Placeholder 2"/>
          <p:cNvSpPr>
            <a:spLocks noGrp="1"/>
          </p:cNvSpPr>
          <p:nvPr>
            <p:ph idx="1"/>
          </p:nvPr>
        </p:nvSpPr>
        <p:spPr/>
        <p:txBody>
          <a:bodyPr>
            <a:normAutofit/>
          </a:bodyPr>
          <a:lstStyle/>
          <a:p>
            <a:r>
              <a:rPr lang="en-US" dirty="0"/>
              <a:t>To explain what is meant by knowledge, it will be discussed in terms of a hierarchy consisting of:</a:t>
            </a:r>
          </a:p>
          <a:p>
            <a:pPr lvl="1"/>
            <a:r>
              <a:rPr lang="en-US" dirty="0"/>
              <a:t>data, </a:t>
            </a:r>
          </a:p>
          <a:p>
            <a:pPr lvl="1"/>
            <a:r>
              <a:rPr lang="en-US" dirty="0"/>
              <a:t>information, </a:t>
            </a:r>
          </a:p>
          <a:p>
            <a:pPr lvl="1"/>
            <a:r>
              <a:rPr lang="en-US" dirty="0"/>
              <a:t>knowledge and </a:t>
            </a:r>
          </a:p>
          <a:p>
            <a:pPr lvl="1"/>
            <a:r>
              <a:rPr lang="en-US" dirty="0"/>
              <a:t>Wisdom</a:t>
            </a:r>
          </a:p>
          <a:p>
            <a:pPr lvl="1"/>
            <a:r>
              <a:rPr lang="en-US" dirty="0"/>
              <a:t>theory</a:t>
            </a:r>
            <a:endParaRPr lang="en-GB" dirty="0"/>
          </a:p>
        </p:txBody>
      </p:sp>
    </p:spTree>
    <p:extLst>
      <p:ext uri="{BB962C8B-B14F-4D97-AF65-F5344CB8AC3E}">
        <p14:creationId xmlns:p14="http://schemas.microsoft.com/office/powerpoint/2010/main" val="19762624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3.1 Data</a:t>
            </a:r>
          </a:p>
        </p:txBody>
      </p:sp>
      <p:sp>
        <p:nvSpPr>
          <p:cNvPr id="3" name="Content Placeholder 2"/>
          <p:cNvSpPr>
            <a:spLocks noGrp="1"/>
          </p:cNvSpPr>
          <p:nvPr>
            <p:ph idx="1"/>
          </p:nvPr>
        </p:nvSpPr>
        <p:spPr/>
        <p:txBody>
          <a:bodyPr/>
          <a:lstStyle/>
          <a:p>
            <a:pPr algn="just"/>
            <a:r>
              <a:rPr lang="en-US" dirty="0"/>
              <a:t>Data are the factual elements that describe objects or events. </a:t>
            </a:r>
          </a:p>
          <a:p>
            <a:pPr algn="just"/>
            <a:r>
              <a:rPr lang="en-US" dirty="0"/>
              <a:t>They represent the raw numbers and raw text you gather from your investigations. </a:t>
            </a:r>
          </a:p>
          <a:p>
            <a:pPr algn="just"/>
            <a:r>
              <a:rPr lang="en-US" dirty="0"/>
              <a:t>For example, as part of your research project, you may need to gather rainfall data from various sites around the country.</a:t>
            </a:r>
          </a:p>
          <a:p>
            <a:pPr algn="just"/>
            <a:r>
              <a:rPr lang="en-US" dirty="0"/>
              <a:t>These data, providing daily rainfall totals at 50 sites, are gathered as raw numbers that mean virtually nothing as they stand.</a:t>
            </a:r>
            <a:endParaRPr lang="en-GB" dirty="0"/>
          </a:p>
        </p:txBody>
      </p:sp>
    </p:spTree>
    <p:extLst>
      <p:ext uri="{BB962C8B-B14F-4D97-AF65-F5344CB8AC3E}">
        <p14:creationId xmlns:p14="http://schemas.microsoft.com/office/powerpoint/2010/main" val="24750914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3.2 Information (1)</a:t>
            </a:r>
          </a:p>
        </p:txBody>
      </p:sp>
      <p:sp>
        <p:nvSpPr>
          <p:cNvPr id="3" name="Content Placeholder 2"/>
          <p:cNvSpPr>
            <a:spLocks noGrp="1"/>
          </p:cNvSpPr>
          <p:nvPr>
            <p:ph idx="1"/>
          </p:nvPr>
        </p:nvSpPr>
        <p:spPr/>
        <p:txBody>
          <a:bodyPr>
            <a:noAutofit/>
          </a:bodyPr>
          <a:lstStyle/>
          <a:p>
            <a:pPr algn="just"/>
            <a:r>
              <a:rPr lang="en-US" dirty="0"/>
              <a:t>Information represents data that have been processed in order to provide you with some insight into their meaning. </a:t>
            </a:r>
          </a:p>
          <a:p>
            <a:pPr algn="just"/>
            <a:r>
              <a:rPr lang="en-US" dirty="0"/>
              <a:t>In other words, the data have been analyzed, summarized and processed into a more understandable and useful format.</a:t>
            </a:r>
          </a:p>
          <a:p>
            <a:pPr algn="just"/>
            <a:r>
              <a:rPr lang="en-US" dirty="0"/>
              <a:t>In this form, information can be passed to other people; for example, in books, articles, recordings, speech and so on</a:t>
            </a:r>
          </a:p>
        </p:txBody>
      </p:sp>
    </p:spTree>
    <p:extLst>
      <p:ext uri="{BB962C8B-B14F-4D97-AF65-F5344CB8AC3E}">
        <p14:creationId xmlns:p14="http://schemas.microsoft.com/office/powerpoint/2010/main" val="41515267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3.2 Information (2)</a:t>
            </a:r>
          </a:p>
        </p:txBody>
      </p:sp>
      <p:sp>
        <p:nvSpPr>
          <p:cNvPr id="3" name="Content Placeholder 2"/>
          <p:cNvSpPr>
            <a:spLocks noGrp="1"/>
          </p:cNvSpPr>
          <p:nvPr>
            <p:ph idx="1"/>
          </p:nvPr>
        </p:nvSpPr>
        <p:spPr/>
        <p:txBody>
          <a:bodyPr>
            <a:noAutofit/>
          </a:bodyPr>
          <a:lstStyle/>
          <a:p>
            <a:pPr algn="just"/>
            <a:r>
              <a:rPr lang="en-GB" dirty="0"/>
              <a:t>For example, as </a:t>
            </a:r>
            <a:r>
              <a:rPr lang="en-US" dirty="0"/>
              <a:t>part of your research project, you may need to gather rainfall data from various sites around the country. </a:t>
            </a:r>
          </a:p>
          <a:p>
            <a:pPr algn="just"/>
            <a:r>
              <a:rPr lang="en-US" dirty="0"/>
              <a:t>Converting your rainfall data into information may lead to graphs summarizing monthly totals, charts presenting seasonal fluctuations and text or tables summarizing average daily rainfall at different sites. </a:t>
            </a:r>
          </a:p>
          <a:p>
            <a:pPr algn="just"/>
            <a:r>
              <a:rPr lang="en-US" dirty="0"/>
              <a:t>In these formats the data have some meaning and you now have some insight into what these data represent</a:t>
            </a:r>
            <a:endParaRPr lang="en-GB" dirty="0"/>
          </a:p>
        </p:txBody>
      </p:sp>
    </p:spTree>
    <p:extLst>
      <p:ext uri="{BB962C8B-B14F-4D97-AF65-F5344CB8AC3E}">
        <p14:creationId xmlns:p14="http://schemas.microsoft.com/office/powerpoint/2010/main" val="1887289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3.3 Knowledge (1)</a:t>
            </a:r>
          </a:p>
        </p:txBody>
      </p:sp>
      <p:sp>
        <p:nvSpPr>
          <p:cNvPr id="3" name="Content Placeholder 2"/>
          <p:cNvSpPr>
            <a:spLocks noGrp="1"/>
          </p:cNvSpPr>
          <p:nvPr>
            <p:ph idx="1"/>
          </p:nvPr>
        </p:nvSpPr>
        <p:spPr/>
        <p:txBody>
          <a:bodyPr>
            <a:noAutofit/>
          </a:bodyPr>
          <a:lstStyle/>
          <a:p>
            <a:pPr algn="just"/>
            <a:r>
              <a:rPr lang="en-US" dirty="0"/>
              <a:t>Knowledge is your higher-level understanding of things. </a:t>
            </a:r>
          </a:p>
          <a:p>
            <a:pPr algn="just"/>
            <a:r>
              <a:rPr lang="en-US" dirty="0"/>
              <a:t>While information provides you with an idea of the ‘what’ (i.e., what is happening in the real world), knowledge represents your understanding of the ‘why’. </a:t>
            </a:r>
          </a:p>
          <a:p>
            <a:pPr algn="just"/>
            <a:r>
              <a:rPr lang="en-US" dirty="0"/>
              <a:t>Knowledge is your personal interpretation of what you gain from information as rules, patterns, decisions, models, ideas and so on. </a:t>
            </a:r>
          </a:p>
        </p:txBody>
      </p:sp>
    </p:spTree>
    <p:extLst>
      <p:ext uri="{BB962C8B-B14F-4D97-AF65-F5344CB8AC3E}">
        <p14:creationId xmlns:p14="http://schemas.microsoft.com/office/powerpoint/2010/main" val="39866409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3.3 Knowledge (2)</a:t>
            </a:r>
          </a:p>
        </p:txBody>
      </p:sp>
      <p:sp>
        <p:nvSpPr>
          <p:cNvPr id="3" name="Content Placeholder 2"/>
          <p:cNvSpPr>
            <a:spLocks noGrp="1"/>
          </p:cNvSpPr>
          <p:nvPr>
            <p:ph idx="1"/>
          </p:nvPr>
        </p:nvSpPr>
        <p:spPr/>
        <p:txBody>
          <a:bodyPr>
            <a:noAutofit/>
          </a:bodyPr>
          <a:lstStyle/>
          <a:p>
            <a:pPr algn="just"/>
            <a:r>
              <a:rPr lang="en-US" dirty="0"/>
              <a:t>According to </a:t>
            </a:r>
            <a:r>
              <a:rPr lang="en-US" dirty="0" err="1"/>
              <a:t>Orna</a:t>
            </a:r>
            <a:r>
              <a:rPr lang="en-US" dirty="0"/>
              <a:t> and Stevens - knowledge represents the ‘results of experience organised and stored inside each individual’s own mind’.</a:t>
            </a:r>
          </a:p>
          <a:p>
            <a:pPr algn="just"/>
            <a:r>
              <a:rPr lang="en-US" dirty="0"/>
              <a:t>While your information about rainfall provided you with an overview of what was happening to weather over a period of time, knowledge represents your understanding of why rainfall might have changed during this period. </a:t>
            </a:r>
          </a:p>
          <a:p>
            <a:pPr algn="just"/>
            <a:r>
              <a:rPr lang="en-US" dirty="0"/>
              <a:t>For example, your knowledge would be your understanding of why rainfall had increased in particular parts of the country since 1900.</a:t>
            </a:r>
            <a:endParaRPr lang="en-GB" dirty="0"/>
          </a:p>
        </p:txBody>
      </p:sp>
    </p:spTree>
    <p:extLst>
      <p:ext uri="{BB962C8B-B14F-4D97-AF65-F5344CB8AC3E}">
        <p14:creationId xmlns:p14="http://schemas.microsoft.com/office/powerpoint/2010/main" val="22413483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3.4 Wisdom</a:t>
            </a:r>
          </a:p>
        </p:txBody>
      </p:sp>
      <p:sp>
        <p:nvSpPr>
          <p:cNvPr id="3" name="Content Placeholder 2"/>
          <p:cNvSpPr>
            <a:spLocks noGrp="1"/>
          </p:cNvSpPr>
          <p:nvPr>
            <p:ph idx="1"/>
          </p:nvPr>
        </p:nvSpPr>
        <p:spPr/>
        <p:txBody>
          <a:bodyPr>
            <a:normAutofit lnSpcReduction="10000"/>
          </a:bodyPr>
          <a:lstStyle/>
          <a:p>
            <a:pPr algn="just"/>
            <a:r>
              <a:rPr lang="en-US" dirty="0"/>
              <a:t>Wisdom represents your ability to put your knowledge into practice. </a:t>
            </a:r>
          </a:p>
          <a:p>
            <a:pPr algn="just"/>
            <a:r>
              <a:rPr lang="en-US" dirty="0"/>
              <a:t>It represents your ability to apply your skills and experiences to create new knowledge and adapt to different situations.</a:t>
            </a:r>
          </a:p>
          <a:p>
            <a:pPr algn="just"/>
            <a:r>
              <a:rPr lang="en-US" dirty="0"/>
              <a:t>With reference to the rainfall data example, wisdom would represent your ability to predict likely changes to rainfall and climate in the future or enable you to understand why rain falls at particular levels in entirely different parts of the world.</a:t>
            </a:r>
            <a:endParaRPr lang="en-GB" dirty="0"/>
          </a:p>
        </p:txBody>
      </p:sp>
    </p:spTree>
    <p:extLst>
      <p:ext uri="{BB962C8B-B14F-4D97-AF65-F5344CB8AC3E}">
        <p14:creationId xmlns:p14="http://schemas.microsoft.com/office/powerpoint/2010/main" val="39102151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3.5 Theory</a:t>
            </a:r>
          </a:p>
        </p:txBody>
      </p:sp>
      <p:sp>
        <p:nvSpPr>
          <p:cNvPr id="3" name="Content Placeholder 2"/>
          <p:cNvSpPr>
            <a:spLocks noGrp="1"/>
          </p:cNvSpPr>
          <p:nvPr>
            <p:ph idx="1"/>
          </p:nvPr>
        </p:nvSpPr>
        <p:spPr/>
        <p:txBody>
          <a:bodyPr/>
          <a:lstStyle/>
          <a:p>
            <a:r>
              <a:rPr lang="en-US" dirty="0"/>
              <a:t>While data, information, knowledge and wisdom represent a relatively ‘firm’ understanding of what is going on and how things can be applied, theory represents ideas, opinions and suppositions based on your observations of the world. </a:t>
            </a:r>
          </a:p>
          <a:p>
            <a:r>
              <a:rPr lang="en-US" dirty="0"/>
              <a:t>A theory is not necessarily true but, at the moment, it represents the best explanation of what you observe.</a:t>
            </a:r>
            <a:endParaRPr lang="en-GB" dirty="0"/>
          </a:p>
        </p:txBody>
      </p:sp>
    </p:spTree>
    <p:extLst>
      <p:ext uri="{BB962C8B-B14F-4D97-AF65-F5344CB8AC3E}">
        <p14:creationId xmlns:p14="http://schemas.microsoft.com/office/powerpoint/2010/main" val="21749348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US" dirty="0"/>
              <a:t>Any Questions?</a:t>
            </a:r>
          </a:p>
        </p:txBody>
      </p:sp>
      <p:pic>
        <p:nvPicPr>
          <p:cNvPr id="3074" name="Picture 2" descr="http://i.huffpost.com/gen/1604482/images/o-WOMAN-ASKING-QUESTION-facebook.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075" y="1446212"/>
            <a:ext cx="8480425" cy="42402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43327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research process</a:t>
            </a:r>
          </a:p>
        </p:txBody>
      </p:sp>
      <p:sp>
        <p:nvSpPr>
          <p:cNvPr id="3" name="Content Placeholder 2"/>
          <p:cNvSpPr>
            <a:spLocks noGrp="1"/>
          </p:cNvSpPr>
          <p:nvPr>
            <p:ph idx="1"/>
          </p:nvPr>
        </p:nvSpPr>
        <p:spPr>
          <a:xfrm>
            <a:off x="285749" y="1030288"/>
            <a:ext cx="8531225" cy="5491282"/>
          </a:xfrm>
        </p:spPr>
        <p:txBody>
          <a:bodyPr>
            <a:normAutofit lnSpcReduction="10000"/>
          </a:bodyPr>
          <a:lstStyle/>
          <a:p>
            <a:r>
              <a:rPr lang="en-US" dirty="0"/>
              <a:t>One thing that the above definition of research recognized is that research must be a considered activity. </a:t>
            </a:r>
          </a:p>
          <a:p>
            <a:r>
              <a:rPr lang="en-US" dirty="0"/>
              <a:t>In other words, your research activity should not be performed as and when you feel like it, but it should follow a recognized process.</a:t>
            </a:r>
          </a:p>
          <a:p>
            <a:r>
              <a:rPr lang="en-US" dirty="0" err="1"/>
              <a:t>Blaxter</a:t>
            </a:r>
            <a:r>
              <a:rPr lang="en-US" dirty="0"/>
              <a:t> et al. identify four common views of the research process: </a:t>
            </a:r>
          </a:p>
          <a:p>
            <a:pPr lvl="1"/>
            <a:r>
              <a:rPr lang="en-US" dirty="0"/>
              <a:t>sequential, </a:t>
            </a:r>
          </a:p>
          <a:p>
            <a:pPr lvl="1"/>
            <a:r>
              <a:rPr lang="en-US" dirty="0"/>
              <a:t>generalized, </a:t>
            </a:r>
          </a:p>
          <a:p>
            <a:pPr lvl="1"/>
            <a:r>
              <a:rPr lang="en-US" dirty="0"/>
              <a:t>circulatory and </a:t>
            </a:r>
          </a:p>
          <a:p>
            <a:pPr lvl="1"/>
            <a:r>
              <a:rPr lang="en-US" dirty="0"/>
              <a:t>evolutionary</a:t>
            </a:r>
            <a:endParaRPr lang="en-GB" dirty="0"/>
          </a:p>
        </p:txBody>
      </p:sp>
    </p:spTree>
    <p:extLst>
      <p:ext uri="{BB962C8B-B14F-4D97-AF65-F5344CB8AC3E}">
        <p14:creationId xmlns:p14="http://schemas.microsoft.com/office/powerpoint/2010/main" val="21928852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Sequential (1)</a:t>
            </a:r>
          </a:p>
        </p:txBody>
      </p:sp>
      <p:sp>
        <p:nvSpPr>
          <p:cNvPr id="3" name="Content Placeholder 2"/>
          <p:cNvSpPr>
            <a:spLocks noGrp="1"/>
          </p:cNvSpPr>
          <p:nvPr>
            <p:ph idx="1"/>
          </p:nvPr>
        </p:nvSpPr>
        <p:spPr>
          <a:xfrm>
            <a:off x="285749" y="1030287"/>
            <a:ext cx="8531225" cy="5681063"/>
          </a:xfrm>
        </p:spPr>
        <p:txBody>
          <a:bodyPr>
            <a:normAutofit/>
          </a:bodyPr>
          <a:lstStyle/>
          <a:p>
            <a:pPr algn="just"/>
            <a:r>
              <a:rPr lang="en-US" dirty="0"/>
              <a:t>The sequential process is the simplest view of all. </a:t>
            </a:r>
          </a:p>
          <a:p>
            <a:pPr algn="just"/>
            <a:r>
              <a:rPr lang="en-US" dirty="0"/>
              <a:t>In this process a series of activities are performed one after another as a ‘fixed, linear series of stages’. </a:t>
            </a:r>
          </a:p>
          <a:p>
            <a:pPr algn="just"/>
            <a:r>
              <a:rPr lang="en-US" dirty="0"/>
              <a:t>An example of such a process is the systematic process model of Sharp et al. </a:t>
            </a:r>
          </a:p>
        </p:txBody>
      </p:sp>
    </p:spTree>
    <p:extLst>
      <p:ext uri="{BB962C8B-B14F-4D97-AF65-F5344CB8AC3E}">
        <p14:creationId xmlns:p14="http://schemas.microsoft.com/office/powerpoint/2010/main" val="25039798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Sequential (2)</a:t>
            </a:r>
          </a:p>
        </p:txBody>
      </p:sp>
      <p:sp>
        <p:nvSpPr>
          <p:cNvPr id="3" name="Content Placeholder 2"/>
          <p:cNvSpPr>
            <a:spLocks noGrp="1"/>
          </p:cNvSpPr>
          <p:nvPr>
            <p:ph idx="1"/>
          </p:nvPr>
        </p:nvSpPr>
        <p:spPr>
          <a:xfrm>
            <a:off x="285749" y="1030287"/>
            <a:ext cx="8531225" cy="5681063"/>
          </a:xfrm>
        </p:spPr>
        <p:txBody>
          <a:bodyPr>
            <a:normAutofit/>
          </a:bodyPr>
          <a:lstStyle/>
          <a:p>
            <a:pPr algn="just"/>
            <a:r>
              <a:rPr lang="en-US" dirty="0"/>
              <a:t>This process consists of seven unique, sequential steps:</a:t>
            </a:r>
          </a:p>
          <a:p>
            <a:pPr marL="342900" lvl="1" indent="0" algn="just">
              <a:buNone/>
            </a:pPr>
            <a:r>
              <a:rPr lang="en-US" dirty="0"/>
              <a:t>1. Identify the broad area of study.</a:t>
            </a:r>
          </a:p>
          <a:p>
            <a:pPr marL="342900" lvl="1" indent="0" algn="just">
              <a:buNone/>
            </a:pPr>
            <a:r>
              <a:rPr lang="en-US" dirty="0"/>
              <a:t>2. Select a research topic.</a:t>
            </a:r>
          </a:p>
          <a:p>
            <a:pPr marL="342900" lvl="1" indent="0" algn="just">
              <a:buNone/>
            </a:pPr>
            <a:r>
              <a:rPr lang="en-US" dirty="0"/>
              <a:t>3. Decide on an approach.</a:t>
            </a:r>
          </a:p>
          <a:p>
            <a:pPr marL="342900" lvl="1" indent="0" algn="just">
              <a:buNone/>
            </a:pPr>
            <a:r>
              <a:rPr lang="en-US" dirty="0"/>
              <a:t>4. Plan how you will perform the research.</a:t>
            </a:r>
          </a:p>
          <a:p>
            <a:pPr marL="342900" lvl="1" indent="0" algn="just">
              <a:buNone/>
            </a:pPr>
            <a:r>
              <a:rPr lang="en-US" dirty="0"/>
              <a:t>5. Gather data and information.</a:t>
            </a:r>
          </a:p>
          <a:p>
            <a:pPr marL="342900" lvl="1" indent="0" algn="just">
              <a:buNone/>
            </a:pPr>
            <a:r>
              <a:rPr lang="en-US" dirty="0"/>
              <a:t>6. Analyze and interpret these data.</a:t>
            </a:r>
          </a:p>
          <a:p>
            <a:pPr marL="342900" lvl="1" indent="0" algn="just">
              <a:buNone/>
            </a:pPr>
            <a:r>
              <a:rPr lang="en-US" dirty="0"/>
              <a:t>7. Present the results and findings.</a:t>
            </a:r>
            <a:endParaRPr lang="en-GB" dirty="0"/>
          </a:p>
        </p:txBody>
      </p:sp>
    </p:spTree>
    <p:extLst>
      <p:ext uri="{BB962C8B-B14F-4D97-AF65-F5344CB8AC3E}">
        <p14:creationId xmlns:p14="http://schemas.microsoft.com/office/powerpoint/2010/main" val="27057053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Sequential (3)</a:t>
            </a:r>
          </a:p>
        </p:txBody>
      </p:sp>
      <p:sp>
        <p:nvSpPr>
          <p:cNvPr id="3" name="Content Placeholder 2"/>
          <p:cNvSpPr>
            <a:spLocks noGrp="1"/>
          </p:cNvSpPr>
          <p:nvPr>
            <p:ph idx="1"/>
          </p:nvPr>
        </p:nvSpPr>
        <p:spPr/>
        <p:txBody>
          <a:bodyPr>
            <a:normAutofit/>
          </a:bodyPr>
          <a:lstStyle/>
          <a:p>
            <a:pPr algn="just"/>
            <a:r>
              <a:rPr lang="en-US" dirty="0"/>
              <a:t>Although this model appears entirely sequential, Sharp et al. admit that repetition and cycles may take place during this process. </a:t>
            </a:r>
          </a:p>
          <a:p>
            <a:pPr algn="just"/>
            <a:r>
              <a:rPr lang="en-US" dirty="0"/>
              <a:t>However, how and when this repetition takes place is not explicitly identified. </a:t>
            </a:r>
          </a:p>
          <a:p>
            <a:pPr algn="just"/>
            <a:r>
              <a:rPr lang="en-US" dirty="0"/>
              <a:t>Another, perhaps simpler, example of a sequential research process is that defined by Greenfield (1996). </a:t>
            </a:r>
          </a:p>
        </p:txBody>
      </p:sp>
    </p:spTree>
    <p:extLst>
      <p:ext uri="{BB962C8B-B14F-4D97-AF65-F5344CB8AC3E}">
        <p14:creationId xmlns:p14="http://schemas.microsoft.com/office/powerpoint/2010/main" val="4422674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Sequential (4)</a:t>
            </a:r>
          </a:p>
        </p:txBody>
      </p:sp>
      <p:sp>
        <p:nvSpPr>
          <p:cNvPr id="3" name="Content Placeholder 2"/>
          <p:cNvSpPr>
            <a:spLocks noGrp="1"/>
          </p:cNvSpPr>
          <p:nvPr>
            <p:ph idx="1"/>
          </p:nvPr>
        </p:nvSpPr>
        <p:spPr/>
        <p:txBody>
          <a:bodyPr>
            <a:normAutofit/>
          </a:bodyPr>
          <a:lstStyle/>
          <a:p>
            <a:r>
              <a:rPr lang="en-US" dirty="0"/>
              <a:t>Greenfield breaks the research process into four steps:</a:t>
            </a:r>
          </a:p>
          <a:p>
            <a:pPr marL="342900" lvl="1" indent="0">
              <a:buNone/>
            </a:pPr>
            <a:r>
              <a:rPr lang="en-US" dirty="0"/>
              <a:t>1. Review the field – i.e., perform a literature survey.</a:t>
            </a:r>
          </a:p>
          <a:p>
            <a:pPr marL="342900" lvl="1" indent="0">
              <a:buNone/>
            </a:pPr>
            <a:r>
              <a:rPr lang="en-US" dirty="0"/>
              <a:t>2. Build a theory – based on your understanding and interpretations of the field.</a:t>
            </a:r>
          </a:p>
          <a:p>
            <a:pPr marL="342900" lvl="1" indent="0">
              <a:buNone/>
            </a:pPr>
            <a:r>
              <a:rPr lang="en-US" dirty="0"/>
              <a:t>3. Test the theory – does it work?</a:t>
            </a:r>
          </a:p>
          <a:p>
            <a:pPr marL="342900" lvl="1" indent="0">
              <a:buNone/>
            </a:pPr>
            <a:r>
              <a:rPr lang="en-US" dirty="0"/>
              <a:t>4. Reflect and integrate – i.e., update your ideas based on your ‘tests’ and contribute your newfound knowledge to others.</a:t>
            </a:r>
            <a:endParaRPr lang="en-GB" dirty="0"/>
          </a:p>
        </p:txBody>
      </p:sp>
    </p:spTree>
    <p:extLst>
      <p:ext uri="{BB962C8B-B14F-4D97-AF65-F5344CB8AC3E}">
        <p14:creationId xmlns:p14="http://schemas.microsoft.com/office/powerpoint/2010/main" val="42107341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 Generalized</a:t>
            </a:r>
          </a:p>
        </p:txBody>
      </p:sp>
      <p:sp>
        <p:nvSpPr>
          <p:cNvPr id="3" name="Content Placeholder 2"/>
          <p:cNvSpPr>
            <a:spLocks noGrp="1"/>
          </p:cNvSpPr>
          <p:nvPr>
            <p:ph idx="1"/>
          </p:nvPr>
        </p:nvSpPr>
        <p:spPr/>
        <p:txBody>
          <a:bodyPr>
            <a:noAutofit/>
          </a:bodyPr>
          <a:lstStyle/>
          <a:p>
            <a:pPr algn="just"/>
            <a:r>
              <a:rPr lang="en-US" dirty="0"/>
              <a:t>The generalized research process is identical to the sequential process in that a defined sequence of activities is performed one after the other. </a:t>
            </a:r>
          </a:p>
          <a:p>
            <a:pPr algn="just"/>
            <a:r>
              <a:rPr lang="en-US" dirty="0"/>
              <a:t>However, the generalized model recognizes that not all stages are applicable and some steps may require performing in different ways depending on the nature of the research. </a:t>
            </a:r>
          </a:p>
          <a:p>
            <a:pPr algn="just"/>
            <a:r>
              <a:rPr lang="en-US" dirty="0"/>
              <a:t>Thus, the generalized model identifies alternative routes that may be taken at different stages depending on the nature and outcomes of the research.</a:t>
            </a:r>
            <a:endParaRPr lang="en-GB" dirty="0"/>
          </a:p>
        </p:txBody>
      </p:sp>
    </p:spTree>
    <p:extLst>
      <p:ext uri="{BB962C8B-B14F-4D97-AF65-F5344CB8AC3E}">
        <p14:creationId xmlns:p14="http://schemas.microsoft.com/office/powerpoint/2010/main" val="36487201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 Circulatory (1)</a:t>
            </a:r>
          </a:p>
        </p:txBody>
      </p:sp>
      <p:sp>
        <p:nvSpPr>
          <p:cNvPr id="3" name="Content Placeholder 2"/>
          <p:cNvSpPr>
            <a:spLocks noGrp="1"/>
          </p:cNvSpPr>
          <p:nvPr>
            <p:ph idx="1"/>
          </p:nvPr>
        </p:nvSpPr>
        <p:spPr/>
        <p:txBody>
          <a:bodyPr>
            <a:noAutofit/>
          </a:bodyPr>
          <a:lstStyle/>
          <a:p>
            <a:pPr algn="just"/>
            <a:r>
              <a:rPr lang="en-US" dirty="0"/>
              <a:t>The circulatory approach recognizes that any research is really only part of a continuous cycle of discovery and investigation. </a:t>
            </a:r>
          </a:p>
          <a:p>
            <a:pPr algn="just"/>
            <a:r>
              <a:rPr lang="en-US" dirty="0"/>
              <a:t>Quite often, research will uncover more questions than it answers </a:t>
            </a:r>
          </a:p>
          <a:p>
            <a:pPr algn="just"/>
            <a:r>
              <a:rPr lang="en-US" dirty="0"/>
              <a:t>Hence, the research process can begin again by attempting to answer these newfound questions. </a:t>
            </a:r>
          </a:p>
        </p:txBody>
      </p:sp>
    </p:spTree>
    <p:extLst>
      <p:ext uri="{BB962C8B-B14F-4D97-AF65-F5344CB8AC3E}">
        <p14:creationId xmlns:p14="http://schemas.microsoft.com/office/powerpoint/2010/main" val="38449550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 Circulatory (2)</a:t>
            </a:r>
          </a:p>
        </p:txBody>
      </p:sp>
      <p:sp>
        <p:nvSpPr>
          <p:cNvPr id="3" name="Content Placeholder 2"/>
          <p:cNvSpPr>
            <a:spLocks noGrp="1"/>
          </p:cNvSpPr>
          <p:nvPr>
            <p:ph idx="1"/>
          </p:nvPr>
        </p:nvSpPr>
        <p:spPr/>
        <p:txBody>
          <a:bodyPr>
            <a:noAutofit/>
          </a:bodyPr>
          <a:lstStyle/>
          <a:p>
            <a:pPr algn="just"/>
            <a:r>
              <a:rPr lang="en-US" dirty="0"/>
              <a:t>Experiences of research might lead you to revisit or reinterpret earlier stages of your work (</a:t>
            </a:r>
            <a:r>
              <a:rPr lang="en-US" dirty="0" err="1"/>
              <a:t>Blaxter</a:t>
            </a:r>
            <a:r>
              <a:rPr lang="en-US" dirty="0"/>
              <a:t> et al., 2006). </a:t>
            </a:r>
          </a:p>
          <a:p>
            <a:pPr algn="just"/>
            <a:r>
              <a:rPr lang="en-US" dirty="0"/>
              <a:t>The circulatory interpretation also permits the research process to be joined at any point and recognizes that the process is never-ending.</a:t>
            </a:r>
            <a:endParaRPr lang="en-GB" dirty="0"/>
          </a:p>
        </p:txBody>
      </p:sp>
    </p:spTree>
    <p:extLst>
      <p:ext uri="{BB962C8B-B14F-4D97-AF65-F5344CB8AC3E}">
        <p14:creationId xmlns:p14="http://schemas.microsoft.com/office/powerpoint/2010/main" val="34030105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 Evolutionary</a:t>
            </a:r>
          </a:p>
        </p:txBody>
      </p:sp>
      <p:sp>
        <p:nvSpPr>
          <p:cNvPr id="3" name="Content Placeholder 2"/>
          <p:cNvSpPr>
            <a:spLocks noGrp="1"/>
          </p:cNvSpPr>
          <p:nvPr>
            <p:ph idx="1"/>
          </p:nvPr>
        </p:nvSpPr>
        <p:spPr/>
        <p:txBody>
          <a:bodyPr/>
          <a:lstStyle/>
          <a:p>
            <a:pPr algn="just"/>
            <a:r>
              <a:rPr lang="en-US" dirty="0"/>
              <a:t>The evolutionary concept takes the circulatory interpretation one step further and recognizes that research must evolve and change over time, not necessarily following a defined circulatory pattern or repeating the same forms of analysis and interpretation that were performed before. </a:t>
            </a:r>
          </a:p>
          <a:p>
            <a:pPr algn="just"/>
            <a:r>
              <a:rPr lang="en-US" dirty="0"/>
              <a:t>The outcomes of each evolution impact on later ones to a greater or lesser extent.</a:t>
            </a:r>
            <a:endParaRPr lang="en-GB" dirty="0"/>
          </a:p>
        </p:txBody>
      </p:sp>
    </p:spTree>
    <p:extLst>
      <p:ext uri="{BB962C8B-B14F-4D97-AF65-F5344CB8AC3E}">
        <p14:creationId xmlns:p14="http://schemas.microsoft.com/office/powerpoint/2010/main" val="26705285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Classifying Research</a:t>
            </a:r>
          </a:p>
        </p:txBody>
      </p:sp>
      <p:sp>
        <p:nvSpPr>
          <p:cNvPr id="3" name="Content Placeholder 2"/>
          <p:cNvSpPr>
            <a:spLocks noGrp="1"/>
          </p:cNvSpPr>
          <p:nvPr>
            <p:ph idx="1"/>
          </p:nvPr>
        </p:nvSpPr>
        <p:spPr/>
        <p:txBody>
          <a:bodyPr>
            <a:noAutofit/>
          </a:bodyPr>
          <a:lstStyle/>
          <a:p>
            <a:pPr algn="just"/>
            <a:r>
              <a:rPr lang="en-US" dirty="0"/>
              <a:t>Research can be classified from three different perspectives; its </a:t>
            </a:r>
            <a:r>
              <a:rPr lang="en-US" b="1" i="1" dirty="0"/>
              <a:t>field</a:t>
            </a:r>
            <a:r>
              <a:rPr lang="en-US" dirty="0"/>
              <a:t>, its </a:t>
            </a:r>
            <a:r>
              <a:rPr lang="en-US" b="1" i="1" dirty="0"/>
              <a:t>approach</a:t>
            </a:r>
            <a:r>
              <a:rPr lang="en-US" dirty="0"/>
              <a:t> and its </a:t>
            </a:r>
            <a:r>
              <a:rPr lang="en-US" b="1" i="1" dirty="0"/>
              <a:t>nature</a:t>
            </a:r>
            <a:r>
              <a:rPr lang="en-US" dirty="0"/>
              <a:t>. </a:t>
            </a:r>
          </a:p>
          <a:p>
            <a:pPr algn="just"/>
            <a:r>
              <a:rPr lang="en-US" dirty="0"/>
              <a:t>These three categories are adapted from the four categories discussed by Sharp et al. (2002:13) and Herbert (1990:1). </a:t>
            </a:r>
          </a:p>
          <a:p>
            <a:pPr algn="just"/>
            <a:r>
              <a:rPr lang="en-US" dirty="0"/>
              <a:t>These authors identify an additional category called purpose. </a:t>
            </a:r>
          </a:p>
          <a:p>
            <a:pPr algn="just"/>
            <a:r>
              <a:rPr lang="en-US" dirty="0"/>
              <a:t>However, as the purpose of research is arguably to contribute to knowledge, the way that research achieves this contribution has been identified here subsumed within its nature.</a:t>
            </a:r>
            <a:endParaRPr lang="en-GB" dirty="0"/>
          </a:p>
        </p:txBody>
      </p:sp>
    </p:spTree>
    <p:extLst>
      <p:ext uri="{BB962C8B-B14F-4D97-AF65-F5344CB8AC3E}">
        <p14:creationId xmlns:p14="http://schemas.microsoft.com/office/powerpoint/2010/main" val="23899765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Field</a:t>
            </a:r>
          </a:p>
        </p:txBody>
      </p:sp>
      <p:sp>
        <p:nvSpPr>
          <p:cNvPr id="3" name="Content Placeholder 2"/>
          <p:cNvSpPr>
            <a:spLocks noGrp="1"/>
          </p:cNvSpPr>
          <p:nvPr>
            <p:ph idx="1"/>
          </p:nvPr>
        </p:nvSpPr>
        <p:spPr/>
        <p:txBody>
          <a:bodyPr>
            <a:noAutofit/>
          </a:bodyPr>
          <a:lstStyle/>
          <a:p>
            <a:pPr algn="just"/>
            <a:r>
              <a:rPr lang="en-US" dirty="0"/>
              <a:t>The field of research is ‘little more than a labelling device which enables groups of researchers with similar interests to be identified’ (Sharp et al., loc. cit.).</a:t>
            </a:r>
          </a:p>
          <a:p>
            <a:pPr algn="just"/>
            <a:r>
              <a:rPr lang="en-US" dirty="0"/>
              <a:t>For example, in the topic of computing you might identify research fields in areas such as information systems, artificial intelligence, software engineering and so on.</a:t>
            </a:r>
          </a:p>
          <a:p>
            <a:pPr algn="just"/>
            <a:r>
              <a:rPr lang="en-US" dirty="0"/>
              <a:t>These topics may be further sub-divided into more specific topics to aid the more specialist researcher or expert distinguish aspects of the field.</a:t>
            </a:r>
          </a:p>
        </p:txBody>
      </p:sp>
    </p:spTree>
    <p:extLst>
      <p:ext uri="{BB962C8B-B14F-4D97-AF65-F5344CB8AC3E}">
        <p14:creationId xmlns:p14="http://schemas.microsoft.com/office/powerpoint/2010/main" val="3533171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 Approach</a:t>
            </a:r>
          </a:p>
        </p:txBody>
      </p:sp>
      <p:sp>
        <p:nvSpPr>
          <p:cNvPr id="3" name="Content Placeholder 2"/>
          <p:cNvSpPr>
            <a:spLocks noGrp="1"/>
          </p:cNvSpPr>
          <p:nvPr>
            <p:ph idx="1"/>
          </p:nvPr>
        </p:nvSpPr>
        <p:spPr/>
        <p:txBody>
          <a:bodyPr/>
          <a:lstStyle/>
          <a:p>
            <a:pPr algn="just"/>
            <a:r>
              <a:rPr lang="en-US" dirty="0"/>
              <a:t>Approach represents the research methods employed as part of the research process for example, case study, experiment and survey.</a:t>
            </a:r>
          </a:p>
          <a:p>
            <a:pPr algn="just"/>
            <a:r>
              <a:rPr lang="en-US" dirty="0"/>
              <a:t>These methods are discussed in more detail in later section.</a:t>
            </a:r>
            <a:endParaRPr lang="en-GB" dirty="0"/>
          </a:p>
        </p:txBody>
      </p:sp>
    </p:spTree>
    <p:extLst>
      <p:ext uri="{BB962C8B-B14F-4D97-AF65-F5344CB8AC3E}">
        <p14:creationId xmlns:p14="http://schemas.microsoft.com/office/powerpoint/2010/main" val="28625653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 Nature</a:t>
            </a:r>
          </a:p>
        </p:txBody>
      </p:sp>
      <p:sp>
        <p:nvSpPr>
          <p:cNvPr id="3" name="Content Placeholder 2"/>
          <p:cNvSpPr>
            <a:spLocks noGrp="1"/>
          </p:cNvSpPr>
          <p:nvPr>
            <p:ph idx="1"/>
          </p:nvPr>
        </p:nvSpPr>
        <p:spPr/>
        <p:txBody>
          <a:bodyPr>
            <a:normAutofit/>
          </a:bodyPr>
          <a:lstStyle/>
          <a:p>
            <a:pPr algn="just"/>
            <a:r>
              <a:rPr lang="en-US" dirty="0"/>
              <a:t>The type of contribution that research makes to knowledge depends upon its nature. Sharp et al.(2002: 15–16) identify three categories that can be used to classify the nature of research:</a:t>
            </a:r>
          </a:p>
          <a:p>
            <a:pPr lvl="1"/>
            <a:r>
              <a:rPr lang="en-US" dirty="0"/>
              <a:t>Category 1. Pure theoretical development.</a:t>
            </a:r>
          </a:p>
          <a:p>
            <a:pPr lvl="1"/>
            <a:r>
              <a:rPr lang="en-US" dirty="0"/>
              <a:t>Category 2. Research that reviews and assesses pure theory and evaluates its potential for practical application.</a:t>
            </a:r>
          </a:p>
          <a:p>
            <a:pPr lvl="1"/>
            <a:r>
              <a:rPr lang="en-US" dirty="0"/>
              <a:t>Category 3. Applied research that has some practical application or outcome.</a:t>
            </a:r>
            <a:endParaRPr lang="en-GB" dirty="0"/>
          </a:p>
        </p:txBody>
      </p:sp>
    </p:spTree>
    <p:extLst>
      <p:ext uri="{BB962C8B-B14F-4D97-AF65-F5344CB8AC3E}">
        <p14:creationId xmlns:p14="http://schemas.microsoft.com/office/powerpoint/2010/main" val="22849296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good research? (1)</a:t>
            </a:r>
          </a:p>
        </p:txBody>
      </p:sp>
      <p:sp>
        <p:nvSpPr>
          <p:cNvPr id="3" name="Content Placeholder 2"/>
          <p:cNvSpPr>
            <a:spLocks noGrp="1"/>
          </p:cNvSpPr>
          <p:nvPr>
            <p:ph idx="1"/>
          </p:nvPr>
        </p:nvSpPr>
        <p:spPr/>
        <p:txBody>
          <a:bodyPr>
            <a:noAutofit/>
          </a:bodyPr>
          <a:lstStyle/>
          <a:p>
            <a:r>
              <a:rPr lang="en-US" dirty="0"/>
              <a:t>You should now have an idea of what research is about and how to classify it, but what is meant by good research? </a:t>
            </a:r>
          </a:p>
          <a:p>
            <a:r>
              <a:rPr lang="en-US" dirty="0"/>
              <a:t>Phillips and Pugh (2005: 48–49) identify three characteristics of good research:</a:t>
            </a:r>
          </a:p>
          <a:p>
            <a:r>
              <a:rPr lang="en-US" b="1" dirty="0"/>
              <a:t>Open minds. </a:t>
            </a:r>
          </a:p>
          <a:p>
            <a:pPr lvl="1"/>
            <a:r>
              <a:rPr lang="en-US" dirty="0"/>
              <a:t>You should work with an ‘open system of thought’. </a:t>
            </a:r>
          </a:p>
          <a:p>
            <a:pPr lvl="1"/>
            <a:r>
              <a:rPr lang="en-US" dirty="0"/>
              <a:t>Be open minded to the questions posed. </a:t>
            </a:r>
          </a:p>
          <a:p>
            <a:pPr lvl="1"/>
            <a:r>
              <a:rPr lang="en-US" dirty="0"/>
              <a:t>‘Conventional wisdom and accepted doctrine...may turn out to be inadequate’.</a:t>
            </a:r>
          </a:p>
        </p:txBody>
      </p:sp>
    </p:spTree>
    <p:extLst>
      <p:ext uri="{BB962C8B-B14F-4D97-AF65-F5344CB8AC3E}">
        <p14:creationId xmlns:p14="http://schemas.microsoft.com/office/powerpoint/2010/main" val="21697683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good research? (2)</a:t>
            </a:r>
          </a:p>
        </p:txBody>
      </p:sp>
      <p:sp>
        <p:nvSpPr>
          <p:cNvPr id="3" name="Content Placeholder 2"/>
          <p:cNvSpPr>
            <a:spLocks noGrp="1"/>
          </p:cNvSpPr>
          <p:nvPr>
            <p:ph idx="1"/>
          </p:nvPr>
        </p:nvSpPr>
        <p:spPr/>
        <p:txBody>
          <a:bodyPr>
            <a:noAutofit/>
          </a:bodyPr>
          <a:lstStyle/>
          <a:p>
            <a:r>
              <a:rPr lang="en-US" b="1" dirty="0"/>
              <a:t>Critical analysis. </a:t>
            </a:r>
          </a:p>
          <a:p>
            <a:pPr lvl="1"/>
            <a:r>
              <a:rPr lang="en-US" dirty="0"/>
              <a:t>Examine data critically. </a:t>
            </a:r>
          </a:p>
          <a:p>
            <a:pPr lvl="1"/>
            <a:r>
              <a:rPr lang="en-US" dirty="0"/>
              <a:t>Are these figures correct? </a:t>
            </a:r>
          </a:p>
          <a:p>
            <a:pPr lvl="1"/>
            <a:r>
              <a:rPr lang="en-US" dirty="0"/>
              <a:t>Have they been affected in some way? </a:t>
            </a:r>
          </a:p>
          <a:p>
            <a:pPr lvl="1"/>
            <a:r>
              <a:rPr lang="en-US" dirty="0"/>
              <a:t>What do these data really mean? </a:t>
            </a:r>
          </a:p>
          <a:p>
            <a:pPr lvl="1"/>
            <a:r>
              <a:rPr lang="en-US" dirty="0"/>
              <a:t>Are alternative data available? </a:t>
            </a:r>
          </a:p>
          <a:p>
            <a:pPr lvl="1"/>
            <a:r>
              <a:rPr lang="en-US" dirty="0"/>
              <a:t>Can these data be interpreted differently?</a:t>
            </a:r>
          </a:p>
        </p:txBody>
      </p:sp>
    </p:spTree>
    <p:extLst>
      <p:ext uri="{BB962C8B-B14F-4D97-AF65-F5344CB8AC3E}">
        <p14:creationId xmlns:p14="http://schemas.microsoft.com/office/powerpoint/2010/main" val="21934779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good research? (3)</a:t>
            </a:r>
          </a:p>
        </p:txBody>
      </p:sp>
      <p:sp>
        <p:nvSpPr>
          <p:cNvPr id="3" name="Content Placeholder 2"/>
          <p:cNvSpPr>
            <a:spLocks noGrp="1"/>
          </p:cNvSpPr>
          <p:nvPr>
            <p:ph idx="1"/>
          </p:nvPr>
        </p:nvSpPr>
        <p:spPr/>
        <p:txBody>
          <a:bodyPr>
            <a:noAutofit/>
          </a:bodyPr>
          <a:lstStyle/>
          <a:p>
            <a:r>
              <a:rPr lang="en-US" b="1" dirty="0"/>
              <a:t>Generalizations. </a:t>
            </a:r>
          </a:p>
          <a:p>
            <a:pPr lvl="1"/>
            <a:r>
              <a:rPr lang="en-US" dirty="0"/>
              <a:t>Researchers generalize and specify limits on the generalizations they identify. </a:t>
            </a:r>
          </a:p>
          <a:p>
            <a:pPr lvl="1"/>
            <a:r>
              <a:rPr lang="en-US" dirty="0"/>
              <a:t>Generalization allows research to be interpreted and applied to a wide variety of situations. </a:t>
            </a:r>
          </a:p>
          <a:p>
            <a:pPr lvl="1"/>
            <a:r>
              <a:rPr lang="en-US" dirty="0"/>
              <a:t>However, researchers must know the limitations of these generalizations. </a:t>
            </a:r>
          </a:p>
          <a:p>
            <a:pPr lvl="1"/>
            <a:r>
              <a:rPr lang="en-US" dirty="0"/>
              <a:t>Generalizations stem from your own wisdom and evolve from your deductive reasoning which leads you to develop ideas about things you have not encountered before with certain caveats.</a:t>
            </a:r>
            <a:endParaRPr lang="en-GB" dirty="0"/>
          </a:p>
        </p:txBody>
      </p:sp>
    </p:spTree>
    <p:extLst>
      <p:ext uri="{BB962C8B-B14F-4D97-AF65-F5344CB8AC3E}">
        <p14:creationId xmlns:p14="http://schemas.microsoft.com/office/powerpoint/2010/main" val="34227415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Research methods (1)</a:t>
            </a:r>
          </a:p>
        </p:txBody>
      </p:sp>
      <p:sp>
        <p:nvSpPr>
          <p:cNvPr id="3" name="Content Placeholder 2"/>
          <p:cNvSpPr>
            <a:spLocks noGrp="1"/>
          </p:cNvSpPr>
          <p:nvPr>
            <p:ph idx="1"/>
          </p:nvPr>
        </p:nvSpPr>
        <p:spPr/>
        <p:txBody>
          <a:bodyPr>
            <a:noAutofit/>
          </a:bodyPr>
          <a:lstStyle/>
          <a:p>
            <a:pPr marL="0" indent="0" algn="just">
              <a:buNone/>
            </a:pPr>
            <a:r>
              <a:rPr lang="en-US" dirty="0"/>
              <a:t>Four of the most common research methods that you might use (either individually or combined) are:</a:t>
            </a:r>
          </a:p>
          <a:p>
            <a:pPr marL="385763" indent="-385763" algn="just">
              <a:buFont typeface="+mj-lt"/>
              <a:buAutoNum type="arabicPeriod"/>
            </a:pPr>
            <a:r>
              <a:rPr lang="en-GB" b="1" dirty="0"/>
              <a:t>Action research: </a:t>
            </a:r>
            <a:r>
              <a:rPr lang="en-US" dirty="0"/>
              <a:t>Involves ‘the carefully documented (and monitored) study of an attempt by you. . . to actively solve a problem and/or change a situation’</a:t>
            </a:r>
            <a:endParaRPr lang="en-GB" dirty="0"/>
          </a:p>
          <a:p>
            <a:pPr marL="385763" indent="-385763" algn="just">
              <a:buFont typeface="+mj-lt"/>
              <a:buAutoNum type="arabicPeriod"/>
            </a:pPr>
            <a:r>
              <a:rPr lang="en-GB" b="1" dirty="0"/>
              <a:t>Experiment: </a:t>
            </a:r>
            <a:r>
              <a:rPr lang="en-US" dirty="0"/>
              <a:t>Involves an investigation of causal relationships using tests controlled by yourself.</a:t>
            </a:r>
          </a:p>
        </p:txBody>
      </p:sp>
    </p:spTree>
    <p:extLst>
      <p:ext uri="{BB962C8B-B14F-4D97-AF65-F5344CB8AC3E}">
        <p14:creationId xmlns:p14="http://schemas.microsoft.com/office/powerpoint/2010/main" val="20363293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Research methods (2)</a:t>
            </a:r>
          </a:p>
        </p:txBody>
      </p:sp>
      <p:sp>
        <p:nvSpPr>
          <p:cNvPr id="3" name="Content Placeholder 2"/>
          <p:cNvSpPr>
            <a:spLocks noGrp="1"/>
          </p:cNvSpPr>
          <p:nvPr>
            <p:ph idx="1"/>
          </p:nvPr>
        </p:nvSpPr>
        <p:spPr/>
        <p:txBody>
          <a:bodyPr>
            <a:noAutofit/>
          </a:bodyPr>
          <a:lstStyle/>
          <a:p>
            <a:pPr marL="514350" indent="-514350" algn="just">
              <a:buFont typeface="+mj-lt"/>
              <a:buAutoNum type="arabicPeriod" startAt="3"/>
            </a:pPr>
            <a:r>
              <a:rPr lang="en-GB" b="1" dirty="0"/>
              <a:t>Case study: </a:t>
            </a:r>
            <a:r>
              <a:rPr lang="en-US" b="1" dirty="0"/>
              <a:t> </a:t>
            </a:r>
            <a:r>
              <a:rPr lang="en-US" dirty="0"/>
              <a:t>Case study is ‘an in-depth exploration of one situation’ (</a:t>
            </a:r>
            <a:r>
              <a:rPr lang="en-US" dirty="0" err="1"/>
              <a:t>Cornford</a:t>
            </a:r>
            <a:r>
              <a:rPr lang="en-US" dirty="0"/>
              <a:t> and Smithson, 2006). It involves the investigation of a particular situation, problem, company or group of companies.</a:t>
            </a:r>
            <a:endParaRPr lang="en-GB" dirty="0"/>
          </a:p>
          <a:p>
            <a:pPr marL="385763" indent="-385763" algn="just">
              <a:buFont typeface="+mj-lt"/>
              <a:buAutoNum type="arabicPeriod" startAt="3"/>
            </a:pPr>
            <a:r>
              <a:rPr lang="en-GB" b="1" dirty="0"/>
              <a:t>Survey: </a:t>
            </a:r>
            <a:r>
              <a:rPr lang="en-US" dirty="0"/>
              <a:t>This is usually undertaken through the use of questionnaires or interviews. It allows ‘the collection of a large amount of data from a sizable population in a highly economical way’</a:t>
            </a:r>
            <a:endParaRPr lang="en-GB" dirty="0"/>
          </a:p>
        </p:txBody>
      </p:sp>
    </p:spTree>
    <p:extLst>
      <p:ext uri="{BB962C8B-B14F-4D97-AF65-F5344CB8AC3E}">
        <p14:creationId xmlns:p14="http://schemas.microsoft.com/office/powerpoint/2010/main" val="10331452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Research technique: Interviews (1)</a:t>
            </a:r>
          </a:p>
        </p:txBody>
      </p:sp>
      <p:sp>
        <p:nvSpPr>
          <p:cNvPr id="3" name="Content Placeholder 2"/>
          <p:cNvSpPr>
            <a:spLocks noGrp="1"/>
          </p:cNvSpPr>
          <p:nvPr>
            <p:ph idx="1"/>
          </p:nvPr>
        </p:nvSpPr>
        <p:spPr>
          <a:xfrm>
            <a:off x="285749" y="1030287"/>
            <a:ext cx="8531225" cy="5474029"/>
          </a:xfrm>
        </p:spPr>
        <p:txBody>
          <a:bodyPr>
            <a:normAutofit fontScale="92500" lnSpcReduction="20000"/>
          </a:bodyPr>
          <a:lstStyle/>
          <a:p>
            <a:pPr algn="just"/>
            <a:r>
              <a:rPr lang="en-US" sz="3500" dirty="0"/>
              <a:t>Interviews can be performed during a number of stages of your project. </a:t>
            </a:r>
          </a:p>
          <a:p>
            <a:pPr algn="just"/>
            <a:r>
              <a:rPr lang="en-US" sz="3500" dirty="0"/>
              <a:t>For example, from the preliminary requirements gathering stages of a software development-type project, to the evaluation of a product you have developed.</a:t>
            </a:r>
          </a:p>
          <a:p>
            <a:pPr algn="just"/>
            <a:r>
              <a:rPr lang="en-US" sz="3500" dirty="0"/>
              <a:t>Interviews are undertaken in either a structured or unstructured way. </a:t>
            </a:r>
          </a:p>
          <a:p>
            <a:pPr lvl="1" algn="just"/>
            <a:r>
              <a:rPr lang="en-US" sz="3000" dirty="0"/>
              <a:t>Structured interviews involve a series of preset questions that you go through with the interviewee. </a:t>
            </a:r>
          </a:p>
          <a:p>
            <a:pPr lvl="1" algn="just"/>
            <a:r>
              <a:rPr lang="en-US" sz="3000" dirty="0"/>
              <a:t>Unstructured (or open) interviews, on the other hand, are less formal and you will ask open-ended questions that allow the interviewee to give extended answers without constraint. </a:t>
            </a:r>
          </a:p>
          <a:p>
            <a:pPr algn="just"/>
            <a:endParaRPr lang="en-GB" dirty="0"/>
          </a:p>
        </p:txBody>
      </p:sp>
    </p:spTree>
    <p:extLst>
      <p:ext uri="{BB962C8B-B14F-4D97-AF65-F5344CB8AC3E}">
        <p14:creationId xmlns:p14="http://schemas.microsoft.com/office/powerpoint/2010/main" val="31485985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Research technique: Interviews (2)</a:t>
            </a:r>
          </a:p>
        </p:txBody>
      </p:sp>
      <p:sp>
        <p:nvSpPr>
          <p:cNvPr id="3" name="Content Placeholder 2"/>
          <p:cNvSpPr>
            <a:spLocks noGrp="1"/>
          </p:cNvSpPr>
          <p:nvPr>
            <p:ph idx="1"/>
          </p:nvPr>
        </p:nvSpPr>
        <p:spPr/>
        <p:txBody>
          <a:bodyPr>
            <a:normAutofit fontScale="92500" lnSpcReduction="20000"/>
          </a:bodyPr>
          <a:lstStyle/>
          <a:p>
            <a:r>
              <a:rPr lang="en-US" sz="3500" dirty="0" err="1"/>
              <a:t>Berndtsson</a:t>
            </a:r>
            <a:r>
              <a:rPr lang="en-US" sz="3500" dirty="0"/>
              <a:t> et al.(2008: 61–62) discuss the following points for preparing and conducting interviews:</a:t>
            </a:r>
          </a:p>
          <a:p>
            <a:pPr lvl="1"/>
            <a:r>
              <a:rPr lang="en-US" sz="3000" dirty="0"/>
              <a:t>Selecting interviewees</a:t>
            </a:r>
          </a:p>
          <a:p>
            <a:pPr lvl="1"/>
            <a:r>
              <a:rPr lang="en-US" sz="3000" dirty="0"/>
              <a:t>Preparation</a:t>
            </a:r>
          </a:p>
          <a:p>
            <a:pPr lvl="1"/>
            <a:r>
              <a:rPr lang="en-US" sz="3000" dirty="0"/>
              <a:t>Questionnaires</a:t>
            </a:r>
          </a:p>
          <a:p>
            <a:pPr lvl="1"/>
            <a:r>
              <a:rPr lang="en-US" sz="3000" dirty="0"/>
              <a:t>Having an agenda for the interview</a:t>
            </a:r>
          </a:p>
          <a:p>
            <a:pPr lvl="1"/>
            <a:r>
              <a:rPr lang="en-US" sz="3000" dirty="0"/>
              <a:t>Structured replies</a:t>
            </a:r>
          </a:p>
          <a:p>
            <a:pPr lvl="1"/>
            <a:r>
              <a:rPr lang="en-US" sz="3000" dirty="0"/>
              <a:t>Note taking</a:t>
            </a:r>
          </a:p>
          <a:p>
            <a:pPr lvl="1"/>
            <a:r>
              <a:rPr lang="en-US" sz="3000" dirty="0"/>
              <a:t>Confidentiality</a:t>
            </a:r>
          </a:p>
          <a:p>
            <a:pPr lvl="1"/>
            <a:r>
              <a:rPr lang="en-US" sz="3000" dirty="0"/>
              <a:t>Logistics of the session</a:t>
            </a:r>
          </a:p>
          <a:p>
            <a:pPr lvl="1"/>
            <a:r>
              <a:rPr lang="en-US" sz="3000" dirty="0"/>
              <a:t>Ethical issues</a:t>
            </a:r>
            <a:endParaRPr lang="en-GB" sz="3000" dirty="0"/>
          </a:p>
        </p:txBody>
      </p:sp>
    </p:spTree>
    <p:extLst>
      <p:ext uri="{BB962C8B-B14F-4D97-AF65-F5344CB8AC3E}">
        <p14:creationId xmlns:p14="http://schemas.microsoft.com/office/powerpoint/2010/main" val="19614877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49" y="561587"/>
            <a:ext cx="8858250" cy="762000"/>
          </a:xfrm>
        </p:spPr>
        <p:txBody>
          <a:bodyPr/>
          <a:lstStyle/>
          <a:p>
            <a:r>
              <a:rPr lang="en-GB" dirty="0"/>
              <a:t>Research technique: Questionnaires (1)</a:t>
            </a:r>
          </a:p>
        </p:txBody>
      </p:sp>
      <p:sp>
        <p:nvSpPr>
          <p:cNvPr id="3" name="Content Placeholder 2"/>
          <p:cNvSpPr>
            <a:spLocks noGrp="1"/>
          </p:cNvSpPr>
          <p:nvPr>
            <p:ph idx="1"/>
          </p:nvPr>
        </p:nvSpPr>
        <p:spPr>
          <a:xfrm>
            <a:off x="285749" y="1634137"/>
            <a:ext cx="8531225" cy="4870450"/>
          </a:xfrm>
        </p:spPr>
        <p:txBody>
          <a:bodyPr>
            <a:noAutofit/>
          </a:bodyPr>
          <a:lstStyle/>
          <a:p>
            <a:pPr algn="just"/>
            <a:r>
              <a:rPr lang="en-US" dirty="0"/>
              <a:t>Questionnaires are useful means of obtaining data from a large (possible cross section)number of subjects. </a:t>
            </a:r>
          </a:p>
          <a:p>
            <a:pPr algn="just"/>
            <a:r>
              <a:rPr lang="en-US" dirty="0"/>
              <a:t>Like interviews they can also be undertaken at different stages of your project and can also be used for case studies. </a:t>
            </a:r>
          </a:p>
          <a:p>
            <a:pPr algn="just"/>
            <a:r>
              <a:rPr lang="en-US" dirty="0"/>
              <a:t>Before you undertake a questionnaire, however, you should consider what you hope to achieve from it and whether it is an appropriate technique to use</a:t>
            </a:r>
            <a:endParaRPr lang="en-GB" dirty="0"/>
          </a:p>
        </p:txBody>
      </p:sp>
    </p:spTree>
    <p:extLst>
      <p:ext uri="{BB962C8B-B14F-4D97-AF65-F5344CB8AC3E}">
        <p14:creationId xmlns:p14="http://schemas.microsoft.com/office/powerpoint/2010/main" val="25027425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49" y="561587"/>
            <a:ext cx="8858250" cy="762000"/>
          </a:xfrm>
        </p:spPr>
        <p:txBody>
          <a:bodyPr/>
          <a:lstStyle/>
          <a:p>
            <a:r>
              <a:rPr lang="en-GB" dirty="0"/>
              <a:t>Research technique: Questionnaires (2)</a:t>
            </a:r>
          </a:p>
        </p:txBody>
      </p:sp>
      <p:sp>
        <p:nvSpPr>
          <p:cNvPr id="3" name="Content Placeholder 2"/>
          <p:cNvSpPr>
            <a:spLocks noGrp="1"/>
          </p:cNvSpPr>
          <p:nvPr>
            <p:ph idx="1"/>
          </p:nvPr>
        </p:nvSpPr>
        <p:spPr>
          <a:xfrm>
            <a:off x="285749" y="1634137"/>
            <a:ext cx="8531225" cy="4870450"/>
          </a:xfrm>
        </p:spPr>
        <p:txBody>
          <a:bodyPr>
            <a:noAutofit/>
          </a:bodyPr>
          <a:lstStyle/>
          <a:p>
            <a:pPr algn="just"/>
            <a:r>
              <a:rPr lang="en-US" dirty="0"/>
              <a:t>Be aware that questionnaires are notoriously volatile in terms of replies – most of which achieve only around a 5% response rate.</a:t>
            </a:r>
          </a:p>
          <a:p>
            <a:r>
              <a:rPr lang="en-GB" dirty="0"/>
              <a:t>Things to consider:</a:t>
            </a:r>
          </a:p>
          <a:p>
            <a:pPr lvl="1"/>
            <a:r>
              <a:rPr lang="en-GB" dirty="0"/>
              <a:t>The target audience </a:t>
            </a:r>
          </a:p>
          <a:p>
            <a:pPr lvl="1"/>
            <a:r>
              <a:rPr lang="en-GB" dirty="0"/>
              <a:t>Medium</a:t>
            </a:r>
          </a:p>
          <a:p>
            <a:pPr lvl="1"/>
            <a:r>
              <a:rPr lang="en-GB" dirty="0"/>
              <a:t>Response rate</a:t>
            </a:r>
          </a:p>
          <a:p>
            <a:pPr lvl="1"/>
            <a:r>
              <a:rPr lang="en-GB" dirty="0"/>
              <a:t>Layout and size</a:t>
            </a:r>
          </a:p>
          <a:p>
            <a:pPr lvl="1"/>
            <a:r>
              <a:rPr lang="en-GB" dirty="0"/>
              <a:t>Question types, Question order</a:t>
            </a:r>
          </a:p>
          <a:p>
            <a:pPr lvl="1"/>
            <a:r>
              <a:rPr lang="en-GB" dirty="0"/>
              <a:t>Anonymity, Respondent details </a:t>
            </a:r>
          </a:p>
          <a:p>
            <a:pPr lvl="1"/>
            <a:r>
              <a:rPr lang="en-GB" dirty="0"/>
              <a:t>Draft and redraft</a:t>
            </a:r>
          </a:p>
          <a:p>
            <a:pPr algn="just"/>
            <a:endParaRPr lang="en-GB" dirty="0"/>
          </a:p>
        </p:txBody>
      </p:sp>
    </p:spTree>
    <p:extLst>
      <p:ext uri="{BB962C8B-B14F-4D97-AF65-F5344CB8AC3E}">
        <p14:creationId xmlns:p14="http://schemas.microsoft.com/office/powerpoint/2010/main" val="42914614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Research technique: Observation(1)</a:t>
            </a:r>
          </a:p>
        </p:txBody>
      </p:sp>
      <p:sp>
        <p:nvSpPr>
          <p:cNvPr id="3" name="Content Placeholder 2"/>
          <p:cNvSpPr>
            <a:spLocks noGrp="1"/>
          </p:cNvSpPr>
          <p:nvPr>
            <p:ph idx="1"/>
          </p:nvPr>
        </p:nvSpPr>
        <p:spPr/>
        <p:txBody>
          <a:bodyPr>
            <a:normAutofit/>
          </a:bodyPr>
          <a:lstStyle/>
          <a:p>
            <a:r>
              <a:rPr lang="en-US" dirty="0"/>
              <a:t>Another research technique often used for case studies is observation. </a:t>
            </a:r>
          </a:p>
          <a:p>
            <a:r>
              <a:rPr lang="en-US" dirty="0"/>
              <a:t>According to </a:t>
            </a:r>
            <a:r>
              <a:rPr lang="en-US" dirty="0" err="1"/>
              <a:t>Blaxter</a:t>
            </a:r>
            <a:r>
              <a:rPr lang="en-US" dirty="0"/>
              <a:t> et al.(2006) observation ‘involves the researcher in watching, recording and analyzing events of interest’.</a:t>
            </a:r>
          </a:p>
          <a:p>
            <a:r>
              <a:rPr lang="en-US" dirty="0"/>
              <a:t> It can, for example, involve you entering an organization and observing the workings of that organization within the area of interest.</a:t>
            </a:r>
            <a:endParaRPr lang="en-GB" dirty="0"/>
          </a:p>
        </p:txBody>
      </p:sp>
    </p:spTree>
    <p:extLst>
      <p:ext uri="{BB962C8B-B14F-4D97-AF65-F5344CB8AC3E}">
        <p14:creationId xmlns:p14="http://schemas.microsoft.com/office/powerpoint/2010/main" val="39203892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Research technique: Observation(2)</a:t>
            </a:r>
          </a:p>
        </p:txBody>
      </p:sp>
      <p:sp>
        <p:nvSpPr>
          <p:cNvPr id="3" name="Content Placeholder 2"/>
          <p:cNvSpPr>
            <a:spLocks noGrp="1"/>
          </p:cNvSpPr>
          <p:nvPr>
            <p:ph idx="1"/>
          </p:nvPr>
        </p:nvSpPr>
        <p:spPr>
          <a:xfrm>
            <a:off x="285749" y="1030288"/>
            <a:ext cx="8531225" cy="5612052"/>
          </a:xfrm>
        </p:spPr>
        <p:txBody>
          <a:bodyPr>
            <a:normAutofit fontScale="92500" lnSpcReduction="20000"/>
          </a:bodyPr>
          <a:lstStyle/>
          <a:p>
            <a:pPr algn="just"/>
            <a:r>
              <a:rPr lang="en-US" sz="3500" dirty="0"/>
              <a:t>Things to consider:</a:t>
            </a:r>
          </a:p>
          <a:p>
            <a:pPr lvl="1" algn="just"/>
            <a:r>
              <a:rPr lang="en-US" sz="3000" b="1" dirty="0"/>
              <a:t>Arrangements: </a:t>
            </a:r>
            <a:r>
              <a:rPr lang="en-US" sz="3000" dirty="0"/>
              <a:t>How will you go about arranging an observation? What permission will you need to obtain?</a:t>
            </a:r>
          </a:p>
          <a:p>
            <a:pPr lvl="1" algn="just"/>
            <a:r>
              <a:rPr lang="en-US" sz="3000" b="1" dirty="0"/>
              <a:t>Recording the observation: </a:t>
            </a:r>
            <a:r>
              <a:rPr lang="en-US" sz="3000" dirty="0"/>
              <a:t>How will you record the situation or event that you are studying?</a:t>
            </a:r>
          </a:p>
          <a:p>
            <a:pPr lvl="1" algn="just"/>
            <a:r>
              <a:rPr lang="en-US" sz="3000" b="1" dirty="0"/>
              <a:t>Participation: </a:t>
            </a:r>
            <a:r>
              <a:rPr lang="en-US" sz="3000" dirty="0"/>
              <a:t>Will you actually get involved in the situation you are studying or will you act as a ‘disinterested’ observer? If you are involved in the situation, how involved will you be – will you ‘work shadow’ or actively participate?</a:t>
            </a:r>
          </a:p>
          <a:p>
            <a:pPr lvl="1" algn="just"/>
            <a:r>
              <a:rPr lang="en-US" sz="3000" b="1" dirty="0"/>
              <a:t>The </a:t>
            </a:r>
            <a:r>
              <a:rPr lang="en-US" sz="3000" b="1" dirty="0" err="1"/>
              <a:t>Hawthrone</a:t>
            </a:r>
            <a:r>
              <a:rPr lang="en-US" sz="3000" b="1" dirty="0"/>
              <a:t> Effect: </a:t>
            </a:r>
            <a:r>
              <a:rPr lang="en-US" sz="3000" dirty="0"/>
              <a:t>You should be aware of your influence on the situation you are observing. What you observe will not be under ‘normal’ conditions as anyone you look at will be conscious of your presence and may well act differently compared with how they normally behave.</a:t>
            </a:r>
          </a:p>
        </p:txBody>
      </p:sp>
    </p:spTree>
    <p:extLst>
      <p:ext uri="{BB962C8B-B14F-4D97-AF65-F5344CB8AC3E}">
        <p14:creationId xmlns:p14="http://schemas.microsoft.com/office/powerpoint/2010/main" val="25739462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US" dirty="0"/>
              <a:t>Any Questions?</a:t>
            </a:r>
          </a:p>
        </p:txBody>
      </p:sp>
      <p:pic>
        <p:nvPicPr>
          <p:cNvPr id="3074" name="Picture 2" descr="http://i.huffpost.com/gen/1604482/images/o-WOMAN-ASKING-QUESTION-facebook.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075" y="1446212"/>
            <a:ext cx="8480425" cy="42402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91672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285728"/>
            <a:ext cx="8858250" cy="762000"/>
          </a:xfrm>
        </p:spPr>
        <p:txBody>
          <a:bodyPr/>
          <a:lstStyle/>
          <a:p>
            <a:r>
              <a:rPr lang="en-US" dirty="0"/>
              <a:t>Summary: Week 2 Lecture</a:t>
            </a:r>
          </a:p>
        </p:txBody>
      </p:sp>
      <p:sp>
        <p:nvSpPr>
          <p:cNvPr id="6" name="Content Placeholder 5"/>
          <p:cNvSpPr>
            <a:spLocks noGrp="1"/>
          </p:cNvSpPr>
          <p:nvPr>
            <p:ph idx="1"/>
          </p:nvPr>
        </p:nvSpPr>
        <p:spPr>
          <a:xfrm>
            <a:off x="285750" y="1047728"/>
            <a:ext cx="8531225" cy="5357834"/>
          </a:xfrm>
        </p:spPr>
        <p:txBody>
          <a:bodyPr/>
          <a:lstStyle/>
          <a:p>
            <a:pPr algn="just"/>
            <a:r>
              <a:rPr lang="en-US" dirty="0"/>
              <a:t>Research is an </a:t>
            </a:r>
            <a:r>
              <a:rPr lang="en-GB" dirty="0"/>
              <a:t>‘</a:t>
            </a:r>
            <a:r>
              <a:rPr lang="en-GB" i="1" dirty="0"/>
              <a:t>Original</a:t>
            </a:r>
            <a:r>
              <a:rPr lang="en-GB" dirty="0"/>
              <a:t> investigation undertaken in order to </a:t>
            </a:r>
            <a:r>
              <a:rPr lang="en-GB" i="1" dirty="0"/>
              <a:t>gain</a:t>
            </a:r>
            <a:r>
              <a:rPr lang="en-GB" dirty="0"/>
              <a:t> </a:t>
            </a:r>
            <a:r>
              <a:rPr lang="en-GB" i="1" dirty="0"/>
              <a:t>knowledge</a:t>
            </a:r>
            <a:r>
              <a:rPr lang="en-GB" dirty="0"/>
              <a:t> and </a:t>
            </a:r>
            <a:r>
              <a:rPr lang="en-GB" i="1" dirty="0"/>
              <a:t>understanding</a:t>
            </a:r>
            <a:r>
              <a:rPr lang="en-GB" dirty="0"/>
              <a:t>’</a:t>
            </a:r>
          </a:p>
          <a:p>
            <a:pPr algn="just"/>
            <a:r>
              <a:rPr lang="en-US" dirty="0"/>
              <a:t>There are three key terms to emphasize on; </a:t>
            </a:r>
          </a:p>
          <a:p>
            <a:pPr marL="728663" lvl="1" indent="-385763" algn="just">
              <a:buFont typeface="+mj-lt"/>
              <a:buAutoNum type="arabicPeriod"/>
            </a:pPr>
            <a:r>
              <a:rPr lang="en-US" dirty="0"/>
              <a:t>original, </a:t>
            </a:r>
          </a:p>
          <a:p>
            <a:pPr marL="728663" lvl="1" indent="-385763" algn="just">
              <a:buFont typeface="+mj-lt"/>
              <a:buAutoNum type="arabicPeriod"/>
            </a:pPr>
            <a:r>
              <a:rPr lang="en-US" dirty="0"/>
              <a:t>gain and knowledge and </a:t>
            </a:r>
          </a:p>
          <a:p>
            <a:pPr marL="728663" lvl="1" indent="-385763" algn="just">
              <a:buFont typeface="+mj-lt"/>
              <a:buAutoNum type="arabicPeriod"/>
            </a:pPr>
            <a:r>
              <a:rPr lang="en-US" dirty="0"/>
              <a:t>Understanding</a:t>
            </a:r>
            <a:endParaRPr lang="en-GB" dirty="0"/>
          </a:p>
          <a:p>
            <a:r>
              <a:rPr lang="en-US" dirty="0"/>
              <a:t>Four common views of the research process: </a:t>
            </a:r>
          </a:p>
          <a:p>
            <a:pPr lvl="1"/>
            <a:r>
              <a:rPr lang="en-US" dirty="0"/>
              <a:t>sequential, </a:t>
            </a:r>
          </a:p>
          <a:p>
            <a:pPr lvl="1"/>
            <a:r>
              <a:rPr lang="en-US" dirty="0"/>
              <a:t>generalized, </a:t>
            </a:r>
          </a:p>
          <a:p>
            <a:pPr lvl="1"/>
            <a:r>
              <a:rPr lang="en-US" dirty="0"/>
              <a:t>circulatory and </a:t>
            </a:r>
          </a:p>
          <a:p>
            <a:pPr lvl="1"/>
            <a:r>
              <a:rPr lang="en-US" dirty="0"/>
              <a:t>evolutionary</a:t>
            </a:r>
            <a:endParaRPr lang="en-GB" dirty="0"/>
          </a:p>
          <a:p>
            <a:pPr algn="just"/>
            <a:endParaRPr lang="en-GB" dirty="0"/>
          </a:p>
          <a:p>
            <a:pPr algn="just"/>
            <a:endParaRPr lang="en-GB" dirty="0"/>
          </a:p>
        </p:txBody>
      </p:sp>
    </p:spTree>
    <p:extLst>
      <p:ext uri="{BB962C8B-B14F-4D97-AF65-F5344CB8AC3E}">
        <p14:creationId xmlns:p14="http://schemas.microsoft.com/office/powerpoint/2010/main" val="479867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to Expect: Week 2 Activities</a:t>
            </a:r>
          </a:p>
        </p:txBody>
      </p:sp>
      <p:sp>
        <p:nvSpPr>
          <p:cNvPr id="3" name="Content Placeholder 2"/>
          <p:cNvSpPr>
            <a:spLocks noGrp="1"/>
          </p:cNvSpPr>
          <p:nvPr>
            <p:ph idx="1"/>
          </p:nvPr>
        </p:nvSpPr>
        <p:spPr>
          <a:xfrm>
            <a:off x="285750" y="1030288"/>
            <a:ext cx="8531225" cy="4870450"/>
          </a:xfrm>
        </p:spPr>
        <p:txBody>
          <a:bodyPr/>
          <a:lstStyle/>
          <a:p>
            <a:pPr marL="228600" lvl="1">
              <a:buFont typeface="Arial" panose="020B0604020202020204" pitchFamily="34" charset="0"/>
              <a:buChar char="•"/>
            </a:pPr>
            <a:r>
              <a:rPr lang="en-US" sz="3200" dirty="0"/>
              <a:t>Task: Research into different area for possible computing projects</a:t>
            </a:r>
          </a:p>
        </p:txBody>
      </p:sp>
    </p:spTree>
    <p:extLst>
      <p:ext uri="{BB962C8B-B14F-4D97-AF65-F5344CB8AC3E}">
        <p14:creationId xmlns:p14="http://schemas.microsoft.com/office/powerpoint/2010/main" val="1065188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srcRect/>
          <a:stretch>
            <a:fillRect/>
          </a:stretch>
        </p:blipFill>
        <p:spPr bwMode="auto">
          <a:xfrm>
            <a:off x="2387600" y="1527175"/>
            <a:ext cx="4327525" cy="3973513"/>
          </a:xfrm>
          <a:prstGeom prst="rect">
            <a:avLst/>
          </a:prstGeom>
          <a:noFill/>
          <a:ln w="9525">
            <a:noFill/>
            <a:miter lim="800000"/>
            <a:headEnd/>
            <a:tailEnd/>
          </a:ln>
        </p:spPr>
      </p:pic>
    </p:spTree>
    <p:extLst>
      <p:ext uri="{BB962C8B-B14F-4D97-AF65-F5344CB8AC3E}">
        <p14:creationId xmlns:p14="http://schemas.microsoft.com/office/powerpoint/2010/main" val="851131403"/>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2259</TotalTime>
  <Words>2955</Words>
  <Application>Microsoft Office PowerPoint</Application>
  <PresentationFormat>On-screen Show (4:3)</PresentationFormat>
  <Paragraphs>224</Paragraphs>
  <Slides>47</Slides>
  <Notes>2</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47</vt:i4>
      </vt:variant>
    </vt:vector>
  </HeadingPairs>
  <TitlesOfParts>
    <vt:vector size="55" baseType="lpstr">
      <vt:lpstr>Arial</vt:lpstr>
      <vt:lpstr>Calibri</vt:lpstr>
      <vt:lpstr>Calibri Light</vt:lpstr>
      <vt:lpstr>Times New Roman</vt:lpstr>
      <vt:lpstr>Wingdings</vt:lpstr>
      <vt:lpstr>1_Office Theme</vt:lpstr>
      <vt:lpstr>2_Office Theme</vt:lpstr>
      <vt:lpstr>Office Theme</vt:lpstr>
      <vt:lpstr>Research and research process</vt:lpstr>
      <vt:lpstr>Agenda </vt:lpstr>
      <vt:lpstr>PowerPoint Presentation</vt:lpstr>
      <vt:lpstr>Research</vt:lpstr>
      <vt:lpstr>Review of Week 1</vt:lpstr>
      <vt:lpstr>Any Confusion?</vt:lpstr>
      <vt:lpstr>1. Originality (1)</vt:lpstr>
      <vt:lpstr>1. Originality (2)</vt:lpstr>
      <vt:lpstr>1. Originality (3)</vt:lpstr>
      <vt:lpstr>2. Gain/contribution</vt:lpstr>
      <vt:lpstr>3. Knowledge and understanding</vt:lpstr>
      <vt:lpstr>3.1 Data</vt:lpstr>
      <vt:lpstr>3.2 Information (1)</vt:lpstr>
      <vt:lpstr>3.2 Information (2)</vt:lpstr>
      <vt:lpstr>3.3 Knowledge (1)</vt:lpstr>
      <vt:lpstr>3.3 Knowledge (2)</vt:lpstr>
      <vt:lpstr>3.4 Wisdom</vt:lpstr>
      <vt:lpstr>3.5 Theory</vt:lpstr>
      <vt:lpstr>Any Questions?</vt:lpstr>
      <vt:lpstr>The research process</vt:lpstr>
      <vt:lpstr>A. Sequential (1)</vt:lpstr>
      <vt:lpstr>A. Sequential (2)</vt:lpstr>
      <vt:lpstr>A. Sequential (3)</vt:lpstr>
      <vt:lpstr>A. Sequential (4)</vt:lpstr>
      <vt:lpstr>B. Generalized</vt:lpstr>
      <vt:lpstr>C. Circulatory (1)</vt:lpstr>
      <vt:lpstr>C. Circulatory (2)</vt:lpstr>
      <vt:lpstr>D. Evolutionary</vt:lpstr>
      <vt:lpstr>Classifying Research</vt:lpstr>
      <vt:lpstr>A. Field</vt:lpstr>
      <vt:lpstr>B. Approach</vt:lpstr>
      <vt:lpstr>C. Nature</vt:lpstr>
      <vt:lpstr>What is good research? (1)</vt:lpstr>
      <vt:lpstr>What is good research? (2)</vt:lpstr>
      <vt:lpstr>What is good research? (3)</vt:lpstr>
      <vt:lpstr>Research methods (1)</vt:lpstr>
      <vt:lpstr>Research methods (2)</vt:lpstr>
      <vt:lpstr>Research technique: Interviews (1)</vt:lpstr>
      <vt:lpstr>Research technique: Interviews (2)</vt:lpstr>
      <vt:lpstr>Research technique: Questionnaires (1)</vt:lpstr>
      <vt:lpstr>Research technique: Questionnaires (2)</vt:lpstr>
      <vt:lpstr>Research technique: Observation(1)</vt:lpstr>
      <vt:lpstr>Research technique: Observation(2)</vt:lpstr>
      <vt:lpstr>Any Questions?</vt:lpstr>
      <vt:lpstr>Summary: Week 2 Lecture</vt:lpstr>
      <vt:lpstr>What to Expect: Week 2 Activities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dc:title>
  <dc:creator>Sanjiv</dc:creator>
  <cp:lastModifiedBy>Biraj Dulal</cp:lastModifiedBy>
  <cp:revision>138</cp:revision>
  <dcterms:created xsi:type="dcterms:W3CDTF">2016-03-28T12:29:25Z</dcterms:created>
  <dcterms:modified xsi:type="dcterms:W3CDTF">2020-03-11T11:06:32Z</dcterms:modified>
</cp:coreProperties>
</file>