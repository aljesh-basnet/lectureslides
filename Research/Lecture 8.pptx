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8" r:id="rId3"/>
  </p:sldMasterIdLst>
  <p:notesMasterIdLst>
    <p:notesMasterId r:id="rId35"/>
  </p:notesMasterIdLst>
  <p:sldIdLst>
    <p:sldId id="273" r:id="rId4"/>
    <p:sldId id="274" r:id="rId5"/>
    <p:sldId id="275" r:id="rId6"/>
    <p:sldId id="293" r:id="rId7"/>
    <p:sldId id="277" r:id="rId8"/>
    <p:sldId id="258" r:id="rId9"/>
    <p:sldId id="282" r:id="rId10"/>
    <p:sldId id="259" r:id="rId11"/>
    <p:sldId id="283" r:id="rId12"/>
    <p:sldId id="284" r:id="rId13"/>
    <p:sldId id="262" r:id="rId14"/>
    <p:sldId id="285" r:id="rId15"/>
    <p:sldId id="286" r:id="rId16"/>
    <p:sldId id="287" r:id="rId17"/>
    <p:sldId id="288" r:id="rId18"/>
    <p:sldId id="264" r:id="rId19"/>
    <p:sldId id="261" r:id="rId20"/>
    <p:sldId id="267" r:id="rId21"/>
    <p:sldId id="268" r:id="rId22"/>
    <p:sldId id="289" r:id="rId23"/>
    <p:sldId id="269" r:id="rId24"/>
    <p:sldId id="290" r:id="rId25"/>
    <p:sldId id="270" r:id="rId26"/>
    <p:sldId id="291" r:id="rId27"/>
    <p:sldId id="272" r:id="rId28"/>
    <p:sldId id="271" r:id="rId29"/>
    <p:sldId id="292" r:id="rId30"/>
    <p:sldId id="278" r:id="rId31"/>
    <p:sldId id="279" r:id="rId32"/>
    <p:sldId id="280" r:id="rId33"/>
    <p:sldId id="281"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178" autoAdjust="0"/>
  </p:normalViewPr>
  <p:slideViewPr>
    <p:cSldViewPr snapToGrid="0">
      <p:cViewPr varScale="1">
        <p:scale>
          <a:sx n="68" d="100"/>
          <a:sy n="68"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BF8C43-C3FB-41B7-BF89-FC405A990700}" type="datetimeFigureOut">
              <a:rPr lang="en-US" smtClean="0"/>
              <a:t>4/21/2020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2EB190-7851-41AE-B8C5-55ED0751056D}" type="slidenum">
              <a:rPr lang="en-US" smtClean="0"/>
              <a:t>‹#›</a:t>
            </a:fld>
            <a:endParaRPr lang="en-US"/>
          </a:p>
        </p:txBody>
      </p:sp>
    </p:spTree>
    <p:extLst>
      <p:ext uri="{BB962C8B-B14F-4D97-AF65-F5344CB8AC3E}">
        <p14:creationId xmlns:p14="http://schemas.microsoft.com/office/powerpoint/2010/main" val="3857696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986250" y="-11796713"/>
            <a:ext cx="22134513"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018901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986250" y="-11796713"/>
            <a:ext cx="22134513"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720742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914400" y="2130426"/>
            <a:ext cx="103632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609601" y="6353176"/>
            <a:ext cx="2789767"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28887120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Academy">
    <p:spTree>
      <p:nvGrpSpPr>
        <p:cNvPr id="1" name=""/>
        <p:cNvGrpSpPr/>
        <p:nvPr/>
      </p:nvGrpSpPr>
      <p:grpSpPr>
        <a:xfrm>
          <a:off x="0" y="0"/>
          <a:ext cx="0" cy="0"/>
          <a:chOff x="0" y="0"/>
          <a:chExt cx="0" cy="0"/>
        </a:xfrm>
      </p:grpSpPr>
      <p:sp>
        <p:nvSpPr>
          <p:cNvPr id="7" name="Title 1"/>
          <p:cNvSpPr>
            <a:spLocks noGrp="1"/>
          </p:cNvSpPr>
          <p:nvPr>
            <p:ph type="title"/>
          </p:nvPr>
        </p:nvSpPr>
        <p:spPr>
          <a:xfrm>
            <a:off x="381001" y="268288"/>
            <a:ext cx="11374967"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380999" y="1030288"/>
            <a:ext cx="11374967" cy="4870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9"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4208707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780963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381001" y="268288"/>
            <a:ext cx="11374967"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381001" y="1214438"/>
            <a:ext cx="5585884"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6170084" y="1214438"/>
            <a:ext cx="558588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8737601" y="6353176"/>
            <a:ext cx="2789767"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2823321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993973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475383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870568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368247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463825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685208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970198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5503E7AE-D891-4742-9343-5EF205D83184}"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294033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787813"/>
          </a:xfrm>
        </p:spPr>
        <p:txBody>
          <a:bodyPr>
            <a:normAutofit/>
          </a:bodyPr>
          <a:lstStyle>
            <a:lvl1pPr>
              <a:defRPr sz="4400"/>
            </a:lvl1pPr>
          </a:lstStyle>
          <a:p>
            <a:r>
              <a:rPr lang="en-US" dirty="0"/>
              <a:t>Click to edit Master title style</a:t>
            </a:r>
          </a:p>
        </p:txBody>
      </p:sp>
      <p:sp>
        <p:nvSpPr>
          <p:cNvPr id="3" name="Content Placeholder 2"/>
          <p:cNvSpPr>
            <a:spLocks noGrp="1"/>
          </p:cNvSpPr>
          <p:nvPr>
            <p:ph idx="1"/>
          </p:nvPr>
        </p:nvSpPr>
        <p:spPr>
          <a:xfrm>
            <a:off x="838200" y="1285461"/>
            <a:ext cx="10515600" cy="4891502"/>
          </a:xfrm>
        </p:spPr>
        <p:txBody>
          <a:bodyPr/>
          <a:lstStyle>
            <a:lvl1pPr>
              <a:defRPr sz="3200"/>
            </a:lvl1pPr>
            <a:lvl2pPr>
              <a:defRPr sz="28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D5741C6D-44DB-4C04-9CB5-747DFD8034D5}"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180051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89AF2F3-A1D1-4097-8ADA-9467C774BABF}"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937882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389D06B8-A366-4D7D-8D93-3C162260D047}"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33690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D8B09C-13EB-4CA6-8318-C71FFF147362}" type="datetimeFigureOut">
              <a:rPr lang="en-GB" smtClean="0">
                <a:solidFill>
                  <a:prstClr val="black">
                    <a:tint val="75000"/>
                  </a:prstClr>
                </a:solidFill>
              </a:rPr>
              <a:pPr/>
              <a:t>21/04/2020</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pPr defTabSz="342900"/>
            <a:endParaRPr lang="en-GB">
              <a:solidFill>
                <a:prstClr val="black"/>
              </a:solidFill>
            </a:endParaRPr>
          </a:p>
        </p:txBody>
      </p:sp>
      <p:sp>
        <p:nvSpPr>
          <p:cNvPr id="9" name="Slide Number Placeholder 8"/>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9554407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D8B09C-13EB-4CA6-8318-C71FFF147362}" type="datetimeFigureOut">
              <a:rPr lang="en-GB" smtClean="0">
                <a:solidFill>
                  <a:prstClr val="black">
                    <a:tint val="75000"/>
                  </a:prstClr>
                </a:solidFill>
              </a:rPr>
              <a:pPr/>
              <a:t>21/04/2020</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pPr defTabSz="342900"/>
            <a:endParaRPr lang="en-GB">
              <a:solidFill>
                <a:prstClr val="black"/>
              </a:solidFill>
            </a:endParaRPr>
          </a:p>
        </p:txBody>
      </p:sp>
      <p:sp>
        <p:nvSpPr>
          <p:cNvPr id="5" name="Slide Number Placeholder 4"/>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6236459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D8B09C-13EB-4CA6-8318-C71FFF147362}" type="datetimeFigureOut">
              <a:rPr lang="en-GB" smtClean="0">
                <a:solidFill>
                  <a:prstClr val="black">
                    <a:tint val="75000"/>
                  </a:prstClr>
                </a:solidFill>
              </a:rPr>
              <a:pPr/>
              <a:t>21/04/2020</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pPr defTabSz="342900"/>
            <a:endParaRPr lang="en-GB">
              <a:solidFill>
                <a:prstClr val="black"/>
              </a:solidFill>
            </a:endParaRPr>
          </a:p>
        </p:txBody>
      </p:sp>
      <p:sp>
        <p:nvSpPr>
          <p:cNvPr id="4" name="Slide Number Placeholder 3"/>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092437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21/04/2020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6888534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21/04/2020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5922096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21/04/2020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6976767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21/04/2020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8605895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914400" y="2130428"/>
            <a:ext cx="103632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609602" y="6353178"/>
            <a:ext cx="2789767" cy="371475"/>
          </a:xfrm>
          <a:prstGeom prst="rect">
            <a:avLst/>
          </a:prstGeo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8737602" y="6353178"/>
            <a:ext cx="2789767" cy="371475"/>
          </a:xfrm>
          <a:prstGeom prst="rect">
            <a:avLst/>
          </a:prstGeom>
          <a:ln/>
        </p:spPr>
        <p:txBody>
          <a:bodyPr/>
          <a:lstStyle>
            <a:lvl1pPr>
              <a:defRPr/>
            </a:lvl1pPr>
          </a:lstStyle>
          <a:p>
            <a:pPr>
              <a:defRPr/>
            </a:pPr>
            <a:fld id="{5503E7AE-D891-4742-9343-5EF205D83184}"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4796828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381002" y="268288"/>
            <a:ext cx="11374967" cy="762000"/>
          </a:xfrm>
        </p:spPr>
        <p:txBody>
          <a:bodyPr/>
          <a:lstStyle/>
          <a:p>
            <a:r>
              <a:rPr lang="en-US" dirty="0"/>
              <a:t>Click to edit Master title style</a:t>
            </a:r>
            <a:endParaRPr lang="en-SG" dirty="0"/>
          </a:p>
        </p:txBody>
      </p:sp>
      <p:sp>
        <p:nvSpPr>
          <p:cNvPr id="8" name="Content Placeholder 2"/>
          <p:cNvSpPr>
            <a:spLocks noGrp="1"/>
          </p:cNvSpPr>
          <p:nvPr>
            <p:ph idx="1"/>
          </p:nvPr>
        </p:nvSpPr>
        <p:spPr>
          <a:xfrm>
            <a:off x="381002" y="1214438"/>
            <a:ext cx="11374967"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609602" y="6353178"/>
            <a:ext cx="2789767"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8737602" y="6353178"/>
            <a:ext cx="2789767" cy="371475"/>
          </a:xfrm>
          <a:ln/>
        </p:spPr>
        <p:txBody>
          <a:bodyPr/>
          <a:lstStyle>
            <a:lvl1pPr>
              <a:defRPr/>
            </a:lvl1pPr>
          </a:lstStyle>
          <a:p>
            <a:pPr>
              <a:defRPr/>
            </a:pPr>
            <a:fld id="{D5741C6D-44DB-4C04-9CB5-747DFD8034D5}"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5945890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endParaRPr lang="en-SG"/>
          </a:p>
        </p:txBody>
      </p:sp>
      <p:sp>
        <p:nvSpPr>
          <p:cNvPr id="8" name="Text Placeholder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9" name="Rectangle 3"/>
          <p:cNvSpPr>
            <a:spLocks noGrp="1" noChangeArrowheads="1"/>
          </p:cNvSpPr>
          <p:nvPr>
            <p:ph type="dt" idx="10"/>
          </p:nvPr>
        </p:nvSpPr>
        <p:spPr>
          <a:xfrm>
            <a:off x="609602" y="6353178"/>
            <a:ext cx="2789767"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8737602" y="6353178"/>
            <a:ext cx="2789767" cy="371475"/>
          </a:xfrm>
          <a:ln/>
        </p:spPr>
        <p:txBody>
          <a:bodyPr/>
          <a:lstStyle>
            <a:lvl1pPr>
              <a:defRPr/>
            </a:lvl1pPr>
          </a:lstStyle>
          <a:p>
            <a:pPr>
              <a:defRPr/>
            </a:pPr>
            <a:fld id="{389AF2F3-A1D1-4097-8ADA-9467C774BABF}"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5969661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Title 1"/>
          <p:cNvSpPr>
            <a:spLocks noGrp="1"/>
          </p:cNvSpPr>
          <p:nvPr>
            <p:ph type="title"/>
          </p:nvPr>
        </p:nvSpPr>
        <p:spPr>
          <a:xfrm>
            <a:off x="381002" y="268288"/>
            <a:ext cx="11374967"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381002" y="1214438"/>
            <a:ext cx="5585884"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6170085" y="1214438"/>
            <a:ext cx="5585883"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609602" y="6353178"/>
            <a:ext cx="2789767" cy="371475"/>
          </a:xfrm>
          <a:ln/>
        </p:spPr>
        <p:txBody>
          <a:bodyPr/>
          <a:lstStyle>
            <a:lvl1pPr>
              <a:defRPr/>
            </a:lvl1pPr>
          </a:lstStyle>
          <a:p>
            <a:pPr>
              <a:defRPr/>
            </a:pPr>
            <a:endParaRPr lang="en-US" dirty="0">
              <a:solidFill>
                <a:prstClr val="black">
                  <a:tint val="75000"/>
                </a:prstClr>
              </a:solidFill>
            </a:endParaRPr>
          </a:p>
        </p:txBody>
      </p:sp>
      <p:sp>
        <p:nvSpPr>
          <p:cNvPr id="12" name="Rectangle 5"/>
          <p:cNvSpPr>
            <a:spLocks noGrp="1" noChangeArrowheads="1"/>
          </p:cNvSpPr>
          <p:nvPr>
            <p:ph type="sldNum" idx="11"/>
          </p:nvPr>
        </p:nvSpPr>
        <p:spPr>
          <a:xfrm>
            <a:off x="8737602" y="6353178"/>
            <a:ext cx="2789767" cy="371475"/>
          </a:xfrm>
          <a:ln/>
        </p:spPr>
        <p:txBody>
          <a:bodyPr/>
          <a:lstStyle>
            <a:lvl1pPr>
              <a:defRPr/>
            </a:lvl1pPr>
          </a:lstStyle>
          <a:p>
            <a:pPr>
              <a:defRPr/>
            </a:pPr>
            <a:fld id="{389D06B8-A366-4D7D-8D93-3C162260D047}"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527458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914400" y="2130426"/>
            <a:ext cx="103632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609601" y="6353176"/>
            <a:ext cx="2789767"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39359968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381001" y="268288"/>
            <a:ext cx="11374967"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381001" y="1214438"/>
            <a:ext cx="11374967"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7698095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8737601" y="6353176"/>
            <a:ext cx="2789767"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35506211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381001" y="268288"/>
            <a:ext cx="11374967"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381001" y="1214438"/>
            <a:ext cx="5585884"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6170084" y="1214438"/>
            <a:ext cx="558588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609601" y="6353176"/>
            <a:ext cx="2789767"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8737601" y="6353176"/>
            <a:ext cx="2789767"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11240898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7724067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3647521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0625296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4111763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42591296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6283887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57D8B09C-13EB-4CA6-8318-C71FFF147362}" type="datetimeFigureOut">
              <a:rPr lang="en-GB" smtClean="0"/>
              <a:pPr/>
              <a:t>21/04/2020</a:t>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254993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381001" y="268288"/>
            <a:ext cx="11374967"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381001" y="1214438"/>
            <a:ext cx="11374967"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609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4165600" y="6354763"/>
            <a:ext cx="38608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8737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smtClean="0"/>
              <a:pPr defTabSz="457200">
                <a:defRPr/>
              </a:pPr>
              <a:t>‹#›</a:t>
            </a:fld>
            <a:endParaRPr lang="en-SG" dirty="0"/>
          </a:p>
        </p:txBody>
      </p:sp>
      <p:sp>
        <p:nvSpPr>
          <p:cNvPr id="16" name="Rectangle 6"/>
          <p:cNvSpPr>
            <a:spLocks noChangeArrowheads="1"/>
          </p:cNvSpPr>
          <p:nvPr userDrawn="1"/>
        </p:nvSpPr>
        <p:spPr bwMode="auto">
          <a:xfrm>
            <a:off x="0" y="0"/>
            <a:ext cx="12192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10572781"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43" y="6643712"/>
            <a:ext cx="12192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619219" y="6786585"/>
            <a:ext cx="10572739"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24525851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8B09C-13EB-4CA6-8318-C71FFF147362}" type="datetimeFigureOut">
              <a:rPr lang="en-GB" smtClean="0">
                <a:solidFill>
                  <a:prstClr val="black">
                    <a:tint val="75000"/>
                  </a:prstClr>
                </a:solidFill>
              </a:rPr>
              <a:pPr/>
              <a:t>21/04/2020</a:t>
            </a:fld>
            <a:endParaRPr lang="en-GB">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
        <p:nvSpPr>
          <p:cNvPr id="7" name="Text Box 4"/>
          <p:cNvSpPr txBox="1">
            <a:spLocks noChangeArrowheads="1"/>
          </p:cNvSpPr>
          <p:nvPr userDrawn="1"/>
        </p:nvSpPr>
        <p:spPr bwMode="auto">
          <a:xfrm>
            <a:off x="4165600" y="6354763"/>
            <a:ext cx="3860800" cy="368300"/>
          </a:xfrm>
          <a:prstGeom prst="rect">
            <a:avLst/>
          </a:prstGeom>
          <a:noFill/>
          <a:ln w="9525">
            <a:noFill/>
            <a:round/>
            <a:headEnd/>
            <a:tailEnd/>
          </a:ln>
          <a:effectLst/>
        </p:spPr>
        <p:txBody>
          <a:bodyPr wrap="none" anchor="ctr"/>
          <a:lstStyle/>
          <a:p>
            <a:pPr defTabSz="342900">
              <a:defRPr/>
            </a:pPr>
            <a:endParaRPr lang="en-SG" sz="1350" dirty="0">
              <a:solidFill>
                <a:prstClr val="black"/>
              </a:solidFill>
            </a:endParaRPr>
          </a:p>
        </p:txBody>
      </p:sp>
      <p:sp>
        <p:nvSpPr>
          <p:cNvPr id="8" name="Rectangle 6"/>
          <p:cNvSpPr>
            <a:spLocks noChangeArrowheads="1"/>
          </p:cNvSpPr>
          <p:nvPr userDrawn="1"/>
        </p:nvSpPr>
        <p:spPr bwMode="auto">
          <a:xfrm>
            <a:off x="0" y="0"/>
            <a:ext cx="12192000" cy="214313"/>
          </a:xfrm>
          <a:prstGeom prst="rect">
            <a:avLst/>
          </a:prstGeom>
          <a:solidFill>
            <a:srgbClr val="C00000"/>
          </a:solidFill>
          <a:ln w="9525">
            <a:noFill/>
            <a:round/>
            <a:headEnd/>
            <a:tailEnd/>
          </a:ln>
          <a:effectLst/>
        </p:spPr>
        <p:txBody>
          <a:bodyPr wrap="none" anchor="ctr"/>
          <a:lstStyle/>
          <a:p>
            <a:pPr algn="r" defTabSz="342900">
              <a:defRPr/>
            </a:pPr>
            <a:r>
              <a:rPr lang="en-SG" sz="1350" dirty="0" err="1">
                <a:solidFill>
                  <a:prstClr val="white"/>
                </a:solidFill>
              </a:rPr>
              <a:t>iAcademy</a:t>
            </a:r>
            <a:endParaRPr lang="en-SG" sz="1350" dirty="0">
              <a:solidFill>
                <a:prstClr val="white"/>
              </a:solidFill>
            </a:endParaRPr>
          </a:p>
        </p:txBody>
      </p:sp>
      <p:sp>
        <p:nvSpPr>
          <p:cNvPr id="9" name="Rectangle 7"/>
          <p:cNvSpPr>
            <a:spLocks noChangeArrowheads="1"/>
          </p:cNvSpPr>
          <p:nvPr userDrawn="1"/>
        </p:nvSpPr>
        <p:spPr bwMode="auto">
          <a:xfrm flipV="1">
            <a:off x="0" y="-1"/>
            <a:ext cx="10572781" cy="45719"/>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
        <p:nvSpPr>
          <p:cNvPr id="10" name="Rectangle 6"/>
          <p:cNvSpPr>
            <a:spLocks noChangeArrowheads="1"/>
          </p:cNvSpPr>
          <p:nvPr userDrawn="1"/>
        </p:nvSpPr>
        <p:spPr bwMode="auto">
          <a:xfrm>
            <a:off x="-43" y="6643714"/>
            <a:ext cx="12192000" cy="214313"/>
          </a:xfrm>
          <a:prstGeom prst="rect">
            <a:avLst/>
          </a:prstGeom>
          <a:solidFill>
            <a:srgbClr val="C00000"/>
          </a:solidFill>
          <a:ln w="9525">
            <a:noFill/>
            <a:round/>
            <a:headEnd/>
            <a:tailEnd/>
          </a:ln>
          <a:effectLst/>
        </p:spPr>
        <p:txBody>
          <a:bodyPr wrap="none" anchor="ctr"/>
          <a:lstStyle/>
          <a:p>
            <a:pPr defTabSz="336947" fontAlgn="base">
              <a:spcBef>
                <a:spcPct val="0"/>
              </a:spcBef>
              <a:spcAft>
                <a:spcPct val="0"/>
              </a:spcAft>
              <a:buClr>
                <a:srgbClr val="000000"/>
              </a:buClr>
              <a:buSzPct val="100000"/>
              <a:buFont typeface="Times New Roman" pitchFamily="16" charset="0"/>
              <a:buNone/>
              <a:defRPr/>
            </a:pPr>
            <a:r>
              <a:rPr lang="en-SG" sz="1350" dirty="0" err="1">
                <a:solidFill>
                  <a:prstClr val="white"/>
                </a:solidFill>
              </a:rPr>
              <a:t>iAcademy</a:t>
            </a:r>
            <a:endParaRPr lang="en-SG" sz="1350" dirty="0">
              <a:solidFill>
                <a:prstClr val="white"/>
              </a:solidFill>
            </a:endParaRPr>
          </a:p>
        </p:txBody>
      </p:sp>
      <p:sp>
        <p:nvSpPr>
          <p:cNvPr id="11" name="Rectangle 7"/>
          <p:cNvSpPr>
            <a:spLocks noChangeArrowheads="1"/>
          </p:cNvSpPr>
          <p:nvPr userDrawn="1"/>
        </p:nvSpPr>
        <p:spPr bwMode="auto">
          <a:xfrm flipV="1">
            <a:off x="1619220" y="6786587"/>
            <a:ext cx="10572739" cy="71415"/>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Tree>
    <p:extLst>
      <p:ext uri="{BB962C8B-B14F-4D97-AF65-F5344CB8AC3E}">
        <p14:creationId xmlns:p14="http://schemas.microsoft.com/office/powerpoint/2010/main" val="25564671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381001" y="268288"/>
            <a:ext cx="11374967"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381001" y="1214438"/>
            <a:ext cx="11374967"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609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4165600" y="6354763"/>
            <a:ext cx="38608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8737601" y="6353176"/>
            <a:ext cx="2789767"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smtClean="0"/>
              <a:pPr defTabSz="457200">
                <a:defRPr/>
              </a:pPr>
              <a:t>‹#›</a:t>
            </a:fld>
            <a:endParaRPr lang="en-SG" dirty="0"/>
          </a:p>
        </p:txBody>
      </p:sp>
      <p:sp>
        <p:nvSpPr>
          <p:cNvPr id="16" name="Rectangle 6"/>
          <p:cNvSpPr>
            <a:spLocks noChangeArrowheads="1"/>
          </p:cNvSpPr>
          <p:nvPr userDrawn="1"/>
        </p:nvSpPr>
        <p:spPr bwMode="auto">
          <a:xfrm>
            <a:off x="0" y="0"/>
            <a:ext cx="12192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10572781"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43" y="6643712"/>
            <a:ext cx="12192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619219" y="6786585"/>
            <a:ext cx="10572739"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336241862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p:cNvSpPr>
            <a:spLocks noGrp="1"/>
          </p:cNvSpPr>
          <p:nvPr>
            <p:ph type="ctrTitle"/>
          </p:nvPr>
        </p:nvSpPr>
        <p:spPr>
          <a:xfrm>
            <a:off x="2209800" y="785795"/>
            <a:ext cx="7772400" cy="1470025"/>
          </a:xfrm>
        </p:spPr>
        <p:txBody>
          <a:bodyPr/>
          <a:lstStyle/>
          <a:p>
            <a:pPr algn="ctr"/>
            <a:r>
              <a:rPr lang="en-US" dirty="0"/>
              <a:t>Report Writing</a:t>
            </a:r>
            <a:endParaRPr lang="en-GB" dirty="0"/>
          </a:p>
        </p:txBody>
      </p:sp>
      <p:sp>
        <p:nvSpPr>
          <p:cNvPr id="10" name="Subtitle 5"/>
          <p:cNvSpPr>
            <a:spLocks noGrp="1"/>
          </p:cNvSpPr>
          <p:nvPr>
            <p:ph type="subTitle" idx="1"/>
          </p:nvPr>
        </p:nvSpPr>
        <p:spPr>
          <a:xfrm>
            <a:off x="1881158" y="2684445"/>
            <a:ext cx="8358246" cy="2387629"/>
          </a:xfrm>
        </p:spPr>
        <p:txBody>
          <a:bodyPr/>
          <a:lstStyle/>
          <a:p>
            <a:r>
              <a:rPr lang="en-GB" dirty="0"/>
              <a:t>Research and Development Skills in Computing</a:t>
            </a:r>
          </a:p>
          <a:p>
            <a:r>
              <a:rPr lang="en-US" sz="2800"/>
              <a:t>Lecture 8</a:t>
            </a:r>
            <a:endParaRPr lang="en-US" sz="2800" dirty="0"/>
          </a:p>
          <a:p>
            <a:endParaRPr lang="en-US" sz="2800" dirty="0"/>
          </a:p>
          <a:p>
            <a:r>
              <a:rPr lang="en-US" sz="2400" i="1" dirty="0"/>
              <a:t>How to write your Final year Undergraduate major Project</a:t>
            </a:r>
            <a:endParaRPr lang="en-GB" sz="2400" i="1" dirty="0"/>
          </a:p>
        </p:txBody>
      </p:sp>
      <p:sp>
        <p:nvSpPr>
          <p:cNvPr id="11" name="TextBox 3"/>
          <p:cNvSpPr txBox="1">
            <a:spLocks noChangeArrowheads="1"/>
          </p:cNvSpPr>
          <p:nvPr/>
        </p:nvSpPr>
        <p:spPr bwMode="auto">
          <a:xfrm>
            <a:off x="1666844" y="5214950"/>
            <a:ext cx="8786874" cy="1285884"/>
          </a:xfrm>
          <a:prstGeom prst="rect">
            <a:avLst/>
          </a:prstGeom>
          <a:ln w="9525"/>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p>
            <a:pPr algn="just" defTabSz="457200">
              <a:spcBef>
                <a:spcPct val="20000"/>
              </a:spcBef>
            </a:pPr>
            <a:r>
              <a:rPr lang="en-GB" sz="1400" dirty="0">
                <a:solidFill>
                  <a:prstClr val="black"/>
                </a:solidFill>
              </a:rPr>
              <a:t>This lecture and its associated materials have been produced by </a:t>
            </a:r>
            <a:r>
              <a:rPr lang="en-US" sz="1400" dirty="0">
                <a:solidFill>
                  <a:prstClr val="black"/>
                </a:solidFill>
              </a:rPr>
              <a:t>Mr. </a:t>
            </a:r>
            <a:r>
              <a:rPr lang="en-US" sz="1400" dirty="0" err="1">
                <a:solidFill>
                  <a:prstClr val="black"/>
                </a:solidFill>
              </a:rPr>
              <a:t>Sanjiv</a:t>
            </a:r>
            <a:r>
              <a:rPr lang="en-US" sz="1400" dirty="0">
                <a:solidFill>
                  <a:prstClr val="black"/>
                </a:solidFill>
              </a:rPr>
              <a:t> </a:t>
            </a:r>
            <a:r>
              <a:rPr lang="en-US" sz="1400" dirty="0" err="1">
                <a:solidFill>
                  <a:prstClr val="black"/>
                </a:solidFill>
              </a:rPr>
              <a:t>Udash</a:t>
            </a:r>
            <a:r>
              <a:rPr lang="en-US" sz="1400" dirty="0">
                <a:solidFill>
                  <a:prstClr val="black"/>
                </a:solidFill>
              </a:rPr>
              <a:t> (MSc, University of Northampton) </a:t>
            </a:r>
            <a:r>
              <a:rPr lang="en-GB" sz="1400" dirty="0">
                <a:solidFill>
                  <a:prstClr val="black"/>
                </a:solidFill>
              </a:rPr>
              <a:t>of </a:t>
            </a:r>
            <a:r>
              <a:rPr lang="en-GB" sz="1400" dirty="0" err="1">
                <a:solidFill>
                  <a:prstClr val="black"/>
                </a:solidFill>
              </a:rPr>
              <a:t>iAcademy</a:t>
            </a:r>
            <a:r>
              <a:rPr lang="en-GB" sz="1400" dirty="0">
                <a:solidFill>
                  <a:prstClr val="black"/>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400" dirty="0" err="1">
                <a:solidFill>
                  <a:prstClr val="black"/>
                </a:solidFill>
              </a:rPr>
              <a:t>iAcademy</a:t>
            </a:r>
            <a:r>
              <a:rPr lang="en-GB" sz="1400" dirty="0">
                <a:solidFill>
                  <a:prstClr val="black"/>
                </a:solidFill>
              </a:rPr>
              <a:t> do not accept any liability for the consequences of any action taken as a result of the work or any recommendations made or inferred. Permission to use any of these materials must be first granted by </a:t>
            </a:r>
            <a:r>
              <a:rPr lang="en-GB" sz="1400" dirty="0" err="1">
                <a:solidFill>
                  <a:prstClr val="black"/>
                </a:solidFill>
              </a:rPr>
              <a:t>iAcademy</a:t>
            </a:r>
            <a:r>
              <a:rPr lang="en-GB" sz="1400" dirty="0">
                <a:solidFill>
                  <a:prstClr val="black"/>
                </a:solidFill>
              </a:rPr>
              <a:t>.</a:t>
            </a:r>
            <a:endParaRPr lang="en-US" sz="1400" dirty="0">
              <a:solidFill>
                <a:prstClr val="black"/>
              </a:solidFill>
            </a:endParaRPr>
          </a:p>
        </p:txBody>
      </p:sp>
    </p:spTree>
    <p:extLst>
      <p:ext uri="{BB962C8B-B14F-4D97-AF65-F5344CB8AC3E}">
        <p14:creationId xmlns:p14="http://schemas.microsoft.com/office/powerpoint/2010/main" val="1614704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itchFamily="34" charset="0"/>
              </a:rPr>
              <a:t>Agenda</a:t>
            </a:r>
            <a:r>
              <a:rPr lang="en-US" b="1" dirty="0"/>
              <a:t>	</a:t>
            </a:r>
            <a:endParaRPr lang="en-GB" b="1" dirty="0"/>
          </a:p>
        </p:txBody>
      </p:sp>
      <p:sp>
        <p:nvSpPr>
          <p:cNvPr id="3" name="Content Placeholder 2"/>
          <p:cNvSpPr>
            <a:spLocks noGrp="1"/>
          </p:cNvSpPr>
          <p:nvPr>
            <p:ph idx="1"/>
          </p:nvPr>
        </p:nvSpPr>
        <p:spPr>
          <a:xfrm>
            <a:off x="381001" y="1073987"/>
            <a:ext cx="8531225" cy="4870450"/>
          </a:xfrm>
        </p:spPr>
        <p:txBody>
          <a:bodyPr/>
          <a:lstStyle/>
          <a:p>
            <a:pPr marL="342900" indent="-342900" algn="just" defTabSz="449263" eaLnBrk="0" fontAlgn="base" hangingPunct="0">
              <a:spcBef>
                <a:spcPts val="700"/>
              </a:spcBef>
              <a:spcAft>
                <a:spcPct val="0"/>
              </a:spcAft>
              <a:buClr>
                <a:srgbClr val="000000"/>
              </a:buClr>
              <a:buSzPct val="100000"/>
              <a:buFont typeface="Times New Roman" pitchFamily="16" charset="0"/>
              <a:buChar char="•"/>
            </a:pPr>
            <a:r>
              <a:rPr lang="en-US" dirty="0">
                <a:solidFill>
                  <a:srgbClr val="000000"/>
                </a:solidFill>
                <a:ea typeface="宋体" pitchFamily="2" charset="-122"/>
              </a:rPr>
              <a:t>Week 8 Lecture Coverage</a:t>
            </a:r>
          </a:p>
          <a:p>
            <a:pPr lvl="1"/>
            <a:r>
              <a:rPr lang="en-GB" dirty="0"/>
              <a:t>Writing and structuring reports</a:t>
            </a:r>
          </a:p>
          <a:p>
            <a:pPr lvl="1"/>
            <a:r>
              <a:rPr lang="en-GB" dirty="0"/>
              <a:t>Writing abstracts</a:t>
            </a:r>
          </a:p>
          <a:p>
            <a:pPr lvl="1"/>
            <a:r>
              <a:rPr lang="en-GB" dirty="0"/>
              <a:t>Data presentation</a:t>
            </a:r>
          </a:p>
          <a:p>
            <a:pPr lvl="1"/>
            <a:r>
              <a:rPr lang="en-GB" dirty="0"/>
              <a:t>Referencing</a:t>
            </a:r>
          </a:p>
          <a:p>
            <a:pPr lvl="1"/>
            <a:r>
              <a:rPr lang="en-GB" dirty="0"/>
              <a:t>Documenting software</a:t>
            </a:r>
          </a:p>
        </p:txBody>
      </p:sp>
    </p:spTree>
    <p:extLst>
      <p:ext uri="{BB962C8B-B14F-4D97-AF65-F5344CB8AC3E}">
        <p14:creationId xmlns:p14="http://schemas.microsoft.com/office/powerpoint/2010/main" val="7777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835120" y="2195068"/>
            <a:ext cx="8501122" cy="2554545"/>
          </a:xfrm>
          <a:prstGeom prst="rect">
            <a:avLst/>
          </a:prstGeom>
          <a:noFill/>
          <a:ln w="63500">
            <a:solidFill>
              <a:srgbClr val="C00000"/>
            </a:solidFill>
          </a:ln>
        </p:spPr>
        <p:txBody>
          <a:bodyPr wrap="square" rtlCol="0">
            <a:spAutoFit/>
          </a:bodyPr>
          <a:lstStyle/>
          <a:p>
            <a:pPr algn="ctr"/>
            <a:endParaRPr lang="en-US" sz="4000" b="1" dirty="0">
              <a:solidFill>
                <a:prstClr val="black"/>
              </a:solidFill>
            </a:endParaRPr>
          </a:p>
          <a:p>
            <a:pPr algn="ctr"/>
            <a:r>
              <a:rPr lang="en-US" sz="4000" b="1" dirty="0">
                <a:solidFill>
                  <a:prstClr val="black"/>
                </a:solidFill>
              </a:rPr>
              <a:t>But first let’s review what have we learned from week 7</a:t>
            </a:r>
          </a:p>
          <a:p>
            <a:pPr algn="ctr"/>
            <a:endParaRPr lang="en-US" sz="4000" b="1" dirty="0">
              <a:solidFill>
                <a:prstClr val="black"/>
              </a:solidFill>
            </a:endParaRPr>
          </a:p>
        </p:txBody>
      </p:sp>
    </p:spTree>
    <p:extLst>
      <p:ext uri="{BB962C8B-B14F-4D97-AF65-F5344CB8AC3E}">
        <p14:creationId xmlns:p14="http://schemas.microsoft.com/office/powerpoint/2010/main" val="2103597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268288"/>
            <a:ext cx="11491685" cy="762000"/>
          </a:xfrm>
        </p:spPr>
        <p:txBody>
          <a:bodyPr/>
          <a:lstStyle/>
          <a:p>
            <a:r>
              <a:rPr lang="en-US" dirty="0"/>
              <a:t>Review of Week 7</a:t>
            </a:r>
            <a:endParaRPr lang="en-GB" dirty="0"/>
          </a:p>
        </p:txBody>
      </p:sp>
      <p:sp>
        <p:nvSpPr>
          <p:cNvPr id="3" name="Content Placeholder 2"/>
          <p:cNvSpPr>
            <a:spLocks noGrp="1"/>
          </p:cNvSpPr>
          <p:nvPr>
            <p:ph idx="1"/>
          </p:nvPr>
        </p:nvSpPr>
        <p:spPr/>
        <p:txBody>
          <a:bodyPr>
            <a:normAutofit lnSpcReduction="10000"/>
          </a:bodyPr>
          <a:lstStyle/>
          <a:p>
            <a:pPr algn="just"/>
            <a:r>
              <a:rPr lang="en-US" dirty="0"/>
              <a:t>Although you may have proposed an interesting and worthwhile project and planned it well, once your project is underway it needs to be carefully managed and controlled or it will fall apart. </a:t>
            </a:r>
          </a:p>
          <a:p>
            <a:pPr algn="just"/>
            <a:r>
              <a:rPr lang="en-US" dirty="0"/>
              <a:t>A project consists of five elements – three consumables: time, resources and money and two attributes of the project’s product; scope and quality.</a:t>
            </a:r>
          </a:p>
          <a:p>
            <a:pPr algn="just"/>
            <a:r>
              <a:rPr lang="en-US" dirty="0"/>
              <a:t>It is not really the nature of the problem that you encounter that can lead to project failure, but how you deal with the problem that counts.</a:t>
            </a:r>
          </a:p>
          <a:p>
            <a:pPr algn="just"/>
            <a:r>
              <a:rPr lang="en-US" dirty="0"/>
              <a:t>The focus of time management is to learn how to become more efficient in your use of serviceable time.</a:t>
            </a:r>
            <a:endParaRPr lang="en-GB" dirty="0"/>
          </a:p>
          <a:p>
            <a:pPr algn="just"/>
            <a:endParaRPr lang="en-GB" dirty="0"/>
          </a:p>
        </p:txBody>
      </p:sp>
    </p:spTree>
    <p:extLst>
      <p:ext uri="{BB962C8B-B14F-4D97-AF65-F5344CB8AC3E}">
        <p14:creationId xmlns:p14="http://schemas.microsoft.com/office/powerpoint/2010/main" val="2531690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isha.ws/blog/wp-content/uploads/2013/08/confusion-clarity-spiritual-pat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788" y="1152940"/>
            <a:ext cx="8480425" cy="477023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title"/>
          </p:nvPr>
        </p:nvSpPr>
        <p:spPr/>
        <p:txBody>
          <a:bodyPr/>
          <a:lstStyle/>
          <a:p>
            <a:r>
              <a:rPr lang="en-US" b="1" dirty="0">
                <a:latin typeface="+mn-lt"/>
              </a:rPr>
              <a:t>Any Confusion?</a:t>
            </a:r>
          </a:p>
        </p:txBody>
      </p:sp>
    </p:spTree>
    <p:extLst>
      <p:ext uri="{BB962C8B-B14F-4D97-AF65-F5344CB8AC3E}">
        <p14:creationId xmlns:p14="http://schemas.microsoft.com/office/powerpoint/2010/main" val="1548605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268288"/>
            <a:ext cx="11985170" cy="762000"/>
          </a:xfrm>
        </p:spPr>
        <p:txBody>
          <a:bodyPr/>
          <a:lstStyle/>
          <a:p>
            <a:r>
              <a:rPr lang="en-US" dirty="0"/>
              <a:t>Writing and structuring reports: Considerations (1)</a:t>
            </a:r>
            <a:endParaRPr lang="en-GB" dirty="0"/>
          </a:p>
        </p:txBody>
      </p:sp>
      <p:sp>
        <p:nvSpPr>
          <p:cNvPr id="3" name="Content Placeholder 2"/>
          <p:cNvSpPr>
            <a:spLocks noGrp="1"/>
          </p:cNvSpPr>
          <p:nvPr>
            <p:ph idx="1"/>
          </p:nvPr>
        </p:nvSpPr>
        <p:spPr/>
        <p:txBody>
          <a:bodyPr>
            <a:normAutofit/>
          </a:bodyPr>
          <a:lstStyle/>
          <a:p>
            <a:pPr marL="0" indent="0">
              <a:buNone/>
            </a:pPr>
            <a:r>
              <a:rPr lang="en-US" dirty="0"/>
              <a:t>As you begin work on your project’s report, bear in mind two main considerations:</a:t>
            </a:r>
          </a:p>
          <a:p>
            <a:r>
              <a:rPr lang="en-US" b="1" dirty="0"/>
              <a:t>What is the purpose of the report? </a:t>
            </a:r>
          </a:p>
          <a:p>
            <a:pPr lvl="1"/>
            <a:r>
              <a:rPr lang="en-US" dirty="0"/>
              <a:t>Is it to obtain the best mark you can achieve for your project? </a:t>
            </a:r>
          </a:p>
          <a:p>
            <a:pPr lvl="1"/>
            <a:r>
              <a:rPr lang="en-US" dirty="0"/>
              <a:t>Is it to present your work in the best light? Is it to disseminate your ideas and results to others? </a:t>
            </a:r>
          </a:p>
          <a:p>
            <a:pPr lvl="1"/>
            <a:r>
              <a:rPr lang="en-US" dirty="0"/>
              <a:t>Is it to provide a thorough literature review of the field? </a:t>
            </a:r>
          </a:p>
          <a:p>
            <a:pPr lvl="1"/>
            <a:r>
              <a:rPr lang="en-US" dirty="0"/>
              <a:t>Is it to inspire others and to persuade them to get involved with your research? </a:t>
            </a:r>
          </a:p>
          <a:p>
            <a:pPr lvl="1"/>
            <a:r>
              <a:rPr lang="en-US" dirty="0"/>
              <a:t>Is it to fulfil the requirements of your course?</a:t>
            </a:r>
          </a:p>
        </p:txBody>
      </p:sp>
    </p:spTree>
    <p:extLst>
      <p:ext uri="{BB962C8B-B14F-4D97-AF65-F5344CB8AC3E}">
        <p14:creationId xmlns:p14="http://schemas.microsoft.com/office/powerpoint/2010/main" val="2781008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268288"/>
            <a:ext cx="11956142" cy="762000"/>
          </a:xfrm>
        </p:spPr>
        <p:txBody>
          <a:bodyPr/>
          <a:lstStyle/>
          <a:p>
            <a:r>
              <a:rPr lang="en-US" dirty="0"/>
              <a:t>Writing and structuring reports: Considerations (2)</a:t>
            </a:r>
            <a:endParaRPr lang="en-GB" dirty="0"/>
          </a:p>
        </p:txBody>
      </p:sp>
      <p:sp>
        <p:nvSpPr>
          <p:cNvPr id="3" name="Content Placeholder 2"/>
          <p:cNvSpPr>
            <a:spLocks noGrp="1"/>
          </p:cNvSpPr>
          <p:nvPr>
            <p:ph idx="1"/>
          </p:nvPr>
        </p:nvSpPr>
        <p:spPr/>
        <p:txBody>
          <a:bodyPr>
            <a:normAutofit/>
          </a:bodyPr>
          <a:lstStyle/>
          <a:p>
            <a:r>
              <a:rPr lang="en-US" b="1" dirty="0"/>
              <a:t>Who is going to read it? </a:t>
            </a:r>
          </a:p>
          <a:p>
            <a:pPr lvl="1"/>
            <a:r>
              <a:rPr lang="en-US" dirty="0"/>
              <a:t>What do they already know? </a:t>
            </a:r>
          </a:p>
          <a:p>
            <a:pPr lvl="1"/>
            <a:r>
              <a:rPr lang="en-US" dirty="0"/>
              <a:t>What do you want them to learn? </a:t>
            </a:r>
          </a:p>
          <a:p>
            <a:pPr lvl="1"/>
            <a:r>
              <a:rPr lang="en-US" dirty="0"/>
              <a:t>What do you want them to gain from your report? </a:t>
            </a:r>
          </a:p>
          <a:p>
            <a:pPr lvl="1"/>
            <a:r>
              <a:rPr lang="en-US" dirty="0"/>
              <a:t>How do you want to influence them? </a:t>
            </a:r>
          </a:p>
          <a:p>
            <a:pPr lvl="1"/>
            <a:r>
              <a:rPr lang="en-US" dirty="0"/>
              <a:t>Will it be read by people other than your examiners (future employers, other students, academics and experts, for example)?</a:t>
            </a:r>
            <a:endParaRPr lang="en-GB" dirty="0"/>
          </a:p>
        </p:txBody>
      </p:sp>
    </p:spTree>
    <p:extLst>
      <p:ext uri="{BB962C8B-B14F-4D97-AF65-F5344CB8AC3E}">
        <p14:creationId xmlns:p14="http://schemas.microsoft.com/office/powerpoint/2010/main" val="3227845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268287"/>
            <a:ext cx="11374967" cy="1371827"/>
          </a:xfrm>
        </p:spPr>
        <p:txBody>
          <a:bodyPr/>
          <a:lstStyle/>
          <a:p>
            <a:r>
              <a:rPr lang="en-US" dirty="0"/>
              <a:t>Writing and structuring reports: Approaches to writing (1)</a:t>
            </a:r>
            <a:endParaRPr lang="en-GB" dirty="0"/>
          </a:p>
        </p:txBody>
      </p:sp>
      <p:sp>
        <p:nvSpPr>
          <p:cNvPr id="3" name="Content Placeholder 2"/>
          <p:cNvSpPr>
            <a:spLocks noGrp="1"/>
          </p:cNvSpPr>
          <p:nvPr>
            <p:ph idx="1"/>
          </p:nvPr>
        </p:nvSpPr>
        <p:spPr>
          <a:xfrm>
            <a:off x="380999" y="1640113"/>
            <a:ext cx="11374967" cy="5428343"/>
          </a:xfrm>
        </p:spPr>
        <p:txBody>
          <a:bodyPr>
            <a:normAutofit/>
          </a:bodyPr>
          <a:lstStyle/>
          <a:p>
            <a:r>
              <a:rPr lang="en-US" dirty="0"/>
              <a:t>There are two main approaches that people tend to use when they write reports: </a:t>
            </a:r>
          </a:p>
          <a:p>
            <a:pPr lvl="1"/>
            <a:r>
              <a:rPr lang="en-US" dirty="0"/>
              <a:t>the top-down approach and </a:t>
            </a:r>
          </a:p>
          <a:p>
            <a:pPr lvl="1"/>
            <a:r>
              <a:rPr lang="en-US" dirty="0"/>
              <a:t>the evolutionary delivery.</a:t>
            </a:r>
          </a:p>
          <a:p>
            <a:r>
              <a:rPr lang="en-US" dirty="0"/>
              <a:t>The top-down approach is used to identify the structure of your report with a chapter breakdown structure </a:t>
            </a:r>
          </a:p>
          <a:p>
            <a:pPr lvl="1"/>
            <a:r>
              <a:rPr lang="en-US" dirty="0"/>
              <a:t>how many chapters it will have, </a:t>
            </a:r>
          </a:p>
          <a:p>
            <a:pPr lvl="1"/>
            <a:r>
              <a:rPr lang="en-US" dirty="0"/>
              <a:t>what each chapter will contain and </a:t>
            </a:r>
          </a:p>
          <a:p>
            <a:pPr lvl="1"/>
            <a:r>
              <a:rPr lang="en-US" dirty="0"/>
              <a:t>how each chapter will break down into sub-sections.</a:t>
            </a:r>
          </a:p>
        </p:txBody>
      </p:sp>
    </p:spTree>
    <p:extLst>
      <p:ext uri="{BB962C8B-B14F-4D97-AF65-F5344CB8AC3E}">
        <p14:creationId xmlns:p14="http://schemas.microsoft.com/office/powerpoint/2010/main" val="2735986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268287"/>
            <a:ext cx="11374967" cy="1371827"/>
          </a:xfrm>
        </p:spPr>
        <p:txBody>
          <a:bodyPr/>
          <a:lstStyle/>
          <a:p>
            <a:r>
              <a:rPr lang="en-US" dirty="0"/>
              <a:t>Writing and structuring reports: Approaches to writing (2)</a:t>
            </a:r>
            <a:endParaRPr lang="en-GB" dirty="0"/>
          </a:p>
        </p:txBody>
      </p:sp>
      <p:sp>
        <p:nvSpPr>
          <p:cNvPr id="3" name="Content Placeholder 2"/>
          <p:cNvSpPr>
            <a:spLocks noGrp="1"/>
          </p:cNvSpPr>
          <p:nvPr>
            <p:ph idx="1"/>
          </p:nvPr>
        </p:nvSpPr>
        <p:spPr>
          <a:xfrm>
            <a:off x="380999" y="1640113"/>
            <a:ext cx="11374967" cy="5428343"/>
          </a:xfrm>
        </p:spPr>
        <p:txBody>
          <a:bodyPr>
            <a:normAutofit/>
          </a:bodyPr>
          <a:lstStyle/>
          <a:p>
            <a:r>
              <a:rPr lang="en-US" dirty="0"/>
              <a:t>In the evolutionary approach:</a:t>
            </a:r>
          </a:p>
          <a:p>
            <a:pPr lvl="1"/>
            <a:r>
              <a:rPr lang="en-US" dirty="0"/>
              <a:t> you begin to write parts of your report and rewrite these parts as your project progresses (drafting and redrafting). </a:t>
            </a:r>
          </a:p>
          <a:p>
            <a:pPr lvl="1"/>
            <a:r>
              <a:rPr lang="en-US" dirty="0"/>
              <a:t>Each part thus evolves and matures over a period of time as new ideas emerge and your understanding increases. </a:t>
            </a:r>
          </a:p>
          <a:p>
            <a:pPr lvl="1"/>
            <a:r>
              <a:rPr lang="en-US" dirty="0"/>
              <a:t>Thus, you do not sit down at the end of your project and write your report as a one-off. </a:t>
            </a:r>
          </a:p>
          <a:p>
            <a:pPr lvl="1"/>
            <a:r>
              <a:rPr lang="en-US" dirty="0"/>
              <a:t>You write it over a much longer period of time throughout your project.</a:t>
            </a:r>
            <a:endParaRPr lang="en-GB" dirty="0"/>
          </a:p>
        </p:txBody>
      </p:sp>
    </p:spTree>
    <p:extLst>
      <p:ext uri="{BB962C8B-B14F-4D97-AF65-F5344CB8AC3E}">
        <p14:creationId xmlns:p14="http://schemas.microsoft.com/office/powerpoint/2010/main" val="3723330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268287"/>
            <a:ext cx="11374967" cy="1371827"/>
          </a:xfrm>
        </p:spPr>
        <p:txBody>
          <a:bodyPr/>
          <a:lstStyle/>
          <a:p>
            <a:r>
              <a:rPr lang="en-US" dirty="0"/>
              <a:t>Writing and structuring reports: Approaches to writing (3)</a:t>
            </a:r>
            <a:endParaRPr lang="en-GB" dirty="0"/>
          </a:p>
        </p:txBody>
      </p:sp>
      <p:sp>
        <p:nvSpPr>
          <p:cNvPr id="3" name="Content Placeholder 2"/>
          <p:cNvSpPr>
            <a:spLocks noGrp="1"/>
          </p:cNvSpPr>
          <p:nvPr>
            <p:ph idx="1"/>
          </p:nvPr>
        </p:nvSpPr>
        <p:spPr>
          <a:xfrm>
            <a:off x="380999" y="1640113"/>
            <a:ext cx="11374967" cy="5428343"/>
          </a:xfrm>
        </p:spPr>
        <p:txBody>
          <a:bodyPr>
            <a:normAutofit/>
          </a:bodyPr>
          <a:lstStyle/>
          <a:p>
            <a:r>
              <a:rPr lang="en-US" dirty="0"/>
              <a:t>Since evolutionary delivery leads to a number of drafts of the report on which you may require feedback from your supervisor, a more sensible approach to presenting a series of drafts to your supervisor might be as follows:</a:t>
            </a:r>
          </a:p>
          <a:p>
            <a:pPr lvl="1"/>
            <a:r>
              <a:rPr lang="en-GB" dirty="0"/>
              <a:t>A chapter breakdown structure.</a:t>
            </a:r>
          </a:p>
          <a:p>
            <a:pPr lvl="1"/>
            <a:r>
              <a:rPr lang="en-GB" dirty="0"/>
              <a:t>A completed major section</a:t>
            </a:r>
          </a:p>
          <a:p>
            <a:pPr lvl="1"/>
            <a:r>
              <a:rPr lang="en-GB" dirty="0"/>
              <a:t>A significant draft</a:t>
            </a:r>
          </a:p>
          <a:p>
            <a:pPr lvl="1"/>
            <a:r>
              <a:rPr lang="en-GB" dirty="0"/>
              <a:t>Completed Chapters</a:t>
            </a:r>
          </a:p>
          <a:p>
            <a:pPr lvl="1"/>
            <a:r>
              <a:rPr lang="en-GB" dirty="0"/>
              <a:t>Final draft</a:t>
            </a:r>
          </a:p>
        </p:txBody>
      </p:sp>
    </p:spTree>
    <p:extLst>
      <p:ext uri="{BB962C8B-B14F-4D97-AF65-F5344CB8AC3E}">
        <p14:creationId xmlns:p14="http://schemas.microsoft.com/office/powerpoint/2010/main" val="4279034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268287"/>
            <a:ext cx="11374967" cy="1357313"/>
          </a:xfrm>
        </p:spPr>
        <p:txBody>
          <a:bodyPr/>
          <a:lstStyle/>
          <a:p>
            <a:r>
              <a:rPr lang="en-US" dirty="0"/>
              <a:t>Writing and structuring reports: The order of writing</a:t>
            </a:r>
            <a:endParaRPr lang="en-GB" dirty="0"/>
          </a:p>
        </p:txBody>
      </p:sp>
      <p:sp>
        <p:nvSpPr>
          <p:cNvPr id="3" name="Content Placeholder 2"/>
          <p:cNvSpPr>
            <a:spLocks noGrp="1"/>
          </p:cNvSpPr>
          <p:nvPr>
            <p:ph idx="1"/>
          </p:nvPr>
        </p:nvSpPr>
        <p:spPr>
          <a:xfrm>
            <a:off x="380999" y="1625599"/>
            <a:ext cx="11374967" cy="5232401"/>
          </a:xfrm>
        </p:spPr>
        <p:txBody>
          <a:bodyPr>
            <a:normAutofit lnSpcReduction="10000"/>
          </a:bodyPr>
          <a:lstStyle/>
          <a:p>
            <a:pPr marL="0" indent="0">
              <a:buNone/>
            </a:pPr>
            <a:r>
              <a:rPr lang="en-US" dirty="0"/>
              <a:t>There is a particular order to writing that you should try to follow. This order breaks down into these ten stages:</a:t>
            </a:r>
          </a:p>
          <a:p>
            <a:pPr marL="971550" lvl="1" indent="-514350">
              <a:buFont typeface="+mj-lt"/>
              <a:buAutoNum type="arabicPeriod"/>
            </a:pPr>
            <a:r>
              <a:rPr lang="en-GB" dirty="0"/>
              <a:t>Identify structure</a:t>
            </a:r>
          </a:p>
          <a:p>
            <a:pPr marL="971550" lvl="1" indent="-514350">
              <a:buFont typeface="+mj-lt"/>
              <a:buAutoNum type="arabicPeriod"/>
            </a:pPr>
            <a:r>
              <a:rPr lang="en-GB" dirty="0"/>
              <a:t>Identify presentational style</a:t>
            </a:r>
          </a:p>
          <a:p>
            <a:pPr marL="971550" lvl="1" indent="-514350">
              <a:buFont typeface="+mj-lt"/>
              <a:buAutoNum type="arabicPeriod"/>
            </a:pPr>
            <a:r>
              <a:rPr lang="en-GB" dirty="0"/>
              <a:t>Draft the introduction</a:t>
            </a:r>
          </a:p>
          <a:p>
            <a:pPr marL="971550" lvl="1" indent="-514350">
              <a:buFont typeface="+mj-lt"/>
              <a:buAutoNum type="arabicPeriod"/>
            </a:pPr>
            <a:r>
              <a:rPr lang="en-GB" dirty="0"/>
              <a:t>Develop the main body</a:t>
            </a:r>
          </a:p>
          <a:p>
            <a:pPr marL="971550" lvl="1" indent="-514350">
              <a:buFont typeface="+mj-lt"/>
              <a:buAutoNum type="arabicPeriod"/>
            </a:pPr>
            <a:r>
              <a:rPr lang="en-GB" dirty="0"/>
              <a:t>Articulate conclusions and make recommendations</a:t>
            </a:r>
          </a:p>
          <a:p>
            <a:pPr marL="971550" lvl="1" indent="-514350">
              <a:buFont typeface="+mj-lt"/>
              <a:buAutoNum type="arabicPeriod"/>
            </a:pPr>
            <a:r>
              <a:rPr lang="en-GB" dirty="0"/>
              <a:t>Complete the introduction</a:t>
            </a:r>
          </a:p>
          <a:p>
            <a:pPr marL="971550" lvl="1" indent="-514350">
              <a:buFont typeface="+mj-lt"/>
              <a:buAutoNum type="arabicPeriod"/>
            </a:pPr>
            <a:r>
              <a:rPr lang="en-GB" dirty="0"/>
              <a:t>Write the abstract</a:t>
            </a:r>
          </a:p>
          <a:p>
            <a:pPr marL="971550" lvl="1" indent="-514350">
              <a:buFont typeface="+mj-lt"/>
              <a:buAutoNum type="arabicPeriod"/>
            </a:pPr>
            <a:r>
              <a:rPr lang="en-GB" dirty="0"/>
              <a:t>Add references and appendices</a:t>
            </a:r>
          </a:p>
          <a:p>
            <a:pPr marL="971550" lvl="1" indent="-514350">
              <a:buFont typeface="+mj-lt"/>
              <a:buAutoNum type="arabicPeriod"/>
            </a:pPr>
            <a:r>
              <a:rPr lang="en-GB" dirty="0"/>
              <a:t>Arrange contents list, index</a:t>
            </a:r>
          </a:p>
          <a:p>
            <a:pPr marL="971550" lvl="1" indent="-514350">
              <a:buFont typeface="+mj-lt"/>
              <a:buAutoNum type="arabicPeriod"/>
            </a:pPr>
            <a:r>
              <a:rPr lang="en-GB" dirty="0"/>
              <a:t>Proofread, check and correct.</a:t>
            </a:r>
          </a:p>
        </p:txBody>
      </p:sp>
    </p:spTree>
    <p:extLst>
      <p:ext uri="{BB962C8B-B14F-4D97-AF65-F5344CB8AC3E}">
        <p14:creationId xmlns:p14="http://schemas.microsoft.com/office/powerpoint/2010/main" val="517603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268287"/>
            <a:ext cx="11374967" cy="1357313"/>
          </a:xfrm>
        </p:spPr>
        <p:txBody>
          <a:bodyPr/>
          <a:lstStyle/>
          <a:p>
            <a:r>
              <a:rPr lang="en-US" dirty="0"/>
              <a:t>Writing and structuring reports: The order of writing (Structure) (1)</a:t>
            </a:r>
            <a:endParaRPr lang="en-GB" dirty="0"/>
          </a:p>
        </p:txBody>
      </p:sp>
      <p:sp>
        <p:nvSpPr>
          <p:cNvPr id="3" name="Content Placeholder 2"/>
          <p:cNvSpPr>
            <a:spLocks noGrp="1"/>
          </p:cNvSpPr>
          <p:nvPr>
            <p:ph idx="1"/>
          </p:nvPr>
        </p:nvSpPr>
        <p:spPr>
          <a:xfrm>
            <a:off x="381001" y="1792513"/>
            <a:ext cx="11374967" cy="5065487"/>
          </a:xfrm>
        </p:spPr>
        <p:txBody>
          <a:bodyPr>
            <a:normAutofit fontScale="92500" lnSpcReduction="20000"/>
          </a:bodyPr>
          <a:lstStyle/>
          <a:p>
            <a:pPr marL="0" indent="0">
              <a:buNone/>
            </a:pPr>
            <a:r>
              <a:rPr lang="en-US" sz="3500" dirty="0"/>
              <a:t>Your report should be structured into the following sections:</a:t>
            </a:r>
          </a:p>
          <a:p>
            <a:pPr lvl="1"/>
            <a:r>
              <a:rPr lang="en-US" dirty="0"/>
              <a:t>Title page or cover sheet</a:t>
            </a:r>
          </a:p>
          <a:p>
            <a:pPr lvl="1"/>
            <a:r>
              <a:rPr lang="en-US" dirty="0"/>
              <a:t>Abstract</a:t>
            </a:r>
          </a:p>
          <a:p>
            <a:pPr lvl="1"/>
            <a:r>
              <a:rPr lang="en-US" dirty="0"/>
              <a:t>Acknowledgements</a:t>
            </a:r>
          </a:p>
          <a:p>
            <a:pPr lvl="1"/>
            <a:r>
              <a:rPr lang="en-US" dirty="0"/>
              <a:t>Contents Listing</a:t>
            </a:r>
          </a:p>
          <a:p>
            <a:pPr lvl="1"/>
            <a:r>
              <a:rPr lang="en-US" dirty="0"/>
              <a:t>List of all figures and tables</a:t>
            </a:r>
          </a:p>
          <a:p>
            <a:pPr lvl="1"/>
            <a:r>
              <a:rPr lang="en-US" dirty="0"/>
              <a:t>The report itself</a:t>
            </a:r>
          </a:p>
          <a:p>
            <a:pPr lvl="2"/>
            <a:r>
              <a:rPr lang="en-US" dirty="0"/>
              <a:t>Introduction/literature review</a:t>
            </a:r>
          </a:p>
          <a:p>
            <a:pPr lvl="2"/>
            <a:r>
              <a:rPr lang="en-US" dirty="0"/>
              <a:t>Main body</a:t>
            </a:r>
          </a:p>
          <a:p>
            <a:pPr lvl="2"/>
            <a:r>
              <a:rPr lang="en-US" dirty="0"/>
              <a:t>Conclusion/recommendations</a:t>
            </a:r>
          </a:p>
          <a:p>
            <a:pPr lvl="1"/>
            <a:r>
              <a:rPr lang="en-US" dirty="0"/>
              <a:t>References</a:t>
            </a:r>
          </a:p>
          <a:p>
            <a:pPr lvl="1"/>
            <a:r>
              <a:rPr lang="en-US" dirty="0"/>
              <a:t>Appendices</a:t>
            </a:r>
          </a:p>
          <a:p>
            <a:pPr lvl="1"/>
            <a:r>
              <a:rPr lang="en-US" dirty="0"/>
              <a:t>Glossary of terms</a:t>
            </a:r>
          </a:p>
          <a:p>
            <a:pPr lvl="1"/>
            <a:r>
              <a:rPr lang="en-US" dirty="0"/>
              <a:t>Index – if required</a:t>
            </a:r>
          </a:p>
        </p:txBody>
      </p:sp>
    </p:spTree>
    <p:extLst>
      <p:ext uri="{BB962C8B-B14F-4D97-AF65-F5344CB8AC3E}">
        <p14:creationId xmlns:p14="http://schemas.microsoft.com/office/powerpoint/2010/main" val="1136463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268287"/>
            <a:ext cx="11374967" cy="1357313"/>
          </a:xfrm>
        </p:spPr>
        <p:txBody>
          <a:bodyPr/>
          <a:lstStyle/>
          <a:p>
            <a:r>
              <a:rPr lang="en-US" dirty="0"/>
              <a:t>Writing and structuring reports: The order of writing (Structure) (2)</a:t>
            </a:r>
            <a:endParaRPr lang="en-GB" dirty="0"/>
          </a:p>
        </p:txBody>
      </p:sp>
      <p:sp>
        <p:nvSpPr>
          <p:cNvPr id="3" name="Content Placeholder 2"/>
          <p:cNvSpPr>
            <a:spLocks noGrp="1"/>
          </p:cNvSpPr>
          <p:nvPr>
            <p:ph idx="1"/>
          </p:nvPr>
        </p:nvSpPr>
        <p:spPr>
          <a:xfrm>
            <a:off x="380999" y="1625599"/>
            <a:ext cx="11374967" cy="5232401"/>
          </a:xfrm>
        </p:spPr>
        <p:txBody>
          <a:bodyPr>
            <a:normAutofit fontScale="92500" lnSpcReduction="20000"/>
          </a:bodyPr>
          <a:lstStyle/>
          <a:p>
            <a:pPr marL="0" indent="0" algn="just">
              <a:buNone/>
            </a:pPr>
            <a:r>
              <a:rPr lang="en-US" dirty="0"/>
              <a:t>Following is a typical structure that many of my undergraduate students use for projects that have involved the development of a software system:</a:t>
            </a:r>
          </a:p>
          <a:p>
            <a:pPr lvl="1"/>
            <a:r>
              <a:rPr lang="en-US" sz="2700" dirty="0"/>
              <a:t>Abstract</a:t>
            </a:r>
          </a:p>
          <a:p>
            <a:pPr lvl="1"/>
            <a:r>
              <a:rPr lang="en-US" sz="2700" dirty="0"/>
              <a:t>Acknowledgements</a:t>
            </a:r>
          </a:p>
          <a:p>
            <a:pPr lvl="1"/>
            <a:r>
              <a:rPr lang="en-US" sz="2700" dirty="0"/>
              <a:t>Contents listing</a:t>
            </a:r>
          </a:p>
          <a:p>
            <a:pPr lvl="1"/>
            <a:r>
              <a:rPr lang="en-US" sz="2700" dirty="0"/>
              <a:t>Chapter 1 – Introduction</a:t>
            </a:r>
          </a:p>
          <a:p>
            <a:pPr lvl="1"/>
            <a:r>
              <a:rPr lang="en-US" sz="2700" dirty="0"/>
              <a:t>Chapter 2 – Literature review</a:t>
            </a:r>
          </a:p>
          <a:p>
            <a:pPr lvl="1"/>
            <a:r>
              <a:rPr lang="en-US" sz="2700" dirty="0"/>
              <a:t>Chapter 3 – Requirements</a:t>
            </a:r>
          </a:p>
          <a:p>
            <a:pPr lvl="1"/>
            <a:r>
              <a:rPr lang="en-US" sz="2700" dirty="0"/>
              <a:t>Chapter 4 – Design</a:t>
            </a:r>
          </a:p>
          <a:p>
            <a:pPr lvl="1"/>
            <a:r>
              <a:rPr lang="en-US" sz="2700" dirty="0"/>
              <a:t>Chapter 5 – Implementation and test</a:t>
            </a:r>
          </a:p>
          <a:p>
            <a:pPr lvl="1"/>
            <a:r>
              <a:rPr lang="en-US" sz="2700" dirty="0"/>
              <a:t>Chapter 6 – Evaluation</a:t>
            </a:r>
          </a:p>
          <a:p>
            <a:pPr lvl="1"/>
            <a:r>
              <a:rPr lang="en-US" sz="2700" dirty="0"/>
              <a:t>Chapter 7 – Conclusions</a:t>
            </a:r>
          </a:p>
          <a:p>
            <a:pPr lvl="1"/>
            <a:r>
              <a:rPr lang="en-US" sz="2700" dirty="0"/>
              <a:t>References</a:t>
            </a:r>
          </a:p>
          <a:p>
            <a:pPr lvl="1"/>
            <a:r>
              <a:rPr lang="en-US" sz="2700" dirty="0"/>
              <a:t>Appendices</a:t>
            </a:r>
            <a:endParaRPr lang="en-GB" sz="2700" dirty="0"/>
          </a:p>
        </p:txBody>
      </p:sp>
    </p:spTree>
    <p:extLst>
      <p:ext uri="{BB962C8B-B14F-4D97-AF65-F5344CB8AC3E}">
        <p14:creationId xmlns:p14="http://schemas.microsoft.com/office/powerpoint/2010/main" val="3538101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268287"/>
            <a:ext cx="11374967" cy="1357313"/>
          </a:xfrm>
        </p:spPr>
        <p:txBody>
          <a:bodyPr/>
          <a:lstStyle/>
          <a:p>
            <a:r>
              <a:rPr lang="en-US" dirty="0"/>
              <a:t>Writing and structuring reports: The order of writing (Structure) (3)</a:t>
            </a:r>
            <a:endParaRPr lang="en-GB" dirty="0"/>
          </a:p>
        </p:txBody>
      </p:sp>
      <p:pic>
        <p:nvPicPr>
          <p:cNvPr id="6" name="Picture 5"/>
          <p:cNvPicPr>
            <a:picLocks noChangeAspect="1"/>
          </p:cNvPicPr>
          <p:nvPr/>
        </p:nvPicPr>
        <p:blipFill>
          <a:blip r:embed="rId2"/>
          <a:stretch>
            <a:fillRect/>
          </a:stretch>
        </p:blipFill>
        <p:spPr>
          <a:xfrm>
            <a:off x="1016668" y="1825625"/>
            <a:ext cx="9581147" cy="3504833"/>
          </a:xfrm>
          <a:prstGeom prst="rect">
            <a:avLst/>
          </a:prstGeom>
        </p:spPr>
      </p:pic>
      <p:sp>
        <p:nvSpPr>
          <p:cNvPr id="8" name="TextBox 7"/>
          <p:cNvSpPr txBox="1"/>
          <p:nvPr/>
        </p:nvSpPr>
        <p:spPr>
          <a:xfrm>
            <a:off x="3307904" y="5530483"/>
            <a:ext cx="5521159" cy="954107"/>
          </a:xfrm>
          <a:prstGeom prst="rect">
            <a:avLst/>
          </a:prstGeom>
          <a:noFill/>
        </p:spPr>
        <p:txBody>
          <a:bodyPr wrap="square" rtlCol="0">
            <a:spAutoFit/>
          </a:bodyPr>
          <a:lstStyle/>
          <a:p>
            <a:r>
              <a:rPr lang="en-GB" sz="2800" dirty="0"/>
              <a:t>The relationship between chapters</a:t>
            </a:r>
          </a:p>
          <a:p>
            <a:endParaRPr lang="en-US" sz="2800" dirty="0"/>
          </a:p>
        </p:txBody>
      </p:sp>
    </p:spTree>
    <p:extLst>
      <p:ext uri="{BB962C8B-B14F-4D97-AF65-F5344CB8AC3E}">
        <p14:creationId xmlns:p14="http://schemas.microsoft.com/office/powerpoint/2010/main" val="435163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268287"/>
            <a:ext cx="11374967" cy="1357313"/>
          </a:xfrm>
        </p:spPr>
        <p:txBody>
          <a:bodyPr/>
          <a:lstStyle/>
          <a:p>
            <a:r>
              <a:rPr lang="en-US" dirty="0"/>
              <a:t>Writing and structuring reports: The order of writing (Style) </a:t>
            </a:r>
            <a:endParaRPr lang="en-GB" dirty="0"/>
          </a:p>
        </p:txBody>
      </p:sp>
      <p:sp>
        <p:nvSpPr>
          <p:cNvPr id="3" name="Content Placeholder 2"/>
          <p:cNvSpPr>
            <a:spLocks noGrp="1"/>
          </p:cNvSpPr>
          <p:nvPr>
            <p:ph idx="1"/>
          </p:nvPr>
        </p:nvSpPr>
        <p:spPr>
          <a:xfrm>
            <a:off x="380999" y="1625600"/>
            <a:ext cx="11374967" cy="4499430"/>
          </a:xfrm>
        </p:spPr>
        <p:txBody>
          <a:bodyPr>
            <a:normAutofit/>
          </a:bodyPr>
          <a:lstStyle/>
          <a:p>
            <a:r>
              <a:rPr lang="en-US" dirty="0"/>
              <a:t>The style of writing that you adopt to present your report can be discussed from three points of view. </a:t>
            </a:r>
          </a:p>
          <a:p>
            <a:r>
              <a:rPr lang="en-US" dirty="0"/>
              <a:t>First is the actual presentation style of your report – for example, its layout, font size and so on.</a:t>
            </a:r>
          </a:p>
          <a:p>
            <a:r>
              <a:rPr lang="en-US" dirty="0"/>
              <a:t>Second is the style of grammar that you use within your report.</a:t>
            </a:r>
          </a:p>
          <a:p>
            <a:r>
              <a:rPr lang="en-US" dirty="0"/>
              <a:t>The third point of view is overall content structure</a:t>
            </a:r>
          </a:p>
          <a:p>
            <a:endParaRPr lang="en-GB" dirty="0"/>
          </a:p>
        </p:txBody>
      </p:sp>
    </p:spTree>
    <p:extLst>
      <p:ext uri="{BB962C8B-B14F-4D97-AF65-F5344CB8AC3E}">
        <p14:creationId xmlns:p14="http://schemas.microsoft.com/office/powerpoint/2010/main" val="845835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abstracts</a:t>
            </a:r>
            <a:endParaRPr lang="en-GB" dirty="0"/>
          </a:p>
        </p:txBody>
      </p:sp>
      <p:sp>
        <p:nvSpPr>
          <p:cNvPr id="3" name="Content Placeholder 2"/>
          <p:cNvSpPr>
            <a:spLocks noGrp="1"/>
          </p:cNvSpPr>
          <p:nvPr>
            <p:ph idx="1"/>
          </p:nvPr>
        </p:nvSpPr>
        <p:spPr>
          <a:xfrm>
            <a:off x="380999" y="1030288"/>
            <a:ext cx="11374967" cy="5559198"/>
          </a:xfrm>
        </p:spPr>
        <p:txBody>
          <a:bodyPr>
            <a:normAutofit lnSpcReduction="10000"/>
          </a:bodyPr>
          <a:lstStyle/>
          <a:p>
            <a:r>
              <a:rPr lang="en-US" dirty="0" err="1"/>
              <a:t>Blaxter</a:t>
            </a:r>
            <a:r>
              <a:rPr lang="en-US" dirty="0"/>
              <a:t> et al.(2006) define the function of an abstract as to ‘briefly summarize the nature of your research project, its context, how it was carried out, and what its major findings were’.</a:t>
            </a:r>
          </a:p>
          <a:p>
            <a:r>
              <a:rPr lang="en-US" dirty="0"/>
              <a:t>The abstract provides the reader with an overview of your project and is the basis on which many readers will decide whether or not to read your report at all.</a:t>
            </a:r>
          </a:p>
          <a:p>
            <a:r>
              <a:rPr lang="en-US" dirty="0"/>
              <a:t>Many abstracts are structured like a contents listing, but this is of little value to the reader who can refer to the report’s actual contents list for this kind of information.</a:t>
            </a:r>
          </a:p>
          <a:p>
            <a:r>
              <a:rPr lang="en-US" dirty="0"/>
              <a:t>Your report’s abstract should be one of the last things you write; when you actually know what you have achieved and what the content of your report is.</a:t>
            </a:r>
            <a:endParaRPr lang="en-GB" dirty="0"/>
          </a:p>
        </p:txBody>
      </p:sp>
    </p:spTree>
    <p:extLst>
      <p:ext uri="{BB962C8B-B14F-4D97-AF65-F5344CB8AC3E}">
        <p14:creationId xmlns:p14="http://schemas.microsoft.com/office/powerpoint/2010/main" val="2855204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Presentation</a:t>
            </a:r>
          </a:p>
        </p:txBody>
      </p:sp>
      <p:sp>
        <p:nvSpPr>
          <p:cNvPr id="3" name="Content Placeholder 2"/>
          <p:cNvSpPr>
            <a:spLocks noGrp="1"/>
          </p:cNvSpPr>
          <p:nvPr>
            <p:ph idx="1"/>
          </p:nvPr>
        </p:nvSpPr>
        <p:spPr/>
        <p:txBody>
          <a:bodyPr>
            <a:normAutofit/>
          </a:bodyPr>
          <a:lstStyle/>
          <a:p>
            <a:r>
              <a:rPr lang="en-US" dirty="0"/>
              <a:t>In almost all projects, you will have to present data in one format or another – data you obtain from questionnaires or surveys, software test results, algorithm speed trials and so forth.</a:t>
            </a:r>
          </a:p>
          <a:p>
            <a:r>
              <a:rPr lang="en-US" dirty="0"/>
              <a:t>While textual presentation of numeric results can often provide a rather ‘dry’ interpretation of the information gathered, pictures in the form of graphs and charts provide a far more pleasing, intuitive and holistic idea of what is going on.</a:t>
            </a:r>
          </a:p>
          <a:p>
            <a:r>
              <a:rPr lang="en-US" dirty="0"/>
              <a:t>Although a picture is worth a thousand words, you must ensure that the picture you are painting is the correct one and you are not presenting results in such a way as to hide their true meaning.</a:t>
            </a:r>
            <a:endParaRPr lang="en-GB" dirty="0"/>
          </a:p>
        </p:txBody>
      </p:sp>
    </p:spTree>
    <p:extLst>
      <p:ext uri="{BB962C8B-B14F-4D97-AF65-F5344CB8AC3E}">
        <p14:creationId xmlns:p14="http://schemas.microsoft.com/office/powerpoint/2010/main" val="3202866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Presentation: Presenting charts and graphs</a:t>
            </a:r>
          </a:p>
        </p:txBody>
      </p:sp>
      <p:sp>
        <p:nvSpPr>
          <p:cNvPr id="3" name="Content Placeholder 2"/>
          <p:cNvSpPr>
            <a:spLocks noGrp="1"/>
          </p:cNvSpPr>
          <p:nvPr>
            <p:ph idx="1"/>
          </p:nvPr>
        </p:nvSpPr>
        <p:spPr/>
        <p:txBody>
          <a:bodyPr>
            <a:noAutofit/>
          </a:bodyPr>
          <a:lstStyle/>
          <a:p>
            <a:r>
              <a:rPr lang="en-US" dirty="0"/>
              <a:t>All figures and tables that you include within you report should be clearly and uniquely labelled with a number and a short description. </a:t>
            </a:r>
          </a:p>
          <a:p>
            <a:r>
              <a:rPr lang="en-US" dirty="0"/>
              <a:t>The most common approach is to label each figure and table using consecutive numbers prefixed by the current chapter number.</a:t>
            </a:r>
          </a:p>
          <a:p>
            <a:pPr lvl="1"/>
            <a:r>
              <a:rPr lang="en-US" dirty="0"/>
              <a:t>Example, ‘Figure 8.1: A chapter breakdown structure for this chapter’, is quite a common standard which you can follow.</a:t>
            </a:r>
          </a:p>
          <a:p>
            <a:pPr lvl="1"/>
            <a:r>
              <a:rPr lang="en-US" dirty="0"/>
              <a:t>When labelling a figure it is usual to put the caption beneath the figure.</a:t>
            </a:r>
          </a:p>
          <a:p>
            <a:pPr lvl="1"/>
            <a:r>
              <a:rPr lang="en-US" dirty="0"/>
              <a:t>When labelling a table, it is often better to place the caption above the table.</a:t>
            </a:r>
          </a:p>
          <a:p>
            <a:pPr lvl="1"/>
            <a:r>
              <a:rPr lang="en-US" b="1" dirty="0">
                <a:solidFill>
                  <a:srgbClr val="FF0000"/>
                </a:solidFill>
              </a:rPr>
              <a:t>NOTE:</a:t>
            </a:r>
            <a:r>
              <a:rPr lang="en-US" dirty="0"/>
              <a:t> Use figures and tables within your report only when they can add value; do not include them simply because you think they look nice.</a:t>
            </a:r>
            <a:endParaRPr lang="en-GB" dirty="0"/>
          </a:p>
        </p:txBody>
      </p:sp>
    </p:spTree>
    <p:extLst>
      <p:ext uri="{BB962C8B-B14F-4D97-AF65-F5344CB8AC3E}">
        <p14:creationId xmlns:p14="http://schemas.microsoft.com/office/powerpoint/2010/main" val="3607644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Presentation: Checklist (1)</a:t>
            </a:r>
          </a:p>
        </p:txBody>
      </p:sp>
      <p:sp>
        <p:nvSpPr>
          <p:cNvPr id="3" name="Content Placeholder 2"/>
          <p:cNvSpPr>
            <a:spLocks noGrp="1"/>
          </p:cNvSpPr>
          <p:nvPr>
            <p:ph idx="1"/>
          </p:nvPr>
        </p:nvSpPr>
        <p:spPr/>
        <p:txBody>
          <a:bodyPr>
            <a:normAutofit/>
          </a:bodyPr>
          <a:lstStyle/>
          <a:p>
            <a:r>
              <a:rPr lang="en-US" dirty="0"/>
              <a:t>Saunders et al.(2007: 421) present a checklist of points that you should observe when you have completed tables and figures within your report. For both diagrams and tables, they recommend that you ask yourself the following questions:</a:t>
            </a:r>
          </a:p>
          <a:p>
            <a:pPr lvl="1"/>
            <a:r>
              <a:rPr lang="en-US" dirty="0"/>
              <a:t>‘Does it have a brief but clear and descriptive title?’</a:t>
            </a:r>
          </a:p>
          <a:p>
            <a:pPr lvl="1"/>
            <a:r>
              <a:rPr lang="en-US" dirty="0"/>
              <a:t>‘Are the units of measurement used stated clearly?’</a:t>
            </a:r>
          </a:p>
          <a:p>
            <a:pPr lvl="1"/>
            <a:r>
              <a:rPr lang="en-US" dirty="0"/>
              <a:t>‘Are the sources of data used stated clearly?’</a:t>
            </a:r>
          </a:p>
          <a:p>
            <a:pPr lvl="1"/>
            <a:r>
              <a:rPr lang="en-US" dirty="0"/>
              <a:t>‘Are there notes to explain any abbreviations?’</a:t>
            </a:r>
          </a:p>
          <a:p>
            <a:pPr lvl="1"/>
            <a:r>
              <a:rPr lang="en-US" dirty="0"/>
              <a:t>‘Have you stated the sample size?’</a:t>
            </a:r>
          </a:p>
        </p:txBody>
      </p:sp>
    </p:spTree>
    <p:extLst>
      <p:ext uri="{BB962C8B-B14F-4D97-AF65-F5344CB8AC3E}">
        <p14:creationId xmlns:p14="http://schemas.microsoft.com/office/powerpoint/2010/main" val="2460647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Presentation: Checklist (2)</a:t>
            </a:r>
          </a:p>
        </p:txBody>
      </p:sp>
      <p:sp>
        <p:nvSpPr>
          <p:cNvPr id="3" name="Content Placeholder 2"/>
          <p:cNvSpPr>
            <a:spLocks noGrp="1"/>
          </p:cNvSpPr>
          <p:nvPr>
            <p:ph idx="1"/>
          </p:nvPr>
        </p:nvSpPr>
        <p:spPr/>
        <p:txBody>
          <a:bodyPr>
            <a:normAutofit/>
          </a:bodyPr>
          <a:lstStyle/>
          <a:p>
            <a:r>
              <a:rPr lang="en-US" dirty="0"/>
              <a:t>For diagrams, the following checklist of questions are suggested:</a:t>
            </a:r>
          </a:p>
          <a:p>
            <a:pPr lvl="1"/>
            <a:r>
              <a:rPr lang="en-US" dirty="0"/>
              <a:t>‘Does it have clear axis labels?’</a:t>
            </a:r>
          </a:p>
          <a:p>
            <a:pPr lvl="1"/>
            <a:r>
              <a:rPr lang="en-US" dirty="0"/>
              <a:t>‘Are bars and their components in the same logical sequence?’</a:t>
            </a:r>
          </a:p>
          <a:p>
            <a:pPr lvl="1"/>
            <a:r>
              <a:rPr lang="en-US" dirty="0"/>
              <a:t>‘Is more dense shading used for smaller areas?’</a:t>
            </a:r>
          </a:p>
          <a:p>
            <a:pPr lvl="1"/>
            <a:r>
              <a:rPr lang="en-US" dirty="0"/>
              <a:t>‘Is a key or legend included (where necessary)?’</a:t>
            </a:r>
          </a:p>
          <a:p>
            <a:r>
              <a:rPr lang="en-US" dirty="0"/>
              <a:t>And for tables:</a:t>
            </a:r>
          </a:p>
          <a:p>
            <a:pPr lvl="1"/>
            <a:r>
              <a:rPr lang="en-US" dirty="0"/>
              <a:t>‘Does it have clear column and row headings?’</a:t>
            </a:r>
          </a:p>
          <a:p>
            <a:pPr lvl="1"/>
            <a:r>
              <a:rPr lang="en-US" dirty="0"/>
              <a:t>‘Are columns and rows in a logical sequence?’</a:t>
            </a:r>
            <a:endParaRPr lang="en-GB" dirty="0"/>
          </a:p>
        </p:txBody>
      </p:sp>
    </p:spTree>
    <p:extLst>
      <p:ext uri="{BB962C8B-B14F-4D97-AF65-F5344CB8AC3E}">
        <p14:creationId xmlns:p14="http://schemas.microsoft.com/office/powerpoint/2010/main" val="3693383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Presentation: Other data presentation (1)</a:t>
            </a:r>
          </a:p>
        </p:txBody>
      </p:sp>
      <p:sp>
        <p:nvSpPr>
          <p:cNvPr id="3" name="Content Placeholder 2"/>
          <p:cNvSpPr>
            <a:spLocks noGrp="1"/>
          </p:cNvSpPr>
          <p:nvPr>
            <p:ph idx="1"/>
          </p:nvPr>
        </p:nvSpPr>
        <p:spPr/>
        <p:txBody>
          <a:bodyPr>
            <a:normAutofit/>
          </a:bodyPr>
          <a:lstStyle/>
          <a:p>
            <a:r>
              <a:rPr lang="en-US" dirty="0"/>
              <a:t>Not only will you be presenting data in the form of charts and graphs, there are other things you might wish to present, too – program listings, designs, photographs, diagrams and more. </a:t>
            </a:r>
          </a:p>
          <a:p>
            <a:r>
              <a:rPr lang="en-US" dirty="0"/>
              <a:t>When presenting these kinds of data, keep the following tips in mind:</a:t>
            </a:r>
          </a:p>
          <a:p>
            <a:pPr lvl="1"/>
            <a:r>
              <a:rPr lang="en-US" dirty="0"/>
              <a:t>As for charts and graphs, each figure should be uniquely numbered and labelled.</a:t>
            </a:r>
          </a:p>
          <a:p>
            <a:pPr lvl="1"/>
            <a:r>
              <a:rPr lang="en-US" dirty="0"/>
              <a:t>Try to keep figures and listings to one page. If code listings spread over several pages, consider moving the listing to an appendix and include only short extracts in the main body of the report.</a:t>
            </a:r>
          </a:p>
        </p:txBody>
      </p:sp>
    </p:spTree>
    <p:extLst>
      <p:ext uri="{BB962C8B-B14F-4D97-AF65-F5344CB8AC3E}">
        <p14:creationId xmlns:p14="http://schemas.microsoft.com/office/powerpoint/2010/main" val="1713739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Presentation: Other data presentation (2)</a:t>
            </a:r>
          </a:p>
        </p:txBody>
      </p:sp>
      <p:sp>
        <p:nvSpPr>
          <p:cNvPr id="3" name="Content Placeholder 2"/>
          <p:cNvSpPr>
            <a:spLocks noGrp="1"/>
          </p:cNvSpPr>
          <p:nvPr>
            <p:ph idx="1"/>
          </p:nvPr>
        </p:nvSpPr>
        <p:spPr/>
        <p:txBody>
          <a:bodyPr>
            <a:normAutofit/>
          </a:bodyPr>
          <a:lstStyle/>
          <a:p>
            <a:pPr lvl="1"/>
            <a:r>
              <a:rPr lang="en-US" dirty="0"/>
              <a:t>Consider alternative ways of presenting diagrams. For example, rather than including several figures showing the evolution of a system’s interface design, you could include a photograph showing the preliminary sketches and interim designs next to one another </a:t>
            </a:r>
          </a:p>
          <a:p>
            <a:pPr lvl="1"/>
            <a:r>
              <a:rPr lang="en-US" dirty="0"/>
              <a:t>Present pseudo code and designs in boxes rather than ‘floating’ amongst the text</a:t>
            </a:r>
            <a:endParaRPr lang="en-GB" dirty="0"/>
          </a:p>
        </p:txBody>
      </p:sp>
    </p:spTree>
    <p:extLst>
      <p:ext uri="{BB962C8B-B14F-4D97-AF65-F5344CB8AC3E}">
        <p14:creationId xmlns:p14="http://schemas.microsoft.com/office/powerpoint/2010/main" val="2437664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Referencing material and avoid plagiarism (1)</a:t>
            </a:r>
          </a:p>
        </p:txBody>
      </p:sp>
      <p:sp>
        <p:nvSpPr>
          <p:cNvPr id="3" name="Content Placeholder 2"/>
          <p:cNvSpPr>
            <a:spLocks noGrp="1"/>
          </p:cNvSpPr>
          <p:nvPr>
            <p:ph idx="1"/>
          </p:nvPr>
        </p:nvSpPr>
        <p:spPr/>
        <p:txBody>
          <a:bodyPr>
            <a:normAutofit lnSpcReduction="10000"/>
          </a:bodyPr>
          <a:lstStyle/>
          <a:p>
            <a:r>
              <a:rPr lang="en-US" dirty="0"/>
              <a:t>‘Nothing is said that has not been said before.’ Terence (ca. 195–159 BC)</a:t>
            </a:r>
          </a:p>
          <a:p>
            <a:r>
              <a:rPr lang="en-US" dirty="0"/>
              <a:t>With Terence’s statement in mind, it is important that you support the work you are presenting within your report by appropriate references. </a:t>
            </a:r>
          </a:p>
          <a:p>
            <a:r>
              <a:rPr lang="en-US" dirty="0"/>
              <a:t>Much of what you present will have been touched on, discussed, written about or covered by other authors in the past – particularly for undergraduate projects. </a:t>
            </a:r>
          </a:p>
          <a:p>
            <a:r>
              <a:rPr lang="en-US" dirty="0"/>
              <a:t>Thus, any arguments that you make within your report and, especially within your literature review, should be justified by referencing previous research (Saunders et al.,2007). </a:t>
            </a:r>
          </a:p>
          <a:p>
            <a:endParaRPr lang="en-US" dirty="0"/>
          </a:p>
          <a:p>
            <a:pPr lvl="1"/>
            <a:endParaRPr lang="en-GB" dirty="0"/>
          </a:p>
        </p:txBody>
      </p:sp>
    </p:spTree>
    <p:extLst>
      <p:ext uri="{BB962C8B-B14F-4D97-AF65-F5344CB8AC3E}">
        <p14:creationId xmlns:p14="http://schemas.microsoft.com/office/powerpoint/2010/main" val="2359483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Referencing material and avoid plagiarism (2)</a:t>
            </a:r>
          </a:p>
        </p:txBody>
      </p:sp>
      <p:sp>
        <p:nvSpPr>
          <p:cNvPr id="3" name="Content Placeholder 2"/>
          <p:cNvSpPr>
            <a:spLocks noGrp="1"/>
          </p:cNvSpPr>
          <p:nvPr>
            <p:ph idx="1"/>
          </p:nvPr>
        </p:nvSpPr>
        <p:spPr/>
        <p:txBody>
          <a:bodyPr>
            <a:normAutofit/>
          </a:bodyPr>
          <a:lstStyle/>
          <a:p>
            <a:r>
              <a:rPr lang="en-US" dirty="0"/>
              <a:t>Material is referenced within reports to:</a:t>
            </a:r>
          </a:p>
          <a:p>
            <a:pPr lvl="1"/>
            <a:r>
              <a:rPr lang="en-US" dirty="0"/>
              <a:t>Avoid plagiarism</a:t>
            </a:r>
          </a:p>
          <a:p>
            <a:pPr lvl="1"/>
            <a:r>
              <a:rPr lang="en-US" dirty="0"/>
              <a:t>Identify context</a:t>
            </a:r>
          </a:p>
          <a:p>
            <a:pPr lvl="1"/>
            <a:r>
              <a:rPr lang="en-US" dirty="0"/>
              <a:t>Support and validate</a:t>
            </a:r>
          </a:p>
          <a:p>
            <a:pPr lvl="1"/>
            <a:r>
              <a:rPr lang="en-US" dirty="0"/>
              <a:t>Identify sources</a:t>
            </a:r>
          </a:p>
          <a:p>
            <a:pPr lvl="1"/>
            <a:endParaRPr lang="en-GB" dirty="0"/>
          </a:p>
        </p:txBody>
      </p:sp>
    </p:spTree>
    <p:extLst>
      <p:ext uri="{BB962C8B-B14F-4D97-AF65-F5344CB8AC3E}">
        <p14:creationId xmlns:p14="http://schemas.microsoft.com/office/powerpoint/2010/main" val="3210616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Documenting software (1)</a:t>
            </a:r>
          </a:p>
        </p:txBody>
      </p:sp>
      <p:sp>
        <p:nvSpPr>
          <p:cNvPr id="3" name="Content Placeholder 2"/>
          <p:cNvSpPr>
            <a:spLocks noGrp="1"/>
          </p:cNvSpPr>
          <p:nvPr>
            <p:ph idx="1"/>
          </p:nvPr>
        </p:nvSpPr>
        <p:spPr>
          <a:xfrm>
            <a:off x="380999" y="1030287"/>
            <a:ext cx="11374967" cy="5428569"/>
          </a:xfrm>
        </p:spPr>
        <p:txBody>
          <a:bodyPr>
            <a:normAutofit lnSpcReduction="10000"/>
          </a:bodyPr>
          <a:lstStyle/>
          <a:p>
            <a:r>
              <a:rPr lang="en-US" dirty="0"/>
              <a:t>People sometimes argue that it is more important to get a program’s supporting documentation right than the program itself. </a:t>
            </a:r>
          </a:p>
          <a:p>
            <a:r>
              <a:rPr lang="en-US" dirty="0"/>
              <a:t>They argue that it is always possible to mend ‘bad’ code that is well documented than it is to fix ‘good’ code that is poorly documented. </a:t>
            </a:r>
          </a:p>
          <a:p>
            <a:r>
              <a:rPr lang="en-US" dirty="0"/>
              <a:t>This emphasizes the importance of good documentation to support all software systems.</a:t>
            </a:r>
          </a:p>
          <a:p>
            <a:r>
              <a:rPr lang="en-US" dirty="0"/>
              <a:t>The documentation required to support a piece of software can be immense, covering a vast range of issues; from internal commenting of program code, systems analyses and design notes, figures and system documentation, to test plans and user guides.</a:t>
            </a:r>
          </a:p>
        </p:txBody>
      </p:sp>
    </p:spTree>
    <p:extLst>
      <p:ext uri="{BB962C8B-B14F-4D97-AF65-F5344CB8AC3E}">
        <p14:creationId xmlns:p14="http://schemas.microsoft.com/office/powerpoint/2010/main" val="514998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Documenting software (2)</a:t>
            </a:r>
          </a:p>
        </p:txBody>
      </p:sp>
      <p:sp>
        <p:nvSpPr>
          <p:cNvPr id="3" name="Content Placeholder 2"/>
          <p:cNvSpPr>
            <a:spLocks noGrp="1"/>
          </p:cNvSpPr>
          <p:nvPr>
            <p:ph idx="1"/>
          </p:nvPr>
        </p:nvSpPr>
        <p:spPr>
          <a:xfrm>
            <a:off x="380999" y="1030288"/>
            <a:ext cx="11374967" cy="5827712"/>
          </a:xfrm>
        </p:spPr>
        <p:txBody>
          <a:bodyPr>
            <a:normAutofit/>
          </a:bodyPr>
          <a:lstStyle/>
          <a:p>
            <a:pPr marL="0" indent="0">
              <a:buNone/>
            </a:pPr>
            <a:r>
              <a:rPr lang="en-US" dirty="0"/>
              <a:t>The following items are a list of topics and documentation you might be expected to cover and include in your project to support any software that you produce:</a:t>
            </a:r>
          </a:p>
          <a:p>
            <a:pPr lvl="1"/>
            <a:r>
              <a:rPr lang="en-US" b="1" dirty="0"/>
              <a:t>An introduction/overview </a:t>
            </a:r>
            <a:r>
              <a:rPr lang="en-US" dirty="0"/>
              <a:t>– simple introduction to the program, what it does, who is it for?</a:t>
            </a:r>
          </a:p>
          <a:p>
            <a:pPr lvl="1"/>
            <a:r>
              <a:rPr lang="en-US" b="1" dirty="0"/>
              <a:t>Technical solution adopted </a:t>
            </a:r>
            <a:r>
              <a:rPr lang="en-US" dirty="0"/>
              <a:t>– what technical solution has been implemented?; is this ideal?; is there an alternative?</a:t>
            </a:r>
          </a:p>
          <a:p>
            <a:pPr lvl="1"/>
            <a:r>
              <a:rPr lang="en-US" b="1" dirty="0"/>
              <a:t>Design </a:t>
            </a:r>
            <a:r>
              <a:rPr lang="en-US" dirty="0"/>
              <a:t>– systems analysis, systems design, human factors, story boards, etc.</a:t>
            </a:r>
          </a:p>
          <a:p>
            <a:pPr lvl="1"/>
            <a:r>
              <a:rPr lang="en-US" b="1" dirty="0"/>
              <a:t>Software engineering information </a:t>
            </a:r>
            <a:r>
              <a:rPr lang="en-US" dirty="0"/>
              <a:t>– structure, definition languages, test plans, etc.</a:t>
            </a:r>
          </a:p>
          <a:p>
            <a:pPr lvl="1"/>
            <a:r>
              <a:rPr lang="en-US" b="1" dirty="0"/>
              <a:t>Development approach used </a:t>
            </a:r>
            <a:r>
              <a:rPr lang="en-US" dirty="0"/>
              <a:t>– evolutionary delivery, build and fix, etc.</a:t>
            </a:r>
          </a:p>
        </p:txBody>
      </p:sp>
    </p:spTree>
    <p:extLst>
      <p:ext uri="{BB962C8B-B14F-4D97-AF65-F5344CB8AC3E}">
        <p14:creationId xmlns:p14="http://schemas.microsoft.com/office/powerpoint/2010/main" val="476118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Documenting software (3)</a:t>
            </a:r>
          </a:p>
        </p:txBody>
      </p:sp>
      <p:sp>
        <p:nvSpPr>
          <p:cNvPr id="3" name="Content Placeholder 2"/>
          <p:cNvSpPr>
            <a:spLocks noGrp="1"/>
          </p:cNvSpPr>
          <p:nvPr>
            <p:ph idx="1"/>
          </p:nvPr>
        </p:nvSpPr>
        <p:spPr>
          <a:xfrm>
            <a:off x="380999" y="1030287"/>
            <a:ext cx="11374967" cy="5443083"/>
          </a:xfrm>
        </p:spPr>
        <p:txBody>
          <a:bodyPr>
            <a:normAutofit/>
          </a:bodyPr>
          <a:lstStyle/>
          <a:p>
            <a:pPr lvl="1"/>
            <a:r>
              <a:rPr lang="en-US" b="1" dirty="0"/>
              <a:t>Problems encountered </a:t>
            </a:r>
            <a:r>
              <a:rPr lang="en-US" dirty="0"/>
              <a:t>– bugs, errors, uncompleted sections of code.</a:t>
            </a:r>
          </a:p>
          <a:p>
            <a:pPr lvl="1"/>
            <a:r>
              <a:rPr lang="en-US" b="1" dirty="0"/>
              <a:t>Limitations</a:t>
            </a:r>
            <a:r>
              <a:rPr lang="en-US" dirty="0"/>
              <a:t> – what limitations are there to the program; for example, can it only handle files of a certain size? Is it only calculating results to an accuracy of 10%, etc.? This can also include technical capabilities.</a:t>
            </a:r>
          </a:p>
          <a:p>
            <a:pPr lvl="1"/>
            <a:r>
              <a:rPr lang="en-US" b="1" dirty="0"/>
              <a:t>Hardware/software requirements for running the program.</a:t>
            </a:r>
          </a:p>
          <a:p>
            <a:pPr lvl="1"/>
            <a:r>
              <a:rPr lang="en-US" b="1" dirty="0"/>
              <a:t>Next stage </a:t>
            </a:r>
            <a:r>
              <a:rPr lang="en-US" dirty="0"/>
              <a:t>– if you were to continue the project or somebody else was to take over from you, which parts of the software should be developed next? Which parts of the program could be enhanced with new features? Are the code, documentation, comments, etc. at a level whereby somebody could take over from you easily in the future?</a:t>
            </a:r>
          </a:p>
          <a:p>
            <a:pPr lvl="1"/>
            <a:r>
              <a:rPr lang="en-US" b="1" dirty="0"/>
              <a:t>Evaluation of the software </a:t>
            </a:r>
            <a:r>
              <a:rPr lang="en-US" dirty="0"/>
              <a:t>– how well does it do what it is supposed to do? Does it satisfy the user’s needs?</a:t>
            </a:r>
          </a:p>
          <a:p>
            <a:pPr lvl="1"/>
            <a:r>
              <a:rPr lang="en-US" b="1" dirty="0"/>
              <a:t>User guide </a:t>
            </a:r>
            <a:r>
              <a:rPr lang="en-US" dirty="0"/>
              <a:t>– written at the right level of detail for the intended user.</a:t>
            </a:r>
          </a:p>
        </p:txBody>
      </p:sp>
    </p:spTree>
    <p:extLst>
      <p:ext uri="{BB962C8B-B14F-4D97-AF65-F5344CB8AC3E}">
        <p14:creationId xmlns:p14="http://schemas.microsoft.com/office/powerpoint/2010/main" val="6873505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Any Questions?</a:t>
            </a:r>
          </a:p>
        </p:txBody>
      </p:sp>
      <p:pic>
        <p:nvPicPr>
          <p:cNvPr id="3074" name="Picture 2" descr="http://i.huffpost.com/gen/1604482/images/o-WOMAN-ASKING-QUESTION-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834" y="1030288"/>
            <a:ext cx="10401299" cy="520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3895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Week 8 Lecture</a:t>
            </a:r>
          </a:p>
        </p:txBody>
      </p:sp>
      <p:sp>
        <p:nvSpPr>
          <p:cNvPr id="6" name="Content Placeholder 5"/>
          <p:cNvSpPr>
            <a:spLocks noGrp="1"/>
          </p:cNvSpPr>
          <p:nvPr>
            <p:ph idx="1"/>
          </p:nvPr>
        </p:nvSpPr>
        <p:spPr>
          <a:xfrm>
            <a:off x="381001" y="1030288"/>
            <a:ext cx="11374967" cy="4870450"/>
          </a:xfrm>
        </p:spPr>
        <p:txBody>
          <a:bodyPr/>
          <a:lstStyle/>
          <a:p>
            <a:pPr algn="just"/>
            <a:r>
              <a:rPr lang="en-US" dirty="0"/>
              <a:t>Always remember: </a:t>
            </a:r>
          </a:p>
          <a:p>
            <a:pPr lvl="1" algn="just"/>
            <a:r>
              <a:rPr lang="en-US" dirty="0"/>
              <a:t>What is the purpose of the report?</a:t>
            </a:r>
          </a:p>
          <a:p>
            <a:pPr lvl="1" algn="just"/>
            <a:r>
              <a:rPr lang="en-US" dirty="0"/>
              <a:t>Who is going to read it?</a:t>
            </a:r>
            <a:r>
              <a:rPr lang="en-US" b="1" dirty="0"/>
              <a:t> </a:t>
            </a:r>
          </a:p>
          <a:p>
            <a:r>
              <a:rPr lang="en-US" dirty="0"/>
              <a:t> There are two main approaches that people tend to use when they write reports: </a:t>
            </a:r>
          </a:p>
          <a:p>
            <a:pPr lvl="1"/>
            <a:r>
              <a:rPr lang="en-US" dirty="0"/>
              <a:t>the top-down approach and </a:t>
            </a:r>
          </a:p>
          <a:p>
            <a:pPr lvl="1"/>
            <a:r>
              <a:rPr lang="en-US" dirty="0"/>
              <a:t>the evolutionary delivery.</a:t>
            </a:r>
          </a:p>
          <a:p>
            <a:pPr algn="just"/>
            <a:r>
              <a:rPr lang="en-US" dirty="0"/>
              <a:t>Your report should be structured into the specific sections</a:t>
            </a:r>
          </a:p>
          <a:p>
            <a:r>
              <a:rPr lang="en-US" dirty="0"/>
              <a:t>The style of writing that you adopt to present your report can be discussed from three points of view: presentation style, grammar and overall content structure </a:t>
            </a:r>
          </a:p>
          <a:p>
            <a:pPr algn="just"/>
            <a:endParaRPr lang="en-US" dirty="0"/>
          </a:p>
          <a:p>
            <a:pPr algn="just"/>
            <a:endParaRPr lang="en-US" b="1" dirty="0"/>
          </a:p>
          <a:p>
            <a:pPr marL="457200" lvl="1" indent="0">
              <a:buNone/>
            </a:pPr>
            <a:endParaRPr lang="en-US" dirty="0"/>
          </a:p>
          <a:p>
            <a:pPr lvl="1"/>
            <a:endParaRPr lang="en-US" dirty="0"/>
          </a:p>
          <a:p>
            <a:pPr algn="just"/>
            <a:endParaRPr lang="en-GB" dirty="0"/>
          </a:p>
        </p:txBody>
      </p:sp>
    </p:spTree>
    <p:extLst>
      <p:ext uri="{BB962C8B-B14F-4D97-AF65-F5344CB8AC3E}">
        <p14:creationId xmlns:p14="http://schemas.microsoft.com/office/powerpoint/2010/main" val="34981344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Expect: Week 8 Activities</a:t>
            </a:r>
          </a:p>
        </p:txBody>
      </p:sp>
      <p:sp>
        <p:nvSpPr>
          <p:cNvPr id="3" name="Content Placeholder 2"/>
          <p:cNvSpPr>
            <a:spLocks noGrp="1"/>
          </p:cNvSpPr>
          <p:nvPr>
            <p:ph idx="1"/>
          </p:nvPr>
        </p:nvSpPr>
        <p:spPr>
          <a:xfrm>
            <a:off x="381001" y="1031876"/>
            <a:ext cx="11374967" cy="5216524"/>
          </a:xfrm>
        </p:spPr>
        <p:txBody>
          <a:bodyPr/>
          <a:lstStyle/>
          <a:p>
            <a:pPr marL="228600" lvl="1" algn="just">
              <a:buFont typeface="Arial" panose="020B0604020202020204" pitchFamily="34" charset="0"/>
              <a:buChar char="•"/>
            </a:pPr>
            <a:r>
              <a:rPr lang="en-US" sz="3200" dirty="0"/>
              <a:t>Task: Reviewing of Final Year Project samples in terms of quality of project development recorded and the report presentation while providing recommendation </a:t>
            </a:r>
            <a:r>
              <a:rPr lang="en-US" sz="3200"/>
              <a:t>for improvements.</a:t>
            </a:r>
            <a:endParaRPr lang="en-US" sz="3200" dirty="0"/>
          </a:p>
        </p:txBody>
      </p:sp>
    </p:spTree>
    <p:extLst>
      <p:ext uri="{BB962C8B-B14F-4D97-AF65-F5344CB8AC3E}">
        <p14:creationId xmlns:p14="http://schemas.microsoft.com/office/powerpoint/2010/main" val="79118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3911601" y="1527176"/>
            <a:ext cx="4327525" cy="3973513"/>
          </a:xfrm>
          <a:prstGeom prst="rect">
            <a:avLst/>
          </a:prstGeom>
          <a:noFill/>
          <a:ln w="9525">
            <a:noFill/>
            <a:miter lim="800000"/>
            <a:headEnd/>
            <a:tailEnd/>
          </a:ln>
        </p:spPr>
      </p:pic>
    </p:spTree>
    <p:extLst>
      <p:ext uri="{BB962C8B-B14F-4D97-AF65-F5344CB8AC3E}">
        <p14:creationId xmlns:p14="http://schemas.microsoft.com/office/powerpoint/2010/main" val="1280920516"/>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TotalTime>
  <Words>2397</Words>
  <Application>Microsoft Office PowerPoint</Application>
  <PresentationFormat>Widescreen</PresentationFormat>
  <Paragraphs>190</Paragraphs>
  <Slides>31</Slides>
  <Notes>2</Notes>
  <HiddenSlides>1</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31</vt:i4>
      </vt:variant>
    </vt:vector>
  </HeadingPairs>
  <TitlesOfParts>
    <vt:vector size="39" baseType="lpstr">
      <vt:lpstr>Arial</vt:lpstr>
      <vt:lpstr>Calibri</vt:lpstr>
      <vt:lpstr>Calibri Light</vt:lpstr>
      <vt:lpstr>Times New Roman</vt:lpstr>
      <vt:lpstr>Wingdings</vt:lpstr>
      <vt:lpstr>1_Office Theme</vt:lpstr>
      <vt:lpstr>2_Office Theme</vt:lpstr>
      <vt:lpstr>3_Office Theme</vt:lpstr>
      <vt:lpstr>Report Writing</vt:lpstr>
      <vt:lpstr>Agenda </vt:lpstr>
      <vt:lpstr>PowerPoint Presentation</vt:lpstr>
      <vt:lpstr>Review of Week 7</vt:lpstr>
      <vt:lpstr>Any Confusion?</vt:lpstr>
      <vt:lpstr>Writing and structuring reports: Considerations (1)</vt:lpstr>
      <vt:lpstr>Writing and structuring reports: Considerations (2)</vt:lpstr>
      <vt:lpstr>Writing and structuring reports: Approaches to writing (1)</vt:lpstr>
      <vt:lpstr>Writing and structuring reports: Approaches to writing (2)</vt:lpstr>
      <vt:lpstr>Writing and structuring reports: Approaches to writing (3)</vt:lpstr>
      <vt:lpstr>Writing and structuring reports: The order of writing</vt:lpstr>
      <vt:lpstr>Writing and structuring reports: The order of writing (Structure) (1)</vt:lpstr>
      <vt:lpstr>Writing and structuring reports: The order of writing (Structure) (2)</vt:lpstr>
      <vt:lpstr>Writing and structuring reports: The order of writing (Structure) (3)</vt:lpstr>
      <vt:lpstr>Writing and structuring reports: The order of writing (Style) </vt:lpstr>
      <vt:lpstr>Writing abstracts</vt:lpstr>
      <vt:lpstr>Data Presentation</vt:lpstr>
      <vt:lpstr>Data Presentation: Presenting charts and graphs</vt:lpstr>
      <vt:lpstr>Data Presentation: Checklist (1)</vt:lpstr>
      <vt:lpstr>Data Presentation: Checklist (2)</vt:lpstr>
      <vt:lpstr>Data Presentation: Other data presentation (1)</vt:lpstr>
      <vt:lpstr>Data Presentation: Other data presentation (2)</vt:lpstr>
      <vt:lpstr>Referencing material and avoid plagiarism (1)</vt:lpstr>
      <vt:lpstr>Referencing material and avoid plagiarism (2)</vt:lpstr>
      <vt:lpstr>Documenting software (1)</vt:lpstr>
      <vt:lpstr>Documenting software (2)</vt:lpstr>
      <vt:lpstr>Documenting software (3)</vt:lpstr>
      <vt:lpstr>Any Questions?</vt:lpstr>
      <vt:lpstr>Summary: Week 8 Lecture</vt:lpstr>
      <vt:lpstr>What to Expect: Week 8 Activities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dc:title>
  <dc:creator>Sanjiv</dc:creator>
  <cp:lastModifiedBy>Biraj Dulal</cp:lastModifiedBy>
  <cp:revision>44</cp:revision>
  <dcterms:created xsi:type="dcterms:W3CDTF">2016-03-30T12:45:31Z</dcterms:created>
  <dcterms:modified xsi:type="dcterms:W3CDTF">2020-04-21T10:58:45Z</dcterms:modified>
</cp:coreProperties>
</file>