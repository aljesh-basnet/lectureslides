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700" r:id="rId3"/>
  </p:sldMasterIdLst>
  <p:notesMasterIdLst>
    <p:notesMasterId r:id="rId48"/>
  </p:notesMasterIdLst>
  <p:sldIdLst>
    <p:sldId id="285" r:id="rId4"/>
    <p:sldId id="286" r:id="rId5"/>
    <p:sldId id="287" r:id="rId6"/>
    <p:sldId id="288" r:id="rId7"/>
    <p:sldId id="289" r:id="rId8"/>
    <p:sldId id="259" r:id="rId9"/>
    <p:sldId id="290" r:id="rId10"/>
    <p:sldId id="264" r:id="rId11"/>
    <p:sldId id="265" r:id="rId12"/>
    <p:sldId id="291" r:id="rId13"/>
    <p:sldId id="260" r:id="rId14"/>
    <p:sldId id="292" r:id="rId15"/>
    <p:sldId id="293" r:id="rId16"/>
    <p:sldId id="294" r:id="rId17"/>
    <p:sldId id="295" r:id="rId18"/>
    <p:sldId id="296" r:id="rId19"/>
    <p:sldId id="263" r:id="rId20"/>
    <p:sldId id="267" r:id="rId21"/>
    <p:sldId id="297" r:id="rId22"/>
    <p:sldId id="298" r:id="rId23"/>
    <p:sldId id="269" r:id="rId24"/>
    <p:sldId id="299" r:id="rId25"/>
    <p:sldId id="304" r:id="rId26"/>
    <p:sldId id="305" r:id="rId27"/>
    <p:sldId id="306" r:id="rId28"/>
    <p:sldId id="307" r:id="rId29"/>
    <p:sldId id="308" r:id="rId30"/>
    <p:sldId id="274" r:id="rId31"/>
    <p:sldId id="309" r:id="rId32"/>
    <p:sldId id="276" r:id="rId33"/>
    <p:sldId id="277" r:id="rId34"/>
    <p:sldId id="278" r:id="rId35"/>
    <p:sldId id="310" r:id="rId36"/>
    <p:sldId id="279" r:id="rId37"/>
    <p:sldId id="283" r:id="rId38"/>
    <p:sldId id="284" r:id="rId39"/>
    <p:sldId id="311" r:id="rId40"/>
    <p:sldId id="312" r:id="rId41"/>
    <p:sldId id="313" r:id="rId42"/>
    <p:sldId id="282" r:id="rId43"/>
    <p:sldId id="300" r:id="rId44"/>
    <p:sldId id="301" r:id="rId45"/>
    <p:sldId id="302" r:id="rId46"/>
    <p:sldId id="303"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8" d="100"/>
          <a:sy n="68" d="100"/>
        </p:scale>
        <p:origin x="144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3" Type="http://schemas.openxmlformats.org/officeDocument/2006/relationships/slideMaster" Target="slideMasters/slideMaster3.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viewProps" Target="view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presProps" Target="pres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notesMaster" Target="notesMasters/notesMaster1.xml"/><Relationship Id="rId8" Type="http://schemas.openxmlformats.org/officeDocument/2006/relationships/slide" Target="slides/slide5.xml"/><Relationship Id="rId51"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0BD002-DE4A-4CE0-A7D7-F711EED665F3}" type="datetimeFigureOut">
              <a:rPr lang="en-US" smtClean="0"/>
              <a:t>3/27/2020</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9372FC-3A97-4231-84FF-30729A748736}" type="slidenum">
              <a:rPr lang="en-US" smtClean="0"/>
              <a:t>‹#›</a:t>
            </a:fld>
            <a:endParaRPr lang="en-US"/>
          </a:p>
        </p:txBody>
      </p:sp>
    </p:spTree>
    <p:extLst>
      <p:ext uri="{BB962C8B-B14F-4D97-AF65-F5344CB8AC3E}">
        <p14:creationId xmlns:p14="http://schemas.microsoft.com/office/powerpoint/2010/main" val="3743007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37695590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4219238" y="-11796713"/>
            <a:ext cx="16600488" cy="12452351"/>
          </a:xfrm>
        </p:spPr>
      </p:sp>
      <p:sp>
        <p:nvSpPr>
          <p:cNvPr id="3" name="Notes Placeholder 2"/>
          <p:cNvSpPr>
            <a:spLocks noGrp="1"/>
          </p:cNvSpPr>
          <p:nvPr>
            <p:ph type="body" idx="1"/>
          </p:nvPr>
        </p:nvSpPr>
        <p:spPr/>
        <p:txBody>
          <a:bodyPr>
            <a:normAutofit/>
          </a:bodyPr>
          <a:lstStyle/>
          <a:p>
            <a:endParaRPr lang="en-US" dirty="0"/>
          </a:p>
        </p:txBody>
      </p:sp>
    </p:spTree>
    <p:extLst>
      <p:ext uri="{BB962C8B-B14F-4D97-AF65-F5344CB8AC3E}">
        <p14:creationId xmlns:p14="http://schemas.microsoft.com/office/powerpoint/2010/main" val="22637757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21579743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iAcademy">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49" y="1030288"/>
            <a:ext cx="8531225" cy="487045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3421461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14232985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18871897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6757407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631318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816570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395953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786518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4446303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916983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5503E7AE-D891-4742-9343-5EF205D83184}"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2140069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787813"/>
          </a:xfrm>
        </p:spPr>
        <p:txBody>
          <a:bodyPr>
            <a:normAutofit/>
          </a:bodyPr>
          <a:lstStyle>
            <a:lvl1pPr>
              <a:defRPr sz="4400"/>
            </a:lvl1pPr>
          </a:lstStyle>
          <a:p>
            <a:r>
              <a:rPr lang="en-US" dirty="0"/>
              <a:t>Click to edit Master title style</a:t>
            </a:r>
          </a:p>
        </p:txBody>
      </p:sp>
      <p:sp>
        <p:nvSpPr>
          <p:cNvPr id="3" name="Content Placeholder 2"/>
          <p:cNvSpPr>
            <a:spLocks noGrp="1"/>
          </p:cNvSpPr>
          <p:nvPr>
            <p:ph idx="1"/>
          </p:nvPr>
        </p:nvSpPr>
        <p:spPr>
          <a:xfrm>
            <a:off x="628650" y="1285461"/>
            <a:ext cx="7886700" cy="4891502"/>
          </a:xfrm>
        </p:spPr>
        <p:txBody>
          <a:bodyPr/>
          <a:lstStyle>
            <a:lvl1pPr>
              <a:defRPr sz="3200"/>
            </a:lvl1pPr>
            <a:lvl2pPr>
              <a:defRPr sz="2800"/>
            </a:lvl2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D5741C6D-44DB-4C04-9CB5-747DFD8034D5}"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232906028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pPr>
              <a:defRPr/>
            </a:pPr>
            <a:fld id="{389AF2F3-A1D1-4097-8ADA-9467C774BABF}"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972764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pPr>
              <a:defRPr/>
            </a:pPr>
            <a:fld id="{389D06B8-A366-4D7D-8D93-3C162260D047}" type="slidenum">
              <a:rPr lang="en-SG" smtClean="0">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40486672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D8B09C-13EB-4CA6-8318-C71FFF147362}" type="datetimeFigureOut">
              <a:rPr lang="en-GB" smtClean="0">
                <a:solidFill>
                  <a:prstClr val="black">
                    <a:tint val="75000"/>
                  </a:prstClr>
                </a:solidFill>
              </a:rPr>
              <a:pPr/>
              <a:t>27/03/2020</a:t>
            </a:fld>
            <a:endParaRPr lang="en-GB">
              <a:solidFill>
                <a:prstClr val="black">
                  <a:tint val="75000"/>
                </a:prstClr>
              </a:solidFill>
            </a:endParaRPr>
          </a:p>
        </p:txBody>
      </p:sp>
      <p:sp>
        <p:nvSpPr>
          <p:cNvPr id="8" name="Footer Placeholder 7"/>
          <p:cNvSpPr>
            <a:spLocks noGrp="1"/>
          </p:cNvSpPr>
          <p:nvPr>
            <p:ph type="ftr" sz="quarter" idx="11"/>
          </p:nvPr>
        </p:nvSpPr>
        <p:spPr/>
        <p:txBody>
          <a:bodyPr/>
          <a:lstStyle/>
          <a:p>
            <a:pPr defTabSz="342900"/>
            <a:endParaRPr lang="en-GB">
              <a:solidFill>
                <a:prstClr val="black"/>
              </a:solidFill>
            </a:endParaRPr>
          </a:p>
        </p:txBody>
      </p:sp>
      <p:sp>
        <p:nvSpPr>
          <p:cNvPr id="9" name="Slide Number Placeholder 8"/>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21438595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D8B09C-13EB-4CA6-8318-C71FFF147362}" type="datetimeFigureOut">
              <a:rPr lang="en-GB" smtClean="0">
                <a:solidFill>
                  <a:prstClr val="black">
                    <a:tint val="75000"/>
                  </a:prstClr>
                </a:solidFill>
              </a:rPr>
              <a:pPr/>
              <a:t>27/03/2020</a:t>
            </a:fld>
            <a:endParaRPr lang="en-GB">
              <a:solidFill>
                <a:prstClr val="black">
                  <a:tint val="75000"/>
                </a:prstClr>
              </a:solidFill>
            </a:endParaRPr>
          </a:p>
        </p:txBody>
      </p:sp>
      <p:sp>
        <p:nvSpPr>
          <p:cNvPr id="4" name="Footer Placeholder 3"/>
          <p:cNvSpPr>
            <a:spLocks noGrp="1"/>
          </p:cNvSpPr>
          <p:nvPr>
            <p:ph type="ftr" sz="quarter" idx="11"/>
          </p:nvPr>
        </p:nvSpPr>
        <p:spPr/>
        <p:txBody>
          <a:bodyPr/>
          <a:lstStyle/>
          <a:p>
            <a:pPr defTabSz="342900"/>
            <a:endParaRPr lang="en-GB">
              <a:solidFill>
                <a:prstClr val="black"/>
              </a:solidFill>
            </a:endParaRPr>
          </a:p>
        </p:txBody>
      </p:sp>
      <p:sp>
        <p:nvSpPr>
          <p:cNvPr id="5" name="Slide Number Placeholder 4"/>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39761296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D8B09C-13EB-4CA6-8318-C71FFF147362}" type="datetimeFigureOut">
              <a:rPr lang="en-GB" smtClean="0">
                <a:solidFill>
                  <a:prstClr val="black">
                    <a:tint val="75000"/>
                  </a:prstClr>
                </a:solidFill>
              </a:rPr>
              <a:pPr/>
              <a:t>27/03/2020</a:t>
            </a:fld>
            <a:endParaRPr lang="en-GB">
              <a:solidFill>
                <a:prstClr val="black">
                  <a:tint val="75000"/>
                </a:prstClr>
              </a:solidFill>
            </a:endParaRPr>
          </a:p>
        </p:txBody>
      </p:sp>
      <p:sp>
        <p:nvSpPr>
          <p:cNvPr id="3" name="Footer Placeholder 2"/>
          <p:cNvSpPr>
            <a:spLocks noGrp="1"/>
          </p:cNvSpPr>
          <p:nvPr>
            <p:ph type="ftr" sz="quarter" idx="11"/>
          </p:nvPr>
        </p:nvSpPr>
        <p:spPr/>
        <p:txBody>
          <a:bodyPr/>
          <a:lstStyle/>
          <a:p>
            <a:pPr defTabSz="342900"/>
            <a:endParaRPr lang="en-GB">
              <a:solidFill>
                <a:prstClr val="black"/>
              </a:solidFill>
            </a:endParaRPr>
          </a:p>
        </p:txBody>
      </p:sp>
      <p:sp>
        <p:nvSpPr>
          <p:cNvPr id="4" name="Slide Number Placeholder 3"/>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923046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27/03/2020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41250354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7D8B09C-13EB-4CA6-8318-C71FFF147362}" type="datetimeFigureOut">
              <a:rPr lang="en-GB" smtClean="0">
                <a:solidFill>
                  <a:prstClr val="black">
                    <a:tint val="75000"/>
                  </a:prstClr>
                </a:solidFill>
              </a:rPr>
              <a:pPr/>
              <a:t>27/03/2020</a:t>
            </a:fld>
            <a:endParaRPr lang="en-GB">
              <a:solidFill>
                <a:prstClr val="black">
                  <a:tint val="75000"/>
                </a:prstClr>
              </a:solidFill>
            </a:endParaRPr>
          </a:p>
        </p:txBody>
      </p:sp>
      <p:sp>
        <p:nvSpPr>
          <p:cNvPr id="6" name="Footer Placeholder 5"/>
          <p:cNvSpPr>
            <a:spLocks noGrp="1"/>
          </p:cNvSpPr>
          <p:nvPr>
            <p:ph type="ftr" sz="quarter" idx="11"/>
          </p:nvPr>
        </p:nvSpPr>
        <p:spPr/>
        <p:txBody>
          <a:bodyPr/>
          <a:lstStyle/>
          <a:p>
            <a:pPr defTabSz="342900"/>
            <a:endParaRPr lang="en-GB">
              <a:solidFill>
                <a:prstClr val="black"/>
              </a:solidFill>
            </a:endParaRPr>
          </a:p>
        </p:txBody>
      </p:sp>
      <p:sp>
        <p:nvSpPr>
          <p:cNvPr id="7" name="Slide Number Placeholder 6"/>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579750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27/03/2020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34256528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D8B09C-13EB-4CA6-8318-C71FFF147362}" type="datetimeFigureOut">
              <a:rPr lang="en-GB" smtClean="0">
                <a:solidFill>
                  <a:prstClr val="black">
                    <a:tint val="75000"/>
                  </a:prstClr>
                </a:solidFill>
              </a:rPr>
              <a:pPr/>
              <a:t>27/03/2020</a:t>
            </a:fld>
            <a:endParaRPr lang="en-GB">
              <a:solidFill>
                <a:prstClr val="black">
                  <a:tint val="75000"/>
                </a:prstClr>
              </a:solidFill>
            </a:endParaRPr>
          </a:p>
        </p:txBody>
      </p:sp>
      <p:sp>
        <p:nvSpPr>
          <p:cNvPr id="5" name="Footer Placeholder 4"/>
          <p:cNvSpPr>
            <a:spLocks noGrp="1"/>
          </p:cNvSpPr>
          <p:nvPr>
            <p:ph type="ftr" sz="quarter" idx="11"/>
          </p:nvPr>
        </p:nvSpPr>
        <p:spPr/>
        <p:txBody>
          <a:bodyPr/>
          <a:lstStyle/>
          <a:p>
            <a:pPr defTabSz="342900"/>
            <a:endParaRPr lang="en-GB">
              <a:solidFill>
                <a:prstClr val="black"/>
              </a:solidFill>
            </a:endParaRPr>
          </a:p>
        </p:txBody>
      </p:sp>
      <p:sp>
        <p:nvSpPr>
          <p:cNvPr id="6" name="Slide Number Placeholder 5"/>
          <p:cNvSpPr>
            <a:spLocks noGrp="1"/>
          </p:cNvSpPr>
          <p:nvPr>
            <p:ph type="sldNum" sz="quarter" idx="12"/>
          </p:nvPr>
        </p:nvSpPr>
        <p:spPr/>
        <p:txBody>
          <a:body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Tree>
    <p:extLst>
      <p:ext uri="{BB962C8B-B14F-4D97-AF65-F5344CB8AC3E}">
        <p14:creationId xmlns:p14="http://schemas.microsoft.com/office/powerpoint/2010/main" val="7656939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7"/>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1" y="6353177"/>
            <a:ext cx="2092325" cy="371475"/>
          </a:xfrm>
          <a:prstGeom prst="rect">
            <a:avLst/>
          </a:prstGeo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prstGeom prst="rect">
            <a:avLst/>
          </a:prstGeom>
          <a:ln/>
        </p:spPr>
        <p:txBody>
          <a:bodyPr/>
          <a:lstStyle>
            <a:lvl1pPr>
              <a:defRPr/>
            </a:lvl1pPr>
          </a:lstStyle>
          <a:p>
            <a:pPr>
              <a:defRPr/>
            </a:pPr>
            <a:fld id="{5503E7AE-D891-4742-9343-5EF205D83184}"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59777416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8" name="Content Placeholder 2"/>
          <p:cNvSpPr>
            <a:spLocks noGrp="1"/>
          </p:cNvSpPr>
          <p:nvPr>
            <p:ph idx="1"/>
          </p:nvPr>
        </p:nvSpPr>
        <p:spPr>
          <a:xfrm>
            <a:off x="285751"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D5741C6D-44DB-4C04-9CB5-747DFD8034D5}"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181717833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2"/>
            <a:ext cx="7772400" cy="1362075"/>
          </a:xfrm>
        </p:spPr>
        <p:txBody>
          <a:bodyPr anchor="t"/>
          <a:lstStyle>
            <a:lvl1pPr algn="l">
              <a:defRPr sz="3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t>Click to edit Master text styles</a:t>
            </a:r>
          </a:p>
        </p:txBody>
      </p:sp>
      <p:sp>
        <p:nvSpPr>
          <p:cNvPr id="9"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0"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AF2F3-A1D1-4097-8ADA-9467C774BABF}"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348390084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1"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1" y="1214438"/>
            <a:ext cx="4189413"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4" y="1214438"/>
            <a:ext cx="4189412" cy="4870450"/>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1" y="6353177"/>
            <a:ext cx="2092325" cy="371475"/>
          </a:xfrm>
          <a:ln/>
        </p:spPr>
        <p:txBody>
          <a:bodyPr/>
          <a:lstStyle>
            <a:lvl1pPr>
              <a:defRPr/>
            </a:lvl1pPr>
          </a:lstStyle>
          <a:p>
            <a:pPr>
              <a:defRPr/>
            </a:pPr>
            <a:endParaRPr lang="en-US" dirty="0">
              <a:solidFill>
                <a:prstClr val="black">
                  <a:tint val="75000"/>
                </a:prstClr>
              </a:solidFill>
            </a:endParaRPr>
          </a:p>
        </p:txBody>
      </p:sp>
      <p:sp>
        <p:nvSpPr>
          <p:cNvPr id="12" name="Rectangle 5"/>
          <p:cNvSpPr>
            <a:spLocks noGrp="1" noChangeArrowheads="1"/>
          </p:cNvSpPr>
          <p:nvPr>
            <p:ph type="sldNum" idx="11"/>
          </p:nvPr>
        </p:nvSpPr>
        <p:spPr>
          <a:xfrm>
            <a:off x="6553201" y="6353177"/>
            <a:ext cx="2092325" cy="371475"/>
          </a:xfrm>
          <a:ln/>
        </p:spPr>
        <p:txBody>
          <a:bodyPr/>
          <a:lstStyle>
            <a:lvl1pPr>
              <a:defRPr/>
            </a:lvl1pPr>
          </a:lstStyle>
          <a:p>
            <a:pPr>
              <a:defRPr/>
            </a:pPr>
            <a:fld id="{389D06B8-A366-4D7D-8D93-3C162260D047}" type="slidenum">
              <a:rPr lang="en-SG">
                <a:solidFill>
                  <a:prstClr val="black">
                    <a:tint val="75000"/>
                  </a:prstClr>
                </a:solidFill>
              </a:rPr>
              <a:pPr>
                <a:defRPr/>
              </a:pPr>
              <a:t>‹#›</a:t>
            </a:fld>
            <a:endParaRPr lang="en-SG" dirty="0">
              <a:solidFill>
                <a:prstClr val="black">
                  <a:tint val="75000"/>
                </a:prstClr>
              </a:solidFill>
            </a:endParaRPr>
          </a:p>
        </p:txBody>
      </p:sp>
    </p:spTree>
    <p:extLst>
      <p:ext uri="{BB962C8B-B14F-4D97-AF65-F5344CB8AC3E}">
        <p14:creationId xmlns:p14="http://schemas.microsoft.com/office/powerpoint/2010/main" val="41419300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Title 1"/>
          <p:cNvSpPr>
            <a:spLocks noGrp="1"/>
          </p:cNvSpPr>
          <p:nvPr>
            <p:ph type="ctrTitle"/>
          </p:nvPr>
        </p:nvSpPr>
        <p:spPr>
          <a:xfrm>
            <a:off x="685800" y="2130425"/>
            <a:ext cx="7772400" cy="1470025"/>
          </a:xfrm>
          <a:prstGeom prst="rect">
            <a:avLst/>
          </a:prstGeom>
        </p:spPr>
        <p:txBody>
          <a:bodyPr/>
          <a:lstStyle/>
          <a:p>
            <a:r>
              <a:rPr lang="en-US"/>
              <a:t>Click to edit Master title style</a:t>
            </a:r>
            <a:endParaRPr lang="en-SG"/>
          </a:p>
        </p:txBody>
      </p:sp>
      <p:sp>
        <p:nvSpPr>
          <p:cNvPr id="8"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SG"/>
          </a:p>
        </p:txBody>
      </p:sp>
      <p:sp>
        <p:nvSpPr>
          <p:cNvPr id="9" name="Rectangle 3"/>
          <p:cNvSpPr>
            <a:spLocks noGrp="1" noChangeArrowheads="1"/>
          </p:cNvSpPr>
          <p:nvPr>
            <p:ph type="dt" idx="10"/>
          </p:nvPr>
        </p:nvSpPr>
        <p:spPr>
          <a:xfrm>
            <a:off x="457200" y="6353175"/>
            <a:ext cx="2092325" cy="371475"/>
          </a:xfrm>
          <a:prstGeom prst="rect">
            <a:avLst/>
          </a:prstGeo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prstGeom prst="rect">
            <a:avLst/>
          </a:prstGeom>
          <a:ln/>
        </p:spPr>
        <p:txBody>
          <a:bodyPr/>
          <a:lstStyle>
            <a:lvl1pPr>
              <a:defRPr/>
            </a:lvl1pPr>
          </a:lstStyle>
          <a:p>
            <a:pPr>
              <a:defRPr/>
            </a:pPr>
            <a:fld id="{5503E7AE-D891-4742-9343-5EF205D83184}" type="slidenum">
              <a:rPr lang="en-SG"/>
              <a:pPr>
                <a:defRPr/>
              </a:pPr>
              <a:t>‹#›</a:t>
            </a:fld>
            <a:endParaRPr lang="en-SG" dirty="0"/>
          </a:p>
        </p:txBody>
      </p:sp>
    </p:spTree>
    <p:extLst>
      <p:ext uri="{BB962C8B-B14F-4D97-AF65-F5344CB8AC3E}">
        <p14:creationId xmlns:p14="http://schemas.microsoft.com/office/powerpoint/2010/main" val="314306607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Title 1"/>
          <p:cNvSpPr>
            <a:spLocks noGrp="1"/>
          </p:cNvSpPr>
          <p:nvPr>
            <p:ph type="title"/>
          </p:nvPr>
        </p:nvSpPr>
        <p:spPr>
          <a:xfrm>
            <a:off x="285750" y="268288"/>
            <a:ext cx="8531225" cy="762000"/>
          </a:xfrm>
        </p:spPr>
        <p:txBody>
          <a:bodyPr/>
          <a:lstStyle>
            <a:lvl1pPr>
              <a:defRPr b="1"/>
            </a:lvl1pPr>
          </a:lstStyle>
          <a:p>
            <a:r>
              <a:rPr lang="en-US" dirty="0"/>
              <a:t>Click to edit Master title style</a:t>
            </a:r>
            <a:endParaRPr lang="en-SG" dirty="0"/>
          </a:p>
        </p:txBody>
      </p:sp>
      <p:sp>
        <p:nvSpPr>
          <p:cNvPr id="8" name="Content Placeholder 2"/>
          <p:cNvSpPr>
            <a:spLocks noGrp="1"/>
          </p:cNvSpPr>
          <p:nvPr>
            <p:ph idx="1"/>
          </p:nvPr>
        </p:nvSpPr>
        <p:spPr>
          <a:xfrm>
            <a:off x="285750" y="1214438"/>
            <a:ext cx="8531225" cy="4870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D5741C6D-44DB-4C04-9CB5-747DFD8034D5}" type="slidenum">
              <a:rPr lang="en-SG"/>
              <a:pPr>
                <a:defRPr/>
              </a:pPr>
              <a:t>‹#›</a:t>
            </a:fld>
            <a:endParaRPr lang="en-SG" dirty="0"/>
          </a:p>
        </p:txBody>
      </p:sp>
    </p:spTree>
    <p:extLst>
      <p:ext uri="{BB962C8B-B14F-4D97-AF65-F5344CB8AC3E}">
        <p14:creationId xmlns:p14="http://schemas.microsoft.com/office/powerpoint/2010/main" val="17178195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7"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SG"/>
          </a:p>
        </p:txBody>
      </p:sp>
      <p:sp>
        <p:nvSpPr>
          <p:cNvPr id="8"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9"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0"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AF2F3-A1D1-4097-8ADA-9467C774BABF}" type="slidenum">
              <a:rPr lang="en-SG"/>
              <a:pPr>
                <a:defRPr/>
              </a:pPr>
              <a:t>‹#›</a:t>
            </a:fld>
            <a:endParaRPr lang="en-SG" dirty="0"/>
          </a:p>
        </p:txBody>
      </p:sp>
    </p:spTree>
    <p:extLst>
      <p:ext uri="{BB962C8B-B14F-4D97-AF65-F5344CB8AC3E}">
        <p14:creationId xmlns:p14="http://schemas.microsoft.com/office/powerpoint/2010/main" val="16159772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p:cNvSpPr>
            <a:spLocks noGrp="1"/>
          </p:cNvSpPr>
          <p:nvPr>
            <p:ph type="title"/>
          </p:nvPr>
        </p:nvSpPr>
        <p:spPr>
          <a:xfrm>
            <a:off x="285750" y="268288"/>
            <a:ext cx="8531225" cy="762000"/>
          </a:xfrm>
        </p:spPr>
        <p:txBody>
          <a:bodyPr/>
          <a:lstStyle/>
          <a:p>
            <a:r>
              <a:rPr lang="en-US" dirty="0"/>
              <a:t>Click to edit Master title style</a:t>
            </a:r>
            <a:endParaRPr lang="en-SG" dirty="0"/>
          </a:p>
        </p:txBody>
      </p:sp>
      <p:sp>
        <p:nvSpPr>
          <p:cNvPr id="9" name="Content Placeholder 2"/>
          <p:cNvSpPr>
            <a:spLocks noGrp="1"/>
          </p:cNvSpPr>
          <p:nvPr>
            <p:ph sz="half" idx="1"/>
          </p:nvPr>
        </p:nvSpPr>
        <p:spPr>
          <a:xfrm>
            <a:off x="285750" y="1214438"/>
            <a:ext cx="4189413"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0" name="Content Placeholder 3"/>
          <p:cNvSpPr>
            <a:spLocks noGrp="1"/>
          </p:cNvSpPr>
          <p:nvPr>
            <p:ph sz="half" idx="2"/>
          </p:nvPr>
        </p:nvSpPr>
        <p:spPr>
          <a:xfrm>
            <a:off x="4627563" y="1214438"/>
            <a:ext cx="4189412" cy="48704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11" name="Rectangle 3"/>
          <p:cNvSpPr>
            <a:spLocks noGrp="1" noChangeArrowheads="1"/>
          </p:cNvSpPr>
          <p:nvPr>
            <p:ph type="dt" idx="10"/>
          </p:nvPr>
        </p:nvSpPr>
        <p:spPr>
          <a:xfrm>
            <a:off x="457200" y="6353175"/>
            <a:ext cx="2092325" cy="371475"/>
          </a:xfrm>
          <a:ln/>
        </p:spPr>
        <p:txBody>
          <a:bodyPr/>
          <a:lstStyle>
            <a:lvl1pPr>
              <a:defRPr/>
            </a:lvl1pPr>
          </a:lstStyle>
          <a:p>
            <a:pPr>
              <a:defRPr/>
            </a:pPr>
            <a:endParaRPr lang="en-US" dirty="0"/>
          </a:p>
        </p:txBody>
      </p:sp>
      <p:sp>
        <p:nvSpPr>
          <p:cNvPr id="12" name="Rectangle 5"/>
          <p:cNvSpPr>
            <a:spLocks noGrp="1" noChangeArrowheads="1"/>
          </p:cNvSpPr>
          <p:nvPr>
            <p:ph type="sldNum" idx="11"/>
          </p:nvPr>
        </p:nvSpPr>
        <p:spPr>
          <a:xfrm>
            <a:off x="6553200" y="6353175"/>
            <a:ext cx="2092325" cy="371475"/>
          </a:xfrm>
          <a:ln/>
        </p:spPr>
        <p:txBody>
          <a:bodyPr/>
          <a:lstStyle>
            <a:lvl1pPr>
              <a:defRPr/>
            </a:lvl1pPr>
          </a:lstStyle>
          <a:p>
            <a:pPr>
              <a:defRPr/>
            </a:pPr>
            <a:fld id="{389D06B8-A366-4D7D-8D93-3C162260D047}" type="slidenum">
              <a:rPr lang="en-SG"/>
              <a:pPr>
                <a:defRPr/>
              </a:pPr>
              <a:t>‹#›</a:t>
            </a:fld>
            <a:endParaRPr lang="en-SG" dirty="0"/>
          </a:p>
        </p:txBody>
      </p:sp>
    </p:spTree>
    <p:extLst>
      <p:ext uri="{BB962C8B-B14F-4D97-AF65-F5344CB8AC3E}">
        <p14:creationId xmlns:p14="http://schemas.microsoft.com/office/powerpoint/2010/main" val="180096824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a:prstGeom prst="rect">
            <a:avLst/>
          </a:prstGeo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8" name="Footer Placeholder 7"/>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9" name="Slide Number Placeholder 8"/>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05990358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4" name="Footer Placeholder 3"/>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5" name="Slide Number Placeholder 4"/>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4007385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3" name="Footer Placeholder 2"/>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4" name="Slide Number Placeholder 3"/>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37426165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17439001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a:prstGeom prst="rect">
            <a:avLst/>
          </a:prstGeo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a:prstGeom prst="rect">
            <a:avLst/>
          </a:prstGeo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6" name="Footer Placeholder 5"/>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7" name="Slide Number Placeholder 6"/>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4381893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1325563"/>
          </a:xfrm>
          <a:prstGeom prst="rect">
            <a:avLst/>
          </a:prstGeo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628650" y="1825625"/>
            <a:ext cx="78867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909135698"/>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a:prstGeom prst="rect">
            <a:avLst/>
          </a:prstGeo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57D8B09C-13EB-4CA6-8318-C71FFF147362}" type="datetimeFigureOut">
              <a:rPr lang="en-GB" smtClean="0"/>
              <a:pPr/>
              <a:t>27/03/2020</a:t>
            </a:fld>
            <a:endParaRPr lang="en-GB"/>
          </a:p>
        </p:txBody>
      </p:sp>
      <p:sp>
        <p:nvSpPr>
          <p:cNvPr id="5" name="Footer Placeholder 4"/>
          <p:cNvSpPr>
            <a:spLocks noGrp="1"/>
          </p:cNvSpPr>
          <p:nvPr>
            <p:ph type="ftr" sz="quarter" idx="11"/>
          </p:nvPr>
        </p:nvSpPr>
        <p:spPr>
          <a:xfrm>
            <a:off x="3028950" y="6356351"/>
            <a:ext cx="3086100" cy="365125"/>
          </a:xfrm>
          <a:prstGeom prst="rect">
            <a:avLst/>
          </a:prstGeom>
        </p:spPr>
        <p:txBody>
          <a:bodyPr/>
          <a:lstStyle/>
          <a:p>
            <a:pPr defTabSz="457200"/>
            <a:endParaRPr lang="en-GB">
              <a:solidFill>
                <a:prstClr val="black"/>
              </a:solidFill>
            </a:endParaRPr>
          </a:p>
        </p:txBody>
      </p:sp>
      <p:sp>
        <p:nvSpPr>
          <p:cNvPr id="6" name="Slide Number Placeholder 5"/>
          <p:cNvSpPr>
            <a:spLocks noGrp="1"/>
          </p:cNvSpPr>
          <p:nvPr>
            <p:ph type="sldNum" sz="quarter" idx="12"/>
          </p:nvPr>
        </p:nvSpPr>
        <p:spPr>
          <a:xfrm>
            <a:off x="6457950" y="6356351"/>
            <a:ext cx="2057400" cy="365125"/>
          </a:xfrm>
          <a:prstGeom prst="rect">
            <a:avLst/>
          </a:prstGeom>
        </p:spPr>
        <p:txBody>
          <a:bodyPr/>
          <a:lstStyle/>
          <a:p>
            <a:fld id="{C046ACBB-F916-485C-B55C-4C7F5486AD85}" type="slidenum">
              <a:rPr lang="en-GB" smtClean="0"/>
              <a:pPr/>
              <a:t>‹#›</a:t>
            </a:fld>
            <a:endParaRPr lang="en-GB"/>
          </a:p>
        </p:txBody>
      </p:sp>
    </p:spTree>
    <p:extLst>
      <p:ext uri="{BB962C8B-B14F-4D97-AF65-F5344CB8AC3E}">
        <p14:creationId xmlns:p14="http://schemas.microsoft.com/office/powerpoint/2010/main" val="2048361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6" Type="http://schemas.openxmlformats.org/officeDocument/2006/relationships/theme" Target="../theme/theme2.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3.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269702065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D8B09C-13EB-4CA6-8318-C71FFF147362}" type="datetimeFigureOut">
              <a:rPr lang="en-GB" smtClean="0">
                <a:solidFill>
                  <a:prstClr val="black">
                    <a:tint val="75000"/>
                  </a:prstClr>
                </a:solidFill>
              </a:rPr>
              <a:pPr/>
              <a:t>27/03/2020</a:t>
            </a:fld>
            <a:endParaRPr lang="en-GB">
              <a:solidFill>
                <a:prstClr val="black">
                  <a:tint val="75000"/>
                </a:prstClr>
              </a:solidFill>
            </a:endParaRP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solidFill>
                <a:prstClr val="black">
                  <a:tint val="75000"/>
                </a:prstClr>
              </a:solidFill>
            </a:endParaRP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46ACBB-F916-485C-B55C-4C7F5486AD85}" type="slidenum">
              <a:rPr lang="en-GB" smtClean="0">
                <a:solidFill>
                  <a:prstClr val="black">
                    <a:tint val="75000"/>
                  </a:prstClr>
                </a:solidFill>
              </a:rPr>
              <a:pPr/>
              <a:t>‹#›</a:t>
            </a:fld>
            <a:endParaRPr lang="en-GB">
              <a:solidFill>
                <a:prstClr val="black">
                  <a:tint val="75000"/>
                </a:prstClr>
              </a:solidFill>
            </a:endParaRPr>
          </a:p>
        </p:txBody>
      </p:sp>
      <p:sp>
        <p:nvSpPr>
          <p:cNvPr id="7"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342900">
              <a:defRPr/>
            </a:pPr>
            <a:endParaRPr lang="en-SG" sz="1350" dirty="0">
              <a:solidFill>
                <a:prstClr val="black"/>
              </a:solidFill>
            </a:endParaRPr>
          </a:p>
        </p:txBody>
      </p:sp>
      <p:sp>
        <p:nvSpPr>
          <p:cNvPr id="8"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342900">
              <a:defRPr/>
            </a:pPr>
            <a:r>
              <a:rPr lang="en-SG" sz="1350" dirty="0" err="1">
                <a:solidFill>
                  <a:prstClr val="white"/>
                </a:solidFill>
              </a:rPr>
              <a:t>iAcademy</a:t>
            </a:r>
            <a:endParaRPr lang="en-SG" sz="1350" dirty="0">
              <a:solidFill>
                <a:prstClr val="white"/>
              </a:solidFill>
            </a:endParaRPr>
          </a:p>
        </p:txBody>
      </p:sp>
      <p:sp>
        <p:nvSpPr>
          <p:cNvPr id="9"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
        <p:nvSpPr>
          <p:cNvPr id="10" name="Rectangle 6"/>
          <p:cNvSpPr>
            <a:spLocks noChangeArrowheads="1"/>
          </p:cNvSpPr>
          <p:nvPr userDrawn="1"/>
        </p:nvSpPr>
        <p:spPr bwMode="auto">
          <a:xfrm>
            <a:off x="-32" y="6643713"/>
            <a:ext cx="9144000" cy="214313"/>
          </a:xfrm>
          <a:prstGeom prst="rect">
            <a:avLst/>
          </a:prstGeom>
          <a:solidFill>
            <a:srgbClr val="C00000"/>
          </a:solidFill>
          <a:ln w="9525">
            <a:noFill/>
            <a:round/>
            <a:headEnd/>
            <a:tailEnd/>
          </a:ln>
          <a:effectLst/>
        </p:spPr>
        <p:txBody>
          <a:bodyPr wrap="none" anchor="ctr"/>
          <a:lstStyle/>
          <a:p>
            <a:pPr defTabSz="336947" fontAlgn="base">
              <a:spcBef>
                <a:spcPct val="0"/>
              </a:spcBef>
              <a:spcAft>
                <a:spcPct val="0"/>
              </a:spcAft>
              <a:buClr>
                <a:srgbClr val="000000"/>
              </a:buClr>
              <a:buSzPct val="100000"/>
              <a:buFont typeface="Times New Roman" pitchFamily="16" charset="0"/>
              <a:buNone/>
              <a:defRPr/>
            </a:pPr>
            <a:r>
              <a:rPr lang="en-SG" sz="1350" dirty="0" err="1">
                <a:solidFill>
                  <a:prstClr val="white"/>
                </a:solidFill>
              </a:rPr>
              <a:t>iAcademy</a:t>
            </a:r>
            <a:endParaRPr lang="en-SG" sz="1350" dirty="0">
              <a:solidFill>
                <a:prstClr val="white"/>
              </a:solidFill>
            </a:endParaRPr>
          </a:p>
        </p:txBody>
      </p:sp>
      <p:sp>
        <p:nvSpPr>
          <p:cNvPr id="11" name="Rectangle 7"/>
          <p:cNvSpPr>
            <a:spLocks noChangeArrowheads="1"/>
          </p:cNvSpPr>
          <p:nvPr userDrawn="1"/>
        </p:nvSpPr>
        <p:spPr bwMode="auto">
          <a:xfrm flipV="1">
            <a:off x="1214415" y="6786586"/>
            <a:ext cx="7929554" cy="71415"/>
          </a:xfrm>
          <a:prstGeom prst="rect">
            <a:avLst/>
          </a:prstGeom>
          <a:solidFill>
            <a:srgbClr val="FFC000"/>
          </a:solidFill>
          <a:ln w="9525">
            <a:noFill/>
            <a:round/>
            <a:headEnd/>
            <a:tailEnd/>
          </a:ln>
          <a:effectLst/>
        </p:spPr>
        <p:txBody>
          <a:bodyPr wrap="none" anchor="ctr"/>
          <a:lstStyle/>
          <a:p>
            <a:pPr defTabSz="342900">
              <a:defRPr/>
            </a:pPr>
            <a:endParaRPr lang="en-SG" sz="1350" dirty="0">
              <a:solidFill>
                <a:prstClr val="black"/>
              </a:solidFill>
            </a:endParaRPr>
          </a:p>
        </p:txBody>
      </p:sp>
    </p:spTree>
    <p:extLst>
      <p:ext uri="{BB962C8B-B14F-4D97-AF65-F5344CB8AC3E}">
        <p14:creationId xmlns:p14="http://schemas.microsoft.com/office/powerpoint/2010/main" val="98673063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
          <p:cNvSpPr>
            <a:spLocks noGrp="1" noChangeArrowheads="1"/>
          </p:cNvSpPr>
          <p:nvPr>
            <p:ph type="title"/>
          </p:nvPr>
        </p:nvSpPr>
        <p:spPr bwMode="auto">
          <a:xfrm>
            <a:off x="285750" y="268288"/>
            <a:ext cx="8531225" cy="762000"/>
          </a:xfrm>
          <a:prstGeom prst="rect">
            <a:avLst/>
          </a:prstGeom>
          <a:noFill/>
          <a:ln w="9525">
            <a:noFill/>
            <a:round/>
            <a:headEnd/>
            <a:tailEnd/>
          </a:ln>
        </p:spPr>
        <p:txBody>
          <a:bodyPr vert="horz" wrap="square" lIns="90000" tIns="46800" rIns="90000" bIns="46800" numCol="1" anchor="ctr" anchorCtr="0" compatLnSpc="1">
            <a:prstTxWarp prst="textNoShape">
              <a:avLst/>
            </a:prstTxWarp>
          </a:bodyPr>
          <a:lstStyle/>
          <a:p>
            <a:pPr lvl="0"/>
            <a:r>
              <a:rPr lang="en-GB" dirty="0"/>
              <a:t>Click to edit the title text format</a:t>
            </a:r>
          </a:p>
        </p:txBody>
      </p:sp>
      <p:sp>
        <p:nvSpPr>
          <p:cNvPr id="12" name="Rectangle 2"/>
          <p:cNvSpPr>
            <a:spLocks noGrp="1" noChangeArrowheads="1"/>
          </p:cNvSpPr>
          <p:nvPr>
            <p:ph type="body" idx="1"/>
          </p:nvPr>
        </p:nvSpPr>
        <p:spPr bwMode="auto">
          <a:xfrm>
            <a:off x="285750" y="1214438"/>
            <a:ext cx="8531225" cy="4870450"/>
          </a:xfrm>
          <a:prstGeom prst="rect">
            <a:avLst/>
          </a:prstGeom>
          <a:noFill/>
          <a:ln w="9525">
            <a:noFill/>
            <a:round/>
            <a:headEnd/>
            <a:tailEnd/>
          </a:ln>
        </p:spPr>
        <p:txBody>
          <a:bodyPr vert="horz" wrap="square" lIns="90000" tIns="46800" rIns="90000" bIns="46800" numCol="1" anchor="t" anchorCtr="0" compatLnSpc="1">
            <a:prstTxWarp prst="textNoShape">
              <a:avLst/>
            </a:prstTxWarp>
          </a:bodyPr>
          <a:lstStyle/>
          <a:p>
            <a:pPr lvl="0"/>
            <a:r>
              <a:rPr lang="en-GB" dirty="0"/>
              <a:t>Click to edit the outline text format</a:t>
            </a:r>
          </a:p>
          <a:p>
            <a:pPr lvl="1"/>
            <a:r>
              <a:rPr lang="en-GB" dirty="0"/>
              <a:t>Second Outline Level</a:t>
            </a:r>
          </a:p>
          <a:p>
            <a:pPr lvl="2"/>
            <a:r>
              <a:rPr lang="en-GB" dirty="0"/>
              <a:t>Third Outline Level</a:t>
            </a:r>
          </a:p>
          <a:p>
            <a:pPr lvl="3"/>
            <a:r>
              <a:rPr lang="en-GB" dirty="0"/>
              <a:t>Fourth Outline Level</a:t>
            </a:r>
          </a:p>
          <a:p>
            <a:pPr lvl="4"/>
            <a:r>
              <a:rPr lang="en-GB" dirty="0"/>
              <a:t>Fifth Outline Level</a:t>
            </a:r>
          </a:p>
          <a:p>
            <a:pPr lvl="4"/>
            <a:r>
              <a:rPr lang="en-GB" dirty="0"/>
              <a:t>Sixth Outline Level</a:t>
            </a:r>
          </a:p>
          <a:p>
            <a:pPr lvl="4"/>
            <a:r>
              <a:rPr lang="en-GB" dirty="0"/>
              <a:t>Seventh Outline Level</a:t>
            </a:r>
          </a:p>
          <a:p>
            <a:pPr lvl="4"/>
            <a:r>
              <a:rPr lang="en-GB" dirty="0"/>
              <a:t>Eighth Outline Level</a:t>
            </a:r>
          </a:p>
          <a:p>
            <a:pPr lvl="4"/>
            <a:r>
              <a:rPr lang="en-GB" dirty="0"/>
              <a:t>Ninth Outline Level</a:t>
            </a:r>
          </a:p>
        </p:txBody>
      </p:sp>
      <p:sp>
        <p:nvSpPr>
          <p:cNvPr id="13" name="Rectangle 3"/>
          <p:cNvSpPr>
            <a:spLocks noGrp="1" noChangeArrowheads="1"/>
          </p:cNvSpPr>
          <p:nvPr>
            <p:ph type="dt" idx="2"/>
          </p:nvPr>
        </p:nvSpPr>
        <p:spPr bwMode="auto">
          <a:xfrm>
            <a:off x="457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endParaRPr lang="en-US" dirty="0"/>
          </a:p>
        </p:txBody>
      </p:sp>
      <p:sp>
        <p:nvSpPr>
          <p:cNvPr id="14" name="Text Box 4"/>
          <p:cNvSpPr txBox="1">
            <a:spLocks noChangeArrowheads="1"/>
          </p:cNvSpPr>
          <p:nvPr userDrawn="1"/>
        </p:nvSpPr>
        <p:spPr bwMode="auto">
          <a:xfrm>
            <a:off x="3124200" y="6354763"/>
            <a:ext cx="2895600" cy="368300"/>
          </a:xfrm>
          <a:prstGeom prst="rect">
            <a:avLst/>
          </a:prstGeom>
          <a:noFill/>
          <a:ln w="9525">
            <a:noFill/>
            <a:round/>
            <a:headEnd/>
            <a:tailEnd/>
          </a:ln>
          <a:effectLst/>
        </p:spPr>
        <p:txBody>
          <a:bodyPr wrap="none" anchor="ctr"/>
          <a:lstStyle/>
          <a:p>
            <a:pPr defTabSz="457200">
              <a:defRPr/>
            </a:pPr>
            <a:endParaRPr lang="en-SG" dirty="0">
              <a:solidFill>
                <a:prstClr val="black"/>
              </a:solidFill>
            </a:endParaRPr>
          </a:p>
        </p:txBody>
      </p:sp>
      <p:sp>
        <p:nvSpPr>
          <p:cNvPr id="15" name="Rectangle 5"/>
          <p:cNvSpPr>
            <a:spLocks noGrp="1" noChangeArrowheads="1"/>
          </p:cNvSpPr>
          <p:nvPr>
            <p:ph type="sldNum" idx="4"/>
          </p:nvPr>
        </p:nvSpPr>
        <p:spPr bwMode="auto">
          <a:xfrm>
            <a:off x="6553200" y="6353175"/>
            <a:ext cx="2092325" cy="371475"/>
          </a:xfrm>
          <a:prstGeom prst="rect">
            <a:avLst/>
          </a:prstGeom>
          <a:noFill/>
          <a:ln w="9525">
            <a:noFill/>
            <a:round/>
            <a:headEnd/>
            <a:tailEnd/>
          </a:ln>
          <a:effectLst/>
        </p:spPr>
        <p:txBody>
          <a:bodyPr vert="horz" wrap="square" lIns="90000" tIns="46800" rIns="90000" bIns="46800" numCol="1" anchor="ctr" anchorCtr="0" compatLnSpc="1">
            <a:prstTxWarp prst="textNoShape">
              <a:avLst/>
            </a:prstTxWarp>
          </a:bodyPr>
          <a:lstStyle>
            <a:lvl1pPr>
              <a:buClrTx/>
              <a:buFontTx/>
              <a:buNone/>
              <a:defRPr>
                <a:solidFill>
                  <a:srgbClr val="000000"/>
                </a:solidFill>
              </a:defRPr>
            </a:lvl1pPr>
          </a:lstStyle>
          <a:p>
            <a:pPr defTabSz="457200">
              <a:defRPr/>
            </a:pPr>
            <a:fld id="{D605CA8D-3D6C-42DF-9A5B-66FCBCC600DC}" type="slidenum">
              <a:rPr lang="en-SG"/>
              <a:pPr defTabSz="457200">
                <a:defRPr/>
              </a:pPr>
              <a:t>‹#›</a:t>
            </a:fld>
            <a:endParaRPr lang="en-SG" dirty="0"/>
          </a:p>
        </p:txBody>
      </p:sp>
      <p:sp>
        <p:nvSpPr>
          <p:cNvPr id="16" name="Rectangle 6"/>
          <p:cNvSpPr>
            <a:spLocks noChangeArrowheads="1"/>
          </p:cNvSpPr>
          <p:nvPr userDrawn="1"/>
        </p:nvSpPr>
        <p:spPr bwMode="auto">
          <a:xfrm>
            <a:off x="0" y="0"/>
            <a:ext cx="9144000" cy="214313"/>
          </a:xfrm>
          <a:prstGeom prst="rect">
            <a:avLst/>
          </a:prstGeom>
          <a:solidFill>
            <a:srgbClr val="C00000"/>
          </a:solidFill>
          <a:ln w="9525">
            <a:noFill/>
            <a:round/>
            <a:headEnd/>
            <a:tailEnd/>
          </a:ln>
          <a:effectLst/>
        </p:spPr>
        <p:txBody>
          <a:bodyPr wrap="none" anchor="ctr"/>
          <a:lstStyle/>
          <a:p>
            <a:pPr algn="r" defTabSz="457200">
              <a:defRPr/>
            </a:pPr>
            <a:r>
              <a:rPr lang="en-SG" dirty="0" err="1">
                <a:solidFill>
                  <a:prstClr val="white"/>
                </a:solidFill>
              </a:rPr>
              <a:t>iAcademy</a:t>
            </a:r>
            <a:endParaRPr lang="en-SG" dirty="0">
              <a:solidFill>
                <a:prstClr val="white"/>
              </a:solidFill>
            </a:endParaRPr>
          </a:p>
        </p:txBody>
      </p:sp>
      <p:sp>
        <p:nvSpPr>
          <p:cNvPr id="17" name="Rectangle 7"/>
          <p:cNvSpPr>
            <a:spLocks noChangeArrowheads="1"/>
          </p:cNvSpPr>
          <p:nvPr userDrawn="1"/>
        </p:nvSpPr>
        <p:spPr bwMode="auto">
          <a:xfrm flipV="1">
            <a:off x="0" y="-1"/>
            <a:ext cx="7929586" cy="45719"/>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
        <p:nvSpPr>
          <p:cNvPr id="18" name="Rectangle 6"/>
          <p:cNvSpPr>
            <a:spLocks noChangeArrowheads="1"/>
          </p:cNvSpPr>
          <p:nvPr userDrawn="1"/>
        </p:nvSpPr>
        <p:spPr bwMode="auto">
          <a:xfrm>
            <a:off x="-32" y="6643711"/>
            <a:ext cx="9144000" cy="214313"/>
          </a:xfrm>
          <a:prstGeom prst="rect">
            <a:avLst/>
          </a:prstGeom>
          <a:solidFill>
            <a:srgbClr val="C00000"/>
          </a:solidFill>
          <a:ln w="9525">
            <a:noFill/>
            <a:round/>
            <a:headEnd/>
            <a:tailEnd/>
          </a:ln>
          <a:effectLst/>
        </p:spPr>
        <p:txBody>
          <a:bodyPr wrap="none" anchor="ctr"/>
          <a:lstStyle/>
          <a:p>
            <a:pPr defTabSz="449263" fontAlgn="base">
              <a:spcBef>
                <a:spcPct val="0"/>
              </a:spcBef>
              <a:spcAft>
                <a:spcPct val="0"/>
              </a:spcAft>
              <a:buClr>
                <a:srgbClr val="000000"/>
              </a:buClr>
              <a:buSzPct val="100000"/>
              <a:buFont typeface="Times New Roman" pitchFamily="16" charset="0"/>
              <a:buNone/>
              <a:defRPr/>
            </a:pPr>
            <a:r>
              <a:rPr lang="en-SG" dirty="0" err="1">
                <a:solidFill>
                  <a:prstClr val="white"/>
                </a:solidFill>
              </a:rPr>
              <a:t>iAcademy</a:t>
            </a:r>
            <a:endParaRPr lang="en-SG" dirty="0">
              <a:solidFill>
                <a:prstClr val="white"/>
              </a:solidFill>
            </a:endParaRPr>
          </a:p>
        </p:txBody>
      </p:sp>
      <p:sp>
        <p:nvSpPr>
          <p:cNvPr id="19" name="Rectangle 7"/>
          <p:cNvSpPr>
            <a:spLocks noChangeArrowheads="1"/>
          </p:cNvSpPr>
          <p:nvPr userDrawn="1"/>
        </p:nvSpPr>
        <p:spPr bwMode="auto">
          <a:xfrm flipV="1">
            <a:off x="1214414" y="6786584"/>
            <a:ext cx="7929554" cy="71415"/>
          </a:xfrm>
          <a:prstGeom prst="rect">
            <a:avLst/>
          </a:prstGeom>
          <a:solidFill>
            <a:srgbClr val="FFC000"/>
          </a:solidFill>
          <a:ln w="9525">
            <a:noFill/>
            <a:round/>
            <a:headEnd/>
            <a:tailEnd/>
          </a:ln>
          <a:effectLst/>
        </p:spPr>
        <p:txBody>
          <a:bodyPr wrap="none" anchor="ctr"/>
          <a:lstStyle/>
          <a:p>
            <a:pPr defTabSz="457200">
              <a:defRPr/>
            </a:pPr>
            <a:endParaRPr lang="en-SG" dirty="0">
              <a:solidFill>
                <a:prstClr val="black"/>
              </a:solidFill>
            </a:endParaRPr>
          </a:p>
        </p:txBody>
      </p:sp>
    </p:spTree>
    <p:extLst>
      <p:ext uri="{BB962C8B-B14F-4D97-AF65-F5344CB8AC3E}">
        <p14:creationId xmlns:p14="http://schemas.microsoft.com/office/powerpoint/2010/main" val="591560095"/>
      </p:ext>
    </p:extLst>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Lst>
  <p:txStyles>
    <p:titleStyle>
      <a:lvl1pPr algn="l" defTabSz="914400" rtl="0" eaLnBrk="1" latinLnBrk="0" hangingPunct="1">
        <a:lnSpc>
          <a:spcPct val="90000"/>
        </a:lnSpc>
        <a:spcBef>
          <a:spcPct val="0"/>
        </a:spcBef>
        <a:buNone/>
        <a:defRPr sz="4400" kern="1200">
          <a:solidFill>
            <a:schemeClr val="tx1"/>
          </a:solidFill>
          <a:latin typeface="Calibri"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Calibri" pitchFamily="34" charset="0"/>
        <a:buChar char="-"/>
        <a:defRPr sz="2800" kern="1200">
          <a:solidFill>
            <a:schemeClr val="tx1"/>
          </a:solidFill>
          <a:latin typeface="+mn-lt"/>
          <a:ea typeface="+mn-ea"/>
          <a:cs typeface="+mn-cs"/>
        </a:defRPr>
      </a:lvl2pPr>
      <a:lvl3pPr marL="1371600" indent="-457200" algn="l" defTabSz="914400" rtl="0" eaLnBrk="1" latinLnBrk="0" hangingPunct="1">
        <a:lnSpc>
          <a:spcPct val="90000"/>
        </a:lnSpc>
        <a:spcBef>
          <a:spcPts val="500"/>
        </a:spcBef>
        <a:buFont typeface="Wingdings" pitchFamily="2" charset="2"/>
        <a:buChar char="§"/>
        <a:defRPr sz="24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8.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4"/>
          <p:cNvSpPr>
            <a:spLocks noGrp="1"/>
          </p:cNvSpPr>
          <p:nvPr>
            <p:ph type="ctrTitle"/>
          </p:nvPr>
        </p:nvSpPr>
        <p:spPr>
          <a:xfrm>
            <a:off x="685800" y="785794"/>
            <a:ext cx="7772400" cy="1470025"/>
          </a:xfrm>
        </p:spPr>
        <p:txBody>
          <a:bodyPr/>
          <a:lstStyle/>
          <a:p>
            <a:pPr algn="ctr"/>
            <a:r>
              <a:rPr lang="en-US" dirty="0"/>
              <a:t>Project Planning</a:t>
            </a:r>
            <a:endParaRPr lang="en-GB" dirty="0"/>
          </a:p>
        </p:txBody>
      </p:sp>
      <p:sp>
        <p:nvSpPr>
          <p:cNvPr id="10" name="Subtitle 5"/>
          <p:cNvSpPr>
            <a:spLocks noGrp="1"/>
          </p:cNvSpPr>
          <p:nvPr>
            <p:ph type="subTitle" idx="1"/>
          </p:nvPr>
        </p:nvSpPr>
        <p:spPr>
          <a:xfrm>
            <a:off x="357158" y="2684444"/>
            <a:ext cx="8358246" cy="2387629"/>
          </a:xfrm>
        </p:spPr>
        <p:txBody>
          <a:bodyPr/>
          <a:lstStyle/>
          <a:p>
            <a:r>
              <a:rPr lang="en-GB" dirty="0"/>
              <a:t>Research and Development Skills in Computing</a:t>
            </a:r>
          </a:p>
          <a:p>
            <a:r>
              <a:rPr lang="en-US" sz="2800" dirty="0"/>
              <a:t>Lecture 4</a:t>
            </a:r>
          </a:p>
          <a:p>
            <a:endParaRPr lang="en-US" sz="2800" dirty="0"/>
          </a:p>
          <a:p>
            <a:r>
              <a:rPr lang="en-US" sz="2400" i="1" dirty="0"/>
              <a:t>Understanding the process and different stages of a project</a:t>
            </a:r>
            <a:endParaRPr lang="en-GB" sz="2400" i="1" dirty="0"/>
          </a:p>
        </p:txBody>
      </p:sp>
      <p:sp>
        <p:nvSpPr>
          <p:cNvPr id="11" name="TextBox 3"/>
          <p:cNvSpPr txBox="1">
            <a:spLocks noChangeArrowheads="1"/>
          </p:cNvSpPr>
          <p:nvPr/>
        </p:nvSpPr>
        <p:spPr bwMode="auto">
          <a:xfrm>
            <a:off x="142844" y="5214950"/>
            <a:ext cx="8786874" cy="1285884"/>
          </a:xfrm>
          <a:prstGeom prst="rect">
            <a:avLst/>
          </a:prstGeom>
          <a:ln w="9525"/>
        </p:spPr>
        <p:style>
          <a:lnRef idx="2">
            <a:schemeClr val="dk1"/>
          </a:lnRef>
          <a:fillRef idx="1">
            <a:schemeClr val="lt1"/>
          </a:fillRef>
          <a:effectRef idx="0">
            <a:schemeClr val="dk1"/>
          </a:effectRef>
          <a:fontRef idx="minor">
            <a:schemeClr val="dk1"/>
          </a:fontRef>
        </p:style>
        <p:txBody>
          <a:bodyPr vert="horz" lIns="91440" tIns="45720" rIns="91440" bIns="45720" rtlCol="0">
            <a:noAutofit/>
          </a:bodyPr>
          <a:lstStyle/>
          <a:p>
            <a:pPr algn="just" defTabSz="457200">
              <a:spcBef>
                <a:spcPct val="20000"/>
              </a:spcBef>
            </a:pPr>
            <a:r>
              <a:rPr lang="en-GB" sz="1400" dirty="0">
                <a:solidFill>
                  <a:prstClr val="black"/>
                </a:solidFill>
              </a:rPr>
              <a:t>This lecture and its associated materials have been produced by </a:t>
            </a:r>
            <a:r>
              <a:rPr lang="en-US" sz="1400" dirty="0">
                <a:solidFill>
                  <a:prstClr val="black"/>
                </a:solidFill>
              </a:rPr>
              <a:t>Mr. </a:t>
            </a:r>
            <a:r>
              <a:rPr lang="en-US" sz="1400" dirty="0" err="1">
                <a:solidFill>
                  <a:prstClr val="black"/>
                </a:solidFill>
              </a:rPr>
              <a:t>Sanjiv</a:t>
            </a:r>
            <a:r>
              <a:rPr lang="en-US" sz="1400" dirty="0">
                <a:solidFill>
                  <a:prstClr val="black"/>
                </a:solidFill>
              </a:rPr>
              <a:t> </a:t>
            </a:r>
            <a:r>
              <a:rPr lang="en-US" sz="1400" dirty="0" err="1">
                <a:solidFill>
                  <a:prstClr val="black"/>
                </a:solidFill>
              </a:rPr>
              <a:t>Udash</a:t>
            </a:r>
            <a:r>
              <a:rPr lang="en-US" sz="1400" dirty="0">
                <a:solidFill>
                  <a:prstClr val="black"/>
                </a:solidFill>
              </a:rPr>
              <a:t> (MSc, University of Northampton) </a:t>
            </a:r>
            <a:r>
              <a:rPr lang="en-GB" sz="1400" dirty="0">
                <a:solidFill>
                  <a:prstClr val="black"/>
                </a:solidFill>
              </a:rPr>
              <a:t>of </a:t>
            </a:r>
            <a:r>
              <a:rPr lang="en-GB" sz="1400" dirty="0" err="1">
                <a:solidFill>
                  <a:prstClr val="black"/>
                </a:solidFill>
              </a:rPr>
              <a:t>iAcademy</a:t>
            </a:r>
            <a:r>
              <a:rPr lang="en-GB" sz="1400" dirty="0">
                <a:solidFill>
                  <a:prstClr val="black"/>
                </a:solidFill>
              </a:rPr>
              <a:t> for the purposes of lecturing on the above described subject and the material should be viewed in this context. The work does not constitute professional advice and no warranties are made regarding the information presented. The Author and </a:t>
            </a:r>
            <a:r>
              <a:rPr lang="en-GB" sz="1400" dirty="0" err="1">
                <a:solidFill>
                  <a:prstClr val="black"/>
                </a:solidFill>
              </a:rPr>
              <a:t>iAcademy</a:t>
            </a:r>
            <a:r>
              <a:rPr lang="en-GB" sz="1400" dirty="0">
                <a:solidFill>
                  <a:prstClr val="black"/>
                </a:solidFill>
              </a:rPr>
              <a:t> do not accept any liability for the consequences of any action taken as a result of the work or any recommendations made or inferred. Permission to use any of these materials must be first granted by </a:t>
            </a:r>
            <a:r>
              <a:rPr lang="en-GB" sz="1400" dirty="0" err="1">
                <a:solidFill>
                  <a:prstClr val="black"/>
                </a:solidFill>
              </a:rPr>
              <a:t>iAcademy</a:t>
            </a:r>
            <a:r>
              <a:rPr lang="en-GB" sz="1400" dirty="0">
                <a:solidFill>
                  <a:prstClr val="black"/>
                </a:solidFill>
              </a:rPr>
              <a:t>.</a:t>
            </a:r>
            <a:endParaRPr lang="en-US" sz="1400" dirty="0">
              <a:solidFill>
                <a:prstClr val="black"/>
              </a:solidFill>
            </a:endParaRPr>
          </a:p>
        </p:txBody>
      </p:sp>
    </p:spTree>
    <p:extLst>
      <p:ext uri="{BB962C8B-B14F-4D97-AF65-F5344CB8AC3E}">
        <p14:creationId xmlns:p14="http://schemas.microsoft.com/office/powerpoint/2010/main" val="1700033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pitchFamily="34" charset="0"/>
              </a:rPr>
              <a:t>Agenda</a:t>
            </a:r>
            <a:r>
              <a:rPr lang="en-US" b="1" dirty="0"/>
              <a:t>	</a:t>
            </a:r>
            <a:endParaRPr lang="en-GB" b="1" dirty="0"/>
          </a:p>
        </p:txBody>
      </p:sp>
      <p:sp>
        <p:nvSpPr>
          <p:cNvPr id="3" name="Content Placeholder 2"/>
          <p:cNvSpPr>
            <a:spLocks noGrp="1"/>
          </p:cNvSpPr>
          <p:nvPr>
            <p:ph idx="1"/>
          </p:nvPr>
        </p:nvSpPr>
        <p:spPr>
          <a:xfrm>
            <a:off x="285750" y="1030288"/>
            <a:ext cx="8531225" cy="4870450"/>
          </a:xfrm>
        </p:spPr>
        <p:txBody>
          <a:bodyPr/>
          <a:lstStyle/>
          <a:p>
            <a:pPr marL="342900" indent="-342900" algn="just" defTabSz="449263" eaLnBrk="0" fontAlgn="base" hangingPunct="0">
              <a:spcBef>
                <a:spcPts val="700"/>
              </a:spcBef>
              <a:spcAft>
                <a:spcPct val="0"/>
              </a:spcAft>
              <a:buClr>
                <a:srgbClr val="000000"/>
              </a:buClr>
              <a:buSzPct val="100000"/>
              <a:buFont typeface="Times New Roman" pitchFamily="16" charset="0"/>
              <a:buChar char="•"/>
            </a:pPr>
            <a:r>
              <a:rPr lang="en-US" sz="3200" dirty="0">
                <a:solidFill>
                  <a:srgbClr val="000000"/>
                </a:solidFill>
                <a:ea typeface="宋体" pitchFamily="2" charset="-122"/>
              </a:rPr>
              <a:t>Week 4 Lecture Coverage</a:t>
            </a:r>
          </a:p>
          <a:p>
            <a:pPr lvl="1"/>
            <a:r>
              <a:rPr lang="en-GB" dirty="0"/>
              <a:t>Project Process</a:t>
            </a:r>
          </a:p>
          <a:p>
            <a:pPr lvl="1"/>
            <a:r>
              <a:rPr lang="en-GB" dirty="0"/>
              <a:t>Project Stages</a:t>
            </a:r>
          </a:p>
          <a:p>
            <a:pPr lvl="1"/>
            <a:r>
              <a:rPr lang="en-GB" dirty="0"/>
              <a:t>Project Definition (Aims and Objectives)</a:t>
            </a:r>
          </a:p>
          <a:p>
            <a:pPr lvl="1"/>
            <a:r>
              <a:rPr lang="en-GB" dirty="0"/>
              <a:t>Project Planning </a:t>
            </a:r>
          </a:p>
          <a:p>
            <a:pPr lvl="1"/>
            <a:r>
              <a:rPr lang="en-GB" dirty="0"/>
              <a:t>Risk Management</a:t>
            </a:r>
          </a:p>
        </p:txBody>
      </p:sp>
    </p:spTree>
    <p:extLst>
      <p:ext uri="{BB962C8B-B14F-4D97-AF65-F5344CB8AC3E}">
        <p14:creationId xmlns:p14="http://schemas.microsoft.com/office/powerpoint/2010/main" val="29804596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311120" y="2195067"/>
            <a:ext cx="8501122" cy="2554545"/>
          </a:xfrm>
          <a:prstGeom prst="rect">
            <a:avLst/>
          </a:prstGeom>
          <a:noFill/>
          <a:ln w="63500">
            <a:solidFill>
              <a:srgbClr val="C00000"/>
            </a:solidFill>
          </a:ln>
        </p:spPr>
        <p:txBody>
          <a:bodyPr wrap="square" rtlCol="0">
            <a:spAutoFit/>
          </a:bodyPr>
          <a:lstStyle/>
          <a:p>
            <a:pPr algn="ctr"/>
            <a:endParaRPr lang="en-US" sz="4000" b="1" dirty="0">
              <a:solidFill>
                <a:prstClr val="black"/>
              </a:solidFill>
            </a:endParaRPr>
          </a:p>
          <a:p>
            <a:pPr algn="ctr"/>
            <a:r>
              <a:rPr lang="en-US" sz="4000" b="1" dirty="0">
                <a:solidFill>
                  <a:prstClr val="black"/>
                </a:solidFill>
              </a:rPr>
              <a:t>But first let’s review what have we learned from week 3</a:t>
            </a:r>
          </a:p>
          <a:p>
            <a:pPr algn="ctr"/>
            <a:endParaRPr lang="en-US" sz="4000" b="1" dirty="0">
              <a:solidFill>
                <a:prstClr val="black"/>
              </a:solidFill>
            </a:endParaRPr>
          </a:p>
        </p:txBody>
      </p:sp>
    </p:spTree>
    <p:extLst>
      <p:ext uri="{BB962C8B-B14F-4D97-AF65-F5344CB8AC3E}">
        <p14:creationId xmlns:p14="http://schemas.microsoft.com/office/powerpoint/2010/main" val="31822200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latin typeface="+mn-lt"/>
              </a:rPr>
              <a:t>Review of Week 3</a:t>
            </a:r>
          </a:p>
        </p:txBody>
      </p:sp>
      <p:sp>
        <p:nvSpPr>
          <p:cNvPr id="3" name="Content Placeholder 2"/>
          <p:cNvSpPr>
            <a:spLocks noGrp="1"/>
          </p:cNvSpPr>
          <p:nvPr>
            <p:ph idx="1"/>
          </p:nvPr>
        </p:nvSpPr>
        <p:spPr/>
        <p:txBody>
          <a:bodyPr>
            <a:normAutofit/>
          </a:bodyPr>
          <a:lstStyle/>
          <a:p>
            <a:pPr algn="just"/>
            <a:r>
              <a:rPr lang="en-US" dirty="0"/>
              <a:t>Need to be careful while choosing a project</a:t>
            </a:r>
          </a:p>
          <a:p>
            <a:pPr algn="just"/>
            <a:r>
              <a:rPr lang="en-US" dirty="0"/>
              <a:t>Consider things like scope, usefulness, future prospect</a:t>
            </a:r>
          </a:p>
          <a:p>
            <a:pPr algn="just"/>
            <a:r>
              <a:rPr lang="en-GB" dirty="0"/>
              <a:t>Understand the different aspects of the proposal while writing it</a:t>
            </a:r>
          </a:p>
          <a:p>
            <a:pPr algn="just"/>
            <a:r>
              <a:rPr lang="en-GB" dirty="0"/>
              <a:t>Know your supervisor well before selecting him/her</a:t>
            </a:r>
          </a:p>
          <a:p>
            <a:pPr algn="just"/>
            <a:endParaRPr lang="en-GB" dirty="0"/>
          </a:p>
        </p:txBody>
      </p:sp>
    </p:spTree>
    <p:extLst>
      <p:ext uri="{BB962C8B-B14F-4D97-AF65-F5344CB8AC3E}">
        <p14:creationId xmlns:p14="http://schemas.microsoft.com/office/powerpoint/2010/main" val="38256403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descr="http://s.isha.ws/blog/wp-content/uploads/2013/08/confusion-clarity-spiritual-path.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787" y="1152939"/>
            <a:ext cx="8480425" cy="4770239"/>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p:cNvSpPr>
            <a:spLocks noGrp="1"/>
          </p:cNvSpPr>
          <p:nvPr>
            <p:ph type="title"/>
          </p:nvPr>
        </p:nvSpPr>
        <p:spPr/>
        <p:txBody>
          <a:bodyPr/>
          <a:lstStyle/>
          <a:p>
            <a:r>
              <a:rPr lang="en-US" b="1" dirty="0">
                <a:latin typeface="+mn-lt"/>
              </a:rPr>
              <a:t>Any Confusion?</a:t>
            </a:r>
          </a:p>
        </p:txBody>
      </p:sp>
    </p:spTree>
    <p:extLst>
      <p:ext uri="{BB962C8B-B14F-4D97-AF65-F5344CB8AC3E}">
        <p14:creationId xmlns:p14="http://schemas.microsoft.com/office/powerpoint/2010/main" val="7970018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project’s stages (1)</a:t>
            </a:r>
          </a:p>
        </p:txBody>
      </p:sp>
      <p:sp>
        <p:nvSpPr>
          <p:cNvPr id="3" name="Content Placeholder 2"/>
          <p:cNvSpPr>
            <a:spLocks noGrp="1"/>
          </p:cNvSpPr>
          <p:nvPr>
            <p:ph idx="1"/>
          </p:nvPr>
        </p:nvSpPr>
        <p:spPr/>
        <p:txBody>
          <a:bodyPr>
            <a:noAutofit/>
          </a:bodyPr>
          <a:lstStyle/>
          <a:p>
            <a:pPr algn="just"/>
            <a:r>
              <a:rPr lang="en-US" dirty="0"/>
              <a:t>From a project management perspective, all projects progress through five main stages during their lifetime; from the time the project is established as an initial idea to the time the project is finally completed. </a:t>
            </a:r>
          </a:p>
          <a:p>
            <a:pPr algn="just"/>
            <a:r>
              <a:rPr lang="en-US" dirty="0"/>
              <a:t>These stages apply to all kinds of projects; from your own academic computing project to large industrial projects spanning several years.</a:t>
            </a:r>
          </a:p>
        </p:txBody>
      </p:sp>
    </p:spTree>
    <p:extLst>
      <p:ext uri="{BB962C8B-B14F-4D97-AF65-F5344CB8AC3E}">
        <p14:creationId xmlns:p14="http://schemas.microsoft.com/office/powerpoint/2010/main" val="34688767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The project’s stages (2)</a:t>
            </a:r>
          </a:p>
        </p:txBody>
      </p:sp>
      <p:sp>
        <p:nvSpPr>
          <p:cNvPr id="3" name="Content Placeholder 2"/>
          <p:cNvSpPr>
            <a:spLocks noGrp="1"/>
          </p:cNvSpPr>
          <p:nvPr>
            <p:ph idx="1"/>
          </p:nvPr>
        </p:nvSpPr>
        <p:spPr/>
        <p:txBody>
          <a:bodyPr>
            <a:noAutofit/>
          </a:bodyPr>
          <a:lstStyle/>
          <a:p>
            <a:r>
              <a:rPr lang="en-US" dirty="0"/>
              <a:t>The five main stages are:</a:t>
            </a:r>
          </a:p>
          <a:p>
            <a:pPr marL="342900" lvl="1" indent="0">
              <a:buNone/>
            </a:pPr>
            <a:r>
              <a:rPr lang="en-US" sz="3200" dirty="0"/>
              <a:t>1. Definition</a:t>
            </a:r>
          </a:p>
          <a:p>
            <a:pPr marL="342900" lvl="1" indent="0">
              <a:buNone/>
            </a:pPr>
            <a:r>
              <a:rPr lang="en-US" sz="3200" dirty="0"/>
              <a:t>2. Planning</a:t>
            </a:r>
          </a:p>
          <a:p>
            <a:pPr marL="342900" lvl="1" indent="0">
              <a:buNone/>
            </a:pPr>
            <a:r>
              <a:rPr lang="en-US" sz="3200" dirty="0"/>
              <a:t>3. Initiation</a:t>
            </a:r>
          </a:p>
          <a:p>
            <a:pPr marL="342900" lvl="1" indent="0">
              <a:buNone/>
            </a:pPr>
            <a:r>
              <a:rPr lang="en-US" sz="3200" dirty="0"/>
              <a:t>4. Control</a:t>
            </a:r>
          </a:p>
          <a:p>
            <a:pPr marL="342900" lvl="1" indent="0">
              <a:buNone/>
            </a:pPr>
            <a:r>
              <a:rPr lang="en-US" sz="3200" dirty="0"/>
              <a:t>5. Closure.</a:t>
            </a:r>
            <a:endParaRPr lang="en-GB" sz="3200" dirty="0"/>
          </a:p>
        </p:txBody>
      </p:sp>
    </p:spTree>
    <p:extLst>
      <p:ext uri="{BB962C8B-B14F-4D97-AF65-F5344CB8AC3E}">
        <p14:creationId xmlns:p14="http://schemas.microsoft.com/office/powerpoint/2010/main" val="17181361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Project Definition: Definition (1)</a:t>
            </a:r>
          </a:p>
        </p:txBody>
      </p:sp>
      <p:sp>
        <p:nvSpPr>
          <p:cNvPr id="3" name="Content Placeholder 2"/>
          <p:cNvSpPr>
            <a:spLocks noGrp="1"/>
          </p:cNvSpPr>
          <p:nvPr>
            <p:ph idx="1"/>
          </p:nvPr>
        </p:nvSpPr>
        <p:spPr>
          <a:xfrm>
            <a:off x="285749" y="1030288"/>
            <a:ext cx="8531225" cy="5224208"/>
          </a:xfrm>
        </p:spPr>
        <p:txBody>
          <a:bodyPr>
            <a:normAutofit lnSpcReduction="10000"/>
          </a:bodyPr>
          <a:lstStyle/>
          <a:p>
            <a:pPr algn="just"/>
            <a:r>
              <a:rPr lang="en-US" dirty="0"/>
              <a:t>The purpose of project definition is to clearly specify what it is you hope to achieve with your project</a:t>
            </a:r>
          </a:p>
          <a:p>
            <a:pPr algn="just"/>
            <a:r>
              <a:rPr lang="en-US" dirty="0"/>
              <a:t>This stage initially includes deciding on your project and putting together a proposal</a:t>
            </a:r>
          </a:p>
          <a:p>
            <a:pPr algn="just"/>
            <a:r>
              <a:rPr lang="en-US" dirty="0"/>
              <a:t>In many ways your  project definition and your initial project proposal are closely linked. </a:t>
            </a:r>
          </a:p>
          <a:p>
            <a:pPr algn="just"/>
            <a:r>
              <a:rPr lang="en-US" dirty="0"/>
              <a:t>Both should be written at the start of your project and, while your proposal aims to get your project accepted, your definition will help to clarify what it is you are really setting out to achieve.</a:t>
            </a:r>
            <a:endParaRPr lang="en-GB" dirty="0"/>
          </a:p>
        </p:txBody>
      </p:sp>
    </p:spTree>
    <p:extLst>
      <p:ext uri="{BB962C8B-B14F-4D97-AF65-F5344CB8AC3E}">
        <p14:creationId xmlns:p14="http://schemas.microsoft.com/office/powerpoint/2010/main" val="26477687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Project Definition: Definition (2)</a:t>
            </a:r>
          </a:p>
        </p:txBody>
      </p:sp>
      <p:sp>
        <p:nvSpPr>
          <p:cNvPr id="3" name="Content Placeholder 2"/>
          <p:cNvSpPr>
            <a:spLocks noGrp="1"/>
          </p:cNvSpPr>
          <p:nvPr>
            <p:ph idx="1"/>
          </p:nvPr>
        </p:nvSpPr>
        <p:spPr/>
        <p:txBody>
          <a:bodyPr>
            <a:normAutofit fontScale="92500" lnSpcReduction="10000"/>
          </a:bodyPr>
          <a:lstStyle/>
          <a:p>
            <a:pPr algn="just"/>
            <a:r>
              <a:rPr lang="en-US" sz="3500" dirty="0"/>
              <a:t>Your project definition must identify the aims and objectives of your intended work.</a:t>
            </a:r>
          </a:p>
          <a:p>
            <a:pPr algn="just"/>
            <a:r>
              <a:rPr lang="en-US" sz="3500" dirty="0"/>
              <a:t>Defining your project in this way is important for a number of reasons;</a:t>
            </a:r>
          </a:p>
          <a:p>
            <a:pPr lvl="1" algn="just"/>
            <a:r>
              <a:rPr lang="en-US" sz="3000" dirty="0"/>
              <a:t>If you have difficulty defining your project in terms of aims and objectives then you will have difficulty deciding on the work you ought to be doing and what your focus will be.</a:t>
            </a:r>
          </a:p>
          <a:p>
            <a:pPr lvl="1" algn="just"/>
            <a:r>
              <a:rPr lang="en-US" sz="3000" dirty="0"/>
              <a:t>It might also mean that your understanding of the subject area is lacking and you need to do some additional preliminary research in the topic area or, more drastically, choose an alternative project.</a:t>
            </a:r>
          </a:p>
        </p:txBody>
      </p:sp>
    </p:spTree>
    <p:extLst>
      <p:ext uri="{BB962C8B-B14F-4D97-AF65-F5344CB8AC3E}">
        <p14:creationId xmlns:p14="http://schemas.microsoft.com/office/powerpoint/2010/main" val="2823935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Project Definition: Definition (3)</a:t>
            </a:r>
          </a:p>
        </p:txBody>
      </p:sp>
      <p:sp>
        <p:nvSpPr>
          <p:cNvPr id="3" name="Content Placeholder 2"/>
          <p:cNvSpPr>
            <a:spLocks noGrp="1"/>
          </p:cNvSpPr>
          <p:nvPr>
            <p:ph idx="1"/>
          </p:nvPr>
        </p:nvSpPr>
        <p:spPr/>
        <p:txBody>
          <a:bodyPr>
            <a:normAutofit/>
          </a:bodyPr>
          <a:lstStyle/>
          <a:p>
            <a:pPr lvl="1" algn="just"/>
            <a:r>
              <a:rPr lang="en-US" dirty="0"/>
              <a:t>It gives you a clear target for which to aim. This provides a continual reference point against which you can assess your progress.</a:t>
            </a:r>
          </a:p>
          <a:p>
            <a:pPr lvl="1" algn="just"/>
            <a:r>
              <a:rPr lang="en-US" dirty="0"/>
              <a:t>It provides you with a means of evaluating your success at the end. For example, did you achieve all that you intended to do or more?</a:t>
            </a:r>
            <a:endParaRPr lang="en-GB" dirty="0"/>
          </a:p>
        </p:txBody>
      </p:sp>
    </p:spTree>
    <p:extLst>
      <p:ext uri="{BB962C8B-B14F-4D97-AF65-F5344CB8AC3E}">
        <p14:creationId xmlns:p14="http://schemas.microsoft.com/office/powerpoint/2010/main" val="28976456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1. Project Definition: Defining your aims (1)</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Your project should be defined at two levels. At the top level you define your project’s aim or goal.  </a:t>
            </a:r>
          </a:p>
          <a:p>
            <a:pPr algn="just"/>
            <a:r>
              <a:rPr lang="en-US" dirty="0"/>
              <a:t>All projects have one major aim that they hope to achieve and your computing project is no exception. </a:t>
            </a:r>
          </a:p>
          <a:p>
            <a:pPr algn="just"/>
            <a:r>
              <a:rPr lang="en-US" dirty="0"/>
              <a:t>If you are ever in any doubt over what work you ought to be doing or which direction you ought to be taking, you can refer to your project’s aim to guide you.</a:t>
            </a:r>
          </a:p>
        </p:txBody>
      </p:sp>
    </p:spTree>
    <p:extLst>
      <p:ext uri="{BB962C8B-B14F-4D97-AF65-F5344CB8AC3E}">
        <p14:creationId xmlns:p14="http://schemas.microsoft.com/office/powerpoint/2010/main" val="2843708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1. Project Definition: Defining your aims (2)</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Example: </a:t>
            </a:r>
          </a:p>
          <a:p>
            <a:pPr lvl="1" algn="just"/>
            <a:r>
              <a:rPr lang="en-US" dirty="0"/>
              <a:t>to evaluate the effectiveness of requirements capture techniques in small software development companies in Nepal;</a:t>
            </a:r>
          </a:p>
          <a:p>
            <a:pPr lvl="1" algn="just"/>
            <a:r>
              <a:rPr lang="en-US" dirty="0"/>
              <a:t>to develop and evaluate a user interface for statistical software packages;</a:t>
            </a:r>
          </a:p>
          <a:p>
            <a:pPr lvl="1" algn="just"/>
            <a:r>
              <a:rPr lang="en-US" dirty="0"/>
              <a:t>to design a methodology for GUI development of technical courseware material;</a:t>
            </a:r>
          </a:p>
          <a:p>
            <a:pPr lvl="1" algn="just"/>
            <a:r>
              <a:rPr lang="en-US" dirty="0"/>
              <a:t>to investigate and produce an evaluation of fourth generation languages for database</a:t>
            </a:r>
          </a:p>
          <a:p>
            <a:pPr lvl="1" algn="just"/>
            <a:r>
              <a:rPr lang="en-US" dirty="0"/>
              <a:t>development.</a:t>
            </a:r>
            <a:endParaRPr lang="en-GB" dirty="0"/>
          </a:p>
        </p:txBody>
      </p:sp>
    </p:spTree>
    <p:extLst>
      <p:ext uri="{BB962C8B-B14F-4D97-AF65-F5344CB8AC3E}">
        <p14:creationId xmlns:p14="http://schemas.microsoft.com/office/powerpoint/2010/main" val="38721021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1. Project Definition: Setting objectives (1)</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Objectives identify significant measurable achievements you hope to make that build towards the ultimate aim of your project. </a:t>
            </a:r>
          </a:p>
          <a:p>
            <a:pPr algn="just"/>
            <a:r>
              <a:rPr lang="en-US" dirty="0"/>
              <a:t>Having identified and defined your project’s aim you should continue to define your project in terms of its objectives. </a:t>
            </a:r>
          </a:p>
          <a:p>
            <a:pPr algn="just"/>
            <a:r>
              <a:rPr lang="en-US" dirty="0"/>
              <a:t>For a project expected to last approximately one year, you wouldn’t expect to identify more than twelve objectives for your project. </a:t>
            </a:r>
          </a:p>
        </p:txBody>
      </p:sp>
    </p:spTree>
    <p:extLst>
      <p:ext uri="{BB962C8B-B14F-4D97-AF65-F5344CB8AC3E}">
        <p14:creationId xmlns:p14="http://schemas.microsoft.com/office/powerpoint/2010/main" val="16179438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1. Project Definition: Setting objectives (2)</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If your project has more objectives than this it may be that you are attempting to do too much or that you are breaking your project down into too much detail.</a:t>
            </a:r>
            <a:endParaRPr lang="en-GB" dirty="0"/>
          </a:p>
          <a:p>
            <a:pPr algn="just"/>
            <a:r>
              <a:rPr lang="en-US" dirty="0"/>
              <a:t>Take, as an example, a computing project that is going to evaluate artificial neural networks for predicting stock market indices (not an easy task!). You might identify the following aims and objectives for this project.</a:t>
            </a:r>
          </a:p>
          <a:p>
            <a:pPr algn="just"/>
            <a:endParaRPr lang="en-US" dirty="0"/>
          </a:p>
        </p:txBody>
      </p:sp>
    </p:spTree>
    <p:extLst>
      <p:ext uri="{BB962C8B-B14F-4D97-AF65-F5344CB8AC3E}">
        <p14:creationId xmlns:p14="http://schemas.microsoft.com/office/powerpoint/2010/main" val="24436228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1. Project Definition: Setting objectives (3)</a:t>
            </a:r>
          </a:p>
        </p:txBody>
      </p:sp>
      <p:sp>
        <p:nvSpPr>
          <p:cNvPr id="3" name="Content Placeholder 2"/>
          <p:cNvSpPr>
            <a:spLocks noGrp="1"/>
          </p:cNvSpPr>
          <p:nvPr>
            <p:ph idx="1"/>
          </p:nvPr>
        </p:nvSpPr>
        <p:spPr>
          <a:xfrm>
            <a:off x="285749" y="1544638"/>
            <a:ext cx="8531225" cy="4870450"/>
          </a:xfrm>
        </p:spPr>
        <p:txBody>
          <a:bodyPr>
            <a:noAutofit/>
          </a:bodyPr>
          <a:lstStyle/>
          <a:p>
            <a:r>
              <a:rPr lang="en-US" dirty="0"/>
              <a:t>Project’s Aim:</a:t>
            </a:r>
          </a:p>
          <a:p>
            <a:pPr lvl="1"/>
            <a:r>
              <a:rPr lang="en-US" dirty="0"/>
              <a:t>Develop and evaluate an Artificial Neural Network to predict stock market indices.</a:t>
            </a:r>
          </a:p>
          <a:p>
            <a:r>
              <a:rPr lang="en-US" dirty="0"/>
              <a:t>Project’s Objectives:</a:t>
            </a:r>
          </a:p>
          <a:p>
            <a:pPr lvl="1" indent="-342900">
              <a:buFont typeface="+mj-lt"/>
              <a:buAutoNum type="arabicPeriod"/>
            </a:pPr>
            <a:r>
              <a:rPr lang="en-US" dirty="0"/>
              <a:t>Complete a literature search and literature review of existing stock market prediction techniques.</a:t>
            </a:r>
          </a:p>
          <a:p>
            <a:pPr lvl="1" indent="-342900">
              <a:buFont typeface="+mj-lt"/>
              <a:buAutoNum type="arabicPeriod"/>
            </a:pPr>
            <a:r>
              <a:rPr lang="en-US" dirty="0"/>
              <a:t>Develop a suitable artificial neural network model.</a:t>
            </a:r>
          </a:p>
          <a:p>
            <a:pPr lvl="1" indent="-342900">
              <a:buFont typeface="+mj-lt"/>
              <a:buAutoNum type="arabicPeriod"/>
            </a:pPr>
            <a:r>
              <a:rPr lang="en-US" dirty="0"/>
              <a:t>Identify and collect data for analysis/evaluation.</a:t>
            </a:r>
          </a:p>
          <a:p>
            <a:pPr lvl="1" indent="-342900">
              <a:buFont typeface="+mj-lt"/>
              <a:buAutoNum type="arabicPeriod"/>
            </a:pPr>
            <a:r>
              <a:rPr lang="en-US" dirty="0"/>
              <a:t>Evaluate the model using appropriate statistical techniques.</a:t>
            </a:r>
          </a:p>
          <a:p>
            <a:pPr lvl="1" indent="-342900">
              <a:buFont typeface="+mj-lt"/>
              <a:buAutoNum type="arabicPeriod"/>
            </a:pPr>
            <a:r>
              <a:rPr lang="en-US" dirty="0"/>
              <a:t>Complete final report.</a:t>
            </a:r>
            <a:endParaRPr lang="en-GB" dirty="0"/>
          </a:p>
          <a:p>
            <a:pPr algn="just"/>
            <a:endParaRPr lang="en-US" dirty="0"/>
          </a:p>
        </p:txBody>
      </p:sp>
    </p:spTree>
    <p:extLst>
      <p:ext uri="{BB962C8B-B14F-4D97-AF65-F5344CB8AC3E}">
        <p14:creationId xmlns:p14="http://schemas.microsoft.com/office/powerpoint/2010/main" val="29538335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1. Project Definition: SMART objectives</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There are a number of definitions of the SMART acronym, the most applicable to student projects being:</a:t>
            </a:r>
          </a:p>
          <a:p>
            <a:pPr lvl="1" algn="just"/>
            <a:r>
              <a:rPr lang="en-US" dirty="0"/>
              <a:t>Specific</a:t>
            </a:r>
          </a:p>
          <a:p>
            <a:pPr lvl="1" algn="just"/>
            <a:r>
              <a:rPr lang="en-US" dirty="0"/>
              <a:t>Measurable</a:t>
            </a:r>
          </a:p>
          <a:p>
            <a:pPr lvl="1" algn="just"/>
            <a:r>
              <a:rPr lang="en-US" dirty="0"/>
              <a:t>Appropriate</a:t>
            </a:r>
          </a:p>
          <a:p>
            <a:pPr lvl="1" algn="just"/>
            <a:r>
              <a:rPr lang="en-US" dirty="0"/>
              <a:t>Realistic</a:t>
            </a:r>
          </a:p>
          <a:p>
            <a:pPr lvl="1" algn="just"/>
            <a:r>
              <a:rPr lang="en-US" dirty="0"/>
              <a:t>Time-Related.</a:t>
            </a:r>
          </a:p>
          <a:p>
            <a:pPr algn="just"/>
            <a:r>
              <a:rPr lang="en-US" dirty="0"/>
              <a:t>For each of the objectives you identify in your project you should apply these criteria to ensure that those objectives are clearly defined. </a:t>
            </a:r>
            <a:endParaRPr lang="en-GB" dirty="0"/>
          </a:p>
        </p:txBody>
      </p:sp>
    </p:spTree>
    <p:extLst>
      <p:ext uri="{BB962C8B-B14F-4D97-AF65-F5344CB8AC3E}">
        <p14:creationId xmlns:p14="http://schemas.microsoft.com/office/powerpoint/2010/main" val="17282082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Project Planning (1)</a:t>
            </a:r>
          </a:p>
        </p:txBody>
      </p:sp>
      <p:sp>
        <p:nvSpPr>
          <p:cNvPr id="3" name="Content Placeholder 2"/>
          <p:cNvSpPr>
            <a:spLocks noGrp="1"/>
          </p:cNvSpPr>
          <p:nvPr>
            <p:ph idx="1"/>
          </p:nvPr>
        </p:nvSpPr>
        <p:spPr/>
        <p:txBody>
          <a:bodyPr>
            <a:normAutofit lnSpcReduction="10000"/>
          </a:bodyPr>
          <a:lstStyle/>
          <a:p>
            <a:pPr algn="just"/>
            <a:r>
              <a:rPr lang="en-US" dirty="0"/>
              <a:t>Although you are now clear about what you intend to achieve with your project, what you must now do is identify the work you need to do in order to fulfil these aims. </a:t>
            </a:r>
          </a:p>
          <a:p>
            <a:pPr algn="just"/>
            <a:r>
              <a:rPr lang="en-US" dirty="0"/>
              <a:t>Project planning assists you by identifying the work you need to perform, clarifying the order in which you should tackle the work, and revealing how long you need to do it.</a:t>
            </a:r>
          </a:p>
          <a:p>
            <a:pPr algn="just"/>
            <a:r>
              <a:rPr lang="en-US" dirty="0"/>
              <a:t>It is at this point that you may realize that your project is either overly complex or of insufficient depth for the requirements of your course.</a:t>
            </a:r>
            <a:endParaRPr lang="en-GB" dirty="0"/>
          </a:p>
        </p:txBody>
      </p:sp>
    </p:spTree>
    <p:extLst>
      <p:ext uri="{BB962C8B-B14F-4D97-AF65-F5344CB8AC3E}">
        <p14:creationId xmlns:p14="http://schemas.microsoft.com/office/powerpoint/2010/main" val="19290463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Project Planning (2)</a:t>
            </a:r>
          </a:p>
        </p:txBody>
      </p:sp>
      <p:sp>
        <p:nvSpPr>
          <p:cNvPr id="3" name="Content Placeholder 2"/>
          <p:cNvSpPr>
            <a:spLocks noGrp="1"/>
          </p:cNvSpPr>
          <p:nvPr>
            <p:ph idx="1"/>
          </p:nvPr>
        </p:nvSpPr>
        <p:spPr/>
        <p:txBody>
          <a:bodyPr>
            <a:normAutofit/>
          </a:bodyPr>
          <a:lstStyle/>
          <a:p>
            <a:r>
              <a:rPr lang="en-US" dirty="0"/>
              <a:t>Project planning is performed through a series of six steps that utilize a number of project management techniques:</a:t>
            </a:r>
          </a:p>
          <a:p>
            <a:pPr marL="842963" lvl="1" indent="-385763">
              <a:buFont typeface="+mj-lt"/>
              <a:buAutoNum type="arabicPeriod"/>
            </a:pPr>
            <a:r>
              <a:rPr lang="en-US" dirty="0"/>
              <a:t>Work breakdown</a:t>
            </a:r>
          </a:p>
          <a:p>
            <a:pPr marL="842963" lvl="1" indent="-385763">
              <a:buFont typeface="+mj-lt"/>
              <a:buAutoNum type="arabicPeriod"/>
            </a:pPr>
            <a:r>
              <a:rPr lang="en-US" dirty="0"/>
              <a:t>Time estimates</a:t>
            </a:r>
          </a:p>
          <a:p>
            <a:pPr marL="842963" lvl="1" indent="-385763">
              <a:buFont typeface="+mj-lt"/>
              <a:buAutoNum type="arabicPeriod"/>
            </a:pPr>
            <a:r>
              <a:rPr lang="en-US" dirty="0"/>
              <a:t>Milestone identification</a:t>
            </a:r>
          </a:p>
          <a:p>
            <a:pPr marL="842963" lvl="1" indent="-385763">
              <a:buFont typeface="+mj-lt"/>
              <a:buAutoNum type="arabicPeriod"/>
            </a:pPr>
            <a:r>
              <a:rPr lang="en-US" dirty="0"/>
              <a:t>Activity sequencing</a:t>
            </a:r>
          </a:p>
          <a:p>
            <a:pPr marL="842963" lvl="1" indent="-385763">
              <a:buFont typeface="+mj-lt"/>
              <a:buAutoNum type="arabicPeriod"/>
            </a:pPr>
            <a:r>
              <a:rPr lang="en-US" dirty="0"/>
              <a:t>Scheduling</a:t>
            </a:r>
          </a:p>
          <a:p>
            <a:pPr marL="842963" lvl="1" indent="-385763">
              <a:buFont typeface="+mj-lt"/>
              <a:buAutoNum type="arabicPeriod"/>
            </a:pPr>
            <a:r>
              <a:rPr lang="en-US" dirty="0"/>
              <a:t>Re-planning.</a:t>
            </a:r>
            <a:endParaRPr lang="en-GB" dirty="0"/>
          </a:p>
        </p:txBody>
      </p:sp>
    </p:spTree>
    <p:extLst>
      <p:ext uri="{BB962C8B-B14F-4D97-AF65-F5344CB8AC3E}">
        <p14:creationId xmlns:p14="http://schemas.microsoft.com/office/powerpoint/2010/main" val="15136166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2. Project Planning: Work Breakdown (1)</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Work breakdown structures (WBSs) are used to break your project down into lower and lower levels of detail to reveal exactly what work you will need to do to complete your project.</a:t>
            </a:r>
            <a:endParaRPr lang="en-GB" dirty="0"/>
          </a:p>
          <a:p>
            <a:pPr algn="just"/>
            <a:r>
              <a:rPr lang="en-US" dirty="0"/>
              <a:t>You should begin a WBS by breaking your project down into its main objectives that you identified during your project’s definition.</a:t>
            </a:r>
            <a:endParaRPr lang="en-GB" dirty="0"/>
          </a:p>
        </p:txBody>
      </p:sp>
    </p:spTree>
    <p:extLst>
      <p:ext uri="{BB962C8B-B14F-4D97-AF65-F5344CB8AC3E}">
        <p14:creationId xmlns:p14="http://schemas.microsoft.com/office/powerpoint/2010/main" val="28564104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2. Project Planning: Work Breakdown (2)</a:t>
            </a:r>
          </a:p>
        </p:txBody>
      </p:sp>
      <p:pic>
        <p:nvPicPr>
          <p:cNvPr id="4" name="Picture 3"/>
          <p:cNvPicPr>
            <a:picLocks noChangeAspect="1"/>
          </p:cNvPicPr>
          <p:nvPr/>
        </p:nvPicPr>
        <p:blipFill>
          <a:blip r:embed="rId2"/>
          <a:stretch>
            <a:fillRect/>
          </a:stretch>
        </p:blipFill>
        <p:spPr>
          <a:xfrm>
            <a:off x="870813" y="1543040"/>
            <a:ext cx="7361098" cy="3814773"/>
          </a:xfrm>
          <a:prstGeom prst="rect">
            <a:avLst/>
          </a:prstGeom>
        </p:spPr>
      </p:pic>
    </p:spTree>
    <p:extLst>
      <p:ext uri="{BB962C8B-B14F-4D97-AF65-F5344CB8AC3E}">
        <p14:creationId xmlns:p14="http://schemas.microsoft.com/office/powerpoint/2010/main" val="23978467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49" y="268288"/>
            <a:ext cx="9286875" cy="762000"/>
          </a:xfrm>
        </p:spPr>
        <p:txBody>
          <a:bodyPr/>
          <a:lstStyle/>
          <a:p>
            <a:r>
              <a:rPr lang="en-GB" dirty="0"/>
              <a:t>2. Project Planning: Time estimates(1)</a:t>
            </a:r>
          </a:p>
        </p:txBody>
      </p:sp>
      <p:sp>
        <p:nvSpPr>
          <p:cNvPr id="3" name="Content Placeholder 2"/>
          <p:cNvSpPr>
            <a:spLocks noGrp="1"/>
          </p:cNvSpPr>
          <p:nvPr>
            <p:ph idx="1"/>
          </p:nvPr>
        </p:nvSpPr>
        <p:spPr/>
        <p:txBody>
          <a:bodyPr>
            <a:noAutofit/>
          </a:bodyPr>
          <a:lstStyle/>
          <a:p>
            <a:pPr algn="just"/>
            <a:r>
              <a:rPr lang="en-US" dirty="0"/>
              <a:t>When a project’s aims and objectives are identified it provides little indication of exactly how long the project will take to complete. </a:t>
            </a:r>
          </a:p>
          <a:p>
            <a:pPr algn="just"/>
            <a:r>
              <a:rPr lang="en-US" dirty="0"/>
              <a:t>You would hope that your project is of a suitable scope to keep you busy during the allotted time and is of sufficient depth for you to obtain a good grade. </a:t>
            </a:r>
          </a:p>
          <a:p>
            <a:pPr algn="just"/>
            <a:r>
              <a:rPr lang="en-US" dirty="0"/>
              <a:t>However, it is not until you break the project down using a WBS that you really begin to see just how much work is involved.</a:t>
            </a:r>
          </a:p>
        </p:txBody>
      </p:sp>
    </p:spTree>
    <p:extLst>
      <p:ext uri="{BB962C8B-B14F-4D97-AF65-F5344CB8AC3E}">
        <p14:creationId xmlns:p14="http://schemas.microsoft.com/office/powerpoint/2010/main" val="42827851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49" y="268288"/>
            <a:ext cx="9286875" cy="762000"/>
          </a:xfrm>
        </p:spPr>
        <p:txBody>
          <a:bodyPr/>
          <a:lstStyle/>
          <a:p>
            <a:r>
              <a:rPr lang="en-GB" dirty="0"/>
              <a:t>2. Project Planning: Time estimates(2)</a:t>
            </a:r>
          </a:p>
        </p:txBody>
      </p:sp>
      <p:sp>
        <p:nvSpPr>
          <p:cNvPr id="3" name="Content Placeholder 2"/>
          <p:cNvSpPr>
            <a:spLocks noGrp="1"/>
          </p:cNvSpPr>
          <p:nvPr>
            <p:ph idx="1"/>
          </p:nvPr>
        </p:nvSpPr>
        <p:spPr/>
        <p:txBody>
          <a:bodyPr>
            <a:noAutofit/>
          </a:bodyPr>
          <a:lstStyle/>
          <a:p>
            <a:pPr algn="just"/>
            <a:r>
              <a:rPr lang="en-US" dirty="0"/>
              <a:t>Now that the project is broken down into a number of tasks it is much easier to estimate how long the project will take.</a:t>
            </a:r>
            <a:endParaRPr lang="en-GB" dirty="0"/>
          </a:p>
        </p:txBody>
      </p:sp>
      <p:pic>
        <p:nvPicPr>
          <p:cNvPr id="4" name="Content Placeholder 3"/>
          <p:cNvPicPr>
            <a:picLocks noChangeAspect="1"/>
          </p:cNvPicPr>
          <p:nvPr/>
        </p:nvPicPr>
        <p:blipFill rotWithShape="1">
          <a:blip r:embed="rId2"/>
          <a:srcRect t="1601" b="4920"/>
          <a:stretch/>
        </p:blipFill>
        <p:spPr bwMode="auto">
          <a:xfrm>
            <a:off x="1851024" y="2590801"/>
            <a:ext cx="5166471" cy="3981449"/>
          </a:xfrm>
          <a:prstGeom prst="rect">
            <a:avLst/>
          </a:prstGeom>
          <a:noFill/>
          <a:ln w="9525">
            <a:noFill/>
            <a:round/>
            <a:headEnd/>
            <a:tailEnd/>
          </a:ln>
        </p:spPr>
      </p:pic>
    </p:spTree>
    <p:extLst>
      <p:ext uri="{BB962C8B-B14F-4D97-AF65-F5344CB8AC3E}">
        <p14:creationId xmlns:p14="http://schemas.microsoft.com/office/powerpoint/2010/main" val="15912530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2. Project Planning: Identify milestones (1)</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Milestones are significant steps towards the completion of a project. </a:t>
            </a:r>
          </a:p>
          <a:p>
            <a:pPr algn="just"/>
            <a:r>
              <a:rPr lang="en-US" dirty="0"/>
              <a:t>They help you to appreciate your progress by providing you with intermediate reference points. </a:t>
            </a:r>
          </a:p>
          <a:p>
            <a:pPr algn="just"/>
            <a:r>
              <a:rPr lang="en-US" dirty="0"/>
              <a:t>This enables you to assess, at the earliest opportunity, how you are progressing against your planned schedule. </a:t>
            </a:r>
          </a:p>
        </p:txBody>
      </p:sp>
    </p:spTree>
    <p:extLst>
      <p:ext uri="{BB962C8B-B14F-4D97-AF65-F5344CB8AC3E}">
        <p14:creationId xmlns:p14="http://schemas.microsoft.com/office/powerpoint/2010/main" val="6286857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2. Project Planning: Identify milestones (2)</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Because you know these milestones are leading you towards the ultimate goal of your project you can use these as intermediate goals at which to aim.</a:t>
            </a:r>
            <a:endParaRPr lang="en-GB" dirty="0"/>
          </a:p>
        </p:txBody>
      </p:sp>
      <p:pic>
        <p:nvPicPr>
          <p:cNvPr id="4" name="Picture 3"/>
          <p:cNvPicPr>
            <a:picLocks noChangeAspect="1"/>
          </p:cNvPicPr>
          <p:nvPr/>
        </p:nvPicPr>
        <p:blipFill>
          <a:blip r:embed="rId2"/>
          <a:stretch>
            <a:fillRect/>
          </a:stretch>
        </p:blipFill>
        <p:spPr>
          <a:xfrm>
            <a:off x="716276" y="3286126"/>
            <a:ext cx="7670170" cy="2686051"/>
          </a:xfrm>
          <a:prstGeom prst="rect">
            <a:avLst/>
          </a:prstGeom>
        </p:spPr>
      </p:pic>
    </p:spTree>
    <p:extLst>
      <p:ext uri="{BB962C8B-B14F-4D97-AF65-F5344CB8AC3E}">
        <p14:creationId xmlns:p14="http://schemas.microsoft.com/office/powerpoint/2010/main" val="573496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2. Project Planning: Activity sequencing (1)</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An activity network can now be used to identify the order in which you should perform that work. </a:t>
            </a:r>
          </a:p>
          <a:p>
            <a:pPr algn="just"/>
            <a:r>
              <a:rPr lang="en-US" dirty="0"/>
              <a:t>Activity networks were first developed towards the end of the 1950s and are sometimes referred to as PERT networks, CPM or network diagrams. </a:t>
            </a:r>
          </a:p>
          <a:p>
            <a:pPr algn="just"/>
            <a:r>
              <a:rPr lang="en-US" dirty="0"/>
              <a:t>Two forms of activity network were developed at that time – Activity-on-the-arrow networks and activity-on-the-node networks.</a:t>
            </a:r>
            <a:endParaRPr lang="en-GB" dirty="0"/>
          </a:p>
        </p:txBody>
      </p:sp>
    </p:spTree>
    <p:extLst>
      <p:ext uri="{BB962C8B-B14F-4D97-AF65-F5344CB8AC3E}">
        <p14:creationId xmlns:p14="http://schemas.microsoft.com/office/powerpoint/2010/main" val="41050979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2. Project Planning: Activity sequencing (2)</a:t>
            </a:r>
          </a:p>
        </p:txBody>
      </p:sp>
      <p:pic>
        <p:nvPicPr>
          <p:cNvPr id="5" name="Picture 4"/>
          <p:cNvPicPr>
            <a:picLocks noChangeAspect="1"/>
          </p:cNvPicPr>
          <p:nvPr/>
        </p:nvPicPr>
        <p:blipFill>
          <a:blip r:embed="rId2"/>
          <a:stretch>
            <a:fillRect/>
          </a:stretch>
        </p:blipFill>
        <p:spPr>
          <a:xfrm>
            <a:off x="1739056" y="2213371"/>
            <a:ext cx="4763386" cy="1847616"/>
          </a:xfrm>
          <a:prstGeom prst="rect">
            <a:avLst/>
          </a:prstGeom>
        </p:spPr>
      </p:pic>
      <p:pic>
        <p:nvPicPr>
          <p:cNvPr id="6" name="Picture 5"/>
          <p:cNvPicPr>
            <a:picLocks noChangeAspect="1"/>
          </p:cNvPicPr>
          <p:nvPr/>
        </p:nvPicPr>
        <p:blipFill>
          <a:blip r:embed="rId3"/>
          <a:stretch>
            <a:fillRect/>
          </a:stretch>
        </p:blipFill>
        <p:spPr>
          <a:xfrm>
            <a:off x="2421731" y="4408649"/>
            <a:ext cx="3094476" cy="295275"/>
          </a:xfrm>
          <a:prstGeom prst="rect">
            <a:avLst/>
          </a:prstGeom>
        </p:spPr>
      </p:pic>
    </p:spTree>
    <p:extLst>
      <p:ext uri="{BB962C8B-B14F-4D97-AF65-F5344CB8AC3E}">
        <p14:creationId xmlns:p14="http://schemas.microsoft.com/office/powerpoint/2010/main" val="569976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2. Project Planning: Activity sequencing (3)</a:t>
            </a:r>
          </a:p>
        </p:txBody>
      </p:sp>
      <p:pic>
        <p:nvPicPr>
          <p:cNvPr id="7" name="Content Placeholder 3"/>
          <p:cNvPicPr>
            <a:picLocks noGrp="1" noChangeAspect="1"/>
          </p:cNvPicPr>
          <p:nvPr>
            <p:ph idx="1"/>
          </p:nvPr>
        </p:nvPicPr>
        <p:blipFill>
          <a:blip r:embed="rId2"/>
          <a:stretch>
            <a:fillRect/>
          </a:stretch>
        </p:blipFill>
        <p:spPr>
          <a:xfrm rot="5400000">
            <a:off x="2838677" y="-1018949"/>
            <a:ext cx="3498006" cy="9112640"/>
          </a:xfrm>
          <a:prstGeom prst="rect">
            <a:avLst/>
          </a:prstGeom>
        </p:spPr>
      </p:pic>
    </p:spTree>
    <p:extLst>
      <p:ext uri="{BB962C8B-B14F-4D97-AF65-F5344CB8AC3E}">
        <p14:creationId xmlns:p14="http://schemas.microsoft.com/office/powerpoint/2010/main" val="8367512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Project Planning: Scheduling (1)</a:t>
            </a:r>
          </a:p>
        </p:txBody>
      </p:sp>
      <p:sp>
        <p:nvSpPr>
          <p:cNvPr id="3" name="Content Placeholder 2"/>
          <p:cNvSpPr>
            <a:spLocks noGrp="1"/>
          </p:cNvSpPr>
          <p:nvPr>
            <p:ph idx="1"/>
          </p:nvPr>
        </p:nvSpPr>
        <p:spPr/>
        <p:txBody>
          <a:bodyPr>
            <a:noAutofit/>
          </a:bodyPr>
          <a:lstStyle/>
          <a:p>
            <a:pPr algn="just"/>
            <a:r>
              <a:rPr lang="en-US" dirty="0"/>
              <a:t>Gantt charts are similar to activity networks in that they attempt to represent a project in diagrammatical form. </a:t>
            </a:r>
          </a:p>
          <a:p>
            <a:pPr algn="just"/>
            <a:r>
              <a:rPr lang="en-US" dirty="0"/>
              <a:t>However, unlike activity networks, they do not show the relationships between tasks, but they do explicitly show the durations of activities and identify instances when tasks are performed simultaneously.</a:t>
            </a:r>
          </a:p>
          <a:p>
            <a:pPr algn="just"/>
            <a:r>
              <a:rPr lang="en-US" dirty="0"/>
              <a:t>Just like activity-on-the-node networks, Gantt charts represent a project’s activities as rectangles or nodes, and milestones by diamonds. </a:t>
            </a:r>
            <a:endParaRPr lang="en-GB" dirty="0"/>
          </a:p>
        </p:txBody>
      </p:sp>
    </p:spTree>
    <p:extLst>
      <p:ext uri="{BB962C8B-B14F-4D97-AF65-F5344CB8AC3E}">
        <p14:creationId xmlns:p14="http://schemas.microsoft.com/office/powerpoint/2010/main" val="274617377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Project Planning: Scheduling (2)</a:t>
            </a:r>
          </a:p>
        </p:txBody>
      </p:sp>
      <p:sp>
        <p:nvSpPr>
          <p:cNvPr id="3" name="Content Placeholder 2"/>
          <p:cNvSpPr>
            <a:spLocks noGrp="1"/>
          </p:cNvSpPr>
          <p:nvPr>
            <p:ph idx="1"/>
          </p:nvPr>
        </p:nvSpPr>
        <p:spPr/>
        <p:txBody>
          <a:bodyPr>
            <a:noAutofit/>
          </a:bodyPr>
          <a:lstStyle/>
          <a:p>
            <a:pPr algn="just"/>
            <a:r>
              <a:rPr lang="en-US" dirty="0"/>
              <a:t>In this case, however, the size (length) of an activity’s node represents the duration of that activity.</a:t>
            </a:r>
            <a:endParaRPr lang="en-GB" dirty="0"/>
          </a:p>
        </p:txBody>
      </p:sp>
      <p:pic>
        <p:nvPicPr>
          <p:cNvPr id="4" name="Content Placeholder 4"/>
          <p:cNvPicPr>
            <a:picLocks noChangeAspect="1"/>
          </p:cNvPicPr>
          <p:nvPr/>
        </p:nvPicPr>
        <p:blipFill>
          <a:blip r:embed="rId2"/>
          <a:stretch>
            <a:fillRect/>
          </a:stretch>
        </p:blipFill>
        <p:spPr bwMode="auto">
          <a:xfrm>
            <a:off x="2285205" y="2128838"/>
            <a:ext cx="4042753" cy="4364225"/>
          </a:xfrm>
          <a:prstGeom prst="rect">
            <a:avLst/>
          </a:prstGeom>
          <a:noFill/>
          <a:ln w="9525">
            <a:noFill/>
            <a:round/>
            <a:headEnd/>
            <a:tailEnd/>
          </a:ln>
        </p:spPr>
      </p:pic>
    </p:spTree>
    <p:extLst>
      <p:ext uri="{BB962C8B-B14F-4D97-AF65-F5344CB8AC3E}">
        <p14:creationId xmlns:p14="http://schemas.microsoft.com/office/powerpoint/2010/main" val="20046927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Project Planning: Scheduling (3) </a:t>
            </a:r>
          </a:p>
        </p:txBody>
      </p:sp>
      <p:pic>
        <p:nvPicPr>
          <p:cNvPr id="8" name="Content Placeholder 7"/>
          <p:cNvPicPr>
            <a:picLocks noGrp="1" noChangeAspect="1"/>
          </p:cNvPicPr>
          <p:nvPr>
            <p:ph idx="1"/>
          </p:nvPr>
        </p:nvPicPr>
        <p:blipFill>
          <a:blip r:embed="rId2"/>
          <a:stretch>
            <a:fillRect/>
          </a:stretch>
        </p:blipFill>
        <p:spPr>
          <a:xfrm rot="5400000">
            <a:off x="3121845" y="-1316719"/>
            <a:ext cx="3158195" cy="8619242"/>
          </a:xfrm>
          <a:prstGeom prst="rect">
            <a:avLst/>
          </a:prstGeom>
        </p:spPr>
      </p:pic>
      <p:pic>
        <p:nvPicPr>
          <p:cNvPr id="9" name="Picture 8"/>
          <p:cNvPicPr>
            <a:picLocks noChangeAspect="1"/>
          </p:cNvPicPr>
          <p:nvPr/>
        </p:nvPicPr>
        <p:blipFill>
          <a:blip r:embed="rId3"/>
          <a:stretch>
            <a:fillRect/>
          </a:stretch>
        </p:blipFill>
        <p:spPr>
          <a:xfrm rot="5400000">
            <a:off x="4703598" y="3218542"/>
            <a:ext cx="548518" cy="3473949"/>
          </a:xfrm>
          <a:prstGeom prst="rect">
            <a:avLst/>
          </a:prstGeom>
        </p:spPr>
      </p:pic>
    </p:spTree>
    <p:extLst>
      <p:ext uri="{BB962C8B-B14F-4D97-AF65-F5344CB8AC3E}">
        <p14:creationId xmlns:p14="http://schemas.microsoft.com/office/powerpoint/2010/main" val="7389726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Project Planning: Re-planning</a:t>
            </a:r>
          </a:p>
        </p:txBody>
      </p:sp>
      <p:sp>
        <p:nvSpPr>
          <p:cNvPr id="3" name="Content Placeholder 2"/>
          <p:cNvSpPr>
            <a:spLocks noGrp="1"/>
          </p:cNvSpPr>
          <p:nvPr>
            <p:ph idx="1"/>
          </p:nvPr>
        </p:nvSpPr>
        <p:spPr/>
        <p:txBody>
          <a:bodyPr>
            <a:noAutofit/>
          </a:bodyPr>
          <a:lstStyle/>
          <a:p>
            <a:pPr algn="just"/>
            <a:r>
              <a:rPr lang="en-US" dirty="0"/>
              <a:t>Now that you have completed all your plans, you may realize you are trying to do too much in the time available. </a:t>
            </a:r>
          </a:p>
          <a:p>
            <a:pPr algn="just"/>
            <a:r>
              <a:rPr lang="en-US" dirty="0"/>
              <a:t>Re-planning simply means that you go back through your plans, adjusting and rescheduling them accordingly. </a:t>
            </a:r>
          </a:p>
          <a:p>
            <a:pPr algn="just"/>
            <a:r>
              <a:rPr lang="en-US" dirty="0"/>
              <a:t>Project management software tools are particularly useful for making these changes and assessing the impact of your adjustments. </a:t>
            </a:r>
          </a:p>
          <a:p>
            <a:pPr algn="just"/>
            <a:r>
              <a:rPr lang="en-US" dirty="0"/>
              <a:t>However, try not to spend too long on this stage or you may find yourself re-planning and rescheduling than getting on with the ‘real’ work</a:t>
            </a:r>
            <a:endParaRPr lang="en-GB" dirty="0"/>
          </a:p>
        </p:txBody>
      </p:sp>
    </p:spTree>
    <p:extLst>
      <p:ext uri="{BB962C8B-B14F-4D97-AF65-F5344CB8AC3E}">
        <p14:creationId xmlns:p14="http://schemas.microsoft.com/office/powerpoint/2010/main" val="27876849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Management (1)</a:t>
            </a:r>
          </a:p>
        </p:txBody>
      </p:sp>
      <p:sp>
        <p:nvSpPr>
          <p:cNvPr id="3" name="Content Placeholder 2"/>
          <p:cNvSpPr>
            <a:spLocks noGrp="1"/>
          </p:cNvSpPr>
          <p:nvPr>
            <p:ph idx="1"/>
          </p:nvPr>
        </p:nvSpPr>
        <p:spPr/>
        <p:txBody>
          <a:bodyPr>
            <a:noAutofit/>
          </a:bodyPr>
          <a:lstStyle/>
          <a:p>
            <a:pPr algn="just"/>
            <a:r>
              <a:rPr lang="en-US" dirty="0"/>
              <a:t>Risk management is a process that is inexorably linked to project management; it runs in parallel with project management and follows a very similar process. </a:t>
            </a:r>
          </a:p>
          <a:p>
            <a:pPr algn="just"/>
            <a:r>
              <a:rPr lang="en-US" dirty="0"/>
              <a:t>Just as project management involves the development of a project plan and control of the project using that plan as the project progresses, risk management involves the identification of risks at the project’s outset and the control of those risks as the project unfolds.</a:t>
            </a:r>
          </a:p>
        </p:txBody>
      </p:sp>
    </p:spTree>
    <p:extLst>
      <p:ext uri="{BB962C8B-B14F-4D97-AF65-F5344CB8AC3E}">
        <p14:creationId xmlns:p14="http://schemas.microsoft.com/office/powerpoint/2010/main" val="36485671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Management (2)</a:t>
            </a:r>
          </a:p>
        </p:txBody>
      </p:sp>
      <p:sp>
        <p:nvSpPr>
          <p:cNvPr id="3" name="Content Placeholder 2"/>
          <p:cNvSpPr>
            <a:spLocks noGrp="1"/>
          </p:cNvSpPr>
          <p:nvPr>
            <p:ph idx="1"/>
          </p:nvPr>
        </p:nvSpPr>
        <p:spPr/>
        <p:txBody>
          <a:bodyPr>
            <a:noAutofit/>
          </a:bodyPr>
          <a:lstStyle/>
          <a:p>
            <a:pPr algn="just"/>
            <a:r>
              <a:rPr lang="en-US" dirty="0"/>
              <a:t>The four main stages of this risk management process are:</a:t>
            </a:r>
          </a:p>
          <a:p>
            <a:pPr marL="842963" lvl="1" indent="-385763" algn="just">
              <a:buFont typeface="+mj-lt"/>
              <a:buAutoNum type="arabicPeriod"/>
            </a:pPr>
            <a:r>
              <a:rPr lang="en-US" dirty="0"/>
              <a:t>Identify risks</a:t>
            </a:r>
          </a:p>
          <a:p>
            <a:pPr marL="842963" lvl="1" indent="-385763" algn="just">
              <a:buFont typeface="+mj-lt"/>
              <a:buAutoNum type="arabicPeriod"/>
            </a:pPr>
            <a:r>
              <a:rPr lang="en-US" dirty="0"/>
              <a:t>Assess impact of risks</a:t>
            </a:r>
          </a:p>
          <a:p>
            <a:pPr marL="842963" lvl="1" indent="-385763" algn="just">
              <a:buFont typeface="+mj-lt"/>
              <a:buAutoNum type="arabicPeriod"/>
            </a:pPr>
            <a:r>
              <a:rPr lang="en-US" dirty="0"/>
              <a:t>Alleviate critical risks</a:t>
            </a:r>
          </a:p>
          <a:p>
            <a:pPr marL="842963" lvl="1" indent="-385763" algn="just">
              <a:buFont typeface="+mj-lt"/>
              <a:buAutoNum type="arabicPeriod"/>
            </a:pPr>
            <a:r>
              <a:rPr lang="en-US" dirty="0"/>
              <a:t>Control risks.</a:t>
            </a:r>
            <a:endParaRPr lang="en-GB" dirty="0"/>
          </a:p>
        </p:txBody>
      </p:sp>
    </p:spTree>
    <p:extLst>
      <p:ext uri="{BB962C8B-B14F-4D97-AF65-F5344CB8AC3E}">
        <p14:creationId xmlns:p14="http://schemas.microsoft.com/office/powerpoint/2010/main" val="16254871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Management: identify risks (1)</a:t>
            </a:r>
          </a:p>
        </p:txBody>
      </p:sp>
      <p:sp>
        <p:nvSpPr>
          <p:cNvPr id="3" name="Content Placeholder 2"/>
          <p:cNvSpPr>
            <a:spLocks noGrp="1"/>
          </p:cNvSpPr>
          <p:nvPr>
            <p:ph idx="1"/>
          </p:nvPr>
        </p:nvSpPr>
        <p:spPr>
          <a:xfrm>
            <a:off x="285749" y="1030288"/>
            <a:ext cx="8531225" cy="5427662"/>
          </a:xfrm>
        </p:spPr>
        <p:txBody>
          <a:bodyPr>
            <a:normAutofit lnSpcReduction="10000"/>
          </a:bodyPr>
          <a:lstStyle/>
          <a:p>
            <a:pPr algn="just"/>
            <a:r>
              <a:rPr lang="en-US" dirty="0"/>
              <a:t>As you are putting together your project plan, you should also be identifying any sources of risk to your project. </a:t>
            </a:r>
          </a:p>
          <a:p>
            <a:pPr algn="just"/>
            <a:r>
              <a:rPr lang="en-US" dirty="0"/>
              <a:t>These risks can be:</a:t>
            </a:r>
          </a:p>
          <a:p>
            <a:pPr lvl="1" algn="just"/>
            <a:r>
              <a:rPr lang="en-US" dirty="0"/>
              <a:t>individual events (event-driven risks – acute) that might have an impact on your project (for example, your supervisor leaving, your hard disk crashing, etc.) or </a:t>
            </a:r>
          </a:p>
          <a:p>
            <a:pPr lvl="1" algn="just"/>
            <a:r>
              <a:rPr lang="en-US" dirty="0"/>
              <a:t>they may be longer term risks that evolve over time (evolving risks – chronic) before eventually coming to a head (for example, underestimating the time it will take you to develop part of your system, deteriorating relationship with your client, etc.).</a:t>
            </a:r>
            <a:endParaRPr lang="en-GB" dirty="0"/>
          </a:p>
        </p:txBody>
      </p:sp>
    </p:spTree>
    <p:extLst>
      <p:ext uri="{BB962C8B-B14F-4D97-AF65-F5344CB8AC3E}">
        <p14:creationId xmlns:p14="http://schemas.microsoft.com/office/powerpoint/2010/main" val="41154182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Management: identify risks (2)</a:t>
            </a:r>
          </a:p>
        </p:txBody>
      </p:sp>
      <p:sp>
        <p:nvSpPr>
          <p:cNvPr id="3" name="Content Placeholder 2"/>
          <p:cNvSpPr>
            <a:spLocks noGrp="1"/>
          </p:cNvSpPr>
          <p:nvPr>
            <p:ph idx="1"/>
          </p:nvPr>
        </p:nvSpPr>
        <p:spPr>
          <a:xfrm>
            <a:off x="285749" y="1030288"/>
            <a:ext cx="8531225" cy="5613400"/>
          </a:xfrm>
        </p:spPr>
        <p:txBody>
          <a:bodyPr>
            <a:normAutofit fontScale="92500" lnSpcReduction="20000"/>
          </a:bodyPr>
          <a:lstStyle/>
          <a:p>
            <a:pPr algn="just"/>
            <a:r>
              <a:rPr lang="en-US" sz="3500" dirty="0"/>
              <a:t>Whether the risks to your project are event-driven or evolving, they can be further classified as either technical or non-technical risks.</a:t>
            </a:r>
          </a:p>
          <a:p>
            <a:pPr algn="just"/>
            <a:r>
              <a:rPr lang="en-US" sz="3500" dirty="0"/>
              <a:t>Technical risks refer to any risks that are associated with the hardware or software you might be using.</a:t>
            </a:r>
          </a:p>
          <a:p>
            <a:pPr algn="just"/>
            <a:r>
              <a:rPr lang="en-US" sz="3500" dirty="0"/>
              <a:t>Non-technical risks are all other risks associated with your project. These can include such things as:</a:t>
            </a:r>
          </a:p>
          <a:p>
            <a:pPr lvl="1" algn="just"/>
            <a:r>
              <a:rPr lang="en-US" sz="3000" dirty="0"/>
              <a:t> losing your client, your user or your supervisor; illness; over-running your time estimates; discovering work during your literature search that already covers (in depth) what you intended to do; etc.</a:t>
            </a:r>
          </a:p>
        </p:txBody>
      </p:sp>
    </p:spTree>
    <p:extLst>
      <p:ext uri="{BB962C8B-B14F-4D97-AF65-F5344CB8AC3E}">
        <p14:creationId xmlns:p14="http://schemas.microsoft.com/office/powerpoint/2010/main" val="356108911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Management: identify risks (3)</a:t>
            </a:r>
          </a:p>
        </p:txBody>
      </p:sp>
      <p:sp>
        <p:nvSpPr>
          <p:cNvPr id="3" name="Content Placeholder 2"/>
          <p:cNvSpPr>
            <a:spLocks noGrp="1"/>
          </p:cNvSpPr>
          <p:nvPr>
            <p:ph idx="1"/>
          </p:nvPr>
        </p:nvSpPr>
        <p:spPr>
          <a:xfrm>
            <a:off x="285749" y="1030287"/>
            <a:ext cx="8531225" cy="5356225"/>
          </a:xfrm>
        </p:spPr>
        <p:txBody>
          <a:bodyPr>
            <a:noAutofit/>
          </a:bodyPr>
          <a:lstStyle/>
          <a:p>
            <a:pPr algn="just"/>
            <a:r>
              <a:rPr lang="en-US" dirty="0"/>
              <a:t>As well as identifying potential risks to your project it is also useful to identify risk triggers (risk symptoms) at this stage too. </a:t>
            </a:r>
          </a:p>
          <a:p>
            <a:pPr algn="just"/>
            <a:r>
              <a:rPr lang="en-US" dirty="0"/>
              <a:t>Risk triggers are events or things that happen during the course of your project that might give an indication that something is wrong or that one of the risks you have identified is increasingly likely to occur.</a:t>
            </a:r>
          </a:p>
          <a:p>
            <a:pPr algn="just"/>
            <a:r>
              <a:rPr lang="en-US" dirty="0"/>
              <a:t>All projects encounter problems to some extent, so don’t be disheartened if some of the risks you identify during this stage of the risk management process occur. </a:t>
            </a:r>
            <a:endParaRPr lang="en-GB" dirty="0"/>
          </a:p>
        </p:txBody>
      </p:sp>
    </p:spTree>
    <p:extLst>
      <p:ext uri="{BB962C8B-B14F-4D97-AF65-F5344CB8AC3E}">
        <p14:creationId xmlns:p14="http://schemas.microsoft.com/office/powerpoint/2010/main" val="18204768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Risk Management: access impact of risks (1)</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Having identified the risks associated with your project in the first stage of the risk management process, you should then calculate their impact. </a:t>
            </a:r>
          </a:p>
          <a:p>
            <a:pPr algn="just"/>
            <a:r>
              <a:rPr lang="en-US" dirty="0"/>
              <a:t>The impact of any risk on your project is given by the following equation:</a:t>
            </a:r>
          </a:p>
          <a:p>
            <a:pPr marL="0" indent="0" algn="just">
              <a:buNone/>
            </a:pPr>
            <a:r>
              <a:rPr lang="en-US" dirty="0"/>
              <a:t>	Risk impact = likelihood X consequence</a:t>
            </a:r>
          </a:p>
          <a:p>
            <a:pPr algn="just"/>
            <a:r>
              <a:rPr lang="en-US" dirty="0"/>
              <a:t>Thus, although a risk may be highly likely to occur, if its consequences are low its impact will also be low. </a:t>
            </a:r>
          </a:p>
        </p:txBody>
      </p:sp>
    </p:spTree>
    <p:extLst>
      <p:ext uri="{BB962C8B-B14F-4D97-AF65-F5344CB8AC3E}">
        <p14:creationId xmlns:p14="http://schemas.microsoft.com/office/powerpoint/2010/main" val="3061612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Risk Management: access impact of risks (2)</a:t>
            </a:r>
          </a:p>
        </p:txBody>
      </p:sp>
      <p:sp>
        <p:nvSpPr>
          <p:cNvPr id="3" name="Content Placeholder 2"/>
          <p:cNvSpPr>
            <a:spLocks noGrp="1"/>
          </p:cNvSpPr>
          <p:nvPr>
            <p:ph idx="1"/>
          </p:nvPr>
        </p:nvSpPr>
        <p:spPr>
          <a:xfrm>
            <a:off x="285749" y="1544638"/>
            <a:ext cx="8531225" cy="4870450"/>
          </a:xfrm>
        </p:spPr>
        <p:txBody>
          <a:bodyPr>
            <a:noAutofit/>
          </a:bodyPr>
          <a:lstStyle/>
          <a:p>
            <a:pPr algn="just"/>
            <a:r>
              <a:rPr lang="en-US" dirty="0"/>
              <a:t>Similarly, if a risk has severe consequences for your project but its chances of happening are very low, its impact is also calculated as low. </a:t>
            </a:r>
          </a:p>
          <a:p>
            <a:pPr algn="just"/>
            <a:r>
              <a:rPr lang="en-US" dirty="0"/>
              <a:t>The risks you need to worry about are those that are highly likely to occur and have significant consequences to your project if they do.</a:t>
            </a:r>
            <a:endParaRPr lang="en-GB" dirty="0"/>
          </a:p>
        </p:txBody>
      </p:sp>
    </p:spTree>
    <p:extLst>
      <p:ext uri="{BB962C8B-B14F-4D97-AF65-F5344CB8AC3E}">
        <p14:creationId xmlns:p14="http://schemas.microsoft.com/office/powerpoint/2010/main" val="269617355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750" y="568336"/>
            <a:ext cx="8531225" cy="762000"/>
          </a:xfrm>
        </p:spPr>
        <p:txBody>
          <a:bodyPr/>
          <a:lstStyle/>
          <a:p>
            <a:r>
              <a:rPr lang="en-GB" dirty="0"/>
              <a:t>Risk Management: alleviate critical risks</a:t>
            </a:r>
          </a:p>
        </p:txBody>
      </p:sp>
      <p:sp>
        <p:nvSpPr>
          <p:cNvPr id="3" name="Content Placeholder 2"/>
          <p:cNvSpPr>
            <a:spLocks noGrp="1"/>
          </p:cNvSpPr>
          <p:nvPr>
            <p:ph idx="1"/>
          </p:nvPr>
        </p:nvSpPr>
        <p:spPr>
          <a:xfrm>
            <a:off x="285749" y="1544638"/>
            <a:ext cx="8531225" cy="4870450"/>
          </a:xfrm>
        </p:spPr>
        <p:txBody>
          <a:bodyPr>
            <a:noAutofit/>
          </a:bodyPr>
          <a:lstStyle/>
          <a:p>
            <a:r>
              <a:rPr lang="en-US" dirty="0"/>
              <a:t>There are three ways that you can deal with the critical risks you have identified in your project: avoidance, deflection(transfer) and</a:t>
            </a:r>
          </a:p>
          <a:p>
            <a:r>
              <a:rPr lang="en-US" dirty="0"/>
              <a:t>Avoidance means reducing the chances that the risk will occur at all. </a:t>
            </a:r>
          </a:p>
          <a:p>
            <a:r>
              <a:rPr lang="en-US" dirty="0"/>
              <a:t>Deflection means passing the risk onto someone or something else. </a:t>
            </a:r>
          </a:p>
          <a:p>
            <a:r>
              <a:rPr lang="en-US" dirty="0"/>
              <a:t>Contingency means accepting that the risk is going to occur and putting something in place to deal with it when it does. contingency. </a:t>
            </a:r>
            <a:endParaRPr lang="en-GB" dirty="0"/>
          </a:p>
        </p:txBody>
      </p:sp>
    </p:spTree>
    <p:extLst>
      <p:ext uri="{BB962C8B-B14F-4D97-AF65-F5344CB8AC3E}">
        <p14:creationId xmlns:p14="http://schemas.microsoft.com/office/powerpoint/2010/main" val="19601343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Risk Management: control risks</a:t>
            </a:r>
          </a:p>
        </p:txBody>
      </p:sp>
      <p:sp>
        <p:nvSpPr>
          <p:cNvPr id="3" name="Content Placeholder 2"/>
          <p:cNvSpPr>
            <a:spLocks noGrp="1"/>
          </p:cNvSpPr>
          <p:nvPr>
            <p:ph idx="1"/>
          </p:nvPr>
        </p:nvSpPr>
        <p:spPr/>
        <p:txBody>
          <a:bodyPr>
            <a:noAutofit/>
          </a:bodyPr>
          <a:lstStyle/>
          <a:p>
            <a:pPr algn="just"/>
            <a:r>
              <a:rPr lang="en-US" dirty="0"/>
              <a:t>You have now identified all the risks in your project. This is not the end of the process; you cannot just sit back and relax. </a:t>
            </a:r>
          </a:p>
          <a:p>
            <a:pPr algn="just"/>
            <a:r>
              <a:rPr lang="en-US" dirty="0"/>
              <a:t>While risk management can make you aware of the risks involved and put things in place to deal with those risks, it does not take away the risks to your project entirely.</a:t>
            </a:r>
            <a:endParaRPr lang="en-GB" dirty="0"/>
          </a:p>
          <a:p>
            <a:pPr algn="just"/>
            <a:r>
              <a:rPr lang="en-US" dirty="0"/>
              <a:t>The last stage of the risk management process is concerned with planning your risk strategy approach, monitoring risks as your project progresses and dealing with those risks if they occur.</a:t>
            </a:r>
            <a:endParaRPr lang="en-GB" dirty="0"/>
          </a:p>
        </p:txBody>
      </p:sp>
    </p:spTree>
    <p:extLst>
      <p:ext uri="{BB962C8B-B14F-4D97-AF65-F5344CB8AC3E}">
        <p14:creationId xmlns:p14="http://schemas.microsoft.com/office/powerpoint/2010/main" val="25041317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lstStyle/>
          <a:p>
            <a:r>
              <a:rPr lang="en-US" dirty="0"/>
              <a:t>Any Questions?</a:t>
            </a:r>
          </a:p>
        </p:txBody>
      </p:sp>
      <p:pic>
        <p:nvPicPr>
          <p:cNvPr id="3074" name="Picture 2" descr="http://i.huffpost.com/gen/1604482/images/o-WOMAN-ASKING-QUESTION-faceboo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075" y="1446212"/>
            <a:ext cx="8480425" cy="42402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77892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Summary: Week 4 Lecture</a:t>
            </a:r>
          </a:p>
        </p:txBody>
      </p:sp>
      <p:sp>
        <p:nvSpPr>
          <p:cNvPr id="6" name="Content Placeholder 5"/>
          <p:cNvSpPr>
            <a:spLocks noGrp="1"/>
          </p:cNvSpPr>
          <p:nvPr>
            <p:ph idx="1"/>
          </p:nvPr>
        </p:nvSpPr>
        <p:spPr>
          <a:xfrm>
            <a:off x="285750" y="1030288"/>
            <a:ext cx="8531225" cy="4870450"/>
          </a:xfrm>
        </p:spPr>
        <p:txBody>
          <a:bodyPr/>
          <a:lstStyle/>
          <a:p>
            <a:pPr algn="just"/>
            <a:r>
              <a:rPr lang="en-US" dirty="0"/>
              <a:t>The five main stages are: </a:t>
            </a:r>
          </a:p>
          <a:p>
            <a:pPr marL="971550" lvl="1" indent="-514350" algn="just">
              <a:buFont typeface="+mj-lt"/>
              <a:buAutoNum type="arabicPeriod"/>
            </a:pPr>
            <a:r>
              <a:rPr lang="en-US" sz="2800" dirty="0"/>
              <a:t>Definition</a:t>
            </a:r>
          </a:p>
          <a:p>
            <a:pPr marL="971550" lvl="1" indent="-514350" algn="just">
              <a:buFont typeface="+mj-lt"/>
              <a:buAutoNum type="arabicPeriod"/>
            </a:pPr>
            <a:r>
              <a:rPr lang="en-US" sz="2800" dirty="0"/>
              <a:t>Planning</a:t>
            </a:r>
          </a:p>
          <a:p>
            <a:pPr marL="971550" lvl="1" indent="-514350" algn="just">
              <a:buFont typeface="+mj-lt"/>
              <a:buAutoNum type="arabicPeriod"/>
            </a:pPr>
            <a:r>
              <a:rPr lang="en-US" sz="2800" dirty="0"/>
              <a:t>Initiation </a:t>
            </a:r>
          </a:p>
          <a:p>
            <a:pPr marL="971550" lvl="1" indent="-514350" algn="just">
              <a:buFont typeface="+mj-lt"/>
              <a:buAutoNum type="arabicPeriod"/>
            </a:pPr>
            <a:r>
              <a:rPr lang="en-US" sz="2800" dirty="0"/>
              <a:t>Control</a:t>
            </a:r>
          </a:p>
          <a:p>
            <a:pPr marL="971550" lvl="1" indent="-514350" algn="just">
              <a:buFont typeface="+mj-lt"/>
              <a:buAutoNum type="arabicPeriod"/>
            </a:pPr>
            <a:r>
              <a:rPr lang="en-US" sz="2800" dirty="0"/>
              <a:t>Closure</a:t>
            </a:r>
          </a:p>
          <a:p>
            <a:pPr algn="just"/>
            <a:r>
              <a:rPr lang="en-US" dirty="0"/>
              <a:t>The four main stages of this risk management process are:</a:t>
            </a:r>
          </a:p>
          <a:p>
            <a:pPr marL="842963" lvl="1" indent="-385763" algn="just">
              <a:buFont typeface="+mj-lt"/>
              <a:buAutoNum type="arabicPeriod"/>
            </a:pPr>
            <a:r>
              <a:rPr lang="en-US" dirty="0"/>
              <a:t>Identify risks</a:t>
            </a:r>
          </a:p>
          <a:p>
            <a:pPr marL="842963" lvl="1" indent="-385763" algn="just">
              <a:buFont typeface="+mj-lt"/>
              <a:buAutoNum type="arabicPeriod"/>
            </a:pPr>
            <a:r>
              <a:rPr lang="en-US" dirty="0"/>
              <a:t>Assess impact of risks</a:t>
            </a:r>
          </a:p>
          <a:p>
            <a:pPr marL="842963" lvl="1" indent="-385763" algn="just">
              <a:buFont typeface="+mj-lt"/>
              <a:buAutoNum type="arabicPeriod"/>
            </a:pPr>
            <a:r>
              <a:rPr lang="en-US" dirty="0"/>
              <a:t>Alleviate critical risks</a:t>
            </a:r>
          </a:p>
          <a:p>
            <a:pPr marL="842963" lvl="1" indent="-385763" algn="just">
              <a:buFont typeface="+mj-lt"/>
              <a:buAutoNum type="arabicPeriod"/>
            </a:pPr>
            <a:r>
              <a:rPr lang="en-US" dirty="0"/>
              <a:t>Control risks.</a:t>
            </a:r>
            <a:endParaRPr lang="en-GB" dirty="0"/>
          </a:p>
          <a:p>
            <a:pPr algn="just"/>
            <a:endParaRPr lang="en-GB" sz="3200" dirty="0"/>
          </a:p>
          <a:p>
            <a:pPr algn="just"/>
            <a:endParaRPr lang="en-GB" dirty="0"/>
          </a:p>
          <a:p>
            <a:pPr algn="just"/>
            <a:endParaRPr lang="en-GB" dirty="0"/>
          </a:p>
        </p:txBody>
      </p:sp>
    </p:spTree>
    <p:extLst>
      <p:ext uri="{BB962C8B-B14F-4D97-AF65-F5344CB8AC3E}">
        <p14:creationId xmlns:p14="http://schemas.microsoft.com/office/powerpoint/2010/main" val="19040088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to Expect: Week 4 Activities</a:t>
            </a:r>
          </a:p>
        </p:txBody>
      </p:sp>
      <p:sp>
        <p:nvSpPr>
          <p:cNvPr id="3" name="Content Placeholder 2"/>
          <p:cNvSpPr>
            <a:spLocks noGrp="1"/>
          </p:cNvSpPr>
          <p:nvPr>
            <p:ph idx="1"/>
          </p:nvPr>
        </p:nvSpPr>
        <p:spPr>
          <a:xfrm>
            <a:off x="285750" y="1030288"/>
            <a:ext cx="8531225" cy="4870450"/>
          </a:xfrm>
        </p:spPr>
        <p:txBody>
          <a:bodyPr/>
          <a:lstStyle/>
          <a:p>
            <a:pPr marL="228600" lvl="1" algn="just">
              <a:buFont typeface="Arial" panose="020B0604020202020204" pitchFamily="34" charset="0"/>
              <a:buChar char="•"/>
            </a:pPr>
            <a:r>
              <a:rPr lang="en-US" sz="3200" dirty="0"/>
              <a:t>Task: Developing an initial plan for the project and looking into potential risks and their solutions</a:t>
            </a:r>
          </a:p>
        </p:txBody>
      </p:sp>
    </p:spTree>
    <p:extLst>
      <p:ext uri="{BB962C8B-B14F-4D97-AF65-F5344CB8AC3E}">
        <p14:creationId xmlns:p14="http://schemas.microsoft.com/office/powerpoint/2010/main" val="1424943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ChangeAspect="1" noChangeArrowheads="1"/>
          </p:cNvPicPr>
          <p:nvPr/>
        </p:nvPicPr>
        <p:blipFill>
          <a:blip r:embed="rId2"/>
          <a:srcRect/>
          <a:stretch>
            <a:fillRect/>
          </a:stretch>
        </p:blipFill>
        <p:spPr bwMode="auto">
          <a:xfrm>
            <a:off x="2387600" y="1527175"/>
            <a:ext cx="4327525" cy="3973513"/>
          </a:xfrm>
          <a:prstGeom prst="rect">
            <a:avLst/>
          </a:prstGeom>
          <a:noFill/>
          <a:ln w="9525">
            <a:noFill/>
            <a:miter lim="800000"/>
            <a:headEnd/>
            <a:tailEnd/>
          </a:ln>
        </p:spPr>
      </p:pic>
    </p:spTree>
    <p:extLst>
      <p:ext uri="{BB962C8B-B14F-4D97-AF65-F5344CB8AC3E}">
        <p14:creationId xmlns:p14="http://schemas.microsoft.com/office/powerpoint/2010/main" val="3579085463"/>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500</TotalTime>
  <Words>2555</Words>
  <Application>Microsoft Office PowerPoint</Application>
  <PresentationFormat>On-screen Show (4:3)</PresentationFormat>
  <Paragraphs>181</Paragraphs>
  <Slides>44</Slides>
  <Notes>2</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44</vt:i4>
      </vt:variant>
    </vt:vector>
  </HeadingPairs>
  <TitlesOfParts>
    <vt:vector size="52" baseType="lpstr">
      <vt:lpstr>Arial</vt:lpstr>
      <vt:lpstr>Calibri</vt:lpstr>
      <vt:lpstr>Calibri Light</vt:lpstr>
      <vt:lpstr>Times New Roman</vt:lpstr>
      <vt:lpstr>Wingdings</vt:lpstr>
      <vt:lpstr>1_Office Theme</vt:lpstr>
      <vt:lpstr>2_Office Theme</vt:lpstr>
      <vt:lpstr>Office Theme</vt:lpstr>
      <vt:lpstr>Project Planning</vt:lpstr>
      <vt:lpstr>Agenda </vt:lpstr>
      <vt:lpstr>PowerPoint Presentation</vt:lpstr>
      <vt:lpstr>Review of Week 3</vt:lpstr>
      <vt:lpstr>Any Confusion?</vt:lpstr>
      <vt:lpstr>The project’s stages (1)</vt:lpstr>
      <vt:lpstr>The project’s stages (2)</vt:lpstr>
      <vt:lpstr>1. Project Definition: Definition (1)</vt:lpstr>
      <vt:lpstr>1. Project Definition: Definition (2)</vt:lpstr>
      <vt:lpstr>1. Project Definition: Definition (3)</vt:lpstr>
      <vt:lpstr>1. Project Definition: Defining your aims (1)</vt:lpstr>
      <vt:lpstr>1. Project Definition: Defining your aims (2)</vt:lpstr>
      <vt:lpstr>1. Project Definition: Setting objectives (1)</vt:lpstr>
      <vt:lpstr>1. Project Definition: Setting objectives (2)</vt:lpstr>
      <vt:lpstr>1. Project Definition: Setting objectives (3)</vt:lpstr>
      <vt:lpstr>1. Project Definition: SMART objectives</vt:lpstr>
      <vt:lpstr>2. Project Planning (1)</vt:lpstr>
      <vt:lpstr>2. Project Planning (2)</vt:lpstr>
      <vt:lpstr>2. Project Planning: Work Breakdown (1)</vt:lpstr>
      <vt:lpstr>2. Project Planning: Work Breakdown (2)</vt:lpstr>
      <vt:lpstr>2. Project Planning: Time estimates(1)</vt:lpstr>
      <vt:lpstr>2. Project Planning: Time estimates(2)</vt:lpstr>
      <vt:lpstr>2. Project Planning: Identify milestones (1)</vt:lpstr>
      <vt:lpstr>2. Project Planning: Identify milestones (2)</vt:lpstr>
      <vt:lpstr>2. Project Planning: Activity sequencing (1)</vt:lpstr>
      <vt:lpstr>2. Project Planning: Activity sequencing (2)</vt:lpstr>
      <vt:lpstr>2. Project Planning: Activity sequencing (3)</vt:lpstr>
      <vt:lpstr>2. Project Planning: Scheduling (1)</vt:lpstr>
      <vt:lpstr>2. Project Planning: Scheduling (2)</vt:lpstr>
      <vt:lpstr>2. Project Planning: Scheduling (3) </vt:lpstr>
      <vt:lpstr>2. Project Planning: Re-planning</vt:lpstr>
      <vt:lpstr>Risk Management (1)</vt:lpstr>
      <vt:lpstr>Risk Management (2)</vt:lpstr>
      <vt:lpstr>Risk Management: identify risks (1)</vt:lpstr>
      <vt:lpstr>Risk Management: identify risks (2)</vt:lpstr>
      <vt:lpstr>Risk Management: identify risks (3)</vt:lpstr>
      <vt:lpstr>Risk Management: access impact of risks (1)</vt:lpstr>
      <vt:lpstr>Risk Management: access impact of risks (2)</vt:lpstr>
      <vt:lpstr>Risk Management: alleviate critical risks</vt:lpstr>
      <vt:lpstr>Risk Management: control risks</vt:lpstr>
      <vt:lpstr>Any Questions?</vt:lpstr>
      <vt:lpstr>Summary: Week 4 Lecture</vt:lpstr>
      <vt:lpstr>What to Expect: Week 4 Activities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3</dc:title>
  <dc:creator>Sanjiv</dc:creator>
  <cp:lastModifiedBy>Biraj Dulal</cp:lastModifiedBy>
  <cp:revision>65</cp:revision>
  <dcterms:created xsi:type="dcterms:W3CDTF">2016-03-30T12:45:31Z</dcterms:created>
  <dcterms:modified xsi:type="dcterms:W3CDTF">2020-03-27T05:58:57Z</dcterms:modified>
</cp:coreProperties>
</file>