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44"/>
  </p:notesMasterIdLst>
  <p:sldIdLst>
    <p:sldId id="304" r:id="rId3"/>
    <p:sldId id="305" r:id="rId4"/>
    <p:sldId id="306" r:id="rId5"/>
    <p:sldId id="307" r:id="rId6"/>
    <p:sldId id="308" r:id="rId7"/>
    <p:sldId id="309" r:id="rId8"/>
    <p:sldId id="259" r:id="rId9"/>
    <p:sldId id="258" r:id="rId10"/>
    <p:sldId id="272" r:id="rId11"/>
    <p:sldId id="298" r:id="rId12"/>
    <p:sldId id="278" r:id="rId13"/>
    <p:sldId id="260" r:id="rId14"/>
    <p:sldId id="273" r:id="rId15"/>
    <p:sldId id="274" r:id="rId16"/>
    <p:sldId id="281" r:id="rId17"/>
    <p:sldId id="277" r:id="rId18"/>
    <p:sldId id="280" r:id="rId19"/>
    <p:sldId id="279" r:id="rId20"/>
    <p:sldId id="299" r:id="rId21"/>
    <p:sldId id="283" r:id="rId22"/>
    <p:sldId id="310" r:id="rId23"/>
    <p:sldId id="311" r:id="rId24"/>
    <p:sldId id="300" r:id="rId25"/>
    <p:sldId id="285" r:id="rId26"/>
    <p:sldId id="312" r:id="rId27"/>
    <p:sldId id="286" r:id="rId28"/>
    <p:sldId id="287" r:id="rId29"/>
    <p:sldId id="288" r:id="rId30"/>
    <p:sldId id="289" r:id="rId31"/>
    <p:sldId id="290" r:id="rId32"/>
    <p:sldId id="295" r:id="rId33"/>
    <p:sldId id="291" r:id="rId34"/>
    <p:sldId id="292" r:id="rId35"/>
    <p:sldId id="284" r:id="rId36"/>
    <p:sldId id="313" r:id="rId37"/>
    <p:sldId id="293" r:id="rId38"/>
    <p:sldId id="294" r:id="rId39"/>
    <p:sldId id="314" r:id="rId40"/>
    <p:sldId id="296" r:id="rId41"/>
    <p:sldId id="315" r:id="rId42"/>
    <p:sldId id="316"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6" d="100"/>
          <a:sy n="76" d="100"/>
        </p:scale>
        <p:origin x="49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88A8E-6479-4BA6-98C4-E379F23DC124}" type="datetimeFigureOut">
              <a:rPr lang="en-US" smtClean="0"/>
              <a:t>5/27/2019</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1136DA-478E-439B-8B6C-AB3457202B7F}" type="slidenum">
              <a:rPr lang="en-US" smtClean="0"/>
              <a:t>‹#›</a:t>
            </a:fld>
            <a:endParaRPr lang="en-US" dirty="0"/>
          </a:p>
        </p:txBody>
      </p:sp>
    </p:spTree>
    <p:extLst>
      <p:ext uri="{BB962C8B-B14F-4D97-AF65-F5344CB8AC3E}">
        <p14:creationId xmlns:p14="http://schemas.microsoft.com/office/powerpoint/2010/main" val="1687860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1"/>
          <p:cNvSpPr>
            <a:spLocks noGrp="1" noRot="1" noChangeAspect="1" noChangeArrowheads="1" noTextEdit="1"/>
          </p:cNvSpPr>
          <p:nvPr>
            <p:ph type="sldImg"/>
          </p:nvPr>
        </p:nvSpPr>
        <p:spPr>
          <a:xfrm>
            <a:off x="381000" y="695325"/>
            <a:ext cx="6096000" cy="3429000"/>
          </a:xfrm>
          <a:solidFill>
            <a:srgbClr val="FFFFFF"/>
          </a:solidFill>
          <a:ln>
            <a:solidFill>
              <a:srgbClr val="000000"/>
            </a:solidFill>
            <a:miter lim="800000"/>
            <a:headEnd/>
            <a:tailEnd/>
          </a:ln>
        </p:spPr>
      </p:sp>
      <p:sp>
        <p:nvSpPr>
          <p:cNvPr id="28675" name="Rectangle 2"/>
          <p:cNvSpPr>
            <a:spLocks noGrp="1" noChangeArrowheads="1"/>
          </p:cNvSpPr>
          <p:nvPr>
            <p:ph type="body" idx="1"/>
          </p:nvPr>
        </p:nvSpPr>
        <p:spPr>
          <a:xfrm>
            <a:off x="685800" y="4343400"/>
            <a:ext cx="5446713" cy="4076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1599410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p:cNvSpPr>
            <a:spLocks noGrp="1" noRot="1" noChangeAspect="1"/>
          </p:cNvSpPr>
          <p:nvPr>
            <p:ph type="sldImg"/>
          </p:nvPr>
        </p:nvSpPr>
        <p:spPr>
          <a:xfrm>
            <a:off x="-16986250" y="-11796713"/>
            <a:ext cx="22134513" cy="12452351"/>
          </a:xfrm>
        </p:spPr>
      </p:sp>
      <p:sp>
        <p:nvSpPr>
          <p:cNvPr id="2969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495758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p:cNvSpPr>
            <a:spLocks noGrp="1" noRot="1" noChangeAspect="1"/>
          </p:cNvSpPr>
          <p:nvPr>
            <p:ph type="sldImg"/>
          </p:nvPr>
        </p:nvSpPr>
        <p:spPr>
          <a:xfrm>
            <a:off x="-16986250" y="-11796713"/>
            <a:ext cx="22134513" cy="12452351"/>
          </a:xfrm>
        </p:spPr>
      </p:sp>
      <p:sp>
        <p:nvSpPr>
          <p:cNvPr id="3584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167572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31B6AF92-9CF4-4958-9F4D-8B196EDBEFA5}" type="slidenum">
              <a:rPr lang="en-US" altLang="en-US"/>
              <a:pPr/>
              <a:t>23</a:t>
            </a:fld>
            <a:endParaRPr lang="en-US" altLang="en-US" dirty="0"/>
          </a:p>
        </p:txBody>
      </p:sp>
      <p:sp>
        <p:nvSpPr>
          <p:cNvPr id="1343490" name="Rectangle 2"/>
          <p:cNvSpPr>
            <a:spLocks noChangeArrowheads="1"/>
          </p:cNvSpPr>
          <p:nvPr/>
        </p:nvSpPr>
        <p:spPr bwMode="auto">
          <a:xfrm>
            <a:off x="3965575" y="0"/>
            <a:ext cx="303371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343491" name="Rectangle 3"/>
          <p:cNvSpPr>
            <a:spLocks noChangeArrowheads="1"/>
          </p:cNvSpPr>
          <p:nvPr/>
        </p:nvSpPr>
        <p:spPr bwMode="auto">
          <a:xfrm>
            <a:off x="3965575" y="8820150"/>
            <a:ext cx="303371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300" tIns="0" rIns="19300" bIns="0" anchor="b"/>
          <a:lstStyle>
            <a:lvl1pPr defTabSz="927100">
              <a:defRPr sz="2400">
                <a:solidFill>
                  <a:schemeClr val="tx1"/>
                </a:solidFill>
                <a:latin typeface="Times New Roman" panose="02020603050405020304" pitchFamily="18" charset="0"/>
              </a:defRPr>
            </a:lvl1pPr>
            <a:lvl2pPr marL="463550" defTabSz="927100">
              <a:defRPr sz="2400">
                <a:solidFill>
                  <a:schemeClr val="tx1"/>
                </a:solidFill>
                <a:latin typeface="Times New Roman" panose="02020603050405020304" pitchFamily="18" charset="0"/>
              </a:defRPr>
            </a:lvl2pPr>
            <a:lvl3pPr marL="927100" defTabSz="927100">
              <a:defRPr sz="2400">
                <a:solidFill>
                  <a:schemeClr val="tx1"/>
                </a:solidFill>
                <a:latin typeface="Times New Roman" panose="02020603050405020304" pitchFamily="18" charset="0"/>
              </a:defRPr>
            </a:lvl3pPr>
            <a:lvl4pPr marL="1389063" defTabSz="927100">
              <a:defRPr sz="2400">
                <a:solidFill>
                  <a:schemeClr val="tx1"/>
                </a:solidFill>
                <a:latin typeface="Times New Roman" panose="02020603050405020304" pitchFamily="18" charset="0"/>
              </a:defRPr>
            </a:lvl4pPr>
            <a:lvl5pPr marL="1852613" defTabSz="927100">
              <a:defRPr sz="2400">
                <a:solidFill>
                  <a:schemeClr val="tx1"/>
                </a:solidFill>
                <a:latin typeface="Times New Roman" panose="02020603050405020304" pitchFamily="18" charset="0"/>
              </a:defRPr>
            </a:lvl5pPr>
            <a:lvl6pPr marL="2309813" defTabSz="927100" fontAlgn="base">
              <a:spcBef>
                <a:spcPct val="0"/>
              </a:spcBef>
              <a:spcAft>
                <a:spcPct val="0"/>
              </a:spcAft>
              <a:defRPr sz="2400">
                <a:solidFill>
                  <a:schemeClr val="tx1"/>
                </a:solidFill>
                <a:latin typeface="Times New Roman" panose="02020603050405020304" pitchFamily="18" charset="0"/>
              </a:defRPr>
            </a:lvl6pPr>
            <a:lvl7pPr marL="2767013" defTabSz="927100" fontAlgn="base">
              <a:spcBef>
                <a:spcPct val="0"/>
              </a:spcBef>
              <a:spcAft>
                <a:spcPct val="0"/>
              </a:spcAft>
              <a:defRPr sz="2400">
                <a:solidFill>
                  <a:schemeClr val="tx1"/>
                </a:solidFill>
                <a:latin typeface="Times New Roman" panose="02020603050405020304" pitchFamily="18" charset="0"/>
              </a:defRPr>
            </a:lvl7pPr>
            <a:lvl8pPr marL="3224213" defTabSz="927100" fontAlgn="base">
              <a:spcBef>
                <a:spcPct val="0"/>
              </a:spcBef>
              <a:spcAft>
                <a:spcPct val="0"/>
              </a:spcAft>
              <a:defRPr sz="2400">
                <a:solidFill>
                  <a:schemeClr val="tx1"/>
                </a:solidFill>
                <a:latin typeface="Times New Roman" panose="02020603050405020304" pitchFamily="18" charset="0"/>
              </a:defRPr>
            </a:lvl8pPr>
            <a:lvl9pPr marL="3681413" defTabSz="927100" fontAlgn="base">
              <a:spcBef>
                <a:spcPct val="0"/>
              </a:spcBef>
              <a:spcAft>
                <a:spcPct val="0"/>
              </a:spcAft>
              <a:defRPr sz="2400">
                <a:solidFill>
                  <a:schemeClr val="tx1"/>
                </a:solidFill>
                <a:latin typeface="Times New Roman" panose="02020603050405020304" pitchFamily="18" charset="0"/>
              </a:defRPr>
            </a:lvl9pPr>
          </a:lstStyle>
          <a:p>
            <a:pPr algn="r"/>
            <a:r>
              <a:rPr lang="en-US" altLang="en-US" sz="1000" i="1" dirty="0"/>
              <a:t>25</a:t>
            </a:r>
          </a:p>
        </p:txBody>
      </p:sp>
      <p:sp>
        <p:nvSpPr>
          <p:cNvPr id="1343492" name="Rectangle 4"/>
          <p:cNvSpPr>
            <a:spLocks noChangeArrowheads="1"/>
          </p:cNvSpPr>
          <p:nvPr/>
        </p:nvSpPr>
        <p:spPr bwMode="auto">
          <a:xfrm>
            <a:off x="-1588" y="8820150"/>
            <a:ext cx="303371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343493" name="Rectangle 5"/>
          <p:cNvSpPr>
            <a:spLocks noChangeArrowheads="1"/>
          </p:cNvSpPr>
          <p:nvPr/>
        </p:nvSpPr>
        <p:spPr bwMode="auto">
          <a:xfrm>
            <a:off x="-1588" y="0"/>
            <a:ext cx="303371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343494" name="Rectangle 6"/>
          <p:cNvSpPr>
            <a:spLocks noGrp="1" noChangeArrowheads="1"/>
          </p:cNvSpPr>
          <p:nvPr>
            <p:ph type="body" idx="1"/>
          </p:nvPr>
        </p:nvSpPr>
        <p:spPr>
          <a:xfrm>
            <a:off x="855663" y="4643438"/>
            <a:ext cx="5130800" cy="4176712"/>
          </a:xfrm>
          <a:noFill/>
          <a:ln/>
        </p:spPr>
        <p:txBody>
          <a:bodyPr lIns="93283" tIns="46644" rIns="93283" bIns="46644"/>
          <a:lstStyle/>
          <a:p>
            <a:r>
              <a:rPr lang="en-US" altLang="en-US" dirty="0"/>
              <a:t>FIRST, you must begin to think of malicious logic as more than just a virus.  Some of this malicious code act as delivery agents.  Others act as triggers.</a:t>
            </a:r>
          </a:p>
          <a:p>
            <a:endParaRPr lang="en-US" altLang="en-US" dirty="0"/>
          </a:p>
          <a:p>
            <a:r>
              <a:rPr lang="en-US" altLang="en-US" i="1" dirty="0"/>
              <a:t>Regardless of their method of use, operational capability or intent - -</a:t>
            </a:r>
          </a:p>
          <a:p>
            <a:r>
              <a:rPr lang="en-US" altLang="en-US" i="1" dirty="0"/>
              <a:t>All malicious code can be evaluated in the context of three principles:</a:t>
            </a:r>
          </a:p>
          <a:p>
            <a:endParaRPr lang="en-US" altLang="en-US" i="1" dirty="0"/>
          </a:p>
          <a:p>
            <a:r>
              <a:rPr lang="en-US" altLang="en-US" i="1" dirty="0"/>
              <a:t>Understanding these principle allows for successful countermeasures which we will touch on later for each type of code.</a:t>
            </a:r>
          </a:p>
          <a:p>
            <a:endParaRPr lang="en-US" altLang="en-US" i="1" dirty="0"/>
          </a:p>
          <a:p>
            <a:r>
              <a:rPr lang="en-US" altLang="en-US" i="1" dirty="0"/>
              <a:t>	-  </a:t>
            </a:r>
            <a:r>
              <a:rPr lang="en-US" altLang="en-US" b="1" i="1" dirty="0"/>
              <a:t>Delivery Method</a:t>
            </a:r>
            <a:r>
              <a:rPr lang="en-US" altLang="en-US" i="1" dirty="0"/>
              <a:t> or System Access</a:t>
            </a:r>
          </a:p>
          <a:p>
            <a:endParaRPr lang="en-US" altLang="en-US" i="1" dirty="0"/>
          </a:p>
          <a:p>
            <a:r>
              <a:rPr lang="en-US" altLang="en-US" i="1" dirty="0"/>
              <a:t>	</a:t>
            </a:r>
            <a:r>
              <a:rPr lang="en-US" altLang="en-US" b="1" i="1" dirty="0"/>
              <a:t>-  Trigger</a:t>
            </a:r>
            <a:r>
              <a:rPr lang="en-US" altLang="en-US" i="1" dirty="0"/>
              <a:t> or Initiation Mechanism</a:t>
            </a:r>
          </a:p>
          <a:p>
            <a:endParaRPr lang="en-US" altLang="en-US" i="1" dirty="0"/>
          </a:p>
          <a:p>
            <a:r>
              <a:rPr lang="en-US" altLang="en-US" i="1" dirty="0"/>
              <a:t>	- </a:t>
            </a:r>
            <a:r>
              <a:rPr lang="en-US" altLang="en-US" b="1" i="1" dirty="0"/>
              <a:t>Payload </a:t>
            </a:r>
            <a:r>
              <a:rPr lang="en-US" altLang="en-US" i="1" dirty="0"/>
              <a:t>or effect on system</a:t>
            </a:r>
            <a:endParaRPr lang="en-US" altLang="en-US" dirty="0"/>
          </a:p>
        </p:txBody>
      </p:sp>
      <p:sp>
        <p:nvSpPr>
          <p:cNvPr id="1343495" name="Rectangle 7"/>
          <p:cNvSpPr>
            <a:spLocks noGrp="1" noRot="1" noChangeAspect="1" noChangeArrowheads="1" noTextEdit="1"/>
          </p:cNvSpPr>
          <p:nvPr>
            <p:ph type="sldImg"/>
          </p:nvPr>
        </p:nvSpPr>
        <p:spPr>
          <a:xfrm>
            <a:off x="412750" y="701675"/>
            <a:ext cx="6172200" cy="3471863"/>
          </a:xfrm>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4160716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SG"/>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SG"/>
          </a:p>
        </p:txBody>
      </p:sp>
      <p:sp>
        <p:nvSpPr>
          <p:cNvPr id="4" name="Rectangle 3"/>
          <p:cNvSpPr>
            <a:spLocks noGrp="1" noChangeArrowheads="1"/>
          </p:cNvSpPr>
          <p:nvPr>
            <p:ph type="dt" idx="10"/>
          </p:nvPr>
        </p:nvSpPr>
        <p:spPr>
          <a:ln/>
        </p:spPr>
        <p:txBody>
          <a:bodyPr/>
          <a:lstStyle>
            <a:lvl1pPr>
              <a:defRPr/>
            </a:lvl1pPr>
          </a:lstStyle>
          <a:p>
            <a:pPr defTabSz="449263" fontAlgn="base">
              <a:spcBef>
                <a:spcPct val="0"/>
              </a:spcBef>
              <a:spcAft>
                <a:spcPct val="0"/>
              </a:spcAft>
              <a:defRPr/>
            </a:pPr>
            <a:endParaRPr lang="en-US" dirty="0"/>
          </a:p>
        </p:txBody>
      </p:sp>
      <p:sp>
        <p:nvSpPr>
          <p:cNvPr id="5" name="Rectangle 5"/>
          <p:cNvSpPr>
            <a:spLocks noGrp="1" noChangeArrowheads="1"/>
          </p:cNvSpPr>
          <p:nvPr>
            <p:ph type="sldNum" idx="11"/>
          </p:nvPr>
        </p:nvSpPr>
        <p:spPr>
          <a:ln/>
        </p:spPr>
        <p:txBody>
          <a:bodyPr/>
          <a:lstStyle>
            <a:lvl1pPr>
              <a:defRPr/>
            </a:lvl1pPr>
          </a:lstStyle>
          <a:p>
            <a:pPr defTabSz="449263" fontAlgn="base">
              <a:spcBef>
                <a:spcPct val="0"/>
              </a:spcBef>
              <a:spcAft>
                <a:spcPct val="0"/>
              </a:spcAft>
            </a:pPr>
            <a:fld id="{6946FEAF-AD5C-42B3-B3B3-B1B8EDB0842A}"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3400119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SG"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Rectangle 3"/>
          <p:cNvSpPr>
            <a:spLocks noGrp="1" noChangeArrowheads="1"/>
          </p:cNvSpPr>
          <p:nvPr>
            <p:ph type="dt" idx="10"/>
          </p:nvPr>
        </p:nvSpPr>
        <p:spPr>
          <a:ln/>
        </p:spPr>
        <p:txBody>
          <a:bodyPr/>
          <a:lstStyle>
            <a:lvl1pPr>
              <a:defRPr/>
            </a:lvl1pPr>
          </a:lstStyle>
          <a:p>
            <a:pPr defTabSz="449263" fontAlgn="base">
              <a:spcBef>
                <a:spcPct val="0"/>
              </a:spcBef>
              <a:spcAft>
                <a:spcPct val="0"/>
              </a:spcAft>
              <a:defRPr/>
            </a:pPr>
            <a:endParaRPr lang="en-US" dirty="0"/>
          </a:p>
        </p:txBody>
      </p:sp>
      <p:sp>
        <p:nvSpPr>
          <p:cNvPr id="5" name="Rectangle 5"/>
          <p:cNvSpPr>
            <a:spLocks noGrp="1" noChangeArrowheads="1"/>
          </p:cNvSpPr>
          <p:nvPr>
            <p:ph type="sldNum" idx="11"/>
          </p:nvPr>
        </p:nvSpPr>
        <p:spPr>
          <a:ln/>
        </p:spPr>
        <p:txBody>
          <a:bodyPr/>
          <a:lstStyle>
            <a:lvl1pPr>
              <a:defRPr/>
            </a:lvl1pPr>
          </a:lstStyle>
          <a:p>
            <a:pPr defTabSz="449263" fontAlgn="base">
              <a:spcBef>
                <a:spcPct val="0"/>
              </a:spcBef>
              <a:spcAft>
                <a:spcPct val="0"/>
              </a:spcAft>
            </a:pPr>
            <a:fld id="{175B5AC3-9C46-4513-9A91-7B4A570DE21B}"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837148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SG"/>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3"/>
          <p:cNvSpPr>
            <a:spLocks noGrp="1" noChangeArrowheads="1"/>
          </p:cNvSpPr>
          <p:nvPr>
            <p:ph type="dt" idx="10"/>
          </p:nvPr>
        </p:nvSpPr>
        <p:spPr>
          <a:ln/>
        </p:spPr>
        <p:txBody>
          <a:bodyPr/>
          <a:lstStyle>
            <a:lvl1pPr>
              <a:defRPr/>
            </a:lvl1pPr>
          </a:lstStyle>
          <a:p>
            <a:pPr defTabSz="449263" fontAlgn="base">
              <a:spcBef>
                <a:spcPct val="0"/>
              </a:spcBef>
              <a:spcAft>
                <a:spcPct val="0"/>
              </a:spcAft>
              <a:defRPr/>
            </a:pPr>
            <a:endParaRPr lang="en-US" dirty="0"/>
          </a:p>
        </p:txBody>
      </p:sp>
      <p:sp>
        <p:nvSpPr>
          <p:cNvPr id="5" name="Rectangle 5"/>
          <p:cNvSpPr>
            <a:spLocks noGrp="1" noChangeArrowheads="1"/>
          </p:cNvSpPr>
          <p:nvPr>
            <p:ph type="sldNum" idx="11"/>
          </p:nvPr>
        </p:nvSpPr>
        <p:spPr>
          <a:ln/>
        </p:spPr>
        <p:txBody>
          <a:bodyPr/>
          <a:lstStyle>
            <a:lvl1pPr>
              <a:defRPr/>
            </a:lvl1pPr>
          </a:lstStyle>
          <a:p>
            <a:pPr defTabSz="449263" fontAlgn="base">
              <a:spcBef>
                <a:spcPct val="0"/>
              </a:spcBef>
              <a:spcAft>
                <a:spcPct val="0"/>
              </a:spcAft>
            </a:pPr>
            <a:fld id="{1AF75B5D-3A84-4887-A17E-F8E14EC9E0C3}"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1031545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Content Placeholder 2"/>
          <p:cNvSpPr>
            <a:spLocks noGrp="1"/>
          </p:cNvSpPr>
          <p:nvPr>
            <p:ph sz="half" idx="1"/>
          </p:nvPr>
        </p:nvSpPr>
        <p:spPr>
          <a:xfrm>
            <a:off x="381001" y="1214438"/>
            <a:ext cx="5585884"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Content Placeholder 3"/>
          <p:cNvSpPr>
            <a:spLocks noGrp="1"/>
          </p:cNvSpPr>
          <p:nvPr>
            <p:ph sz="half" idx="2"/>
          </p:nvPr>
        </p:nvSpPr>
        <p:spPr>
          <a:xfrm>
            <a:off x="6170084" y="1214438"/>
            <a:ext cx="558588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Rectangle 3"/>
          <p:cNvSpPr>
            <a:spLocks noGrp="1" noChangeArrowheads="1"/>
          </p:cNvSpPr>
          <p:nvPr>
            <p:ph type="dt" idx="10"/>
          </p:nvPr>
        </p:nvSpPr>
        <p:spPr>
          <a:ln/>
        </p:spPr>
        <p:txBody>
          <a:bodyPr/>
          <a:lstStyle>
            <a:lvl1pPr>
              <a:defRPr/>
            </a:lvl1pPr>
          </a:lstStyle>
          <a:p>
            <a:pPr defTabSz="449263" fontAlgn="base">
              <a:spcBef>
                <a:spcPct val="0"/>
              </a:spcBef>
              <a:spcAft>
                <a:spcPct val="0"/>
              </a:spcAft>
              <a:defRPr/>
            </a:pPr>
            <a:endParaRPr lang="en-US" dirty="0"/>
          </a:p>
        </p:txBody>
      </p:sp>
      <p:sp>
        <p:nvSpPr>
          <p:cNvPr id="6" name="Rectangle 5"/>
          <p:cNvSpPr>
            <a:spLocks noGrp="1" noChangeArrowheads="1"/>
          </p:cNvSpPr>
          <p:nvPr>
            <p:ph type="sldNum" idx="11"/>
          </p:nvPr>
        </p:nvSpPr>
        <p:spPr>
          <a:ln/>
        </p:spPr>
        <p:txBody>
          <a:bodyPr/>
          <a:lstStyle>
            <a:lvl1pPr>
              <a:defRPr/>
            </a:lvl1pPr>
          </a:lstStyle>
          <a:p>
            <a:pPr defTabSz="449263" fontAlgn="base">
              <a:spcBef>
                <a:spcPct val="0"/>
              </a:spcBef>
              <a:spcAft>
                <a:spcPct val="0"/>
              </a:spcAft>
            </a:pPr>
            <a:fld id="{93B58B16-CF40-4D3F-B25C-A42137DB6BA2}"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1541565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SG"/>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7" name="Rectangle 3"/>
          <p:cNvSpPr>
            <a:spLocks noGrp="1" noChangeArrowheads="1"/>
          </p:cNvSpPr>
          <p:nvPr>
            <p:ph type="dt" idx="10"/>
          </p:nvPr>
        </p:nvSpPr>
        <p:spPr>
          <a:ln/>
        </p:spPr>
        <p:txBody>
          <a:bodyPr/>
          <a:lstStyle>
            <a:lvl1pPr>
              <a:defRPr/>
            </a:lvl1pPr>
          </a:lstStyle>
          <a:p>
            <a:pPr defTabSz="449263" fontAlgn="base">
              <a:spcBef>
                <a:spcPct val="0"/>
              </a:spcBef>
              <a:spcAft>
                <a:spcPct val="0"/>
              </a:spcAft>
              <a:defRPr/>
            </a:pPr>
            <a:endParaRPr lang="en-US" dirty="0"/>
          </a:p>
        </p:txBody>
      </p:sp>
      <p:sp>
        <p:nvSpPr>
          <p:cNvPr id="8" name="Rectangle 5"/>
          <p:cNvSpPr>
            <a:spLocks noGrp="1" noChangeArrowheads="1"/>
          </p:cNvSpPr>
          <p:nvPr>
            <p:ph type="sldNum" idx="11"/>
          </p:nvPr>
        </p:nvSpPr>
        <p:spPr>
          <a:ln/>
        </p:spPr>
        <p:txBody>
          <a:bodyPr/>
          <a:lstStyle>
            <a:lvl1pPr>
              <a:defRPr/>
            </a:lvl1pPr>
          </a:lstStyle>
          <a:p>
            <a:pPr defTabSz="449263" fontAlgn="base">
              <a:spcBef>
                <a:spcPct val="0"/>
              </a:spcBef>
              <a:spcAft>
                <a:spcPct val="0"/>
              </a:spcAft>
            </a:pPr>
            <a:fld id="{FE72B9C0-6C3D-4FDA-886C-BFE18E359426}"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539750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Rectangle 3"/>
          <p:cNvSpPr>
            <a:spLocks noGrp="1" noChangeArrowheads="1"/>
          </p:cNvSpPr>
          <p:nvPr>
            <p:ph type="dt" idx="10"/>
          </p:nvPr>
        </p:nvSpPr>
        <p:spPr>
          <a:ln/>
        </p:spPr>
        <p:txBody>
          <a:bodyPr/>
          <a:lstStyle>
            <a:lvl1pPr>
              <a:defRPr/>
            </a:lvl1pPr>
          </a:lstStyle>
          <a:p>
            <a:pPr defTabSz="449263" fontAlgn="base">
              <a:spcBef>
                <a:spcPct val="0"/>
              </a:spcBef>
              <a:spcAft>
                <a:spcPct val="0"/>
              </a:spcAft>
              <a:defRPr/>
            </a:pPr>
            <a:endParaRPr lang="en-US" dirty="0"/>
          </a:p>
        </p:txBody>
      </p:sp>
      <p:sp>
        <p:nvSpPr>
          <p:cNvPr id="4" name="Rectangle 5"/>
          <p:cNvSpPr>
            <a:spLocks noGrp="1" noChangeArrowheads="1"/>
          </p:cNvSpPr>
          <p:nvPr>
            <p:ph type="sldNum" idx="11"/>
          </p:nvPr>
        </p:nvSpPr>
        <p:spPr>
          <a:ln/>
        </p:spPr>
        <p:txBody>
          <a:bodyPr/>
          <a:lstStyle>
            <a:lvl1pPr>
              <a:defRPr/>
            </a:lvl1pPr>
          </a:lstStyle>
          <a:p>
            <a:pPr defTabSz="449263" fontAlgn="base">
              <a:spcBef>
                <a:spcPct val="0"/>
              </a:spcBef>
              <a:spcAft>
                <a:spcPct val="0"/>
              </a:spcAft>
            </a:pPr>
            <a:fld id="{3408C651-68D4-4430-B1EC-4B117DEBA336}"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1134185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dt" idx="10"/>
          </p:nvPr>
        </p:nvSpPr>
        <p:spPr>
          <a:ln/>
        </p:spPr>
        <p:txBody>
          <a:bodyPr/>
          <a:lstStyle>
            <a:lvl1pPr>
              <a:defRPr/>
            </a:lvl1pPr>
          </a:lstStyle>
          <a:p>
            <a:pPr defTabSz="449263" fontAlgn="base">
              <a:spcBef>
                <a:spcPct val="0"/>
              </a:spcBef>
              <a:spcAft>
                <a:spcPct val="0"/>
              </a:spcAft>
              <a:defRPr/>
            </a:pPr>
            <a:endParaRPr lang="en-US" dirty="0"/>
          </a:p>
        </p:txBody>
      </p:sp>
      <p:sp>
        <p:nvSpPr>
          <p:cNvPr id="3" name="Rectangle 5"/>
          <p:cNvSpPr>
            <a:spLocks noGrp="1" noChangeArrowheads="1"/>
          </p:cNvSpPr>
          <p:nvPr>
            <p:ph type="sldNum" idx="11"/>
          </p:nvPr>
        </p:nvSpPr>
        <p:spPr>
          <a:ln/>
        </p:spPr>
        <p:txBody>
          <a:bodyPr/>
          <a:lstStyle>
            <a:lvl1pPr>
              <a:defRPr/>
            </a:lvl1pPr>
          </a:lstStyle>
          <a:p>
            <a:pPr defTabSz="449263" fontAlgn="base">
              <a:spcBef>
                <a:spcPct val="0"/>
              </a:spcBef>
              <a:spcAft>
                <a:spcPct val="0"/>
              </a:spcAft>
            </a:pPr>
            <a:fld id="{75F4CA7E-D06C-43C3-840E-F070523F9102}"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3998323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SG"/>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3"/>
          <p:cNvSpPr>
            <a:spLocks noGrp="1" noChangeArrowheads="1"/>
          </p:cNvSpPr>
          <p:nvPr>
            <p:ph type="dt" idx="10"/>
          </p:nvPr>
        </p:nvSpPr>
        <p:spPr>
          <a:ln/>
        </p:spPr>
        <p:txBody>
          <a:bodyPr/>
          <a:lstStyle>
            <a:lvl1pPr>
              <a:defRPr/>
            </a:lvl1pPr>
          </a:lstStyle>
          <a:p>
            <a:pPr defTabSz="449263" fontAlgn="base">
              <a:spcBef>
                <a:spcPct val="0"/>
              </a:spcBef>
              <a:spcAft>
                <a:spcPct val="0"/>
              </a:spcAft>
              <a:defRPr/>
            </a:pPr>
            <a:endParaRPr lang="en-US" dirty="0"/>
          </a:p>
        </p:txBody>
      </p:sp>
      <p:sp>
        <p:nvSpPr>
          <p:cNvPr id="6" name="Rectangle 5"/>
          <p:cNvSpPr>
            <a:spLocks noGrp="1" noChangeArrowheads="1"/>
          </p:cNvSpPr>
          <p:nvPr>
            <p:ph type="sldNum" idx="11"/>
          </p:nvPr>
        </p:nvSpPr>
        <p:spPr>
          <a:ln/>
        </p:spPr>
        <p:txBody>
          <a:bodyPr/>
          <a:lstStyle>
            <a:lvl1pPr>
              <a:defRPr/>
            </a:lvl1pPr>
          </a:lstStyle>
          <a:p>
            <a:pPr defTabSz="449263" fontAlgn="base">
              <a:spcBef>
                <a:spcPct val="0"/>
              </a:spcBef>
              <a:spcAft>
                <a:spcPct val="0"/>
              </a:spcAft>
            </a:pPr>
            <a:fld id="{79A28032-3EA5-41AC-A797-89C9CC1DB965}"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771719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SG"/>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SG" noProof="0" dirty="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3"/>
          <p:cNvSpPr>
            <a:spLocks noGrp="1" noChangeArrowheads="1"/>
          </p:cNvSpPr>
          <p:nvPr>
            <p:ph type="dt" idx="10"/>
          </p:nvPr>
        </p:nvSpPr>
        <p:spPr>
          <a:ln/>
        </p:spPr>
        <p:txBody>
          <a:bodyPr/>
          <a:lstStyle>
            <a:lvl1pPr>
              <a:defRPr/>
            </a:lvl1pPr>
          </a:lstStyle>
          <a:p>
            <a:pPr defTabSz="449263" fontAlgn="base">
              <a:spcBef>
                <a:spcPct val="0"/>
              </a:spcBef>
              <a:spcAft>
                <a:spcPct val="0"/>
              </a:spcAft>
              <a:defRPr/>
            </a:pPr>
            <a:endParaRPr lang="en-US" dirty="0"/>
          </a:p>
        </p:txBody>
      </p:sp>
      <p:sp>
        <p:nvSpPr>
          <p:cNvPr id="6" name="Rectangle 5"/>
          <p:cNvSpPr>
            <a:spLocks noGrp="1" noChangeArrowheads="1"/>
          </p:cNvSpPr>
          <p:nvPr>
            <p:ph type="sldNum" idx="11"/>
          </p:nvPr>
        </p:nvSpPr>
        <p:spPr>
          <a:ln/>
        </p:spPr>
        <p:txBody>
          <a:bodyPr/>
          <a:lstStyle>
            <a:lvl1pPr>
              <a:defRPr/>
            </a:lvl1pPr>
          </a:lstStyle>
          <a:p>
            <a:pPr defTabSz="449263" fontAlgn="base">
              <a:spcBef>
                <a:spcPct val="0"/>
              </a:spcBef>
              <a:spcAft>
                <a:spcPct val="0"/>
              </a:spcAft>
            </a:pPr>
            <a:fld id="{76A4386C-33A9-4F90-8305-1374A66623A2}"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584814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Rectangle 3"/>
          <p:cNvSpPr>
            <a:spLocks noGrp="1" noChangeArrowheads="1"/>
          </p:cNvSpPr>
          <p:nvPr>
            <p:ph type="dt" idx="10"/>
          </p:nvPr>
        </p:nvSpPr>
        <p:spPr>
          <a:ln/>
        </p:spPr>
        <p:txBody>
          <a:bodyPr/>
          <a:lstStyle>
            <a:lvl1pPr>
              <a:defRPr/>
            </a:lvl1pPr>
          </a:lstStyle>
          <a:p>
            <a:pPr defTabSz="449263" fontAlgn="base">
              <a:spcBef>
                <a:spcPct val="0"/>
              </a:spcBef>
              <a:spcAft>
                <a:spcPct val="0"/>
              </a:spcAft>
              <a:defRPr/>
            </a:pPr>
            <a:endParaRPr lang="en-US" dirty="0"/>
          </a:p>
        </p:txBody>
      </p:sp>
      <p:sp>
        <p:nvSpPr>
          <p:cNvPr id="5" name="Rectangle 5"/>
          <p:cNvSpPr>
            <a:spLocks noGrp="1" noChangeArrowheads="1"/>
          </p:cNvSpPr>
          <p:nvPr>
            <p:ph type="sldNum" idx="11"/>
          </p:nvPr>
        </p:nvSpPr>
        <p:spPr>
          <a:ln/>
        </p:spPr>
        <p:txBody>
          <a:bodyPr/>
          <a:lstStyle>
            <a:lvl1pPr>
              <a:defRPr/>
            </a:lvl1pPr>
          </a:lstStyle>
          <a:p>
            <a:pPr defTabSz="449263" fontAlgn="base">
              <a:spcBef>
                <a:spcPct val="0"/>
              </a:spcBef>
              <a:spcAft>
                <a:spcPct val="0"/>
              </a:spcAft>
            </a:pPr>
            <a:fld id="{29CE2E92-65AB-497A-8796-94A6B252853E}"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4253957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13284" y="268288"/>
            <a:ext cx="2842683" cy="5816600"/>
          </a:xfrm>
        </p:spPr>
        <p:txBody>
          <a:bodyPr vert="eaVert"/>
          <a:lstStyle/>
          <a:p>
            <a:r>
              <a:rPr lang="en-US" smtClean="0"/>
              <a:t>Click to edit Master title style</a:t>
            </a:r>
            <a:endParaRPr lang="en-SG"/>
          </a:p>
        </p:txBody>
      </p:sp>
      <p:sp>
        <p:nvSpPr>
          <p:cNvPr id="3" name="Vertical Text Placeholder 2"/>
          <p:cNvSpPr>
            <a:spLocks noGrp="1"/>
          </p:cNvSpPr>
          <p:nvPr>
            <p:ph type="body" orient="vert" idx="1"/>
          </p:nvPr>
        </p:nvSpPr>
        <p:spPr>
          <a:xfrm>
            <a:off x="381001" y="268288"/>
            <a:ext cx="8329084" cy="5816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Rectangle 3"/>
          <p:cNvSpPr>
            <a:spLocks noGrp="1" noChangeArrowheads="1"/>
          </p:cNvSpPr>
          <p:nvPr>
            <p:ph type="dt" idx="10"/>
          </p:nvPr>
        </p:nvSpPr>
        <p:spPr>
          <a:ln/>
        </p:spPr>
        <p:txBody>
          <a:bodyPr/>
          <a:lstStyle>
            <a:lvl1pPr>
              <a:defRPr/>
            </a:lvl1pPr>
          </a:lstStyle>
          <a:p>
            <a:pPr defTabSz="449263" fontAlgn="base">
              <a:spcBef>
                <a:spcPct val="0"/>
              </a:spcBef>
              <a:spcAft>
                <a:spcPct val="0"/>
              </a:spcAft>
              <a:defRPr/>
            </a:pPr>
            <a:endParaRPr lang="en-US" dirty="0"/>
          </a:p>
        </p:txBody>
      </p:sp>
      <p:sp>
        <p:nvSpPr>
          <p:cNvPr id="5" name="Rectangle 5"/>
          <p:cNvSpPr>
            <a:spLocks noGrp="1" noChangeArrowheads="1"/>
          </p:cNvSpPr>
          <p:nvPr>
            <p:ph type="sldNum" idx="11"/>
          </p:nvPr>
        </p:nvSpPr>
        <p:spPr>
          <a:ln/>
        </p:spPr>
        <p:txBody>
          <a:bodyPr/>
          <a:lstStyle>
            <a:lvl1pPr>
              <a:defRPr/>
            </a:lvl1pPr>
          </a:lstStyle>
          <a:p>
            <a:pPr defTabSz="449263" fontAlgn="base">
              <a:spcBef>
                <a:spcPct val="0"/>
              </a:spcBef>
              <a:spcAft>
                <a:spcPct val="0"/>
              </a:spcAft>
            </a:pPr>
            <a:fld id="{53729726-6689-4978-998A-B58D72943013}"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2614809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defTabSz="449263" fontAlgn="base">
              <a:spcBef>
                <a:spcPct val="0"/>
              </a:spcBef>
              <a:spcAft>
                <a:spcPct val="0"/>
              </a:spcAft>
              <a:defRPr/>
            </a:pP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defTabSz="449263" fontAlgn="base">
              <a:spcBef>
                <a:spcPct val="0"/>
              </a:spcBef>
              <a:spcAft>
                <a:spcPct val="0"/>
              </a:spcAft>
            </a:pPr>
            <a:fld id="{6946FEAF-AD5C-42B3-B3B3-B1B8EDB0842A}"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16580194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defTabSz="449263" fontAlgn="base">
              <a:spcBef>
                <a:spcPct val="0"/>
              </a:spcBef>
              <a:spcAft>
                <a:spcPct val="0"/>
              </a:spcAft>
              <a:defRPr/>
            </a:pP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defTabSz="449263" fontAlgn="base">
              <a:spcBef>
                <a:spcPct val="0"/>
              </a:spcBef>
              <a:spcAft>
                <a:spcPct val="0"/>
              </a:spcAft>
            </a:pPr>
            <a:fld id="{175B5AC3-9C46-4513-9A91-7B4A570DE21B}"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31900399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defTabSz="449263" fontAlgn="base">
              <a:spcBef>
                <a:spcPct val="0"/>
              </a:spcBef>
              <a:spcAft>
                <a:spcPct val="0"/>
              </a:spcAft>
              <a:defRPr/>
            </a:pP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defTabSz="449263" fontAlgn="base">
              <a:spcBef>
                <a:spcPct val="0"/>
              </a:spcBef>
              <a:spcAft>
                <a:spcPct val="0"/>
              </a:spcAft>
            </a:pPr>
            <a:fld id="{1AF75B5D-3A84-4887-A17E-F8E14EC9E0C3}"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7508457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defTabSz="449263" fontAlgn="base">
              <a:spcBef>
                <a:spcPct val="0"/>
              </a:spcBef>
              <a:spcAft>
                <a:spcPct val="0"/>
              </a:spcAft>
              <a:defRPr/>
            </a:pP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defTabSz="449263" fontAlgn="base">
              <a:spcBef>
                <a:spcPct val="0"/>
              </a:spcBef>
              <a:spcAft>
                <a:spcPct val="0"/>
              </a:spcAft>
            </a:pPr>
            <a:fld id="{93B58B16-CF40-4D3F-B25C-A42137DB6BA2}"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3137777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defTabSz="449263" fontAlgn="base">
              <a:spcBef>
                <a:spcPct val="0"/>
              </a:spcBef>
              <a:spcAft>
                <a:spcPct val="0"/>
              </a:spcAft>
              <a:defRPr/>
            </a:pP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defTabSz="449263" fontAlgn="base">
              <a:spcBef>
                <a:spcPct val="0"/>
              </a:spcBef>
              <a:spcAft>
                <a:spcPct val="0"/>
              </a:spcAft>
            </a:pPr>
            <a:fld id="{FE72B9C0-6C3D-4FDA-886C-BFE18E359426}"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31977628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defTabSz="449263" fontAlgn="base">
              <a:spcBef>
                <a:spcPct val="0"/>
              </a:spcBef>
              <a:spcAft>
                <a:spcPct val="0"/>
              </a:spcAft>
              <a:defRPr/>
            </a:pP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defTabSz="449263" fontAlgn="base">
              <a:spcBef>
                <a:spcPct val="0"/>
              </a:spcBef>
              <a:spcAft>
                <a:spcPct val="0"/>
              </a:spcAft>
            </a:pPr>
            <a:fld id="{3408C651-68D4-4430-B1EC-4B117DEBA336}"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4739399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449263" fontAlgn="base">
              <a:spcBef>
                <a:spcPct val="0"/>
              </a:spcBef>
              <a:spcAft>
                <a:spcPct val="0"/>
              </a:spcAft>
              <a:defRPr/>
            </a:pP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defTabSz="449263" fontAlgn="base">
              <a:spcBef>
                <a:spcPct val="0"/>
              </a:spcBef>
              <a:spcAft>
                <a:spcPct val="0"/>
              </a:spcAft>
            </a:pPr>
            <a:fld id="{75F4CA7E-D06C-43C3-840E-F070523F9102}"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33819754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defTabSz="449263" fontAlgn="base">
              <a:spcBef>
                <a:spcPct val="0"/>
              </a:spcBef>
              <a:spcAft>
                <a:spcPct val="0"/>
              </a:spcAft>
              <a:defRPr/>
            </a:pP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defTabSz="449263" fontAlgn="base">
              <a:spcBef>
                <a:spcPct val="0"/>
              </a:spcBef>
              <a:spcAft>
                <a:spcPct val="0"/>
              </a:spcAft>
            </a:pPr>
            <a:fld id="{79A28032-3EA5-41AC-A797-89C9CC1DB965}"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6974053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defTabSz="449263" fontAlgn="base">
              <a:spcBef>
                <a:spcPct val="0"/>
              </a:spcBef>
              <a:spcAft>
                <a:spcPct val="0"/>
              </a:spcAft>
              <a:defRPr/>
            </a:pP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defTabSz="449263" fontAlgn="base">
              <a:spcBef>
                <a:spcPct val="0"/>
              </a:spcBef>
              <a:spcAft>
                <a:spcPct val="0"/>
              </a:spcAft>
            </a:pPr>
            <a:fld id="{76A4386C-33A9-4F90-8305-1374A66623A2}"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37784609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defTabSz="449263" fontAlgn="base">
              <a:spcBef>
                <a:spcPct val="0"/>
              </a:spcBef>
              <a:spcAft>
                <a:spcPct val="0"/>
              </a:spcAft>
              <a:defRPr/>
            </a:pP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defTabSz="449263" fontAlgn="base">
              <a:spcBef>
                <a:spcPct val="0"/>
              </a:spcBef>
              <a:spcAft>
                <a:spcPct val="0"/>
              </a:spcAft>
            </a:pPr>
            <a:fld id="{29CE2E92-65AB-497A-8796-94A6B252853E}"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17079333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defTabSz="449263" fontAlgn="base">
              <a:spcBef>
                <a:spcPct val="0"/>
              </a:spcBef>
              <a:spcAft>
                <a:spcPct val="0"/>
              </a:spcAft>
              <a:defRPr/>
            </a:pP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defTabSz="449263" fontAlgn="base">
              <a:spcBef>
                <a:spcPct val="0"/>
              </a:spcBef>
              <a:spcAft>
                <a:spcPct val="0"/>
              </a:spcAft>
            </a:pPr>
            <a:fld id="{53729726-6689-4978-998A-B58D72943013}" type="slidenum">
              <a:rPr lang="en-SG" altLang="en-US" smtClean="0"/>
              <a:pPr defTabSz="449263" fontAlgn="base">
                <a:spcBef>
                  <a:spcPct val="0"/>
                </a:spcBef>
                <a:spcAft>
                  <a:spcPct val="0"/>
                </a:spcAft>
              </a:pPr>
              <a:t>‹#›</a:t>
            </a:fld>
            <a:endParaRPr lang="en-SG" altLang="en-US" dirty="0"/>
          </a:p>
        </p:txBody>
      </p:sp>
    </p:spTree>
    <p:extLst>
      <p:ext uri="{BB962C8B-B14F-4D97-AF65-F5344CB8AC3E}">
        <p14:creationId xmlns:p14="http://schemas.microsoft.com/office/powerpoint/2010/main" val="2082065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381001" y="268288"/>
            <a:ext cx="1137496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ctr" anchorCtr="0" compatLnSpc="1">
            <a:prstTxWarp prst="textNoShape">
              <a:avLst/>
            </a:prstTxWarp>
          </a:bodyPr>
          <a:lstStyle/>
          <a:p>
            <a:pPr lvl="0"/>
            <a:r>
              <a:rPr lang="en-GB" altLang="en-US" smtClean="0"/>
              <a:t>Click to edit the title text format</a:t>
            </a:r>
          </a:p>
        </p:txBody>
      </p:sp>
      <p:sp>
        <p:nvSpPr>
          <p:cNvPr id="1027" name="Rectangle 2"/>
          <p:cNvSpPr>
            <a:spLocks noGrp="1" noChangeArrowheads="1"/>
          </p:cNvSpPr>
          <p:nvPr>
            <p:ph type="body" idx="1"/>
          </p:nvPr>
        </p:nvSpPr>
        <p:spPr bwMode="auto">
          <a:xfrm>
            <a:off x="381001" y="1214438"/>
            <a:ext cx="11374967" cy="487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t" anchorCtr="0" compatLnSpc="1">
            <a:prstTxWarp prst="textNoShape">
              <a:avLst/>
            </a:prstTxWarp>
          </a:bodyPr>
          <a:lstStyle/>
          <a:p>
            <a:pPr lvl="0"/>
            <a:r>
              <a:rPr lang="en-GB" altLang="en-US" smtClean="0"/>
              <a:t>Click to edit the outline text format</a:t>
            </a:r>
          </a:p>
          <a:p>
            <a:pPr lvl="1"/>
            <a:r>
              <a:rPr lang="en-GB" altLang="en-US" smtClean="0"/>
              <a:t>Second Outline Level</a:t>
            </a:r>
          </a:p>
          <a:p>
            <a:pPr lvl="2"/>
            <a:r>
              <a:rPr lang="en-GB" altLang="en-US" smtClean="0"/>
              <a:t>Third Outline Level</a:t>
            </a:r>
          </a:p>
          <a:p>
            <a:pPr lvl="3"/>
            <a:r>
              <a:rPr lang="en-GB" altLang="en-US" smtClean="0"/>
              <a:t>Fourth Outline Level</a:t>
            </a:r>
          </a:p>
          <a:p>
            <a:pPr lvl="4"/>
            <a:r>
              <a:rPr lang="en-GB" altLang="en-US" smtClean="0"/>
              <a:t>Fifth Outline Level</a:t>
            </a:r>
          </a:p>
          <a:p>
            <a:pPr lvl="4"/>
            <a:r>
              <a:rPr lang="en-GB" altLang="en-US" smtClean="0"/>
              <a:t>Sixth Outline Level</a:t>
            </a:r>
          </a:p>
          <a:p>
            <a:pPr lvl="4"/>
            <a:r>
              <a:rPr lang="en-GB" altLang="en-US" smtClean="0"/>
              <a:t>Seventh Outline Level</a:t>
            </a:r>
          </a:p>
          <a:p>
            <a:pPr lvl="4"/>
            <a:r>
              <a:rPr lang="en-GB" altLang="en-US" smtClean="0"/>
              <a:t>Eighth Outline Level</a:t>
            </a:r>
          </a:p>
          <a:p>
            <a:pPr lvl="4"/>
            <a:r>
              <a:rPr lang="en-GB" altLang="en-US" smtClean="0"/>
              <a:t>Ninth Outline Level</a:t>
            </a:r>
          </a:p>
        </p:txBody>
      </p:sp>
      <p:sp>
        <p:nvSpPr>
          <p:cNvPr id="2" name="Rectangle 3"/>
          <p:cNvSpPr>
            <a:spLocks noGrp="1" noChangeArrowheads="1"/>
          </p:cNvSpPr>
          <p:nvPr>
            <p:ph type="dt"/>
          </p:nvPr>
        </p:nvSpPr>
        <p:spPr bwMode="auto">
          <a:xfrm>
            <a:off x="609601" y="6353176"/>
            <a:ext cx="2789767"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SzPct val="100000"/>
              <a:buFontTx/>
              <a:buNone/>
              <a:defRPr sz="1800" dirty="0">
                <a:solidFill>
                  <a:srgbClr val="000000"/>
                </a:solidFill>
                <a:latin typeface="Calibri" pitchFamily="32" charset="0"/>
                <a:ea typeface="宋体" pitchFamily="2" charset="-122"/>
              </a:defRPr>
            </a:lvl1pPr>
          </a:lstStyle>
          <a:p>
            <a:pPr defTabSz="449263" fontAlgn="base">
              <a:spcBef>
                <a:spcPct val="0"/>
              </a:spcBef>
              <a:spcAft>
                <a:spcPct val="0"/>
              </a:spcAft>
              <a:defRPr/>
            </a:pPr>
            <a:endParaRPr lang="en-US" dirty="0"/>
          </a:p>
        </p:txBody>
      </p:sp>
      <p:sp>
        <p:nvSpPr>
          <p:cNvPr id="1029" name="Text Box 4"/>
          <p:cNvSpPr txBox="1">
            <a:spLocks noChangeArrowheads="1"/>
          </p:cNvSpPr>
          <p:nvPr/>
        </p:nvSpPr>
        <p:spPr bwMode="auto">
          <a:xfrm>
            <a:off x="4165600" y="6354763"/>
            <a:ext cx="3860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449263"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SG" altLang="en-US" sz="1800" b="0" i="0" u="none" strike="noStrike" kern="1200" cap="none" spc="0" normalizeH="0" baseline="0" noProof="0" dirty="0" smtClean="0">
              <a:ln>
                <a:noFill/>
              </a:ln>
              <a:solidFill>
                <a:srgbClr val="FFFFFF"/>
              </a:solidFill>
              <a:effectLst/>
              <a:uLnTx/>
              <a:uFillTx/>
              <a:latin typeface="Calibri" panose="020F0502020204030204" pitchFamily="34" charset="0"/>
              <a:ea typeface="SimSun" panose="02010600030101010101" pitchFamily="2" charset="-122"/>
              <a:cs typeface="+mn-cs"/>
            </a:endParaRPr>
          </a:p>
        </p:txBody>
      </p:sp>
      <p:sp>
        <p:nvSpPr>
          <p:cNvPr id="3" name="Rectangle 5"/>
          <p:cNvSpPr>
            <a:spLocks noGrp="1" noChangeArrowheads="1"/>
          </p:cNvSpPr>
          <p:nvPr>
            <p:ph type="sldNum"/>
          </p:nvPr>
        </p:nvSpPr>
        <p:spPr bwMode="auto">
          <a:xfrm>
            <a:off x="8737601" y="6353176"/>
            <a:ext cx="2789767"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SzPct val="100000"/>
              <a:defRPr sz="1800">
                <a:solidFill>
                  <a:srgbClr val="000000"/>
                </a:solidFill>
              </a:defRPr>
            </a:lvl1pPr>
          </a:lstStyle>
          <a:p>
            <a:pPr defTabSz="449263" fontAlgn="base">
              <a:spcBef>
                <a:spcPct val="0"/>
              </a:spcBef>
              <a:spcAft>
                <a:spcPct val="0"/>
              </a:spcAft>
            </a:pPr>
            <a:fld id="{B3081CB7-3CDD-484C-A647-CAF99D6DED76}" type="slidenum">
              <a:rPr lang="en-SG" altLang="en-US" smtClean="0"/>
              <a:pPr defTabSz="449263" fontAlgn="base">
                <a:spcBef>
                  <a:spcPct val="0"/>
                </a:spcBef>
                <a:spcAft>
                  <a:spcPct val="0"/>
                </a:spcAft>
              </a:pPr>
              <a:t>‹#›</a:t>
            </a:fld>
            <a:endParaRPr lang="en-SG" altLang="en-US" dirty="0"/>
          </a:p>
        </p:txBody>
      </p:sp>
      <p:sp>
        <p:nvSpPr>
          <p:cNvPr id="1031" name="Rectangle 6"/>
          <p:cNvSpPr>
            <a:spLocks noChangeArrowheads="1"/>
          </p:cNvSpPr>
          <p:nvPr/>
        </p:nvSpPr>
        <p:spPr bwMode="auto">
          <a:xfrm>
            <a:off x="0" y="0"/>
            <a:ext cx="12192000" cy="214313"/>
          </a:xfrm>
          <a:prstGeom prst="rect">
            <a:avLst/>
          </a:prstGeom>
          <a:solidFill>
            <a:srgbClr val="C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r" defTabSz="449263"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r>
              <a:rPr kumimoji="0" lang="en-SG" altLang="en-US" sz="1800" b="0" i="0" u="none" strike="noStrike" kern="1200" cap="none" spc="0" normalizeH="0" baseline="0" noProof="0" dirty="0" smtClean="0">
                <a:ln>
                  <a:noFill/>
                </a:ln>
                <a:solidFill>
                  <a:srgbClr val="FFFFFF"/>
                </a:solidFill>
                <a:effectLst/>
                <a:uLnTx/>
                <a:uFillTx/>
                <a:latin typeface="Calibri" panose="020F0502020204030204" pitchFamily="34" charset="0"/>
                <a:ea typeface="SimSun" panose="02010600030101010101" pitchFamily="2" charset="-122"/>
                <a:cs typeface="+mn-cs"/>
              </a:rPr>
              <a:t>iAcademy</a:t>
            </a:r>
          </a:p>
        </p:txBody>
      </p:sp>
      <p:sp>
        <p:nvSpPr>
          <p:cNvPr id="1032" name="Rectangle 7"/>
          <p:cNvSpPr>
            <a:spLocks noChangeArrowheads="1"/>
          </p:cNvSpPr>
          <p:nvPr/>
        </p:nvSpPr>
        <p:spPr bwMode="auto">
          <a:xfrm flipV="1">
            <a:off x="1" y="0"/>
            <a:ext cx="10572751" cy="46038"/>
          </a:xfrm>
          <a:prstGeom prst="rect">
            <a:avLst/>
          </a:prstGeom>
          <a:solidFill>
            <a:srgbClr val="FFC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449263"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SG" altLang="en-US" sz="1800" b="0" i="0" u="none" strike="noStrike" kern="1200" cap="none" spc="0" normalizeH="0" baseline="0" noProof="0" dirty="0" smtClean="0">
              <a:ln>
                <a:noFill/>
              </a:ln>
              <a:solidFill>
                <a:srgbClr val="FFFFFF"/>
              </a:solidFill>
              <a:effectLst/>
              <a:uLnTx/>
              <a:uFillTx/>
              <a:latin typeface="Calibri" panose="020F0502020204030204" pitchFamily="34" charset="0"/>
              <a:ea typeface="SimSun" panose="02010600030101010101" pitchFamily="2" charset="-122"/>
              <a:cs typeface="+mn-cs"/>
            </a:endParaRPr>
          </a:p>
        </p:txBody>
      </p:sp>
      <p:sp>
        <p:nvSpPr>
          <p:cNvPr id="1033" name="Rectangle 6"/>
          <p:cNvSpPr>
            <a:spLocks noChangeArrowheads="1"/>
          </p:cNvSpPr>
          <p:nvPr userDrawn="1"/>
        </p:nvSpPr>
        <p:spPr bwMode="auto">
          <a:xfrm>
            <a:off x="0" y="6643688"/>
            <a:ext cx="12192000" cy="214312"/>
          </a:xfrm>
          <a:prstGeom prst="rect">
            <a:avLst/>
          </a:prstGeom>
          <a:solidFill>
            <a:srgbClr val="C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449263"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r>
              <a:rPr kumimoji="0" lang="en-SG" altLang="en-US" sz="1800" b="0" i="0" u="none" strike="noStrike" kern="1200" cap="none" spc="0" normalizeH="0" baseline="0" noProof="0" dirty="0" smtClean="0">
                <a:ln>
                  <a:noFill/>
                </a:ln>
                <a:solidFill>
                  <a:srgbClr val="FFFFFF"/>
                </a:solidFill>
                <a:effectLst/>
                <a:uLnTx/>
                <a:uFillTx/>
                <a:latin typeface="Calibri" panose="020F0502020204030204" pitchFamily="34" charset="0"/>
                <a:ea typeface="SimSun" panose="02010600030101010101" pitchFamily="2" charset="-122"/>
                <a:cs typeface="+mn-cs"/>
              </a:rPr>
              <a:t>iAcademy</a:t>
            </a:r>
          </a:p>
        </p:txBody>
      </p:sp>
      <p:sp>
        <p:nvSpPr>
          <p:cNvPr id="1034" name="Rectangle 7"/>
          <p:cNvSpPr>
            <a:spLocks noChangeArrowheads="1"/>
          </p:cNvSpPr>
          <p:nvPr userDrawn="1"/>
        </p:nvSpPr>
        <p:spPr bwMode="auto">
          <a:xfrm flipV="1">
            <a:off x="1619251" y="6786564"/>
            <a:ext cx="10572749" cy="71437"/>
          </a:xfrm>
          <a:prstGeom prst="rect">
            <a:avLst/>
          </a:prstGeom>
          <a:solidFill>
            <a:srgbClr val="FFC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449263"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SG" altLang="en-US" sz="1800" b="0" i="0" u="none" strike="noStrike" kern="1200" cap="none" spc="0" normalizeH="0" baseline="0" noProof="0" dirty="0" smtClean="0">
              <a:ln>
                <a:noFill/>
              </a:ln>
              <a:solidFill>
                <a:srgbClr val="FFFFFF"/>
              </a:solidFill>
              <a:effectLst/>
              <a:uLnTx/>
              <a:uFillTx/>
              <a:latin typeface="Calibri" panose="020F0502020204030204" pitchFamily="34" charset="0"/>
              <a:ea typeface="SimSun" panose="02010600030101010101" pitchFamily="2" charset="-122"/>
              <a:cs typeface="+mn-cs"/>
            </a:endParaRPr>
          </a:p>
        </p:txBody>
      </p:sp>
    </p:spTree>
    <p:extLst>
      <p:ext uri="{BB962C8B-B14F-4D97-AF65-F5344CB8AC3E}">
        <p14:creationId xmlns:p14="http://schemas.microsoft.com/office/powerpoint/2010/main" val="197528056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SimSun" panose="02010600030101010101" pitchFamily="2" charset="-122"/>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Calibri" pitchFamily="32" charset="0"/>
          <a:ea typeface="SimSun" panose="02010600030101010101" pitchFamily="2" charset="-122"/>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Calibri" pitchFamily="32" charset="0"/>
          <a:ea typeface="SimSun" panose="02010600030101010101" pitchFamily="2" charset="-122"/>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Calibri" pitchFamily="32" charset="0"/>
          <a:ea typeface="SimSun" panose="02010600030101010101" pitchFamily="2" charset="-122"/>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Calibri" pitchFamily="32" charset="0"/>
          <a:ea typeface="SimSun" panose="02010600030101010101" pitchFamily="2" charset="-122"/>
        </a:defRPr>
      </a:lvl5pPr>
      <a:lvl6pPr marL="2514600" indent="-228600" algn="l" defTabSz="449263" rtl="0" fontAlgn="base">
        <a:spcBef>
          <a:spcPct val="0"/>
        </a:spcBef>
        <a:spcAft>
          <a:spcPct val="0"/>
        </a:spcAft>
        <a:buClr>
          <a:srgbClr val="000000"/>
        </a:buClr>
        <a:buSzPct val="100000"/>
        <a:buFont typeface="Times New Roman" pitchFamily="16" charset="0"/>
        <a:defRPr sz="4400">
          <a:solidFill>
            <a:srgbClr val="000000"/>
          </a:solidFill>
          <a:latin typeface="Calibri" pitchFamily="32" charset="0"/>
          <a:ea typeface="SimSun" charset="-122"/>
        </a:defRPr>
      </a:lvl6pPr>
      <a:lvl7pPr marL="2971800" indent="-228600" algn="l" defTabSz="449263" rtl="0" fontAlgn="base">
        <a:spcBef>
          <a:spcPct val="0"/>
        </a:spcBef>
        <a:spcAft>
          <a:spcPct val="0"/>
        </a:spcAft>
        <a:buClr>
          <a:srgbClr val="000000"/>
        </a:buClr>
        <a:buSzPct val="100000"/>
        <a:buFont typeface="Times New Roman" pitchFamily="16" charset="0"/>
        <a:defRPr sz="4400">
          <a:solidFill>
            <a:srgbClr val="000000"/>
          </a:solidFill>
          <a:latin typeface="Calibri" pitchFamily="32" charset="0"/>
          <a:ea typeface="SimSun" charset="-122"/>
        </a:defRPr>
      </a:lvl7pPr>
      <a:lvl8pPr marL="3429000" indent="-228600" algn="l" defTabSz="449263" rtl="0" fontAlgn="base">
        <a:spcBef>
          <a:spcPct val="0"/>
        </a:spcBef>
        <a:spcAft>
          <a:spcPct val="0"/>
        </a:spcAft>
        <a:buClr>
          <a:srgbClr val="000000"/>
        </a:buClr>
        <a:buSzPct val="100000"/>
        <a:buFont typeface="Times New Roman" pitchFamily="16" charset="0"/>
        <a:defRPr sz="4400">
          <a:solidFill>
            <a:srgbClr val="000000"/>
          </a:solidFill>
          <a:latin typeface="Calibri" pitchFamily="32" charset="0"/>
          <a:ea typeface="SimSun" charset="-122"/>
        </a:defRPr>
      </a:lvl8pPr>
      <a:lvl9pPr marL="3886200" indent="-228600" algn="l" defTabSz="449263" rtl="0" fontAlgn="base">
        <a:spcBef>
          <a:spcPct val="0"/>
        </a:spcBef>
        <a:spcAft>
          <a:spcPct val="0"/>
        </a:spcAft>
        <a:buClr>
          <a:srgbClr val="000000"/>
        </a:buClr>
        <a:buSzPct val="100000"/>
        <a:buFont typeface="Times New Roman" pitchFamily="16" charset="0"/>
        <a:defRPr sz="4400">
          <a:solidFill>
            <a:srgbClr val="000000"/>
          </a:solidFill>
          <a:latin typeface="Calibri" pitchFamily="32" charset="0"/>
          <a:ea typeface="SimSun" charset="-122"/>
        </a:defRPr>
      </a:lvl9pPr>
    </p:titleStyle>
    <p:bodyStyle>
      <a:lvl1pPr marL="342900" indent="-342900" algn="l" defTabSz="449263" rtl="0" eaLnBrk="0" fontAlgn="base" hangingPunct="0">
        <a:spcBef>
          <a:spcPts val="700"/>
        </a:spcBef>
        <a:spcAft>
          <a:spcPct val="0"/>
        </a:spcAft>
        <a:buClr>
          <a:srgbClr val="000000"/>
        </a:buClr>
        <a:buSzPct val="100000"/>
        <a:buFont typeface="Times New Roman" panose="02020603050405020304" pitchFamily="18" charset="0"/>
        <a:buChar char="•"/>
        <a:defRPr sz="3200">
          <a:solidFill>
            <a:srgbClr val="000000"/>
          </a:solidFill>
          <a:latin typeface="+mn-lt"/>
          <a:ea typeface="SimSun" panose="02010600030101010101" pitchFamily="2" charset="-122"/>
          <a:cs typeface="+mn-cs"/>
        </a:defRPr>
      </a:lvl1pPr>
      <a:lvl2pPr marL="742950" indent="-285750" algn="l" defTabSz="449263" rtl="0" eaLnBrk="0" fontAlgn="base" hangingPunct="0">
        <a:spcBef>
          <a:spcPts val="600"/>
        </a:spcBef>
        <a:spcAft>
          <a:spcPct val="0"/>
        </a:spcAft>
        <a:buClr>
          <a:srgbClr val="000000"/>
        </a:buClr>
        <a:buSzPct val="100000"/>
        <a:buFont typeface="Times New Roman" panose="02020603050405020304" pitchFamily="18" charset="0"/>
        <a:buChar char="–"/>
        <a:defRPr sz="2800">
          <a:solidFill>
            <a:srgbClr val="000000"/>
          </a:solidFill>
          <a:latin typeface="+mn-lt"/>
          <a:ea typeface="SimSun" panose="02010600030101010101" pitchFamily="2" charset="-122"/>
        </a:defRPr>
      </a:lvl2pPr>
      <a:lvl3pPr marL="1143000" indent="-228600" algn="l" defTabSz="449263" rtl="0" eaLnBrk="0" fontAlgn="base" hangingPunct="0">
        <a:spcBef>
          <a:spcPts val="500"/>
        </a:spcBef>
        <a:spcAft>
          <a:spcPct val="0"/>
        </a:spcAft>
        <a:buClr>
          <a:srgbClr val="000000"/>
        </a:buClr>
        <a:buSzPct val="100000"/>
        <a:buFont typeface="Times New Roman" panose="02020603050405020304" pitchFamily="18" charset="0"/>
        <a:buChar char="•"/>
        <a:defRPr sz="2400">
          <a:solidFill>
            <a:srgbClr val="000000"/>
          </a:solidFill>
          <a:latin typeface="+mn-lt"/>
          <a:ea typeface="SimSun" panose="02010600030101010101" pitchFamily="2" charset="-122"/>
        </a:defRPr>
      </a:lvl3pPr>
      <a:lvl4pPr marL="1600200" indent="-228600" algn="l" defTabSz="449263" rtl="0" eaLnBrk="0" fontAlgn="base" hangingPunct="0">
        <a:spcBef>
          <a:spcPts val="450"/>
        </a:spcBef>
        <a:spcAft>
          <a:spcPct val="0"/>
        </a:spcAft>
        <a:buClr>
          <a:srgbClr val="000000"/>
        </a:buClr>
        <a:buSzPct val="100000"/>
        <a:buFont typeface="Times New Roman" panose="02020603050405020304" pitchFamily="18" charset="0"/>
        <a:buChar char="–"/>
        <a:defRPr sz="2000">
          <a:solidFill>
            <a:srgbClr val="000000"/>
          </a:solidFill>
          <a:latin typeface="+mn-lt"/>
          <a:ea typeface="SimSun" panose="02010600030101010101" pitchFamily="2" charset="-122"/>
        </a:defRPr>
      </a:lvl4pPr>
      <a:lvl5pPr marL="2057400" indent="-228600" algn="l" defTabSz="449263" rtl="0" eaLnBrk="0" fontAlgn="base" hangingPunct="0">
        <a:spcBef>
          <a:spcPts val="400"/>
        </a:spcBef>
        <a:spcAft>
          <a:spcPct val="0"/>
        </a:spcAft>
        <a:buClr>
          <a:srgbClr val="000000"/>
        </a:buClr>
        <a:buSzPct val="100000"/>
        <a:buFont typeface="Times New Roman" panose="02020603050405020304" pitchFamily="18" charset="0"/>
        <a:buChar char="»"/>
        <a:defRPr sz="1600">
          <a:solidFill>
            <a:srgbClr val="000000"/>
          </a:solidFill>
          <a:latin typeface="+mn-lt"/>
          <a:ea typeface="SimSun" panose="02010600030101010101" pitchFamily="2" charset="-122"/>
        </a:defRPr>
      </a:lvl5pPr>
      <a:lvl6pPr marL="2514600" indent="-228600" algn="l" defTabSz="449263" rtl="0" fontAlgn="base">
        <a:spcBef>
          <a:spcPts val="400"/>
        </a:spcBef>
        <a:spcAft>
          <a:spcPct val="0"/>
        </a:spcAft>
        <a:buClr>
          <a:srgbClr val="000000"/>
        </a:buClr>
        <a:buSzPct val="100000"/>
        <a:buFont typeface="Times New Roman" pitchFamily="16" charset="0"/>
        <a:defRPr sz="1600">
          <a:solidFill>
            <a:srgbClr val="000000"/>
          </a:solidFill>
          <a:latin typeface="+mn-lt"/>
          <a:ea typeface="+mn-ea"/>
        </a:defRPr>
      </a:lvl6pPr>
      <a:lvl7pPr marL="2971800" indent="-228600" algn="l" defTabSz="449263" rtl="0" fontAlgn="base">
        <a:spcBef>
          <a:spcPts val="400"/>
        </a:spcBef>
        <a:spcAft>
          <a:spcPct val="0"/>
        </a:spcAft>
        <a:buClr>
          <a:srgbClr val="000000"/>
        </a:buClr>
        <a:buSzPct val="100000"/>
        <a:buFont typeface="Times New Roman" pitchFamily="16" charset="0"/>
        <a:defRPr sz="1600">
          <a:solidFill>
            <a:srgbClr val="000000"/>
          </a:solidFill>
          <a:latin typeface="+mn-lt"/>
          <a:ea typeface="+mn-ea"/>
        </a:defRPr>
      </a:lvl7pPr>
      <a:lvl8pPr marL="3429000" indent="-228600" algn="l" defTabSz="449263" rtl="0" fontAlgn="base">
        <a:spcBef>
          <a:spcPts val="400"/>
        </a:spcBef>
        <a:spcAft>
          <a:spcPct val="0"/>
        </a:spcAft>
        <a:buClr>
          <a:srgbClr val="000000"/>
        </a:buClr>
        <a:buSzPct val="100000"/>
        <a:buFont typeface="Times New Roman" pitchFamily="16" charset="0"/>
        <a:defRPr sz="1600">
          <a:solidFill>
            <a:srgbClr val="000000"/>
          </a:solidFill>
          <a:latin typeface="+mn-lt"/>
          <a:ea typeface="+mn-ea"/>
        </a:defRPr>
      </a:lvl8pPr>
      <a:lvl9pPr marL="3886200" indent="-228600" algn="l" defTabSz="449263" rtl="0" fontAlgn="base">
        <a:spcBef>
          <a:spcPts val="400"/>
        </a:spcBef>
        <a:spcAft>
          <a:spcPct val="0"/>
        </a:spcAft>
        <a:buClr>
          <a:srgbClr val="000000"/>
        </a:buClr>
        <a:buSzPct val="100000"/>
        <a:buFont typeface="Times New Roman" pitchFamily="16" charset="0"/>
        <a:defRPr sz="16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49263" fontAlgn="base">
              <a:spcBef>
                <a:spcPct val="0"/>
              </a:spcBef>
              <a:spcAft>
                <a:spcPct val="0"/>
              </a:spcAft>
              <a:defRPr/>
            </a:pP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49263" fontAlgn="base">
              <a:spcBef>
                <a:spcPct val="0"/>
              </a:spcBef>
              <a:spcAft>
                <a:spcPct val="0"/>
              </a:spcAft>
            </a:pPr>
            <a:fld id="{B3081CB7-3CDD-484C-A647-CAF99D6DED76}" type="slidenum">
              <a:rPr lang="en-SG" altLang="en-US" smtClean="0"/>
              <a:pPr defTabSz="449263" fontAlgn="base">
                <a:spcBef>
                  <a:spcPct val="0"/>
                </a:spcBef>
                <a:spcAft>
                  <a:spcPct val="0"/>
                </a:spcAft>
              </a:pPr>
              <a:t>‹#›</a:t>
            </a:fld>
            <a:endParaRPr lang="en-SG" altLang="en-US" dirty="0"/>
          </a:p>
        </p:txBody>
      </p:sp>
      <p:sp>
        <p:nvSpPr>
          <p:cNvPr id="7" name="Rectangle 6"/>
          <p:cNvSpPr>
            <a:spLocks noChangeArrowheads="1"/>
          </p:cNvSpPr>
          <p:nvPr userDrawn="1"/>
        </p:nvSpPr>
        <p:spPr bwMode="auto">
          <a:xfrm>
            <a:off x="0" y="6643688"/>
            <a:ext cx="12192000" cy="214312"/>
          </a:xfrm>
          <a:prstGeom prst="rect">
            <a:avLst/>
          </a:prstGeom>
          <a:solidFill>
            <a:srgbClr val="C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449263"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r>
              <a:rPr kumimoji="0" lang="en-SG" altLang="en-US" sz="1800" b="0" i="0" u="none" strike="noStrike" kern="1200" cap="none" spc="0" normalizeH="0" baseline="0" noProof="0" dirty="0" smtClean="0">
                <a:ln>
                  <a:noFill/>
                </a:ln>
                <a:solidFill>
                  <a:srgbClr val="FFFFFF"/>
                </a:solidFill>
                <a:effectLst/>
                <a:uLnTx/>
                <a:uFillTx/>
                <a:latin typeface="Calibri" panose="020F0502020204030204" pitchFamily="34" charset="0"/>
                <a:ea typeface="SimSun" panose="02010600030101010101" pitchFamily="2" charset="-122"/>
                <a:cs typeface="+mn-cs"/>
              </a:rPr>
              <a:t>iAcademy</a:t>
            </a:r>
          </a:p>
        </p:txBody>
      </p:sp>
      <p:sp>
        <p:nvSpPr>
          <p:cNvPr id="8" name="Rectangle 7"/>
          <p:cNvSpPr>
            <a:spLocks noChangeArrowheads="1"/>
          </p:cNvSpPr>
          <p:nvPr userDrawn="1"/>
        </p:nvSpPr>
        <p:spPr bwMode="auto">
          <a:xfrm flipV="1">
            <a:off x="1619251" y="6786564"/>
            <a:ext cx="10572749" cy="71437"/>
          </a:xfrm>
          <a:prstGeom prst="rect">
            <a:avLst/>
          </a:prstGeom>
          <a:solidFill>
            <a:srgbClr val="FFC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449263"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SG" altLang="en-US" sz="1800" b="0" i="0" u="none" strike="noStrike" kern="1200" cap="none" spc="0" normalizeH="0" baseline="0" noProof="0" dirty="0" smtClean="0">
              <a:ln>
                <a:noFill/>
              </a:ln>
              <a:solidFill>
                <a:srgbClr val="FFFFFF"/>
              </a:solidFill>
              <a:effectLst/>
              <a:uLnTx/>
              <a:uFillTx/>
              <a:latin typeface="Calibri" panose="020F0502020204030204" pitchFamily="34" charset="0"/>
              <a:ea typeface="SimSun" panose="02010600030101010101" pitchFamily="2" charset="-122"/>
              <a:cs typeface="+mn-cs"/>
            </a:endParaRPr>
          </a:p>
        </p:txBody>
      </p:sp>
    </p:spTree>
    <p:extLst>
      <p:ext uri="{BB962C8B-B14F-4D97-AF65-F5344CB8AC3E}">
        <p14:creationId xmlns:p14="http://schemas.microsoft.com/office/powerpoint/2010/main" val="374935586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 name="Title 4"/>
          <p:cNvSpPr>
            <a:spLocks noGrp="1"/>
          </p:cNvSpPr>
          <p:nvPr>
            <p:ph type="ctrTitle"/>
          </p:nvPr>
        </p:nvSpPr>
        <p:spPr>
          <a:xfrm>
            <a:off x="2209800" y="785814"/>
            <a:ext cx="7772400" cy="1470025"/>
          </a:xfrm>
        </p:spPr>
        <p:txBody>
          <a:bodyPr/>
          <a:lstStyle/>
          <a:p>
            <a:pPr algn="ctr"/>
            <a:r>
              <a:rPr lang="en-US" altLang="en-US" dirty="0" smtClean="0"/>
              <a:t>[</a:t>
            </a:r>
            <a:r>
              <a:rPr lang="en-GB" altLang="en-US" dirty="0" smtClean="0"/>
              <a:t>Computer Architecture Fundamentals and Concepts</a:t>
            </a:r>
            <a:r>
              <a:rPr lang="en-US" altLang="en-US" dirty="0" smtClean="0"/>
              <a:t>]</a:t>
            </a:r>
            <a:endParaRPr lang="en-GB" altLang="en-US" dirty="0" smtClean="0"/>
          </a:p>
        </p:txBody>
      </p:sp>
      <p:sp>
        <p:nvSpPr>
          <p:cNvPr id="2050" name="Subtitle 5"/>
          <p:cNvSpPr>
            <a:spLocks noGrp="1"/>
          </p:cNvSpPr>
          <p:nvPr>
            <p:ph type="subTitle" idx="1"/>
          </p:nvPr>
        </p:nvSpPr>
        <p:spPr>
          <a:xfrm>
            <a:off x="1881189" y="2684463"/>
            <a:ext cx="8358187" cy="2387600"/>
          </a:xfrm>
        </p:spPr>
        <p:txBody>
          <a:bodyPr/>
          <a:lstStyle/>
          <a:p>
            <a:r>
              <a:rPr lang="en-US" altLang="en-US" sz="2800" dirty="0"/>
              <a:t>[Computer Architecture and Operating Systems]</a:t>
            </a:r>
          </a:p>
          <a:p>
            <a:r>
              <a:rPr lang="en-US" altLang="en-US" sz="2800" dirty="0"/>
              <a:t>Lecture [10]</a:t>
            </a:r>
          </a:p>
          <a:p>
            <a:endParaRPr lang="en-US" altLang="en-US" sz="2800" dirty="0"/>
          </a:p>
          <a:p>
            <a:r>
              <a:rPr lang="en-US" altLang="en-US" sz="2400" i="1" dirty="0"/>
              <a:t>[</a:t>
            </a:r>
            <a:r>
              <a:rPr lang="en-GB" altLang="en-US" sz="2400" dirty="0"/>
              <a:t>Security in Operating Systems</a:t>
            </a:r>
            <a:r>
              <a:rPr lang="en-US" altLang="en-US" sz="2400" i="1" dirty="0"/>
              <a:t>]</a:t>
            </a:r>
            <a:endParaRPr lang="en-GB" altLang="en-US" sz="2400" i="1" dirty="0"/>
          </a:p>
        </p:txBody>
      </p:sp>
      <p:sp>
        <p:nvSpPr>
          <p:cNvPr id="7" name="TextBox 3"/>
          <p:cNvSpPr txBox="1">
            <a:spLocks noChangeArrowheads="1"/>
          </p:cNvSpPr>
          <p:nvPr/>
        </p:nvSpPr>
        <p:spPr bwMode="auto">
          <a:xfrm>
            <a:off x="1666876" y="5214939"/>
            <a:ext cx="8786813" cy="1285875"/>
          </a:xfrm>
          <a:prstGeom prst="rect">
            <a:avLst/>
          </a:prstGeom>
          <a:ln w="9525"/>
        </p:spPr>
        <p:style>
          <a:lnRef idx="2">
            <a:schemeClr val="dk1"/>
          </a:lnRef>
          <a:fillRef idx="1">
            <a:schemeClr val="lt1"/>
          </a:fillRef>
          <a:effectRef idx="0">
            <a:schemeClr val="dk1"/>
          </a:effectRef>
          <a:fontRef idx="minor">
            <a:schemeClr val="dk1"/>
          </a:fontRef>
        </p:style>
        <p:txBody>
          <a:bodyPr/>
          <a:lstStyle/>
          <a:p>
            <a:pPr algn="just" defTabSz="449263" fontAlgn="base">
              <a:spcBef>
                <a:spcPct val="20000"/>
              </a:spcBef>
              <a:spcAft>
                <a:spcPct val="0"/>
              </a:spcAft>
              <a:buClr>
                <a:srgbClr val="000000"/>
              </a:buClr>
              <a:buSzPct val="100000"/>
            </a:pPr>
            <a:r>
              <a:rPr lang="en-GB" altLang="en-US" sz="1400" dirty="0">
                <a:solidFill>
                  <a:srgbClr val="000000"/>
                </a:solidFill>
                <a:latin typeface="Calibri"/>
                <a:ea typeface="SimSun"/>
              </a:rPr>
              <a:t>This lecture and its associated materials have been produced by [Bikash Bhattarai and MBA] of iAcademy for the purposes of lecturing on the above described subject and the material should be viewed in this context. The work does not constitute professional advice and no warranties are made regarding the information presented. The Author and iAcademy do not accept any liability for the consequences of any action taken as a result of the work or any recommendations made or inferred. Permission to use any of these materials must be first granted by iAcademy.</a:t>
            </a:r>
            <a:endParaRPr lang="en-US" altLang="en-US" sz="1400" dirty="0">
              <a:solidFill>
                <a:srgbClr val="000000"/>
              </a:solidFill>
              <a:latin typeface="Calibri"/>
              <a:ea typeface="SimSun"/>
            </a:endParaRPr>
          </a:p>
        </p:txBody>
      </p:sp>
    </p:spTree>
    <p:extLst>
      <p:ext uri="{BB962C8B-B14F-4D97-AF65-F5344CB8AC3E}">
        <p14:creationId xmlns:p14="http://schemas.microsoft.com/office/powerpoint/2010/main" val="65440682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Title 1"/>
          <p:cNvSpPr>
            <a:spLocks noGrp="1"/>
          </p:cNvSpPr>
          <p:nvPr>
            <p:ph type="title"/>
          </p:nvPr>
        </p:nvSpPr>
        <p:spPr>
          <a:xfrm>
            <a:off x="1809750" y="268288"/>
            <a:ext cx="8858250" cy="762000"/>
          </a:xfrm>
        </p:spPr>
        <p:txBody>
          <a:bodyPr/>
          <a:lstStyle/>
          <a:p>
            <a:r>
              <a:rPr lang="en-US" altLang="en-US" dirty="0" smtClean="0"/>
              <a:t>Agenda</a:t>
            </a:r>
          </a:p>
        </p:txBody>
      </p:sp>
      <p:sp>
        <p:nvSpPr>
          <p:cNvPr id="3" name="Content Placeholder 2"/>
          <p:cNvSpPr>
            <a:spLocks noGrp="1"/>
          </p:cNvSpPr>
          <p:nvPr>
            <p:ph idx="1"/>
          </p:nvPr>
        </p:nvSpPr>
        <p:spPr>
          <a:xfrm>
            <a:off x="1809751" y="1214438"/>
            <a:ext cx="8531225" cy="5643562"/>
          </a:xfrm>
        </p:spPr>
        <p:txBody>
          <a:bodyPr/>
          <a:lstStyle/>
          <a:p>
            <a:r>
              <a:rPr lang="en-US" altLang="en-US" dirty="0" smtClean="0">
                <a:latin typeface="Times New Roman" panose="02020603050405020304" pitchFamily="18" charset="0"/>
                <a:cs typeface="Times New Roman" panose="02020603050405020304" pitchFamily="18" charset="0"/>
              </a:rPr>
              <a:t>Week 10 Lecture Coverage </a:t>
            </a:r>
          </a:p>
          <a:p>
            <a:endParaRPr lang="en-US" altLang="en-US" dirty="0" smtClean="0">
              <a:latin typeface="Times New Roman" panose="02020603050405020304" pitchFamily="18" charset="0"/>
              <a:cs typeface="Times New Roman" panose="02020603050405020304" pitchFamily="18" charset="0"/>
            </a:endParaRPr>
          </a:p>
          <a:p>
            <a:pPr lvl="1"/>
            <a:r>
              <a:rPr lang="en-US" altLang="en-US" dirty="0" smtClean="0">
                <a:latin typeface="Times New Roman" panose="02020603050405020304" pitchFamily="18" charset="0"/>
                <a:cs typeface="Times New Roman" panose="02020603050405020304" pitchFamily="18" charset="0"/>
              </a:rPr>
              <a:t>Key concepts security in operating systems </a:t>
            </a:r>
          </a:p>
          <a:p>
            <a:pPr lvl="1"/>
            <a:r>
              <a:rPr lang="en-US" altLang="en-US" dirty="0" smtClean="0">
                <a:latin typeface="Times New Roman" panose="02020603050405020304" pitchFamily="18" charset="0"/>
                <a:cs typeface="Times New Roman" panose="02020603050405020304" pitchFamily="18" charset="0"/>
              </a:rPr>
              <a:t>Program threats</a:t>
            </a:r>
          </a:p>
          <a:p>
            <a:pPr lvl="1"/>
            <a:r>
              <a:rPr lang="en-US" altLang="en-US" dirty="0" smtClean="0">
                <a:latin typeface="Times New Roman" panose="02020603050405020304" pitchFamily="18" charset="0"/>
                <a:cs typeface="Times New Roman" panose="02020603050405020304" pitchFamily="18" charset="0"/>
              </a:rPr>
              <a:t>System and network threats</a:t>
            </a:r>
          </a:p>
          <a:p>
            <a:pPr lvl="1"/>
            <a:r>
              <a:rPr lang="en-US" altLang="en-US" dirty="0">
                <a:latin typeface="Times New Roman" panose="02020603050405020304" pitchFamily="18" charset="0"/>
                <a:cs typeface="Times New Roman" panose="02020603050405020304" pitchFamily="18" charset="0"/>
              </a:rPr>
              <a:t>Host based </a:t>
            </a:r>
            <a:r>
              <a:rPr lang="en-US" altLang="en-US" dirty="0" smtClean="0">
                <a:latin typeface="Times New Roman" panose="02020603050405020304" pitchFamily="18" charset="0"/>
                <a:cs typeface="Times New Roman" panose="02020603050405020304" pitchFamily="18" charset="0"/>
              </a:rPr>
              <a:t>firewalls and Network based firewalls </a:t>
            </a:r>
            <a:endParaRPr lang="en-US" altLang="en-US" dirty="0">
              <a:latin typeface="Times New Roman" panose="02020603050405020304" pitchFamily="18" charset="0"/>
              <a:cs typeface="Times New Roman" panose="02020603050405020304" pitchFamily="18" charset="0"/>
            </a:endParaRPr>
          </a:p>
          <a:p>
            <a:pPr marL="457200" lvl="1" indent="0">
              <a:buNone/>
            </a:pPr>
            <a:endParaRPr lang="en-US" alt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339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Title 1"/>
          <p:cNvSpPr>
            <a:spLocks noGrp="1"/>
          </p:cNvSpPr>
          <p:nvPr>
            <p:ph type="title"/>
          </p:nvPr>
        </p:nvSpPr>
        <p:spPr/>
        <p:txBody>
          <a:bodyPr/>
          <a:lstStyle/>
          <a:p>
            <a:r>
              <a:rPr lang="en-US" altLang="en-US" dirty="0" smtClean="0"/>
              <a:t>Learning Objectives </a:t>
            </a:r>
          </a:p>
        </p:txBody>
      </p:sp>
      <p:sp>
        <p:nvSpPr>
          <p:cNvPr id="3" name="Content Placeholder 2"/>
          <p:cNvSpPr>
            <a:spLocks noGrp="1"/>
          </p:cNvSpPr>
          <p:nvPr>
            <p:ph idx="1"/>
          </p:nvPr>
        </p:nvSpPr>
        <p:spPr/>
        <p:txBody>
          <a:bodyPr/>
          <a:lstStyle/>
          <a:p>
            <a:r>
              <a:rPr lang="en-US" altLang="en-US" dirty="0" smtClean="0">
                <a:latin typeface="Times New Roman" panose="02020603050405020304" pitchFamily="18" charset="0"/>
                <a:cs typeface="Times New Roman" panose="02020603050405020304" pitchFamily="18" charset="0"/>
              </a:rPr>
              <a:t>On successful completion of this lecture, students will be able to demonstrate:</a:t>
            </a:r>
          </a:p>
          <a:p>
            <a:endParaRPr lang="en-US" altLang="en-US" dirty="0" smtClean="0">
              <a:latin typeface="Times New Roman" panose="02020603050405020304" pitchFamily="18" charset="0"/>
              <a:cs typeface="Times New Roman" panose="02020603050405020304" pitchFamily="18" charset="0"/>
            </a:endParaRPr>
          </a:p>
          <a:p>
            <a:pPr lvl="1"/>
            <a:r>
              <a:rPr lang="en-US" altLang="en-US" dirty="0" smtClean="0">
                <a:latin typeface="Times New Roman" panose="02020603050405020304" pitchFamily="18" charset="0"/>
                <a:cs typeface="Times New Roman" panose="02020603050405020304" pitchFamily="18" charset="0"/>
              </a:rPr>
              <a:t>Understand security issues in modern operating system </a:t>
            </a:r>
          </a:p>
          <a:p>
            <a:pPr lvl="1"/>
            <a:r>
              <a:rPr lang="en-GB" altLang="en-US" dirty="0" smtClean="0">
                <a:latin typeface="Times New Roman" panose="02020603050405020304" pitchFamily="18" charset="0"/>
                <a:cs typeface="Times New Roman" panose="02020603050405020304" pitchFamily="18" charset="0"/>
              </a:rPr>
              <a:t>Understand virus, spyware, firewalls </a:t>
            </a:r>
            <a:endParaRPr lang="en-US" alt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37167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Title 1"/>
          <p:cNvSpPr>
            <a:spLocks noGrp="1"/>
          </p:cNvSpPr>
          <p:nvPr>
            <p:ph type="title"/>
          </p:nvPr>
        </p:nvSpPr>
        <p:spPr/>
        <p:txBody>
          <a:bodyPr/>
          <a:lstStyle/>
          <a:p>
            <a:r>
              <a:rPr lang="en-GB" altLang="en-US" dirty="0" smtClean="0"/>
              <a:t>Review of Week 9 (1)</a:t>
            </a:r>
            <a:endParaRPr lang="en-US" altLang="en-US" dirty="0" smtClean="0"/>
          </a:p>
        </p:txBody>
      </p:sp>
      <p:sp>
        <p:nvSpPr>
          <p:cNvPr id="3" name="Content Placeholder 2"/>
          <p:cNvSpPr>
            <a:spLocks noGrp="1"/>
          </p:cNvSpPr>
          <p:nvPr>
            <p:ph idx="1"/>
          </p:nvPr>
        </p:nvSpPr>
        <p:spPr>
          <a:xfrm>
            <a:off x="270457" y="1648496"/>
            <a:ext cx="11485512" cy="4436392"/>
          </a:xfrm>
        </p:spPr>
        <p:txBody>
          <a:bodyPr/>
          <a:lstStyle/>
          <a:p>
            <a:r>
              <a:rPr lang="en-US" altLang="en-US" dirty="0" smtClean="0">
                <a:latin typeface="Times New Roman" panose="02020603050405020304" pitchFamily="18" charset="0"/>
                <a:cs typeface="Times New Roman" panose="02020603050405020304" pitchFamily="18" charset="0"/>
              </a:rPr>
              <a:t>From last week we should have understood:</a:t>
            </a:r>
          </a:p>
          <a:p>
            <a:pPr lvl="1"/>
            <a:r>
              <a:rPr lang="en-US" altLang="en-US" dirty="0" smtClean="0">
                <a:latin typeface="Times New Roman" panose="02020603050405020304" pitchFamily="18" charset="0"/>
                <a:cs typeface="Times New Roman" panose="02020603050405020304" pitchFamily="18" charset="0"/>
              </a:rPr>
              <a:t>Server operating system</a:t>
            </a:r>
          </a:p>
          <a:p>
            <a:pPr lvl="1"/>
            <a:r>
              <a:rPr lang="en-US" altLang="en-US" dirty="0" smtClean="0">
                <a:latin typeface="Times New Roman" panose="02020603050405020304" pitchFamily="18" charset="0"/>
                <a:cs typeface="Times New Roman" panose="02020603050405020304" pitchFamily="18" charset="0"/>
              </a:rPr>
              <a:t>Desktop operating system</a:t>
            </a:r>
          </a:p>
          <a:p>
            <a:pPr lvl="1"/>
            <a:r>
              <a:rPr lang="en-US" altLang="en-US" dirty="0" smtClean="0">
                <a:latin typeface="Times New Roman" panose="02020603050405020304" pitchFamily="18" charset="0"/>
                <a:cs typeface="Times New Roman" panose="02020603050405020304" pitchFamily="18" charset="0"/>
              </a:rPr>
              <a:t>Functions of server operating system </a:t>
            </a:r>
          </a:p>
          <a:p>
            <a:pPr lvl="1"/>
            <a:r>
              <a:rPr lang="en-US" altLang="en-US" dirty="0" smtClean="0">
                <a:latin typeface="Times New Roman" panose="02020603050405020304" pitchFamily="18" charset="0"/>
                <a:cs typeface="Times New Roman" panose="02020603050405020304" pitchFamily="18" charset="0"/>
              </a:rPr>
              <a:t>Functions of desktop operating system </a:t>
            </a:r>
          </a:p>
        </p:txBody>
      </p:sp>
    </p:spTree>
    <p:extLst>
      <p:ext uri="{BB962C8B-B14F-4D97-AF65-F5344CB8AC3E}">
        <p14:creationId xmlns:p14="http://schemas.microsoft.com/office/powerpoint/2010/main" val="91073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p:txBody>
          <a:bodyPr/>
          <a:lstStyle/>
          <a:p>
            <a:r>
              <a:rPr lang="en-GB" altLang="en-US" dirty="0" smtClean="0"/>
              <a:t>Review of Week 9 (2)</a:t>
            </a:r>
            <a:endParaRPr lang="en-US" altLang="en-US" dirty="0" smtClean="0"/>
          </a:p>
        </p:txBody>
      </p:sp>
      <p:sp>
        <p:nvSpPr>
          <p:cNvPr id="3" name="Content Placeholder 2"/>
          <p:cNvSpPr>
            <a:spLocks noGrp="1"/>
          </p:cNvSpPr>
          <p:nvPr>
            <p:ph idx="1"/>
          </p:nvPr>
        </p:nvSpPr>
        <p:spPr>
          <a:xfrm>
            <a:off x="270457" y="1532586"/>
            <a:ext cx="11485512" cy="4552301"/>
          </a:xfrm>
        </p:spPr>
        <p:txBody>
          <a:bodyPr/>
          <a:lstStyle/>
          <a:p>
            <a:pPr>
              <a:buFont typeface="Times New Roman" pitchFamily="16" charset="0"/>
              <a:buChar char="•"/>
              <a:defRPr/>
            </a:pPr>
            <a:r>
              <a:rPr lang="en-US" dirty="0" smtClean="0">
                <a:latin typeface="+mj-lt"/>
                <a:ea typeface="宋体" pitchFamily="2" charset="-122"/>
                <a:cs typeface="Times New Roman"/>
              </a:rPr>
              <a:t>Give some services provided by servers?</a:t>
            </a:r>
          </a:p>
          <a:p>
            <a:pPr marL="457200" lvl="1" indent="0">
              <a:buNone/>
              <a:defRPr/>
            </a:pPr>
            <a:r>
              <a:rPr lang="en-US" dirty="0" smtClean="0">
                <a:latin typeface="+mj-lt"/>
                <a:ea typeface="宋体" pitchFamily="2" charset="-122"/>
                <a:cs typeface="Times New Roman"/>
              </a:rPr>
              <a:t>(Directory services, DNS, </a:t>
            </a:r>
            <a:r>
              <a:rPr lang="en-US" dirty="0" smtClean="0">
                <a:latin typeface="+mj-lt"/>
                <a:ea typeface="宋体" pitchFamily="2" charset="-122"/>
              </a:rPr>
              <a:t>FTP server, HTTP server, Email server, Proxy server, database server)</a:t>
            </a:r>
          </a:p>
          <a:p>
            <a:pPr marL="457200" lvl="1" indent="0">
              <a:buNone/>
              <a:defRPr/>
            </a:pPr>
            <a:endParaRPr lang="en-GB" dirty="0">
              <a:latin typeface="+mj-lt"/>
              <a:ea typeface="宋体" pitchFamily="2" charset="-122"/>
              <a:cs typeface="Times New Roman"/>
            </a:endParaRPr>
          </a:p>
          <a:p>
            <a:pPr>
              <a:buFont typeface="Times New Roman" pitchFamily="16" charset="0"/>
              <a:buChar char="•"/>
              <a:defRPr/>
            </a:pPr>
            <a:r>
              <a:rPr lang="en-US" dirty="0" smtClean="0">
                <a:latin typeface="+mj-lt"/>
                <a:ea typeface="宋体" pitchFamily="2" charset="-122"/>
                <a:cs typeface="Times New Roman"/>
              </a:rPr>
              <a:t>What are the major differences between server and desktop operating system? </a:t>
            </a:r>
          </a:p>
          <a:p>
            <a:pPr marL="0" indent="0">
              <a:buNone/>
              <a:defRPr/>
            </a:pPr>
            <a:r>
              <a:rPr lang="en-US" sz="2800" dirty="0" smtClean="0">
                <a:latin typeface="+mj-lt"/>
                <a:ea typeface="宋体" pitchFamily="2" charset="-122"/>
                <a:cs typeface="Times New Roman"/>
              </a:rPr>
              <a:t>	(numbers of connections, memory, CPSs', network optimization, 	redundancy)</a:t>
            </a:r>
          </a:p>
          <a:p>
            <a:pPr>
              <a:buFont typeface="Times New Roman" pitchFamily="16" charset="0"/>
              <a:buChar char="•"/>
              <a:defRPr/>
            </a:pPr>
            <a:endParaRPr lang="en-GB" dirty="0" smtClean="0">
              <a:latin typeface="Times New Roman"/>
              <a:ea typeface="宋体" pitchFamily="2" charset="-122"/>
              <a:cs typeface="Times New Roman"/>
            </a:endParaRPr>
          </a:p>
          <a:p>
            <a:pPr>
              <a:buFont typeface="Times New Roman" pitchFamily="16" charset="0"/>
              <a:buChar char="•"/>
              <a:defRPr/>
            </a:pPr>
            <a:endParaRPr lang="en-GB" dirty="0" smtClean="0">
              <a:latin typeface="Times New Roman"/>
              <a:ea typeface="宋体" pitchFamily="2" charset="-122"/>
              <a:cs typeface="Times New Roman"/>
            </a:endParaRPr>
          </a:p>
        </p:txBody>
      </p:sp>
    </p:spTree>
    <p:extLst>
      <p:ext uri="{BB962C8B-B14F-4D97-AF65-F5344CB8AC3E}">
        <p14:creationId xmlns:p14="http://schemas.microsoft.com/office/powerpoint/2010/main" val="5969468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p:cNvSpPr>
            <a:spLocks noGrp="1"/>
          </p:cNvSpPr>
          <p:nvPr>
            <p:ph type="title"/>
          </p:nvPr>
        </p:nvSpPr>
        <p:spPr>
          <a:xfrm>
            <a:off x="1809750" y="268288"/>
            <a:ext cx="8858250" cy="762000"/>
          </a:xfrm>
        </p:spPr>
        <p:txBody>
          <a:bodyPr/>
          <a:lstStyle/>
          <a:p>
            <a:r>
              <a:rPr lang="en-US" altLang="en-US" dirty="0" smtClean="0"/>
              <a:t>Q&amp;A ?</a:t>
            </a:r>
          </a:p>
        </p:txBody>
      </p:sp>
      <p:sp>
        <p:nvSpPr>
          <p:cNvPr id="4" name="TextBox 3"/>
          <p:cNvSpPr txBox="1"/>
          <p:nvPr/>
        </p:nvSpPr>
        <p:spPr>
          <a:xfrm>
            <a:off x="6959600" y="4508501"/>
            <a:ext cx="1081088" cy="523875"/>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buClr>
                <a:srgbClr val="000000"/>
              </a:buClr>
              <a:buSzPct val="100000"/>
              <a:buFont typeface="Times New Roman" pitchFamily="16" charset="0"/>
              <a:buNone/>
              <a:defRPr/>
            </a:pPr>
            <a:r>
              <a:rPr lang="en-US" sz="1400" dirty="0"/>
              <a:t>Coursework Submission </a:t>
            </a:r>
          </a:p>
        </p:txBody>
      </p:sp>
      <p:pic>
        <p:nvPicPr>
          <p:cNvPr id="7171" name="Content Placeholder 6" descr="Any Questions.png"/>
          <p:cNvPicPr>
            <a:picLocks noGrp="1" noChangeAspect="1"/>
          </p:cNvPicPr>
          <p:nvPr>
            <p:ph idx="1"/>
          </p:nvPr>
        </p:nvPicPr>
        <p:blipFill>
          <a:blip r:embed="rId3">
            <a:extLst>
              <a:ext uri="{28A0092B-C50C-407E-A947-70E740481C1C}">
                <a14:useLocalDpi xmlns:a14="http://schemas.microsoft.com/office/drawing/2010/main" val="0"/>
              </a:ext>
            </a:extLst>
          </a:blip>
          <a:srcRect l="3169" r="3169"/>
          <a:stretch>
            <a:fillRect/>
          </a:stretch>
        </p:blipFill>
        <p:spPr/>
      </p:pic>
    </p:spTree>
    <p:extLst>
      <p:ext uri="{BB962C8B-B14F-4D97-AF65-F5344CB8AC3E}">
        <p14:creationId xmlns:p14="http://schemas.microsoft.com/office/powerpoint/2010/main" val="32852089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altLang="en-US" dirty="0" smtClean="0"/>
              <a:t>Security in Operating System</a:t>
            </a:r>
            <a:endParaRPr lang="en-US" dirty="0"/>
          </a:p>
        </p:txBody>
      </p:sp>
      <p:sp>
        <p:nvSpPr>
          <p:cNvPr id="3" name="Content Placeholder 2"/>
          <p:cNvSpPr>
            <a:spLocks noGrp="1"/>
          </p:cNvSpPr>
          <p:nvPr>
            <p:ph idx="1"/>
          </p:nvPr>
        </p:nvSpPr>
        <p:spPr>
          <a:xfrm>
            <a:off x="381001" y="1841678"/>
            <a:ext cx="11374967" cy="4243209"/>
          </a:xfrm>
        </p:spPr>
        <p:txBody>
          <a:bodyPr/>
          <a:lstStyle/>
          <a:p>
            <a:pPr marL="0" indent="0">
              <a:buNone/>
            </a:pPr>
            <a:r>
              <a:rPr lang="en-US" dirty="0" smtClean="0"/>
              <a:t>Computer security mainly focus on 3 points</a:t>
            </a:r>
          </a:p>
          <a:p>
            <a:endParaRPr lang="en-US" dirty="0"/>
          </a:p>
          <a:p>
            <a:r>
              <a:rPr lang="en-US" dirty="0" smtClean="0"/>
              <a:t>To prevent theft or damage to the hardware</a:t>
            </a:r>
          </a:p>
          <a:p>
            <a:r>
              <a:rPr lang="en-US" dirty="0" smtClean="0"/>
              <a:t>To prevent theft or damage to the information</a:t>
            </a:r>
          </a:p>
          <a:p>
            <a:r>
              <a:rPr lang="en-US" dirty="0" smtClean="0"/>
              <a:t>To prevent disruption of service</a:t>
            </a:r>
          </a:p>
          <a:p>
            <a:endParaRPr lang="en-US" dirty="0"/>
          </a:p>
        </p:txBody>
      </p:sp>
    </p:spTree>
    <p:extLst>
      <p:ext uri="{BB962C8B-B14F-4D97-AF65-F5344CB8AC3E}">
        <p14:creationId xmlns:p14="http://schemas.microsoft.com/office/powerpoint/2010/main" val="2641596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Title 1"/>
          <p:cNvSpPr>
            <a:spLocks noGrp="1"/>
          </p:cNvSpPr>
          <p:nvPr>
            <p:ph type="title"/>
          </p:nvPr>
        </p:nvSpPr>
        <p:spPr>
          <a:xfrm>
            <a:off x="0" y="0"/>
            <a:ext cx="8564563" cy="576263"/>
          </a:xfrm>
        </p:spPr>
        <p:txBody>
          <a:bodyPr>
            <a:normAutofit fontScale="90000"/>
          </a:bodyPr>
          <a:lstStyle/>
          <a:p>
            <a:pPr marL="342900" indent="-342900"/>
            <a:r>
              <a:rPr lang="en-US" altLang="en-US" dirty="0" smtClean="0"/>
              <a:t>Security in Operating System</a:t>
            </a:r>
          </a:p>
        </p:txBody>
      </p:sp>
      <p:sp>
        <p:nvSpPr>
          <p:cNvPr id="3" name="Content Placeholder 2"/>
          <p:cNvSpPr>
            <a:spLocks noGrp="1"/>
          </p:cNvSpPr>
          <p:nvPr>
            <p:ph idx="1"/>
          </p:nvPr>
        </p:nvSpPr>
        <p:spPr>
          <a:xfrm>
            <a:off x="334851" y="1236372"/>
            <a:ext cx="10077563" cy="4861395"/>
          </a:xfrm>
        </p:spPr>
        <p:txBody>
          <a:bodyPr>
            <a:normAutofit/>
          </a:bodyPr>
          <a:lstStyle/>
          <a:p>
            <a:pPr marL="0" indent="0">
              <a:buNone/>
            </a:pPr>
            <a:r>
              <a:rPr lang="en-US" altLang="en-US" sz="3200" dirty="0" smtClean="0"/>
              <a:t>The security problem </a:t>
            </a:r>
          </a:p>
          <a:p>
            <a:pPr marL="0" indent="0">
              <a:buNone/>
            </a:pPr>
            <a:endParaRPr lang="en-US" altLang="en-US" sz="3200" dirty="0" smtClean="0"/>
          </a:p>
          <a:p>
            <a:pPr lvl="1"/>
            <a:r>
              <a:rPr lang="en-US" altLang="en-US" sz="2800" dirty="0" smtClean="0"/>
              <a:t>employees</a:t>
            </a:r>
          </a:p>
          <a:p>
            <a:pPr lvl="1"/>
            <a:r>
              <a:rPr lang="en-US" altLang="en-US" sz="2800" dirty="0" smtClean="0"/>
              <a:t>Intruders (crackers) attempt to breach security</a:t>
            </a:r>
          </a:p>
          <a:p>
            <a:pPr lvl="1"/>
            <a:r>
              <a:rPr lang="en-US" altLang="en-US" sz="2800" dirty="0" smtClean="0"/>
              <a:t>Common coding mistakes</a:t>
            </a:r>
          </a:p>
          <a:p>
            <a:pPr lvl="1"/>
            <a:r>
              <a:rPr lang="en-US" sz="2800" dirty="0" smtClean="0"/>
              <a:t>Access through devices </a:t>
            </a:r>
          </a:p>
          <a:p>
            <a:pPr lvl="1"/>
            <a:r>
              <a:rPr lang="en-US" sz="2800" dirty="0"/>
              <a:t>A</a:t>
            </a:r>
            <a:r>
              <a:rPr lang="en-US" sz="2800" dirty="0" smtClean="0"/>
              <a:t>ccess through applications.</a:t>
            </a:r>
          </a:p>
          <a:p>
            <a:pPr lvl="1"/>
            <a:r>
              <a:rPr lang="en-US" sz="2800" dirty="0" smtClean="0"/>
              <a:t>Incorrect share/file permissions</a:t>
            </a:r>
          </a:p>
          <a:p>
            <a:pPr lvl="1"/>
            <a:r>
              <a:rPr lang="en-US" sz="2800" dirty="0" smtClean="0"/>
              <a:t>Disabled security software</a:t>
            </a:r>
          </a:p>
        </p:txBody>
      </p:sp>
    </p:spTree>
    <p:extLst>
      <p:ext uri="{BB962C8B-B14F-4D97-AF65-F5344CB8AC3E}">
        <p14:creationId xmlns:p14="http://schemas.microsoft.com/office/powerpoint/2010/main" val="279830155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0" y="0"/>
            <a:ext cx="10515600" cy="1325563"/>
          </a:xfrm>
        </p:spPr>
        <p:txBody>
          <a:bodyPr/>
          <a:lstStyle/>
          <a:p>
            <a:r>
              <a:rPr lang="en-US" altLang="en-US" dirty="0" smtClean="0"/>
              <a:t>Security Breaches</a:t>
            </a:r>
            <a:r>
              <a:rPr lang="en-US" altLang="en-US" dirty="0"/>
              <a:t> </a:t>
            </a:r>
            <a:r>
              <a:rPr lang="en-US" altLang="en-US" dirty="0" smtClean="0"/>
              <a:t>- Terminology</a:t>
            </a:r>
            <a:endParaRPr lang="en-US" altLang="en-US" dirty="0"/>
          </a:p>
        </p:txBody>
      </p:sp>
      <p:sp>
        <p:nvSpPr>
          <p:cNvPr id="7171" name="Rectangle 3"/>
          <p:cNvSpPr>
            <a:spLocks noGrp="1" noChangeArrowheads="1"/>
          </p:cNvSpPr>
          <p:nvPr>
            <p:ph idx="1"/>
          </p:nvPr>
        </p:nvSpPr>
        <p:spPr>
          <a:xfrm>
            <a:off x="381001" y="1030287"/>
            <a:ext cx="11609230" cy="5499301"/>
          </a:xfrm>
        </p:spPr>
        <p:txBody>
          <a:bodyPr>
            <a:normAutofit/>
          </a:bodyPr>
          <a:lstStyle/>
          <a:p>
            <a:pPr>
              <a:lnSpc>
                <a:spcPct val="90000"/>
              </a:lnSpc>
            </a:pPr>
            <a:r>
              <a:rPr lang="en-US" altLang="en-US" sz="2800" dirty="0" smtClean="0"/>
              <a:t>Vulnerability </a:t>
            </a:r>
            <a:endParaRPr lang="en-US" altLang="en-US" sz="2800" dirty="0"/>
          </a:p>
          <a:p>
            <a:pPr lvl="1">
              <a:lnSpc>
                <a:spcPct val="90000"/>
              </a:lnSpc>
            </a:pPr>
            <a:r>
              <a:rPr lang="en-US" altLang="en-US" sz="2400" dirty="0"/>
              <a:t>a weakness in the system</a:t>
            </a:r>
          </a:p>
          <a:p>
            <a:pPr>
              <a:lnSpc>
                <a:spcPct val="90000"/>
              </a:lnSpc>
            </a:pPr>
            <a:r>
              <a:rPr lang="en-US" altLang="en-US" sz="2800" dirty="0" smtClean="0"/>
              <a:t>Attack</a:t>
            </a:r>
          </a:p>
          <a:p>
            <a:pPr lvl="1"/>
            <a:r>
              <a:rPr lang="en-US" altLang="en-US" sz="2400" dirty="0" smtClean="0"/>
              <a:t>Attack is attempt to breach security</a:t>
            </a:r>
          </a:p>
          <a:p>
            <a:pPr lvl="1"/>
            <a:r>
              <a:rPr lang="en-US" altLang="en-US" sz="2400" dirty="0" smtClean="0"/>
              <a:t>Attack can be accidental or malicious</a:t>
            </a:r>
            <a:endParaRPr lang="en-US" altLang="en-US" sz="2800" dirty="0"/>
          </a:p>
          <a:p>
            <a:pPr>
              <a:lnSpc>
                <a:spcPct val="90000"/>
              </a:lnSpc>
            </a:pPr>
            <a:r>
              <a:rPr lang="en-US" altLang="en-US" sz="2800" dirty="0" smtClean="0"/>
              <a:t>Threats</a:t>
            </a:r>
            <a:endParaRPr lang="en-US" altLang="en-US" sz="2800" dirty="0"/>
          </a:p>
          <a:p>
            <a:pPr lvl="1">
              <a:lnSpc>
                <a:spcPct val="90000"/>
              </a:lnSpc>
            </a:pPr>
            <a:r>
              <a:rPr lang="en-US" altLang="en-US" sz="2400" dirty="0" smtClean="0"/>
              <a:t>Threat is potential security violation</a:t>
            </a:r>
          </a:p>
          <a:p>
            <a:pPr lvl="1">
              <a:lnSpc>
                <a:spcPct val="90000"/>
              </a:lnSpc>
            </a:pPr>
            <a:r>
              <a:rPr lang="en-US" altLang="en-US" sz="2400" dirty="0" smtClean="0"/>
              <a:t>Human </a:t>
            </a:r>
            <a:r>
              <a:rPr lang="en-US" altLang="en-US" sz="2400" dirty="0"/>
              <a:t>attacks, natural disasters, </a:t>
            </a:r>
            <a:r>
              <a:rPr lang="en-US" altLang="en-US" sz="2400" dirty="0" smtClean="0"/>
              <a:t>errors</a:t>
            </a:r>
            <a:endParaRPr lang="en-US" altLang="en-US" sz="2400" dirty="0"/>
          </a:p>
          <a:p>
            <a:pPr>
              <a:lnSpc>
                <a:spcPct val="90000"/>
              </a:lnSpc>
            </a:pPr>
            <a:r>
              <a:rPr lang="en-US" altLang="en-US" sz="2800" dirty="0"/>
              <a:t>Control </a:t>
            </a:r>
            <a:r>
              <a:rPr lang="en-US" altLang="en-US" sz="2400" dirty="0"/>
              <a:t>– a protective </a:t>
            </a:r>
            <a:r>
              <a:rPr lang="en-US" altLang="en-US" sz="2400" dirty="0" smtClean="0"/>
              <a:t>measure </a:t>
            </a:r>
            <a:r>
              <a:rPr lang="pl-PL" altLang="en-US" sz="2400" dirty="0" smtClean="0">
                <a:solidFill>
                  <a:schemeClr val="tx1"/>
                </a:solidFill>
              </a:rPr>
              <a:t>to block a threat, which tries to exploit one or more vulnerabilities</a:t>
            </a:r>
          </a:p>
          <a:p>
            <a:pPr marL="0" indent="0">
              <a:lnSpc>
                <a:spcPct val="90000"/>
              </a:lnSpc>
              <a:buNone/>
            </a:pPr>
            <a:endParaRPr lang="en-US" altLang="en-US" sz="2400" dirty="0"/>
          </a:p>
        </p:txBody>
      </p:sp>
      <p:sp>
        <p:nvSpPr>
          <p:cNvPr id="5" name="Slide Number Placeholder 5"/>
          <p:cNvSpPr>
            <a:spLocks noGrp="1"/>
          </p:cNvSpPr>
          <p:nvPr>
            <p:ph type="sldNum" sz="quarter" idx="12"/>
          </p:nvPr>
        </p:nvSpPr>
        <p:spPr/>
        <p:txBody>
          <a:bodyPr/>
          <a:lstStyle/>
          <a:p>
            <a:fld id="{C1619E40-148B-4115-B172-5F16E3F78669}" type="slidenum">
              <a:rPr lang="en-US" altLang="en-US"/>
              <a:pPr/>
              <a:t>9</a:t>
            </a:fld>
            <a:endParaRPr lang="en-US" altLang="en-US" dirty="0"/>
          </a:p>
        </p:txBody>
      </p:sp>
    </p:spTree>
    <p:extLst>
      <p:ext uri="{BB962C8B-B14F-4D97-AF65-F5344CB8AC3E}">
        <p14:creationId xmlns:p14="http://schemas.microsoft.com/office/powerpoint/2010/main" val="2249108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7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171">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171">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171">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1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4" name="Picture 13"/>
          <p:cNvPicPr>
            <a:picLocks noChangeAspect="1"/>
          </p:cNvPicPr>
          <p:nvPr/>
        </p:nvPicPr>
        <p:blipFill>
          <a:blip r:embed="rId2"/>
          <a:stretch>
            <a:fillRect/>
          </a:stretch>
        </p:blipFill>
        <p:spPr>
          <a:xfrm>
            <a:off x="776086" y="1361002"/>
            <a:ext cx="5856533" cy="4762706"/>
          </a:xfrm>
          <a:prstGeom prst="rect">
            <a:avLst/>
          </a:prstGeom>
        </p:spPr>
      </p:pic>
      <p:pic>
        <p:nvPicPr>
          <p:cNvPr id="15" name="Picture 14"/>
          <p:cNvPicPr>
            <a:picLocks noChangeAspect="1"/>
          </p:cNvPicPr>
          <p:nvPr/>
        </p:nvPicPr>
        <p:blipFill>
          <a:blip r:embed="rId3"/>
          <a:stretch>
            <a:fillRect/>
          </a:stretch>
        </p:blipFill>
        <p:spPr>
          <a:xfrm>
            <a:off x="6794285" y="2391582"/>
            <a:ext cx="5190243" cy="2701546"/>
          </a:xfrm>
          <a:prstGeom prst="rect">
            <a:avLst/>
          </a:prstGeom>
        </p:spPr>
      </p:pic>
    </p:spTree>
    <p:extLst>
      <p:ext uri="{BB962C8B-B14F-4D97-AF65-F5344CB8AC3E}">
        <p14:creationId xmlns:p14="http://schemas.microsoft.com/office/powerpoint/2010/main" val="2602495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smtClean="0"/>
              <a:t>Key concepts of Information Security</a:t>
            </a:r>
            <a:endParaRPr lang="en-US" dirty="0"/>
          </a:p>
        </p:txBody>
      </p:sp>
      <p:sp>
        <p:nvSpPr>
          <p:cNvPr id="3" name="Content Placeholder 2"/>
          <p:cNvSpPr>
            <a:spLocks noGrp="1"/>
          </p:cNvSpPr>
          <p:nvPr>
            <p:ph idx="1"/>
          </p:nvPr>
        </p:nvSpPr>
        <p:spPr/>
        <p:txBody>
          <a:bodyPr/>
          <a:lstStyle/>
          <a:p>
            <a:pPr marL="0" indent="0">
              <a:buNone/>
            </a:pPr>
            <a:r>
              <a:rPr lang="en-US" b="1" dirty="0" smtClean="0"/>
              <a:t>CIA triad</a:t>
            </a:r>
            <a:r>
              <a:rPr lang="en-US" dirty="0" smtClean="0"/>
              <a:t>, is a model designed </a:t>
            </a:r>
          </a:p>
          <a:p>
            <a:pPr marL="0" indent="0">
              <a:buNone/>
            </a:pPr>
            <a:r>
              <a:rPr lang="en-US" dirty="0" smtClean="0"/>
              <a:t>to guide policies for information </a:t>
            </a:r>
          </a:p>
          <a:p>
            <a:pPr marL="0" indent="0">
              <a:buNone/>
            </a:pPr>
            <a:r>
              <a:rPr lang="en-US" dirty="0" smtClean="0"/>
              <a:t>security within an organization.</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02751" y="1027906"/>
            <a:ext cx="6849431" cy="5744377"/>
          </a:xfrm>
          <a:prstGeom prst="rect">
            <a:avLst/>
          </a:prstGeom>
        </p:spPr>
      </p:pic>
    </p:spTree>
    <p:extLst>
      <p:ext uri="{BB962C8B-B14F-4D97-AF65-F5344CB8AC3E}">
        <p14:creationId xmlns:p14="http://schemas.microsoft.com/office/powerpoint/2010/main" val="38571031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smtClean="0"/>
              <a:t>Key concepts of Information Security</a:t>
            </a:r>
            <a:endParaRPr lang="en-US" dirty="0"/>
          </a:p>
        </p:txBody>
      </p:sp>
      <p:sp>
        <p:nvSpPr>
          <p:cNvPr id="3" name="Content Placeholder 2"/>
          <p:cNvSpPr>
            <a:spLocks noGrp="1"/>
          </p:cNvSpPr>
          <p:nvPr>
            <p:ph idx="1"/>
          </p:nvPr>
        </p:nvSpPr>
        <p:spPr>
          <a:xfrm>
            <a:off x="0" y="1294306"/>
            <a:ext cx="11745533" cy="5563694"/>
          </a:xfrm>
        </p:spPr>
        <p:txBody>
          <a:bodyPr/>
          <a:lstStyle/>
          <a:p>
            <a:pPr marL="0" indent="0">
              <a:buNone/>
            </a:pPr>
            <a:r>
              <a:rPr lang="en-US" sz="4000" b="1" dirty="0" smtClean="0"/>
              <a:t>Confidentiality :</a:t>
            </a:r>
          </a:p>
          <a:p>
            <a:pPr marL="0" indent="0">
              <a:buNone/>
            </a:pPr>
            <a:endParaRPr lang="en-US" sz="4000" b="1" dirty="0"/>
          </a:p>
          <a:p>
            <a:r>
              <a:rPr lang="en-US" dirty="0" smtClean="0"/>
              <a:t>Confidentiality of information ensures that only those with sufficient privileges may access certain information. </a:t>
            </a:r>
          </a:p>
          <a:p>
            <a:r>
              <a:rPr lang="en-US" dirty="0" smtClean="0"/>
              <a:t>To protect the confidentiality of information, a number of measures may be used, including: </a:t>
            </a:r>
          </a:p>
          <a:p>
            <a:pPr>
              <a:buFont typeface="Wingdings" panose="05000000000000000000" pitchFamily="2" charset="2"/>
              <a:buChar char="Ø"/>
            </a:pPr>
            <a:r>
              <a:rPr lang="en-US" dirty="0" smtClean="0"/>
              <a:t>Information classification </a:t>
            </a:r>
          </a:p>
          <a:p>
            <a:pPr>
              <a:buFont typeface="Wingdings" panose="05000000000000000000" pitchFamily="2" charset="2"/>
              <a:buChar char="Ø"/>
            </a:pPr>
            <a:r>
              <a:rPr lang="en-US" dirty="0" smtClean="0"/>
              <a:t>Secure document storage </a:t>
            </a:r>
          </a:p>
          <a:p>
            <a:pPr>
              <a:buFont typeface="Wingdings" panose="05000000000000000000" pitchFamily="2" charset="2"/>
              <a:buChar char="Ø"/>
            </a:pPr>
            <a:r>
              <a:rPr lang="en-US" dirty="0" smtClean="0"/>
              <a:t>Application of general security policies </a:t>
            </a:r>
          </a:p>
          <a:p>
            <a:pPr>
              <a:buFont typeface="Wingdings" panose="05000000000000000000" pitchFamily="2" charset="2"/>
              <a:buChar char="Ø"/>
            </a:pPr>
            <a:r>
              <a:rPr lang="en-US" dirty="0" smtClean="0"/>
              <a:t>Education of information custodians and end users</a:t>
            </a:r>
            <a:endParaRPr lang="en-US" dirty="0"/>
          </a:p>
        </p:txBody>
      </p:sp>
    </p:spTree>
    <p:extLst>
      <p:ext uri="{BB962C8B-B14F-4D97-AF65-F5344CB8AC3E}">
        <p14:creationId xmlns:p14="http://schemas.microsoft.com/office/powerpoint/2010/main" val="39714357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7547"/>
            <a:ext cx="10515600" cy="1325563"/>
          </a:xfrm>
        </p:spPr>
        <p:txBody>
          <a:bodyPr/>
          <a:lstStyle/>
          <a:p>
            <a:r>
              <a:rPr lang="en-US" dirty="0" smtClean="0"/>
              <a:t>Key concepts of Information Security</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sz="4000" b="1" dirty="0" smtClean="0"/>
              <a:t>Integrity  </a:t>
            </a:r>
          </a:p>
          <a:p>
            <a:pPr marL="0" indent="0">
              <a:buNone/>
            </a:pPr>
            <a:endParaRPr lang="en-US" sz="4000" b="1" dirty="0" smtClean="0"/>
          </a:p>
          <a:p>
            <a:r>
              <a:rPr lang="en-US" dirty="0" smtClean="0"/>
              <a:t>Integrity is the quality or state of being whole, complete, and uncorrupted. </a:t>
            </a:r>
          </a:p>
          <a:p>
            <a:r>
              <a:rPr lang="en-US" dirty="0" smtClean="0"/>
              <a:t>The integrity of information is threatened when it is exposed to corruption, damage, destruction, or other disruption of its authentic state. </a:t>
            </a:r>
          </a:p>
          <a:p>
            <a:r>
              <a:rPr lang="en-US" dirty="0" smtClean="0"/>
              <a:t>Corruption can occur while information is being compiled, stored, or transmitted.</a:t>
            </a:r>
            <a:endParaRPr lang="en-US" dirty="0"/>
          </a:p>
        </p:txBody>
      </p:sp>
    </p:spTree>
    <p:extLst>
      <p:ext uri="{BB962C8B-B14F-4D97-AF65-F5344CB8AC3E}">
        <p14:creationId xmlns:p14="http://schemas.microsoft.com/office/powerpoint/2010/main" val="8917901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smtClean="0"/>
              <a:t>Key concepts of Information Security</a:t>
            </a:r>
            <a:endParaRPr lang="en-US" dirty="0"/>
          </a:p>
        </p:txBody>
      </p:sp>
      <p:sp>
        <p:nvSpPr>
          <p:cNvPr id="3" name="Content Placeholder 2"/>
          <p:cNvSpPr>
            <a:spLocks noGrp="1"/>
          </p:cNvSpPr>
          <p:nvPr>
            <p:ph idx="1"/>
          </p:nvPr>
        </p:nvSpPr>
        <p:spPr>
          <a:xfrm>
            <a:off x="381001" y="1214438"/>
            <a:ext cx="11374967" cy="5096210"/>
          </a:xfrm>
        </p:spPr>
        <p:txBody>
          <a:bodyPr/>
          <a:lstStyle/>
          <a:p>
            <a:pPr marL="0" indent="0">
              <a:buNone/>
            </a:pPr>
            <a:r>
              <a:rPr lang="en-US" sz="4000" b="1" dirty="0" smtClean="0"/>
              <a:t>Availability </a:t>
            </a:r>
          </a:p>
          <a:p>
            <a:pPr marL="0" indent="0">
              <a:buNone/>
            </a:pPr>
            <a:r>
              <a:rPr lang="en-US" sz="4000" b="1" dirty="0" smtClean="0"/>
              <a:t> </a:t>
            </a:r>
          </a:p>
          <a:p>
            <a:r>
              <a:rPr lang="en-US" dirty="0" smtClean="0"/>
              <a:t>Availability is making information accessible to user access without interference or obstruction in the required format. </a:t>
            </a:r>
          </a:p>
          <a:p>
            <a:r>
              <a:rPr lang="en-US" dirty="0" smtClean="0"/>
              <a:t>A user in this definition may be either a person or another computer system. </a:t>
            </a:r>
          </a:p>
          <a:p>
            <a:r>
              <a:rPr lang="en-US" dirty="0" smtClean="0"/>
              <a:t>Availability means availability to authorized users.</a:t>
            </a:r>
            <a:endParaRPr lang="en-US" dirty="0"/>
          </a:p>
        </p:txBody>
      </p:sp>
    </p:spTree>
    <p:extLst>
      <p:ext uri="{BB962C8B-B14F-4D97-AF65-F5344CB8AC3E}">
        <p14:creationId xmlns:p14="http://schemas.microsoft.com/office/powerpoint/2010/main" val="22876260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smtClean="0"/>
              <a:t>Key concepts of Information Security</a:t>
            </a:r>
            <a:endParaRPr lang="en-US" dirty="0"/>
          </a:p>
        </p:txBody>
      </p:sp>
      <p:pic>
        <p:nvPicPr>
          <p:cNvPr id="4" name="Content Placeholder 3"/>
          <p:cNvPicPr>
            <a:picLocks noGrp="1" noChangeAspect="1"/>
          </p:cNvPicPr>
          <p:nvPr>
            <p:ph idx="1"/>
          </p:nvPr>
        </p:nvPicPr>
        <p:blipFill>
          <a:blip r:embed="rId2"/>
          <a:stretch>
            <a:fillRect/>
          </a:stretch>
        </p:blipFill>
        <p:spPr>
          <a:xfrm>
            <a:off x="2809875" y="2391569"/>
            <a:ext cx="6572250" cy="3219450"/>
          </a:xfrm>
          <a:prstGeom prst="rect">
            <a:avLst/>
          </a:prstGeom>
        </p:spPr>
      </p:pic>
    </p:spTree>
    <p:extLst>
      <p:ext uri="{BB962C8B-B14F-4D97-AF65-F5344CB8AC3E}">
        <p14:creationId xmlns:p14="http://schemas.microsoft.com/office/powerpoint/2010/main" val="30434265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smtClean="0"/>
              <a:t>Key concepts of Information Security</a:t>
            </a:r>
            <a:endParaRPr lang="en-US" dirty="0"/>
          </a:p>
        </p:txBody>
      </p:sp>
      <p:sp>
        <p:nvSpPr>
          <p:cNvPr id="3" name="Content Placeholder 2"/>
          <p:cNvSpPr>
            <a:spLocks noGrp="1"/>
          </p:cNvSpPr>
          <p:nvPr>
            <p:ph idx="1"/>
          </p:nvPr>
        </p:nvSpPr>
        <p:spPr>
          <a:xfrm>
            <a:off x="566670" y="1416676"/>
            <a:ext cx="10787130" cy="4760287"/>
          </a:xfrm>
        </p:spPr>
        <p:txBody>
          <a:bodyPr/>
          <a:lstStyle/>
          <a:p>
            <a:pPr marL="0" indent="0">
              <a:buNone/>
            </a:pPr>
            <a:r>
              <a:rPr lang="en-US" sz="3600" b="1" dirty="0" smtClean="0"/>
              <a:t>Authentication </a:t>
            </a:r>
          </a:p>
          <a:p>
            <a:pPr marL="0" indent="0">
              <a:buNone/>
            </a:pPr>
            <a:endParaRPr lang="en-US" sz="3600" b="1" dirty="0" smtClean="0"/>
          </a:p>
          <a:p>
            <a:r>
              <a:rPr lang="en-US" dirty="0" smtClean="0"/>
              <a:t>Authentication occurs when a control provides proof that a user possesses the identity that he or she claims.</a:t>
            </a:r>
          </a:p>
          <a:p>
            <a:endParaRPr lang="en-US" dirty="0"/>
          </a:p>
        </p:txBody>
      </p:sp>
      <p:pic>
        <p:nvPicPr>
          <p:cNvPr id="4" name="Picture 3"/>
          <p:cNvPicPr>
            <a:picLocks noChangeAspect="1"/>
          </p:cNvPicPr>
          <p:nvPr/>
        </p:nvPicPr>
        <p:blipFill>
          <a:blip r:embed="rId2"/>
          <a:stretch>
            <a:fillRect/>
          </a:stretch>
        </p:blipFill>
        <p:spPr>
          <a:xfrm>
            <a:off x="801159" y="3796718"/>
            <a:ext cx="8742644" cy="916950"/>
          </a:xfrm>
          <a:prstGeom prst="rect">
            <a:avLst/>
          </a:prstGeom>
        </p:spPr>
      </p:pic>
    </p:spTree>
    <p:extLst>
      <p:ext uri="{BB962C8B-B14F-4D97-AF65-F5344CB8AC3E}">
        <p14:creationId xmlns:p14="http://schemas.microsoft.com/office/powerpoint/2010/main" val="8241773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smtClean="0"/>
              <a:t>Key concepts of Information Security</a:t>
            </a:r>
            <a:endParaRPr lang="en-US" dirty="0"/>
          </a:p>
        </p:txBody>
      </p:sp>
      <p:sp>
        <p:nvSpPr>
          <p:cNvPr id="3" name="Content Placeholder 2"/>
          <p:cNvSpPr>
            <a:spLocks noGrp="1"/>
          </p:cNvSpPr>
          <p:nvPr>
            <p:ph idx="1"/>
          </p:nvPr>
        </p:nvSpPr>
        <p:spPr>
          <a:xfrm>
            <a:off x="682580" y="1325563"/>
            <a:ext cx="10671220" cy="4851400"/>
          </a:xfrm>
        </p:spPr>
        <p:txBody>
          <a:bodyPr/>
          <a:lstStyle/>
          <a:p>
            <a:pPr marL="0" indent="0">
              <a:buNone/>
            </a:pPr>
            <a:r>
              <a:rPr lang="en-US" sz="3600" b="1" dirty="0" smtClean="0"/>
              <a:t>Authorization </a:t>
            </a:r>
          </a:p>
          <a:p>
            <a:pPr marL="0" indent="0">
              <a:buNone/>
            </a:pPr>
            <a:endParaRPr lang="en-US" sz="3600" b="1" dirty="0" smtClean="0"/>
          </a:p>
          <a:p>
            <a:r>
              <a:rPr lang="en-US" dirty="0" smtClean="0"/>
              <a:t>After the identity of a user is authenticated, a process called authorization provides assurance that the user (whether a person or a computer) has been specifically and explicitly authorized by the proper authority to access, update, or delete the contents of an information asset.</a:t>
            </a:r>
          </a:p>
          <a:p>
            <a:endParaRPr lang="en-US" dirty="0"/>
          </a:p>
        </p:txBody>
      </p:sp>
      <p:pic>
        <p:nvPicPr>
          <p:cNvPr id="4" name="Picture 3"/>
          <p:cNvPicPr>
            <a:picLocks noChangeAspect="1"/>
          </p:cNvPicPr>
          <p:nvPr/>
        </p:nvPicPr>
        <p:blipFill>
          <a:blip r:embed="rId2"/>
          <a:stretch>
            <a:fillRect/>
          </a:stretch>
        </p:blipFill>
        <p:spPr>
          <a:xfrm>
            <a:off x="927280" y="4924710"/>
            <a:ext cx="8797506" cy="960933"/>
          </a:xfrm>
          <a:prstGeom prst="rect">
            <a:avLst/>
          </a:prstGeom>
        </p:spPr>
      </p:pic>
    </p:spTree>
    <p:extLst>
      <p:ext uri="{BB962C8B-B14F-4D97-AF65-F5344CB8AC3E}">
        <p14:creationId xmlns:p14="http://schemas.microsoft.com/office/powerpoint/2010/main" val="10002910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561"/>
            <a:ext cx="10515600" cy="1325563"/>
          </a:xfrm>
        </p:spPr>
        <p:txBody>
          <a:bodyPr/>
          <a:lstStyle/>
          <a:p>
            <a:r>
              <a:rPr lang="en-US" dirty="0" smtClean="0"/>
              <a:t>Key concepts of Information Security</a:t>
            </a:r>
            <a:endParaRPr lang="en-US" dirty="0"/>
          </a:p>
        </p:txBody>
      </p:sp>
      <p:sp>
        <p:nvSpPr>
          <p:cNvPr id="3" name="Content Placeholder 2"/>
          <p:cNvSpPr>
            <a:spLocks noGrp="1"/>
          </p:cNvSpPr>
          <p:nvPr>
            <p:ph idx="1"/>
          </p:nvPr>
        </p:nvSpPr>
        <p:spPr>
          <a:xfrm>
            <a:off x="785611" y="1146220"/>
            <a:ext cx="10568189" cy="5030743"/>
          </a:xfrm>
        </p:spPr>
        <p:txBody>
          <a:bodyPr/>
          <a:lstStyle/>
          <a:p>
            <a:pPr marL="0" indent="0">
              <a:buNone/>
            </a:pPr>
            <a:r>
              <a:rPr lang="en-US" sz="3600" b="1" dirty="0" smtClean="0"/>
              <a:t>Accountability</a:t>
            </a:r>
          </a:p>
          <a:p>
            <a:pPr marL="0" indent="0">
              <a:buNone/>
            </a:pPr>
            <a:r>
              <a:rPr lang="en-US" sz="3600" b="1" dirty="0" smtClean="0"/>
              <a:t> </a:t>
            </a:r>
          </a:p>
          <a:p>
            <a:r>
              <a:rPr lang="en-US" dirty="0" smtClean="0"/>
              <a:t>The characteristic of accountability exists when a control provides assurance that every activity undertaken can be attributed to a named person or automated process. </a:t>
            </a:r>
          </a:p>
          <a:p>
            <a:endParaRPr lang="en-US" dirty="0"/>
          </a:p>
        </p:txBody>
      </p:sp>
      <p:pic>
        <p:nvPicPr>
          <p:cNvPr id="4" name="Picture 3"/>
          <p:cNvPicPr>
            <a:picLocks noChangeAspect="1"/>
          </p:cNvPicPr>
          <p:nvPr/>
        </p:nvPicPr>
        <p:blipFill>
          <a:blip r:embed="rId2"/>
          <a:stretch>
            <a:fillRect/>
          </a:stretch>
        </p:blipFill>
        <p:spPr>
          <a:xfrm>
            <a:off x="578676" y="4137070"/>
            <a:ext cx="8842065" cy="1555392"/>
          </a:xfrm>
          <a:prstGeom prst="rect">
            <a:avLst/>
          </a:prstGeom>
        </p:spPr>
      </p:pic>
    </p:spTree>
    <p:extLst>
      <p:ext uri="{BB962C8B-B14F-4D97-AF65-F5344CB8AC3E}">
        <p14:creationId xmlns:p14="http://schemas.microsoft.com/office/powerpoint/2010/main" val="5686125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smtClean="0">
                <a:ea typeface="宋体" pitchFamily="2" charset="-122"/>
              </a:rPr>
              <a:t>The security violations – Categories </a:t>
            </a:r>
            <a:endParaRPr lang="en-US" dirty="0"/>
          </a:p>
        </p:txBody>
      </p:sp>
      <p:sp>
        <p:nvSpPr>
          <p:cNvPr id="3" name="Content Placeholder 2"/>
          <p:cNvSpPr>
            <a:spLocks noGrp="1"/>
          </p:cNvSpPr>
          <p:nvPr>
            <p:ph idx="1"/>
          </p:nvPr>
        </p:nvSpPr>
        <p:spPr>
          <a:xfrm>
            <a:off x="553792" y="1325563"/>
            <a:ext cx="10800008" cy="4851400"/>
          </a:xfrm>
        </p:spPr>
        <p:txBody>
          <a:bodyPr/>
          <a:lstStyle/>
          <a:p>
            <a:pPr>
              <a:lnSpc>
                <a:spcPct val="90000"/>
              </a:lnSpc>
            </a:pPr>
            <a:r>
              <a:rPr lang="en-US" altLang="en-US" dirty="0" smtClean="0">
                <a:solidFill>
                  <a:schemeClr val="tx1"/>
                </a:solidFill>
              </a:rPr>
              <a:t>Breach </a:t>
            </a:r>
            <a:r>
              <a:rPr lang="pl-PL" altLang="en-US" dirty="0" smtClean="0">
                <a:solidFill>
                  <a:schemeClr val="tx1"/>
                </a:solidFill>
              </a:rPr>
              <a:t>on Data </a:t>
            </a:r>
            <a:r>
              <a:rPr lang="en-US" altLang="en-US" dirty="0" smtClean="0">
                <a:solidFill>
                  <a:schemeClr val="tx1"/>
                </a:solidFill>
              </a:rPr>
              <a:t>Confidentiality</a:t>
            </a:r>
          </a:p>
          <a:p>
            <a:pPr lvl="1">
              <a:lnSpc>
                <a:spcPct val="90000"/>
              </a:lnSpc>
            </a:pPr>
            <a:r>
              <a:rPr lang="en-US" altLang="en-US" dirty="0" smtClean="0">
                <a:solidFill>
                  <a:schemeClr val="tx1"/>
                </a:solidFill>
              </a:rPr>
              <a:t>Tapping / spoofing</a:t>
            </a:r>
          </a:p>
          <a:p>
            <a:pPr marL="457200" lvl="1" indent="0">
              <a:lnSpc>
                <a:spcPct val="90000"/>
              </a:lnSpc>
              <a:buNone/>
            </a:pPr>
            <a:endParaRPr lang="pl-PL" altLang="en-US" dirty="0" smtClean="0">
              <a:solidFill>
                <a:schemeClr val="tx1"/>
              </a:solidFill>
            </a:endParaRPr>
          </a:p>
          <a:p>
            <a:pPr lvl="1">
              <a:lnSpc>
                <a:spcPct val="90000"/>
              </a:lnSpc>
            </a:pPr>
            <a:endParaRPr lang="en-US" altLang="en-US" sz="800" dirty="0" smtClean="0">
              <a:solidFill>
                <a:schemeClr val="tx1"/>
              </a:solidFill>
            </a:endParaRPr>
          </a:p>
          <a:p>
            <a:pPr>
              <a:lnSpc>
                <a:spcPct val="90000"/>
              </a:lnSpc>
            </a:pPr>
            <a:r>
              <a:rPr lang="en-US" altLang="en-US" dirty="0" smtClean="0">
                <a:solidFill>
                  <a:schemeClr val="tx1"/>
                </a:solidFill>
              </a:rPr>
              <a:t>Breach </a:t>
            </a:r>
            <a:r>
              <a:rPr lang="pl-PL" altLang="en-US" dirty="0" smtClean="0">
                <a:solidFill>
                  <a:schemeClr val="tx1"/>
                </a:solidFill>
              </a:rPr>
              <a:t>on Data </a:t>
            </a:r>
            <a:r>
              <a:rPr lang="en-US" altLang="en-US" dirty="0" smtClean="0">
                <a:solidFill>
                  <a:schemeClr val="tx1"/>
                </a:solidFill>
              </a:rPr>
              <a:t>Integrity</a:t>
            </a:r>
          </a:p>
          <a:p>
            <a:pPr lvl="1">
              <a:lnSpc>
                <a:spcPct val="90000"/>
              </a:lnSpc>
            </a:pPr>
            <a:r>
              <a:rPr lang="pl-PL" altLang="en-US" dirty="0" smtClean="0">
                <a:solidFill>
                  <a:schemeClr val="tx1"/>
                </a:solidFill>
              </a:rPr>
              <a:t>Modification: s</a:t>
            </a:r>
            <a:r>
              <a:rPr lang="en-US" altLang="en-US" dirty="0" smtClean="0">
                <a:solidFill>
                  <a:schemeClr val="tx1"/>
                </a:solidFill>
              </a:rPr>
              <a:t>alami attack -&gt; little bits add up</a:t>
            </a:r>
            <a:endParaRPr lang="pl-PL" altLang="en-US" dirty="0" smtClean="0">
              <a:solidFill>
                <a:schemeClr val="tx1"/>
              </a:solidFill>
            </a:endParaRPr>
          </a:p>
          <a:p>
            <a:pPr lvl="2">
              <a:lnSpc>
                <a:spcPct val="90000"/>
              </a:lnSpc>
            </a:pPr>
            <a:r>
              <a:rPr lang="pl-PL" altLang="en-US" dirty="0" smtClean="0">
                <a:solidFill>
                  <a:schemeClr val="tx1"/>
                </a:solidFill>
              </a:rPr>
              <a:t>E.g</a:t>
            </a:r>
            <a:r>
              <a:rPr lang="en-US" altLang="en-US" dirty="0" smtClean="0">
                <a:solidFill>
                  <a:schemeClr val="tx1"/>
                </a:solidFill>
              </a:rPr>
              <a:t>: </a:t>
            </a:r>
            <a:r>
              <a:rPr lang="pl-PL" altLang="en-US" dirty="0" smtClean="0">
                <a:solidFill>
                  <a:schemeClr val="tx1"/>
                </a:solidFill>
              </a:rPr>
              <a:t>have off” the fractions of cents after interest calculations</a:t>
            </a:r>
            <a:endParaRPr lang="en-US" altLang="en-US" dirty="0" smtClean="0">
              <a:solidFill>
                <a:schemeClr val="tx1"/>
              </a:solidFill>
            </a:endParaRPr>
          </a:p>
          <a:p>
            <a:pPr marL="914400" lvl="2" indent="0">
              <a:lnSpc>
                <a:spcPct val="90000"/>
              </a:lnSpc>
              <a:buNone/>
            </a:pPr>
            <a:endParaRPr lang="en-US" altLang="en-US" dirty="0" smtClean="0">
              <a:solidFill>
                <a:schemeClr val="tx1"/>
              </a:solidFill>
            </a:endParaRPr>
          </a:p>
          <a:p>
            <a:pPr>
              <a:lnSpc>
                <a:spcPct val="90000"/>
              </a:lnSpc>
            </a:pPr>
            <a:r>
              <a:rPr lang="en-US" altLang="en-US" dirty="0" smtClean="0">
                <a:solidFill>
                  <a:schemeClr val="tx1"/>
                </a:solidFill>
              </a:rPr>
              <a:t>Breach </a:t>
            </a:r>
            <a:r>
              <a:rPr lang="pl-PL" altLang="en-US" dirty="0" smtClean="0">
                <a:solidFill>
                  <a:schemeClr val="tx1"/>
                </a:solidFill>
              </a:rPr>
              <a:t>on Data Availability</a:t>
            </a:r>
          </a:p>
          <a:p>
            <a:pPr lvl="1">
              <a:lnSpc>
                <a:spcPct val="90000"/>
              </a:lnSpc>
            </a:pPr>
            <a:r>
              <a:rPr lang="en-US" altLang="en-US" dirty="0" smtClean="0">
                <a:solidFill>
                  <a:schemeClr val="tx1"/>
                </a:solidFill>
              </a:rPr>
              <a:t>Dos attack</a:t>
            </a:r>
            <a:endParaRPr lang="pl-PL" altLang="en-US" dirty="0" smtClean="0">
              <a:solidFill>
                <a:schemeClr val="tx1"/>
              </a:solidFill>
            </a:endParaRPr>
          </a:p>
          <a:p>
            <a:endParaRPr lang="en-US" dirty="0"/>
          </a:p>
        </p:txBody>
      </p:sp>
    </p:spTree>
    <p:extLst>
      <p:ext uri="{BB962C8B-B14F-4D97-AF65-F5344CB8AC3E}">
        <p14:creationId xmlns:p14="http://schemas.microsoft.com/office/powerpoint/2010/main" val="14478453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360609" y="566670"/>
            <a:ext cx="10051806" cy="485844"/>
          </a:xfrm>
        </p:spPr>
        <p:txBody>
          <a:bodyPr>
            <a:normAutofit fontScale="90000"/>
          </a:bodyPr>
          <a:lstStyle/>
          <a:p>
            <a:pPr marL="342900" lvl="1" indent="-342900"/>
            <a:r>
              <a:rPr lang="en-US" sz="4000" dirty="0" smtClean="0">
                <a:ea typeface="宋体" pitchFamily="2" charset="-122"/>
              </a:rPr>
              <a:t/>
            </a:r>
            <a:br>
              <a:rPr lang="en-US" sz="4000" dirty="0" smtClean="0">
                <a:ea typeface="宋体" pitchFamily="2" charset="-122"/>
              </a:rPr>
            </a:br>
            <a:r>
              <a:rPr lang="en-US" sz="4000" dirty="0" smtClean="0">
                <a:ea typeface="宋体" pitchFamily="2" charset="-122"/>
              </a:rPr>
              <a:t>The security violations - </a:t>
            </a:r>
            <a:r>
              <a:rPr lang="en-US" sz="4000" dirty="0" smtClean="0">
                <a:latin typeface="Helvetica" charset="0"/>
                <a:ea typeface="ＭＳ Ｐゴシック" charset="0"/>
              </a:rPr>
              <a:t>Methods</a:t>
            </a:r>
            <a:r>
              <a:rPr lang="en-US" dirty="0" smtClean="0">
                <a:latin typeface="Helvetica" charset="0"/>
                <a:ea typeface="ＭＳ Ｐゴシック" charset="0"/>
              </a:rPr>
              <a:t/>
            </a:r>
            <a:br>
              <a:rPr lang="en-US" dirty="0" smtClean="0">
                <a:latin typeface="Helvetica" charset="0"/>
                <a:ea typeface="ＭＳ Ｐゴシック" charset="0"/>
              </a:rPr>
            </a:br>
            <a:endParaRPr lang="en-US" altLang="en-US" dirty="0" smtClean="0"/>
          </a:p>
        </p:txBody>
      </p:sp>
      <p:sp>
        <p:nvSpPr>
          <p:cNvPr id="3" name="Content Placeholder 2"/>
          <p:cNvSpPr>
            <a:spLocks noGrp="1"/>
          </p:cNvSpPr>
          <p:nvPr>
            <p:ph idx="1"/>
          </p:nvPr>
        </p:nvSpPr>
        <p:spPr>
          <a:xfrm>
            <a:off x="502277" y="1352282"/>
            <a:ext cx="9838700" cy="4732606"/>
          </a:xfrm>
        </p:spPr>
        <p:txBody>
          <a:bodyPr>
            <a:normAutofit/>
          </a:bodyPr>
          <a:lstStyle/>
          <a:p>
            <a:pPr marL="914400" lvl="2" indent="0">
              <a:buNone/>
              <a:defRPr/>
            </a:pPr>
            <a:endParaRPr lang="en-US" sz="3200" dirty="0">
              <a:latin typeface="Helvetica" charset="0"/>
              <a:ea typeface="ＭＳ Ｐゴシック" charset="0"/>
            </a:endParaRPr>
          </a:p>
          <a:p>
            <a:pPr lvl="2">
              <a:buFont typeface="Times New Roman" pitchFamily="16" charset="0"/>
              <a:buChar char="•"/>
              <a:defRPr/>
            </a:pPr>
            <a:r>
              <a:rPr lang="en-US" sz="3200" dirty="0">
                <a:latin typeface="Helvetica" charset="0"/>
                <a:ea typeface="ＭＳ Ｐゴシック" charset="0"/>
              </a:rPr>
              <a:t>Replay </a:t>
            </a:r>
            <a:r>
              <a:rPr lang="en-US" sz="3200" dirty="0" smtClean="0">
                <a:latin typeface="Helvetica" charset="0"/>
                <a:ea typeface="ＭＳ Ｐゴシック" charset="0"/>
              </a:rPr>
              <a:t>attack</a:t>
            </a:r>
          </a:p>
          <a:p>
            <a:pPr marL="914400" lvl="2" indent="0">
              <a:buNone/>
              <a:defRPr/>
            </a:pPr>
            <a:endParaRPr lang="en-US" sz="3200" dirty="0" smtClean="0">
              <a:latin typeface="Helvetica" charset="0"/>
              <a:ea typeface="ＭＳ Ｐゴシック" charset="0"/>
            </a:endParaRPr>
          </a:p>
          <a:p>
            <a:pPr lvl="3">
              <a:buFont typeface="Times New Roman" pitchFamily="16" charset="0"/>
              <a:buChar char="–"/>
              <a:defRPr/>
            </a:pPr>
            <a:r>
              <a:rPr lang="en-US" sz="3200" dirty="0" smtClean="0">
                <a:latin typeface="Helvetica" charset="0"/>
                <a:ea typeface="ＭＳ Ｐゴシック" charset="0"/>
              </a:rPr>
              <a:t>Gathering information</a:t>
            </a:r>
          </a:p>
          <a:p>
            <a:pPr lvl="3">
              <a:buFont typeface="Times New Roman" pitchFamily="16" charset="0"/>
              <a:buChar char="–"/>
              <a:defRPr/>
            </a:pPr>
            <a:endParaRPr lang="en-US" sz="3200" dirty="0" smtClean="0">
              <a:latin typeface="Helvetica" charset="0"/>
              <a:ea typeface="ＭＳ Ｐゴシック" charset="0"/>
            </a:endParaRPr>
          </a:p>
          <a:p>
            <a:pPr lvl="3">
              <a:buFont typeface="Times New Roman" pitchFamily="16" charset="0"/>
              <a:buChar char="–"/>
              <a:defRPr/>
            </a:pPr>
            <a:r>
              <a:rPr lang="en-US" sz="3200" dirty="0" smtClean="0">
                <a:latin typeface="Helvetica" charset="0"/>
                <a:ea typeface="ＭＳ Ｐゴシック" charset="0"/>
              </a:rPr>
              <a:t>Message is transmitted over the network</a:t>
            </a:r>
          </a:p>
          <a:p>
            <a:pPr lvl="4">
              <a:buFont typeface="Times New Roman" pitchFamily="16" charset="0"/>
              <a:buChar char="–"/>
              <a:defRPr/>
            </a:pPr>
            <a:r>
              <a:rPr lang="en-US" sz="3200" dirty="0" smtClean="0">
                <a:latin typeface="Helvetica" charset="0"/>
                <a:ea typeface="ＭＳ Ｐゴシック" charset="0"/>
              </a:rPr>
              <a:t>Network tap</a:t>
            </a:r>
          </a:p>
          <a:p>
            <a:pPr lvl="4">
              <a:buFont typeface="Times New Roman" pitchFamily="16" charset="0"/>
              <a:buChar char="–"/>
              <a:defRPr/>
            </a:pPr>
            <a:r>
              <a:rPr lang="en-US" sz="3200" dirty="0" smtClean="0">
                <a:latin typeface="Helvetica" charset="0"/>
                <a:ea typeface="ＭＳ Ｐゴシック" charset="0"/>
              </a:rPr>
              <a:t>ARP poisoning</a:t>
            </a:r>
          </a:p>
          <a:p>
            <a:pPr lvl="4">
              <a:buFont typeface="Times New Roman" pitchFamily="16" charset="0"/>
              <a:buChar char="–"/>
              <a:defRPr/>
            </a:pPr>
            <a:r>
              <a:rPr lang="en-US" sz="3200" dirty="0" smtClean="0">
                <a:latin typeface="Helvetica" charset="0"/>
                <a:ea typeface="ＭＳ Ｐゴシック" charset="0"/>
              </a:rPr>
              <a:t>Malwares</a:t>
            </a:r>
          </a:p>
          <a:p>
            <a:pPr lvl="4">
              <a:buFont typeface="Times New Roman" pitchFamily="16" charset="0"/>
              <a:buChar char="–"/>
              <a:defRPr/>
            </a:pPr>
            <a:endParaRPr lang="en-US" sz="3200" dirty="0" smtClean="0">
              <a:latin typeface="Helvetica" charset="0"/>
              <a:ea typeface="ＭＳ Ｐゴシック" charset="0"/>
            </a:endParaRPr>
          </a:p>
          <a:p>
            <a:pPr lvl="3">
              <a:buFont typeface="Times New Roman" pitchFamily="16" charset="0"/>
              <a:buChar char="–"/>
              <a:defRPr/>
            </a:pPr>
            <a:endParaRPr lang="en-US" sz="3200" dirty="0">
              <a:latin typeface="Helvetica" charset="0"/>
              <a:ea typeface="ＭＳ Ｐゴシック" charset="0"/>
            </a:endParaRPr>
          </a:p>
          <a:p>
            <a:pPr marL="914400" lvl="2" indent="0">
              <a:buNone/>
              <a:defRPr/>
            </a:pPr>
            <a:endParaRPr lang="en-US" sz="3200" dirty="0">
              <a:latin typeface="Helvetica" charset="0"/>
              <a:ea typeface="ＭＳ Ｐゴシック" charset="0"/>
            </a:endParaRPr>
          </a:p>
          <a:p>
            <a:pPr lvl="2">
              <a:buFont typeface="Times New Roman" pitchFamily="16" charset="0"/>
              <a:buChar char="•"/>
              <a:defRPr/>
            </a:pPr>
            <a:endParaRPr lang="en-US" sz="3200" dirty="0">
              <a:latin typeface="Helvetica" charset="0"/>
              <a:ea typeface="ＭＳ Ｐゴシック" charset="0"/>
            </a:endParaRPr>
          </a:p>
          <a:p>
            <a:pPr marL="0" indent="0">
              <a:buNone/>
              <a:defRPr/>
            </a:pPr>
            <a:endParaRPr lang="en-US" dirty="0">
              <a:latin typeface="Times New Roman"/>
              <a:ea typeface="宋体" pitchFamily="2" charset="-122"/>
              <a:cs typeface="Times New Roman"/>
            </a:endParaRPr>
          </a:p>
        </p:txBody>
      </p:sp>
    </p:spTree>
    <p:extLst>
      <p:ext uri="{BB962C8B-B14F-4D97-AF65-F5344CB8AC3E}">
        <p14:creationId xmlns:p14="http://schemas.microsoft.com/office/powerpoint/2010/main" val="10301033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a typeface="宋体" pitchFamily="2" charset="-122"/>
              </a:rPr>
              <a:t/>
            </a:r>
            <a:br>
              <a:rPr lang="en-US" dirty="0">
                <a:ea typeface="宋体" pitchFamily="2" charset="-122"/>
              </a:rPr>
            </a:br>
            <a:r>
              <a:rPr lang="en-US" b="1" dirty="0">
                <a:ea typeface="宋体" pitchFamily="2" charset="-122"/>
              </a:rPr>
              <a:t>The security violations - </a:t>
            </a:r>
            <a:r>
              <a:rPr lang="en-US" b="1" dirty="0">
                <a:latin typeface="Helvetica" charset="0"/>
                <a:ea typeface="ＭＳ Ｐゴシック" charset="0"/>
              </a:rPr>
              <a:t>Methods</a:t>
            </a:r>
            <a:r>
              <a:rPr lang="en-US" dirty="0">
                <a:latin typeface="Helvetica" charset="0"/>
                <a:ea typeface="ＭＳ Ｐゴシック" charset="0"/>
              </a:rPr>
              <a:t/>
            </a:r>
            <a:br>
              <a:rPr lang="en-US" dirty="0">
                <a:latin typeface="Helvetica" charset="0"/>
                <a:ea typeface="ＭＳ Ｐゴシック" charset="0"/>
              </a:rPr>
            </a:br>
            <a:endParaRPr lang="en-US" dirty="0"/>
          </a:p>
        </p:txBody>
      </p:sp>
      <p:sp>
        <p:nvSpPr>
          <p:cNvPr id="3" name="Content Placeholder 2"/>
          <p:cNvSpPr>
            <a:spLocks noGrp="1"/>
          </p:cNvSpPr>
          <p:nvPr>
            <p:ph idx="1"/>
          </p:nvPr>
        </p:nvSpPr>
        <p:spPr/>
        <p:txBody>
          <a:bodyPr/>
          <a:lstStyle/>
          <a:p>
            <a:pPr marL="228600" lvl="2">
              <a:spcBef>
                <a:spcPts val="1000"/>
              </a:spcBef>
            </a:pPr>
            <a:r>
              <a:rPr lang="en-US" sz="3200" dirty="0">
                <a:latin typeface="Helvetica" charset="0"/>
                <a:ea typeface="ＭＳ Ｐゴシック" charset="0"/>
              </a:rPr>
              <a:t>Man-in-the-middle </a:t>
            </a:r>
            <a:r>
              <a:rPr lang="en-US" sz="3200" dirty="0" smtClean="0">
                <a:latin typeface="Helvetica" charset="0"/>
                <a:ea typeface="ＭＳ Ｐゴシック" charset="0"/>
              </a:rPr>
              <a:t>attack</a:t>
            </a:r>
          </a:p>
          <a:p>
            <a:pPr marL="685800" lvl="3">
              <a:spcBef>
                <a:spcPts val="1000"/>
              </a:spcBef>
            </a:pPr>
            <a:r>
              <a:rPr lang="en-US" sz="3000" dirty="0" smtClean="0">
                <a:latin typeface="Helvetica" charset="0"/>
                <a:ea typeface="ＭＳ Ｐゴシック" charset="0"/>
              </a:rPr>
              <a:t>Redirects your traffic</a:t>
            </a:r>
          </a:p>
          <a:p>
            <a:pPr marL="685800" lvl="3">
              <a:spcBef>
                <a:spcPts val="1000"/>
              </a:spcBef>
            </a:pPr>
            <a:r>
              <a:rPr lang="en-US" sz="2800" dirty="0" smtClean="0">
                <a:latin typeface="Helvetica" charset="0"/>
                <a:ea typeface="ＭＳ Ｐゴシック" charset="0"/>
              </a:rPr>
              <a:t>ARP poisoning</a:t>
            </a:r>
          </a:p>
          <a:p>
            <a:pPr marL="685800" lvl="3">
              <a:spcBef>
                <a:spcPts val="1000"/>
              </a:spcBef>
            </a:pPr>
            <a:r>
              <a:rPr lang="en-US" sz="2800" dirty="0">
                <a:latin typeface="Helvetica" charset="0"/>
                <a:ea typeface="ＭＳ Ｐゴシック" charset="0"/>
              </a:rPr>
              <a:t>Cain and Able</a:t>
            </a:r>
          </a:p>
          <a:p>
            <a:pPr marL="685800" lvl="3">
              <a:spcBef>
                <a:spcPts val="1000"/>
              </a:spcBef>
            </a:pPr>
            <a:endParaRPr lang="en-US" sz="2800" dirty="0">
              <a:latin typeface="Helvetica" charset="0"/>
              <a:ea typeface="ＭＳ Ｐゴシック" charset="0"/>
            </a:endParaRPr>
          </a:p>
          <a:p>
            <a:pPr marL="457200" lvl="3" indent="0">
              <a:spcBef>
                <a:spcPts val="1000"/>
              </a:spcBef>
              <a:buNone/>
            </a:pPr>
            <a:endParaRPr lang="en-US" sz="3000" dirty="0" smtClean="0">
              <a:latin typeface="Helvetica" charset="0"/>
              <a:ea typeface="ＭＳ Ｐゴシック" charset="0"/>
            </a:endParaRPr>
          </a:p>
          <a:p>
            <a:pPr marL="685800" lvl="3">
              <a:spcBef>
                <a:spcPts val="1000"/>
              </a:spcBef>
            </a:pPr>
            <a:endParaRPr lang="en-US" sz="3000" dirty="0">
              <a:latin typeface="Helvetica" charset="0"/>
              <a:ea typeface="ＭＳ Ｐゴシック" charset="0"/>
            </a:endParaRPr>
          </a:p>
          <a:p>
            <a:endParaRPr lang="en-US" dirty="0"/>
          </a:p>
        </p:txBody>
      </p:sp>
      <p:pic>
        <p:nvPicPr>
          <p:cNvPr id="4" name="Picture 3"/>
          <p:cNvPicPr>
            <a:picLocks noChangeAspect="1"/>
          </p:cNvPicPr>
          <p:nvPr/>
        </p:nvPicPr>
        <p:blipFill>
          <a:blip r:embed="rId2"/>
          <a:stretch>
            <a:fillRect/>
          </a:stretch>
        </p:blipFill>
        <p:spPr>
          <a:xfrm>
            <a:off x="4652560" y="2917266"/>
            <a:ext cx="7159526" cy="3019895"/>
          </a:xfrm>
          <a:prstGeom prst="rect">
            <a:avLst/>
          </a:prstGeom>
        </p:spPr>
      </p:pic>
    </p:spTree>
    <p:extLst>
      <p:ext uri="{BB962C8B-B14F-4D97-AF65-F5344CB8AC3E}">
        <p14:creationId xmlns:p14="http://schemas.microsoft.com/office/powerpoint/2010/main" val="852544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a typeface="宋体" pitchFamily="2" charset="-122"/>
              </a:rPr>
              <a:t/>
            </a:r>
            <a:br>
              <a:rPr lang="en-US" dirty="0">
                <a:ea typeface="宋体" pitchFamily="2" charset="-122"/>
              </a:rPr>
            </a:br>
            <a:r>
              <a:rPr lang="en-US" b="1" dirty="0">
                <a:ea typeface="宋体" pitchFamily="2" charset="-122"/>
              </a:rPr>
              <a:t>The security violations - </a:t>
            </a:r>
            <a:r>
              <a:rPr lang="en-US" dirty="0">
                <a:latin typeface="Helvetica" charset="0"/>
                <a:ea typeface="ＭＳ Ｐゴシック" charset="0"/>
              </a:rPr>
              <a:t>Methods</a:t>
            </a:r>
            <a:br>
              <a:rPr lang="en-US" dirty="0">
                <a:latin typeface="Helvetica" charset="0"/>
                <a:ea typeface="ＭＳ Ｐゴシック" charset="0"/>
              </a:rPr>
            </a:br>
            <a:endParaRPr lang="en-US" dirty="0"/>
          </a:p>
        </p:txBody>
      </p:sp>
      <p:sp>
        <p:nvSpPr>
          <p:cNvPr id="3" name="Content Placeholder 2"/>
          <p:cNvSpPr>
            <a:spLocks noGrp="1"/>
          </p:cNvSpPr>
          <p:nvPr>
            <p:ph idx="1"/>
          </p:nvPr>
        </p:nvSpPr>
        <p:spPr>
          <a:xfrm>
            <a:off x="244699" y="1532586"/>
            <a:ext cx="11109101" cy="4644377"/>
          </a:xfrm>
        </p:spPr>
        <p:txBody>
          <a:bodyPr/>
          <a:lstStyle/>
          <a:p>
            <a:pPr lvl="2">
              <a:buFont typeface="Times New Roman" pitchFamily="16" charset="0"/>
              <a:buChar char="•"/>
              <a:defRPr/>
            </a:pPr>
            <a:r>
              <a:rPr lang="en-US" sz="3200" dirty="0">
                <a:latin typeface="Helvetica" charset="0"/>
                <a:ea typeface="ＭＳ Ｐゴシック" charset="0"/>
              </a:rPr>
              <a:t>Session </a:t>
            </a:r>
            <a:r>
              <a:rPr lang="en-US" sz="3200" dirty="0" smtClean="0">
                <a:latin typeface="Helvetica" charset="0"/>
                <a:ea typeface="ＭＳ Ｐゴシック" charset="0"/>
              </a:rPr>
              <a:t>hijacking</a:t>
            </a:r>
          </a:p>
          <a:p>
            <a:pPr lvl="3">
              <a:buFont typeface="Times New Roman" pitchFamily="16" charset="0"/>
              <a:buChar char="•"/>
              <a:defRPr/>
            </a:pPr>
            <a:r>
              <a:rPr lang="en-US" sz="3000" dirty="0" smtClean="0">
                <a:latin typeface="Helvetica" charset="0"/>
                <a:ea typeface="ＭＳ Ｐゴシック" charset="0"/>
              </a:rPr>
              <a:t>Used for tracking and session management</a:t>
            </a:r>
          </a:p>
          <a:p>
            <a:pPr lvl="3">
              <a:buFont typeface="Times New Roman" pitchFamily="16" charset="0"/>
              <a:buChar char="•"/>
              <a:defRPr/>
            </a:pPr>
            <a:r>
              <a:rPr lang="en-US" sz="3000" dirty="0" smtClean="0">
                <a:latin typeface="Helvetica" charset="0"/>
                <a:ea typeface="ＭＳ Ｐゴシック" charset="0"/>
              </a:rPr>
              <a:t>Privacy risk</a:t>
            </a:r>
          </a:p>
          <a:p>
            <a:pPr lvl="3">
              <a:buFont typeface="Times New Roman" pitchFamily="16" charset="0"/>
              <a:buChar char="•"/>
              <a:defRPr/>
            </a:pPr>
            <a:r>
              <a:rPr lang="en-US" sz="3000" dirty="0" smtClean="0">
                <a:latin typeface="Helvetica" charset="0"/>
                <a:ea typeface="ＭＳ Ｐゴシック" charset="0"/>
              </a:rPr>
              <a:t>Wireshark, modify headers, tamper data</a:t>
            </a:r>
          </a:p>
          <a:p>
            <a:pPr lvl="3">
              <a:buFont typeface="Times New Roman" pitchFamily="16" charset="0"/>
              <a:buChar char="•"/>
              <a:defRPr/>
            </a:pPr>
            <a:endParaRPr lang="en-US" sz="3000" dirty="0">
              <a:latin typeface="Helvetica" charset="0"/>
              <a:ea typeface="ＭＳ Ｐゴシック" charset="0"/>
            </a:endParaRPr>
          </a:p>
          <a:p>
            <a:pPr lvl="2">
              <a:buFont typeface="Times New Roman" pitchFamily="16" charset="0"/>
              <a:buChar char="•"/>
              <a:defRPr/>
            </a:pPr>
            <a:r>
              <a:rPr lang="en-US" sz="3200" dirty="0">
                <a:latin typeface="Helvetica" charset="0"/>
                <a:ea typeface="ＭＳ Ｐゴシック" charset="0"/>
              </a:rPr>
              <a:t>Masquerading (breach authentication)</a:t>
            </a:r>
          </a:p>
          <a:p>
            <a:endParaRPr lang="en-US" dirty="0"/>
          </a:p>
        </p:txBody>
      </p:sp>
    </p:spTree>
    <p:extLst>
      <p:ext uri="{BB962C8B-B14F-4D97-AF65-F5344CB8AC3E}">
        <p14:creationId xmlns:p14="http://schemas.microsoft.com/office/powerpoint/2010/main" val="3847760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342466"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342467"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342468" name="Rectangle 4"/>
          <p:cNvSpPr>
            <a:spLocks noGrp="1" noChangeArrowheads="1"/>
          </p:cNvSpPr>
          <p:nvPr>
            <p:ph type="title"/>
          </p:nvPr>
        </p:nvSpPr>
        <p:spPr bwMode="auto">
          <a:xfrm>
            <a:off x="2209800" y="0"/>
            <a:ext cx="7772400" cy="838200"/>
          </a:xfr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pl-PL" altLang="en-US" sz="4000">
                <a:solidFill>
                  <a:srgbClr val="0000FF"/>
                </a:solidFill>
              </a:rPr>
              <a:t>Types of Malicious Code</a:t>
            </a:r>
            <a:endParaRPr lang="en-US" altLang="en-US" sz="4000" dirty="0">
              <a:solidFill>
                <a:srgbClr val="0000FF"/>
              </a:solidFill>
            </a:endParaRPr>
          </a:p>
        </p:txBody>
      </p:sp>
      <p:sp>
        <p:nvSpPr>
          <p:cNvPr id="1342481" name="Text Box 17"/>
          <p:cNvSpPr txBox="1">
            <a:spLocks noChangeArrowheads="1"/>
          </p:cNvSpPr>
          <p:nvPr/>
        </p:nvSpPr>
        <p:spPr bwMode="auto">
          <a:xfrm>
            <a:off x="1524000" y="719139"/>
            <a:ext cx="9144000" cy="5778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5000"/>
              </a:spcBef>
            </a:pPr>
            <a:r>
              <a:rPr lang="en-US" altLang="en-US" sz="2000" dirty="0">
                <a:solidFill>
                  <a:srgbClr val="0000FF"/>
                </a:solidFill>
                <a:latin typeface="Times New Roman" panose="02020603050405020304" pitchFamily="18" charset="0"/>
              </a:rPr>
              <a:t>Bacterium</a:t>
            </a:r>
            <a:r>
              <a:rPr lang="en-US" altLang="en-US" sz="2000" dirty="0">
                <a:solidFill>
                  <a:srgbClr val="080808"/>
                </a:solidFill>
                <a:latin typeface="Times New Roman" panose="02020603050405020304" pitchFamily="18" charset="0"/>
              </a:rPr>
              <a:t> - </a:t>
            </a:r>
            <a:r>
              <a:rPr lang="en-US" altLang="en-US" dirty="0">
                <a:solidFill>
                  <a:srgbClr val="080808"/>
                </a:solidFill>
                <a:latin typeface="Times New Roman" panose="02020603050405020304" pitchFamily="18" charset="0"/>
              </a:rPr>
              <a:t>A specialized </a:t>
            </a:r>
            <a:r>
              <a:rPr lang="en-US" altLang="en-US" i="1" dirty="0">
                <a:solidFill>
                  <a:srgbClr val="080808"/>
                </a:solidFill>
                <a:latin typeface="Times New Roman" panose="02020603050405020304" pitchFamily="18" charset="0"/>
              </a:rPr>
              <a:t>form of virus</a:t>
            </a:r>
            <a:r>
              <a:rPr lang="en-US" altLang="en-US" dirty="0">
                <a:solidFill>
                  <a:srgbClr val="080808"/>
                </a:solidFill>
                <a:latin typeface="Times New Roman" panose="02020603050405020304" pitchFamily="18" charset="0"/>
              </a:rPr>
              <a:t> which does not attach to a specific file. Usage obscure.</a:t>
            </a:r>
            <a:r>
              <a:rPr lang="en-US" altLang="en-US" sz="2000" dirty="0">
                <a:solidFill>
                  <a:srgbClr val="080808"/>
                </a:solidFill>
                <a:latin typeface="Times New Roman" panose="02020603050405020304" pitchFamily="18" charset="0"/>
              </a:rPr>
              <a:t> </a:t>
            </a:r>
          </a:p>
          <a:p>
            <a:pPr eaLnBrk="1" hangingPunct="1">
              <a:spcBef>
                <a:spcPct val="25000"/>
              </a:spcBef>
            </a:pPr>
            <a:r>
              <a:rPr lang="en-US" altLang="en-US" sz="2000" dirty="0">
                <a:solidFill>
                  <a:srgbClr val="0000FF"/>
                </a:solidFill>
                <a:latin typeface="Times New Roman" panose="02020603050405020304" pitchFamily="18" charset="0"/>
              </a:rPr>
              <a:t>Logic bomb</a:t>
            </a:r>
            <a:r>
              <a:rPr lang="en-US" altLang="en-US" sz="2000" dirty="0">
                <a:solidFill>
                  <a:srgbClr val="080808"/>
                </a:solidFill>
                <a:latin typeface="Times New Roman" panose="02020603050405020304" pitchFamily="18" charset="0"/>
              </a:rPr>
              <a:t> - </a:t>
            </a:r>
            <a:r>
              <a:rPr lang="en-US" altLang="en-US" dirty="0">
                <a:solidFill>
                  <a:srgbClr val="080808"/>
                </a:solidFill>
                <a:latin typeface="Times New Roman" panose="02020603050405020304" pitchFamily="18" charset="0"/>
              </a:rPr>
              <a:t>Malicious </a:t>
            </a:r>
            <a:r>
              <a:rPr lang="en-US" altLang="en-US" i="1" u="sng" dirty="0">
                <a:solidFill>
                  <a:srgbClr val="080808"/>
                </a:solidFill>
                <a:latin typeface="Times New Roman" panose="02020603050405020304" pitchFamily="18" charset="0"/>
              </a:rPr>
              <a:t>[program] logic</a:t>
            </a:r>
            <a:r>
              <a:rPr lang="en-US" altLang="en-US" dirty="0">
                <a:solidFill>
                  <a:srgbClr val="080808"/>
                </a:solidFill>
                <a:latin typeface="Times New Roman" panose="02020603050405020304" pitchFamily="18" charset="0"/>
              </a:rPr>
              <a:t> that </a:t>
            </a:r>
            <a:r>
              <a:rPr lang="en-US" altLang="en-US" i="1" dirty="0">
                <a:solidFill>
                  <a:srgbClr val="080808"/>
                </a:solidFill>
                <a:latin typeface="Times New Roman" panose="02020603050405020304" pitchFamily="18" charset="0"/>
              </a:rPr>
              <a:t>activates when specified conditions are met</a:t>
            </a:r>
            <a:r>
              <a:rPr lang="en-US" altLang="en-US" dirty="0">
                <a:solidFill>
                  <a:srgbClr val="080808"/>
                </a:solidFill>
                <a:latin typeface="Times New Roman" panose="02020603050405020304" pitchFamily="18" charset="0"/>
              </a:rPr>
              <a:t>. Usually intended to cause denial of service or otherwise damage system resources.</a:t>
            </a:r>
          </a:p>
          <a:p>
            <a:pPr eaLnBrk="1" hangingPunct="1">
              <a:spcBef>
                <a:spcPct val="25000"/>
              </a:spcBef>
            </a:pPr>
            <a:r>
              <a:rPr lang="en-US" altLang="en-US" sz="2000" dirty="0">
                <a:solidFill>
                  <a:srgbClr val="0000FF"/>
                </a:solidFill>
                <a:latin typeface="Times New Roman" panose="02020603050405020304" pitchFamily="18" charset="0"/>
              </a:rPr>
              <a:t>Trapdoor</a:t>
            </a:r>
            <a:r>
              <a:rPr lang="en-US" altLang="en-US" sz="2000" dirty="0">
                <a:solidFill>
                  <a:srgbClr val="080808"/>
                </a:solidFill>
                <a:latin typeface="Times New Roman" panose="02020603050405020304" pitchFamily="18" charset="0"/>
              </a:rPr>
              <a:t> - </a:t>
            </a:r>
            <a:r>
              <a:rPr lang="en-US" altLang="en-US" dirty="0">
                <a:solidFill>
                  <a:srgbClr val="080808"/>
                </a:solidFill>
                <a:latin typeface="Times New Roman" panose="02020603050405020304" pitchFamily="18" charset="0"/>
              </a:rPr>
              <a:t>A hidden </a:t>
            </a:r>
            <a:r>
              <a:rPr lang="en-US" altLang="en-US" i="1" dirty="0">
                <a:solidFill>
                  <a:srgbClr val="080808"/>
                </a:solidFill>
                <a:latin typeface="Times New Roman" panose="02020603050405020304" pitchFamily="18" charset="0"/>
              </a:rPr>
              <a:t>computer </a:t>
            </a:r>
            <a:r>
              <a:rPr lang="en-US" altLang="en-US" i="1" u="sng" dirty="0">
                <a:solidFill>
                  <a:srgbClr val="080808"/>
                </a:solidFill>
                <a:latin typeface="Times New Roman" panose="02020603050405020304" pitchFamily="18" charset="0"/>
              </a:rPr>
              <a:t>flaw</a:t>
            </a:r>
            <a:r>
              <a:rPr lang="en-US" altLang="en-US" dirty="0">
                <a:solidFill>
                  <a:srgbClr val="080808"/>
                </a:solidFill>
                <a:latin typeface="Times New Roman" panose="02020603050405020304" pitchFamily="18" charset="0"/>
              </a:rPr>
              <a:t> </a:t>
            </a:r>
            <a:r>
              <a:rPr lang="en-US" altLang="en-US" i="1" dirty="0">
                <a:solidFill>
                  <a:srgbClr val="080808"/>
                </a:solidFill>
                <a:latin typeface="Times New Roman" panose="02020603050405020304" pitchFamily="18" charset="0"/>
              </a:rPr>
              <a:t>known to an intruder</a:t>
            </a:r>
            <a:r>
              <a:rPr lang="en-US" altLang="en-US" dirty="0">
                <a:solidFill>
                  <a:srgbClr val="080808"/>
                </a:solidFill>
                <a:latin typeface="Times New Roman" panose="02020603050405020304" pitchFamily="18" charset="0"/>
              </a:rPr>
              <a:t>, or a hidden computer mechanism (usually software) installed by an intruder, </a:t>
            </a:r>
            <a:r>
              <a:rPr lang="en-US" altLang="en-US" i="1" dirty="0">
                <a:solidFill>
                  <a:srgbClr val="080808"/>
                </a:solidFill>
                <a:latin typeface="Times New Roman" panose="02020603050405020304" pitchFamily="18" charset="0"/>
              </a:rPr>
              <a:t>who</a:t>
            </a:r>
            <a:r>
              <a:rPr lang="en-US" altLang="en-US" dirty="0">
                <a:solidFill>
                  <a:srgbClr val="080808"/>
                </a:solidFill>
                <a:latin typeface="Times New Roman" panose="02020603050405020304" pitchFamily="18" charset="0"/>
              </a:rPr>
              <a:t> </a:t>
            </a:r>
            <a:r>
              <a:rPr lang="en-US" altLang="en-US" i="1" dirty="0">
                <a:solidFill>
                  <a:srgbClr val="080808"/>
                </a:solidFill>
                <a:latin typeface="Times New Roman" panose="02020603050405020304" pitchFamily="18" charset="0"/>
              </a:rPr>
              <a:t>can activate the trap door to gain access</a:t>
            </a:r>
            <a:r>
              <a:rPr lang="en-US" altLang="en-US" dirty="0">
                <a:solidFill>
                  <a:srgbClr val="080808"/>
                </a:solidFill>
                <a:latin typeface="Times New Roman" panose="02020603050405020304" pitchFamily="18" charset="0"/>
              </a:rPr>
              <a:t> to the computer without being blocked by security services or mechanisms.</a:t>
            </a:r>
          </a:p>
          <a:p>
            <a:pPr eaLnBrk="1" hangingPunct="1">
              <a:spcBef>
                <a:spcPct val="25000"/>
              </a:spcBef>
            </a:pPr>
            <a:r>
              <a:rPr lang="en-US" altLang="en-US" sz="2000" dirty="0">
                <a:solidFill>
                  <a:srgbClr val="0000FF"/>
                </a:solidFill>
                <a:latin typeface="Times New Roman" panose="02020603050405020304" pitchFamily="18" charset="0"/>
              </a:rPr>
              <a:t>Trojan horse</a:t>
            </a:r>
            <a:r>
              <a:rPr lang="en-US" altLang="en-US" sz="2000" dirty="0">
                <a:solidFill>
                  <a:srgbClr val="080808"/>
                </a:solidFill>
                <a:latin typeface="Times New Roman" panose="02020603050405020304" pitchFamily="18" charset="0"/>
              </a:rPr>
              <a:t> - A </a:t>
            </a:r>
            <a:r>
              <a:rPr lang="en-US" altLang="en-US" dirty="0">
                <a:solidFill>
                  <a:srgbClr val="080808"/>
                </a:solidFill>
                <a:latin typeface="Times New Roman" panose="02020603050405020304" pitchFamily="18" charset="0"/>
              </a:rPr>
              <a:t>computer </a:t>
            </a:r>
            <a:r>
              <a:rPr lang="en-US" altLang="en-US" i="1" u="sng" dirty="0">
                <a:solidFill>
                  <a:srgbClr val="080808"/>
                </a:solidFill>
                <a:latin typeface="Times New Roman" panose="02020603050405020304" pitchFamily="18" charset="0"/>
              </a:rPr>
              <a:t>program</a:t>
            </a:r>
            <a:r>
              <a:rPr lang="en-US" altLang="en-US" i="1" dirty="0">
                <a:solidFill>
                  <a:srgbClr val="080808"/>
                </a:solidFill>
                <a:latin typeface="Times New Roman" panose="02020603050405020304" pitchFamily="18" charset="0"/>
              </a:rPr>
              <a:t> that appears to have a useful function</a:t>
            </a:r>
            <a:r>
              <a:rPr lang="en-US" altLang="en-US" dirty="0">
                <a:solidFill>
                  <a:srgbClr val="080808"/>
                </a:solidFill>
                <a:latin typeface="Times New Roman" panose="02020603050405020304" pitchFamily="18" charset="0"/>
              </a:rPr>
              <a:t>, but also has a hidden and potentially malicious function that evades security mechanisms, sometimes by exploiting legitimate authorizations of a system entity that invokes the program.</a:t>
            </a:r>
            <a:r>
              <a:rPr lang="en-US" altLang="en-US" sz="2000" dirty="0">
                <a:solidFill>
                  <a:srgbClr val="080808"/>
                </a:solidFill>
                <a:latin typeface="Times New Roman" panose="02020603050405020304" pitchFamily="18" charset="0"/>
              </a:rPr>
              <a:t> </a:t>
            </a:r>
          </a:p>
          <a:p>
            <a:pPr eaLnBrk="1" hangingPunct="1">
              <a:spcBef>
                <a:spcPct val="25000"/>
              </a:spcBef>
            </a:pPr>
            <a:r>
              <a:rPr lang="en-US" altLang="en-US" sz="2000" dirty="0">
                <a:solidFill>
                  <a:srgbClr val="0000FF"/>
                </a:solidFill>
                <a:latin typeface="Times New Roman" panose="02020603050405020304" pitchFamily="18" charset="0"/>
              </a:rPr>
              <a:t>Virus</a:t>
            </a:r>
            <a:r>
              <a:rPr lang="en-US" altLang="en-US" sz="2000" dirty="0">
                <a:solidFill>
                  <a:srgbClr val="080808"/>
                </a:solidFill>
                <a:latin typeface="Times New Roman" panose="02020603050405020304" pitchFamily="18" charset="0"/>
              </a:rPr>
              <a:t> - </a:t>
            </a:r>
            <a:r>
              <a:rPr lang="en-US" altLang="en-US" dirty="0">
                <a:solidFill>
                  <a:srgbClr val="080808"/>
                </a:solidFill>
                <a:latin typeface="Times New Roman" panose="02020603050405020304" pitchFamily="18" charset="0"/>
              </a:rPr>
              <a:t>A hidden, </a:t>
            </a:r>
            <a:r>
              <a:rPr lang="en-US" altLang="en-US" i="1" dirty="0">
                <a:solidFill>
                  <a:srgbClr val="080808"/>
                </a:solidFill>
                <a:latin typeface="Times New Roman" panose="02020603050405020304" pitchFamily="18" charset="0"/>
              </a:rPr>
              <a:t>self-replicating </a:t>
            </a:r>
            <a:r>
              <a:rPr lang="en-US" altLang="en-US" i="1" u="sng" dirty="0">
                <a:solidFill>
                  <a:srgbClr val="080808"/>
                </a:solidFill>
                <a:latin typeface="Times New Roman" panose="02020603050405020304" pitchFamily="18" charset="0"/>
              </a:rPr>
              <a:t>section of computer software</a:t>
            </a:r>
            <a:r>
              <a:rPr lang="en-US" altLang="en-US" dirty="0">
                <a:solidFill>
                  <a:srgbClr val="080808"/>
                </a:solidFill>
                <a:latin typeface="Times New Roman" panose="02020603050405020304" pitchFamily="18" charset="0"/>
              </a:rPr>
              <a:t>, usually malicious logic, that </a:t>
            </a:r>
            <a:r>
              <a:rPr lang="en-US" altLang="en-US" i="1" dirty="0">
                <a:solidFill>
                  <a:srgbClr val="080808"/>
                </a:solidFill>
                <a:latin typeface="Times New Roman" panose="02020603050405020304" pitchFamily="18" charset="0"/>
              </a:rPr>
              <a:t>propagates by infecting</a:t>
            </a:r>
            <a:r>
              <a:rPr lang="pl-PL" altLang="en-US">
                <a:solidFill>
                  <a:srgbClr val="080808"/>
                </a:solidFill>
                <a:latin typeface="Times New Roman" panose="02020603050405020304" pitchFamily="18" charset="0"/>
              </a:rPr>
              <a:t> </a:t>
            </a:r>
            <a:r>
              <a:rPr lang="pl-PL" altLang="en-US">
                <a:solidFill>
                  <a:srgbClr val="969696"/>
                </a:solidFill>
                <a:latin typeface="Times New Roman" panose="02020603050405020304" pitchFamily="18" charset="0"/>
              </a:rPr>
              <a:t>(</a:t>
            </a:r>
            <a:r>
              <a:rPr lang="en-US" altLang="en-US" dirty="0">
                <a:solidFill>
                  <a:srgbClr val="969696"/>
                </a:solidFill>
                <a:latin typeface="Times New Roman" panose="02020603050405020304" pitchFamily="18" charset="0"/>
              </a:rPr>
              <a:t>i.e., inserting a copy of itself into and </a:t>
            </a:r>
            <a:r>
              <a:rPr lang="en-US" altLang="en-US" i="1" dirty="0">
                <a:solidFill>
                  <a:srgbClr val="969696"/>
                </a:solidFill>
                <a:latin typeface="Times New Roman" panose="02020603050405020304" pitchFamily="18" charset="0"/>
              </a:rPr>
              <a:t>becoming part of</a:t>
            </a:r>
            <a:r>
              <a:rPr lang="pl-PL" altLang="en-US" i="1">
                <a:solidFill>
                  <a:srgbClr val="969696"/>
                </a:solidFill>
                <a:latin typeface="Times New Roman" panose="02020603050405020304" pitchFamily="18" charset="0"/>
              </a:rPr>
              <a:t>)</a:t>
            </a:r>
            <a:r>
              <a:rPr lang="pl-PL" altLang="en-US" i="1">
                <a:solidFill>
                  <a:srgbClr val="080808"/>
                </a:solidFill>
                <a:latin typeface="Times New Roman" panose="02020603050405020304" pitchFamily="18" charset="0"/>
              </a:rPr>
              <a:t> </a:t>
            </a:r>
            <a:r>
              <a:rPr lang="en-US" altLang="en-US" i="1" dirty="0">
                <a:solidFill>
                  <a:srgbClr val="080808"/>
                </a:solidFill>
                <a:latin typeface="Times New Roman" panose="02020603050405020304" pitchFamily="18" charset="0"/>
              </a:rPr>
              <a:t>another program</a:t>
            </a:r>
            <a:r>
              <a:rPr lang="en-US" altLang="en-US" dirty="0">
                <a:solidFill>
                  <a:srgbClr val="080808"/>
                </a:solidFill>
                <a:latin typeface="Times New Roman" panose="02020603050405020304" pitchFamily="18" charset="0"/>
              </a:rPr>
              <a:t>. A virus cannot run by itself; it requires that its host program be run to make the virus active.</a:t>
            </a:r>
          </a:p>
          <a:p>
            <a:pPr eaLnBrk="1" hangingPunct="1">
              <a:spcBef>
                <a:spcPct val="25000"/>
              </a:spcBef>
            </a:pPr>
            <a:r>
              <a:rPr lang="en-US" altLang="en-US" sz="2000" dirty="0">
                <a:solidFill>
                  <a:srgbClr val="0000FF"/>
                </a:solidFill>
                <a:latin typeface="Times New Roman" panose="02020603050405020304" pitchFamily="18" charset="0"/>
              </a:rPr>
              <a:t>Worm</a:t>
            </a:r>
            <a:r>
              <a:rPr lang="en-US" altLang="en-US" sz="2000" dirty="0">
                <a:solidFill>
                  <a:srgbClr val="080808"/>
                </a:solidFill>
                <a:latin typeface="Times New Roman" panose="02020603050405020304" pitchFamily="18" charset="0"/>
              </a:rPr>
              <a:t> - </a:t>
            </a:r>
            <a:r>
              <a:rPr lang="en-US" altLang="en-US" dirty="0">
                <a:solidFill>
                  <a:srgbClr val="080808"/>
                </a:solidFill>
                <a:latin typeface="Times New Roman" panose="02020603050405020304" pitchFamily="18" charset="0"/>
              </a:rPr>
              <a:t>A computer </a:t>
            </a:r>
            <a:r>
              <a:rPr lang="en-US" altLang="en-US" i="1" u="sng" dirty="0">
                <a:solidFill>
                  <a:srgbClr val="080808"/>
                </a:solidFill>
                <a:latin typeface="Times New Roman" panose="02020603050405020304" pitchFamily="18" charset="0"/>
              </a:rPr>
              <a:t>program</a:t>
            </a:r>
            <a:r>
              <a:rPr lang="en-US" altLang="en-US" dirty="0">
                <a:solidFill>
                  <a:srgbClr val="080808"/>
                </a:solidFill>
                <a:latin typeface="Times New Roman" panose="02020603050405020304" pitchFamily="18" charset="0"/>
              </a:rPr>
              <a:t> that can run independently, </a:t>
            </a:r>
            <a:r>
              <a:rPr lang="en-US" altLang="en-US" i="1" dirty="0">
                <a:solidFill>
                  <a:srgbClr val="080808"/>
                </a:solidFill>
                <a:latin typeface="Times New Roman" panose="02020603050405020304" pitchFamily="18" charset="0"/>
              </a:rPr>
              <a:t>can propagate a complete working version of itself</a:t>
            </a:r>
            <a:r>
              <a:rPr lang="en-US" altLang="en-US" dirty="0">
                <a:solidFill>
                  <a:srgbClr val="080808"/>
                </a:solidFill>
                <a:latin typeface="Times New Roman" panose="02020603050405020304" pitchFamily="18" charset="0"/>
              </a:rPr>
              <a:t> onto other hosts on a network, and may consume computer resources destructively.</a:t>
            </a:r>
          </a:p>
          <a:p>
            <a:pPr eaLnBrk="1" hangingPunct="1">
              <a:spcBef>
                <a:spcPct val="25000"/>
              </a:spcBef>
            </a:pPr>
            <a:endParaRPr lang="en-US" altLang="en-US" dirty="0">
              <a:solidFill>
                <a:srgbClr val="080808"/>
              </a:solidFill>
              <a:latin typeface="Times New Roman" panose="02020603050405020304" pitchFamily="18" charset="0"/>
            </a:endParaRPr>
          </a:p>
          <a:p>
            <a:pPr eaLnBrk="1" hangingPunct="1"/>
            <a:r>
              <a:rPr lang="en-US" altLang="en-US" sz="2000" dirty="0">
                <a:solidFill>
                  <a:srgbClr val="0000FF"/>
                </a:solidFill>
                <a:latin typeface="Times New Roman" panose="02020603050405020304" pitchFamily="18" charset="0"/>
              </a:rPr>
              <a:t>More types of malicious code exist</a:t>
            </a:r>
            <a:r>
              <a:rPr lang="en-US" altLang="en-US" dirty="0">
                <a:solidFill>
                  <a:srgbClr val="080808"/>
                </a:solidFill>
                <a:latin typeface="Times New Roman" panose="02020603050405020304" pitchFamily="18" charset="0"/>
              </a:rPr>
              <a:t>…</a:t>
            </a:r>
            <a:r>
              <a:rPr lang="pl-PL" altLang="en-US" sz="1200">
                <a:solidFill>
                  <a:srgbClr val="080808"/>
                </a:solidFill>
                <a:latin typeface="Times New Roman" panose="02020603050405020304" pitchFamily="18" charset="0"/>
              </a:rPr>
              <a:t>	         </a:t>
            </a:r>
            <a:r>
              <a:rPr lang="en-US" altLang="en-US" sz="1200" dirty="0">
                <a:solidFill>
                  <a:srgbClr val="080808"/>
                </a:solidFill>
                <a:latin typeface="Times New Roman" panose="02020603050405020304" pitchFamily="18" charset="0"/>
              </a:rPr>
              <a:t>		[cf. http://www.ietf.org/rfc/rfc2828.txt]</a:t>
            </a:r>
          </a:p>
        </p:txBody>
      </p:sp>
    </p:spTree>
    <p:extLst>
      <p:ext uri="{BB962C8B-B14F-4D97-AF65-F5344CB8AC3E}">
        <p14:creationId xmlns:p14="http://schemas.microsoft.com/office/powerpoint/2010/main" val="157252254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342468">
                                            <p:txEl>
                                              <p:pRg st="0" end="0"/>
                                            </p:txEl>
                                          </p:spTgt>
                                        </p:tgtEl>
                                        <p:attrNameLst>
                                          <p:attrName>style.visibility</p:attrName>
                                        </p:attrNameLst>
                                      </p:cBhvr>
                                      <p:to>
                                        <p:strVal val="visible"/>
                                      </p:to>
                                    </p:set>
                                    <p:animEffect transition="in" filter="blinds(horizontal)">
                                      <p:cBhvr>
                                        <p:cTn id="7" dur="500"/>
                                        <p:tgtEl>
                                          <p:spTgt spid="134246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2468" grpId="0" build="p" autoUpdateAnimBg="0"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59963" y="257310"/>
            <a:ext cx="8564563" cy="576263"/>
          </a:xfrm>
        </p:spPr>
        <p:txBody>
          <a:bodyPr>
            <a:normAutofit fontScale="90000"/>
          </a:bodyPr>
          <a:lstStyle/>
          <a:p>
            <a:pPr marL="342900" indent="-342900"/>
            <a:r>
              <a:rPr lang="en-US" altLang="en-US" dirty="0" smtClean="0"/>
              <a:t>Program threats</a:t>
            </a:r>
          </a:p>
        </p:txBody>
      </p:sp>
      <p:sp>
        <p:nvSpPr>
          <p:cNvPr id="3" name="Content Placeholder 2"/>
          <p:cNvSpPr>
            <a:spLocks noGrp="1"/>
          </p:cNvSpPr>
          <p:nvPr>
            <p:ph idx="1"/>
          </p:nvPr>
        </p:nvSpPr>
        <p:spPr>
          <a:xfrm>
            <a:off x="309093" y="1403796"/>
            <a:ext cx="10031883" cy="4681091"/>
          </a:xfrm>
        </p:spPr>
        <p:txBody>
          <a:bodyPr/>
          <a:lstStyle/>
          <a:p>
            <a:pPr>
              <a:buFont typeface="Times New Roman" pitchFamily="16" charset="0"/>
              <a:buChar char="•"/>
              <a:defRPr/>
            </a:pPr>
            <a:r>
              <a:rPr lang="en-US" sz="3200" dirty="0">
                <a:ea typeface="宋体" pitchFamily="2" charset="-122"/>
              </a:rPr>
              <a:t>Trojan </a:t>
            </a:r>
            <a:r>
              <a:rPr lang="en-US" sz="3200" dirty="0" smtClean="0">
                <a:ea typeface="宋体" pitchFamily="2" charset="-122"/>
              </a:rPr>
              <a:t>horse</a:t>
            </a:r>
          </a:p>
          <a:p>
            <a:pPr lvl="1">
              <a:buFont typeface="Times New Roman" pitchFamily="16" charset="0"/>
              <a:buChar char="•"/>
              <a:defRPr/>
            </a:pPr>
            <a:r>
              <a:rPr lang="en-US" sz="2800" dirty="0" smtClean="0">
                <a:ea typeface="宋体" pitchFamily="2" charset="-122"/>
              </a:rPr>
              <a:t>Software that pretends to be something else</a:t>
            </a:r>
          </a:p>
          <a:p>
            <a:pPr lvl="1">
              <a:buFont typeface="Times New Roman" pitchFamily="16" charset="0"/>
              <a:buChar char="•"/>
              <a:defRPr/>
            </a:pPr>
            <a:r>
              <a:rPr lang="en-US" sz="2800" dirty="0" smtClean="0">
                <a:ea typeface="宋体" pitchFamily="2" charset="-122"/>
              </a:rPr>
              <a:t>Main purpose is the get into the system</a:t>
            </a:r>
            <a:endParaRPr lang="en-US" sz="2800" dirty="0">
              <a:ea typeface="宋体" pitchFamily="2" charset="-122"/>
            </a:endParaRPr>
          </a:p>
          <a:p>
            <a:pPr lvl="1">
              <a:buFont typeface="Times New Roman" pitchFamily="16" charset="0"/>
              <a:buChar char="•"/>
              <a:defRPr/>
            </a:pPr>
            <a:r>
              <a:rPr lang="en-US" dirty="0" smtClean="0">
                <a:ea typeface="宋体" pitchFamily="2" charset="-122"/>
              </a:rPr>
              <a:t>Code </a:t>
            </a:r>
            <a:r>
              <a:rPr lang="en-US" dirty="0">
                <a:ea typeface="宋体" pitchFamily="2" charset="-122"/>
              </a:rPr>
              <a:t>segment that misuses its </a:t>
            </a:r>
            <a:r>
              <a:rPr lang="en-US" dirty="0" smtClean="0">
                <a:ea typeface="宋体" pitchFamily="2" charset="-122"/>
              </a:rPr>
              <a:t>environment</a:t>
            </a:r>
          </a:p>
          <a:p>
            <a:pPr marL="457200" lvl="1" indent="0">
              <a:buNone/>
              <a:defRPr/>
            </a:pPr>
            <a:endParaRPr lang="en-US" dirty="0">
              <a:ea typeface="宋体" pitchFamily="2" charset="-122"/>
            </a:endParaRPr>
          </a:p>
          <a:p>
            <a:pPr lvl="1">
              <a:buFont typeface="Times New Roman" pitchFamily="16" charset="0"/>
              <a:buChar char="–"/>
              <a:defRPr/>
            </a:pPr>
            <a:r>
              <a:rPr lang="en-US" dirty="0">
                <a:ea typeface="宋体" pitchFamily="2" charset="-122"/>
              </a:rPr>
              <a:t>Exploits mechanisms for allowing programs written by </a:t>
            </a:r>
            <a:endParaRPr lang="en-US" dirty="0" smtClean="0">
              <a:ea typeface="宋体" pitchFamily="2" charset="-122"/>
            </a:endParaRPr>
          </a:p>
          <a:p>
            <a:pPr marL="457200" lvl="1" indent="0">
              <a:buNone/>
              <a:defRPr/>
            </a:pPr>
            <a:r>
              <a:rPr lang="en-US" dirty="0" smtClean="0">
                <a:ea typeface="宋体" pitchFamily="2" charset="-122"/>
              </a:rPr>
              <a:t>users </a:t>
            </a:r>
            <a:r>
              <a:rPr lang="en-US" dirty="0">
                <a:ea typeface="宋体" pitchFamily="2" charset="-122"/>
              </a:rPr>
              <a:t>to be executed by other </a:t>
            </a:r>
            <a:r>
              <a:rPr lang="en-US" dirty="0" smtClean="0">
                <a:ea typeface="宋体" pitchFamily="2" charset="-122"/>
              </a:rPr>
              <a:t>users</a:t>
            </a:r>
            <a:endParaRPr lang="en-US" dirty="0">
              <a:ea typeface="宋体" pitchFamily="2" charset="-122"/>
            </a:endParaRPr>
          </a:p>
          <a:p>
            <a:pPr lvl="1">
              <a:buFont typeface="Times New Roman" pitchFamily="16" charset="0"/>
              <a:buChar char="–"/>
              <a:defRPr/>
            </a:pPr>
            <a:r>
              <a:rPr lang="en-US" dirty="0">
                <a:ea typeface="宋体" pitchFamily="2" charset="-122"/>
              </a:rPr>
              <a:t>Spyware, pop-up browser windows, covert </a:t>
            </a:r>
            <a:r>
              <a:rPr lang="en-US" dirty="0" smtClean="0">
                <a:ea typeface="宋体" pitchFamily="2" charset="-122"/>
              </a:rPr>
              <a:t>channels</a:t>
            </a:r>
          </a:p>
          <a:p>
            <a:pPr lvl="1">
              <a:buFont typeface="Times New Roman" pitchFamily="16" charset="0"/>
              <a:buChar char="–"/>
              <a:defRPr/>
            </a:pPr>
            <a:r>
              <a:rPr lang="en-US" dirty="0" smtClean="0">
                <a:ea typeface="宋体" pitchFamily="2" charset="-122"/>
              </a:rPr>
              <a:t>Bakasoftware (antivirus xp 2008 and spyware project 2009)</a:t>
            </a:r>
            <a:endParaRPr lang="en-US" dirty="0">
              <a:ea typeface="宋体" pitchFamily="2" charset="-122"/>
            </a:endParaRPr>
          </a:p>
          <a:p>
            <a:pPr marL="0" indent="0">
              <a:buNone/>
              <a:defRPr/>
            </a:pPr>
            <a:endParaRPr lang="en-US" dirty="0">
              <a:latin typeface="Times New Roman"/>
              <a:ea typeface="宋体" pitchFamily="2" charset="-122"/>
              <a:cs typeface="Times New Roman"/>
            </a:endParaRPr>
          </a:p>
        </p:txBody>
      </p:sp>
      <p:pic>
        <p:nvPicPr>
          <p:cNvPr id="2" name="Picture 1"/>
          <p:cNvPicPr>
            <a:picLocks noChangeAspect="1"/>
          </p:cNvPicPr>
          <p:nvPr/>
        </p:nvPicPr>
        <p:blipFill>
          <a:blip r:embed="rId2"/>
          <a:stretch>
            <a:fillRect/>
          </a:stretch>
        </p:blipFill>
        <p:spPr>
          <a:xfrm>
            <a:off x="8181841" y="257310"/>
            <a:ext cx="3581400" cy="4057650"/>
          </a:xfrm>
          <a:prstGeom prst="rect">
            <a:avLst/>
          </a:prstGeom>
        </p:spPr>
      </p:pic>
    </p:spTree>
    <p:extLst>
      <p:ext uri="{BB962C8B-B14F-4D97-AF65-F5344CB8AC3E}">
        <p14:creationId xmlns:p14="http://schemas.microsoft.com/office/powerpoint/2010/main" val="28206891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宋体" pitchFamily="2" charset="-122"/>
              </a:rPr>
              <a:t>Program threats </a:t>
            </a:r>
            <a:endParaRPr lang="en-US" dirty="0"/>
          </a:p>
        </p:txBody>
      </p:sp>
      <p:sp>
        <p:nvSpPr>
          <p:cNvPr id="3" name="Content Placeholder 2"/>
          <p:cNvSpPr>
            <a:spLocks noGrp="1"/>
          </p:cNvSpPr>
          <p:nvPr>
            <p:ph idx="1"/>
          </p:nvPr>
        </p:nvSpPr>
        <p:spPr/>
        <p:txBody>
          <a:bodyPr/>
          <a:lstStyle/>
          <a:p>
            <a:pPr>
              <a:buFont typeface="Times New Roman" pitchFamily="16" charset="0"/>
              <a:buChar char="•"/>
              <a:defRPr/>
            </a:pPr>
            <a:r>
              <a:rPr lang="en-US" sz="3200" dirty="0">
                <a:ea typeface="宋体" pitchFamily="2" charset="-122"/>
              </a:rPr>
              <a:t>Trap </a:t>
            </a:r>
            <a:r>
              <a:rPr lang="en-US" sz="3200" dirty="0" smtClean="0">
                <a:ea typeface="宋体" pitchFamily="2" charset="-122"/>
              </a:rPr>
              <a:t>Door</a:t>
            </a:r>
          </a:p>
          <a:p>
            <a:pPr>
              <a:buFont typeface="Times New Roman" pitchFamily="16" charset="0"/>
              <a:buChar char="•"/>
              <a:defRPr/>
            </a:pPr>
            <a:endParaRPr lang="en-US" sz="3200" dirty="0">
              <a:ea typeface="宋体" pitchFamily="2" charset="-122"/>
            </a:endParaRPr>
          </a:p>
          <a:p>
            <a:pPr lvl="1">
              <a:buFont typeface="Times New Roman" pitchFamily="16" charset="0"/>
              <a:buChar char="–"/>
              <a:defRPr/>
            </a:pPr>
            <a:r>
              <a:rPr lang="en-US" dirty="0">
                <a:ea typeface="宋体" pitchFamily="2" charset="-122"/>
              </a:rPr>
              <a:t>Specific user identifier or password that circumvents normal security </a:t>
            </a:r>
            <a:r>
              <a:rPr lang="en-US" dirty="0" smtClean="0">
                <a:ea typeface="宋体" pitchFamily="2" charset="-122"/>
              </a:rPr>
              <a:t>procedures</a:t>
            </a:r>
          </a:p>
          <a:p>
            <a:pPr lvl="1">
              <a:buFont typeface="Times New Roman" pitchFamily="16" charset="0"/>
              <a:buChar char="–"/>
              <a:defRPr/>
            </a:pPr>
            <a:r>
              <a:rPr lang="en-US" dirty="0" smtClean="0">
                <a:ea typeface="宋体" pitchFamily="2" charset="-122"/>
              </a:rPr>
              <a:t>Could </a:t>
            </a:r>
            <a:r>
              <a:rPr lang="en-US" dirty="0">
                <a:ea typeface="宋体" pitchFamily="2" charset="-122"/>
              </a:rPr>
              <a:t>be included in a </a:t>
            </a:r>
            <a:r>
              <a:rPr lang="en-US" dirty="0" smtClean="0">
                <a:ea typeface="宋体" pitchFamily="2" charset="-122"/>
              </a:rPr>
              <a:t>compiler</a:t>
            </a:r>
          </a:p>
          <a:p>
            <a:pPr lvl="1">
              <a:buFont typeface="Times New Roman" pitchFamily="16" charset="0"/>
              <a:buChar char="–"/>
              <a:defRPr/>
            </a:pPr>
            <a:r>
              <a:rPr lang="en-US" dirty="0">
                <a:ea typeface="宋体" pitchFamily="2" charset="-122"/>
              </a:rPr>
              <a:t>No need for authentication</a:t>
            </a:r>
          </a:p>
          <a:p>
            <a:pPr lvl="1">
              <a:buFont typeface="Times New Roman" pitchFamily="16" charset="0"/>
              <a:buChar char="–"/>
              <a:defRPr/>
            </a:pPr>
            <a:r>
              <a:rPr lang="en-US" dirty="0" smtClean="0">
                <a:ea typeface="宋体" pitchFamily="2" charset="-122"/>
              </a:rPr>
              <a:t>Often place by malware</a:t>
            </a:r>
            <a:endParaRPr lang="en-US" dirty="0">
              <a:ea typeface="宋体" pitchFamily="2" charset="-122"/>
            </a:endParaRPr>
          </a:p>
          <a:p>
            <a:endParaRPr lang="en-US" dirty="0"/>
          </a:p>
        </p:txBody>
      </p:sp>
    </p:spTree>
    <p:extLst>
      <p:ext uri="{BB962C8B-B14F-4D97-AF65-F5344CB8AC3E}">
        <p14:creationId xmlns:p14="http://schemas.microsoft.com/office/powerpoint/2010/main" val="28419004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347729" y="270189"/>
            <a:ext cx="8564563" cy="576263"/>
          </a:xfrm>
        </p:spPr>
        <p:txBody>
          <a:bodyPr>
            <a:normAutofit fontScale="90000"/>
          </a:bodyPr>
          <a:lstStyle/>
          <a:p>
            <a:pPr>
              <a:defRPr/>
            </a:pPr>
            <a:r>
              <a:rPr lang="en-US" dirty="0">
                <a:ea typeface="宋体" pitchFamily="2" charset="-122"/>
              </a:rPr>
              <a:t>Program threats </a:t>
            </a:r>
          </a:p>
        </p:txBody>
      </p:sp>
      <p:sp>
        <p:nvSpPr>
          <p:cNvPr id="3" name="Content Placeholder 2"/>
          <p:cNvSpPr>
            <a:spLocks noGrp="1"/>
          </p:cNvSpPr>
          <p:nvPr>
            <p:ph idx="1"/>
          </p:nvPr>
        </p:nvSpPr>
        <p:spPr>
          <a:xfrm>
            <a:off x="605307" y="1236372"/>
            <a:ext cx="11423561" cy="4848516"/>
          </a:xfrm>
        </p:spPr>
        <p:txBody>
          <a:bodyPr/>
          <a:lstStyle/>
          <a:p>
            <a:pPr lvl="1">
              <a:buFont typeface="Arial" panose="020B0604020202020204" pitchFamily="34" charset="0"/>
              <a:buChar char="•"/>
              <a:defRPr/>
            </a:pPr>
            <a:r>
              <a:rPr lang="en-US" sz="2800" dirty="0" smtClean="0">
                <a:latin typeface="Times New Roman"/>
                <a:ea typeface="宋体" pitchFamily="2" charset="-122"/>
                <a:cs typeface="Times New Roman"/>
              </a:rPr>
              <a:t>Logic Bomb</a:t>
            </a:r>
          </a:p>
          <a:p>
            <a:pPr lvl="2">
              <a:buFont typeface="Times New Roman" panose="02020603050405020304" pitchFamily="18" charset="0"/>
              <a:buChar char="―"/>
              <a:defRPr/>
            </a:pPr>
            <a:r>
              <a:rPr lang="en-US" dirty="0" smtClean="0">
                <a:latin typeface="Times New Roman"/>
                <a:ea typeface="宋体" pitchFamily="2" charset="-122"/>
                <a:cs typeface="Times New Roman"/>
              </a:rPr>
              <a:t> Program </a:t>
            </a:r>
            <a:r>
              <a:rPr lang="en-US" dirty="0">
                <a:latin typeface="Times New Roman"/>
                <a:ea typeface="宋体" pitchFamily="2" charset="-122"/>
                <a:cs typeface="Times New Roman"/>
              </a:rPr>
              <a:t>that initiates a security incident under certain </a:t>
            </a:r>
            <a:r>
              <a:rPr lang="en-US" dirty="0" smtClean="0">
                <a:latin typeface="Times New Roman"/>
                <a:ea typeface="宋体" pitchFamily="2" charset="-122"/>
                <a:cs typeface="Times New Roman"/>
              </a:rPr>
              <a:t>circumstances</a:t>
            </a:r>
          </a:p>
          <a:p>
            <a:pPr lvl="2">
              <a:buFont typeface="Times New Roman" panose="02020603050405020304" pitchFamily="18" charset="0"/>
              <a:buChar char="―"/>
              <a:defRPr/>
            </a:pPr>
            <a:r>
              <a:rPr lang="en-US" dirty="0" smtClean="0">
                <a:latin typeface="Times New Roman"/>
                <a:ea typeface="宋体" pitchFamily="2" charset="-122"/>
                <a:cs typeface="Times New Roman"/>
              </a:rPr>
              <a:t>Need to wait for predefined event (time event, date event, user event)</a:t>
            </a:r>
          </a:p>
          <a:p>
            <a:pPr lvl="2">
              <a:buFont typeface="Times New Roman" panose="02020603050405020304" pitchFamily="18" charset="0"/>
              <a:buChar char="―"/>
              <a:defRPr/>
            </a:pPr>
            <a:r>
              <a:rPr lang="en-US" dirty="0" smtClean="0">
                <a:latin typeface="Times New Roman"/>
                <a:ea typeface="宋体" pitchFamily="2" charset="-122"/>
                <a:cs typeface="Times New Roman"/>
              </a:rPr>
              <a:t>Difficult to identify </a:t>
            </a:r>
          </a:p>
          <a:p>
            <a:pPr lvl="2">
              <a:buFont typeface="Times New Roman" panose="02020603050405020304" pitchFamily="18" charset="0"/>
              <a:buChar char="―"/>
              <a:defRPr/>
            </a:pPr>
            <a:r>
              <a:rPr lang="en-US" dirty="0" smtClean="0">
                <a:latin typeface="Times New Roman"/>
                <a:ea typeface="宋体" pitchFamily="2" charset="-122"/>
                <a:cs typeface="Times New Roman"/>
              </a:rPr>
              <a:t>Fannie mae logic bomb</a:t>
            </a:r>
            <a:endParaRPr lang="en-US" dirty="0">
              <a:latin typeface="Times New Roman"/>
              <a:ea typeface="宋体" pitchFamily="2" charset="-122"/>
              <a:cs typeface="Times New Roman"/>
            </a:endParaRPr>
          </a:p>
          <a:p>
            <a:pPr marL="914400" lvl="2" indent="0">
              <a:buNone/>
              <a:defRPr/>
            </a:pPr>
            <a:endParaRPr lang="en-US" dirty="0" smtClean="0">
              <a:latin typeface="Times New Roman"/>
              <a:ea typeface="宋体" pitchFamily="2" charset="-122"/>
              <a:cs typeface="Times New Roman"/>
            </a:endParaRPr>
          </a:p>
          <a:p>
            <a:pPr lvl="1">
              <a:buFont typeface="Arial" panose="020B0604020202020204" pitchFamily="34" charset="0"/>
              <a:buChar char="•"/>
              <a:defRPr/>
            </a:pPr>
            <a:r>
              <a:rPr lang="en-US" sz="2800" dirty="0">
                <a:latin typeface="Times New Roman"/>
                <a:ea typeface="宋体" pitchFamily="2" charset="-122"/>
                <a:cs typeface="Times New Roman"/>
              </a:rPr>
              <a:t>Stack and Buffer Overflow</a:t>
            </a:r>
          </a:p>
          <a:p>
            <a:pPr lvl="2">
              <a:buFont typeface="Times New Roman" panose="02020603050405020304" pitchFamily="18" charset="0"/>
              <a:buChar char="―"/>
              <a:defRPr/>
            </a:pPr>
            <a:r>
              <a:rPr lang="en-US" dirty="0" smtClean="0">
                <a:latin typeface="Times New Roman"/>
                <a:ea typeface="宋体" pitchFamily="2" charset="-122"/>
                <a:cs typeface="Times New Roman"/>
              </a:rPr>
              <a:t> Exploits </a:t>
            </a:r>
            <a:r>
              <a:rPr lang="en-US" dirty="0">
                <a:latin typeface="Times New Roman"/>
                <a:ea typeface="宋体" pitchFamily="2" charset="-122"/>
                <a:cs typeface="Times New Roman"/>
              </a:rPr>
              <a:t>a bug in a program (overflow either the stack or memory buffers</a:t>
            </a:r>
            <a:r>
              <a:rPr lang="en-US" dirty="0" smtClean="0">
                <a:latin typeface="Times New Roman"/>
                <a:ea typeface="宋体" pitchFamily="2" charset="-122"/>
                <a:cs typeface="Times New Roman"/>
              </a:rPr>
              <a:t>)</a:t>
            </a:r>
          </a:p>
          <a:p>
            <a:pPr lvl="2">
              <a:buFont typeface="Times New Roman" panose="02020603050405020304" pitchFamily="18" charset="0"/>
              <a:buChar char="―"/>
              <a:defRPr/>
            </a:pPr>
            <a:r>
              <a:rPr lang="en-US" dirty="0" smtClean="0">
                <a:latin typeface="Times New Roman"/>
                <a:ea typeface="宋体" pitchFamily="2" charset="-122"/>
                <a:cs typeface="Times New Roman"/>
              </a:rPr>
              <a:t>Not a simple exploit</a:t>
            </a:r>
          </a:p>
          <a:p>
            <a:pPr lvl="2">
              <a:buFont typeface="Times New Roman" panose="02020603050405020304" pitchFamily="18" charset="0"/>
              <a:buChar char="―"/>
              <a:defRPr/>
            </a:pPr>
            <a:r>
              <a:rPr lang="en-US" dirty="0" smtClean="0">
                <a:latin typeface="Times New Roman"/>
                <a:ea typeface="宋体" pitchFamily="2" charset="-122"/>
                <a:cs typeface="Times New Roman"/>
              </a:rPr>
              <a:t>Developers needs to perform bounds checks</a:t>
            </a:r>
          </a:p>
          <a:p>
            <a:pPr lvl="2">
              <a:buFont typeface="Times New Roman" panose="02020603050405020304" pitchFamily="18" charset="0"/>
              <a:buChar char="―"/>
              <a:defRPr/>
            </a:pPr>
            <a:endParaRPr lang="en-US" dirty="0">
              <a:latin typeface="Times New Roman"/>
              <a:ea typeface="宋体" pitchFamily="2" charset="-122"/>
              <a:cs typeface="Times New Roman"/>
            </a:endParaRPr>
          </a:p>
          <a:p>
            <a:pPr>
              <a:buFont typeface="Arial" panose="020B0604020202020204" pitchFamily="34" charset="0"/>
              <a:buChar char="•"/>
              <a:defRPr/>
            </a:pPr>
            <a:endParaRPr lang="en-US" dirty="0">
              <a:latin typeface="Times New Roman"/>
              <a:ea typeface="宋体" pitchFamily="2" charset="-122"/>
              <a:cs typeface="Times New Roman"/>
            </a:endParaRPr>
          </a:p>
        </p:txBody>
      </p:sp>
    </p:spTree>
    <p:extLst>
      <p:ext uri="{BB962C8B-B14F-4D97-AF65-F5344CB8AC3E}">
        <p14:creationId xmlns:p14="http://schemas.microsoft.com/office/powerpoint/2010/main" val="11583691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847851" y="476251"/>
            <a:ext cx="8564563" cy="576263"/>
          </a:xfrm>
        </p:spPr>
        <p:txBody>
          <a:bodyPr>
            <a:normAutofit fontScale="90000"/>
          </a:bodyPr>
          <a:lstStyle/>
          <a:p>
            <a:pPr>
              <a:buFont typeface="Times New Roman" pitchFamily="16" charset="0"/>
              <a:buChar char="•"/>
              <a:defRPr/>
            </a:pPr>
            <a:r>
              <a:rPr lang="en-US" dirty="0">
                <a:latin typeface="Times New Roman"/>
                <a:ea typeface="宋体" pitchFamily="2" charset="-122"/>
                <a:cs typeface="Times New Roman"/>
              </a:rPr>
              <a:t>Program threats </a:t>
            </a:r>
          </a:p>
        </p:txBody>
      </p:sp>
      <p:sp>
        <p:nvSpPr>
          <p:cNvPr id="3" name="Content Placeholder 2"/>
          <p:cNvSpPr>
            <a:spLocks noGrp="1"/>
          </p:cNvSpPr>
          <p:nvPr>
            <p:ph idx="1"/>
          </p:nvPr>
        </p:nvSpPr>
        <p:spPr>
          <a:xfrm>
            <a:off x="1809751" y="1341438"/>
            <a:ext cx="8531225" cy="4743450"/>
          </a:xfrm>
        </p:spPr>
        <p:txBody>
          <a:bodyPr/>
          <a:lstStyle/>
          <a:p>
            <a:pPr lvl="1">
              <a:buFont typeface="Times New Roman" pitchFamily="16" charset="0"/>
              <a:buChar char="–"/>
              <a:defRPr/>
            </a:pPr>
            <a:r>
              <a:rPr lang="en-US" sz="2400" dirty="0" smtClean="0">
                <a:latin typeface="Times New Roman"/>
                <a:ea typeface="宋体" pitchFamily="2" charset="-122"/>
                <a:cs typeface="Times New Roman"/>
              </a:rPr>
              <a:t>Program </a:t>
            </a:r>
            <a:r>
              <a:rPr lang="en-US" sz="2400" dirty="0">
                <a:latin typeface="Times New Roman"/>
                <a:ea typeface="宋体" pitchFamily="2" charset="-122"/>
                <a:cs typeface="Times New Roman"/>
              </a:rPr>
              <a:t>with buffer overflow condition</a:t>
            </a:r>
          </a:p>
          <a:p>
            <a:pPr lvl="3">
              <a:buFont typeface="Monotype Sorts" charset="0"/>
              <a:buNone/>
              <a:defRPr/>
            </a:pPr>
            <a:r>
              <a:rPr lang="en-US" sz="1800" dirty="0">
                <a:latin typeface="Times New Roman"/>
                <a:ea typeface="ＭＳ Ｐゴシック" charset="0"/>
                <a:cs typeface="Times New Roman"/>
              </a:rPr>
              <a:t>#include </a:t>
            </a:r>
            <a:r>
              <a:rPr lang="en-US" sz="1800" i="1" dirty="0">
                <a:latin typeface="Times New Roman"/>
                <a:ea typeface="ＭＳ Ｐゴシック" charset="0"/>
                <a:cs typeface="Times New Roman"/>
              </a:rPr>
              <a:t>&lt;</a:t>
            </a:r>
            <a:r>
              <a:rPr lang="en-US" sz="1800" dirty="0">
                <a:latin typeface="Times New Roman"/>
                <a:ea typeface="ＭＳ Ｐゴシック" charset="0"/>
                <a:cs typeface="Times New Roman"/>
              </a:rPr>
              <a:t>stdio.h</a:t>
            </a:r>
            <a:r>
              <a:rPr lang="en-US" sz="1800" i="1" dirty="0">
                <a:latin typeface="Times New Roman"/>
                <a:ea typeface="ＭＳ Ｐゴシック" charset="0"/>
                <a:cs typeface="Times New Roman"/>
              </a:rPr>
              <a:t>&gt;</a:t>
            </a:r>
          </a:p>
          <a:p>
            <a:pPr lvl="3">
              <a:buFont typeface="Monotype Sorts" charset="0"/>
              <a:buNone/>
              <a:defRPr/>
            </a:pPr>
            <a:r>
              <a:rPr lang="en-US" sz="1800" dirty="0">
                <a:latin typeface="Times New Roman"/>
                <a:ea typeface="ＭＳ Ｐゴシック" charset="0"/>
                <a:cs typeface="Times New Roman"/>
              </a:rPr>
              <a:t>#define BUFFER SIZE 256</a:t>
            </a:r>
          </a:p>
          <a:p>
            <a:pPr lvl="3">
              <a:buFont typeface="Monotype Sorts" charset="0"/>
              <a:buNone/>
              <a:defRPr/>
            </a:pPr>
            <a:r>
              <a:rPr lang="en-US" sz="1800" dirty="0">
                <a:latin typeface="Times New Roman"/>
                <a:ea typeface="ＭＳ Ｐゴシック" charset="0"/>
                <a:cs typeface="Times New Roman"/>
              </a:rPr>
              <a:t>int main(int argc, char *argv[])</a:t>
            </a:r>
          </a:p>
          <a:p>
            <a:pPr lvl="3">
              <a:buFont typeface="Monotype Sorts" charset="0"/>
              <a:buNone/>
              <a:defRPr/>
            </a:pPr>
            <a:r>
              <a:rPr lang="en-US" sz="1800" dirty="0">
                <a:latin typeface="Times New Roman"/>
                <a:ea typeface="ＭＳ Ｐゴシック" charset="0"/>
                <a:cs typeface="Times New Roman"/>
              </a:rPr>
              <a:t>{</a:t>
            </a:r>
          </a:p>
          <a:p>
            <a:pPr lvl="3">
              <a:buFont typeface="Monotype Sorts" charset="0"/>
              <a:buNone/>
              <a:defRPr/>
            </a:pPr>
            <a:r>
              <a:rPr lang="en-US" sz="1800" dirty="0">
                <a:latin typeface="Times New Roman"/>
                <a:ea typeface="ＭＳ Ｐゴシック" charset="0"/>
                <a:cs typeface="Times New Roman"/>
              </a:rPr>
              <a:t>	char buffer[BUFFER SIZE];</a:t>
            </a:r>
          </a:p>
          <a:p>
            <a:pPr lvl="3">
              <a:buFont typeface="Monotype Sorts" charset="0"/>
              <a:buNone/>
              <a:defRPr/>
            </a:pPr>
            <a:r>
              <a:rPr lang="en-US" sz="1800" dirty="0">
                <a:latin typeface="Times New Roman"/>
                <a:ea typeface="ＭＳ Ｐゴシック" charset="0"/>
                <a:cs typeface="Times New Roman"/>
              </a:rPr>
              <a:t>	if (argc &lt; 2)</a:t>
            </a:r>
          </a:p>
          <a:p>
            <a:pPr lvl="3">
              <a:buFont typeface="Monotype Sorts" charset="0"/>
              <a:buNone/>
              <a:defRPr/>
            </a:pPr>
            <a:r>
              <a:rPr lang="en-US" sz="1800" dirty="0">
                <a:latin typeface="Times New Roman"/>
                <a:ea typeface="ＭＳ Ｐゴシック" charset="0"/>
                <a:cs typeface="Times New Roman"/>
              </a:rPr>
              <a:t>		return -1;</a:t>
            </a:r>
          </a:p>
          <a:p>
            <a:pPr lvl="3">
              <a:buFont typeface="Monotype Sorts" charset="0"/>
              <a:buNone/>
              <a:defRPr/>
            </a:pPr>
            <a:r>
              <a:rPr lang="en-US" sz="1800" dirty="0">
                <a:latin typeface="Times New Roman"/>
                <a:ea typeface="ＭＳ Ｐゴシック" charset="0"/>
                <a:cs typeface="Times New Roman"/>
              </a:rPr>
              <a:t>	else {</a:t>
            </a:r>
          </a:p>
          <a:p>
            <a:pPr lvl="3">
              <a:buFont typeface="Monotype Sorts" charset="0"/>
              <a:buNone/>
              <a:defRPr/>
            </a:pPr>
            <a:r>
              <a:rPr lang="en-US" sz="1800" dirty="0">
                <a:latin typeface="Times New Roman"/>
                <a:ea typeface="ＭＳ Ｐゴシック" charset="0"/>
                <a:cs typeface="Times New Roman"/>
              </a:rPr>
              <a:t>		strcpy(buffer,argv[1]);</a:t>
            </a:r>
          </a:p>
          <a:p>
            <a:pPr lvl="3">
              <a:buFont typeface="Monotype Sorts" charset="0"/>
              <a:buNone/>
              <a:defRPr/>
            </a:pPr>
            <a:r>
              <a:rPr lang="en-US" sz="1800" dirty="0">
                <a:latin typeface="Times New Roman"/>
                <a:ea typeface="ＭＳ Ｐゴシック" charset="0"/>
                <a:cs typeface="Times New Roman"/>
              </a:rPr>
              <a:t>		return 0;</a:t>
            </a:r>
          </a:p>
          <a:p>
            <a:pPr lvl="3">
              <a:buFont typeface="Monotype Sorts" charset="0"/>
              <a:buNone/>
              <a:defRPr/>
            </a:pPr>
            <a:r>
              <a:rPr lang="en-US" sz="1800" dirty="0">
                <a:latin typeface="Times New Roman"/>
                <a:ea typeface="ＭＳ Ｐゴシック" charset="0"/>
                <a:cs typeface="Times New Roman"/>
              </a:rPr>
              <a:t>	}</a:t>
            </a:r>
          </a:p>
          <a:p>
            <a:pPr lvl="2">
              <a:buFont typeface="Monotype Sorts" charset="0"/>
              <a:buNone/>
              <a:defRPr/>
            </a:pPr>
            <a:r>
              <a:rPr lang="en-US" sz="1800" dirty="0">
                <a:latin typeface="Times New Roman"/>
                <a:ea typeface="ＭＳ Ｐゴシック" charset="0"/>
                <a:cs typeface="Times New Roman"/>
              </a:rPr>
              <a:t>  }</a:t>
            </a:r>
          </a:p>
          <a:p>
            <a:pPr marL="0" indent="0">
              <a:buNone/>
              <a:defRPr/>
            </a:pPr>
            <a:endParaRPr lang="en-US" dirty="0">
              <a:latin typeface="Times New Roman"/>
              <a:ea typeface="宋体" pitchFamily="2" charset="-122"/>
              <a:cs typeface="Times New Roman"/>
            </a:endParaRPr>
          </a:p>
        </p:txBody>
      </p:sp>
    </p:spTree>
    <p:extLst>
      <p:ext uri="{BB962C8B-B14F-4D97-AF65-F5344CB8AC3E}">
        <p14:creationId xmlns:p14="http://schemas.microsoft.com/office/powerpoint/2010/main" val="16911609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637237" y="270189"/>
            <a:ext cx="8564563" cy="576263"/>
          </a:xfrm>
        </p:spPr>
        <p:txBody>
          <a:bodyPr>
            <a:normAutofit fontScale="90000"/>
          </a:bodyPr>
          <a:lstStyle/>
          <a:p>
            <a:r>
              <a:rPr lang="en-US" altLang="en-US" dirty="0" smtClean="0">
                <a:latin typeface="Times New Roman" panose="02020603050405020304" pitchFamily="18" charset="0"/>
                <a:cs typeface="Times New Roman" panose="02020603050405020304" pitchFamily="18" charset="0"/>
              </a:rPr>
              <a:t>Program threats </a:t>
            </a:r>
          </a:p>
        </p:txBody>
      </p:sp>
      <p:sp>
        <p:nvSpPr>
          <p:cNvPr id="3" name="Content Placeholder 2"/>
          <p:cNvSpPr>
            <a:spLocks noGrp="1"/>
          </p:cNvSpPr>
          <p:nvPr>
            <p:ph idx="1"/>
          </p:nvPr>
        </p:nvSpPr>
        <p:spPr>
          <a:xfrm>
            <a:off x="334851" y="1159099"/>
            <a:ext cx="10006125" cy="4925789"/>
          </a:xfrm>
        </p:spPr>
        <p:txBody>
          <a:bodyPr/>
          <a:lstStyle/>
          <a:p>
            <a:pPr lvl="1">
              <a:buFont typeface="Arial" panose="020B0604020202020204" pitchFamily="34" charset="0"/>
              <a:buChar char="•"/>
            </a:pPr>
            <a:r>
              <a:rPr lang="en-US" altLang="en-US" dirty="0" smtClean="0">
                <a:solidFill>
                  <a:schemeClr val="tx1"/>
                </a:solidFill>
                <a:latin typeface="Times New Roman" panose="02020603050405020304" pitchFamily="18" charset="0"/>
                <a:ea typeface="MS PGothic" panose="020B0600070205080204" pitchFamily="34" charset="-128"/>
              </a:rPr>
              <a:t>Viruses</a:t>
            </a:r>
          </a:p>
          <a:p>
            <a:pPr lvl="2"/>
            <a:r>
              <a:rPr lang="en-US" altLang="en-US" dirty="0" smtClean="0">
                <a:solidFill>
                  <a:schemeClr val="tx1"/>
                </a:solidFill>
                <a:latin typeface="Times New Roman" panose="02020603050405020304" pitchFamily="18" charset="0"/>
                <a:ea typeface="MS PGothic" panose="020B0600070205080204" pitchFamily="34" charset="-128"/>
              </a:rPr>
              <a:t>Malware that can reproduce itself</a:t>
            </a:r>
            <a:endParaRPr lang="en-US" altLang="en-US" dirty="0">
              <a:solidFill>
                <a:schemeClr val="tx1"/>
              </a:solidFill>
              <a:latin typeface="Times New Roman" panose="02020603050405020304" pitchFamily="18" charset="0"/>
              <a:ea typeface="MS PGothic" panose="020B0600070205080204" pitchFamily="34" charset="-128"/>
            </a:endParaRPr>
          </a:p>
          <a:p>
            <a:pPr lvl="2"/>
            <a:r>
              <a:rPr lang="en-US" altLang="en-US" dirty="0">
                <a:solidFill>
                  <a:schemeClr val="tx1"/>
                </a:solidFill>
                <a:latin typeface="Times New Roman" panose="02020603050405020304" pitchFamily="18" charset="0"/>
                <a:ea typeface="MS PGothic" panose="020B0600070205080204" pitchFamily="34" charset="-128"/>
              </a:rPr>
              <a:t>Code fragment embedded in legitimate </a:t>
            </a:r>
            <a:r>
              <a:rPr lang="en-US" altLang="en-US" dirty="0" smtClean="0">
                <a:solidFill>
                  <a:schemeClr val="tx1"/>
                </a:solidFill>
                <a:latin typeface="Times New Roman" panose="02020603050405020304" pitchFamily="18" charset="0"/>
                <a:ea typeface="MS PGothic" panose="020B0600070205080204" pitchFamily="34" charset="-128"/>
              </a:rPr>
              <a:t>program (execution required)</a:t>
            </a:r>
            <a:endParaRPr lang="en-US" altLang="en-US" dirty="0">
              <a:solidFill>
                <a:schemeClr val="tx1"/>
              </a:solidFill>
              <a:latin typeface="Times New Roman" panose="02020603050405020304" pitchFamily="18" charset="0"/>
              <a:ea typeface="MS PGothic" panose="020B0600070205080204" pitchFamily="34" charset="-128"/>
            </a:endParaRPr>
          </a:p>
          <a:p>
            <a:pPr lvl="2"/>
            <a:r>
              <a:rPr lang="en-US" altLang="en-US" dirty="0">
                <a:solidFill>
                  <a:schemeClr val="tx1"/>
                </a:solidFill>
                <a:latin typeface="Times New Roman" panose="02020603050405020304" pitchFamily="18" charset="0"/>
                <a:ea typeface="MS PGothic" panose="020B0600070205080204" pitchFamily="34" charset="-128"/>
              </a:rPr>
              <a:t>Very specific to CPU architecture, operating system, </a:t>
            </a:r>
            <a:r>
              <a:rPr lang="en-US" altLang="en-US" dirty="0" smtClean="0">
                <a:solidFill>
                  <a:schemeClr val="tx1"/>
                </a:solidFill>
                <a:latin typeface="Times New Roman" panose="02020603050405020304" pitchFamily="18" charset="0"/>
                <a:ea typeface="MS PGothic" panose="020B0600070205080204" pitchFamily="34" charset="-128"/>
              </a:rPr>
              <a:t>applications</a:t>
            </a:r>
          </a:p>
          <a:p>
            <a:pPr lvl="2"/>
            <a:r>
              <a:rPr lang="en-US" altLang="en-US" dirty="0" smtClean="0">
                <a:latin typeface="Times New Roman" panose="02020603050405020304" pitchFamily="18" charset="0"/>
                <a:ea typeface="MS PGothic" panose="020B0600070205080204" pitchFamily="34" charset="-128"/>
              </a:rPr>
              <a:t>Reproduces through file systems or networks</a:t>
            </a:r>
            <a:endParaRPr lang="en-US" altLang="en-US" dirty="0">
              <a:solidFill>
                <a:schemeClr val="tx1"/>
              </a:solidFill>
              <a:latin typeface="Times New Roman" panose="02020603050405020304" pitchFamily="18" charset="0"/>
              <a:ea typeface="MS PGothic" panose="020B0600070205080204" pitchFamily="34" charset="-128"/>
            </a:endParaRPr>
          </a:p>
          <a:p>
            <a:pPr lvl="2"/>
            <a:r>
              <a:rPr lang="en-US" altLang="en-US" dirty="0">
                <a:solidFill>
                  <a:schemeClr val="tx1"/>
                </a:solidFill>
                <a:latin typeface="Times New Roman" panose="02020603050405020304" pitchFamily="18" charset="0"/>
                <a:ea typeface="MS PGothic" panose="020B0600070205080204" pitchFamily="34" charset="-128"/>
              </a:rPr>
              <a:t>Usually borne via email or as a </a:t>
            </a:r>
            <a:r>
              <a:rPr lang="en-US" altLang="en-US" dirty="0" smtClean="0">
                <a:solidFill>
                  <a:schemeClr val="tx1"/>
                </a:solidFill>
                <a:latin typeface="Times New Roman" panose="02020603050405020304" pitchFamily="18" charset="0"/>
                <a:ea typeface="MS PGothic" panose="020B0600070205080204" pitchFamily="34" charset="-128"/>
              </a:rPr>
              <a:t>macro</a:t>
            </a:r>
          </a:p>
          <a:p>
            <a:pPr marL="914400" lvl="2" indent="0">
              <a:buNone/>
            </a:pPr>
            <a:endParaRPr lang="en-US" altLang="en-US" dirty="0">
              <a:solidFill>
                <a:schemeClr val="tx1"/>
              </a:solidFill>
              <a:latin typeface="Times New Roman" panose="02020603050405020304" pitchFamily="18" charset="0"/>
              <a:ea typeface="MS PGothic" panose="020B0600070205080204" pitchFamily="34" charset="-128"/>
            </a:endParaRPr>
          </a:p>
          <a:p>
            <a:pPr lvl="2"/>
            <a:r>
              <a:rPr lang="en-US" altLang="en-US" sz="2000" dirty="0">
                <a:solidFill>
                  <a:schemeClr val="tx1"/>
                </a:solidFill>
                <a:latin typeface="Times New Roman" panose="02020603050405020304" pitchFamily="18" charset="0"/>
                <a:ea typeface="MS PGothic" panose="020B0600070205080204" pitchFamily="34" charset="-128"/>
              </a:rPr>
              <a:t>Visual Basic Macro to reformat hard drive</a:t>
            </a:r>
          </a:p>
          <a:p>
            <a:pPr marL="914400" lvl="4" indent="0">
              <a:buNone/>
            </a:pPr>
            <a:r>
              <a:rPr lang="en-US" altLang="en-US" sz="2000" dirty="0">
                <a:solidFill>
                  <a:schemeClr val="tx1"/>
                </a:solidFill>
                <a:latin typeface="Times New Roman" panose="02020603050405020304" pitchFamily="18" charset="0"/>
                <a:ea typeface="MS PGothic" panose="020B0600070205080204" pitchFamily="34" charset="-128"/>
              </a:rPr>
              <a:t>Sub AutoOpen()</a:t>
            </a:r>
          </a:p>
          <a:p>
            <a:pPr marL="914400" lvl="4" indent="0">
              <a:buNone/>
            </a:pPr>
            <a:r>
              <a:rPr lang="en-US" altLang="en-US" sz="2000" dirty="0">
                <a:solidFill>
                  <a:schemeClr val="tx1"/>
                </a:solidFill>
                <a:latin typeface="Times New Roman" panose="02020603050405020304" pitchFamily="18" charset="0"/>
                <a:ea typeface="MS PGothic" panose="020B0600070205080204" pitchFamily="34" charset="-128"/>
              </a:rPr>
              <a:t>Dim oFS</a:t>
            </a:r>
          </a:p>
          <a:p>
            <a:pPr marL="914400" lvl="4" indent="0">
              <a:buNone/>
            </a:pPr>
            <a:r>
              <a:rPr lang="en-US" altLang="en-US" sz="2000" dirty="0">
                <a:solidFill>
                  <a:schemeClr val="tx1"/>
                </a:solidFill>
                <a:latin typeface="Times New Roman" panose="02020603050405020304" pitchFamily="18" charset="0"/>
                <a:ea typeface="MS PGothic" panose="020B0600070205080204" pitchFamily="34" charset="-128"/>
              </a:rPr>
              <a:t>	Set oFS = CreateObject(</a:t>
            </a:r>
            <a:r>
              <a:rPr lang="ja-JP" altLang="en-US" sz="2000" dirty="0">
                <a:solidFill>
                  <a:schemeClr val="tx1"/>
                </a:solidFill>
                <a:latin typeface="Times New Roman" panose="02020603050405020304" pitchFamily="18" charset="0"/>
                <a:ea typeface="MS PGothic" panose="020B0600070205080204" pitchFamily="34" charset="-128"/>
              </a:rPr>
              <a:t>’’</a:t>
            </a:r>
            <a:r>
              <a:rPr lang="en-US" altLang="ja-JP" sz="2000"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Scripting.FileSystemObject</a:t>
            </a:r>
            <a:r>
              <a:rPr lang="ja-JP" altLang="en-US" sz="2000" dirty="0">
                <a:solidFill>
                  <a:schemeClr val="tx1"/>
                </a:solidFill>
                <a:latin typeface="Times New Roman" panose="02020603050405020304" pitchFamily="18" charset="0"/>
                <a:ea typeface="MS PGothic" panose="020B0600070205080204" pitchFamily="34" charset="-128"/>
              </a:rPr>
              <a:t>’’</a:t>
            </a:r>
            <a:r>
              <a:rPr lang="en-US" altLang="ja-JP" sz="2000"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a:t>
            </a:r>
          </a:p>
          <a:p>
            <a:pPr marL="914400" lvl="4" indent="0">
              <a:buNone/>
            </a:pPr>
            <a:r>
              <a:rPr lang="en-US" altLang="en-US" sz="2000"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vs = Shell(</a:t>
            </a:r>
            <a:r>
              <a:rPr lang="ja-JP" altLang="en-US" sz="2000" dirty="0">
                <a:solidFill>
                  <a:schemeClr val="tx1"/>
                </a:solidFill>
                <a:latin typeface="Times New Roman" panose="02020603050405020304" pitchFamily="18" charset="0"/>
                <a:ea typeface="MS PGothic" panose="020B0600070205080204" pitchFamily="34" charset="-128"/>
              </a:rPr>
              <a:t>’’</a:t>
            </a:r>
            <a:r>
              <a:rPr lang="en-US" altLang="ja-JP" sz="2000"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c:command.com /k format c:</a:t>
            </a:r>
            <a:r>
              <a:rPr lang="ja-JP" altLang="en-US" sz="2000" dirty="0">
                <a:solidFill>
                  <a:schemeClr val="tx1"/>
                </a:solidFill>
                <a:latin typeface="Times New Roman" panose="02020603050405020304" pitchFamily="18" charset="0"/>
                <a:ea typeface="MS PGothic" panose="020B0600070205080204" pitchFamily="34" charset="-128"/>
              </a:rPr>
              <a:t>’’</a:t>
            </a:r>
            <a:r>
              <a:rPr lang="en-US" altLang="ja-JP" sz="2000"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,vbHide)</a:t>
            </a:r>
          </a:p>
          <a:p>
            <a:pPr marL="914400" lvl="4" indent="0">
              <a:buNone/>
            </a:pPr>
            <a:r>
              <a:rPr lang="en-US" altLang="en-US" sz="2000"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End Sub</a:t>
            </a:r>
          </a:p>
          <a:p>
            <a:endParaRPr lang="en-US" altLang="en-US" dirty="0" smtClean="0"/>
          </a:p>
        </p:txBody>
      </p:sp>
    </p:spTree>
    <p:extLst>
      <p:ext uri="{BB962C8B-B14F-4D97-AF65-F5344CB8AC3E}">
        <p14:creationId xmlns:p14="http://schemas.microsoft.com/office/powerpoint/2010/main" val="3472030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1847851" y="476251"/>
            <a:ext cx="8564563" cy="576263"/>
          </a:xfrm>
        </p:spPr>
        <p:txBody>
          <a:bodyPr>
            <a:normAutofit fontScale="90000"/>
          </a:bodyPr>
          <a:lstStyle/>
          <a:p>
            <a:r>
              <a:rPr lang="en-US" altLang="en-US" dirty="0" smtClean="0">
                <a:latin typeface="Times New Roman" panose="02020603050405020304" pitchFamily="18" charset="0"/>
                <a:cs typeface="Times New Roman" panose="02020603050405020304" pitchFamily="18" charset="0"/>
              </a:rPr>
              <a:t>Program threats </a:t>
            </a:r>
          </a:p>
        </p:txBody>
      </p:sp>
      <p:sp>
        <p:nvSpPr>
          <p:cNvPr id="3" name="Content Placeholder 2"/>
          <p:cNvSpPr>
            <a:spLocks noGrp="1"/>
          </p:cNvSpPr>
          <p:nvPr>
            <p:ph idx="1"/>
          </p:nvPr>
        </p:nvSpPr>
        <p:spPr>
          <a:xfrm>
            <a:off x="386367" y="1249251"/>
            <a:ext cx="9954610" cy="4835637"/>
          </a:xfrm>
        </p:spPr>
        <p:txBody>
          <a:bodyPr/>
          <a:lstStyle/>
          <a:p>
            <a:pPr lvl="1"/>
            <a:r>
              <a:rPr lang="en-US" altLang="en-US" dirty="0" smtClean="0">
                <a:solidFill>
                  <a:schemeClr val="tx1"/>
                </a:solidFill>
                <a:latin typeface="Times New Roman" panose="02020603050405020304" pitchFamily="18" charset="0"/>
                <a:ea typeface="MS PGothic" panose="020B0600070205080204" pitchFamily="34" charset="-128"/>
              </a:rPr>
              <a:t>Viruses</a:t>
            </a:r>
          </a:p>
          <a:p>
            <a:pPr lvl="2">
              <a:lnSpc>
                <a:spcPct val="90000"/>
              </a:lnSpc>
            </a:pPr>
            <a:r>
              <a:rPr lang="en-US" altLang="en-US" b="1" dirty="0" smtClean="0">
                <a:latin typeface="Times New Roman" panose="02020603050405020304" pitchFamily="18" charset="0"/>
                <a:ea typeface="MS PGothic" panose="020B0600070205080204" pitchFamily="34" charset="-128"/>
              </a:rPr>
              <a:t>Virus dropper</a:t>
            </a:r>
            <a:r>
              <a:rPr lang="en-US" altLang="en-US" dirty="0" smtClean="0">
                <a:latin typeface="Times New Roman" panose="02020603050405020304" pitchFamily="18" charset="0"/>
                <a:ea typeface="MS PGothic" panose="020B0600070205080204" pitchFamily="34" charset="-128"/>
              </a:rPr>
              <a:t> inserts virus onto the system</a:t>
            </a:r>
          </a:p>
          <a:p>
            <a:pPr lvl="2">
              <a:lnSpc>
                <a:spcPct val="90000"/>
              </a:lnSpc>
            </a:pPr>
            <a:r>
              <a:rPr lang="en-US" altLang="en-US" dirty="0" smtClean="0">
                <a:latin typeface="Times New Roman" panose="02020603050405020304" pitchFamily="18" charset="0"/>
                <a:ea typeface="MS PGothic" panose="020B0600070205080204" pitchFamily="34" charset="-128"/>
              </a:rPr>
              <a:t>Many categories of viruses, literally many thousands of viruses</a:t>
            </a:r>
          </a:p>
          <a:p>
            <a:pPr lvl="3">
              <a:lnSpc>
                <a:spcPct val="90000"/>
              </a:lnSpc>
            </a:pPr>
            <a:r>
              <a:rPr lang="en-US" altLang="en-US" dirty="0" smtClean="0">
                <a:latin typeface="Times New Roman" panose="02020603050405020304" pitchFamily="18" charset="0"/>
                <a:ea typeface="MS PGothic" panose="020B0600070205080204" pitchFamily="34" charset="-128"/>
              </a:rPr>
              <a:t>File</a:t>
            </a:r>
          </a:p>
          <a:p>
            <a:pPr lvl="3">
              <a:lnSpc>
                <a:spcPct val="90000"/>
              </a:lnSpc>
            </a:pPr>
            <a:r>
              <a:rPr lang="en-US" altLang="en-US" dirty="0" smtClean="0">
                <a:latin typeface="Times New Roman" panose="02020603050405020304" pitchFamily="18" charset="0"/>
                <a:ea typeface="MS PGothic" panose="020B0600070205080204" pitchFamily="34" charset="-128"/>
              </a:rPr>
              <a:t>Boot (</a:t>
            </a:r>
            <a:r>
              <a:rPr lang="en-US" altLang="en-US" dirty="0" err="1" smtClean="0">
                <a:latin typeface="Times New Roman" panose="02020603050405020304" pitchFamily="18" charset="0"/>
                <a:ea typeface="MS PGothic" panose="020B0600070205080204" pitchFamily="34" charset="-128"/>
              </a:rPr>
              <a:t>mebroot</a:t>
            </a:r>
            <a:r>
              <a:rPr lang="en-US" altLang="en-US" dirty="0" smtClean="0">
                <a:latin typeface="Times New Roman" panose="02020603050405020304" pitchFamily="18" charset="0"/>
                <a:ea typeface="MS PGothic" panose="020B0600070205080204" pitchFamily="34" charset="-128"/>
              </a:rPr>
              <a:t>)</a:t>
            </a:r>
          </a:p>
          <a:p>
            <a:pPr lvl="3"/>
            <a:r>
              <a:rPr lang="en-US" altLang="en-US" dirty="0" smtClean="0">
                <a:latin typeface="Times New Roman" panose="02020603050405020304" pitchFamily="18" charset="0"/>
                <a:ea typeface="MS PGothic" panose="020B0600070205080204" pitchFamily="34" charset="-128"/>
              </a:rPr>
              <a:t>Macro (</a:t>
            </a:r>
            <a:r>
              <a:rPr lang="en-US" altLang="en-US" dirty="0">
                <a:latin typeface="Times New Roman" panose="02020603050405020304" pitchFamily="18" charset="0"/>
                <a:ea typeface="MS PGothic" panose="020B0600070205080204" pitchFamily="34" charset="-128"/>
              </a:rPr>
              <a:t>Melissa </a:t>
            </a:r>
            <a:r>
              <a:rPr lang="en-US" altLang="en-US" dirty="0" smtClean="0">
                <a:latin typeface="Times New Roman" panose="02020603050405020304" pitchFamily="18" charset="0"/>
                <a:ea typeface="MS PGothic" panose="020B0600070205080204" pitchFamily="34" charset="-128"/>
              </a:rPr>
              <a:t>virus</a:t>
            </a:r>
            <a:r>
              <a:rPr lang="en-US" altLang="en-US" dirty="0">
                <a:latin typeface="Times New Roman" panose="02020603050405020304" pitchFamily="18" charset="0"/>
                <a:ea typeface="MS PGothic" panose="020B0600070205080204" pitchFamily="34" charset="-128"/>
              </a:rPr>
              <a:t>)</a:t>
            </a:r>
            <a:endParaRPr lang="en-US" altLang="en-US" dirty="0" smtClean="0">
              <a:latin typeface="Times New Roman" panose="02020603050405020304" pitchFamily="18" charset="0"/>
              <a:ea typeface="MS PGothic" panose="020B0600070205080204" pitchFamily="34" charset="-128"/>
            </a:endParaRPr>
          </a:p>
          <a:p>
            <a:pPr lvl="3">
              <a:lnSpc>
                <a:spcPct val="90000"/>
              </a:lnSpc>
            </a:pPr>
            <a:r>
              <a:rPr lang="en-US" altLang="en-US" dirty="0" smtClean="0">
                <a:latin typeface="Times New Roman" panose="02020603050405020304" pitchFamily="18" charset="0"/>
                <a:ea typeface="MS PGothic" panose="020B0600070205080204" pitchFamily="34" charset="-128"/>
              </a:rPr>
              <a:t>Source code</a:t>
            </a:r>
          </a:p>
          <a:p>
            <a:pPr lvl="3">
              <a:lnSpc>
                <a:spcPct val="90000"/>
              </a:lnSpc>
            </a:pPr>
            <a:r>
              <a:rPr lang="en-US" altLang="en-US" dirty="0" smtClean="0">
                <a:latin typeface="Times New Roman" panose="02020603050405020304" pitchFamily="18" charset="0"/>
                <a:ea typeface="MS PGothic" panose="020B0600070205080204" pitchFamily="34" charset="-128"/>
              </a:rPr>
              <a:t>Multipartite (depends on OS) (</a:t>
            </a:r>
            <a:r>
              <a:rPr lang="en-US" altLang="en-US" dirty="0" err="1" smtClean="0">
                <a:latin typeface="Times New Roman" panose="02020603050405020304" pitchFamily="18" charset="0"/>
                <a:ea typeface="MS PGothic" panose="020B0600070205080204" pitchFamily="34" charset="-128"/>
              </a:rPr>
              <a:t>codeRED</a:t>
            </a:r>
            <a:r>
              <a:rPr lang="en-US" altLang="en-US" dirty="0" smtClean="0">
                <a:latin typeface="Times New Roman" panose="02020603050405020304" pitchFamily="18" charset="0"/>
                <a:ea typeface="MS PGothic" panose="020B0600070205080204" pitchFamily="34" charset="-128"/>
              </a:rPr>
              <a:t>)</a:t>
            </a:r>
          </a:p>
          <a:p>
            <a:pPr lvl="3">
              <a:lnSpc>
                <a:spcPct val="90000"/>
              </a:lnSpc>
            </a:pPr>
            <a:r>
              <a:rPr lang="en-US" altLang="en-US" dirty="0" smtClean="0">
                <a:latin typeface="Times New Roman" panose="02020603050405020304" pitchFamily="18" charset="0"/>
                <a:ea typeface="MS PGothic" panose="020B0600070205080204" pitchFamily="34" charset="-128"/>
              </a:rPr>
              <a:t>Polymorphic (encrypted and changes coding)</a:t>
            </a:r>
          </a:p>
          <a:p>
            <a:pPr lvl="3">
              <a:lnSpc>
                <a:spcPct val="90000"/>
              </a:lnSpc>
            </a:pPr>
            <a:r>
              <a:rPr lang="en-US" altLang="en-US" dirty="0" smtClean="0">
                <a:latin typeface="Times New Roman" panose="02020603050405020304" pitchFamily="18" charset="0"/>
                <a:ea typeface="MS PGothic" panose="020B0600070205080204" pitchFamily="34" charset="-128"/>
              </a:rPr>
              <a:t>Encrypted</a:t>
            </a:r>
          </a:p>
          <a:p>
            <a:pPr lvl="3">
              <a:lnSpc>
                <a:spcPct val="90000"/>
              </a:lnSpc>
            </a:pPr>
            <a:r>
              <a:rPr lang="en-US" altLang="en-US" dirty="0" smtClean="0">
                <a:latin typeface="Times New Roman" panose="02020603050405020304" pitchFamily="18" charset="0"/>
                <a:ea typeface="MS PGothic" panose="020B0600070205080204" pitchFamily="34" charset="-128"/>
              </a:rPr>
              <a:t>Stealth (attack the OS processes)</a:t>
            </a:r>
          </a:p>
          <a:p>
            <a:pPr lvl="3">
              <a:lnSpc>
                <a:spcPct val="90000"/>
              </a:lnSpc>
            </a:pPr>
            <a:r>
              <a:rPr lang="en-US" altLang="en-US" dirty="0" smtClean="0">
                <a:latin typeface="Times New Roman" panose="02020603050405020304" pitchFamily="18" charset="0"/>
                <a:ea typeface="MS PGothic" panose="020B0600070205080204" pitchFamily="34" charset="-128"/>
              </a:rPr>
              <a:t>Tunneling </a:t>
            </a:r>
          </a:p>
        </p:txBody>
      </p:sp>
    </p:spTree>
    <p:extLst>
      <p:ext uri="{BB962C8B-B14F-4D97-AF65-F5344CB8AC3E}">
        <p14:creationId xmlns:p14="http://schemas.microsoft.com/office/powerpoint/2010/main" val="17425351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379659" y="244431"/>
            <a:ext cx="8564563" cy="576263"/>
          </a:xfrm>
        </p:spPr>
        <p:txBody>
          <a:bodyPr>
            <a:normAutofit fontScale="90000"/>
          </a:bodyPr>
          <a:lstStyle/>
          <a:p>
            <a:r>
              <a:rPr lang="en-US" altLang="en-US" dirty="0" smtClean="0">
                <a:latin typeface="Times New Roman" panose="02020603050405020304" pitchFamily="18" charset="0"/>
                <a:cs typeface="Times New Roman" panose="02020603050405020304" pitchFamily="18" charset="0"/>
              </a:rPr>
              <a:t>Program threats </a:t>
            </a:r>
          </a:p>
        </p:txBody>
      </p:sp>
      <p:sp>
        <p:nvSpPr>
          <p:cNvPr id="3" name="Content Placeholder 2"/>
          <p:cNvSpPr>
            <a:spLocks noGrp="1"/>
          </p:cNvSpPr>
          <p:nvPr>
            <p:ph idx="1"/>
          </p:nvPr>
        </p:nvSpPr>
        <p:spPr>
          <a:xfrm>
            <a:off x="379659" y="1197735"/>
            <a:ext cx="9961317" cy="4887153"/>
          </a:xfrm>
        </p:spPr>
        <p:txBody>
          <a:bodyPr/>
          <a:lstStyle/>
          <a:p>
            <a:pPr marL="457200" lvl="1" indent="0">
              <a:buNone/>
            </a:pPr>
            <a:endParaRPr lang="en-US" altLang="en-US" dirty="0" smtClean="0">
              <a:solidFill>
                <a:schemeClr val="tx1"/>
              </a:solidFill>
              <a:latin typeface="Times New Roman" panose="02020603050405020304" pitchFamily="18" charset="0"/>
              <a:ea typeface="MS PGothic" panose="020B0600070205080204" pitchFamily="34" charset="-128"/>
            </a:endParaRPr>
          </a:p>
          <a:p>
            <a:pPr lvl="1"/>
            <a:r>
              <a:rPr lang="en-US" altLang="en-US" sz="2800" dirty="0" smtClean="0">
                <a:solidFill>
                  <a:schemeClr val="tx1"/>
                </a:solidFill>
                <a:latin typeface="Times New Roman" panose="02020603050405020304" pitchFamily="18" charset="0"/>
                <a:ea typeface="MS PGothic" panose="020B0600070205080204" pitchFamily="34" charset="-128"/>
              </a:rPr>
              <a:t>Worms </a:t>
            </a:r>
          </a:p>
          <a:p>
            <a:pPr marL="457200" lvl="1" indent="0">
              <a:buNone/>
            </a:pPr>
            <a:endParaRPr lang="en-US" altLang="en-US" sz="2800" dirty="0" smtClean="0">
              <a:solidFill>
                <a:schemeClr val="tx1"/>
              </a:solidFill>
              <a:latin typeface="Times New Roman" panose="02020603050405020304" pitchFamily="18" charset="0"/>
              <a:ea typeface="MS PGothic" panose="020B0600070205080204" pitchFamily="34" charset="-128"/>
            </a:endParaRPr>
          </a:p>
          <a:p>
            <a:pPr marL="457200" lvl="1" indent="0">
              <a:buNone/>
            </a:pPr>
            <a:r>
              <a:rPr lang="en-US" altLang="en-US" dirty="0" smtClean="0">
                <a:solidFill>
                  <a:schemeClr val="tx1"/>
                </a:solidFill>
                <a:latin typeface="Times New Roman" panose="02020603050405020304" pitchFamily="18" charset="0"/>
                <a:ea typeface="MS PGothic" panose="020B0600070205080204" pitchFamily="34" charset="-128"/>
              </a:rPr>
              <a:t>– use spawn mechanism; standalone program</a:t>
            </a:r>
          </a:p>
          <a:p>
            <a:pPr lvl="1">
              <a:buFont typeface="Times New Roman" panose="02020603050405020304" pitchFamily="18" charset="0"/>
              <a:buChar char="―"/>
            </a:pPr>
            <a:r>
              <a:rPr lang="en-US" altLang="en-US" dirty="0">
                <a:latin typeface="Times New Roman" panose="02020603050405020304" pitchFamily="18" charset="0"/>
                <a:ea typeface="MS PGothic" panose="020B0600070205080204" pitchFamily="34" charset="-128"/>
              </a:rPr>
              <a:t> </a:t>
            </a:r>
            <a:r>
              <a:rPr lang="en-US" altLang="en-US" dirty="0" smtClean="0">
                <a:latin typeface="Times New Roman" panose="02020603050405020304" pitchFamily="18" charset="0"/>
                <a:ea typeface="MS PGothic" panose="020B0600070205080204" pitchFamily="34" charset="-128"/>
              </a:rPr>
              <a:t>uses network </a:t>
            </a:r>
            <a:r>
              <a:rPr lang="en-US" altLang="en-US" dirty="0">
                <a:latin typeface="Times New Roman" panose="02020603050405020304" pitchFamily="18" charset="0"/>
                <a:ea typeface="MS PGothic" panose="020B0600070205080204" pitchFamily="34" charset="-128"/>
              </a:rPr>
              <a:t> as </a:t>
            </a:r>
            <a:r>
              <a:rPr lang="en-US" altLang="en-US" dirty="0" smtClean="0">
                <a:latin typeface="Times New Roman" panose="02020603050405020304" pitchFamily="18" charset="0"/>
                <a:ea typeface="MS PGothic" panose="020B0600070205080204" pitchFamily="34" charset="-128"/>
              </a:rPr>
              <a:t>transmission </a:t>
            </a:r>
            <a:r>
              <a:rPr lang="en-US" altLang="en-US" dirty="0">
                <a:latin typeface="Times New Roman" panose="02020603050405020304" pitchFamily="18" charset="0"/>
                <a:ea typeface="MS PGothic" panose="020B0600070205080204" pitchFamily="34" charset="-128"/>
              </a:rPr>
              <a:t>medium </a:t>
            </a:r>
            <a:endParaRPr lang="en-US" altLang="en-US" dirty="0" smtClean="0">
              <a:solidFill>
                <a:schemeClr val="tx1"/>
              </a:solidFill>
              <a:latin typeface="Times New Roman" panose="02020603050405020304" pitchFamily="18" charset="0"/>
              <a:ea typeface="MS PGothic" panose="020B0600070205080204" pitchFamily="34" charset="-128"/>
            </a:endParaRPr>
          </a:p>
          <a:p>
            <a:pPr lvl="2"/>
            <a:r>
              <a:rPr lang="en-US" altLang="en-US" dirty="0" smtClean="0">
                <a:solidFill>
                  <a:schemeClr val="tx1"/>
                </a:solidFill>
                <a:latin typeface="Times New Roman" panose="02020603050405020304" pitchFamily="18" charset="0"/>
                <a:ea typeface="MS PGothic" panose="020B0600070205080204" pitchFamily="34" charset="-128"/>
              </a:rPr>
              <a:t>Internet worm</a:t>
            </a:r>
          </a:p>
          <a:p>
            <a:pPr lvl="3"/>
            <a:r>
              <a:rPr lang="en-US" altLang="en-US" dirty="0" smtClean="0">
                <a:solidFill>
                  <a:schemeClr val="tx1"/>
                </a:solidFill>
                <a:latin typeface="Times New Roman" panose="02020603050405020304" pitchFamily="18" charset="0"/>
                <a:ea typeface="MS PGothic" panose="020B0600070205080204" pitchFamily="34" charset="-128"/>
              </a:rPr>
              <a:t>Exploited UNIX networking features (remote access) and bugs in finger and send mail programs (iloveyou worm)</a:t>
            </a:r>
          </a:p>
          <a:p>
            <a:pPr lvl="3"/>
            <a:r>
              <a:rPr lang="en-US" altLang="en-US" dirty="0" smtClean="0">
                <a:solidFill>
                  <a:schemeClr val="tx1"/>
                </a:solidFill>
                <a:latin typeface="Times New Roman" panose="02020603050405020304" pitchFamily="18" charset="0"/>
                <a:ea typeface="MS PGothic" panose="020B0600070205080204" pitchFamily="34" charset="-128"/>
              </a:rPr>
              <a:t>Grappling hook program uploaded main worm program</a:t>
            </a:r>
          </a:p>
        </p:txBody>
      </p:sp>
    </p:spTree>
    <p:extLst>
      <p:ext uri="{BB962C8B-B14F-4D97-AF65-F5344CB8AC3E}">
        <p14:creationId xmlns:p14="http://schemas.microsoft.com/office/powerpoint/2010/main" val="40528040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1847851" y="476251"/>
            <a:ext cx="8564563" cy="576263"/>
          </a:xfrm>
        </p:spPr>
        <p:txBody>
          <a:bodyPr>
            <a:normAutofit fontScale="90000"/>
          </a:bodyPr>
          <a:lstStyle/>
          <a:p>
            <a:r>
              <a:rPr lang="en-GB" altLang="en-US" dirty="0" smtClean="0"/>
              <a:t>Malware</a:t>
            </a:r>
            <a:endParaRPr lang="en-US" altLang="en-US" dirty="0" smtClean="0"/>
          </a:p>
        </p:txBody>
      </p:sp>
      <p:sp>
        <p:nvSpPr>
          <p:cNvPr id="3" name="Content Placeholder 2"/>
          <p:cNvSpPr>
            <a:spLocks noGrp="1"/>
          </p:cNvSpPr>
          <p:nvPr>
            <p:ph idx="1"/>
          </p:nvPr>
        </p:nvSpPr>
        <p:spPr>
          <a:xfrm>
            <a:off x="1809751" y="1341438"/>
            <a:ext cx="8531225" cy="4743450"/>
          </a:xfrm>
        </p:spPr>
        <p:txBody>
          <a:bodyPr/>
          <a:lstStyle/>
          <a:p>
            <a:r>
              <a:rPr lang="en-US" altLang="en-US" dirty="0" smtClean="0">
                <a:solidFill>
                  <a:schemeClr val="tx1"/>
                </a:solidFill>
                <a:latin typeface="Times New Roman" panose="02020603050405020304" pitchFamily="18" charset="0"/>
                <a:ea typeface="MS PGothic" panose="020B0600070205080204" pitchFamily="34" charset="-128"/>
              </a:rPr>
              <a:t>Malware</a:t>
            </a:r>
            <a:endParaRPr lang="en-US" altLang="en-US" dirty="0" smtClean="0">
              <a:latin typeface="Times New Roman" panose="02020603050405020304" pitchFamily="18" charset="0"/>
              <a:ea typeface="MS PGothic" panose="020B0600070205080204" pitchFamily="34" charset="-128"/>
              <a:cs typeface="Times New Roman" panose="02020603050405020304" pitchFamily="18" charset="0"/>
            </a:endParaRPr>
          </a:p>
          <a:p>
            <a:pPr lvl="1"/>
            <a:r>
              <a:rPr lang="en-US" altLang="en-US" dirty="0" smtClean="0">
                <a:latin typeface="Times New Roman" panose="02020603050405020304" pitchFamily="18" charset="0"/>
                <a:ea typeface="MS PGothic" panose="020B0600070205080204" pitchFamily="34" charset="-128"/>
                <a:cs typeface="Times New Roman" panose="02020603050405020304" pitchFamily="18" charset="0"/>
              </a:rPr>
              <a:t>Malware is an umbrella term used to refer to a variety of forms of hostile or intrusive software, including computer viruses, worms, Trojan horses, ransomware, spyware, adware, scareware, and other malicious programs. It can take the form of executable code, scripts, active content, and other software.</a:t>
            </a:r>
          </a:p>
          <a:p>
            <a:pPr lvl="1">
              <a:buFont typeface="Times New Roman" panose="02020603050405020304" pitchFamily="18" charset="0"/>
              <a:buNone/>
            </a:pPr>
            <a:endParaRPr lang="en-US" altLang="en-US" dirty="0" smtClean="0">
              <a:latin typeface="Times New Roman" panose="02020603050405020304" pitchFamily="18" charset="0"/>
              <a:ea typeface="MS PGothic" panose="020B0600070205080204" pitchFamily="34" charset="-128"/>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6385702" y="3408363"/>
            <a:ext cx="5151645" cy="3146983"/>
          </a:xfrm>
          <a:prstGeom prst="rect">
            <a:avLst/>
          </a:prstGeom>
        </p:spPr>
      </p:pic>
    </p:spTree>
    <p:extLst>
      <p:ext uri="{BB962C8B-B14F-4D97-AF65-F5344CB8AC3E}">
        <p14:creationId xmlns:p14="http://schemas.microsoft.com/office/powerpoint/2010/main" val="33377961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847851" y="476251"/>
            <a:ext cx="8564563" cy="576263"/>
          </a:xfrm>
        </p:spPr>
        <p:txBody>
          <a:bodyPr>
            <a:normAutofit fontScale="90000"/>
          </a:bodyPr>
          <a:lstStyle/>
          <a:p>
            <a:r>
              <a:rPr lang="en-US" altLang="en-US" dirty="0" smtClean="0">
                <a:solidFill>
                  <a:schemeClr val="tx1"/>
                </a:solidFill>
                <a:latin typeface="Times New Roman" panose="02020603050405020304" pitchFamily="18" charset="0"/>
                <a:ea typeface="MS PGothic" panose="020B0600070205080204" pitchFamily="34" charset="-128"/>
              </a:rPr>
              <a:t>System and Network Threats</a:t>
            </a:r>
          </a:p>
        </p:txBody>
      </p:sp>
      <p:sp>
        <p:nvSpPr>
          <p:cNvPr id="3" name="Content Placeholder 2"/>
          <p:cNvSpPr>
            <a:spLocks noGrp="1"/>
          </p:cNvSpPr>
          <p:nvPr>
            <p:ph idx="1"/>
          </p:nvPr>
        </p:nvSpPr>
        <p:spPr>
          <a:xfrm>
            <a:off x="1809751" y="1341438"/>
            <a:ext cx="8531225" cy="4743450"/>
          </a:xfrm>
        </p:spPr>
        <p:txBody>
          <a:bodyPr/>
          <a:lstStyle/>
          <a:p>
            <a:pPr lvl="1"/>
            <a:r>
              <a:rPr lang="en-US" altLang="en-US" dirty="0" smtClean="0">
                <a:solidFill>
                  <a:schemeClr val="tx1"/>
                </a:solidFill>
                <a:latin typeface="Times New Roman" panose="02020603050405020304" pitchFamily="18" charset="0"/>
                <a:ea typeface="MS PGothic" panose="020B0600070205080204" pitchFamily="34" charset="-128"/>
              </a:rPr>
              <a:t>Port scanning</a:t>
            </a:r>
          </a:p>
          <a:p>
            <a:pPr lvl="2"/>
            <a:r>
              <a:rPr lang="en-US" altLang="en-US" dirty="0" smtClean="0">
                <a:solidFill>
                  <a:schemeClr val="tx1"/>
                </a:solidFill>
                <a:latin typeface="Times New Roman" panose="02020603050405020304" pitchFamily="18" charset="0"/>
                <a:ea typeface="MS PGothic" panose="020B0600070205080204" pitchFamily="34" charset="-128"/>
              </a:rPr>
              <a:t>Automated attempt to connect to a range of ports on one or a range of IP addresses</a:t>
            </a:r>
          </a:p>
          <a:p>
            <a:pPr lvl="2"/>
            <a:r>
              <a:rPr lang="en-US" altLang="en-US" dirty="0" smtClean="0">
                <a:latin typeface="Times New Roman" panose="02020603050405020304" pitchFamily="18" charset="0"/>
                <a:ea typeface="MS PGothic" panose="020B0600070205080204" pitchFamily="34" charset="-128"/>
              </a:rPr>
              <a:t>Poke around to see what’s open and identify system</a:t>
            </a:r>
          </a:p>
          <a:p>
            <a:pPr lvl="2"/>
            <a:r>
              <a:rPr lang="en-US" altLang="en-US" dirty="0" smtClean="0">
                <a:latin typeface="Times New Roman" panose="02020603050405020304" pitchFamily="18" charset="0"/>
                <a:ea typeface="MS PGothic" panose="020B0600070205080204" pitchFamily="34" charset="-128"/>
              </a:rPr>
              <a:t>NMAP</a:t>
            </a:r>
          </a:p>
          <a:p>
            <a:pPr lvl="2"/>
            <a:endParaRPr lang="en-US" altLang="en-US" dirty="0" smtClean="0">
              <a:solidFill>
                <a:schemeClr val="tx1"/>
              </a:solidFill>
              <a:latin typeface="Times New Roman" panose="02020603050405020304" pitchFamily="18" charset="0"/>
              <a:ea typeface="MS PGothic" panose="020B0600070205080204" pitchFamily="34" charset="-128"/>
            </a:endParaRPr>
          </a:p>
          <a:p>
            <a:pPr lvl="1"/>
            <a:r>
              <a:rPr lang="en-US" altLang="en-US" dirty="0" smtClean="0">
                <a:solidFill>
                  <a:schemeClr val="tx1"/>
                </a:solidFill>
                <a:latin typeface="Times New Roman" panose="02020603050405020304" pitchFamily="18" charset="0"/>
                <a:ea typeface="MS PGothic" panose="020B0600070205080204" pitchFamily="34" charset="-128"/>
              </a:rPr>
              <a:t>Denial of Service</a:t>
            </a:r>
          </a:p>
          <a:p>
            <a:pPr lvl="2"/>
            <a:r>
              <a:rPr lang="en-US" altLang="en-US" dirty="0" smtClean="0">
                <a:solidFill>
                  <a:schemeClr val="tx1"/>
                </a:solidFill>
                <a:latin typeface="Times New Roman" panose="02020603050405020304" pitchFamily="18" charset="0"/>
                <a:ea typeface="MS PGothic" panose="020B0600070205080204" pitchFamily="34" charset="-128"/>
              </a:rPr>
              <a:t>Overload the targeted computer preventing it from doing any useful work (force a service to fail)</a:t>
            </a:r>
          </a:p>
          <a:p>
            <a:pPr lvl="2"/>
            <a:r>
              <a:rPr lang="en-US" altLang="en-US" dirty="0" smtClean="0">
                <a:solidFill>
                  <a:schemeClr val="tx1"/>
                </a:solidFill>
                <a:latin typeface="Times New Roman" panose="02020603050405020304" pitchFamily="18" charset="0"/>
                <a:ea typeface="MS PGothic" panose="020B0600070205080204" pitchFamily="34" charset="-128"/>
              </a:rPr>
              <a:t>Distributed denial-of-service (DDOS) come from multiple sites at once</a:t>
            </a:r>
          </a:p>
          <a:p>
            <a:pPr lvl="2"/>
            <a:r>
              <a:rPr lang="en-US" altLang="en-US" dirty="0" smtClean="0">
                <a:latin typeface="Times New Roman" panose="02020603050405020304" pitchFamily="18" charset="0"/>
                <a:ea typeface="MS PGothic" panose="020B0600070205080204" pitchFamily="34" charset="-128"/>
              </a:rPr>
              <a:t>Core flood botnet</a:t>
            </a:r>
            <a:endParaRPr lang="en-US" altLang="en-US" dirty="0" smtClean="0">
              <a:solidFill>
                <a:schemeClr val="tx1"/>
              </a:solidFill>
              <a:latin typeface="Times New Roman" panose="02020603050405020304" pitchFamily="18" charset="0"/>
              <a:ea typeface="MS PGothic" panose="020B0600070205080204" pitchFamily="34" charset="-128"/>
            </a:endParaRPr>
          </a:p>
        </p:txBody>
      </p:sp>
    </p:spTree>
    <p:extLst>
      <p:ext uri="{BB962C8B-B14F-4D97-AF65-F5344CB8AC3E}">
        <p14:creationId xmlns:p14="http://schemas.microsoft.com/office/powerpoint/2010/main" val="7621033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r>
              <a:rPr lang="en-US" altLang="en-US" dirty="0" smtClean="0"/>
              <a:t>Q&amp;A ?</a:t>
            </a:r>
          </a:p>
        </p:txBody>
      </p:sp>
      <p:pic>
        <p:nvPicPr>
          <p:cNvPr id="19458" name="Content Placeholder 4" descr="Any Questions.png"/>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26591" y="1775521"/>
            <a:ext cx="8138818" cy="4351338"/>
          </a:xfrm>
        </p:spPr>
      </p:pic>
    </p:spTree>
    <p:extLst>
      <p:ext uri="{BB962C8B-B14F-4D97-AF65-F5344CB8AC3E}">
        <p14:creationId xmlns:p14="http://schemas.microsoft.com/office/powerpoint/2010/main" val="207911422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0" y="0"/>
            <a:ext cx="8564563" cy="576263"/>
          </a:xfrm>
        </p:spPr>
        <p:txBody>
          <a:bodyPr>
            <a:normAutofit fontScale="90000"/>
          </a:bodyPr>
          <a:lstStyle/>
          <a:p>
            <a:pPr marL="342900" indent="-342900"/>
            <a:r>
              <a:rPr lang="en-US" altLang="en-US" dirty="0" smtClean="0"/>
              <a:t>Security in Operating System</a:t>
            </a:r>
          </a:p>
        </p:txBody>
      </p:sp>
      <p:sp>
        <p:nvSpPr>
          <p:cNvPr id="3" name="Content Placeholder 2"/>
          <p:cNvSpPr>
            <a:spLocks noGrp="1"/>
          </p:cNvSpPr>
          <p:nvPr>
            <p:ph idx="1"/>
          </p:nvPr>
        </p:nvSpPr>
        <p:spPr>
          <a:xfrm>
            <a:off x="515155" y="1107583"/>
            <a:ext cx="9825821" cy="4977305"/>
          </a:xfrm>
        </p:spPr>
        <p:txBody>
          <a:bodyPr>
            <a:normAutofit/>
          </a:bodyPr>
          <a:lstStyle/>
          <a:p>
            <a:pPr>
              <a:buFont typeface="Times New Roman" pitchFamily="16" charset="0"/>
              <a:buChar char="•"/>
              <a:defRPr/>
            </a:pPr>
            <a:r>
              <a:rPr lang="en-US" sz="3200" dirty="0">
                <a:ea typeface="宋体" pitchFamily="2" charset="-122"/>
              </a:rPr>
              <a:t>Security must occur at four levels to be effective:</a:t>
            </a:r>
          </a:p>
          <a:p>
            <a:pPr lvl="1">
              <a:buFont typeface="Times New Roman" pitchFamily="16" charset="0"/>
              <a:buChar char="–"/>
              <a:defRPr/>
            </a:pPr>
            <a:r>
              <a:rPr lang="en-US" sz="2800" dirty="0" smtClean="0">
                <a:ea typeface="宋体" pitchFamily="2" charset="-122"/>
              </a:rPr>
              <a:t>Physical</a:t>
            </a:r>
          </a:p>
          <a:p>
            <a:pPr lvl="2">
              <a:defRPr/>
            </a:pPr>
            <a:r>
              <a:rPr lang="en-US" sz="2400" dirty="0" smtClean="0">
                <a:ea typeface="宋体" pitchFamily="2" charset="-122"/>
              </a:rPr>
              <a:t>devices</a:t>
            </a:r>
            <a:endParaRPr lang="en-US" sz="2400" dirty="0">
              <a:ea typeface="宋体" pitchFamily="2" charset="-122"/>
            </a:endParaRPr>
          </a:p>
          <a:p>
            <a:pPr lvl="1">
              <a:buFont typeface="Times New Roman" pitchFamily="16" charset="0"/>
              <a:buChar char="–"/>
              <a:defRPr/>
            </a:pPr>
            <a:r>
              <a:rPr lang="en-US" sz="2800" dirty="0" smtClean="0">
                <a:ea typeface="宋体" pitchFamily="2" charset="-122"/>
              </a:rPr>
              <a:t>Human</a:t>
            </a:r>
          </a:p>
          <a:p>
            <a:pPr lvl="2">
              <a:buFont typeface="Times New Roman" pitchFamily="16" charset="0"/>
              <a:buChar char="•"/>
              <a:defRPr/>
            </a:pPr>
            <a:r>
              <a:rPr lang="en-US" sz="2400" dirty="0" smtClean="0">
                <a:ea typeface="宋体" pitchFamily="2" charset="-122"/>
              </a:rPr>
              <a:t>Avoid </a:t>
            </a:r>
            <a:r>
              <a:rPr lang="en-US" sz="2400" dirty="0">
                <a:ea typeface="宋体" pitchFamily="2" charset="-122"/>
              </a:rPr>
              <a:t>social engineering, </a:t>
            </a:r>
            <a:r>
              <a:rPr lang="en-US" sz="2400" dirty="0" smtClean="0">
                <a:ea typeface="宋体" pitchFamily="2" charset="-122"/>
              </a:rPr>
              <a:t>phishing</a:t>
            </a:r>
            <a:endParaRPr lang="en-US" sz="2400" dirty="0">
              <a:ea typeface="宋体" pitchFamily="2" charset="-122"/>
            </a:endParaRPr>
          </a:p>
          <a:p>
            <a:pPr lvl="1">
              <a:buFont typeface="Times New Roman" pitchFamily="16" charset="0"/>
              <a:buChar char="–"/>
              <a:defRPr/>
            </a:pPr>
            <a:r>
              <a:rPr lang="en-US" sz="2800" dirty="0">
                <a:ea typeface="宋体" pitchFamily="2" charset="-122"/>
              </a:rPr>
              <a:t>Operating System</a:t>
            </a:r>
          </a:p>
          <a:p>
            <a:pPr lvl="1">
              <a:buFont typeface="Times New Roman" pitchFamily="16" charset="0"/>
              <a:buChar char="–"/>
              <a:defRPr/>
            </a:pPr>
            <a:r>
              <a:rPr lang="en-US" sz="2800" dirty="0" smtClean="0">
                <a:ea typeface="宋体" pitchFamily="2" charset="-122"/>
              </a:rPr>
              <a:t>Network</a:t>
            </a:r>
          </a:p>
          <a:p>
            <a:pPr marL="457200" lvl="1" indent="0">
              <a:buNone/>
              <a:defRPr/>
            </a:pPr>
            <a:endParaRPr lang="en-US" sz="2800" dirty="0">
              <a:ea typeface="宋体" pitchFamily="2" charset="-122"/>
            </a:endParaRPr>
          </a:p>
          <a:p>
            <a:pPr>
              <a:buFont typeface="Times New Roman" pitchFamily="16" charset="0"/>
              <a:buChar char="•"/>
              <a:defRPr/>
            </a:pPr>
            <a:r>
              <a:rPr lang="en-US" sz="3200" dirty="0">
                <a:ea typeface="宋体" pitchFamily="2" charset="-122"/>
              </a:rPr>
              <a:t>Security is as weak as the weakest link in the chain</a:t>
            </a:r>
          </a:p>
          <a:p>
            <a:pPr marL="0" indent="0">
              <a:buNone/>
              <a:defRPr/>
            </a:pPr>
            <a:endParaRPr lang="en-US" sz="3200" dirty="0">
              <a:latin typeface="Times New Roman"/>
              <a:ea typeface="宋体" pitchFamily="2" charset="-122"/>
              <a:cs typeface="Times New Roman"/>
            </a:endParaRPr>
          </a:p>
        </p:txBody>
      </p:sp>
    </p:spTree>
    <p:extLst>
      <p:ext uri="{BB962C8B-B14F-4D97-AF65-F5344CB8AC3E}">
        <p14:creationId xmlns:p14="http://schemas.microsoft.com/office/powerpoint/2010/main" val="13862147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measure</a:t>
            </a:r>
            <a:endParaRPr lang="en-US" dirty="0"/>
          </a:p>
        </p:txBody>
      </p:sp>
      <p:sp>
        <p:nvSpPr>
          <p:cNvPr id="3" name="Content Placeholder 2"/>
          <p:cNvSpPr>
            <a:spLocks noGrp="1"/>
          </p:cNvSpPr>
          <p:nvPr>
            <p:ph idx="1"/>
          </p:nvPr>
        </p:nvSpPr>
        <p:spPr/>
        <p:txBody>
          <a:bodyPr/>
          <a:lstStyle/>
          <a:p>
            <a:r>
              <a:rPr lang="en-US" dirty="0" smtClean="0"/>
              <a:t>IPS (intrusion prevention systems)</a:t>
            </a:r>
          </a:p>
          <a:p>
            <a:pPr lvl="1"/>
            <a:r>
              <a:rPr lang="en-US" dirty="0" smtClean="0"/>
              <a:t>Monitors a single host for suspicious activity by analyzing events within the host</a:t>
            </a:r>
          </a:p>
          <a:p>
            <a:pPr lvl="1"/>
            <a:r>
              <a:rPr lang="en-US" dirty="0" smtClean="0"/>
              <a:t>Host based firewall</a:t>
            </a:r>
          </a:p>
          <a:p>
            <a:pPr lvl="1"/>
            <a:r>
              <a:rPr lang="en-US" dirty="0"/>
              <a:t>Network based </a:t>
            </a:r>
            <a:r>
              <a:rPr lang="en-US" dirty="0" smtClean="0"/>
              <a:t>firewall</a:t>
            </a:r>
          </a:p>
          <a:p>
            <a:pPr lvl="1"/>
            <a:endParaRPr lang="en-US" dirty="0"/>
          </a:p>
          <a:p>
            <a:r>
              <a:rPr lang="en-US" dirty="0"/>
              <a:t>IDS (intrusion detection systems)</a:t>
            </a:r>
          </a:p>
          <a:p>
            <a:pPr lvl="1"/>
            <a:r>
              <a:rPr lang="en-US" dirty="0"/>
              <a:t>Capable of monitoring and analyzing internals of computer system as well as </a:t>
            </a:r>
            <a:r>
              <a:rPr lang="en-US" dirty="0" smtClean="0"/>
              <a:t>network</a:t>
            </a:r>
          </a:p>
          <a:p>
            <a:pPr lvl="1"/>
            <a:r>
              <a:rPr lang="en-US" dirty="0"/>
              <a:t>it is not designed to block attacks.</a:t>
            </a:r>
            <a:r>
              <a:rPr lang="en-GB" dirty="0"/>
              <a:t/>
            </a:r>
            <a:br>
              <a:rPr lang="en-GB" dirty="0"/>
            </a:br>
            <a:endParaRPr lang="en-US" dirty="0"/>
          </a:p>
          <a:p>
            <a:pPr lvl="1"/>
            <a:endParaRPr lang="en-US" dirty="0"/>
          </a:p>
        </p:txBody>
      </p:sp>
    </p:spTree>
    <p:extLst>
      <p:ext uri="{BB962C8B-B14F-4D97-AF65-F5344CB8AC3E}">
        <p14:creationId xmlns:p14="http://schemas.microsoft.com/office/powerpoint/2010/main" val="119312499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753147" y="334583"/>
            <a:ext cx="8564563" cy="576263"/>
          </a:xfrm>
        </p:spPr>
        <p:txBody>
          <a:bodyPr>
            <a:normAutofit fontScale="90000"/>
          </a:bodyPr>
          <a:lstStyle/>
          <a:p>
            <a:r>
              <a:rPr lang="en-GB" altLang="en-US" dirty="0" smtClean="0"/>
              <a:t>Host Based Firewall</a:t>
            </a:r>
            <a:endParaRPr lang="en-US" altLang="en-US" dirty="0" smtClean="0"/>
          </a:p>
        </p:txBody>
      </p:sp>
      <p:sp>
        <p:nvSpPr>
          <p:cNvPr id="3" name="Content Placeholder 2"/>
          <p:cNvSpPr>
            <a:spLocks noGrp="1"/>
          </p:cNvSpPr>
          <p:nvPr>
            <p:ph idx="1"/>
          </p:nvPr>
        </p:nvSpPr>
        <p:spPr>
          <a:xfrm>
            <a:off x="450761" y="1468191"/>
            <a:ext cx="9529607" cy="4513665"/>
          </a:xfrm>
        </p:spPr>
        <p:txBody>
          <a:bodyPr/>
          <a:lstStyle/>
          <a:p>
            <a:r>
              <a:rPr lang="en-US" altLang="en-US" dirty="0" smtClean="0">
                <a:solidFill>
                  <a:schemeClr val="tx1"/>
                </a:solidFill>
                <a:latin typeface="Times New Roman" panose="02020603050405020304" pitchFamily="18" charset="0"/>
                <a:ea typeface="MS PGothic" panose="020B0600070205080204" pitchFamily="34" charset="-128"/>
              </a:rPr>
              <a:t>Host based firewall </a:t>
            </a:r>
          </a:p>
          <a:p>
            <a:endParaRPr lang="en-US" altLang="en-US" dirty="0" smtClean="0">
              <a:solidFill>
                <a:schemeClr val="tx1"/>
              </a:solidFill>
              <a:latin typeface="Times New Roman" panose="02020603050405020304" pitchFamily="18" charset="0"/>
              <a:ea typeface="MS PGothic" panose="020B0600070205080204" pitchFamily="34" charset="-128"/>
            </a:endParaRPr>
          </a:p>
          <a:p>
            <a:pPr lvl="1"/>
            <a:r>
              <a:rPr lang="en-US" altLang="en-US" dirty="0" smtClean="0">
                <a:latin typeface="Times New Roman" panose="02020603050405020304" pitchFamily="18" charset="0"/>
                <a:ea typeface="MS PGothic" panose="020B0600070205080204" pitchFamily="34" charset="-128"/>
                <a:cs typeface="Times New Roman" panose="02020603050405020304" pitchFamily="18" charset="0"/>
              </a:rPr>
              <a:t>A host-based firewall is a piece of software running on a single host that can restrict incoming and outgoing network activity for that host only. They can prevent a host from becoming infected and stop infected hosts from spreading malware to other hosts.</a:t>
            </a:r>
          </a:p>
          <a:p>
            <a:pPr lvl="1">
              <a:buFont typeface="Times New Roman" pitchFamily="16" charset="0"/>
              <a:buChar char="–"/>
              <a:defRPr/>
            </a:pPr>
            <a:r>
              <a:rPr lang="en-US" dirty="0">
                <a:ea typeface="宋体" pitchFamily="2" charset="-122"/>
              </a:rPr>
              <a:t>Server or clients are equipped with default firewalling tools. </a:t>
            </a:r>
            <a:endParaRPr lang="en-US" dirty="0" smtClean="0">
              <a:ea typeface="宋体" pitchFamily="2" charset="-122"/>
            </a:endParaRPr>
          </a:p>
          <a:p>
            <a:pPr lvl="1">
              <a:buFont typeface="Times New Roman" pitchFamily="16" charset="0"/>
              <a:buChar char="–"/>
              <a:defRPr/>
            </a:pPr>
            <a:r>
              <a:rPr lang="en-US" dirty="0" smtClean="0">
                <a:ea typeface="宋体" pitchFamily="2" charset="-122"/>
              </a:rPr>
              <a:t>Used by individuals</a:t>
            </a:r>
            <a:endParaRPr lang="en-US" dirty="0">
              <a:ea typeface="宋体" pitchFamily="2" charset="-122"/>
            </a:endParaRPr>
          </a:p>
          <a:p>
            <a:pPr lvl="1">
              <a:buFont typeface="Times New Roman" pitchFamily="16" charset="0"/>
              <a:buChar char="–"/>
              <a:defRPr/>
            </a:pPr>
            <a:endParaRPr lang="en-US" dirty="0">
              <a:ea typeface="宋体" pitchFamily="2" charset="-122"/>
            </a:endParaRPr>
          </a:p>
          <a:p>
            <a:pPr lvl="1"/>
            <a:endParaRPr lang="en-US" altLang="en-US" dirty="0" smtClean="0">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15201924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89397" y="295946"/>
            <a:ext cx="8564563" cy="576263"/>
          </a:xfrm>
        </p:spPr>
        <p:txBody>
          <a:bodyPr>
            <a:normAutofit fontScale="90000"/>
          </a:bodyPr>
          <a:lstStyle/>
          <a:p>
            <a:r>
              <a:rPr lang="en-GB" altLang="en-US" dirty="0" smtClean="0"/>
              <a:t>Host Based Firewall</a:t>
            </a:r>
            <a:endParaRPr lang="en-US" altLang="en-US" dirty="0" smtClean="0"/>
          </a:p>
        </p:txBody>
      </p:sp>
      <p:sp>
        <p:nvSpPr>
          <p:cNvPr id="3" name="Content Placeholder 2"/>
          <p:cNvSpPr>
            <a:spLocks noGrp="1"/>
          </p:cNvSpPr>
          <p:nvPr>
            <p:ph idx="1"/>
          </p:nvPr>
        </p:nvSpPr>
        <p:spPr>
          <a:xfrm>
            <a:off x="296215" y="1052514"/>
            <a:ext cx="10250824" cy="4923754"/>
          </a:xfrm>
        </p:spPr>
        <p:txBody>
          <a:bodyPr/>
          <a:lstStyle/>
          <a:p>
            <a:pPr marL="0" lvl="1" indent="0">
              <a:spcBef>
                <a:spcPts val="700"/>
              </a:spcBef>
              <a:buNone/>
              <a:defRPr/>
            </a:pPr>
            <a:r>
              <a:rPr lang="en-US" dirty="0">
                <a:ea typeface="宋体" pitchFamily="2" charset="-122"/>
              </a:rPr>
              <a:t>Example: Microsoft (Windows firewall), Linux (Iptables, IPFW, etc)</a:t>
            </a:r>
          </a:p>
          <a:p>
            <a:pPr marL="0" indent="0">
              <a:buNone/>
              <a:defRPr/>
            </a:pPr>
            <a:endParaRPr lang="en-US" dirty="0">
              <a:ea typeface="宋体" pitchFamily="2" charset="-122"/>
            </a:endParaRPr>
          </a:p>
          <a:p>
            <a:pPr marL="457200" lvl="1" indent="0">
              <a:buNone/>
              <a:defRPr/>
            </a:pPr>
            <a:endParaRPr lang="en-US" dirty="0">
              <a:latin typeface="Times New Roman"/>
              <a:ea typeface="宋体" pitchFamily="2" charset="-122"/>
              <a:cs typeface="Times New Roman"/>
            </a:endParaRPr>
          </a:p>
        </p:txBody>
      </p:sp>
      <p:pic>
        <p:nvPicPr>
          <p:cNvPr id="2" name="Picture 1"/>
          <p:cNvPicPr>
            <a:picLocks noChangeAspect="1"/>
          </p:cNvPicPr>
          <p:nvPr/>
        </p:nvPicPr>
        <p:blipFill>
          <a:blip r:embed="rId2"/>
          <a:stretch>
            <a:fillRect/>
          </a:stretch>
        </p:blipFill>
        <p:spPr>
          <a:xfrm>
            <a:off x="489397" y="1628777"/>
            <a:ext cx="10673904" cy="4632662"/>
          </a:xfrm>
          <a:prstGeom prst="rect">
            <a:avLst/>
          </a:prstGeom>
        </p:spPr>
      </p:pic>
    </p:spTree>
    <p:extLst>
      <p:ext uri="{BB962C8B-B14F-4D97-AF65-F5344CB8AC3E}">
        <p14:creationId xmlns:p14="http://schemas.microsoft.com/office/powerpoint/2010/main" val="39628073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based firewall</a:t>
            </a:r>
            <a:endParaRPr lang="en-US" dirty="0"/>
          </a:p>
        </p:txBody>
      </p:sp>
      <p:sp>
        <p:nvSpPr>
          <p:cNvPr id="3" name="Content Placeholder 2"/>
          <p:cNvSpPr>
            <a:spLocks noGrp="1"/>
          </p:cNvSpPr>
          <p:nvPr>
            <p:ph idx="1"/>
          </p:nvPr>
        </p:nvSpPr>
        <p:spPr/>
        <p:txBody>
          <a:bodyPr/>
          <a:lstStyle/>
          <a:p>
            <a:r>
              <a:rPr lang="en-US" dirty="0" smtClean="0"/>
              <a:t>Built into the infrastructure of the cloud (Amazon’s firewall in AWS environment)</a:t>
            </a:r>
          </a:p>
          <a:p>
            <a:r>
              <a:rPr lang="en-US" dirty="0" smtClean="0"/>
              <a:t> virtual firewalls services such as those offered by cisco, check point.</a:t>
            </a:r>
          </a:p>
          <a:p>
            <a:r>
              <a:rPr lang="en-US" dirty="0" smtClean="0"/>
              <a:t>Used in organizations</a:t>
            </a:r>
          </a:p>
          <a:p>
            <a:endParaRPr lang="en-US" dirty="0"/>
          </a:p>
        </p:txBody>
      </p:sp>
    </p:spTree>
    <p:extLst>
      <p:ext uri="{BB962C8B-B14F-4D97-AF65-F5344CB8AC3E}">
        <p14:creationId xmlns:p14="http://schemas.microsoft.com/office/powerpoint/2010/main" val="18766880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r>
              <a:rPr lang="en-US" altLang="en-US" dirty="0" smtClean="0"/>
              <a:t>Q&amp;A ?</a:t>
            </a:r>
          </a:p>
        </p:txBody>
      </p:sp>
      <p:pic>
        <p:nvPicPr>
          <p:cNvPr id="23554" name="Content Placeholder 3" descr="Any Questions.png"/>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26591" y="1825625"/>
            <a:ext cx="8138818" cy="4351338"/>
          </a:xfrm>
        </p:spPr>
      </p:pic>
    </p:spTree>
    <p:extLst>
      <p:ext uri="{BB962C8B-B14F-4D97-AF65-F5344CB8AC3E}">
        <p14:creationId xmlns:p14="http://schemas.microsoft.com/office/powerpoint/2010/main" val="409282599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r>
              <a:rPr lang="en-US" altLang="en-US" dirty="0" smtClean="0"/>
              <a:t>Summary </a:t>
            </a:r>
          </a:p>
        </p:txBody>
      </p:sp>
      <p:sp>
        <p:nvSpPr>
          <p:cNvPr id="3" name="Content Placeholder 2"/>
          <p:cNvSpPr>
            <a:spLocks noGrp="1"/>
          </p:cNvSpPr>
          <p:nvPr>
            <p:ph idx="1"/>
          </p:nvPr>
        </p:nvSpPr>
        <p:spPr/>
        <p:txBody>
          <a:bodyPr/>
          <a:lstStyle/>
          <a:p>
            <a:r>
              <a:rPr lang="en-US" altLang="en-US" dirty="0" smtClean="0"/>
              <a:t>In this lecture we discussed </a:t>
            </a:r>
          </a:p>
          <a:p>
            <a:endParaRPr lang="en-US" altLang="en-US" dirty="0" smtClean="0"/>
          </a:p>
          <a:p>
            <a:pPr lvl="1"/>
            <a:r>
              <a:rPr lang="en-US" altLang="en-US" dirty="0">
                <a:latin typeface="Times New Roman" panose="02020603050405020304" pitchFamily="18" charset="0"/>
                <a:cs typeface="Times New Roman" panose="02020603050405020304" pitchFamily="18" charset="0"/>
              </a:rPr>
              <a:t>Key concepts security in operating systems </a:t>
            </a:r>
          </a:p>
          <a:p>
            <a:pPr lvl="1"/>
            <a:r>
              <a:rPr lang="en-US" altLang="en-US" dirty="0">
                <a:latin typeface="Times New Roman" panose="02020603050405020304" pitchFamily="18" charset="0"/>
                <a:cs typeface="Times New Roman" panose="02020603050405020304" pitchFamily="18" charset="0"/>
              </a:rPr>
              <a:t>Program threats</a:t>
            </a:r>
          </a:p>
          <a:p>
            <a:pPr lvl="1"/>
            <a:r>
              <a:rPr lang="en-US" altLang="en-US" dirty="0">
                <a:latin typeface="Times New Roman" panose="02020603050405020304" pitchFamily="18" charset="0"/>
                <a:cs typeface="Times New Roman" panose="02020603050405020304" pitchFamily="18" charset="0"/>
              </a:rPr>
              <a:t>System and network threats</a:t>
            </a:r>
          </a:p>
          <a:p>
            <a:pPr lvl="1"/>
            <a:r>
              <a:rPr lang="en-US" altLang="en-US" dirty="0">
                <a:latin typeface="Times New Roman" panose="02020603050405020304" pitchFamily="18" charset="0"/>
                <a:cs typeface="Times New Roman" panose="02020603050405020304" pitchFamily="18" charset="0"/>
              </a:rPr>
              <a:t>Host based firewalls and Network based firewalls </a:t>
            </a:r>
          </a:p>
          <a:p>
            <a:pPr marL="457200" lvl="1" indent="0">
              <a:buNone/>
            </a:pP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885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1601" y="1527176"/>
            <a:ext cx="4327525" cy="397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56910476"/>
      </p:ext>
    </p:extLst>
  </p:cSld>
  <p:clrMapOvr>
    <a:masterClrMapping/>
  </p:clrMapOvr>
  <p:timing>
    <p:tnLst>
      <p:par>
        <p:cTn id="1" dur="indefinite" restart="never" nodeType="tmRoot"/>
      </p:par>
    </p:tnLst>
  </p:timing>
</p:sld>
</file>

<file path=ppt/theme/theme1.xml><?xml version="1.0" encoding="utf-8"?>
<a:theme xmlns:a="http://schemas.openxmlformats.org/drawingml/2006/main" name="2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alibri"/>
        <a:ea typeface="SimSun"/>
        <a:cs typeface=""/>
      </a:majorFont>
      <a:minorFont>
        <a:latin typeface="Calibri"/>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Calibri" pitchFamily="32" charset="0"/>
            <a:ea typeface="SimSun"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Calibri" pitchFamily="32" charset="0"/>
            <a:ea typeface="SimSun"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652</TotalTime>
  <Words>1782</Words>
  <Application>Microsoft Office PowerPoint</Application>
  <PresentationFormat>Widescreen</PresentationFormat>
  <Paragraphs>289</Paragraphs>
  <Slides>41</Slides>
  <Notes>4</Notes>
  <HiddenSlides>1</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41</vt:i4>
      </vt:variant>
    </vt:vector>
  </HeadingPairs>
  <TitlesOfParts>
    <vt:vector size="54" baseType="lpstr">
      <vt:lpstr>ＭＳ Ｐゴシック</vt:lpstr>
      <vt:lpstr>ＭＳ Ｐゴシック</vt:lpstr>
      <vt:lpstr>SimSun</vt:lpstr>
      <vt:lpstr>SimSun</vt:lpstr>
      <vt:lpstr>Arial</vt:lpstr>
      <vt:lpstr>Calibri</vt:lpstr>
      <vt:lpstr>Calibri Light</vt:lpstr>
      <vt:lpstr>Helvetica</vt:lpstr>
      <vt:lpstr>Monotype Sorts</vt:lpstr>
      <vt:lpstr>Times New Roman</vt:lpstr>
      <vt:lpstr>Wingdings</vt:lpstr>
      <vt:lpstr>2_Office Theme</vt:lpstr>
      <vt:lpstr>Office Theme</vt:lpstr>
      <vt:lpstr>[Computer Architecture Fundamentals and Concepts]</vt:lpstr>
      <vt:lpstr>Agenda</vt:lpstr>
      <vt:lpstr>Learning Objectives </vt:lpstr>
      <vt:lpstr>Review of Week 9 (1)</vt:lpstr>
      <vt:lpstr>Review of Week 9 (2)</vt:lpstr>
      <vt:lpstr>Q&amp;A ?</vt:lpstr>
      <vt:lpstr>Security in Operating System</vt:lpstr>
      <vt:lpstr>Security in Operating System</vt:lpstr>
      <vt:lpstr>Security Breaches - Terminology</vt:lpstr>
      <vt:lpstr>PowerPoint Presentation</vt:lpstr>
      <vt:lpstr>Key concepts of Information Security</vt:lpstr>
      <vt:lpstr>Key concepts of Information Security</vt:lpstr>
      <vt:lpstr>Key concepts of Information Security</vt:lpstr>
      <vt:lpstr>Key concepts of Information Security</vt:lpstr>
      <vt:lpstr>Key concepts of Information Security</vt:lpstr>
      <vt:lpstr>Key concepts of Information Security</vt:lpstr>
      <vt:lpstr>Key concepts of Information Security</vt:lpstr>
      <vt:lpstr>Key concepts of Information Security</vt:lpstr>
      <vt:lpstr>The security violations – Categories </vt:lpstr>
      <vt:lpstr> The security violations - Methods </vt:lpstr>
      <vt:lpstr> The security violations - Methods </vt:lpstr>
      <vt:lpstr> The security violations - Methods </vt:lpstr>
      <vt:lpstr>Types of Malicious Code</vt:lpstr>
      <vt:lpstr>Program threats</vt:lpstr>
      <vt:lpstr>Program threats </vt:lpstr>
      <vt:lpstr>Program threats </vt:lpstr>
      <vt:lpstr>Program threats </vt:lpstr>
      <vt:lpstr>Program threats </vt:lpstr>
      <vt:lpstr>Program threats </vt:lpstr>
      <vt:lpstr>Program threats </vt:lpstr>
      <vt:lpstr>Malware</vt:lpstr>
      <vt:lpstr>System and Network Threats</vt:lpstr>
      <vt:lpstr>Q&amp;A ?</vt:lpstr>
      <vt:lpstr>Security in Operating System</vt:lpstr>
      <vt:lpstr>Security measure</vt:lpstr>
      <vt:lpstr>Host Based Firewall</vt:lpstr>
      <vt:lpstr>Host Based Firewall</vt:lpstr>
      <vt:lpstr>Network based firewall</vt:lpstr>
      <vt:lpstr>Q&amp;A ?</vt:lpstr>
      <vt:lpstr>Summary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kritika</dc:creator>
  <cp:lastModifiedBy>aljesh basnet</cp:lastModifiedBy>
  <cp:revision>38</cp:revision>
  <dcterms:created xsi:type="dcterms:W3CDTF">2018-05-16T14:58:10Z</dcterms:created>
  <dcterms:modified xsi:type="dcterms:W3CDTF">2019-05-27T13:38:37Z</dcterms:modified>
</cp:coreProperties>
</file>