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90" r:id="rId10"/>
    <p:sldId id="264" r:id="rId11"/>
    <p:sldId id="265" r:id="rId12"/>
    <p:sldId id="266" r:id="rId13"/>
    <p:sldId id="289" r:id="rId14"/>
    <p:sldId id="267" r:id="rId15"/>
    <p:sldId id="268" r:id="rId16"/>
    <p:sldId id="270" r:id="rId17"/>
    <p:sldId id="292" r:id="rId18"/>
    <p:sldId id="293" r:id="rId19"/>
    <p:sldId id="271" r:id="rId20"/>
    <p:sldId id="272" r:id="rId21"/>
    <p:sldId id="273" r:id="rId22"/>
    <p:sldId id="274" r:id="rId23"/>
    <p:sldId id="291" r:id="rId24"/>
    <p:sldId id="29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863"/>
    <p:restoredTop sz="94624"/>
  </p:normalViewPr>
  <p:slideViewPr>
    <p:cSldViewPr>
      <p:cViewPr varScale="1">
        <p:scale>
          <a:sx n="67" d="100"/>
          <a:sy n="67" d="100"/>
        </p:scale>
        <p:origin x="762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105" dirty="0"/>
              <a:t>iAcademy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07-Apr-19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105" dirty="0"/>
              <a:t>iAcademy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07-Apr-19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105" dirty="0"/>
              <a:t>iAcademy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07-Apr-19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105" dirty="0"/>
              <a:t>iAcademy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07-Apr-19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105" dirty="0"/>
              <a:t>iAcademy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07-Apr-19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213360"/>
          </a:xfrm>
          <a:custGeom>
            <a:avLst/>
            <a:gdLst/>
            <a:ahLst/>
            <a:cxnLst/>
            <a:rect l="l" t="t" r="r" b="b"/>
            <a:pathLst>
              <a:path w="9144000" h="213360">
                <a:moveTo>
                  <a:pt x="0" y="213359"/>
                </a:moveTo>
                <a:lnTo>
                  <a:pt x="9144000" y="213359"/>
                </a:lnTo>
                <a:lnTo>
                  <a:pt x="9144000" y="0"/>
                </a:lnTo>
                <a:lnTo>
                  <a:pt x="0" y="0"/>
                </a:lnTo>
                <a:lnTo>
                  <a:pt x="0" y="21335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1218" y="47701"/>
            <a:ext cx="5946775" cy="1366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3118" y="1263739"/>
            <a:ext cx="8383270" cy="4424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8739" y="6646112"/>
            <a:ext cx="927735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105" dirty="0"/>
              <a:t>iAcademy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07-Apr-19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40445" y="0"/>
            <a:ext cx="927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iAcademy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22859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4572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644639"/>
            <a:ext cx="9144000" cy="213360"/>
          </a:xfrm>
          <a:custGeom>
            <a:avLst/>
            <a:gdLst/>
            <a:ahLst/>
            <a:cxnLst/>
            <a:rect l="l" t="t" r="r" b="b"/>
            <a:pathLst>
              <a:path w="9144000" h="213359">
                <a:moveTo>
                  <a:pt x="0" y="213359"/>
                </a:moveTo>
                <a:lnTo>
                  <a:pt x="9144000" y="213359"/>
                </a:lnTo>
                <a:lnTo>
                  <a:pt x="9144000" y="0"/>
                </a:lnTo>
                <a:lnTo>
                  <a:pt x="0" y="0"/>
                </a:lnTo>
                <a:lnTo>
                  <a:pt x="0" y="21335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13103" y="6822947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70104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57680" y="804494"/>
            <a:ext cx="6633209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597535">
              <a:lnSpc>
                <a:spcPct val="100000"/>
              </a:lnSpc>
              <a:spcBef>
                <a:spcPts val="95"/>
              </a:spcBef>
            </a:pPr>
            <a:r>
              <a:rPr spc="-140" dirty="0"/>
              <a:t>[Computer </a:t>
            </a:r>
            <a:r>
              <a:rPr spc="-105" dirty="0"/>
              <a:t>Architecture  </a:t>
            </a:r>
            <a:r>
              <a:rPr spc="-215" dirty="0"/>
              <a:t>Fundamentals </a:t>
            </a:r>
            <a:r>
              <a:rPr spc="-210" dirty="0"/>
              <a:t>and</a:t>
            </a:r>
            <a:r>
              <a:rPr spc="-225" dirty="0"/>
              <a:t> </a:t>
            </a:r>
            <a:r>
              <a:rPr spc="-215" dirty="0"/>
              <a:t>Concepts]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105" dirty="0"/>
              <a:t>iAcademy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35811" y="2608082"/>
            <a:ext cx="7001509" cy="20313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20800"/>
              </a:lnSpc>
              <a:spcBef>
                <a:spcPts val="95"/>
              </a:spcBef>
            </a:pPr>
            <a:r>
              <a:rPr sz="2800" spc="-90" dirty="0">
                <a:latin typeface="Arial"/>
                <a:cs typeface="Arial"/>
              </a:rPr>
              <a:t>[Computer </a:t>
            </a:r>
            <a:r>
              <a:rPr sz="2800" spc="-65" dirty="0">
                <a:latin typeface="Arial"/>
                <a:cs typeface="Arial"/>
              </a:rPr>
              <a:t>Architecture </a:t>
            </a:r>
            <a:r>
              <a:rPr sz="2800" spc="-130" dirty="0">
                <a:latin typeface="Arial"/>
                <a:cs typeface="Arial"/>
              </a:rPr>
              <a:t>and </a:t>
            </a:r>
            <a:r>
              <a:rPr sz="2800" spc="-100" dirty="0">
                <a:latin typeface="Arial"/>
                <a:cs typeface="Arial"/>
              </a:rPr>
              <a:t>Operating</a:t>
            </a:r>
            <a:r>
              <a:rPr sz="2800" spc="-335" dirty="0">
                <a:latin typeface="Arial"/>
                <a:cs typeface="Arial"/>
              </a:rPr>
              <a:t> </a:t>
            </a:r>
            <a:r>
              <a:rPr sz="2800" spc="-170" dirty="0">
                <a:latin typeface="Arial"/>
                <a:cs typeface="Arial"/>
              </a:rPr>
              <a:t>Systems]  </a:t>
            </a:r>
            <a:r>
              <a:rPr sz="2800" spc="-120" dirty="0">
                <a:latin typeface="Arial"/>
                <a:cs typeface="Arial"/>
              </a:rPr>
              <a:t>Lecture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10" dirty="0">
                <a:latin typeface="Arial"/>
                <a:cs typeface="Arial"/>
              </a:rPr>
              <a:t>[6]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415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400" i="1" spc="-20" dirty="0">
                <a:latin typeface="Arial"/>
                <a:cs typeface="Arial"/>
              </a:rPr>
              <a:t>[</a:t>
            </a:r>
            <a:r>
              <a:rPr sz="2400" spc="-20" dirty="0">
                <a:latin typeface="Arial"/>
                <a:cs typeface="Arial"/>
              </a:rPr>
              <a:t>Introduction </a:t>
            </a:r>
            <a:r>
              <a:rPr sz="2400" spc="35" dirty="0">
                <a:latin typeface="Arial"/>
                <a:cs typeface="Arial"/>
              </a:rPr>
              <a:t>to</a:t>
            </a:r>
            <a:r>
              <a:rPr sz="2400" spc="-425" dirty="0">
                <a:latin typeface="Arial"/>
                <a:cs typeface="Arial"/>
              </a:rPr>
              <a:t> </a:t>
            </a:r>
            <a:r>
              <a:rPr sz="2400" spc="-85" dirty="0">
                <a:latin typeface="Arial"/>
                <a:cs typeface="Arial"/>
              </a:rPr>
              <a:t>Operating </a:t>
            </a:r>
            <a:r>
              <a:rPr sz="2400" spc="-150" dirty="0">
                <a:latin typeface="Arial"/>
                <a:cs typeface="Arial"/>
              </a:rPr>
              <a:t>Systems</a:t>
            </a:r>
            <a:r>
              <a:rPr sz="2400" i="1" spc="-150" dirty="0">
                <a:latin typeface="Arial"/>
                <a:cs typeface="Arial"/>
              </a:rPr>
              <a:t>]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4779" y="5216652"/>
            <a:ext cx="8787765" cy="128651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89535" marR="87630" algn="just">
              <a:lnSpc>
                <a:spcPct val="100000"/>
              </a:lnSpc>
              <a:spcBef>
                <a:spcPts val="285"/>
              </a:spcBef>
            </a:pPr>
            <a:r>
              <a:rPr sz="1400" spc="-100" dirty="0">
                <a:latin typeface="Arial"/>
                <a:cs typeface="Arial"/>
              </a:rPr>
              <a:t>This </a:t>
            </a:r>
            <a:r>
              <a:rPr sz="1400" spc="-35" dirty="0">
                <a:latin typeface="Arial"/>
                <a:cs typeface="Arial"/>
              </a:rPr>
              <a:t>lecture </a:t>
            </a:r>
            <a:r>
              <a:rPr sz="1400" spc="-60" dirty="0">
                <a:latin typeface="Arial"/>
                <a:cs typeface="Arial"/>
              </a:rPr>
              <a:t>and </a:t>
            </a:r>
            <a:r>
              <a:rPr sz="1400" spc="-25" dirty="0">
                <a:latin typeface="Arial"/>
                <a:cs typeface="Arial"/>
              </a:rPr>
              <a:t>its </a:t>
            </a:r>
            <a:r>
              <a:rPr sz="1400" spc="-75" dirty="0">
                <a:latin typeface="Arial"/>
                <a:cs typeface="Arial"/>
              </a:rPr>
              <a:t>associated </a:t>
            </a:r>
            <a:r>
              <a:rPr sz="1400" spc="-50" dirty="0">
                <a:latin typeface="Arial"/>
                <a:cs typeface="Arial"/>
              </a:rPr>
              <a:t>materials </a:t>
            </a:r>
            <a:r>
              <a:rPr sz="1400" spc="-95" dirty="0">
                <a:latin typeface="Arial"/>
                <a:cs typeface="Arial"/>
              </a:rPr>
              <a:t>have </a:t>
            </a:r>
            <a:r>
              <a:rPr sz="1400" spc="-65" dirty="0">
                <a:latin typeface="Arial"/>
                <a:cs typeface="Arial"/>
              </a:rPr>
              <a:t>been </a:t>
            </a:r>
            <a:r>
              <a:rPr sz="1400" spc="-55" dirty="0">
                <a:latin typeface="Arial"/>
                <a:cs typeface="Arial"/>
              </a:rPr>
              <a:t>produced by </a:t>
            </a:r>
            <a:r>
              <a:rPr sz="1400" spc="-75" dirty="0">
                <a:latin typeface="Arial"/>
                <a:cs typeface="Arial"/>
              </a:rPr>
              <a:t>[Bikash </a:t>
            </a:r>
            <a:r>
              <a:rPr sz="1400" spc="-50" dirty="0">
                <a:latin typeface="Arial"/>
                <a:cs typeface="Arial"/>
              </a:rPr>
              <a:t>Bhattarai </a:t>
            </a:r>
            <a:r>
              <a:rPr sz="1400" spc="-70" dirty="0">
                <a:latin typeface="Arial"/>
                <a:cs typeface="Arial"/>
              </a:rPr>
              <a:t>and </a:t>
            </a:r>
            <a:r>
              <a:rPr sz="1400" spc="-65" dirty="0">
                <a:latin typeface="Arial"/>
                <a:cs typeface="Arial"/>
              </a:rPr>
              <a:t>MBA] </a:t>
            </a:r>
            <a:r>
              <a:rPr sz="1400" spc="-5" dirty="0">
                <a:latin typeface="Arial"/>
                <a:cs typeface="Arial"/>
              </a:rPr>
              <a:t>of </a:t>
            </a:r>
            <a:r>
              <a:rPr sz="1400" spc="-85" dirty="0">
                <a:latin typeface="Arial"/>
                <a:cs typeface="Arial"/>
              </a:rPr>
              <a:t>iAcademy </a:t>
            </a:r>
            <a:r>
              <a:rPr sz="1400" spc="-5" dirty="0">
                <a:latin typeface="Arial"/>
                <a:cs typeface="Arial"/>
              </a:rPr>
              <a:t>for </a:t>
            </a:r>
            <a:r>
              <a:rPr sz="1400" spc="-25" dirty="0">
                <a:latin typeface="Arial"/>
                <a:cs typeface="Arial"/>
              </a:rPr>
              <a:t>the  </a:t>
            </a:r>
            <a:r>
              <a:rPr sz="1400" spc="-70" dirty="0">
                <a:latin typeface="Arial"/>
                <a:cs typeface="Arial"/>
              </a:rPr>
              <a:t>purposes </a:t>
            </a:r>
            <a:r>
              <a:rPr sz="1400" spc="-5" dirty="0">
                <a:latin typeface="Arial"/>
                <a:cs typeface="Arial"/>
              </a:rPr>
              <a:t>of </a:t>
            </a:r>
            <a:r>
              <a:rPr sz="1400" spc="-35" dirty="0">
                <a:latin typeface="Arial"/>
                <a:cs typeface="Arial"/>
              </a:rPr>
              <a:t>lecturing </a:t>
            </a:r>
            <a:r>
              <a:rPr sz="1400" spc="-45" dirty="0">
                <a:latin typeface="Arial"/>
                <a:cs typeface="Arial"/>
              </a:rPr>
              <a:t>on </a:t>
            </a:r>
            <a:r>
              <a:rPr sz="1400" spc="-20" dirty="0">
                <a:latin typeface="Arial"/>
                <a:cs typeface="Arial"/>
              </a:rPr>
              <a:t>the </a:t>
            </a:r>
            <a:r>
              <a:rPr sz="1400" spc="-80" dirty="0">
                <a:latin typeface="Arial"/>
                <a:cs typeface="Arial"/>
              </a:rPr>
              <a:t>above </a:t>
            </a:r>
            <a:r>
              <a:rPr sz="1400" spc="-60" dirty="0">
                <a:latin typeface="Arial"/>
                <a:cs typeface="Arial"/>
              </a:rPr>
              <a:t>described </a:t>
            </a:r>
            <a:r>
              <a:rPr sz="1400" spc="-50" dirty="0">
                <a:latin typeface="Arial"/>
                <a:cs typeface="Arial"/>
              </a:rPr>
              <a:t>subject </a:t>
            </a:r>
            <a:r>
              <a:rPr sz="1400" spc="-70" dirty="0">
                <a:latin typeface="Arial"/>
                <a:cs typeface="Arial"/>
              </a:rPr>
              <a:t>and </a:t>
            </a:r>
            <a:r>
              <a:rPr sz="1400" spc="-30" dirty="0">
                <a:latin typeface="Arial"/>
                <a:cs typeface="Arial"/>
              </a:rPr>
              <a:t>the </a:t>
            </a:r>
            <a:r>
              <a:rPr sz="1400" spc="-35" dirty="0">
                <a:latin typeface="Arial"/>
                <a:cs typeface="Arial"/>
              </a:rPr>
              <a:t>material </a:t>
            </a:r>
            <a:r>
              <a:rPr sz="1400" spc="-50" dirty="0">
                <a:latin typeface="Arial"/>
                <a:cs typeface="Arial"/>
              </a:rPr>
              <a:t>should </a:t>
            </a:r>
            <a:r>
              <a:rPr sz="1400" spc="-75" dirty="0">
                <a:latin typeface="Arial"/>
                <a:cs typeface="Arial"/>
              </a:rPr>
              <a:t>be </a:t>
            </a:r>
            <a:r>
              <a:rPr sz="1400" spc="-55" dirty="0">
                <a:latin typeface="Arial"/>
                <a:cs typeface="Arial"/>
              </a:rPr>
              <a:t>viewed </a:t>
            </a:r>
            <a:r>
              <a:rPr sz="1400" spc="-15" dirty="0">
                <a:latin typeface="Arial"/>
                <a:cs typeface="Arial"/>
              </a:rPr>
              <a:t>in </a:t>
            </a:r>
            <a:r>
              <a:rPr sz="1400" spc="-35" dirty="0">
                <a:latin typeface="Arial"/>
                <a:cs typeface="Arial"/>
              </a:rPr>
              <a:t>this </a:t>
            </a:r>
            <a:r>
              <a:rPr sz="1400" spc="-40" dirty="0">
                <a:latin typeface="Arial"/>
                <a:cs typeface="Arial"/>
              </a:rPr>
              <a:t>context. </a:t>
            </a:r>
            <a:r>
              <a:rPr sz="1400" spc="-105" dirty="0">
                <a:latin typeface="Arial"/>
                <a:cs typeface="Arial"/>
              </a:rPr>
              <a:t>The </a:t>
            </a:r>
            <a:r>
              <a:rPr sz="1400" spc="-35" dirty="0">
                <a:latin typeface="Arial"/>
                <a:cs typeface="Arial"/>
              </a:rPr>
              <a:t>work </a:t>
            </a:r>
            <a:r>
              <a:rPr sz="1400" spc="-90" dirty="0">
                <a:latin typeface="Arial"/>
                <a:cs typeface="Arial"/>
              </a:rPr>
              <a:t>does  </a:t>
            </a:r>
            <a:r>
              <a:rPr sz="1400" spc="-10" dirty="0">
                <a:latin typeface="Arial"/>
                <a:cs typeface="Arial"/>
              </a:rPr>
              <a:t>not </a:t>
            </a:r>
            <a:r>
              <a:rPr sz="1400" spc="-30" dirty="0">
                <a:latin typeface="Arial"/>
                <a:cs typeface="Arial"/>
              </a:rPr>
              <a:t>constitute </a:t>
            </a:r>
            <a:r>
              <a:rPr sz="1400" spc="-60" dirty="0">
                <a:latin typeface="Arial"/>
                <a:cs typeface="Arial"/>
              </a:rPr>
              <a:t>professional </a:t>
            </a:r>
            <a:r>
              <a:rPr sz="1400" spc="-70" dirty="0">
                <a:latin typeface="Arial"/>
                <a:cs typeface="Arial"/>
              </a:rPr>
              <a:t>advice </a:t>
            </a:r>
            <a:r>
              <a:rPr sz="1400" spc="-60" dirty="0">
                <a:latin typeface="Arial"/>
                <a:cs typeface="Arial"/>
              </a:rPr>
              <a:t>and </a:t>
            </a:r>
            <a:r>
              <a:rPr sz="1400" spc="-55" dirty="0">
                <a:latin typeface="Arial"/>
                <a:cs typeface="Arial"/>
              </a:rPr>
              <a:t>no </a:t>
            </a:r>
            <a:r>
              <a:rPr sz="1400" spc="-50" dirty="0">
                <a:latin typeface="Arial"/>
                <a:cs typeface="Arial"/>
              </a:rPr>
              <a:t>warranties </a:t>
            </a:r>
            <a:r>
              <a:rPr sz="1400" spc="-65" dirty="0">
                <a:latin typeface="Arial"/>
                <a:cs typeface="Arial"/>
              </a:rPr>
              <a:t>are </a:t>
            </a:r>
            <a:r>
              <a:rPr sz="1400" spc="-75" dirty="0">
                <a:latin typeface="Arial"/>
                <a:cs typeface="Arial"/>
              </a:rPr>
              <a:t>made </a:t>
            </a:r>
            <a:r>
              <a:rPr sz="1400" spc="-60" dirty="0">
                <a:latin typeface="Arial"/>
                <a:cs typeface="Arial"/>
              </a:rPr>
              <a:t>regarding </a:t>
            </a:r>
            <a:r>
              <a:rPr sz="1400" spc="-25" dirty="0">
                <a:latin typeface="Arial"/>
                <a:cs typeface="Arial"/>
              </a:rPr>
              <a:t>the information </a:t>
            </a:r>
            <a:r>
              <a:rPr sz="1400" spc="-50" dirty="0">
                <a:latin typeface="Arial"/>
                <a:cs typeface="Arial"/>
              </a:rPr>
              <a:t>presented. </a:t>
            </a:r>
            <a:r>
              <a:rPr sz="1400" spc="-105" dirty="0">
                <a:latin typeface="Arial"/>
                <a:cs typeface="Arial"/>
              </a:rPr>
              <a:t>The </a:t>
            </a:r>
            <a:r>
              <a:rPr sz="1400" spc="-30" dirty="0">
                <a:latin typeface="Arial"/>
                <a:cs typeface="Arial"/>
              </a:rPr>
              <a:t>Author </a:t>
            </a:r>
            <a:r>
              <a:rPr sz="1400" spc="-70" dirty="0">
                <a:latin typeface="Arial"/>
                <a:cs typeface="Arial"/>
              </a:rPr>
              <a:t>and </a:t>
            </a:r>
            <a:r>
              <a:rPr sz="1400" spc="245" dirty="0">
                <a:latin typeface="Arial"/>
                <a:cs typeface="Arial"/>
              </a:rPr>
              <a:t> </a:t>
            </a:r>
            <a:r>
              <a:rPr sz="1400" spc="-85" dirty="0">
                <a:latin typeface="Arial"/>
                <a:cs typeface="Arial"/>
              </a:rPr>
              <a:t>iAcademy </a:t>
            </a:r>
            <a:r>
              <a:rPr sz="1400" spc="-55" dirty="0">
                <a:latin typeface="Arial"/>
                <a:cs typeface="Arial"/>
              </a:rPr>
              <a:t>do </a:t>
            </a:r>
            <a:r>
              <a:rPr sz="1400" spc="-10" dirty="0">
                <a:latin typeface="Arial"/>
                <a:cs typeface="Arial"/>
              </a:rPr>
              <a:t>not </a:t>
            </a:r>
            <a:r>
              <a:rPr sz="1400" spc="-65" dirty="0">
                <a:latin typeface="Arial"/>
                <a:cs typeface="Arial"/>
              </a:rPr>
              <a:t>accept </a:t>
            </a:r>
            <a:r>
              <a:rPr sz="1400" spc="-85" dirty="0">
                <a:latin typeface="Arial"/>
                <a:cs typeface="Arial"/>
              </a:rPr>
              <a:t>any </a:t>
            </a:r>
            <a:r>
              <a:rPr sz="1400" spc="-15" dirty="0">
                <a:latin typeface="Arial"/>
                <a:cs typeface="Arial"/>
              </a:rPr>
              <a:t>liability </a:t>
            </a:r>
            <a:r>
              <a:rPr sz="1400" spc="-5" dirty="0">
                <a:latin typeface="Arial"/>
                <a:cs typeface="Arial"/>
              </a:rPr>
              <a:t>for </a:t>
            </a:r>
            <a:r>
              <a:rPr sz="1400" spc="-25" dirty="0">
                <a:latin typeface="Arial"/>
                <a:cs typeface="Arial"/>
              </a:rPr>
              <a:t>the </a:t>
            </a:r>
            <a:r>
              <a:rPr sz="1400" spc="-85" dirty="0">
                <a:latin typeface="Arial"/>
                <a:cs typeface="Arial"/>
              </a:rPr>
              <a:t>consequences </a:t>
            </a:r>
            <a:r>
              <a:rPr sz="1400" spc="-5" dirty="0">
                <a:latin typeface="Arial"/>
                <a:cs typeface="Arial"/>
              </a:rPr>
              <a:t>of </a:t>
            </a:r>
            <a:r>
              <a:rPr sz="1400" spc="-85" dirty="0">
                <a:latin typeface="Arial"/>
                <a:cs typeface="Arial"/>
              </a:rPr>
              <a:t>any </a:t>
            </a:r>
            <a:r>
              <a:rPr sz="1400" spc="-40" dirty="0">
                <a:latin typeface="Arial"/>
                <a:cs typeface="Arial"/>
              </a:rPr>
              <a:t>action </a:t>
            </a:r>
            <a:r>
              <a:rPr sz="1400" spc="-60" dirty="0">
                <a:latin typeface="Arial"/>
                <a:cs typeface="Arial"/>
              </a:rPr>
              <a:t>taken </a:t>
            </a:r>
            <a:r>
              <a:rPr sz="1400" spc="-135" dirty="0">
                <a:latin typeface="Arial"/>
                <a:cs typeface="Arial"/>
              </a:rPr>
              <a:t>as </a:t>
            </a:r>
            <a:r>
              <a:rPr sz="1400" spc="-114" dirty="0">
                <a:latin typeface="Arial"/>
                <a:cs typeface="Arial"/>
              </a:rPr>
              <a:t>a </a:t>
            </a:r>
            <a:r>
              <a:rPr sz="1400" spc="-35" dirty="0">
                <a:latin typeface="Arial"/>
                <a:cs typeface="Arial"/>
              </a:rPr>
              <a:t>result </a:t>
            </a:r>
            <a:r>
              <a:rPr sz="1400" spc="-5" dirty="0">
                <a:latin typeface="Arial"/>
                <a:cs typeface="Arial"/>
              </a:rPr>
              <a:t>of </a:t>
            </a:r>
            <a:r>
              <a:rPr sz="1400" spc="-20" dirty="0">
                <a:latin typeface="Arial"/>
                <a:cs typeface="Arial"/>
              </a:rPr>
              <a:t>the </a:t>
            </a:r>
            <a:r>
              <a:rPr sz="1400" spc="-40" dirty="0">
                <a:latin typeface="Arial"/>
                <a:cs typeface="Arial"/>
              </a:rPr>
              <a:t>work </a:t>
            </a:r>
            <a:r>
              <a:rPr sz="1400" spc="-15" dirty="0">
                <a:latin typeface="Arial"/>
                <a:cs typeface="Arial"/>
              </a:rPr>
              <a:t>or </a:t>
            </a:r>
            <a:r>
              <a:rPr sz="1400" spc="-85" dirty="0">
                <a:latin typeface="Arial"/>
                <a:cs typeface="Arial"/>
              </a:rPr>
              <a:t>any  </a:t>
            </a:r>
            <a:r>
              <a:rPr sz="1400" spc="-60" dirty="0">
                <a:latin typeface="Arial"/>
                <a:cs typeface="Arial"/>
              </a:rPr>
              <a:t>recommendations </a:t>
            </a:r>
            <a:r>
              <a:rPr sz="1400" spc="-80" dirty="0">
                <a:latin typeface="Arial"/>
                <a:cs typeface="Arial"/>
              </a:rPr>
              <a:t>made </a:t>
            </a:r>
            <a:r>
              <a:rPr sz="1400" spc="-15" dirty="0">
                <a:latin typeface="Arial"/>
                <a:cs typeface="Arial"/>
              </a:rPr>
              <a:t>or </a:t>
            </a:r>
            <a:r>
              <a:rPr sz="1400" spc="-35" dirty="0">
                <a:latin typeface="Arial"/>
                <a:cs typeface="Arial"/>
              </a:rPr>
              <a:t>inferred. </a:t>
            </a:r>
            <a:r>
              <a:rPr sz="1400" spc="-80" dirty="0">
                <a:latin typeface="Arial"/>
                <a:cs typeface="Arial"/>
              </a:rPr>
              <a:t>Permission </a:t>
            </a:r>
            <a:r>
              <a:rPr sz="1400" spc="-5" dirty="0">
                <a:latin typeface="Arial"/>
                <a:cs typeface="Arial"/>
              </a:rPr>
              <a:t>to </a:t>
            </a:r>
            <a:r>
              <a:rPr sz="1400" spc="-100" dirty="0">
                <a:latin typeface="Arial"/>
                <a:cs typeface="Arial"/>
              </a:rPr>
              <a:t>use </a:t>
            </a:r>
            <a:r>
              <a:rPr sz="1400" spc="-90" dirty="0">
                <a:latin typeface="Arial"/>
                <a:cs typeface="Arial"/>
              </a:rPr>
              <a:t>any </a:t>
            </a:r>
            <a:r>
              <a:rPr sz="1400" spc="-5" dirty="0">
                <a:latin typeface="Arial"/>
                <a:cs typeface="Arial"/>
              </a:rPr>
              <a:t>of </a:t>
            </a:r>
            <a:r>
              <a:rPr sz="1400" spc="-65" dirty="0">
                <a:latin typeface="Arial"/>
                <a:cs typeface="Arial"/>
              </a:rPr>
              <a:t>these </a:t>
            </a:r>
            <a:r>
              <a:rPr sz="1400" spc="-60" dirty="0">
                <a:latin typeface="Arial"/>
                <a:cs typeface="Arial"/>
              </a:rPr>
              <a:t>materials must </a:t>
            </a:r>
            <a:r>
              <a:rPr sz="1400" spc="-75" dirty="0">
                <a:latin typeface="Arial"/>
                <a:cs typeface="Arial"/>
              </a:rPr>
              <a:t>be </a:t>
            </a:r>
            <a:r>
              <a:rPr sz="1400" spc="-15" dirty="0">
                <a:latin typeface="Arial"/>
                <a:cs typeface="Arial"/>
              </a:rPr>
              <a:t>first </a:t>
            </a:r>
            <a:r>
              <a:rPr sz="1400" spc="-65" dirty="0">
                <a:latin typeface="Arial"/>
                <a:cs typeface="Arial"/>
              </a:rPr>
              <a:t>granted </a:t>
            </a:r>
            <a:r>
              <a:rPr sz="1400" spc="-70" dirty="0">
                <a:latin typeface="Arial"/>
                <a:cs typeface="Arial"/>
              </a:rPr>
              <a:t>by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90" dirty="0">
                <a:latin typeface="Arial"/>
                <a:cs typeface="Arial"/>
              </a:rPr>
              <a:t>iAcademy.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40445" y="0"/>
            <a:ext cx="927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iAcademy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22859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4572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644639"/>
            <a:ext cx="9144000" cy="213360"/>
          </a:xfrm>
          <a:custGeom>
            <a:avLst/>
            <a:gdLst/>
            <a:ahLst/>
            <a:cxnLst/>
            <a:rect l="l" t="t" r="r" b="b"/>
            <a:pathLst>
              <a:path w="9144000" h="213359">
                <a:moveTo>
                  <a:pt x="0" y="213359"/>
                </a:moveTo>
                <a:lnTo>
                  <a:pt x="9144000" y="213359"/>
                </a:lnTo>
                <a:lnTo>
                  <a:pt x="9144000" y="0"/>
                </a:lnTo>
                <a:lnTo>
                  <a:pt x="0" y="0"/>
                </a:lnTo>
                <a:lnTo>
                  <a:pt x="0" y="21335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13103" y="6822947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70104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3118" y="268350"/>
            <a:ext cx="1743075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280" dirty="0"/>
              <a:t>Agenda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105" dirty="0"/>
              <a:t>iAcademy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63118" y="1224483"/>
            <a:ext cx="8093709" cy="2524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95"/>
              </a:spcBef>
              <a:buFont typeface="Times New Roman"/>
              <a:buChar char="•"/>
              <a:tabLst>
                <a:tab pos="356870" algn="l"/>
                <a:tab pos="357505" algn="l"/>
              </a:tabLst>
            </a:pPr>
            <a:r>
              <a:rPr sz="3200" spc="-185" dirty="0">
                <a:latin typeface="Arial"/>
                <a:cs typeface="Arial"/>
              </a:rPr>
              <a:t>Week </a:t>
            </a:r>
            <a:r>
              <a:rPr sz="3200" spc="-165" dirty="0">
                <a:latin typeface="Arial"/>
                <a:cs typeface="Arial"/>
              </a:rPr>
              <a:t>6 </a:t>
            </a:r>
            <a:r>
              <a:rPr sz="3200" spc="-140" dirty="0">
                <a:latin typeface="Arial"/>
                <a:cs typeface="Arial"/>
              </a:rPr>
              <a:t>Lecture</a:t>
            </a:r>
            <a:r>
              <a:rPr sz="3200" spc="-135" dirty="0">
                <a:latin typeface="Arial"/>
                <a:cs typeface="Arial"/>
              </a:rPr>
              <a:t> </a:t>
            </a:r>
            <a:r>
              <a:rPr sz="3200" spc="-220" dirty="0">
                <a:latin typeface="Arial"/>
                <a:cs typeface="Arial"/>
              </a:rPr>
              <a:t>Coverage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445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Font typeface="Times New Roman"/>
              <a:buChar char="–"/>
              <a:tabLst>
                <a:tab pos="756920" algn="l"/>
              </a:tabLst>
            </a:pPr>
            <a:r>
              <a:rPr sz="2800" spc="-60" dirty="0">
                <a:latin typeface="Arial"/>
                <a:cs typeface="Arial"/>
              </a:rPr>
              <a:t>Introductions </a:t>
            </a:r>
            <a:r>
              <a:rPr sz="2800" spc="40" dirty="0">
                <a:latin typeface="Arial"/>
                <a:cs typeface="Arial"/>
              </a:rPr>
              <a:t>to </a:t>
            </a:r>
            <a:r>
              <a:rPr sz="2800" spc="-75" dirty="0">
                <a:latin typeface="Arial"/>
                <a:cs typeface="Arial"/>
              </a:rPr>
              <a:t>operating</a:t>
            </a:r>
            <a:r>
              <a:rPr sz="2800" spc="-434" dirty="0">
                <a:latin typeface="Arial"/>
                <a:cs typeface="Arial"/>
              </a:rPr>
              <a:t> </a:t>
            </a:r>
            <a:r>
              <a:rPr sz="2800" spc="-165" dirty="0">
                <a:latin typeface="Arial"/>
                <a:cs typeface="Arial"/>
              </a:rPr>
              <a:t>systems</a:t>
            </a:r>
            <a:endParaRPr sz="2800">
              <a:latin typeface="Arial"/>
              <a:cs typeface="Arial"/>
            </a:endParaRPr>
          </a:p>
          <a:p>
            <a:pPr marL="756285" marR="5080" lvl="1" indent="-286385">
              <a:lnSpc>
                <a:spcPct val="100000"/>
              </a:lnSpc>
              <a:spcBef>
                <a:spcPts val="600"/>
              </a:spcBef>
              <a:buFont typeface="Times New Roman"/>
              <a:buChar char="–"/>
              <a:tabLst>
                <a:tab pos="756920" algn="l"/>
              </a:tabLst>
            </a:pPr>
            <a:r>
              <a:rPr sz="2800" spc="-105" dirty="0">
                <a:latin typeface="Arial"/>
                <a:cs typeface="Arial"/>
              </a:rPr>
              <a:t>Operating </a:t>
            </a:r>
            <a:r>
              <a:rPr sz="2800" spc="-140" dirty="0">
                <a:latin typeface="Arial"/>
                <a:cs typeface="Arial"/>
              </a:rPr>
              <a:t>system </a:t>
            </a:r>
            <a:r>
              <a:rPr sz="2800" spc="-50" dirty="0">
                <a:latin typeface="Arial"/>
                <a:cs typeface="Arial"/>
              </a:rPr>
              <a:t>evolution, </a:t>
            </a:r>
            <a:r>
              <a:rPr sz="2800" spc="-90" dirty="0">
                <a:latin typeface="Arial"/>
                <a:cs typeface="Arial"/>
              </a:rPr>
              <a:t>hardware </a:t>
            </a:r>
            <a:r>
              <a:rPr sz="2800" spc="-70" dirty="0">
                <a:latin typeface="Arial"/>
                <a:cs typeface="Arial"/>
              </a:rPr>
              <a:t>review,</a:t>
            </a:r>
            <a:r>
              <a:rPr sz="2800" spc="-475" dirty="0">
                <a:latin typeface="Arial"/>
                <a:cs typeface="Arial"/>
              </a:rPr>
              <a:t> </a:t>
            </a:r>
            <a:r>
              <a:rPr sz="2800" spc="-135" dirty="0">
                <a:latin typeface="Arial"/>
                <a:cs typeface="Arial"/>
              </a:rPr>
              <a:t>and  </a:t>
            </a:r>
            <a:r>
              <a:rPr sz="2800" spc="-75" dirty="0">
                <a:latin typeface="Arial"/>
                <a:cs typeface="Arial"/>
              </a:rPr>
              <a:t>operating </a:t>
            </a:r>
            <a:r>
              <a:rPr sz="2800" spc="-140" dirty="0">
                <a:latin typeface="Arial"/>
                <a:cs typeface="Arial"/>
              </a:rPr>
              <a:t>system</a:t>
            </a:r>
            <a:r>
              <a:rPr sz="2800" spc="-285" dirty="0">
                <a:latin typeface="Arial"/>
                <a:cs typeface="Arial"/>
              </a:rPr>
              <a:t> </a:t>
            </a:r>
            <a:r>
              <a:rPr sz="2800" spc="-55" dirty="0">
                <a:latin typeface="Arial"/>
                <a:cs typeface="Arial"/>
              </a:rPr>
              <a:t>structure.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40445" y="0"/>
            <a:ext cx="927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iAcademy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22859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4572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644639"/>
            <a:ext cx="9144000" cy="213360"/>
          </a:xfrm>
          <a:custGeom>
            <a:avLst/>
            <a:gdLst/>
            <a:ahLst/>
            <a:cxnLst/>
            <a:rect l="l" t="t" r="r" b="b"/>
            <a:pathLst>
              <a:path w="9144000" h="213359">
                <a:moveTo>
                  <a:pt x="0" y="213359"/>
                </a:moveTo>
                <a:lnTo>
                  <a:pt x="9144000" y="213359"/>
                </a:lnTo>
                <a:lnTo>
                  <a:pt x="9144000" y="0"/>
                </a:lnTo>
                <a:lnTo>
                  <a:pt x="0" y="0"/>
                </a:lnTo>
                <a:lnTo>
                  <a:pt x="0" y="21335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13103" y="6822947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70104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3118" y="268350"/>
            <a:ext cx="4474210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229" dirty="0"/>
              <a:t>Learning</a:t>
            </a:r>
            <a:r>
              <a:rPr spc="-225" dirty="0"/>
              <a:t> </a:t>
            </a:r>
            <a:r>
              <a:rPr spc="-195" dirty="0"/>
              <a:t>Objectives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105" dirty="0"/>
              <a:t>iAcademy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63118" y="1224483"/>
            <a:ext cx="8275320" cy="2509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1220470" indent="-344170">
              <a:lnSpc>
                <a:spcPct val="100000"/>
              </a:lnSpc>
              <a:spcBef>
                <a:spcPts val="95"/>
              </a:spcBef>
              <a:buFont typeface="Times New Roman"/>
              <a:buChar char="•"/>
              <a:tabLst>
                <a:tab pos="356870" algn="l"/>
                <a:tab pos="357505" algn="l"/>
              </a:tabLst>
            </a:pPr>
            <a:r>
              <a:rPr sz="3200" spc="-245" dirty="0">
                <a:latin typeface="Arial"/>
                <a:cs typeface="Arial"/>
              </a:rPr>
              <a:t>On </a:t>
            </a:r>
            <a:r>
              <a:rPr sz="3200" spc="-190" dirty="0">
                <a:latin typeface="Arial"/>
                <a:cs typeface="Arial"/>
              </a:rPr>
              <a:t>successful </a:t>
            </a:r>
            <a:r>
              <a:rPr sz="3200" spc="-75" dirty="0">
                <a:latin typeface="Arial"/>
                <a:cs typeface="Arial"/>
              </a:rPr>
              <a:t>completion </a:t>
            </a:r>
            <a:r>
              <a:rPr sz="3200" spc="-10" dirty="0">
                <a:latin typeface="Arial"/>
                <a:cs typeface="Arial"/>
              </a:rPr>
              <a:t>of </a:t>
            </a:r>
            <a:r>
              <a:rPr sz="3200" spc="-65" dirty="0">
                <a:latin typeface="Arial"/>
                <a:cs typeface="Arial"/>
              </a:rPr>
              <a:t>this</a:t>
            </a:r>
            <a:r>
              <a:rPr sz="3200" spc="-240" dirty="0">
                <a:latin typeface="Arial"/>
                <a:cs typeface="Arial"/>
              </a:rPr>
              <a:t> </a:t>
            </a:r>
            <a:r>
              <a:rPr sz="3200" spc="-75" dirty="0">
                <a:latin typeface="Arial"/>
                <a:cs typeface="Arial"/>
              </a:rPr>
              <a:t>lecture,  </a:t>
            </a:r>
            <a:r>
              <a:rPr sz="3200" spc="-110" dirty="0">
                <a:latin typeface="Arial"/>
                <a:cs typeface="Arial"/>
              </a:rPr>
              <a:t>students </a:t>
            </a:r>
            <a:r>
              <a:rPr sz="3200" spc="10" dirty="0">
                <a:latin typeface="Arial"/>
                <a:cs typeface="Arial"/>
              </a:rPr>
              <a:t>will </a:t>
            </a:r>
            <a:r>
              <a:rPr sz="3200" spc="-145" dirty="0">
                <a:latin typeface="Arial"/>
                <a:cs typeface="Arial"/>
              </a:rPr>
              <a:t>be </a:t>
            </a:r>
            <a:r>
              <a:rPr sz="3200" spc="-130" dirty="0">
                <a:latin typeface="Arial"/>
                <a:cs typeface="Arial"/>
              </a:rPr>
              <a:t>able </a:t>
            </a:r>
            <a:r>
              <a:rPr sz="3200" spc="45" dirty="0">
                <a:latin typeface="Arial"/>
                <a:cs typeface="Arial"/>
              </a:rPr>
              <a:t>to</a:t>
            </a:r>
            <a:r>
              <a:rPr sz="3200" spc="-445" dirty="0">
                <a:latin typeface="Arial"/>
                <a:cs typeface="Arial"/>
              </a:rPr>
              <a:t> </a:t>
            </a:r>
            <a:r>
              <a:rPr sz="3200" spc="-90" dirty="0">
                <a:latin typeface="Arial"/>
                <a:cs typeface="Arial"/>
              </a:rPr>
              <a:t>demonstrate: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4450">
              <a:latin typeface="Times New Roman"/>
              <a:cs typeface="Times New Roman"/>
            </a:endParaRPr>
          </a:p>
          <a:p>
            <a:pPr marL="756285" marR="5080" indent="-28702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– </a:t>
            </a:r>
            <a:r>
              <a:rPr sz="2800" spc="-110" dirty="0">
                <a:latin typeface="Arial"/>
                <a:cs typeface="Arial"/>
              </a:rPr>
              <a:t>Understand </a:t>
            </a:r>
            <a:r>
              <a:rPr sz="2800" spc="-45" dirty="0">
                <a:latin typeface="Arial"/>
                <a:cs typeface="Arial"/>
              </a:rPr>
              <a:t>role </a:t>
            </a:r>
            <a:r>
              <a:rPr sz="2800" spc="-135" dirty="0">
                <a:latin typeface="Arial"/>
                <a:cs typeface="Arial"/>
              </a:rPr>
              <a:t>and </a:t>
            </a:r>
            <a:r>
              <a:rPr sz="2800" spc="-70" dirty="0">
                <a:latin typeface="Arial"/>
                <a:cs typeface="Arial"/>
              </a:rPr>
              <a:t>functions </a:t>
            </a:r>
            <a:r>
              <a:rPr sz="2800" spc="-5" dirty="0">
                <a:latin typeface="Arial"/>
                <a:cs typeface="Arial"/>
              </a:rPr>
              <a:t>of </a:t>
            </a:r>
            <a:r>
              <a:rPr sz="2800" spc="-75" dirty="0">
                <a:latin typeface="Arial"/>
                <a:cs typeface="Arial"/>
              </a:rPr>
              <a:t>operating</a:t>
            </a:r>
            <a:r>
              <a:rPr sz="2800" spc="-370" dirty="0">
                <a:latin typeface="Arial"/>
                <a:cs typeface="Arial"/>
              </a:rPr>
              <a:t> </a:t>
            </a:r>
            <a:r>
              <a:rPr sz="2800" spc="-170" dirty="0">
                <a:latin typeface="Arial"/>
                <a:cs typeface="Arial"/>
              </a:rPr>
              <a:t>systems  </a:t>
            </a:r>
            <a:r>
              <a:rPr sz="2800" spc="-130" dirty="0">
                <a:latin typeface="Arial"/>
                <a:cs typeface="Arial"/>
              </a:rPr>
              <a:t>and </a:t>
            </a:r>
            <a:r>
              <a:rPr sz="2800" spc="-40" dirty="0">
                <a:latin typeface="Arial"/>
                <a:cs typeface="Arial"/>
              </a:rPr>
              <a:t>its</a:t>
            </a:r>
            <a:r>
              <a:rPr sz="2800" spc="-175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components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40445" y="0"/>
            <a:ext cx="927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iAcademy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22859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4572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644639"/>
            <a:ext cx="9144000" cy="213360"/>
          </a:xfrm>
          <a:custGeom>
            <a:avLst/>
            <a:gdLst/>
            <a:ahLst/>
            <a:cxnLst/>
            <a:rect l="l" t="t" r="r" b="b"/>
            <a:pathLst>
              <a:path w="9144000" h="213359">
                <a:moveTo>
                  <a:pt x="0" y="213359"/>
                </a:moveTo>
                <a:lnTo>
                  <a:pt x="9144000" y="213359"/>
                </a:lnTo>
                <a:lnTo>
                  <a:pt x="9144000" y="0"/>
                </a:lnTo>
                <a:lnTo>
                  <a:pt x="0" y="0"/>
                </a:lnTo>
                <a:lnTo>
                  <a:pt x="0" y="21335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13103" y="6822947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70104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3118" y="268350"/>
            <a:ext cx="4848860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260" dirty="0"/>
              <a:t>Review </a:t>
            </a:r>
            <a:r>
              <a:rPr spc="-5" dirty="0"/>
              <a:t>of </a:t>
            </a:r>
            <a:r>
              <a:rPr spc="-245" dirty="0"/>
              <a:t>Week </a:t>
            </a:r>
            <a:r>
              <a:rPr spc="-225" dirty="0"/>
              <a:t>5</a:t>
            </a:r>
            <a:r>
              <a:rPr spc="-420" dirty="0"/>
              <a:t> </a:t>
            </a:r>
            <a:endParaRPr spc="-17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105" dirty="0"/>
              <a:t>iAcademy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63118" y="1224483"/>
            <a:ext cx="8128000" cy="21281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95"/>
              </a:spcBef>
              <a:buFont typeface="Times New Roman"/>
              <a:buChar char="•"/>
              <a:tabLst>
                <a:tab pos="356870" algn="l"/>
                <a:tab pos="357505" algn="l"/>
              </a:tabLst>
            </a:pPr>
            <a:r>
              <a:rPr sz="3200" spc="-170" dirty="0">
                <a:latin typeface="Arial"/>
                <a:cs typeface="Arial"/>
              </a:rPr>
              <a:t>From </a:t>
            </a:r>
            <a:r>
              <a:rPr sz="3200" dirty="0">
                <a:latin typeface="Arial"/>
                <a:cs typeface="Arial"/>
              </a:rPr>
              <a:t>fourth </a:t>
            </a:r>
            <a:r>
              <a:rPr sz="3200" spc="-145" dirty="0">
                <a:latin typeface="Arial"/>
                <a:cs typeface="Arial"/>
              </a:rPr>
              <a:t>week </a:t>
            </a:r>
            <a:r>
              <a:rPr sz="3200" spc="-110" dirty="0">
                <a:latin typeface="Arial"/>
                <a:cs typeface="Arial"/>
              </a:rPr>
              <a:t>we </a:t>
            </a:r>
            <a:r>
              <a:rPr sz="3200" spc="-125" dirty="0">
                <a:latin typeface="Arial"/>
                <a:cs typeface="Arial"/>
              </a:rPr>
              <a:t>should </a:t>
            </a:r>
            <a:r>
              <a:rPr sz="3200" spc="-180" dirty="0">
                <a:latin typeface="Arial"/>
                <a:cs typeface="Arial"/>
              </a:rPr>
              <a:t>have</a:t>
            </a:r>
            <a:r>
              <a:rPr sz="3200" spc="-390" dirty="0">
                <a:latin typeface="Arial"/>
                <a:cs typeface="Arial"/>
              </a:rPr>
              <a:t> </a:t>
            </a:r>
            <a:r>
              <a:rPr sz="3200" spc="-95" dirty="0">
                <a:latin typeface="Arial"/>
                <a:cs typeface="Arial"/>
              </a:rPr>
              <a:t>understood:</a:t>
            </a:r>
            <a:endParaRPr sz="3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4450" dirty="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Font typeface="Times New Roman"/>
              <a:buChar char="–"/>
              <a:tabLst>
                <a:tab pos="756920" algn="l"/>
              </a:tabLst>
            </a:pPr>
            <a:r>
              <a:rPr sz="2800" spc="-190" dirty="0">
                <a:latin typeface="Arial"/>
                <a:cs typeface="Arial"/>
              </a:rPr>
              <a:t>Reduced </a:t>
            </a:r>
            <a:r>
              <a:rPr sz="2800" spc="-45" dirty="0">
                <a:latin typeface="Arial"/>
                <a:cs typeface="Arial"/>
              </a:rPr>
              <a:t>instruction </a:t>
            </a:r>
            <a:r>
              <a:rPr sz="2800" spc="-105" dirty="0">
                <a:latin typeface="Arial"/>
                <a:cs typeface="Arial"/>
              </a:rPr>
              <a:t>set </a:t>
            </a:r>
            <a:r>
              <a:rPr sz="2800" spc="-85" dirty="0">
                <a:latin typeface="Arial"/>
                <a:cs typeface="Arial"/>
              </a:rPr>
              <a:t>computing</a:t>
            </a:r>
            <a:r>
              <a:rPr sz="2800" spc="-225" dirty="0">
                <a:latin typeface="Arial"/>
                <a:cs typeface="Arial"/>
              </a:rPr>
              <a:t> </a:t>
            </a:r>
            <a:r>
              <a:rPr sz="2800" spc="-315" dirty="0">
                <a:latin typeface="Arial"/>
                <a:cs typeface="Arial"/>
              </a:rPr>
              <a:t>(RISC)</a:t>
            </a:r>
            <a:endParaRPr sz="28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00"/>
              </a:spcBef>
              <a:buFont typeface="Times New Roman"/>
              <a:buChar char="–"/>
              <a:tabLst>
                <a:tab pos="756920" algn="l"/>
              </a:tabLst>
            </a:pPr>
            <a:r>
              <a:rPr sz="2800" spc="-165" dirty="0">
                <a:latin typeface="Arial"/>
                <a:cs typeface="Arial"/>
              </a:rPr>
              <a:t>Complex </a:t>
            </a:r>
            <a:r>
              <a:rPr sz="2800" spc="-45" dirty="0">
                <a:latin typeface="Arial"/>
                <a:cs typeface="Arial"/>
              </a:rPr>
              <a:t>instruction </a:t>
            </a:r>
            <a:r>
              <a:rPr sz="2800" spc="-105" dirty="0">
                <a:latin typeface="Arial"/>
                <a:cs typeface="Arial"/>
              </a:rPr>
              <a:t>set </a:t>
            </a:r>
            <a:r>
              <a:rPr sz="2800" spc="-85" dirty="0">
                <a:latin typeface="Arial"/>
                <a:cs typeface="Arial"/>
              </a:rPr>
              <a:t>computing</a:t>
            </a:r>
            <a:r>
              <a:rPr sz="2800" spc="-295" dirty="0">
                <a:latin typeface="Arial"/>
                <a:cs typeface="Arial"/>
              </a:rPr>
              <a:t> </a:t>
            </a:r>
            <a:r>
              <a:rPr sz="2800" spc="-320" dirty="0">
                <a:latin typeface="Arial"/>
                <a:cs typeface="Arial"/>
              </a:rPr>
              <a:t>(CISC)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40445" y="0"/>
            <a:ext cx="927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iAcademy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22859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4572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644639"/>
            <a:ext cx="9144000" cy="213360"/>
          </a:xfrm>
          <a:custGeom>
            <a:avLst/>
            <a:gdLst/>
            <a:ahLst/>
            <a:cxnLst/>
            <a:rect l="l" t="t" r="r" b="b"/>
            <a:pathLst>
              <a:path w="9144000" h="213359">
                <a:moveTo>
                  <a:pt x="0" y="213359"/>
                </a:moveTo>
                <a:lnTo>
                  <a:pt x="9144000" y="213359"/>
                </a:lnTo>
                <a:lnTo>
                  <a:pt x="9144000" y="0"/>
                </a:lnTo>
                <a:lnTo>
                  <a:pt x="0" y="0"/>
                </a:lnTo>
                <a:lnTo>
                  <a:pt x="0" y="21335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13103" y="6822947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70104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3118" y="268350"/>
            <a:ext cx="4848860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260" dirty="0"/>
              <a:t>Review </a:t>
            </a:r>
            <a:r>
              <a:rPr spc="-5" dirty="0"/>
              <a:t>of </a:t>
            </a:r>
            <a:r>
              <a:rPr spc="-245" dirty="0"/>
              <a:t>Week </a:t>
            </a:r>
            <a:r>
              <a:rPr spc="-225" dirty="0"/>
              <a:t>5</a:t>
            </a:r>
            <a:r>
              <a:rPr spc="-420" dirty="0"/>
              <a:t> </a:t>
            </a:r>
            <a:r>
              <a:rPr spc="-170" dirty="0"/>
              <a:t>(2)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105" dirty="0"/>
              <a:t>iAcademy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63118" y="1224483"/>
            <a:ext cx="8399882" cy="310277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5080" indent="-344170">
              <a:lnSpc>
                <a:spcPct val="100000"/>
              </a:lnSpc>
              <a:spcBef>
                <a:spcPts val="95"/>
              </a:spcBef>
              <a:buFont typeface="Times New Roman"/>
              <a:buChar char="•"/>
              <a:tabLst>
                <a:tab pos="356870" algn="l"/>
                <a:tab pos="357505" algn="l"/>
              </a:tabLst>
            </a:pPr>
            <a:r>
              <a:rPr sz="3200" spc="-125" dirty="0">
                <a:latin typeface="Arial"/>
                <a:cs typeface="Arial"/>
              </a:rPr>
              <a:t>Which </a:t>
            </a:r>
            <a:r>
              <a:rPr sz="3200" spc="-80" dirty="0">
                <a:latin typeface="Arial"/>
                <a:cs typeface="Arial"/>
              </a:rPr>
              <a:t>computer </a:t>
            </a:r>
            <a:r>
              <a:rPr sz="3200" spc="-75" dirty="0">
                <a:latin typeface="Arial"/>
                <a:cs typeface="Arial"/>
              </a:rPr>
              <a:t>architecture </a:t>
            </a:r>
            <a:r>
              <a:rPr sz="3200" spc="-95" dirty="0">
                <a:latin typeface="Arial"/>
                <a:cs typeface="Arial"/>
              </a:rPr>
              <a:t>puts </a:t>
            </a:r>
            <a:r>
              <a:rPr sz="3200" spc="-180" dirty="0">
                <a:latin typeface="Arial"/>
                <a:cs typeface="Arial"/>
              </a:rPr>
              <a:t>emphasis</a:t>
            </a:r>
            <a:r>
              <a:rPr sz="3200" spc="-390" dirty="0">
                <a:latin typeface="Arial"/>
                <a:cs typeface="Arial"/>
              </a:rPr>
              <a:t> </a:t>
            </a:r>
            <a:r>
              <a:rPr sz="3200" spc="-105" dirty="0">
                <a:latin typeface="Arial"/>
                <a:cs typeface="Arial"/>
              </a:rPr>
              <a:t>on  </a:t>
            </a:r>
            <a:r>
              <a:rPr sz="3200" spc="-110" dirty="0">
                <a:latin typeface="Arial"/>
                <a:cs typeface="Arial"/>
              </a:rPr>
              <a:t>hardware</a:t>
            </a:r>
            <a:r>
              <a:rPr sz="3200" spc="-150" dirty="0">
                <a:latin typeface="Arial"/>
                <a:cs typeface="Arial"/>
              </a:rPr>
              <a:t> </a:t>
            </a:r>
            <a:r>
              <a:rPr sz="3200" spc="-300" dirty="0">
                <a:latin typeface="Arial"/>
                <a:cs typeface="Arial"/>
              </a:rPr>
              <a:t>?</a:t>
            </a:r>
            <a:endParaRPr sz="3200" dirty="0">
              <a:latin typeface="Arial"/>
              <a:cs typeface="Arial"/>
            </a:endParaRPr>
          </a:p>
          <a:p>
            <a:pPr marL="356870" indent="-344170">
              <a:lnSpc>
                <a:spcPct val="100000"/>
              </a:lnSpc>
              <a:spcBef>
                <a:spcPts val="700"/>
              </a:spcBef>
              <a:buFont typeface="Times New Roman"/>
              <a:buChar char="•"/>
              <a:tabLst>
                <a:tab pos="356870" algn="l"/>
                <a:tab pos="357505" algn="l"/>
              </a:tabLst>
            </a:pPr>
            <a:r>
              <a:rPr sz="3200" spc="-125" dirty="0">
                <a:latin typeface="Arial"/>
                <a:cs typeface="Arial"/>
              </a:rPr>
              <a:t>Which </a:t>
            </a:r>
            <a:r>
              <a:rPr sz="3200" spc="-135" dirty="0">
                <a:latin typeface="Arial"/>
                <a:cs typeface="Arial"/>
              </a:rPr>
              <a:t>are </a:t>
            </a:r>
            <a:r>
              <a:rPr sz="3200" spc="-10" dirty="0">
                <a:latin typeface="Arial"/>
                <a:cs typeface="Arial"/>
              </a:rPr>
              <a:t>not </a:t>
            </a:r>
            <a:r>
              <a:rPr sz="3200" spc="-40" dirty="0">
                <a:latin typeface="Arial"/>
                <a:cs typeface="Arial"/>
              </a:rPr>
              <a:t>the </a:t>
            </a:r>
            <a:r>
              <a:rPr sz="3200" spc="-120" dirty="0">
                <a:latin typeface="Arial"/>
                <a:cs typeface="Arial"/>
              </a:rPr>
              <a:t>characteristics </a:t>
            </a:r>
            <a:r>
              <a:rPr sz="3200" spc="-10" dirty="0">
                <a:latin typeface="Arial"/>
                <a:cs typeface="Arial"/>
              </a:rPr>
              <a:t>of </a:t>
            </a:r>
            <a:r>
              <a:rPr sz="3200" spc="-484" dirty="0">
                <a:latin typeface="Arial"/>
                <a:cs typeface="Arial"/>
              </a:rPr>
              <a:t>RISC</a:t>
            </a:r>
            <a:r>
              <a:rPr sz="3200" spc="-640" dirty="0">
                <a:latin typeface="Arial"/>
                <a:cs typeface="Arial"/>
              </a:rPr>
              <a:t> </a:t>
            </a:r>
            <a:r>
              <a:rPr sz="3200" spc="-300" dirty="0">
                <a:latin typeface="Arial"/>
                <a:cs typeface="Arial"/>
              </a:rPr>
              <a:t>?</a:t>
            </a:r>
            <a:endParaRPr sz="32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15"/>
              </a:spcBef>
              <a:buFont typeface="Times New Roman"/>
              <a:buChar char="–"/>
              <a:tabLst>
                <a:tab pos="756920" algn="l"/>
              </a:tabLst>
            </a:pPr>
            <a:r>
              <a:rPr lang="en-US" sz="2800" spc="-100" dirty="0">
                <a:latin typeface="Arial"/>
                <a:cs typeface="Arial"/>
              </a:rPr>
              <a:t>Stores </a:t>
            </a:r>
            <a:r>
              <a:rPr sz="2800" spc="-100" dirty="0">
                <a:latin typeface="Arial"/>
                <a:cs typeface="Arial"/>
              </a:rPr>
              <a:t>registers</a:t>
            </a:r>
            <a:r>
              <a:rPr lang="en-US" sz="2800" spc="-100" dirty="0">
                <a:latin typeface="Arial"/>
                <a:cs typeface="Arial"/>
              </a:rPr>
              <a:t>-register</a:t>
            </a:r>
            <a:endParaRPr sz="28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05"/>
              </a:spcBef>
              <a:buFont typeface="Times New Roman"/>
              <a:buChar char="–"/>
              <a:tabLst>
                <a:tab pos="756920" algn="l"/>
              </a:tabLst>
            </a:pPr>
            <a:r>
              <a:rPr lang="en-US" sz="2800" spc="-30" dirty="0">
                <a:latin typeface="Arial"/>
                <a:cs typeface="Arial"/>
              </a:rPr>
              <a:t>Pipelining is used</a:t>
            </a:r>
            <a:endParaRPr sz="28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00"/>
              </a:spcBef>
              <a:buFont typeface="Times New Roman"/>
              <a:buChar char="–"/>
              <a:tabLst>
                <a:tab pos="756920" algn="l"/>
              </a:tabLst>
            </a:pPr>
            <a:r>
              <a:rPr sz="2800" spc="-75" dirty="0">
                <a:latin typeface="Arial"/>
                <a:cs typeface="Arial"/>
              </a:rPr>
              <a:t>Instructions </a:t>
            </a:r>
            <a:r>
              <a:rPr sz="2800" spc="-90" dirty="0">
                <a:latin typeface="Arial"/>
                <a:cs typeface="Arial"/>
              </a:rPr>
              <a:t>take </a:t>
            </a:r>
            <a:r>
              <a:rPr sz="2800" spc="-215" dirty="0">
                <a:latin typeface="Arial"/>
                <a:cs typeface="Arial"/>
              </a:rPr>
              <a:t>a </a:t>
            </a:r>
            <a:r>
              <a:rPr sz="2800" spc="-105" dirty="0">
                <a:latin typeface="Arial"/>
                <a:cs typeface="Arial"/>
              </a:rPr>
              <a:t>varying </a:t>
            </a:r>
            <a:r>
              <a:rPr sz="2800" spc="-75" dirty="0">
                <a:latin typeface="Arial"/>
                <a:cs typeface="Arial"/>
              </a:rPr>
              <a:t>amount </a:t>
            </a:r>
            <a:r>
              <a:rPr sz="2800" spc="5" dirty="0">
                <a:latin typeface="Arial"/>
                <a:cs typeface="Arial"/>
              </a:rPr>
              <a:t>of </a:t>
            </a:r>
            <a:r>
              <a:rPr sz="2800" spc="-145" dirty="0">
                <a:latin typeface="Arial"/>
                <a:cs typeface="Arial"/>
              </a:rPr>
              <a:t>cycle</a:t>
            </a:r>
            <a:r>
              <a:rPr sz="2800" spc="-54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time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40445" y="0"/>
            <a:ext cx="927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iAcademy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22859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4572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644639"/>
            <a:ext cx="9144000" cy="213360"/>
          </a:xfrm>
          <a:custGeom>
            <a:avLst/>
            <a:gdLst/>
            <a:ahLst/>
            <a:cxnLst/>
            <a:rect l="l" t="t" r="r" b="b"/>
            <a:pathLst>
              <a:path w="9144000" h="213359">
                <a:moveTo>
                  <a:pt x="0" y="213359"/>
                </a:moveTo>
                <a:lnTo>
                  <a:pt x="9144000" y="213359"/>
                </a:lnTo>
                <a:lnTo>
                  <a:pt x="9144000" y="0"/>
                </a:lnTo>
                <a:lnTo>
                  <a:pt x="0" y="0"/>
                </a:lnTo>
                <a:lnTo>
                  <a:pt x="0" y="21335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13103" y="6822947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70104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3118" y="268350"/>
            <a:ext cx="1492250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270" dirty="0"/>
              <a:t>Q&amp;A</a:t>
            </a:r>
            <a:r>
              <a:rPr spc="-290" dirty="0"/>
              <a:t> </a:t>
            </a:r>
            <a:r>
              <a:rPr spc="-415" dirty="0"/>
              <a:t>?</a:t>
            </a:r>
          </a:p>
        </p:txBody>
      </p:sp>
      <p:sp>
        <p:nvSpPr>
          <p:cNvPr id="7" name="object 7"/>
          <p:cNvSpPr/>
          <p:nvPr/>
        </p:nvSpPr>
        <p:spPr>
          <a:xfrm>
            <a:off x="5434584" y="4507991"/>
            <a:ext cx="1082040" cy="524510"/>
          </a:xfrm>
          <a:custGeom>
            <a:avLst/>
            <a:gdLst/>
            <a:ahLst/>
            <a:cxnLst/>
            <a:rect l="l" t="t" r="r" b="b"/>
            <a:pathLst>
              <a:path w="1082040" h="524510">
                <a:moveTo>
                  <a:pt x="0" y="524255"/>
                </a:moveTo>
                <a:lnTo>
                  <a:pt x="1082039" y="524255"/>
                </a:lnTo>
                <a:lnTo>
                  <a:pt x="1082039" y="0"/>
                </a:lnTo>
                <a:lnTo>
                  <a:pt x="0" y="0"/>
                </a:lnTo>
                <a:lnTo>
                  <a:pt x="0" y="524255"/>
                </a:lnTo>
                <a:close/>
              </a:path>
            </a:pathLst>
          </a:custGeom>
          <a:ln w="24384">
            <a:solidFill>
              <a:srgbClr val="3333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528817" y="4591558"/>
            <a:ext cx="854710" cy="390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25"/>
              </a:lnSpc>
            </a:pPr>
            <a:r>
              <a:rPr sz="1400" spc="-185" dirty="0">
                <a:latin typeface="Arial"/>
                <a:cs typeface="Arial"/>
              </a:rPr>
              <a:t>C</a:t>
            </a:r>
            <a:r>
              <a:rPr sz="1400" spc="-130" dirty="0">
                <a:latin typeface="Arial"/>
                <a:cs typeface="Arial"/>
              </a:rPr>
              <a:t>o</a:t>
            </a:r>
            <a:r>
              <a:rPr sz="1400" spc="-65" dirty="0">
                <a:latin typeface="Arial"/>
                <a:cs typeface="Arial"/>
              </a:rPr>
              <a:t>u</a:t>
            </a:r>
            <a:r>
              <a:rPr sz="1400" spc="-15" dirty="0">
                <a:latin typeface="Arial"/>
                <a:cs typeface="Arial"/>
              </a:rPr>
              <a:t>r</a:t>
            </a:r>
            <a:r>
              <a:rPr sz="1400" spc="-155" dirty="0">
                <a:latin typeface="Arial"/>
                <a:cs typeface="Arial"/>
              </a:rPr>
              <a:t>s</a:t>
            </a:r>
            <a:r>
              <a:rPr sz="1400" spc="-45" dirty="0">
                <a:latin typeface="Arial"/>
                <a:cs typeface="Arial"/>
              </a:rPr>
              <a:t>e</a:t>
            </a:r>
            <a:r>
              <a:rPr sz="1400" spc="-95" dirty="0">
                <a:latin typeface="Arial"/>
                <a:cs typeface="Arial"/>
              </a:rPr>
              <a:t>w</a:t>
            </a:r>
            <a:r>
              <a:rPr sz="1400" spc="-40" dirty="0">
                <a:latin typeface="Arial"/>
                <a:cs typeface="Arial"/>
              </a:rPr>
              <a:t>o</a:t>
            </a:r>
            <a:r>
              <a:rPr sz="1400" spc="5" dirty="0">
                <a:latin typeface="Arial"/>
                <a:cs typeface="Arial"/>
              </a:rPr>
              <a:t>r</a:t>
            </a:r>
            <a:r>
              <a:rPr sz="1400" spc="-70" dirty="0">
                <a:latin typeface="Arial"/>
                <a:cs typeface="Arial"/>
              </a:rPr>
              <a:t>k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1400" spc="-90" dirty="0">
                <a:latin typeface="Arial"/>
                <a:cs typeface="Arial"/>
              </a:rPr>
              <a:t>Submission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86511" y="1213103"/>
            <a:ext cx="8531352" cy="48707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105" dirty="0"/>
              <a:t>iAcademy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40445" y="0"/>
            <a:ext cx="927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iAcademy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22859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4572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644639"/>
            <a:ext cx="9144000" cy="213360"/>
          </a:xfrm>
          <a:custGeom>
            <a:avLst/>
            <a:gdLst/>
            <a:ahLst/>
            <a:cxnLst/>
            <a:rect l="l" t="t" r="r" b="b"/>
            <a:pathLst>
              <a:path w="9144000" h="213359">
                <a:moveTo>
                  <a:pt x="0" y="213359"/>
                </a:moveTo>
                <a:lnTo>
                  <a:pt x="9144000" y="213359"/>
                </a:lnTo>
                <a:lnTo>
                  <a:pt x="9144000" y="0"/>
                </a:lnTo>
                <a:lnTo>
                  <a:pt x="0" y="0"/>
                </a:lnTo>
                <a:lnTo>
                  <a:pt x="0" y="21335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13103" y="6822947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70104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01218" y="382981"/>
            <a:ext cx="796734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5" dirty="0"/>
              <a:t>Introductions </a:t>
            </a:r>
            <a:r>
              <a:rPr spc="55" dirty="0"/>
              <a:t>to </a:t>
            </a:r>
            <a:r>
              <a:rPr spc="-120" dirty="0"/>
              <a:t>operating</a:t>
            </a:r>
            <a:r>
              <a:rPr spc="-545" dirty="0"/>
              <a:t> </a:t>
            </a:r>
            <a:r>
              <a:rPr spc="-265" dirty="0"/>
              <a:t>systems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105" dirty="0"/>
              <a:t>iAcademy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63118" y="1263739"/>
            <a:ext cx="8323580" cy="4714752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785"/>
              </a:spcBef>
              <a:buFont typeface="Times New Roman"/>
              <a:buChar char="•"/>
              <a:tabLst>
                <a:tab pos="356870" algn="l"/>
                <a:tab pos="357505" algn="l"/>
              </a:tabLst>
            </a:pPr>
            <a:r>
              <a:rPr sz="3200" spc="-290" dirty="0">
                <a:latin typeface="Arial"/>
                <a:cs typeface="Arial"/>
              </a:rPr>
              <a:t>A </a:t>
            </a:r>
            <a:r>
              <a:rPr lang="en-US" sz="3200" spc="-290" dirty="0">
                <a:latin typeface="Arial"/>
                <a:cs typeface="Arial"/>
              </a:rPr>
              <a:t> </a:t>
            </a:r>
            <a:r>
              <a:rPr sz="3200" spc="-105" dirty="0">
                <a:latin typeface="Arial"/>
                <a:cs typeface="Arial"/>
              </a:rPr>
              <a:t>modern </a:t>
            </a:r>
            <a:r>
              <a:rPr sz="3200" spc="-80" dirty="0">
                <a:latin typeface="Arial"/>
                <a:cs typeface="Arial"/>
              </a:rPr>
              <a:t>computer </a:t>
            </a:r>
            <a:r>
              <a:rPr sz="3200" spc="-165" dirty="0">
                <a:latin typeface="Arial"/>
                <a:cs typeface="Arial"/>
              </a:rPr>
              <a:t>consists</a:t>
            </a:r>
            <a:r>
              <a:rPr sz="3200" spc="-80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of:</a:t>
            </a:r>
            <a:endParaRPr sz="3200" dirty="0">
              <a:latin typeface="Arial"/>
              <a:cs typeface="Arial"/>
            </a:endParaRPr>
          </a:p>
          <a:p>
            <a:pPr marL="838835" lvl="1" indent="-368935">
              <a:lnSpc>
                <a:spcPct val="100000"/>
              </a:lnSpc>
              <a:spcBef>
                <a:spcPts val="620"/>
              </a:spcBef>
              <a:buFont typeface="Times New Roman"/>
              <a:buChar char="–"/>
              <a:tabLst>
                <a:tab pos="838835" algn="l"/>
                <a:tab pos="839469" algn="l"/>
              </a:tabLst>
            </a:pPr>
            <a:r>
              <a:rPr sz="2800" spc="-200" dirty="0">
                <a:latin typeface="Arial"/>
                <a:cs typeface="Arial"/>
              </a:rPr>
              <a:t>One </a:t>
            </a:r>
            <a:r>
              <a:rPr sz="2800" spc="-20" dirty="0">
                <a:latin typeface="Arial"/>
                <a:cs typeface="Arial"/>
              </a:rPr>
              <a:t>or </a:t>
            </a:r>
            <a:r>
              <a:rPr sz="2800" spc="-75" dirty="0">
                <a:latin typeface="Arial"/>
                <a:cs typeface="Arial"/>
              </a:rPr>
              <a:t>more</a:t>
            </a:r>
            <a:r>
              <a:rPr sz="2800" spc="-254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processors</a:t>
            </a:r>
            <a:endParaRPr sz="2800" dirty="0">
              <a:latin typeface="Arial"/>
              <a:cs typeface="Arial"/>
            </a:endParaRPr>
          </a:p>
          <a:p>
            <a:pPr marL="838835" lvl="1" indent="-368935">
              <a:lnSpc>
                <a:spcPct val="100000"/>
              </a:lnSpc>
              <a:spcBef>
                <a:spcPts val="600"/>
              </a:spcBef>
              <a:buFont typeface="Times New Roman"/>
              <a:buChar char="–"/>
              <a:tabLst>
                <a:tab pos="838835" algn="l"/>
                <a:tab pos="839469" algn="l"/>
              </a:tabLst>
            </a:pPr>
            <a:r>
              <a:rPr sz="2800" spc="-55" dirty="0">
                <a:latin typeface="Arial"/>
                <a:cs typeface="Arial"/>
              </a:rPr>
              <a:t>Main</a:t>
            </a:r>
            <a:r>
              <a:rPr sz="2800" spc="-175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memory</a:t>
            </a:r>
            <a:endParaRPr sz="2800" dirty="0">
              <a:latin typeface="Arial"/>
              <a:cs typeface="Arial"/>
            </a:endParaRPr>
          </a:p>
          <a:p>
            <a:pPr marL="838835" lvl="1" indent="-368935">
              <a:lnSpc>
                <a:spcPct val="100000"/>
              </a:lnSpc>
              <a:spcBef>
                <a:spcPts val="605"/>
              </a:spcBef>
              <a:buFont typeface="Times New Roman"/>
              <a:buChar char="–"/>
              <a:tabLst>
                <a:tab pos="838835" algn="l"/>
                <a:tab pos="839469" algn="l"/>
              </a:tabLst>
            </a:pPr>
            <a:r>
              <a:rPr sz="2800" spc="-204" dirty="0">
                <a:latin typeface="Arial"/>
                <a:cs typeface="Arial"/>
              </a:rPr>
              <a:t>Disks</a:t>
            </a:r>
            <a:endParaRPr sz="2800" dirty="0">
              <a:latin typeface="Arial"/>
              <a:cs typeface="Arial"/>
            </a:endParaRPr>
          </a:p>
          <a:p>
            <a:pPr marL="838835" lvl="1" indent="-368935">
              <a:lnSpc>
                <a:spcPct val="100000"/>
              </a:lnSpc>
              <a:spcBef>
                <a:spcPts val="600"/>
              </a:spcBef>
              <a:buFont typeface="Times New Roman"/>
              <a:buChar char="–"/>
              <a:tabLst>
                <a:tab pos="838835" algn="l"/>
                <a:tab pos="839469" algn="l"/>
              </a:tabLst>
            </a:pPr>
            <a:r>
              <a:rPr sz="2800" spc="-90" dirty="0">
                <a:latin typeface="Arial"/>
                <a:cs typeface="Arial"/>
              </a:rPr>
              <a:t>Printers</a:t>
            </a:r>
            <a:endParaRPr sz="2800" dirty="0">
              <a:latin typeface="Arial"/>
              <a:cs typeface="Arial"/>
            </a:endParaRPr>
          </a:p>
          <a:p>
            <a:pPr marL="838835" lvl="1" indent="-368935">
              <a:lnSpc>
                <a:spcPct val="100000"/>
              </a:lnSpc>
              <a:spcBef>
                <a:spcPts val="600"/>
              </a:spcBef>
              <a:buFont typeface="Times New Roman"/>
              <a:buChar char="–"/>
              <a:tabLst>
                <a:tab pos="838835" algn="l"/>
                <a:tab pos="839469" algn="l"/>
              </a:tabLst>
            </a:pPr>
            <a:r>
              <a:rPr sz="2800" spc="-130" dirty="0">
                <a:latin typeface="Arial"/>
                <a:cs typeface="Arial"/>
              </a:rPr>
              <a:t>Various </a:t>
            </a:r>
            <a:r>
              <a:rPr sz="2800" spc="10" dirty="0">
                <a:latin typeface="Arial"/>
                <a:cs typeface="Arial"/>
              </a:rPr>
              <a:t>input/output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devices.</a:t>
            </a:r>
            <a:endParaRPr lang="en-US" sz="2800" spc="-145" dirty="0">
              <a:latin typeface="Arial"/>
              <a:cs typeface="Arial"/>
            </a:endParaRPr>
          </a:p>
          <a:p>
            <a:pPr marL="469900" lvl="1">
              <a:lnSpc>
                <a:spcPct val="100000"/>
              </a:lnSpc>
              <a:spcBef>
                <a:spcPts val="600"/>
              </a:spcBef>
              <a:tabLst>
                <a:tab pos="838835" algn="l"/>
                <a:tab pos="839469" algn="l"/>
              </a:tabLst>
            </a:pPr>
            <a:endParaRPr sz="2800" dirty="0">
              <a:latin typeface="Arial"/>
              <a:cs typeface="Arial"/>
            </a:endParaRPr>
          </a:p>
          <a:p>
            <a:pPr marL="356870" marR="5080" indent="-344170">
              <a:lnSpc>
                <a:spcPct val="100000"/>
              </a:lnSpc>
              <a:spcBef>
                <a:spcPts val="685"/>
              </a:spcBef>
              <a:buFont typeface="Times New Roman"/>
              <a:buChar char="•"/>
              <a:tabLst>
                <a:tab pos="356870" algn="l"/>
                <a:tab pos="357505" algn="l"/>
              </a:tabLst>
            </a:pPr>
            <a:r>
              <a:rPr sz="3200" spc="-145" dirty="0">
                <a:latin typeface="Arial"/>
                <a:cs typeface="Arial"/>
              </a:rPr>
              <a:t>Managing </a:t>
            </a:r>
            <a:r>
              <a:rPr sz="3200" spc="-70" dirty="0">
                <a:latin typeface="Arial"/>
                <a:cs typeface="Arial"/>
              </a:rPr>
              <a:t>all </a:t>
            </a:r>
            <a:r>
              <a:rPr sz="3200" spc="-135" dirty="0">
                <a:latin typeface="Arial"/>
                <a:cs typeface="Arial"/>
              </a:rPr>
              <a:t>these </a:t>
            </a:r>
            <a:r>
              <a:rPr sz="3200" spc="-110" dirty="0">
                <a:latin typeface="Arial"/>
                <a:cs typeface="Arial"/>
              </a:rPr>
              <a:t>varied </a:t>
            </a:r>
            <a:r>
              <a:rPr sz="3200" spc="-125" dirty="0">
                <a:latin typeface="Arial"/>
                <a:cs typeface="Arial"/>
              </a:rPr>
              <a:t>components </a:t>
            </a:r>
            <a:r>
              <a:rPr sz="3200" spc="-105" dirty="0">
                <a:latin typeface="Arial"/>
                <a:cs typeface="Arial"/>
              </a:rPr>
              <a:t>requires  </a:t>
            </a:r>
            <a:r>
              <a:rPr sz="3200" spc="-254" dirty="0">
                <a:latin typeface="Arial"/>
                <a:cs typeface="Arial"/>
              </a:rPr>
              <a:t>a </a:t>
            </a:r>
            <a:r>
              <a:rPr sz="3200" spc="-105" dirty="0">
                <a:latin typeface="Arial"/>
                <a:cs typeface="Arial"/>
              </a:rPr>
              <a:t>layer </a:t>
            </a:r>
            <a:r>
              <a:rPr sz="3200" spc="-10" dirty="0">
                <a:latin typeface="Arial"/>
                <a:cs typeface="Arial"/>
              </a:rPr>
              <a:t>of </a:t>
            </a:r>
            <a:r>
              <a:rPr sz="3200" spc="-80" dirty="0">
                <a:latin typeface="Arial"/>
                <a:cs typeface="Arial"/>
              </a:rPr>
              <a:t>software </a:t>
            </a:r>
            <a:r>
              <a:rPr sz="3200" spc="-190" dirty="0">
                <a:latin typeface="Arial"/>
                <a:cs typeface="Arial"/>
              </a:rPr>
              <a:t>– </a:t>
            </a:r>
            <a:r>
              <a:rPr sz="3200" spc="-40" dirty="0">
                <a:latin typeface="Arial"/>
                <a:cs typeface="Arial"/>
              </a:rPr>
              <a:t>the </a:t>
            </a:r>
            <a:r>
              <a:rPr sz="3200" spc="-120" dirty="0">
                <a:latin typeface="Arial"/>
                <a:cs typeface="Arial"/>
              </a:rPr>
              <a:t>Operating </a:t>
            </a:r>
            <a:r>
              <a:rPr sz="3200" spc="-225" dirty="0">
                <a:latin typeface="Arial"/>
                <a:cs typeface="Arial"/>
              </a:rPr>
              <a:t>System</a:t>
            </a:r>
            <a:r>
              <a:rPr sz="3200" spc="-405" dirty="0">
                <a:latin typeface="Arial"/>
                <a:cs typeface="Arial"/>
              </a:rPr>
              <a:t> </a:t>
            </a:r>
            <a:r>
              <a:rPr sz="3200" spc="-275" dirty="0">
                <a:latin typeface="Arial"/>
                <a:cs typeface="Arial"/>
              </a:rPr>
              <a:t>(OS).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40445" y="0"/>
            <a:ext cx="927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iAcademy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22859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4572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644639"/>
            <a:ext cx="9144000" cy="213360"/>
          </a:xfrm>
          <a:custGeom>
            <a:avLst/>
            <a:gdLst/>
            <a:ahLst/>
            <a:cxnLst/>
            <a:rect l="l" t="t" r="r" b="b"/>
            <a:pathLst>
              <a:path w="9144000" h="213359">
                <a:moveTo>
                  <a:pt x="0" y="213359"/>
                </a:moveTo>
                <a:lnTo>
                  <a:pt x="9144000" y="213359"/>
                </a:lnTo>
                <a:lnTo>
                  <a:pt x="9144000" y="0"/>
                </a:lnTo>
                <a:lnTo>
                  <a:pt x="0" y="0"/>
                </a:lnTo>
                <a:lnTo>
                  <a:pt x="0" y="21335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13103" y="6822947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70104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01218" y="382981"/>
            <a:ext cx="796734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5" dirty="0"/>
              <a:t>Introductions </a:t>
            </a:r>
            <a:r>
              <a:rPr spc="55" dirty="0"/>
              <a:t>to </a:t>
            </a:r>
            <a:r>
              <a:rPr spc="-120" dirty="0"/>
              <a:t>operating</a:t>
            </a:r>
            <a:r>
              <a:rPr spc="-545" dirty="0"/>
              <a:t> </a:t>
            </a:r>
            <a:r>
              <a:rPr spc="-265" dirty="0"/>
              <a:t>systems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63118" y="1321130"/>
            <a:ext cx="4544060" cy="272034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6870" marR="5080" indent="-344170">
              <a:lnSpc>
                <a:spcPct val="89900"/>
              </a:lnSpc>
              <a:spcBef>
                <a:spcPts val="390"/>
              </a:spcBef>
              <a:buFont typeface="Wingdings"/>
              <a:buChar char=""/>
              <a:tabLst>
                <a:tab pos="357505" algn="l"/>
              </a:tabLst>
            </a:pPr>
            <a:r>
              <a:rPr sz="2400" spc="-145" dirty="0">
                <a:latin typeface="Arial"/>
                <a:cs typeface="Arial"/>
              </a:rPr>
              <a:t>An </a:t>
            </a:r>
            <a:r>
              <a:rPr sz="2400" spc="-85" dirty="0">
                <a:latin typeface="Arial"/>
                <a:cs typeface="Arial"/>
              </a:rPr>
              <a:t>Operating </a:t>
            </a:r>
            <a:r>
              <a:rPr sz="2400" spc="-165" dirty="0">
                <a:latin typeface="Arial"/>
                <a:cs typeface="Arial"/>
              </a:rPr>
              <a:t>System </a:t>
            </a:r>
            <a:r>
              <a:rPr sz="2400" spc="-204" dirty="0">
                <a:latin typeface="Arial"/>
                <a:cs typeface="Arial"/>
              </a:rPr>
              <a:t>(OS), </a:t>
            </a:r>
            <a:r>
              <a:rPr sz="2400" spc="-125" dirty="0">
                <a:latin typeface="Arial"/>
                <a:cs typeface="Arial"/>
              </a:rPr>
              <a:t>is </a:t>
            </a:r>
            <a:r>
              <a:rPr sz="2400" spc="-60" dirty="0">
                <a:latin typeface="Arial"/>
                <a:cs typeface="Arial"/>
              </a:rPr>
              <a:t>software </a:t>
            </a:r>
            <a:r>
              <a:rPr sz="2400" spc="5" dirty="0">
                <a:latin typeface="Arial"/>
                <a:cs typeface="Arial"/>
              </a:rPr>
              <a:t>that </a:t>
            </a:r>
            <a:r>
              <a:rPr sz="2400" spc="-120" dirty="0">
                <a:latin typeface="Arial"/>
                <a:cs typeface="Arial"/>
              </a:rPr>
              <a:t>enables </a:t>
            </a:r>
            <a:r>
              <a:rPr sz="2400" spc="-190" dirty="0">
                <a:latin typeface="Arial"/>
                <a:cs typeface="Arial"/>
              </a:rPr>
              <a:t>a</a:t>
            </a:r>
            <a:r>
              <a:rPr sz="2400" spc="-495" dirty="0">
                <a:latin typeface="Arial"/>
                <a:cs typeface="Arial"/>
              </a:rPr>
              <a:t> </a:t>
            </a:r>
            <a:r>
              <a:rPr lang="en-US" sz="2400" spc="-495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user  </a:t>
            </a:r>
            <a:r>
              <a:rPr sz="2400" spc="-110" dirty="0">
                <a:latin typeface="Arial"/>
                <a:cs typeface="Arial"/>
              </a:rPr>
              <a:t>and </a:t>
            </a:r>
            <a:r>
              <a:rPr sz="2400" spc="-70" dirty="0">
                <a:latin typeface="Arial"/>
                <a:cs typeface="Arial"/>
              </a:rPr>
              <a:t>higher-level </a:t>
            </a:r>
            <a:r>
              <a:rPr sz="2400" spc="-60" dirty="0">
                <a:latin typeface="Arial"/>
                <a:cs typeface="Arial"/>
              </a:rPr>
              <a:t>application  software </a:t>
            </a:r>
            <a:r>
              <a:rPr sz="2400" spc="35" dirty="0">
                <a:latin typeface="Arial"/>
                <a:cs typeface="Arial"/>
              </a:rPr>
              <a:t>to </a:t>
            </a:r>
            <a:r>
              <a:rPr sz="2400" spc="-30" dirty="0">
                <a:latin typeface="Arial"/>
                <a:cs typeface="Arial"/>
              </a:rPr>
              <a:t>interact </a:t>
            </a:r>
            <a:r>
              <a:rPr sz="2400" spc="10" dirty="0">
                <a:latin typeface="Arial"/>
                <a:cs typeface="Arial"/>
              </a:rPr>
              <a:t>with </a:t>
            </a:r>
            <a:r>
              <a:rPr sz="2400" spc="-190" dirty="0">
                <a:latin typeface="Arial"/>
                <a:cs typeface="Arial"/>
              </a:rPr>
              <a:t>a  </a:t>
            </a:r>
            <a:r>
              <a:rPr sz="2400" spc="-65" dirty="0">
                <a:latin typeface="Arial"/>
                <a:cs typeface="Arial"/>
              </a:rPr>
              <a:t>computer’s </a:t>
            </a:r>
            <a:r>
              <a:rPr sz="2400" spc="-75" dirty="0">
                <a:latin typeface="Arial"/>
                <a:cs typeface="Arial"/>
              </a:rPr>
              <a:t>hardware </a:t>
            </a:r>
            <a:r>
              <a:rPr sz="2400" spc="-110" dirty="0">
                <a:latin typeface="Arial"/>
                <a:cs typeface="Arial"/>
              </a:rPr>
              <a:t>and </a:t>
            </a:r>
            <a:r>
              <a:rPr sz="2400" spc="-25" dirty="0">
                <a:latin typeface="Arial"/>
                <a:cs typeface="Arial"/>
              </a:rPr>
              <a:t>the  </a:t>
            </a:r>
            <a:r>
              <a:rPr sz="2400" spc="-75" dirty="0">
                <a:latin typeface="Arial"/>
                <a:cs typeface="Arial"/>
              </a:rPr>
              <a:t>data </a:t>
            </a:r>
            <a:r>
              <a:rPr sz="2400" spc="-110" dirty="0">
                <a:latin typeface="Arial"/>
                <a:cs typeface="Arial"/>
              </a:rPr>
              <a:t>and </a:t>
            </a:r>
            <a:r>
              <a:rPr sz="2400" spc="-20" dirty="0">
                <a:latin typeface="Arial"/>
                <a:cs typeface="Arial"/>
              </a:rPr>
              <a:t>other </a:t>
            </a:r>
            <a:r>
              <a:rPr sz="2400" spc="-100" dirty="0">
                <a:latin typeface="Arial"/>
                <a:cs typeface="Arial"/>
              </a:rPr>
              <a:t>programs </a:t>
            </a:r>
            <a:r>
              <a:rPr sz="2400" spc="-65" dirty="0">
                <a:latin typeface="Arial"/>
                <a:cs typeface="Arial"/>
              </a:rPr>
              <a:t>stored  </a:t>
            </a:r>
            <a:r>
              <a:rPr sz="2400" spc="-75" dirty="0">
                <a:latin typeface="Arial"/>
                <a:cs typeface="Arial"/>
              </a:rPr>
              <a:t>on </a:t>
            </a:r>
            <a:r>
              <a:rPr sz="2400" spc="-25" dirty="0">
                <a:latin typeface="Arial"/>
                <a:cs typeface="Arial"/>
              </a:rPr>
              <a:t>the</a:t>
            </a:r>
            <a:r>
              <a:rPr sz="2400" spc="-215" dirty="0">
                <a:latin typeface="Arial"/>
                <a:cs typeface="Arial"/>
              </a:rPr>
              <a:t> </a:t>
            </a:r>
            <a:r>
              <a:rPr sz="2400" spc="-60" dirty="0">
                <a:latin typeface="Arial"/>
                <a:cs typeface="Arial"/>
              </a:rPr>
              <a:t>computer.</a:t>
            </a:r>
            <a:endParaRPr sz="24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405"/>
              </a:spcBef>
            </a:pPr>
            <a:r>
              <a:rPr sz="2000" spc="-190" dirty="0">
                <a:latin typeface="Arial"/>
                <a:cs typeface="Arial"/>
              </a:rPr>
              <a:t>(OR)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3118" y="4102049"/>
            <a:ext cx="22993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356870" algn="l"/>
                <a:tab pos="357505" algn="l"/>
                <a:tab pos="1042669" algn="l"/>
              </a:tabLst>
            </a:pPr>
            <a:r>
              <a:rPr sz="2400" spc="-145" dirty="0">
                <a:latin typeface="Arial"/>
                <a:cs typeface="Arial"/>
              </a:rPr>
              <a:t>An	</a:t>
            </a:r>
            <a:r>
              <a:rPr sz="2400" spc="-90" dirty="0">
                <a:latin typeface="Arial"/>
                <a:cs typeface="Arial"/>
              </a:rPr>
              <a:t>Operating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7847" y="4468495"/>
            <a:ext cx="19900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66215" algn="l"/>
              </a:tabLst>
            </a:pPr>
            <a:r>
              <a:rPr sz="2400" spc="-70" dirty="0">
                <a:latin typeface="Arial"/>
                <a:cs typeface="Arial"/>
              </a:rPr>
              <a:t>p</a:t>
            </a:r>
            <a:r>
              <a:rPr sz="2400" spc="-15" dirty="0">
                <a:latin typeface="Arial"/>
                <a:cs typeface="Arial"/>
              </a:rPr>
              <a:t>ro</a:t>
            </a:r>
            <a:r>
              <a:rPr sz="2400" spc="-110" dirty="0">
                <a:latin typeface="Arial"/>
                <a:cs typeface="Arial"/>
              </a:rPr>
              <a:t>gr</a:t>
            </a:r>
            <a:r>
              <a:rPr sz="2400" spc="-165" dirty="0">
                <a:latin typeface="Arial"/>
                <a:cs typeface="Arial"/>
              </a:rPr>
              <a:t>a</a:t>
            </a:r>
            <a:r>
              <a:rPr sz="2400" spc="-85" dirty="0">
                <a:latin typeface="Arial"/>
                <a:cs typeface="Arial"/>
              </a:rPr>
              <a:t>m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140" dirty="0">
                <a:latin typeface="Arial"/>
                <a:cs typeface="Arial"/>
              </a:rPr>
              <a:t>t</a:t>
            </a:r>
            <a:r>
              <a:rPr sz="2400" spc="-70" dirty="0">
                <a:latin typeface="Arial"/>
                <a:cs typeface="Arial"/>
              </a:rPr>
              <a:t>h</a:t>
            </a:r>
            <a:r>
              <a:rPr sz="2400" spc="-215" dirty="0">
                <a:latin typeface="Arial"/>
                <a:cs typeface="Arial"/>
              </a:rPr>
              <a:t>a</a:t>
            </a:r>
            <a:r>
              <a:rPr sz="2400" spc="135" dirty="0">
                <a:latin typeface="Arial"/>
                <a:cs typeface="Arial"/>
              </a:rPr>
              <a:t>t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82214" y="4102049"/>
            <a:ext cx="1949450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1240790" algn="l"/>
                <a:tab pos="1777364" algn="l"/>
              </a:tabLst>
            </a:pPr>
            <a:r>
              <a:rPr sz="2400" spc="-310" dirty="0">
                <a:latin typeface="Arial"/>
                <a:cs typeface="Arial"/>
              </a:rPr>
              <a:t>Sy</a:t>
            </a:r>
            <a:r>
              <a:rPr sz="2400" spc="-280" dirty="0">
                <a:latin typeface="Arial"/>
                <a:cs typeface="Arial"/>
              </a:rPr>
              <a:t>s</a:t>
            </a:r>
            <a:r>
              <a:rPr sz="2400" spc="140" dirty="0">
                <a:latin typeface="Arial"/>
                <a:cs typeface="Arial"/>
              </a:rPr>
              <a:t>t</a:t>
            </a:r>
            <a:r>
              <a:rPr sz="2400" spc="-160" dirty="0">
                <a:latin typeface="Arial"/>
                <a:cs typeface="Arial"/>
              </a:rPr>
              <a:t>e</a:t>
            </a:r>
            <a:r>
              <a:rPr sz="2400" spc="-85" dirty="0">
                <a:latin typeface="Arial"/>
                <a:cs typeface="Arial"/>
              </a:rPr>
              <a:t>m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25" dirty="0">
                <a:latin typeface="Arial"/>
                <a:cs typeface="Arial"/>
              </a:rPr>
              <a:t>is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85" dirty="0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  <a:p>
            <a:pPr marL="74930" algn="ctr">
              <a:lnSpc>
                <a:spcPct val="100000"/>
              </a:lnSpc>
              <a:spcBef>
                <a:spcPts val="5"/>
              </a:spcBef>
              <a:tabLst>
                <a:tab pos="959485" algn="l"/>
                <a:tab pos="1614805" algn="l"/>
              </a:tabLst>
            </a:pPr>
            <a:r>
              <a:rPr sz="2400" spc="-80" dirty="0">
                <a:latin typeface="Arial"/>
                <a:cs typeface="Arial"/>
              </a:rPr>
              <a:t>act</a:t>
            </a:r>
            <a:r>
              <a:rPr sz="2400" spc="-265" dirty="0">
                <a:latin typeface="Arial"/>
                <a:cs typeface="Arial"/>
              </a:rPr>
              <a:t>s	</a:t>
            </a:r>
            <a:r>
              <a:rPr sz="2400" spc="-225" dirty="0">
                <a:latin typeface="Arial"/>
                <a:cs typeface="Arial"/>
              </a:rPr>
              <a:t>as	</a:t>
            </a:r>
            <a:r>
              <a:rPr sz="2400" spc="-155" dirty="0">
                <a:latin typeface="Arial"/>
                <a:cs typeface="Arial"/>
              </a:rPr>
              <a:t>an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7847" y="4833950"/>
            <a:ext cx="422275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40" dirty="0">
                <a:latin typeface="Arial"/>
                <a:cs typeface="Arial"/>
              </a:rPr>
              <a:t>intermediary/interface</a:t>
            </a:r>
            <a:r>
              <a:rPr sz="2400" spc="585" dirty="0">
                <a:latin typeface="Arial"/>
                <a:cs typeface="Arial"/>
              </a:rPr>
              <a:t> </a:t>
            </a:r>
            <a:r>
              <a:rPr sz="2400" spc="-65" dirty="0">
                <a:latin typeface="Arial"/>
                <a:cs typeface="Arial"/>
              </a:rPr>
              <a:t>between  </a:t>
            </a: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114" dirty="0">
                <a:latin typeface="Arial"/>
                <a:cs typeface="Arial"/>
              </a:rPr>
              <a:t>user </a:t>
            </a:r>
            <a:r>
              <a:rPr sz="2400" dirty="0">
                <a:latin typeface="Arial"/>
                <a:cs typeface="Arial"/>
              </a:rPr>
              <a:t>of </a:t>
            </a: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60" dirty="0">
                <a:latin typeface="Arial"/>
                <a:cs typeface="Arial"/>
              </a:rPr>
              <a:t>computer </a:t>
            </a:r>
            <a:r>
              <a:rPr sz="2400" spc="-110" dirty="0">
                <a:latin typeface="Arial"/>
                <a:cs typeface="Arial"/>
              </a:rPr>
              <a:t>and </a:t>
            </a:r>
            <a:r>
              <a:rPr sz="2400" spc="-30" dirty="0">
                <a:latin typeface="Arial"/>
                <a:cs typeface="Arial"/>
              </a:rPr>
              <a:t>the  </a:t>
            </a:r>
            <a:r>
              <a:rPr sz="2400" spc="-60" dirty="0">
                <a:latin typeface="Arial"/>
                <a:cs typeface="Arial"/>
              </a:rPr>
              <a:t>computer</a:t>
            </a:r>
            <a:r>
              <a:rPr sz="2400" spc="-180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hardware.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352745" y="1460893"/>
            <a:ext cx="3657599" cy="44411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105" dirty="0"/>
              <a:t>iAcademy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961B7-B297-F441-ACA7-979D344465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427E95-5690-F740-AE1D-B1C1D46967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35" y="1216977"/>
            <a:ext cx="8892330" cy="442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372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40445" y="0"/>
            <a:ext cx="927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iAcademy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22859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4572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644639"/>
            <a:ext cx="9144000" cy="213360"/>
          </a:xfrm>
          <a:custGeom>
            <a:avLst/>
            <a:gdLst/>
            <a:ahLst/>
            <a:cxnLst/>
            <a:rect l="l" t="t" r="r" b="b"/>
            <a:pathLst>
              <a:path w="9144000" h="213359">
                <a:moveTo>
                  <a:pt x="0" y="213359"/>
                </a:moveTo>
                <a:lnTo>
                  <a:pt x="9144000" y="213359"/>
                </a:lnTo>
                <a:lnTo>
                  <a:pt x="9144000" y="0"/>
                </a:lnTo>
                <a:lnTo>
                  <a:pt x="0" y="0"/>
                </a:lnTo>
                <a:lnTo>
                  <a:pt x="0" y="21335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13103" y="6822947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70104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3118" y="268350"/>
            <a:ext cx="4213860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65" dirty="0"/>
              <a:t>Operating</a:t>
            </a:r>
            <a:r>
              <a:rPr spc="-260" dirty="0"/>
              <a:t> </a:t>
            </a:r>
            <a:r>
              <a:rPr spc="-265" dirty="0"/>
              <a:t>System: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105" dirty="0"/>
              <a:t>iAcademy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63118" y="1154110"/>
            <a:ext cx="7139305" cy="3506729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56870" indent="-344170">
              <a:lnSpc>
                <a:spcPct val="150000"/>
              </a:lnSpc>
              <a:spcBef>
                <a:spcPts val="705"/>
              </a:spcBef>
              <a:buFont typeface="Times New Roman"/>
              <a:buChar char="•"/>
              <a:tabLst>
                <a:tab pos="356870" algn="l"/>
                <a:tab pos="357505" algn="l"/>
              </a:tabLst>
            </a:pPr>
            <a:r>
              <a:rPr lang="en-US" sz="3200" spc="-390" dirty="0">
                <a:latin typeface="Arial" panose="020B0604020202020204" pitchFamily="34" charset="0"/>
                <a:cs typeface="Arial" panose="020B0604020202020204" pitchFamily="34" charset="0"/>
              </a:rPr>
              <a:t>Functions: 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56285" lvl="1" indent="-286385">
              <a:lnSpc>
                <a:spcPct val="100000"/>
              </a:lnSpc>
              <a:spcBef>
                <a:spcPts val="600"/>
              </a:spcBef>
              <a:buFont typeface="Times New Roman"/>
              <a:buChar char="–"/>
              <a:tabLst>
                <a:tab pos="756285" algn="l"/>
                <a:tab pos="756920" algn="l"/>
              </a:tabLst>
            </a:pPr>
            <a:r>
              <a:rPr lang="en-US" sz="2400" spc="-60" dirty="0">
                <a:latin typeface="Arial"/>
                <a:cs typeface="Arial"/>
              </a:rPr>
              <a:t>Resource </a:t>
            </a:r>
            <a:r>
              <a:rPr lang="en-US" sz="2400" spc="-60" dirty="0" smtClean="0">
                <a:latin typeface="Arial"/>
                <a:cs typeface="Arial"/>
              </a:rPr>
              <a:t>Management (servers) </a:t>
            </a:r>
            <a:endParaRPr lang="en-US" sz="2400" spc="-6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00"/>
              </a:spcBef>
              <a:buFont typeface="Times New Roman"/>
              <a:buChar char="–"/>
              <a:tabLst>
                <a:tab pos="756285" algn="l"/>
                <a:tab pos="756920" algn="l"/>
              </a:tabLst>
            </a:pPr>
            <a:r>
              <a:rPr lang="en-US" sz="2400" spc="-60" dirty="0">
                <a:latin typeface="Arial"/>
                <a:cs typeface="Arial"/>
              </a:rPr>
              <a:t>Process </a:t>
            </a:r>
            <a:r>
              <a:rPr lang="en-US" sz="2400" spc="-60" dirty="0" smtClean="0">
                <a:latin typeface="Arial"/>
                <a:cs typeface="Arial"/>
              </a:rPr>
              <a:t>Management (multiple programs)</a:t>
            </a:r>
            <a:endParaRPr lang="en-US" sz="2400" spc="-6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00"/>
              </a:spcBef>
              <a:buFont typeface="Times New Roman"/>
              <a:buChar char="–"/>
              <a:tabLst>
                <a:tab pos="756285" algn="l"/>
                <a:tab pos="756920" algn="l"/>
              </a:tabLst>
            </a:pPr>
            <a:r>
              <a:rPr lang="en-US" sz="2400" spc="-60" dirty="0">
                <a:latin typeface="Arial"/>
                <a:cs typeface="Arial"/>
              </a:rPr>
              <a:t>Storage </a:t>
            </a:r>
            <a:r>
              <a:rPr lang="en-US" sz="2400" spc="-60" dirty="0" smtClean="0">
                <a:latin typeface="Arial"/>
                <a:cs typeface="Arial"/>
              </a:rPr>
              <a:t>Management (hard drives)</a:t>
            </a:r>
            <a:endParaRPr lang="en-US" sz="2400" spc="-6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00"/>
              </a:spcBef>
              <a:buFont typeface="Times New Roman"/>
              <a:buChar char="–"/>
              <a:tabLst>
                <a:tab pos="756285" algn="l"/>
                <a:tab pos="756920" algn="l"/>
              </a:tabLst>
            </a:pPr>
            <a:r>
              <a:rPr lang="en-US" sz="2400" spc="-60" dirty="0">
                <a:latin typeface="Arial"/>
                <a:cs typeface="Arial"/>
              </a:rPr>
              <a:t>Memory </a:t>
            </a:r>
            <a:r>
              <a:rPr lang="en-US" sz="2400" spc="-60" dirty="0" smtClean="0">
                <a:latin typeface="Arial"/>
                <a:cs typeface="Arial"/>
              </a:rPr>
              <a:t>Management (RAM)</a:t>
            </a:r>
            <a:endParaRPr lang="en-US" sz="2400" spc="-6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00"/>
              </a:spcBef>
              <a:buFont typeface="Times New Roman"/>
              <a:buChar char="–"/>
              <a:tabLst>
                <a:tab pos="756285" algn="l"/>
                <a:tab pos="756920" algn="l"/>
              </a:tabLst>
            </a:pPr>
            <a:r>
              <a:rPr lang="en-US" sz="2400" spc="-60" dirty="0">
                <a:latin typeface="Arial"/>
                <a:cs typeface="Arial"/>
              </a:rPr>
              <a:t>Security &amp; </a:t>
            </a:r>
            <a:r>
              <a:rPr lang="en-US" sz="2400" spc="-60" dirty="0" smtClean="0">
                <a:latin typeface="Arial"/>
                <a:cs typeface="Arial"/>
              </a:rPr>
              <a:t>Privacy (Login)</a:t>
            </a:r>
            <a:endParaRPr lang="en-US" sz="2400" spc="-6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00"/>
              </a:spcBef>
              <a:buFont typeface="Times New Roman"/>
              <a:buChar char="–"/>
              <a:tabLst>
                <a:tab pos="756285" algn="l"/>
                <a:tab pos="756920" algn="l"/>
              </a:tabLst>
            </a:pPr>
            <a:endParaRPr lang="en-US" sz="2400" spc="-6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40445" y="0"/>
            <a:ext cx="927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iAcademy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22859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4572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644639"/>
            <a:ext cx="9144000" cy="213360"/>
          </a:xfrm>
          <a:custGeom>
            <a:avLst/>
            <a:gdLst/>
            <a:ahLst/>
            <a:cxnLst/>
            <a:rect l="l" t="t" r="r" b="b"/>
            <a:pathLst>
              <a:path w="9144000" h="213359">
                <a:moveTo>
                  <a:pt x="0" y="213359"/>
                </a:moveTo>
                <a:lnTo>
                  <a:pt x="9144000" y="213359"/>
                </a:lnTo>
                <a:lnTo>
                  <a:pt x="9144000" y="0"/>
                </a:lnTo>
                <a:lnTo>
                  <a:pt x="0" y="0"/>
                </a:lnTo>
                <a:lnTo>
                  <a:pt x="0" y="21335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13103" y="6822947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70104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01218" y="382981"/>
            <a:ext cx="796734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5" dirty="0"/>
              <a:t>Introductions </a:t>
            </a:r>
            <a:r>
              <a:rPr spc="55" dirty="0"/>
              <a:t>to </a:t>
            </a:r>
            <a:r>
              <a:rPr spc="-120" dirty="0"/>
              <a:t>operating</a:t>
            </a:r>
            <a:r>
              <a:rPr spc="-545" dirty="0"/>
              <a:t> </a:t>
            </a:r>
            <a:r>
              <a:rPr spc="-265" dirty="0"/>
              <a:t>systems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63118" y="1351610"/>
            <a:ext cx="429323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95"/>
              </a:spcBef>
              <a:buFont typeface="Times New Roman"/>
              <a:buChar char="•"/>
              <a:tabLst>
                <a:tab pos="356870" algn="l"/>
                <a:tab pos="357505" algn="l"/>
              </a:tabLst>
            </a:pPr>
            <a:r>
              <a:rPr sz="3200" spc="-135" dirty="0">
                <a:latin typeface="Arial"/>
                <a:cs typeface="Arial"/>
              </a:rPr>
              <a:t>Where </a:t>
            </a:r>
            <a:r>
              <a:rPr sz="3200" spc="-190" dirty="0">
                <a:latin typeface="Arial"/>
                <a:cs typeface="Arial"/>
              </a:rPr>
              <a:t>does </a:t>
            </a:r>
            <a:r>
              <a:rPr sz="3200" spc="-40" dirty="0">
                <a:latin typeface="Arial"/>
                <a:cs typeface="Arial"/>
              </a:rPr>
              <a:t>the </a:t>
            </a:r>
            <a:r>
              <a:rPr sz="3200" spc="-525" dirty="0">
                <a:latin typeface="Arial"/>
                <a:cs typeface="Arial"/>
              </a:rPr>
              <a:t>OS </a:t>
            </a:r>
            <a:r>
              <a:rPr sz="3200" spc="95" dirty="0">
                <a:latin typeface="Arial"/>
                <a:cs typeface="Arial"/>
              </a:rPr>
              <a:t>fit</a:t>
            </a:r>
            <a:r>
              <a:rPr sz="3200" spc="-260" dirty="0">
                <a:latin typeface="Arial"/>
                <a:cs typeface="Arial"/>
              </a:rPr>
              <a:t> </a:t>
            </a:r>
            <a:r>
              <a:rPr sz="3200" spc="-300" dirty="0">
                <a:latin typeface="Arial"/>
                <a:cs typeface="Arial"/>
              </a:rPr>
              <a:t>?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834895" y="2209393"/>
            <a:ext cx="5221796" cy="36854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878582" y="6102197"/>
            <a:ext cx="338645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90" dirty="0">
                <a:latin typeface="Arial"/>
                <a:cs typeface="Arial"/>
              </a:rPr>
              <a:t>Layers </a:t>
            </a:r>
            <a:r>
              <a:rPr sz="2400" dirty="0">
                <a:latin typeface="Arial"/>
                <a:cs typeface="Arial"/>
              </a:rPr>
              <a:t>of </a:t>
            </a:r>
            <a:r>
              <a:rPr sz="2400" spc="-95" dirty="0">
                <a:latin typeface="Arial"/>
                <a:cs typeface="Arial"/>
              </a:rPr>
              <a:t>Computer</a:t>
            </a:r>
            <a:r>
              <a:rPr sz="2400" spc="-265" dirty="0">
                <a:latin typeface="Arial"/>
                <a:cs typeface="Arial"/>
              </a:rPr>
              <a:t> </a:t>
            </a:r>
            <a:r>
              <a:rPr sz="2400" spc="-180" dirty="0">
                <a:latin typeface="Arial"/>
                <a:cs typeface="Arial"/>
              </a:rPr>
              <a:t>System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105" dirty="0"/>
              <a:t>iAcademy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40445" y="0"/>
            <a:ext cx="927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iAcademy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22859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4572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644639"/>
            <a:ext cx="9144000" cy="213360"/>
          </a:xfrm>
          <a:custGeom>
            <a:avLst/>
            <a:gdLst/>
            <a:ahLst/>
            <a:cxnLst/>
            <a:rect l="l" t="t" r="r" b="b"/>
            <a:pathLst>
              <a:path w="9144000" h="213359">
                <a:moveTo>
                  <a:pt x="0" y="213359"/>
                </a:moveTo>
                <a:lnTo>
                  <a:pt x="9144000" y="213359"/>
                </a:lnTo>
                <a:lnTo>
                  <a:pt x="9144000" y="0"/>
                </a:lnTo>
                <a:lnTo>
                  <a:pt x="0" y="0"/>
                </a:lnTo>
                <a:lnTo>
                  <a:pt x="0" y="21335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13103" y="6822947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70104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3118" y="268350"/>
            <a:ext cx="4667250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204" dirty="0"/>
              <a:t>Kernel </a:t>
            </a:r>
            <a:r>
              <a:rPr spc="-175" dirty="0"/>
              <a:t>mode </a:t>
            </a:r>
            <a:r>
              <a:rPr spc="-210" dirty="0"/>
              <a:t>and</a:t>
            </a:r>
            <a:r>
              <a:rPr spc="-295" dirty="0"/>
              <a:t> </a:t>
            </a:r>
            <a:r>
              <a:rPr spc="-725" dirty="0"/>
              <a:t>OS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105" dirty="0"/>
              <a:t>iAcademy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63118" y="1141983"/>
            <a:ext cx="8399882" cy="5011693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356870" marR="5080" indent="-344170">
              <a:lnSpc>
                <a:spcPct val="98600"/>
              </a:lnSpc>
              <a:spcBef>
                <a:spcPts val="155"/>
              </a:spcBef>
              <a:buFont typeface="Times New Roman"/>
              <a:buChar char="•"/>
              <a:tabLst>
                <a:tab pos="356870" algn="l"/>
                <a:tab pos="357505" algn="l"/>
              </a:tabLst>
            </a:pPr>
            <a:r>
              <a:rPr sz="2800" spc="-245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sz="2800" spc="-130" dirty="0">
                <a:latin typeface="Arial" panose="020B0604020202020204" pitchFamily="34" charset="0"/>
                <a:cs typeface="Arial" panose="020B0604020202020204" pitchFamily="34" charset="0"/>
              </a:rPr>
              <a:t>Kernel </a:t>
            </a:r>
            <a:r>
              <a:rPr sz="2800" spc="-110" dirty="0">
                <a:latin typeface="Arial" panose="020B0604020202020204" pitchFamily="34" charset="0"/>
                <a:cs typeface="Arial" panose="020B0604020202020204" pitchFamily="34" charset="0"/>
              </a:rPr>
              <a:t>mode </a:t>
            </a:r>
            <a:r>
              <a:rPr sz="2800" spc="-140" dirty="0"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sz="2800" spc="-215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sz="2800" spc="-70" dirty="0">
                <a:latin typeface="Arial" panose="020B0604020202020204" pitchFamily="34" charset="0"/>
                <a:cs typeface="Arial" panose="020B0604020202020204" pitchFamily="34" charset="0"/>
              </a:rPr>
              <a:t>computer </a:t>
            </a:r>
            <a:r>
              <a:rPr sz="2800" spc="-140" dirty="0">
                <a:latin typeface="Arial" panose="020B0604020202020204" pitchFamily="34" charset="0"/>
                <a:cs typeface="Arial" panose="020B0604020202020204" pitchFamily="34" charset="0"/>
              </a:rPr>
              <a:t>system </a:t>
            </a:r>
            <a:r>
              <a:rPr sz="2800" spc="-90" dirty="0">
                <a:latin typeface="Arial" panose="020B0604020202020204" pitchFamily="34" charset="0"/>
                <a:cs typeface="Arial" panose="020B0604020202020204" pitchFamily="34" charset="0"/>
              </a:rPr>
              <a:t>layer </a:t>
            </a:r>
            <a:r>
              <a:rPr sz="2800" spc="-80" dirty="0">
                <a:latin typeface="Arial" panose="020B0604020202020204" pitchFamily="34" charset="0"/>
                <a:cs typeface="Arial" panose="020B0604020202020204" pitchFamily="34" charset="0"/>
              </a:rPr>
              <a:t>where </a:t>
            </a:r>
            <a:r>
              <a:rPr sz="2800" spc="90" dirty="0">
                <a:latin typeface="Arial" panose="020B0604020202020204" pitchFamily="34" charset="0"/>
                <a:cs typeface="Arial" panose="020B0604020202020204" pitchFamily="34" charset="0"/>
              </a:rPr>
              <a:t>it  </a:t>
            </a:r>
            <a:r>
              <a:rPr sz="2800" spc="-195" dirty="0">
                <a:latin typeface="Arial" panose="020B0604020202020204" pitchFamily="34" charset="0"/>
                <a:cs typeface="Arial" panose="020B0604020202020204" pitchFamily="34" charset="0"/>
              </a:rPr>
              <a:t>manages </a:t>
            </a:r>
            <a:r>
              <a:rPr sz="2800" spc="-400" dirty="0">
                <a:latin typeface="Arial" panose="020B0604020202020204" pitchFamily="34" charset="0"/>
                <a:cs typeface="Arial" panose="020B0604020202020204" pitchFamily="34" charset="0"/>
              </a:rPr>
              <a:t>CPU </a:t>
            </a:r>
            <a:r>
              <a:rPr sz="2800" spc="-135" dirty="0">
                <a:latin typeface="Arial" panose="020B0604020202020204" pitchFamily="34" charset="0"/>
                <a:cs typeface="Arial" panose="020B0604020202020204" pitchFamily="34" charset="0"/>
              </a:rPr>
              <a:t>resources, </a:t>
            </a:r>
            <a:r>
              <a:rPr sz="2800" spc="-90" dirty="0">
                <a:latin typeface="Arial" panose="020B0604020202020204" pitchFamily="34" charset="0"/>
                <a:cs typeface="Arial" panose="020B0604020202020204" pitchFamily="34" charset="0"/>
              </a:rPr>
              <a:t>memory </a:t>
            </a:r>
            <a:r>
              <a:rPr sz="2800" spc="-140" dirty="0">
                <a:latin typeface="Arial" panose="020B0604020202020204" pitchFamily="34" charset="0"/>
                <a:cs typeface="Arial" panose="020B0604020202020204" pitchFamily="34" charset="0"/>
              </a:rPr>
              <a:t>resources </a:t>
            </a:r>
            <a:r>
              <a:rPr sz="2800" spc="-8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2800" spc="-90" dirty="0">
                <a:latin typeface="Arial" panose="020B0604020202020204" pitchFamily="34" charset="0"/>
                <a:cs typeface="Arial" panose="020B0604020202020204" pitchFamily="34" charset="0"/>
              </a:rPr>
              <a:t>hardware  </a:t>
            </a:r>
            <a:r>
              <a:rPr sz="2800" spc="-140" dirty="0">
                <a:latin typeface="Arial" panose="020B0604020202020204" pitchFamily="34" charset="0"/>
                <a:cs typeface="Arial" panose="020B0604020202020204" pitchFamily="34" charset="0"/>
              </a:rPr>
              <a:t>resources </a:t>
            </a:r>
            <a:r>
              <a:rPr sz="2800" spc="-135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sz="2800" spc="-150" dirty="0">
                <a:latin typeface="Arial" panose="020B0604020202020204" pitchFamily="34" charset="0"/>
                <a:cs typeface="Arial" panose="020B0604020202020204" pitchFamily="34" charset="0"/>
              </a:rPr>
              <a:t>any </a:t>
            </a:r>
            <a:r>
              <a:rPr sz="2800" spc="-175" dirty="0">
                <a:latin typeface="Arial" panose="020B0604020202020204" pitchFamily="34" charset="0"/>
                <a:cs typeface="Arial" panose="020B0604020202020204" pitchFamily="34" charset="0"/>
              </a:rPr>
              <a:t>processes </a:t>
            </a:r>
            <a:r>
              <a:rPr sz="2800" spc="-5" dirty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sz="2800" spc="-150" dirty="0">
                <a:latin typeface="Arial" panose="020B0604020202020204" pitchFamily="34" charset="0"/>
                <a:cs typeface="Arial" panose="020B0604020202020204" pitchFamily="34" charset="0"/>
              </a:rPr>
              <a:t>any</a:t>
            </a:r>
            <a:r>
              <a:rPr sz="2800" spc="-2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75" dirty="0">
                <a:latin typeface="Arial" panose="020B0604020202020204" pitchFamily="34" charset="0"/>
                <a:cs typeface="Arial" panose="020B0604020202020204" pitchFamily="34" charset="0"/>
              </a:rPr>
              <a:t>computer.</a:t>
            </a:r>
            <a:endParaRPr lang="en-US" sz="2800" spc="-7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>
              <a:lnSpc>
                <a:spcPct val="98600"/>
              </a:lnSpc>
              <a:spcBef>
                <a:spcPts val="155"/>
              </a:spcBef>
              <a:tabLst>
                <a:tab pos="356870" algn="l"/>
                <a:tab pos="357505" algn="l"/>
              </a:tabLst>
            </a:pPr>
            <a:endParaRPr lang="en-US" sz="2800" spc="-7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6870" marR="5080" indent="-344170">
              <a:lnSpc>
                <a:spcPct val="98600"/>
              </a:lnSpc>
              <a:spcBef>
                <a:spcPts val="155"/>
              </a:spcBef>
              <a:buFont typeface="Times New Roman"/>
              <a:buChar char="•"/>
              <a:tabLst>
                <a:tab pos="356870" algn="l"/>
                <a:tab pos="357505" algn="l"/>
              </a:tabLs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Kernel is only program running all the time on the computer system </a:t>
            </a:r>
          </a:p>
          <a:p>
            <a:pPr marL="356870" marR="5080" indent="-344170">
              <a:lnSpc>
                <a:spcPct val="98600"/>
              </a:lnSpc>
              <a:spcBef>
                <a:spcPts val="155"/>
              </a:spcBef>
              <a:buFont typeface="Times New Roman"/>
              <a:buChar char="•"/>
              <a:tabLst>
                <a:tab pos="356870" algn="l"/>
                <a:tab pos="357505" algn="l"/>
              </a:tabLst>
            </a:pP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6870" marR="339725" indent="-344170">
              <a:lnSpc>
                <a:spcPct val="100000"/>
              </a:lnSpc>
              <a:spcBef>
                <a:spcPts val="815"/>
              </a:spcBef>
              <a:buFont typeface="Times New Roman"/>
              <a:buChar char="•"/>
              <a:tabLst>
                <a:tab pos="356870" algn="l"/>
                <a:tab pos="357505" algn="l"/>
              </a:tabLst>
            </a:pPr>
            <a:r>
              <a:rPr sz="2800" spc="-145" dirty="0">
                <a:latin typeface="Arial" panose="020B0604020202020204" pitchFamily="34" charset="0"/>
                <a:cs typeface="Arial" panose="020B0604020202020204" pitchFamily="34" charset="0"/>
              </a:rPr>
              <a:t>Basically, </a:t>
            </a:r>
            <a:r>
              <a:rPr sz="2800" spc="-455" dirty="0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US" sz="2800" spc="-4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4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0" dirty="0">
                <a:latin typeface="Arial" panose="020B0604020202020204" pitchFamily="34" charset="0"/>
                <a:cs typeface="Arial" panose="020B0604020202020204" pitchFamily="34" charset="0"/>
              </a:rPr>
              <a:t>fits </a:t>
            </a:r>
            <a:r>
              <a:rPr sz="2800" spc="-30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sz="2800" spc="-35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sz="2800" spc="-130" dirty="0">
                <a:latin typeface="Arial" panose="020B0604020202020204" pitchFamily="34" charset="0"/>
                <a:cs typeface="Arial" panose="020B0604020202020204" pitchFamily="34" charset="0"/>
              </a:rPr>
              <a:t>Kernel </a:t>
            </a:r>
            <a:r>
              <a:rPr sz="2800" spc="-110" dirty="0">
                <a:latin typeface="Arial" panose="020B0604020202020204" pitchFamily="34" charset="0"/>
                <a:cs typeface="Arial" panose="020B0604020202020204" pitchFamily="34" charset="0"/>
              </a:rPr>
              <a:t>mode </a:t>
            </a:r>
            <a:r>
              <a:rPr sz="2800" spc="-13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sz="2800" spc="90" dirty="0">
                <a:latin typeface="Arial" panose="020B0604020202020204" pitchFamily="34" charset="0"/>
                <a:cs typeface="Arial" panose="020B0604020202020204" pitchFamily="34" charset="0"/>
              </a:rPr>
              <a:t>it </a:t>
            </a:r>
            <a:r>
              <a:rPr sz="2800" spc="-204" dirty="0">
                <a:latin typeface="Arial" panose="020B0604020202020204" pitchFamily="34" charset="0"/>
                <a:cs typeface="Arial" panose="020B0604020202020204" pitchFamily="34" charset="0"/>
              </a:rPr>
              <a:t>has  </a:t>
            </a:r>
            <a:r>
              <a:rPr sz="2800" spc="-85" dirty="0">
                <a:latin typeface="Arial" panose="020B0604020202020204" pitchFamily="34" charset="0"/>
                <a:cs typeface="Arial" panose="020B0604020202020204" pitchFamily="34" charset="0"/>
              </a:rPr>
              <a:t>complete </a:t>
            </a:r>
            <a:r>
              <a:rPr sz="2800" spc="-240" dirty="0">
                <a:latin typeface="Arial" panose="020B0604020202020204" pitchFamily="34" charset="0"/>
                <a:cs typeface="Arial" panose="020B0604020202020204" pitchFamily="34" charset="0"/>
              </a:rPr>
              <a:t>access </a:t>
            </a:r>
            <a:r>
              <a:rPr sz="2800" spc="40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sz="2800" spc="-60" dirty="0">
                <a:latin typeface="Arial" panose="020B0604020202020204" pitchFamily="34" charset="0"/>
                <a:cs typeface="Arial" panose="020B0604020202020204" pitchFamily="34" charset="0"/>
              </a:rPr>
              <a:t>all </a:t>
            </a:r>
            <a:r>
              <a:rPr sz="2800" spc="-35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sz="2800" spc="-90" dirty="0">
                <a:latin typeface="Arial" panose="020B0604020202020204" pitchFamily="34" charset="0"/>
                <a:cs typeface="Arial" panose="020B0604020202020204" pitchFamily="34" charset="0"/>
              </a:rPr>
              <a:t>hardware </a:t>
            </a:r>
            <a:r>
              <a:rPr sz="2800" spc="-13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sz="2800" spc="-175" dirty="0"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sz="2800" spc="-5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-5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20" dirty="0">
                <a:latin typeface="Arial" panose="020B0604020202020204" pitchFamily="34" charset="0"/>
                <a:cs typeface="Arial" panose="020B0604020202020204" pitchFamily="34" charset="0"/>
              </a:rPr>
              <a:t>execute  </a:t>
            </a:r>
            <a:r>
              <a:rPr sz="2800" spc="-150" dirty="0">
                <a:latin typeface="Arial" panose="020B0604020202020204" pitchFamily="34" charset="0"/>
                <a:cs typeface="Arial" panose="020B0604020202020204" pitchFamily="34" charset="0"/>
              </a:rPr>
              <a:t>any </a:t>
            </a:r>
            <a:r>
              <a:rPr sz="2800" spc="-45" dirty="0">
                <a:latin typeface="Arial" panose="020B0604020202020204" pitchFamily="34" charset="0"/>
                <a:cs typeface="Arial" panose="020B0604020202020204" pitchFamily="34" charset="0"/>
              </a:rPr>
              <a:t>instruction </a:t>
            </a:r>
            <a:r>
              <a:rPr sz="2800" spc="-35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sz="2800" spc="-125" dirty="0">
                <a:latin typeface="Arial" panose="020B0604020202020204" pitchFamily="34" charset="0"/>
                <a:cs typeface="Arial" panose="020B0604020202020204" pitchFamily="34" charset="0"/>
              </a:rPr>
              <a:t>machine </a:t>
            </a:r>
            <a:r>
              <a:rPr sz="2800" spc="-140" dirty="0"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sz="2800" spc="-145" dirty="0">
                <a:latin typeface="Arial" panose="020B0604020202020204" pitchFamily="34" charset="0"/>
                <a:cs typeface="Arial" panose="020B0604020202020204" pitchFamily="34" charset="0"/>
              </a:rPr>
              <a:t>capable </a:t>
            </a:r>
            <a:r>
              <a:rPr sz="2800" spc="-5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2800" spc="-3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05" dirty="0">
                <a:latin typeface="Arial" panose="020B0604020202020204" pitchFamily="34" charset="0"/>
                <a:cs typeface="Arial" panose="020B0604020202020204" pitchFamily="34" charset="0"/>
              </a:rPr>
              <a:t>executing.</a:t>
            </a:r>
            <a:endParaRPr lang="en-US" sz="2800" spc="-10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6870" marR="339725" indent="-344170">
              <a:lnSpc>
                <a:spcPct val="100000"/>
              </a:lnSpc>
              <a:spcBef>
                <a:spcPts val="815"/>
              </a:spcBef>
              <a:buFont typeface="Times New Roman"/>
              <a:buChar char="•"/>
              <a:tabLst>
                <a:tab pos="356870" algn="l"/>
                <a:tab pos="357505" algn="l"/>
              </a:tabLst>
            </a:pP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28600"/>
            <a:ext cx="4782006" cy="650549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457200"/>
            <a:ext cx="4355067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6870" marR="339725" indent="-344170">
              <a:spcBef>
                <a:spcPts val="815"/>
              </a:spcBef>
              <a:buFont typeface="Times New Roman"/>
              <a:buChar char="•"/>
              <a:tabLst>
                <a:tab pos="356870" algn="l"/>
                <a:tab pos="357505" algn="l"/>
              </a:tabLst>
            </a:pPr>
            <a:r>
              <a:rPr lang="en-US" sz="2800" spc="35" dirty="0"/>
              <a:t>It</a:t>
            </a:r>
            <a:r>
              <a:rPr lang="en-US" sz="2800" spc="-145" dirty="0"/>
              <a:t> </a:t>
            </a:r>
            <a:r>
              <a:rPr lang="en-US" sz="2800" spc="-204" dirty="0"/>
              <a:t>has</a:t>
            </a:r>
            <a:r>
              <a:rPr lang="en-US" sz="2800" spc="-155" dirty="0"/>
              <a:t> </a:t>
            </a:r>
            <a:r>
              <a:rPr lang="en-US" sz="2800" spc="-35" dirty="0"/>
              <a:t>the</a:t>
            </a:r>
            <a:r>
              <a:rPr lang="en-US" sz="2800" spc="-145" dirty="0"/>
              <a:t> </a:t>
            </a:r>
            <a:r>
              <a:rPr lang="en-US" sz="2800" spc="-130" dirty="0"/>
              <a:t>device</a:t>
            </a:r>
            <a:r>
              <a:rPr lang="en-US" sz="2800" spc="-140" dirty="0"/>
              <a:t> </a:t>
            </a:r>
            <a:r>
              <a:rPr lang="en-US" sz="2800" spc="-85" dirty="0"/>
              <a:t>drivers</a:t>
            </a:r>
            <a:r>
              <a:rPr lang="en-US" sz="2800" spc="-175" dirty="0"/>
              <a:t> </a:t>
            </a:r>
            <a:r>
              <a:rPr lang="en-US" sz="2800" spc="-30" dirty="0"/>
              <a:t>in</a:t>
            </a:r>
            <a:r>
              <a:rPr lang="en-US" sz="2800" spc="-165" dirty="0"/>
              <a:t> </a:t>
            </a:r>
            <a:r>
              <a:rPr lang="en-US" sz="2800" spc="35" dirty="0"/>
              <a:t>it.</a:t>
            </a:r>
            <a:r>
              <a:rPr lang="en-US" sz="2800" spc="-135" dirty="0"/>
              <a:t> </a:t>
            </a:r>
            <a:r>
              <a:rPr lang="en-US" sz="2800" spc="-155" dirty="0"/>
              <a:t>For</a:t>
            </a:r>
            <a:r>
              <a:rPr lang="en-US" sz="2800" spc="-170" dirty="0"/>
              <a:t> </a:t>
            </a:r>
            <a:r>
              <a:rPr lang="en-US" sz="2800" spc="-125" dirty="0"/>
              <a:t>example,</a:t>
            </a:r>
            <a:r>
              <a:rPr lang="en-US" sz="2800" spc="-165" dirty="0"/>
              <a:t> </a:t>
            </a:r>
            <a:r>
              <a:rPr lang="en-US" sz="2800" spc="50" dirty="0"/>
              <a:t>if</a:t>
            </a:r>
            <a:r>
              <a:rPr lang="en-US" sz="2800" spc="-145" dirty="0"/>
              <a:t> </a:t>
            </a:r>
            <a:r>
              <a:rPr lang="en-US" sz="2800" spc="-95" dirty="0"/>
              <a:t>you</a:t>
            </a:r>
            <a:r>
              <a:rPr lang="en-US" sz="2800" spc="-155" dirty="0"/>
              <a:t> </a:t>
            </a:r>
            <a:r>
              <a:rPr lang="en-US" sz="2800" spc="-150" dirty="0"/>
              <a:t>have  </a:t>
            </a:r>
            <a:r>
              <a:rPr lang="en-US" sz="2800" spc="40" dirty="0"/>
              <a:t>to</a:t>
            </a:r>
            <a:r>
              <a:rPr lang="en-US" sz="2800" spc="-155" dirty="0"/>
              <a:t> </a:t>
            </a:r>
            <a:r>
              <a:rPr lang="en-US" sz="2800" spc="-90" dirty="0"/>
              <a:t>do</a:t>
            </a:r>
            <a:r>
              <a:rPr lang="en-US" sz="2800" spc="-130" dirty="0"/>
              <a:t> </a:t>
            </a:r>
            <a:r>
              <a:rPr lang="en-US" sz="2800" spc="-35" dirty="0"/>
              <a:t>the</a:t>
            </a:r>
            <a:r>
              <a:rPr lang="en-US" sz="2800" spc="-160" dirty="0"/>
              <a:t> </a:t>
            </a:r>
            <a:r>
              <a:rPr lang="en-US" sz="2800" spc="-60" dirty="0"/>
              <a:t>networking,</a:t>
            </a:r>
            <a:r>
              <a:rPr lang="en-US" sz="2800" spc="-160" dirty="0"/>
              <a:t> </a:t>
            </a:r>
            <a:r>
              <a:rPr lang="en-US" sz="2800" dirty="0"/>
              <a:t>that</a:t>
            </a:r>
            <a:r>
              <a:rPr lang="en-US" sz="2800" spc="-145" dirty="0"/>
              <a:t> </a:t>
            </a:r>
            <a:r>
              <a:rPr lang="en-US" sz="2800" spc="-195" dirty="0"/>
              <a:t>goes</a:t>
            </a:r>
            <a:r>
              <a:rPr lang="en-US" sz="2800" spc="-170" dirty="0"/>
              <a:t> </a:t>
            </a:r>
            <a:r>
              <a:rPr lang="en-US" sz="2800" spc="-55" dirty="0"/>
              <a:t>through</a:t>
            </a:r>
            <a:r>
              <a:rPr lang="en-US" sz="2800" spc="-145" dirty="0"/>
              <a:t> </a:t>
            </a:r>
            <a:r>
              <a:rPr lang="en-US" sz="2800" spc="-35" dirty="0"/>
              <a:t>the</a:t>
            </a:r>
            <a:r>
              <a:rPr lang="en-US" sz="2800" spc="-140" dirty="0"/>
              <a:t> </a:t>
            </a:r>
            <a:r>
              <a:rPr lang="en-US" sz="2800" spc="-120" dirty="0"/>
              <a:t>Kernel.</a:t>
            </a:r>
            <a:r>
              <a:rPr lang="en-US" sz="2800" spc="-170" dirty="0"/>
              <a:t> </a:t>
            </a:r>
            <a:r>
              <a:rPr lang="en-US" sz="2800" spc="-5" dirty="0"/>
              <a:t>If  </a:t>
            </a:r>
            <a:r>
              <a:rPr lang="en-US" sz="2800" spc="-100" dirty="0"/>
              <a:t>you </a:t>
            </a:r>
            <a:r>
              <a:rPr lang="en-US" sz="2800" spc="-40" dirty="0"/>
              <a:t>want </a:t>
            </a:r>
            <a:r>
              <a:rPr lang="en-US" sz="2800" spc="40" dirty="0"/>
              <a:t>to </a:t>
            </a:r>
            <a:r>
              <a:rPr lang="en-US" sz="2800" spc="-105" dirty="0"/>
              <a:t>communicate </a:t>
            </a:r>
            <a:r>
              <a:rPr lang="en-US" sz="2800" spc="-55" dirty="0"/>
              <a:t>through </a:t>
            </a:r>
            <a:r>
              <a:rPr lang="en-US" sz="2800" spc="-30" dirty="0"/>
              <a:t>Bluetooth </a:t>
            </a:r>
            <a:r>
              <a:rPr lang="en-US" sz="2800" spc="-120" dirty="0"/>
              <a:t>device,  </a:t>
            </a:r>
            <a:r>
              <a:rPr lang="en-US" sz="2800" dirty="0"/>
              <a:t>that </a:t>
            </a:r>
            <a:r>
              <a:rPr lang="en-US" sz="2800" spc="-195" dirty="0"/>
              <a:t>goes </a:t>
            </a:r>
            <a:r>
              <a:rPr lang="en-US" sz="2800" spc="-55" dirty="0"/>
              <a:t>through </a:t>
            </a:r>
            <a:r>
              <a:rPr lang="en-US" sz="2800" spc="-35" dirty="0"/>
              <a:t>the </a:t>
            </a:r>
            <a:r>
              <a:rPr lang="en-US" sz="2800" spc="-120" dirty="0"/>
              <a:t>Kernel. </a:t>
            </a:r>
            <a:r>
              <a:rPr lang="en-US" sz="2800" spc="-5" dirty="0"/>
              <a:t>If </a:t>
            </a:r>
            <a:r>
              <a:rPr lang="en-US" sz="2800" spc="-95" dirty="0"/>
              <a:t>you </a:t>
            </a:r>
            <a:r>
              <a:rPr lang="en-US" sz="2800" spc="-145" dirty="0"/>
              <a:t>also </a:t>
            </a:r>
            <a:r>
              <a:rPr lang="en-US" sz="2800" spc="-40" dirty="0"/>
              <a:t>want </a:t>
            </a:r>
            <a:r>
              <a:rPr lang="en-US" sz="2800" spc="40" dirty="0"/>
              <a:t>to </a:t>
            </a:r>
            <a:r>
              <a:rPr lang="en-US" sz="2800" spc="-190" dirty="0"/>
              <a:t>use  </a:t>
            </a:r>
            <a:r>
              <a:rPr lang="en-US" sz="2800" spc="-35" dirty="0"/>
              <a:t>the </a:t>
            </a:r>
            <a:r>
              <a:rPr lang="en-US" sz="2800" spc="-10" dirty="0"/>
              <a:t>file </a:t>
            </a:r>
            <a:r>
              <a:rPr lang="en-US" sz="2800" spc="-135" dirty="0"/>
              <a:t>system, </a:t>
            </a:r>
            <a:r>
              <a:rPr lang="en-US" sz="2800" spc="-45" dirty="0"/>
              <a:t>then </a:t>
            </a:r>
            <a:r>
              <a:rPr lang="en-US" sz="2800" spc="90" dirty="0"/>
              <a:t>it </a:t>
            </a:r>
            <a:r>
              <a:rPr lang="en-US" sz="2800" spc="-90" dirty="0"/>
              <a:t>must </a:t>
            </a:r>
            <a:r>
              <a:rPr lang="en-US" sz="2800" spc="-160" dirty="0"/>
              <a:t>go  </a:t>
            </a:r>
            <a:r>
              <a:rPr lang="en-US" sz="2800" spc="-30" dirty="0"/>
              <a:t>through </a:t>
            </a:r>
            <a:r>
              <a:rPr lang="en-US" sz="2800" spc="-35" dirty="0"/>
              <a:t>the </a:t>
            </a:r>
            <a:r>
              <a:rPr lang="en-US" sz="2800" spc="-125" dirty="0"/>
              <a:t>Kernel  </a:t>
            </a:r>
            <a:r>
              <a:rPr lang="en-US" sz="2800" spc="-105" dirty="0"/>
              <a:t>mode.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54041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40445" y="0"/>
            <a:ext cx="927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iAcademy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22859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4572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644639"/>
            <a:ext cx="9144000" cy="213360"/>
          </a:xfrm>
          <a:custGeom>
            <a:avLst/>
            <a:gdLst/>
            <a:ahLst/>
            <a:cxnLst/>
            <a:rect l="l" t="t" r="r" b="b"/>
            <a:pathLst>
              <a:path w="9144000" h="213359">
                <a:moveTo>
                  <a:pt x="0" y="213359"/>
                </a:moveTo>
                <a:lnTo>
                  <a:pt x="9144000" y="213359"/>
                </a:lnTo>
                <a:lnTo>
                  <a:pt x="9144000" y="0"/>
                </a:lnTo>
                <a:lnTo>
                  <a:pt x="0" y="0"/>
                </a:lnTo>
                <a:lnTo>
                  <a:pt x="0" y="21335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13103" y="6822947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70104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01218" y="382981"/>
            <a:ext cx="796734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5" dirty="0"/>
              <a:t>Introductions </a:t>
            </a:r>
            <a:r>
              <a:rPr spc="55" dirty="0"/>
              <a:t>to </a:t>
            </a:r>
            <a:r>
              <a:rPr spc="-120" dirty="0"/>
              <a:t>operating</a:t>
            </a:r>
            <a:r>
              <a:rPr spc="-545" dirty="0"/>
              <a:t> </a:t>
            </a:r>
            <a:r>
              <a:rPr spc="-265" dirty="0"/>
              <a:t>systems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105" dirty="0"/>
              <a:t>iAcademy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63118" y="1249881"/>
            <a:ext cx="6898005" cy="479044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894"/>
              </a:spcBef>
              <a:buFont typeface="Times New Roman"/>
              <a:buChar char="•"/>
              <a:tabLst>
                <a:tab pos="356870" algn="l"/>
                <a:tab pos="357505" algn="l"/>
              </a:tabLst>
            </a:pPr>
            <a:r>
              <a:rPr sz="3200" spc="-225" dirty="0">
                <a:latin typeface="Arial"/>
                <a:cs typeface="Arial"/>
              </a:rPr>
              <a:t>Services </a:t>
            </a:r>
            <a:r>
              <a:rPr sz="3200" spc="-90" dirty="0">
                <a:latin typeface="Arial"/>
                <a:cs typeface="Arial"/>
              </a:rPr>
              <a:t>provided </a:t>
            </a:r>
            <a:r>
              <a:rPr sz="3200" spc="-130" dirty="0">
                <a:latin typeface="Arial"/>
                <a:cs typeface="Arial"/>
              </a:rPr>
              <a:t>by</a:t>
            </a:r>
            <a:r>
              <a:rPr sz="3200" spc="-85" dirty="0">
                <a:latin typeface="Arial"/>
                <a:cs typeface="Arial"/>
              </a:rPr>
              <a:t> </a:t>
            </a:r>
            <a:r>
              <a:rPr sz="3200" spc="-365" dirty="0">
                <a:latin typeface="Arial"/>
                <a:cs typeface="Arial"/>
              </a:rPr>
              <a:t>OS:</a:t>
            </a:r>
            <a:endParaRPr sz="32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715"/>
              </a:spcBef>
              <a:buChar char="–"/>
              <a:tabLst>
                <a:tab pos="756920" algn="l"/>
              </a:tabLst>
            </a:pPr>
            <a:r>
              <a:rPr sz="2800" dirty="0">
                <a:latin typeface="Times New Roman"/>
                <a:cs typeface="Times New Roman"/>
              </a:rPr>
              <a:t>Facilities </a:t>
            </a:r>
            <a:r>
              <a:rPr sz="2800" spc="5" dirty="0">
                <a:latin typeface="Times New Roman"/>
                <a:cs typeface="Times New Roman"/>
              </a:rPr>
              <a:t>for program</a:t>
            </a:r>
            <a:r>
              <a:rPr sz="2800" spc="-16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creation</a:t>
            </a:r>
            <a:endParaRPr sz="2800" dirty="0">
              <a:latin typeface="Times New Roman"/>
              <a:cs typeface="Times New Roman"/>
            </a:endParaRPr>
          </a:p>
          <a:p>
            <a:pPr marL="1155700" lvl="2" indent="-228600">
              <a:lnSpc>
                <a:spcPct val="100000"/>
              </a:lnSpc>
              <a:spcBef>
                <a:spcPts val="495"/>
              </a:spcBef>
              <a:buChar char="•"/>
              <a:tabLst>
                <a:tab pos="1156335" algn="l"/>
              </a:tabLst>
            </a:pPr>
            <a:r>
              <a:rPr sz="2400" spc="-5" dirty="0">
                <a:latin typeface="Times New Roman"/>
                <a:cs typeface="Times New Roman"/>
              </a:rPr>
              <a:t>editors, </a:t>
            </a:r>
            <a:r>
              <a:rPr sz="2400" spc="-5" dirty="0" smtClean="0">
                <a:latin typeface="Times New Roman"/>
                <a:cs typeface="Times New Roman"/>
              </a:rPr>
              <a:t>compilers, </a:t>
            </a:r>
            <a:r>
              <a:rPr sz="2400" spc="-10" dirty="0">
                <a:latin typeface="Times New Roman"/>
                <a:cs typeface="Times New Roman"/>
              </a:rPr>
              <a:t>debuggers,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etc.</a:t>
            </a:r>
            <a:endParaRPr sz="2400" dirty="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610"/>
              </a:spcBef>
              <a:buChar char="–"/>
              <a:tabLst>
                <a:tab pos="756920" algn="l"/>
              </a:tabLst>
            </a:pPr>
            <a:r>
              <a:rPr sz="2800" spc="5" dirty="0">
                <a:latin typeface="Times New Roman"/>
                <a:cs typeface="Times New Roman"/>
              </a:rPr>
              <a:t>Program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execution</a:t>
            </a:r>
            <a:endParaRPr sz="2800" dirty="0">
              <a:latin typeface="Times New Roman"/>
              <a:cs typeface="Times New Roman"/>
            </a:endParaRPr>
          </a:p>
          <a:p>
            <a:pPr marL="1155700" lvl="2" indent="-228600">
              <a:lnSpc>
                <a:spcPct val="100000"/>
              </a:lnSpc>
              <a:spcBef>
                <a:spcPts val="500"/>
              </a:spcBef>
              <a:buChar char="•"/>
              <a:tabLst>
                <a:tab pos="1156335" algn="l"/>
              </a:tabLst>
            </a:pPr>
            <a:r>
              <a:rPr sz="2400" dirty="0">
                <a:latin typeface="Times New Roman"/>
                <a:cs typeface="Times New Roman"/>
              </a:rPr>
              <a:t>loading in </a:t>
            </a:r>
            <a:r>
              <a:rPr sz="2400" spc="-15" dirty="0">
                <a:latin typeface="Times New Roman"/>
                <a:cs typeface="Times New Roman"/>
              </a:rPr>
              <a:t>memory</a:t>
            </a:r>
            <a:r>
              <a:rPr sz="2400" dirty="0">
                <a:latin typeface="Times New Roman"/>
                <a:cs typeface="Times New Roman"/>
              </a:rPr>
              <a:t>.</a:t>
            </a:r>
          </a:p>
          <a:p>
            <a:pPr marL="756285" lvl="1" indent="-286385">
              <a:lnSpc>
                <a:spcPct val="100000"/>
              </a:lnSpc>
              <a:spcBef>
                <a:spcPts val="585"/>
              </a:spcBef>
              <a:buChar char="–"/>
              <a:tabLst>
                <a:tab pos="756920" algn="l"/>
              </a:tabLst>
            </a:pPr>
            <a:r>
              <a:rPr sz="2800" dirty="0">
                <a:latin typeface="Times New Roman"/>
                <a:cs typeface="Times New Roman"/>
              </a:rPr>
              <a:t>Access </a:t>
            </a:r>
            <a:r>
              <a:rPr sz="2800" spc="5" dirty="0">
                <a:latin typeface="Times New Roman"/>
                <a:cs typeface="Times New Roman"/>
              </a:rPr>
              <a:t>to I/O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files</a:t>
            </a:r>
          </a:p>
          <a:p>
            <a:pPr marL="1155700" lvl="2" indent="-228600">
              <a:lnSpc>
                <a:spcPct val="100000"/>
              </a:lnSpc>
              <a:spcBef>
                <a:spcPts val="520"/>
              </a:spcBef>
              <a:buChar char="•"/>
              <a:tabLst>
                <a:tab pos="1156335" algn="l"/>
              </a:tabLst>
            </a:pPr>
            <a:r>
              <a:rPr sz="2400" spc="-5" dirty="0">
                <a:latin typeface="Times New Roman"/>
                <a:cs typeface="Times New Roman"/>
              </a:rPr>
              <a:t>deals with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specifics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25" dirty="0">
                <a:latin typeface="Times New Roman"/>
                <a:cs typeface="Times New Roman"/>
              </a:rPr>
              <a:t>I/O </a:t>
            </a:r>
            <a:r>
              <a:rPr sz="2400" spc="-5" dirty="0">
                <a:latin typeface="Times New Roman"/>
                <a:cs typeface="Times New Roman"/>
              </a:rPr>
              <a:t>and </a:t>
            </a:r>
            <a:r>
              <a:rPr sz="2400" dirty="0">
                <a:latin typeface="Times New Roman"/>
                <a:cs typeface="Times New Roman"/>
              </a:rPr>
              <a:t>file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formats.</a:t>
            </a:r>
            <a:endParaRPr sz="2400" dirty="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585"/>
              </a:spcBef>
              <a:buChar char="–"/>
              <a:tabLst>
                <a:tab pos="756920" algn="l"/>
              </a:tabLst>
            </a:pP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access</a:t>
            </a:r>
            <a:endParaRPr sz="2800" dirty="0">
              <a:latin typeface="Times New Roman"/>
              <a:cs typeface="Times New Roman"/>
            </a:endParaRPr>
          </a:p>
          <a:p>
            <a:pPr marL="1155700" lvl="2" indent="-228600">
              <a:lnSpc>
                <a:spcPct val="100000"/>
              </a:lnSpc>
              <a:spcBef>
                <a:spcPts val="525"/>
              </a:spcBef>
              <a:buChar char="•"/>
              <a:tabLst>
                <a:tab pos="1156335" algn="l"/>
              </a:tabLst>
            </a:pPr>
            <a:r>
              <a:rPr sz="2400" spc="-5" dirty="0">
                <a:latin typeface="Times New Roman"/>
                <a:cs typeface="Times New Roman"/>
              </a:rPr>
              <a:t>resolves conflicts </a:t>
            </a:r>
            <a:r>
              <a:rPr sz="2400" dirty="0">
                <a:latin typeface="Times New Roman"/>
                <a:cs typeface="Times New Roman"/>
              </a:rPr>
              <a:t>for </a:t>
            </a:r>
            <a:r>
              <a:rPr sz="2400" spc="-5" dirty="0">
                <a:latin typeface="Times New Roman"/>
                <a:cs typeface="Times New Roman"/>
              </a:rPr>
              <a:t>resource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contention.</a:t>
            </a:r>
            <a:endParaRPr sz="2400" dirty="0">
              <a:latin typeface="Times New Roman"/>
              <a:cs typeface="Times New Roman"/>
            </a:endParaRPr>
          </a:p>
          <a:p>
            <a:pPr marL="1155700" lvl="2" indent="-228600">
              <a:lnSpc>
                <a:spcPct val="100000"/>
              </a:lnSpc>
              <a:spcBef>
                <a:spcPts val="505"/>
              </a:spcBef>
              <a:buChar char="•"/>
              <a:tabLst>
                <a:tab pos="1156335" algn="l"/>
              </a:tabLst>
            </a:pPr>
            <a:r>
              <a:rPr sz="2400" spc="-5" dirty="0">
                <a:latin typeface="Times New Roman"/>
                <a:cs typeface="Times New Roman"/>
              </a:rPr>
              <a:t>protection </a:t>
            </a:r>
            <a:r>
              <a:rPr sz="2400" dirty="0">
                <a:latin typeface="Times New Roman"/>
                <a:cs typeface="Times New Roman"/>
              </a:rPr>
              <a:t>in </a:t>
            </a:r>
            <a:r>
              <a:rPr sz="2400" spc="-10" dirty="0">
                <a:latin typeface="Times New Roman"/>
                <a:cs typeface="Times New Roman"/>
              </a:rPr>
              <a:t>access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5" dirty="0">
                <a:latin typeface="Times New Roman"/>
                <a:cs typeface="Times New Roman"/>
              </a:rPr>
              <a:t>resources and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data.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40445" y="0"/>
            <a:ext cx="927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iAcademy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22859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4572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644639"/>
            <a:ext cx="9144000" cy="213360"/>
          </a:xfrm>
          <a:custGeom>
            <a:avLst/>
            <a:gdLst/>
            <a:ahLst/>
            <a:cxnLst/>
            <a:rect l="l" t="t" r="r" b="b"/>
            <a:pathLst>
              <a:path w="9144000" h="213359">
                <a:moveTo>
                  <a:pt x="0" y="213359"/>
                </a:moveTo>
                <a:lnTo>
                  <a:pt x="9144000" y="213359"/>
                </a:lnTo>
                <a:lnTo>
                  <a:pt x="9144000" y="0"/>
                </a:lnTo>
                <a:lnTo>
                  <a:pt x="0" y="0"/>
                </a:lnTo>
                <a:lnTo>
                  <a:pt x="0" y="21335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13103" y="6822947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70104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11607" y="518136"/>
            <a:ext cx="6384925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65" dirty="0"/>
              <a:t>Operating </a:t>
            </a:r>
            <a:r>
              <a:rPr spc="-330" dirty="0"/>
              <a:t>Systems </a:t>
            </a:r>
            <a:r>
              <a:rPr spc="-204" dirty="0"/>
              <a:t>helps</a:t>
            </a:r>
            <a:r>
              <a:rPr spc="-100" dirty="0"/>
              <a:t> </a:t>
            </a:r>
            <a:r>
              <a:rPr spc="20" dirty="0"/>
              <a:t>to:</a:t>
            </a:r>
          </a:p>
        </p:txBody>
      </p:sp>
      <p:sp>
        <p:nvSpPr>
          <p:cNvPr id="7" name="object 7"/>
          <p:cNvSpPr/>
          <p:nvPr/>
        </p:nvSpPr>
        <p:spPr>
          <a:xfrm>
            <a:off x="694055" y="1513331"/>
            <a:ext cx="1776983" cy="11094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79184" y="1650277"/>
            <a:ext cx="1323975" cy="80327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algn="ctr">
              <a:lnSpc>
                <a:spcPct val="91700"/>
              </a:lnSpc>
              <a:spcBef>
                <a:spcPts val="280"/>
              </a:spcBef>
            </a:pPr>
            <a:r>
              <a:rPr sz="1800" spc="-65" dirty="0">
                <a:latin typeface="Arial"/>
                <a:cs typeface="Arial"/>
              </a:rPr>
              <a:t>Start </a:t>
            </a:r>
            <a:r>
              <a:rPr sz="1800" spc="-90" dirty="0">
                <a:latin typeface="Arial"/>
                <a:cs typeface="Arial"/>
              </a:rPr>
              <a:t>and</a:t>
            </a:r>
            <a:r>
              <a:rPr sz="1800" spc="-204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shut  </a:t>
            </a:r>
            <a:r>
              <a:rPr sz="1800" spc="-45" dirty="0">
                <a:latin typeface="Arial"/>
                <a:cs typeface="Arial"/>
              </a:rPr>
              <a:t>down </a:t>
            </a:r>
            <a:r>
              <a:rPr sz="1800" spc="-140" dirty="0">
                <a:latin typeface="Arial"/>
                <a:cs typeface="Arial"/>
              </a:rPr>
              <a:t>a  </a:t>
            </a:r>
            <a:r>
              <a:rPr sz="1800" spc="-55" dirty="0">
                <a:latin typeface="Arial"/>
                <a:cs typeface="Arial"/>
              </a:rPr>
              <a:t>computer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730957" y="1520189"/>
            <a:ext cx="1786127" cy="10972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945581" y="1842326"/>
            <a:ext cx="1343025" cy="553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075"/>
              </a:lnSpc>
              <a:spcBef>
                <a:spcPts val="100"/>
              </a:spcBef>
            </a:pPr>
            <a:r>
              <a:rPr sz="1800" spc="-80" dirty="0">
                <a:latin typeface="Arial"/>
                <a:cs typeface="Arial"/>
              </a:rPr>
              <a:t>Provide </a:t>
            </a:r>
            <a:r>
              <a:rPr sz="1800" spc="-140" dirty="0">
                <a:latin typeface="Arial"/>
                <a:cs typeface="Arial"/>
              </a:rPr>
              <a:t>a</a:t>
            </a:r>
            <a:r>
              <a:rPr sz="1800" spc="-204" dirty="0">
                <a:latin typeface="Arial"/>
                <a:cs typeface="Arial"/>
              </a:rPr>
              <a:t> </a:t>
            </a:r>
            <a:r>
              <a:rPr sz="1800" spc="-90" dirty="0">
                <a:latin typeface="Arial"/>
                <a:cs typeface="Arial"/>
              </a:rPr>
              <a:t>user</a:t>
            </a:r>
            <a:endParaRPr sz="1800" dirty="0">
              <a:latin typeface="Arial"/>
              <a:cs typeface="Arial"/>
            </a:endParaRPr>
          </a:p>
          <a:p>
            <a:pPr algn="ctr">
              <a:lnSpc>
                <a:spcPts val="2075"/>
              </a:lnSpc>
            </a:pPr>
            <a:r>
              <a:rPr sz="1800" spc="-55" dirty="0">
                <a:latin typeface="Arial"/>
                <a:cs typeface="Arial"/>
              </a:rPr>
              <a:t>interface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777003" y="1514787"/>
            <a:ext cx="1773936" cy="10972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211851" y="1786884"/>
            <a:ext cx="904240" cy="553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075"/>
              </a:lnSpc>
              <a:spcBef>
                <a:spcPts val="100"/>
              </a:spcBef>
            </a:pPr>
            <a:r>
              <a:rPr sz="1800" spc="-105" dirty="0">
                <a:latin typeface="Arial"/>
                <a:cs typeface="Arial"/>
              </a:rPr>
              <a:t>Manage</a:t>
            </a:r>
            <a:endParaRPr sz="1800" dirty="0">
              <a:latin typeface="Arial"/>
              <a:cs typeface="Arial"/>
            </a:endParaRPr>
          </a:p>
          <a:p>
            <a:pPr algn="ctr">
              <a:lnSpc>
                <a:spcPts val="2075"/>
              </a:lnSpc>
            </a:pPr>
            <a:r>
              <a:rPr sz="1800" spc="-70" dirty="0">
                <a:latin typeface="Arial"/>
                <a:cs typeface="Arial"/>
              </a:rPr>
              <a:t>p</a:t>
            </a:r>
            <a:r>
              <a:rPr sz="1800" spc="-5" dirty="0">
                <a:latin typeface="Arial"/>
                <a:cs typeface="Arial"/>
              </a:rPr>
              <a:t>r</a:t>
            </a:r>
            <a:r>
              <a:rPr sz="1800" spc="-50" dirty="0">
                <a:latin typeface="Arial"/>
                <a:cs typeface="Arial"/>
              </a:rPr>
              <a:t>o</a:t>
            </a:r>
            <a:r>
              <a:rPr sz="1800" spc="-165" dirty="0">
                <a:latin typeface="Arial"/>
                <a:cs typeface="Arial"/>
              </a:rPr>
              <a:t>g</a:t>
            </a:r>
            <a:r>
              <a:rPr sz="1800" spc="-30" dirty="0">
                <a:latin typeface="Arial"/>
                <a:cs typeface="Arial"/>
              </a:rPr>
              <a:t>r</a:t>
            </a:r>
            <a:r>
              <a:rPr sz="1800" spc="-135" dirty="0">
                <a:latin typeface="Arial"/>
                <a:cs typeface="Arial"/>
              </a:rPr>
              <a:t>ams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31279" y="1520189"/>
            <a:ext cx="1770888" cy="10972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448613" y="1775371"/>
            <a:ext cx="809625" cy="553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">
              <a:lnSpc>
                <a:spcPts val="2075"/>
              </a:lnSpc>
              <a:spcBef>
                <a:spcPts val="100"/>
              </a:spcBef>
            </a:pPr>
            <a:r>
              <a:rPr sz="1800" spc="-105" dirty="0">
                <a:latin typeface="Arial"/>
                <a:cs typeface="Arial"/>
              </a:rPr>
              <a:t>Manage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2075"/>
              </a:lnSpc>
            </a:pPr>
            <a:r>
              <a:rPr sz="1800" spc="-100" dirty="0">
                <a:latin typeface="Arial"/>
                <a:cs typeface="Arial"/>
              </a:rPr>
              <a:t>m</a:t>
            </a:r>
            <a:r>
              <a:rPr sz="1800" spc="-80" dirty="0">
                <a:latin typeface="Arial"/>
                <a:cs typeface="Arial"/>
              </a:rPr>
              <a:t>e</a:t>
            </a:r>
            <a:r>
              <a:rPr sz="1800" spc="-70" dirty="0">
                <a:latin typeface="Arial"/>
                <a:cs typeface="Arial"/>
              </a:rPr>
              <a:t>m</a:t>
            </a:r>
            <a:r>
              <a:rPr sz="1800" spc="-40" dirty="0">
                <a:latin typeface="Arial"/>
                <a:cs typeface="Arial"/>
              </a:rPr>
              <a:t>o</a:t>
            </a:r>
            <a:r>
              <a:rPr sz="1800" spc="-30" dirty="0">
                <a:latin typeface="Arial"/>
                <a:cs typeface="Arial"/>
              </a:rPr>
              <a:t>ry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00150" y="3165748"/>
            <a:ext cx="1770888" cy="110032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74965" y="3444303"/>
            <a:ext cx="1050290" cy="55308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92735" marR="5080" indent="-280670">
              <a:lnSpc>
                <a:spcPts val="1989"/>
              </a:lnSpc>
              <a:spcBef>
                <a:spcPts val="305"/>
              </a:spcBef>
            </a:pPr>
            <a:r>
              <a:rPr sz="1800" spc="-229" dirty="0">
                <a:latin typeface="Arial"/>
                <a:cs typeface="Arial"/>
              </a:rPr>
              <a:t>C</a:t>
            </a:r>
            <a:r>
              <a:rPr sz="1800" spc="-165" dirty="0">
                <a:latin typeface="Arial"/>
                <a:cs typeface="Arial"/>
              </a:rPr>
              <a:t>o</a:t>
            </a:r>
            <a:r>
              <a:rPr sz="1800" spc="-50" dirty="0">
                <a:latin typeface="Arial"/>
                <a:cs typeface="Arial"/>
              </a:rPr>
              <a:t>o</a:t>
            </a:r>
            <a:r>
              <a:rPr sz="1800" spc="-5" dirty="0">
                <a:latin typeface="Arial"/>
                <a:cs typeface="Arial"/>
              </a:rPr>
              <a:t>r</a:t>
            </a:r>
            <a:r>
              <a:rPr sz="1800" spc="-70" dirty="0">
                <a:latin typeface="Arial"/>
                <a:cs typeface="Arial"/>
              </a:rPr>
              <a:t>d</a:t>
            </a:r>
            <a:r>
              <a:rPr sz="1800" spc="5" dirty="0">
                <a:latin typeface="Arial"/>
                <a:cs typeface="Arial"/>
              </a:rPr>
              <a:t>i</a:t>
            </a:r>
            <a:r>
              <a:rPr sz="1800" spc="-70" dirty="0">
                <a:latin typeface="Arial"/>
                <a:cs typeface="Arial"/>
              </a:rPr>
              <a:t>n</a:t>
            </a:r>
            <a:r>
              <a:rPr sz="1800" spc="-165" dirty="0">
                <a:latin typeface="Arial"/>
                <a:cs typeface="Arial"/>
              </a:rPr>
              <a:t>a</a:t>
            </a:r>
            <a:r>
              <a:rPr sz="1800" spc="70" dirty="0">
                <a:latin typeface="Arial"/>
                <a:cs typeface="Arial"/>
              </a:rPr>
              <a:t>t</a:t>
            </a:r>
            <a:r>
              <a:rPr sz="1800" spc="-75" dirty="0">
                <a:latin typeface="Arial"/>
                <a:cs typeface="Arial"/>
              </a:rPr>
              <a:t>e  </a:t>
            </a:r>
            <a:r>
              <a:rPr sz="1800" spc="-120" dirty="0">
                <a:latin typeface="Arial"/>
                <a:cs typeface="Arial"/>
              </a:rPr>
              <a:t>tasks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717102" y="3164117"/>
            <a:ext cx="1773936" cy="110032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040381" y="3452342"/>
            <a:ext cx="925194" cy="55308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19380" marR="5080" indent="-106680">
              <a:lnSpc>
                <a:spcPts val="1989"/>
              </a:lnSpc>
              <a:spcBef>
                <a:spcPts val="305"/>
              </a:spcBef>
            </a:pPr>
            <a:r>
              <a:rPr sz="1800" spc="-229" dirty="0">
                <a:latin typeface="Arial"/>
                <a:cs typeface="Arial"/>
              </a:rPr>
              <a:t>C</a:t>
            </a:r>
            <a:r>
              <a:rPr sz="1800" spc="-165" dirty="0">
                <a:latin typeface="Arial"/>
                <a:cs typeface="Arial"/>
              </a:rPr>
              <a:t>o</a:t>
            </a:r>
            <a:r>
              <a:rPr sz="1800" spc="-70" dirty="0">
                <a:latin typeface="Arial"/>
                <a:cs typeface="Arial"/>
              </a:rPr>
              <a:t>n</a:t>
            </a:r>
            <a:r>
              <a:rPr sz="1800" spc="-30" dirty="0">
                <a:latin typeface="Arial"/>
                <a:cs typeface="Arial"/>
              </a:rPr>
              <a:t>fi</a:t>
            </a:r>
            <a:r>
              <a:rPr sz="1800" spc="-65" dirty="0">
                <a:latin typeface="Arial"/>
                <a:cs typeface="Arial"/>
              </a:rPr>
              <a:t>g</a:t>
            </a:r>
            <a:r>
              <a:rPr sz="1800" spc="-70" dirty="0">
                <a:latin typeface="Arial"/>
                <a:cs typeface="Arial"/>
              </a:rPr>
              <a:t>u</a:t>
            </a:r>
            <a:r>
              <a:rPr sz="1800" spc="-5" dirty="0">
                <a:latin typeface="Arial"/>
                <a:cs typeface="Arial"/>
              </a:rPr>
              <a:t>r</a:t>
            </a:r>
            <a:r>
              <a:rPr sz="1800" spc="-75" dirty="0">
                <a:latin typeface="Arial"/>
                <a:cs typeface="Arial"/>
              </a:rPr>
              <a:t>e  </a:t>
            </a:r>
            <a:r>
              <a:rPr sz="1800" spc="-100" dirty="0">
                <a:latin typeface="Arial"/>
                <a:cs typeface="Arial"/>
              </a:rPr>
              <a:t>devices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777003" y="3163179"/>
            <a:ext cx="1773936" cy="111252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101996" y="3368274"/>
            <a:ext cx="1123950" cy="80327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algn="ctr">
              <a:lnSpc>
                <a:spcPct val="91700"/>
              </a:lnSpc>
              <a:spcBef>
                <a:spcPts val="280"/>
              </a:spcBef>
            </a:pPr>
            <a:r>
              <a:rPr sz="1800" spc="-105" dirty="0">
                <a:latin typeface="Arial"/>
                <a:cs typeface="Arial"/>
              </a:rPr>
              <a:t>Establish</a:t>
            </a:r>
            <a:r>
              <a:rPr sz="1800" spc="-130" dirty="0">
                <a:latin typeface="Arial"/>
                <a:cs typeface="Arial"/>
              </a:rPr>
              <a:t> </a:t>
            </a:r>
            <a:r>
              <a:rPr sz="1800" spc="-100" dirty="0">
                <a:latin typeface="Arial"/>
                <a:cs typeface="Arial"/>
              </a:rPr>
              <a:t>an  </a:t>
            </a:r>
            <a:r>
              <a:rPr sz="1800" spc="-30" dirty="0">
                <a:latin typeface="Arial"/>
                <a:cs typeface="Arial"/>
              </a:rPr>
              <a:t>Internet  </a:t>
            </a:r>
            <a:r>
              <a:rPr sz="1800" spc="-60" dirty="0">
                <a:latin typeface="Arial"/>
                <a:cs typeface="Arial"/>
              </a:rPr>
              <a:t>connection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931279" y="3157348"/>
            <a:ext cx="1770888" cy="110032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204265" y="3430968"/>
            <a:ext cx="1224915" cy="55308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indent="219710">
              <a:lnSpc>
                <a:spcPts val="1989"/>
              </a:lnSpc>
              <a:spcBef>
                <a:spcPts val="305"/>
              </a:spcBef>
            </a:pPr>
            <a:r>
              <a:rPr sz="1800" spc="-5" dirty="0">
                <a:latin typeface="Arial"/>
                <a:cs typeface="Arial"/>
              </a:rPr>
              <a:t>Monitor  </a:t>
            </a:r>
            <a:r>
              <a:rPr sz="1800" spc="-70" dirty="0">
                <a:latin typeface="Arial"/>
                <a:cs typeface="Arial"/>
              </a:rPr>
              <a:t>p</a:t>
            </a:r>
            <a:r>
              <a:rPr sz="1800" spc="-120" dirty="0">
                <a:latin typeface="Arial"/>
                <a:cs typeface="Arial"/>
              </a:rPr>
              <a:t>e</a:t>
            </a:r>
            <a:r>
              <a:rPr sz="1800" spc="40" dirty="0">
                <a:latin typeface="Arial"/>
                <a:cs typeface="Arial"/>
              </a:rPr>
              <a:t>r</a:t>
            </a:r>
            <a:r>
              <a:rPr sz="1800" spc="-15" dirty="0">
                <a:latin typeface="Arial"/>
                <a:cs typeface="Arial"/>
              </a:rPr>
              <a:t>f</a:t>
            </a:r>
            <a:r>
              <a:rPr sz="1800" spc="-50" dirty="0">
                <a:latin typeface="Arial"/>
                <a:cs typeface="Arial"/>
              </a:rPr>
              <a:t>o</a:t>
            </a:r>
            <a:r>
              <a:rPr sz="1800" spc="-60" dirty="0">
                <a:latin typeface="Arial"/>
                <a:cs typeface="Arial"/>
              </a:rPr>
              <a:t>rma</a:t>
            </a:r>
            <a:r>
              <a:rPr sz="1800" spc="-70" dirty="0">
                <a:latin typeface="Arial"/>
                <a:cs typeface="Arial"/>
              </a:rPr>
              <a:t>n</a:t>
            </a:r>
            <a:r>
              <a:rPr sz="1800" spc="-135" dirty="0">
                <a:latin typeface="Arial"/>
                <a:cs typeface="Arial"/>
              </a:rPr>
              <a:t>c</a:t>
            </a:r>
            <a:r>
              <a:rPr sz="1800" spc="-110" dirty="0"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00150" y="4809020"/>
            <a:ext cx="1770888" cy="109728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083726" y="5150104"/>
            <a:ext cx="73088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75"/>
              </a:lnSpc>
              <a:spcBef>
                <a:spcPts val="100"/>
              </a:spcBef>
            </a:pPr>
            <a:r>
              <a:rPr sz="1800" spc="-85" dirty="0">
                <a:latin typeface="Arial"/>
                <a:cs typeface="Arial"/>
              </a:rPr>
              <a:t>Provide</a:t>
            </a:r>
            <a:endParaRPr sz="1800" dirty="0">
              <a:latin typeface="Arial"/>
              <a:cs typeface="Arial"/>
            </a:endParaRPr>
          </a:p>
          <a:p>
            <a:pPr marL="24765">
              <a:lnSpc>
                <a:spcPts val="2075"/>
              </a:lnSpc>
            </a:pPr>
            <a:r>
              <a:rPr sz="1800" spc="-20" dirty="0">
                <a:latin typeface="Arial"/>
                <a:cs typeface="Arial"/>
              </a:rPr>
              <a:t>utilities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756056" y="4818281"/>
            <a:ext cx="1773936" cy="109728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013184" y="5090061"/>
            <a:ext cx="129984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075"/>
              </a:lnSpc>
              <a:spcBef>
                <a:spcPts val="100"/>
              </a:spcBef>
            </a:pPr>
            <a:r>
              <a:rPr sz="1800" spc="-175" dirty="0">
                <a:latin typeface="Arial"/>
                <a:cs typeface="Arial"/>
              </a:rPr>
              <a:t>A</a:t>
            </a:r>
            <a:r>
              <a:rPr sz="1800" spc="-70" dirty="0">
                <a:latin typeface="Arial"/>
                <a:cs typeface="Arial"/>
              </a:rPr>
              <a:t>u</a:t>
            </a:r>
            <a:r>
              <a:rPr sz="1800" spc="70" dirty="0">
                <a:latin typeface="Arial"/>
                <a:cs typeface="Arial"/>
              </a:rPr>
              <a:t>t</a:t>
            </a:r>
            <a:r>
              <a:rPr sz="1800" spc="-50" dirty="0">
                <a:latin typeface="Arial"/>
                <a:cs typeface="Arial"/>
              </a:rPr>
              <a:t>o</a:t>
            </a:r>
            <a:r>
              <a:rPr sz="1800" spc="-120" dirty="0">
                <a:latin typeface="Arial"/>
                <a:cs typeface="Arial"/>
              </a:rPr>
              <a:t>m</a:t>
            </a:r>
            <a:r>
              <a:rPr sz="1800" spc="-105" dirty="0">
                <a:latin typeface="Arial"/>
                <a:cs typeface="Arial"/>
              </a:rPr>
              <a:t>a</a:t>
            </a:r>
            <a:r>
              <a:rPr sz="1800" spc="65" dirty="0">
                <a:latin typeface="Arial"/>
                <a:cs typeface="Arial"/>
              </a:rPr>
              <a:t>t</a:t>
            </a:r>
            <a:r>
              <a:rPr sz="1800" spc="35" dirty="0">
                <a:latin typeface="Arial"/>
                <a:cs typeface="Arial"/>
              </a:rPr>
              <a:t>i</a:t>
            </a:r>
            <a:r>
              <a:rPr sz="1800" spc="-160" dirty="0">
                <a:latin typeface="Arial"/>
                <a:cs typeface="Arial"/>
              </a:rPr>
              <a:t>c</a:t>
            </a:r>
            <a:r>
              <a:rPr sz="1800" spc="-90" dirty="0">
                <a:latin typeface="Arial"/>
                <a:cs typeface="Arial"/>
              </a:rPr>
              <a:t>a</a:t>
            </a:r>
            <a:r>
              <a:rPr sz="1800" spc="-50" dirty="0">
                <a:latin typeface="Arial"/>
                <a:cs typeface="Arial"/>
              </a:rPr>
              <a:t>l</a:t>
            </a:r>
            <a:r>
              <a:rPr sz="1800" dirty="0">
                <a:latin typeface="Arial"/>
                <a:cs typeface="Arial"/>
              </a:rPr>
              <a:t>l</a:t>
            </a:r>
            <a:r>
              <a:rPr sz="1800" spc="-85" dirty="0">
                <a:latin typeface="Arial"/>
                <a:cs typeface="Arial"/>
              </a:rPr>
              <a:t>y</a:t>
            </a:r>
            <a:endParaRPr sz="1800" dirty="0">
              <a:latin typeface="Arial"/>
              <a:cs typeface="Arial"/>
            </a:endParaRPr>
          </a:p>
          <a:p>
            <a:pPr algn="ctr">
              <a:lnSpc>
                <a:spcPts val="2075"/>
              </a:lnSpc>
            </a:pPr>
            <a:r>
              <a:rPr sz="1800" spc="-70" dirty="0">
                <a:latin typeface="Arial"/>
                <a:cs typeface="Arial"/>
              </a:rPr>
              <a:t>update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910102" y="4831817"/>
            <a:ext cx="1773936" cy="109728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386433" y="5150104"/>
            <a:ext cx="872490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75"/>
              </a:lnSpc>
              <a:spcBef>
                <a:spcPts val="100"/>
              </a:spcBef>
            </a:pPr>
            <a:r>
              <a:rPr sz="1800" spc="-60" dirty="0">
                <a:latin typeface="Arial"/>
                <a:cs typeface="Arial"/>
              </a:rPr>
              <a:t>Control</a:t>
            </a:r>
            <a:r>
              <a:rPr sz="1800" spc="-175" dirty="0">
                <a:latin typeface="Arial"/>
                <a:cs typeface="Arial"/>
              </a:rPr>
              <a:t> </a:t>
            </a:r>
            <a:r>
              <a:rPr sz="1800" spc="-140" dirty="0">
                <a:latin typeface="Arial"/>
                <a:cs typeface="Arial"/>
              </a:rPr>
              <a:t>a</a:t>
            </a:r>
            <a:endParaRPr sz="1800" dirty="0">
              <a:latin typeface="Arial"/>
              <a:cs typeface="Arial"/>
            </a:endParaRPr>
          </a:p>
          <a:p>
            <a:pPr marL="48895">
              <a:lnSpc>
                <a:spcPts val="2075"/>
              </a:lnSpc>
            </a:pPr>
            <a:r>
              <a:rPr sz="1800" spc="-35" dirty="0">
                <a:latin typeface="Arial"/>
                <a:cs typeface="Arial"/>
              </a:rPr>
              <a:t>network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023983" y="4820712"/>
            <a:ext cx="1770888" cy="109728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415212" y="5150104"/>
            <a:ext cx="103187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075"/>
              </a:lnSpc>
              <a:spcBef>
                <a:spcPts val="100"/>
              </a:spcBef>
            </a:pPr>
            <a:r>
              <a:rPr sz="1800" spc="-65" dirty="0">
                <a:latin typeface="Arial"/>
                <a:cs typeface="Arial"/>
              </a:rPr>
              <a:t>Administer</a:t>
            </a:r>
            <a:endParaRPr sz="1800" dirty="0">
              <a:latin typeface="Arial"/>
              <a:cs typeface="Arial"/>
            </a:endParaRPr>
          </a:p>
          <a:p>
            <a:pPr algn="ctr">
              <a:lnSpc>
                <a:spcPts val="2075"/>
              </a:lnSpc>
            </a:pPr>
            <a:r>
              <a:rPr sz="1800" spc="-60" dirty="0">
                <a:latin typeface="Arial"/>
                <a:cs typeface="Arial"/>
              </a:rPr>
              <a:t>security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105" dirty="0"/>
              <a:t>iAcademy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40445" y="0"/>
            <a:ext cx="927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iAcademy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22859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4572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644639"/>
            <a:ext cx="9144000" cy="213360"/>
          </a:xfrm>
          <a:custGeom>
            <a:avLst/>
            <a:gdLst/>
            <a:ahLst/>
            <a:cxnLst/>
            <a:rect l="l" t="t" r="r" b="b"/>
            <a:pathLst>
              <a:path w="9144000" h="213359">
                <a:moveTo>
                  <a:pt x="0" y="213359"/>
                </a:moveTo>
                <a:lnTo>
                  <a:pt x="9144000" y="213359"/>
                </a:lnTo>
                <a:lnTo>
                  <a:pt x="9144000" y="0"/>
                </a:lnTo>
                <a:lnTo>
                  <a:pt x="0" y="0"/>
                </a:lnTo>
                <a:lnTo>
                  <a:pt x="0" y="21335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13103" y="6822947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70104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01218" y="281015"/>
            <a:ext cx="7529932" cy="136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pc="-720" dirty="0"/>
              <a:t>OS </a:t>
            </a:r>
            <a:r>
              <a:rPr lang="en-US" spc="-720" dirty="0"/>
              <a:t> </a:t>
            </a:r>
            <a:r>
              <a:rPr spc="-140" dirty="0"/>
              <a:t>Evolution, </a:t>
            </a:r>
            <a:r>
              <a:rPr spc="-180" dirty="0"/>
              <a:t>Hardware </a:t>
            </a:r>
            <a:r>
              <a:rPr spc="60" dirty="0"/>
              <a:t>&amp;  </a:t>
            </a:r>
            <a:r>
              <a:rPr spc="-175" dirty="0"/>
              <a:t>Structures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105" dirty="0"/>
              <a:t>iAcademy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01218" y="1966888"/>
            <a:ext cx="8666962" cy="3640099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785"/>
              </a:spcBef>
              <a:buFont typeface="Times New Roman"/>
              <a:buChar char="•"/>
              <a:tabLst>
                <a:tab pos="356870" algn="l"/>
                <a:tab pos="357505" algn="l"/>
              </a:tabLst>
            </a:pPr>
            <a:r>
              <a:rPr sz="3200" spc="-120" dirty="0">
                <a:latin typeface="Arial"/>
                <a:cs typeface="Arial"/>
              </a:rPr>
              <a:t>Operating </a:t>
            </a:r>
            <a:r>
              <a:rPr sz="3200" spc="-240" dirty="0">
                <a:latin typeface="Arial"/>
                <a:cs typeface="Arial"/>
              </a:rPr>
              <a:t>Systems</a:t>
            </a:r>
            <a:r>
              <a:rPr sz="3200" spc="-145" dirty="0">
                <a:latin typeface="Arial"/>
                <a:cs typeface="Arial"/>
              </a:rPr>
              <a:t> </a:t>
            </a:r>
            <a:r>
              <a:rPr sz="3200" spc="-130" dirty="0">
                <a:latin typeface="Arial"/>
                <a:cs typeface="Arial"/>
              </a:rPr>
              <a:t>Evolutions</a:t>
            </a:r>
            <a:endParaRPr sz="3200" dirty="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tabLst>
                <a:tab pos="756920" algn="l"/>
              </a:tabLst>
            </a:pPr>
            <a:r>
              <a:rPr lang="en-US" sz="2800" spc="-140" dirty="0">
                <a:latin typeface="Arial"/>
                <a:cs typeface="Arial"/>
              </a:rPr>
              <a:t>Serial Processing</a:t>
            </a:r>
          </a:p>
          <a:p>
            <a:pPr marL="927100" lvl="1" indent="-45720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tabLst>
                <a:tab pos="756920" algn="l"/>
              </a:tabLst>
            </a:pPr>
            <a:r>
              <a:rPr sz="2800" spc="-140" dirty="0">
                <a:latin typeface="Arial"/>
                <a:cs typeface="Arial"/>
              </a:rPr>
              <a:t>Batch </a:t>
            </a:r>
            <a:r>
              <a:rPr sz="2800" spc="-204" dirty="0">
                <a:latin typeface="Arial"/>
                <a:cs typeface="Arial"/>
              </a:rPr>
              <a:t>Systems</a:t>
            </a:r>
            <a:r>
              <a:rPr sz="2800" spc="-175" dirty="0">
                <a:latin typeface="Arial"/>
                <a:cs typeface="Arial"/>
              </a:rPr>
              <a:t> </a:t>
            </a:r>
            <a:endParaRPr lang="en-US" sz="2800" spc="-175" dirty="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tabLst>
                <a:tab pos="756920" algn="l"/>
              </a:tabLst>
            </a:pPr>
            <a:r>
              <a:rPr lang="en-US" sz="2800" spc="35" dirty="0">
                <a:latin typeface="Arial"/>
                <a:cs typeface="Arial"/>
              </a:rPr>
              <a:t>Multi </a:t>
            </a:r>
            <a:r>
              <a:rPr lang="en-US" sz="2800" spc="-100" dirty="0">
                <a:latin typeface="Arial"/>
                <a:cs typeface="Arial"/>
              </a:rPr>
              <a:t>programmed </a:t>
            </a:r>
            <a:r>
              <a:rPr lang="en-US" sz="2800" spc="-204" dirty="0">
                <a:latin typeface="Arial"/>
                <a:cs typeface="Arial"/>
              </a:rPr>
              <a:t>Systems</a:t>
            </a:r>
            <a:r>
              <a:rPr lang="en-US" sz="2800" spc="-459" dirty="0">
                <a:latin typeface="Arial"/>
                <a:cs typeface="Arial"/>
              </a:rPr>
              <a:t> </a:t>
            </a:r>
          </a:p>
          <a:p>
            <a:pPr marL="927100" lvl="1" indent="-45720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tabLst>
                <a:tab pos="756920" algn="l"/>
              </a:tabLst>
            </a:pPr>
            <a:r>
              <a:rPr sz="2800" spc="-155" dirty="0">
                <a:latin typeface="Arial"/>
                <a:cs typeface="Arial"/>
              </a:rPr>
              <a:t>Time-Sharing </a:t>
            </a:r>
            <a:r>
              <a:rPr sz="2800" spc="-130" dirty="0">
                <a:latin typeface="Arial"/>
                <a:cs typeface="Arial"/>
              </a:rPr>
              <a:t>and </a:t>
            </a:r>
            <a:r>
              <a:rPr lang="en-US" sz="2800" spc="-170" dirty="0">
                <a:latin typeface="Arial"/>
                <a:cs typeface="Arial"/>
              </a:rPr>
              <a:t>Multitasking</a:t>
            </a:r>
            <a:r>
              <a:rPr sz="2800" spc="-170" dirty="0">
                <a:latin typeface="Arial"/>
                <a:cs typeface="Arial"/>
              </a:rPr>
              <a:t> </a:t>
            </a:r>
            <a:r>
              <a:rPr sz="2800" spc="-204" dirty="0">
                <a:latin typeface="Arial"/>
                <a:cs typeface="Arial"/>
              </a:rPr>
              <a:t>Systems</a:t>
            </a:r>
            <a:r>
              <a:rPr sz="2800" spc="-250" dirty="0">
                <a:latin typeface="Arial"/>
                <a:cs typeface="Arial"/>
              </a:rPr>
              <a:t> </a:t>
            </a:r>
            <a:endParaRPr lang="en-US" sz="2800" spc="-250" dirty="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tabLst>
                <a:tab pos="756920" algn="l"/>
              </a:tabLst>
            </a:pPr>
            <a:r>
              <a:rPr sz="2800" spc="-114" dirty="0">
                <a:latin typeface="Arial"/>
                <a:cs typeface="Arial"/>
              </a:rPr>
              <a:t>Desktop </a:t>
            </a:r>
            <a:r>
              <a:rPr sz="2800" spc="-135" dirty="0">
                <a:latin typeface="Arial"/>
                <a:cs typeface="Arial"/>
              </a:rPr>
              <a:t>Computers</a:t>
            </a:r>
            <a:r>
              <a:rPr sz="2800" spc="-190" dirty="0">
                <a:latin typeface="Arial"/>
                <a:cs typeface="Arial"/>
              </a:rPr>
              <a:t> </a:t>
            </a:r>
            <a:r>
              <a:rPr sz="2800" spc="-70" dirty="0">
                <a:latin typeface="Arial"/>
                <a:cs typeface="Arial"/>
              </a:rPr>
              <a:t>Multiprocessor</a:t>
            </a:r>
            <a:endParaRPr lang="en-US" sz="2800" spc="-70" dirty="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tabLst>
                <a:tab pos="756920" algn="l"/>
              </a:tabLst>
            </a:pPr>
            <a:r>
              <a:rPr sz="2800" spc="-204" dirty="0">
                <a:latin typeface="Arial"/>
                <a:cs typeface="Arial"/>
              </a:rPr>
              <a:t>Systems</a:t>
            </a:r>
            <a:r>
              <a:rPr sz="2800" spc="-28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Networked/Distributed </a:t>
            </a:r>
            <a:r>
              <a:rPr sz="2800" spc="-204" dirty="0">
                <a:latin typeface="Arial"/>
                <a:cs typeface="Arial"/>
              </a:rPr>
              <a:t>Systems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A621A-5315-274D-BD9A-770118A45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" y="914400"/>
            <a:ext cx="8915400" cy="3816429"/>
          </a:xfrm>
        </p:spPr>
        <p:txBody>
          <a:bodyPr/>
          <a:lstStyle/>
          <a:p>
            <a:r>
              <a:rPr lang="en-US" sz="2400" b="1" dirty="0"/>
              <a:t>Batch System</a:t>
            </a:r>
            <a:endParaRPr lang="en-US" sz="16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Job(Program, Data &amp; Information) in job pool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All job are kept in job pool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Submit to the Job operator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Operators together jobs(batch) as a group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output send back to appropriate program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Disk technology allowed OS to keep all jobs on a disk OS perform job scheduling </a:t>
            </a:r>
            <a:endParaRPr lang="en-US" sz="1400" dirty="0"/>
          </a:p>
          <a:p>
            <a:endParaRPr lang="en-US" sz="2000" b="1" dirty="0"/>
          </a:p>
          <a:p>
            <a:r>
              <a:rPr lang="en-US" sz="2400" b="1" dirty="0"/>
              <a:t>Multi programmed System </a:t>
            </a: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To maximize the CPU load </a:t>
            </a:r>
            <a:endParaRPr lang="en-US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At least one job needs to execute, CPU never sit idle Job Scheduling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254405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76363-7B96-954B-953D-03E69A13E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FE794D-F067-B041-B51E-FE4928994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3118" y="1263739"/>
            <a:ext cx="8383270" cy="5232202"/>
          </a:xfrm>
        </p:spPr>
        <p:txBody>
          <a:bodyPr/>
          <a:lstStyle/>
          <a:p>
            <a:pPr fontAlgn="auto"/>
            <a:r>
              <a:rPr lang="en-US" sz="2000" b="1" dirty="0"/>
              <a:t>Time-Sharing or Multitasking System </a:t>
            </a:r>
            <a:endParaRPr lang="en-US" sz="2000" dirty="0"/>
          </a:p>
          <a:p>
            <a:r>
              <a:rPr lang="en-US" sz="2000" dirty="0"/>
              <a:t>It is one of the extension of Multiprogramming</a:t>
            </a:r>
            <a:br>
              <a:rPr lang="en-US" sz="2000" dirty="0"/>
            </a:br>
            <a:r>
              <a:rPr lang="en-US" sz="2000" dirty="0"/>
              <a:t>The executable multiple jobs with short frequency time while running Minimum response time</a:t>
            </a:r>
            <a:br>
              <a:rPr lang="en-US" sz="2000" dirty="0"/>
            </a:br>
            <a:r>
              <a:rPr lang="en-US" sz="2000" dirty="0"/>
              <a:t>Resources are shared in many users</a:t>
            </a:r>
            <a:br>
              <a:rPr lang="en-US" sz="2000" dirty="0"/>
            </a:br>
            <a:r>
              <a:rPr lang="en-US" sz="2000" dirty="0"/>
              <a:t>CPU scheduling and Multiprogramming are mechanism for its implementation </a:t>
            </a:r>
          </a:p>
          <a:p>
            <a:endParaRPr lang="en-US" sz="2000" b="1" dirty="0"/>
          </a:p>
          <a:p>
            <a:r>
              <a:rPr lang="en-US" sz="2000" b="1" dirty="0"/>
              <a:t>Multiprocessor or Parallel or Tightly coupled Systems </a:t>
            </a:r>
            <a:endParaRPr lang="en-US" sz="2000" dirty="0"/>
          </a:p>
          <a:p>
            <a:r>
              <a:rPr lang="en-US" sz="2000" dirty="0"/>
              <a:t>More than one processor with shared bus, clock, peripheral devices Sometimes even memory</a:t>
            </a:r>
            <a:br>
              <a:rPr lang="en-US" sz="2000" dirty="0"/>
            </a:br>
            <a:r>
              <a:rPr lang="en-US" sz="2000" dirty="0" err="1"/>
              <a:t>Advanages</a:t>
            </a:r>
            <a:r>
              <a:rPr lang="en-US" sz="2000" dirty="0"/>
              <a:t>: Increased throughput, Economy of sale, Increased reliability </a:t>
            </a:r>
          </a:p>
          <a:p>
            <a:r>
              <a:rPr lang="en-US" sz="2000" b="1" dirty="0"/>
              <a:t>Distributed System </a:t>
            </a:r>
            <a:endParaRPr lang="en-US" sz="2000" dirty="0"/>
          </a:p>
          <a:p>
            <a:r>
              <a:rPr lang="en-US" sz="2000" dirty="0"/>
              <a:t>Client-Server System </a:t>
            </a:r>
          </a:p>
          <a:p>
            <a:r>
              <a:rPr lang="en-US" sz="2000" dirty="0"/>
              <a:t>Centralized systems act as server systems</a:t>
            </a:r>
            <a:br>
              <a:rPr lang="en-US" sz="2000" dirty="0"/>
            </a:br>
            <a:r>
              <a:rPr lang="en-US" sz="2000" dirty="0"/>
              <a:t>Server system satisfies the request generated by client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038963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40445" y="0"/>
            <a:ext cx="927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iAcademy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22859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4572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644639"/>
            <a:ext cx="9144000" cy="213360"/>
          </a:xfrm>
          <a:custGeom>
            <a:avLst/>
            <a:gdLst/>
            <a:ahLst/>
            <a:cxnLst/>
            <a:rect l="l" t="t" r="r" b="b"/>
            <a:pathLst>
              <a:path w="9144000" h="213359">
                <a:moveTo>
                  <a:pt x="0" y="213359"/>
                </a:moveTo>
                <a:lnTo>
                  <a:pt x="9144000" y="213359"/>
                </a:lnTo>
                <a:lnTo>
                  <a:pt x="9144000" y="0"/>
                </a:lnTo>
                <a:lnTo>
                  <a:pt x="0" y="0"/>
                </a:lnTo>
                <a:lnTo>
                  <a:pt x="0" y="21335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13103" y="6822947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70104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pc="-720" dirty="0"/>
              <a:t>OS </a:t>
            </a:r>
            <a:r>
              <a:rPr spc="-140" dirty="0"/>
              <a:t>Evolution, </a:t>
            </a:r>
            <a:r>
              <a:rPr spc="-180" dirty="0"/>
              <a:t>Hardware </a:t>
            </a:r>
            <a:r>
              <a:rPr spc="60" dirty="0"/>
              <a:t>&amp;  </a:t>
            </a:r>
            <a:r>
              <a:rPr spc="-175" dirty="0"/>
              <a:t>Structures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63118" y="1351610"/>
            <a:ext cx="597154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95"/>
              </a:spcBef>
              <a:buFont typeface="Times New Roman"/>
              <a:buChar char="•"/>
              <a:tabLst>
                <a:tab pos="356870" algn="l"/>
                <a:tab pos="357505" algn="l"/>
              </a:tabLst>
            </a:pPr>
            <a:r>
              <a:rPr sz="3200" spc="-130" dirty="0">
                <a:latin typeface="Arial"/>
                <a:cs typeface="Arial"/>
              </a:rPr>
              <a:t>Computer </a:t>
            </a:r>
            <a:r>
              <a:rPr sz="3200" spc="-135" dirty="0">
                <a:latin typeface="Arial"/>
                <a:cs typeface="Arial"/>
              </a:rPr>
              <a:t>Hardware</a:t>
            </a:r>
            <a:r>
              <a:rPr sz="3200" spc="-100" dirty="0">
                <a:latin typeface="Arial"/>
                <a:cs typeface="Arial"/>
              </a:rPr>
              <a:t> </a:t>
            </a:r>
            <a:r>
              <a:rPr sz="3200" spc="-130" dirty="0">
                <a:latin typeface="Arial"/>
                <a:cs typeface="Arial"/>
              </a:rPr>
              <a:t>Organization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06925" y="2344798"/>
            <a:ext cx="6611933" cy="38500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105" dirty="0"/>
              <a:t>iAcademy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40445" y="0"/>
            <a:ext cx="927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iAcademy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22859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4572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644639"/>
            <a:ext cx="9144000" cy="213360"/>
          </a:xfrm>
          <a:custGeom>
            <a:avLst/>
            <a:gdLst/>
            <a:ahLst/>
            <a:cxnLst/>
            <a:rect l="l" t="t" r="r" b="b"/>
            <a:pathLst>
              <a:path w="9144000" h="213359">
                <a:moveTo>
                  <a:pt x="0" y="213359"/>
                </a:moveTo>
                <a:lnTo>
                  <a:pt x="9144000" y="213359"/>
                </a:lnTo>
                <a:lnTo>
                  <a:pt x="9144000" y="0"/>
                </a:lnTo>
                <a:lnTo>
                  <a:pt x="0" y="0"/>
                </a:lnTo>
                <a:lnTo>
                  <a:pt x="0" y="21335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13103" y="6822947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70104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pc="-720" dirty="0"/>
              <a:t>OS </a:t>
            </a:r>
            <a:r>
              <a:rPr spc="-140" dirty="0"/>
              <a:t>Evolution, </a:t>
            </a:r>
            <a:r>
              <a:rPr spc="-180" dirty="0"/>
              <a:t>Hardware </a:t>
            </a:r>
            <a:r>
              <a:rPr spc="60" dirty="0"/>
              <a:t>&amp;  </a:t>
            </a:r>
            <a:r>
              <a:rPr spc="-175" dirty="0"/>
              <a:t>Structures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105" dirty="0"/>
              <a:t>iAcademy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63118" y="1351610"/>
            <a:ext cx="599376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95"/>
              </a:spcBef>
              <a:buFont typeface="Times New Roman"/>
              <a:buChar char="•"/>
              <a:tabLst>
                <a:tab pos="356870" algn="l"/>
                <a:tab pos="357505" algn="l"/>
              </a:tabLst>
            </a:pPr>
            <a:r>
              <a:rPr sz="3200" spc="-130" dirty="0">
                <a:latin typeface="Arial"/>
                <a:cs typeface="Arial"/>
              </a:rPr>
              <a:t>Computer </a:t>
            </a:r>
            <a:r>
              <a:rPr sz="3200" spc="-165" dirty="0">
                <a:latin typeface="Arial"/>
                <a:cs typeface="Arial"/>
              </a:rPr>
              <a:t>system </a:t>
            </a:r>
            <a:r>
              <a:rPr sz="3200" spc="-125" dirty="0">
                <a:latin typeface="Arial"/>
                <a:cs typeface="Arial"/>
              </a:rPr>
              <a:t>components</a:t>
            </a:r>
            <a:r>
              <a:rPr sz="3200" spc="-120" dirty="0">
                <a:latin typeface="Arial"/>
                <a:cs typeface="Arial"/>
              </a:rPr>
              <a:t> </a:t>
            </a:r>
            <a:r>
              <a:rPr sz="3200" spc="-130" dirty="0">
                <a:latin typeface="Arial"/>
                <a:cs typeface="Arial"/>
              </a:rPr>
              <a:t>(1)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0623" y="2492501"/>
            <a:ext cx="629983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942464" algn="l"/>
                <a:tab pos="2332355" algn="l"/>
                <a:tab pos="3792854" algn="l"/>
                <a:tab pos="4735195" algn="l"/>
              </a:tabLst>
            </a:pP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150" dirty="0">
                <a:latin typeface="Times New Roman"/>
                <a:cs typeface="Times New Roman"/>
              </a:rPr>
              <a:t> </a:t>
            </a:r>
            <a:r>
              <a:rPr sz="2800" spc="-114" dirty="0">
                <a:latin typeface="Arial"/>
                <a:cs typeface="Arial"/>
              </a:rPr>
              <a:t>Hardware	</a:t>
            </a:r>
            <a:r>
              <a:rPr sz="2800" spc="-160" dirty="0">
                <a:latin typeface="Arial"/>
                <a:cs typeface="Arial"/>
              </a:rPr>
              <a:t>–	</a:t>
            </a:r>
            <a:r>
              <a:rPr sz="2800" spc="-100" dirty="0">
                <a:latin typeface="Arial"/>
                <a:cs typeface="Arial"/>
              </a:rPr>
              <a:t>provides	</a:t>
            </a:r>
            <a:r>
              <a:rPr sz="2800" spc="-165" dirty="0">
                <a:latin typeface="Arial"/>
                <a:cs typeface="Arial"/>
              </a:rPr>
              <a:t>basic	</a:t>
            </a:r>
            <a:r>
              <a:rPr sz="2800" spc="-85" dirty="0">
                <a:latin typeface="Arial"/>
                <a:cs typeface="Arial"/>
              </a:rPr>
              <a:t>computing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11897" y="2492501"/>
            <a:ext cx="143319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-140" dirty="0">
                <a:latin typeface="Arial"/>
                <a:cs typeface="Arial"/>
              </a:rPr>
              <a:t>resources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0622" y="2844862"/>
            <a:ext cx="8247557" cy="241027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695"/>
              </a:spcBef>
            </a:pPr>
            <a:r>
              <a:rPr sz="2800" spc="-275" dirty="0">
                <a:latin typeface="Arial"/>
                <a:cs typeface="Arial"/>
              </a:rPr>
              <a:t>(CPU, </a:t>
            </a:r>
            <a:r>
              <a:rPr sz="2800" spc="-65" dirty="0">
                <a:latin typeface="Arial"/>
                <a:cs typeface="Arial"/>
              </a:rPr>
              <a:t>Memory, </a:t>
            </a:r>
            <a:r>
              <a:rPr sz="2800" spc="-35" dirty="0">
                <a:latin typeface="Arial"/>
                <a:cs typeface="Arial"/>
              </a:rPr>
              <a:t>I/O </a:t>
            </a:r>
            <a:r>
              <a:rPr sz="2800" spc="-145" dirty="0">
                <a:latin typeface="Arial"/>
                <a:cs typeface="Arial"/>
              </a:rPr>
              <a:t>devices,</a:t>
            </a:r>
            <a:r>
              <a:rPr sz="2800" spc="-229" dirty="0">
                <a:latin typeface="Arial"/>
                <a:cs typeface="Arial"/>
              </a:rPr>
              <a:t> </a:t>
            </a:r>
            <a:r>
              <a:rPr sz="2800" spc="-105" dirty="0">
                <a:latin typeface="Arial"/>
                <a:cs typeface="Arial"/>
              </a:rPr>
              <a:t>Communication).</a:t>
            </a:r>
            <a:endParaRPr lang="en-US" sz="2800" spc="-105" dirty="0">
              <a:latin typeface="Arial"/>
              <a:cs typeface="Arial"/>
            </a:endParaRPr>
          </a:p>
          <a:p>
            <a:pPr marL="299085">
              <a:lnSpc>
                <a:spcPct val="100000"/>
              </a:lnSpc>
              <a:spcBef>
                <a:spcPts val="695"/>
              </a:spcBef>
            </a:pPr>
            <a:endParaRPr sz="2800" dirty="0">
              <a:latin typeface="Arial"/>
              <a:cs typeface="Arial"/>
            </a:endParaRPr>
          </a:p>
          <a:p>
            <a:pPr marL="299085" marR="5080" indent="-287020" algn="just">
              <a:lnSpc>
                <a:spcPct val="100000"/>
              </a:lnSpc>
              <a:spcBef>
                <a:spcPts val="600"/>
              </a:spcBef>
            </a:pPr>
            <a:r>
              <a:rPr sz="2800" spc="5" dirty="0">
                <a:latin typeface="Times New Roman"/>
                <a:cs typeface="Times New Roman"/>
              </a:rPr>
              <a:t>– </a:t>
            </a:r>
            <a:r>
              <a:rPr sz="2800" spc="-100" dirty="0">
                <a:latin typeface="Arial"/>
                <a:cs typeface="Arial"/>
              </a:rPr>
              <a:t>Operating </a:t>
            </a:r>
            <a:r>
              <a:rPr sz="2800" spc="-185" dirty="0">
                <a:latin typeface="Arial"/>
                <a:cs typeface="Arial"/>
              </a:rPr>
              <a:t>System </a:t>
            </a:r>
            <a:r>
              <a:rPr sz="2800" spc="-160" dirty="0">
                <a:latin typeface="Arial"/>
                <a:cs typeface="Arial"/>
              </a:rPr>
              <a:t>– </a:t>
            </a:r>
            <a:r>
              <a:rPr sz="2800" spc="-70" dirty="0">
                <a:latin typeface="Arial"/>
                <a:cs typeface="Arial"/>
              </a:rPr>
              <a:t>controls </a:t>
            </a:r>
            <a:r>
              <a:rPr sz="2800" spc="-130" dirty="0">
                <a:latin typeface="Arial"/>
                <a:cs typeface="Arial"/>
              </a:rPr>
              <a:t>and </a:t>
            </a:r>
            <a:r>
              <a:rPr sz="2800" spc="-95" dirty="0">
                <a:latin typeface="Arial"/>
                <a:cs typeface="Arial"/>
              </a:rPr>
              <a:t>coordinates  </a:t>
            </a:r>
            <a:r>
              <a:rPr sz="2800" spc="-190" dirty="0">
                <a:latin typeface="Arial"/>
                <a:cs typeface="Arial"/>
              </a:rPr>
              <a:t>use</a:t>
            </a:r>
            <a:r>
              <a:rPr sz="2800" spc="3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 </a:t>
            </a:r>
            <a:r>
              <a:rPr sz="2800" spc="-35" dirty="0">
                <a:latin typeface="Arial"/>
                <a:cs typeface="Arial"/>
              </a:rPr>
              <a:t>the </a:t>
            </a:r>
            <a:r>
              <a:rPr sz="2800" spc="-90" dirty="0">
                <a:latin typeface="Arial"/>
                <a:cs typeface="Arial"/>
              </a:rPr>
              <a:t>hardware </a:t>
            </a:r>
            <a:r>
              <a:rPr sz="2800" spc="-145" dirty="0">
                <a:latin typeface="Arial"/>
                <a:cs typeface="Arial"/>
              </a:rPr>
              <a:t>among </a:t>
            </a:r>
            <a:r>
              <a:rPr sz="2800" spc="-110" dirty="0">
                <a:latin typeface="Arial"/>
                <a:cs typeface="Arial"/>
              </a:rPr>
              <a:t>various </a:t>
            </a:r>
            <a:r>
              <a:rPr sz="2800" spc="-70" dirty="0">
                <a:latin typeface="Arial"/>
                <a:cs typeface="Arial"/>
              </a:rPr>
              <a:t>application  </a:t>
            </a:r>
            <a:r>
              <a:rPr sz="2800" spc="-120" dirty="0">
                <a:latin typeface="Arial"/>
                <a:cs typeface="Arial"/>
              </a:rPr>
              <a:t>programs </a:t>
            </a:r>
            <a:r>
              <a:rPr sz="2800" spc="15" dirty="0">
                <a:latin typeface="Arial"/>
                <a:cs typeface="Arial"/>
              </a:rPr>
              <a:t>for </a:t>
            </a:r>
            <a:r>
              <a:rPr sz="2800" spc="-105" dirty="0">
                <a:latin typeface="Arial"/>
                <a:cs typeface="Arial"/>
              </a:rPr>
              <a:t>various</a:t>
            </a:r>
            <a:r>
              <a:rPr sz="2800" spc="-415" dirty="0">
                <a:latin typeface="Arial"/>
                <a:cs typeface="Arial"/>
              </a:rPr>
              <a:t> </a:t>
            </a:r>
            <a:r>
              <a:rPr sz="2800" spc="-150" dirty="0">
                <a:latin typeface="Arial"/>
                <a:cs typeface="Arial"/>
              </a:rPr>
              <a:t>users.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40445" y="0"/>
            <a:ext cx="927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iAcademy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22859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4572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644639"/>
            <a:ext cx="9144000" cy="213360"/>
          </a:xfrm>
          <a:custGeom>
            <a:avLst/>
            <a:gdLst/>
            <a:ahLst/>
            <a:cxnLst/>
            <a:rect l="l" t="t" r="r" b="b"/>
            <a:pathLst>
              <a:path w="9144000" h="213359">
                <a:moveTo>
                  <a:pt x="0" y="213359"/>
                </a:moveTo>
                <a:lnTo>
                  <a:pt x="9144000" y="213359"/>
                </a:lnTo>
                <a:lnTo>
                  <a:pt x="9144000" y="0"/>
                </a:lnTo>
                <a:lnTo>
                  <a:pt x="0" y="0"/>
                </a:lnTo>
                <a:lnTo>
                  <a:pt x="0" y="21335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13103" y="6822947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70104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pc="-720" dirty="0"/>
              <a:t>OS </a:t>
            </a:r>
            <a:r>
              <a:rPr spc="-140" dirty="0"/>
              <a:t>Evolution, </a:t>
            </a:r>
            <a:r>
              <a:rPr spc="-180" dirty="0"/>
              <a:t>Hardware </a:t>
            </a:r>
            <a:r>
              <a:rPr spc="60" dirty="0"/>
              <a:t>&amp;  </a:t>
            </a:r>
            <a:r>
              <a:rPr spc="-175" dirty="0"/>
              <a:t>Structures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105" dirty="0"/>
              <a:t>iAcademy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63118" y="1351610"/>
            <a:ext cx="8385809" cy="38516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95"/>
              </a:spcBef>
              <a:buFont typeface="Times New Roman"/>
              <a:buChar char="•"/>
              <a:tabLst>
                <a:tab pos="356870" algn="l"/>
                <a:tab pos="357505" algn="l"/>
              </a:tabLst>
            </a:pPr>
            <a:r>
              <a:rPr sz="3200" spc="-130" dirty="0">
                <a:latin typeface="Arial"/>
                <a:cs typeface="Arial"/>
              </a:rPr>
              <a:t>Computer </a:t>
            </a:r>
            <a:r>
              <a:rPr sz="3200" spc="-165" dirty="0">
                <a:latin typeface="Arial"/>
                <a:cs typeface="Arial"/>
              </a:rPr>
              <a:t>system </a:t>
            </a:r>
            <a:r>
              <a:rPr sz="3200" spc="-125" dirty="0">
                <a:latin typeface="Arial"/>
                <a:cs typeface="Arial"/>
              </a:rPr>
              <a:t>components</a:t>
            </a:r>
            <a:r>
              <a:rPr sz="3200" spc="-80" dirty="0">
                <a:latin typeface="Arial"/>
                <a:cs typeface="Arial"/>
              </a:rPr>
              <a:t> </a:t>
            </a:r>
            <a:r>
              <a:rPr sz="3200" spc="-130" dirty="0">
                <a:latin typeface="Arial"/>
                <a:cs typeface="Arial"/>
              </a:rPr>
              <a:t>(2)</a:t>
            </a:r>
            <a:endParaRPr sz="3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4450" dirty="0">
              <a:latin typeface="Times New Roman"/>
              <a:cs typeface="Times New Roman"/>
            </a:endParaRPr>
          </a:p>
          <a:p>
            <a:pPr marL="756285" marR="5080" lvl="1" indent="-286385" algn="just">
              <a:lnSpc>
                <a:spcPct val="100000"/>
              </a:lnSpc>
              <a:spcBef>
                <a:spcPts val="5"/>
              </a:spcBef>
              <a:buFont typeface="Times New Roman"/>
              <a:buChar char="–"/>
              <a:tabLst>
                <a:tab pos="756920" algn="l"/>
              </a:tabLst>
            </a:pPr>
            <a:r>
              <a:rPr sz="2800" spc="-190" dirty="0">
                <a:latin typeface="Arial"/>
                <a:cs typeface="Arial"/>
              </a:rPr>
              <a:t>System </a:t>
            </a:r>
            <a:r>
              <a:rPr sz="2800" spc="45" dirty="0">
                <a:latin typeface="Arial"/>
                <a:cs typeface="Arial"/>
              </a:rPr>
              <a:t>&amp; </a:t>
            </a:r>
            <a:r>
              <a:rPr sz="2800" spc="-75" dirty="0">
                <a:latin typeface="Arial"/>
                <a:cs typeface="Arial"/>
              </a:rPr>
              <a:t>Application </a:t>
            </a:r>
            <a:r>
              <a:rPr sz="2800" spc="-155" dirty="0">
                <a:latin typeface="Arial"/>
                <a:cs typeface="Arial"/>
              </a:rPr>
              <a:t>Programs </a:t>
            </a:r>
            <a:r>
              <a:rPr sz="2800" spc="-160" dirty="0">
                <a:latin typeface="Arial"/>
                <a:cs typeface="Arial"/>
              </a:rPr>
              <a:t>– </a:t>
            </a:r>
            <a:r>
              <a:rPr sz="2800" spc="-165" dirty="0">
                <a:latin typeface="Arial"/>
                <a:cs typeface="Arial"/>
              </a:rPr>
              <a:t>ways </a:t>
            </a:r>
            <a:r>
              <a:rPr sz="2800" spc="-45" dirty="0">
                <a:latin typeface="Arial"/>
                <a:cs typeface="Arial"/>
              </a:rPr>
              <a:t>in </a:t>
            </a:r>
            <a:r>
              <a:rPr sz="2800" spc="-80" dirty="0">
                <a:latin typeface="Arial"/>
                <a:cs typeface="Arial"/>
              </a:rPr>
              <a:t>which </a:t>
            </a:r>
            <a:r>
              <a:rPr sz="2800" spc="-35" dirty="0">
                <a:latin typeface="Arial"/>
                <a:cs typeface="Arial"/>
              </a:rPr>
              <a:t>the  </a:t>
            </a:r>
            <a:r>
              <a:rPr sz="2800" spc="-140" dirty="0">
                <a:latin typeface="Arial"/>
                <a:cs typeface="Arial"/>
              </a:rPr>
              <a:t>system</a:t>
            </a:r>
            <a:r>
              <a:rPr sz="2800" spc="49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resources  </a:t>
            </a:r>
            <a:r>
              <a:rPr sz="2800" spc="-120" dirty="0">
                <a:latin typeface="Arial"/>
                <a:cs typeface="Arial"/>
              </a:rPr>
              <a:t>are </a:t>
            </a:r>
            <a:r>
              <a:rPr sz="2800" spc="-165" dirty="0">
                <a:latin typeface="Arial"/>
                <a:cs typeface="Arial"/>
              </a:rPr>
              <a:t>used  </a:t>
            </a:r>
            <a:r>
              <a:rPr sz="2800" spc="40" dirty="0">
                <a:latin typeface="Arial"/>
                <a:cs typeface="Arial"/>
              </a:rPr>
              <a:t>to </a:t>
            </a:r>
            <a:r>
              <a:rPr sz="2800" spc="-130" dirty="0">
                <a:latin typeface="Arial"/>
                <a:cs typeface="Arial"/>
              </a:rPr>
              <a:t>solve </a:t>
            </a:r>
            <a:r>
              <a:rPr sz="2800" spc="-80" dirty="0">
                <a:latin typeface="Arial"/>
                <a:cs typeface="Arial"/>
              </a:rPr>
              <a:t>computing  </a:t>
            </a:r>
            <a:r>
              <a:rPr sz="2800" spc="-95" dirty="0">
                <a:latin typeface="Arial"/>
                <a:cs typeface="Arial"/>
              </a:rPr>
              <a:t>problems </a:t>
            </a:r>
            <a:r>
              <a:rPr sz="2800" dirty="0">
                <a:latin typeface="Arial"/>
                <a:cs typeface="Arial"/>
              </a:rPr>
              <a:t>of </a:t>
            </a:r>
            <a:r>
              <a:rPr sz="2800" spc="-35" dirty="0">
                <a:latin typeface="Arial"/>
                <a:cs typeface="Arial"/>
              </a:rPr>
              <a:t>the </a:t>
            </a:r>
            <a:r>
              <a:rPr sz="2800" spc="-170" dirty="0">
                <a:latin typeface="Arial"/>
                <a:cs typeface="Arial"/>
              </a:rPr>
              <a:t>users </a:t>
            </a:r>
            <a:r>
              <a:rPr sz="2800" spc="-70" dirty="0">
                <a:latin typeface="Arial"/>
                <a:cs typeface="Arial"/>
              </a:rPr>
              <a:t>(Word </a:t>
            </a:r>
            <a:r>
              <a:rPr sz="2800" spc="-140" dirty="0">
                <a:latin typeface="Arial"/>
                <a:cs typeface="Arial"/>
              </a:rPr>
              <a:t>processors, </a:t>
            </a:r>
            <a:r>
              <a:rPr sz="2800" spc="-125" dirty="0">
                <a:latin typeface="Arial"/>
                <a:cs typeface="Arial"/>
              </a:rPr>
              <a:t>Compilers,  </a:t>
            </a:r>
            <a:r>
              <a:rPr sz="2800" spc="-135" dirty="0">
                <a:latin typeface="Arial"/>
                <a:cs typeface="Arial"/>
              </a:rPr>
              <a:t>Web </a:t>
            </a:r>
            <a:r>
              <a:rPr sz="2800" spc="-105" dirty="0">
                <a:latin typeface="Arial"/>
                <a:cs typeface="Arial"/>
              </a:rPr>
              <a:t>browsers, </a:t>
            </a:r>
            <a:r>
              <a:rPr sz="2800" spc="-170" dirty="0">
                <a:latin typeface="Arial"/>
                <a:cs typeface="Arial"/>
              </a:rPr>
              <a:t>Database </a:t>
            </a:r>
            <a:r>
              <a:rPr sz="2800" spc="-155" dirty="0">
                <a:latin typeface="Arial"/>
                <a:cs typeface="Arial"/>
              </a:rPr>
              <a:t>systems, </a:t>
            </a:r>
            <a:r>
              <a:rPr sz="2800" spc="-120" dirty="0">
                <a:latin typeface="Arial"/>
                <a:cs typeface="Arial"/>
              </a:rPr>
              <a:t>Video</a:t>
            </a:r>
            <a:r>
              <a:rPr sz="2800" spc="-260" dirty="0">
                <a:latin typeface="Arial"/>
                <a:cs typeface="Arial"/>
              </a:rPr>
              <a:t> </a:t>
            </a:r>
            <a:r>
              <a:rPr sz="2800" spc="-170" dirty="0">
                <a:latin typeface="Arial"/>
                <a:cs typeface="Arial"/>
              </a:rPr>
              <a:t>games).</a:t>
            </a:r>
            <a:endParaRPr lang="en-US" sz="2800" spc="-170" dirty="0">
              <a:latin typeface="Arial"/>
              <a:cs typeface="Arial"/>
            </a:endParaRPr>
          </a:p>
          <a:p>
            <a:pPr marL="756285" marR="5080" lvl="1" indent="-286385" algn="just">
              <a:lnSpc>
                <a:spcPct val="100000"/>
              </a:lnSpc>
              <a:spcBef>
                <a:spcPts val="5"/>
              </a:spcBef>
              <a:buFont typeface="Times New Roman"/>
              <a:buChar char="–"/>
              <a:tabLst>
                <a:tab pos="756920" algn="l"/>
              </a:tabLst>
            </a:pPr>
            <a:endParaRPr sz="28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05"/>
              </a:spcBef>
              <a:buFont typeface="Times New Roman"/>
              <a:buChar char="–"/>
              <a:tabLst>
                <a:tab pos="756920" algn="l"/>
              </a:tabLst>
            </a:pPr>
            <a:r>
              <a:rPr sz="2800" spc="-190" dirty="0">
                <a:latin typeface="Arial"/>
                <a:cs typeface="Arial"/>
              </a:rPr>
              <a:t>Users </a:t>
            </a:r>
            <a:r>
              <a:rPr sz="2800" spc="-160" dirty="0">
                <a:latin typeface="Arial"/>
                <a:cs typeface="Arial"/>
              </a:rPr>
              <a:t>– </a:t>
            </a:r>
            <a:r>
              <a:rPr sz="2800" spc="-135" dirty="0">
                <a:latin typeface="Arial"/>
                <a:cs typeface="Arial"/>
              </a:rPr>
              <a:t>(People, </a:t>
            </a:r>
            <a:r>
              <a:rPr sz="2800" spc="-125" dirty="0">
                <a:latin typeface="Arial"/>
                <a:cs typeface="Arial"/>
              </a:rPr>
              <a:t>Machines, </a:t>
            </a:r>
            <a:r>
              <a:rPr sz="2800" spc="-30" dirty="0">
                <a:latin typeface="Arial"/>
                <a:cs typeface="Arial"/>
              </a:rPr>
              <a:t>other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computers).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40445" y="0"/>
            <a:ext cx="927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iAcademy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22859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4572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644639"/>
            <a:ext cx="9144000" cy="213360"/>
          </a:xfrm>
          <a:custGeom>
            <a:avLst/>
            <a:gdLst/>
            <a:ahLst/>
            <a:cxnLst/>
            <a:rect l="l" t="t" r="r" b="b"/>
            <a:pathLst>
              <a:path w="9144000" h="213359">
                <a:moveTo>
                  <a:pt x="0" y="213359"/>
                </a:moveTo>
                <a:lnTo>
                  <a:pt x="9144000" y="213359"/>
                </a:lnTo>
                <a:lnTo>
                  <a:pt x="9144000" y="0"/>
                </a:lnTo>
                <a:lnTo>
                  <a:pt x="0" y="0"/>
                </a:lnTo>
                <a:lnTo>
                  <a:pt x="0" y="21335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13103" y="6822947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70104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pc="-720" dirty="0"/>
              <a:t>OS </a:t>
            </a:r>
            <a:r>
              <a:rPr spc="-140" dirty="0"/>
              <a:t>Evolution, </a:t>
            </a:r>
            <a:r>
              <a:rPr spc="-180" dirty="0"/>
              <a:t>Hardware </a:t>
            </a:r>
            <a:r>
              <a:rPr spc="60" dirty="0"/>
              <a:t>&amp;  </a:t>
            </a:r>
            <a:r>
              <a:rPr spc="-175" dirty="0"/>
              <a:t>Structures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63118" y="1351610"/>
            <a:ext cx="666623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95"/>
              </a:spcBef>
              <a:buFont typeface="Times New Roman"/>
              <a:buChar char="•"/>
              <a:tabLst>
                <a:tab pos="356870" algn="l"/>
                <a:tab pos="357505" algn="l"/>
              </a:tabLst>
            </a:pPr>
            <a:r>
              <a:rPr sz="3200" spc="-175" dirty="0">
                <a:latin typeface="Arial"/>
                <a:cs typeface="Arial"/>
              </a:rPr>
              <a:t>Dynamic </a:t>
            </a:r>
            <a:r>
              <a:rPr sz="3200" spc="-145" dirty="0">
                <a:latin typeface="Arial"/>
                <a:cs typeface="Arial"/>
              </a:rPr>
              <a:t>views </a:t>
            </a:r>
            <a:r>
              <a:rPr sz="3200" spc="-10" dirty="0">
                <a:latin typeface="Arial"/>
                <a:cs typeface="Arial"/>
              </a:rPr>
              <a:t>of </a:t>
            </a:r>
            <a:r>
              <a:rPr sz="3200" spc="-170" dirty="0">
                <a:latin typeface="Arial"/>
                <a:cs typeface="Arial"/>
              </a:rPr>
              <a:t>system</a:t>
            </a:r>
            <a:r>
              <a:rPr sz="3200" spc="-270" dirty="0">
                <a:latin typeface="Arial"/>
                <a:cs typeface="Arial"/>
              </a:rPr>
              <a:t> </a:t>
            </a:r>
            <a:r>
              <a:rPr sz="3200" spc="-125" dirty="0">
                <a:latin typeface="Arial"/>
                <a:cs typeface="Arial"/>
              </a:rPr>
              <a:t>components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88719" y="1917192"/>
            <a:ext cx="6278880" cy="40660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105" dirty="0"/>
              <a:t>iAcademy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2B177-C41E-D54E-8747-52C5ABCE8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07597"/>
            <a:ext cx="5946775" cy="677108"/>
          </a:xfrm>
        </p:spPr>
        <p:txBody>
          <a:bodyPr/>
          <a:lstStyle/>
          <a:p>
            <a:r>
              <a:rPr lang="en-US" dirty="0"/>
              <a:t>View points of OS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314442-D56A-854F-A828-F736E652CA39}"/>
              </a:ext>
            </a:extLst>
          </p:cNvPr>
          <p:cNvSpPr txBox="1"/>
          <p:nvPr/>
        </p:nvSpPr>
        <p:spPr>
          <a:xfrm>
            <a:off x="1485900" y="27268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CFE034-C57D-E24A-8F2D-40071D38ED7F}"/>
              </a:ext>
            </a:extLst>
          </p:cNvPr>
          <p:cNvSpPr txBox="1"/>
          <p:nvPr/>
        </p:nvSpPr>
        <p:spPr>
          <a:xfrm>
            <a:off x="3069771" y="292281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90D713-2E97-674C-B106-F6A1788C223E}"/>
              </a:ext>
            </a:extLst>
          </p:cNvPr>
          <p:cNvSpPr/>
          <p:nvPr/>
        </p:nvSpPr>
        <p:spPr>
          <a:xfrm>
            <a:off x="152400" y="1953318"/>
            <a:ext cx="7772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NewRomanPSMT"/>
              </a:rPr>
              <a:t>User Point of View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>
              <a:latin typeface="TimesNewRomanPSM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NewRomanPSMT"/>
              </a:rPr>
              <a:t>Computer System Point of View </a:t>
            </a:r>
            <a:endParaRPr lang="en-US" sz="4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42234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36B35-CAFA-1741-978F-530D09480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547808"/>
            <a:ext cx="5946775" cy="1354217"/>
          </a:xfrm>
        </p:spPr>
        <p:txBody>
          <a:bodyPr/>
          <a:lstStyle/>
          <a:p>
            <a:r>
              <a:rPr lang="en-US" b="1" dirty="0">
                <a:latin typeface="TimesNewRomanPS"/>
              </a:rPr>
              <a:t>OS - User Point of View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2CD666-EA0B-4B4C-A67E-FAC858593136}"/>
              </a:ext>
            </a:extLst>
          </p:cNvPr>
          <p:cNvSpPr/>
          <p:nvPr/>
        </p:nvSpPr>
        <p:spPr>
          <a:xfrm>
            <a:off x="413950" y="2362200"/>
            <a:ext cx="842524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For ease of use, convenience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To maximize resource utilization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To compromise between usability and resource utilization </a:t>
            </a:r>
          </a:p>
        </p:txBody>
      </p:sp>
    </p:spTree>
    <p:extLst>
      <p:ext uri="{BB962C8B-B14F-4D97-AF65-F5344CB8AC3E}">
        <p14:creationId xmlns:p14="http://schemas.microsoft.com/office/powerpoint/2010/main" val="2406826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40445" y="0"/>
            <a:ext cx="927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iAcademy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22859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4572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644639"/>
            <a:ext cx="9144000" cy="213360"/>
          </a:xfrm>
          <a:custGeom>
            <a:avLst/>
            <a:gdLst/>
            <a:ahLst/>
            <a:cxnLst/>
            <a:rect l="l" t="t" r="r" b="b"/>
            <a:pathLst>
              <a:path w="9144000" h="213359">
                <a:moveTo>
                  <a:pt x="0" y="213359"/>
                </a:moveTo>
                <a:lnTo>
                  <a:pt x="9144000" y="213359"/>
                </a:lnTo>
                <a:lnTo>
                  <a:pt x="9144000" y="0"/>
                </a:lnTo>
                <a:lnTo>
                  <a:pt x="0" y="0"/>
                </a:lnTo>
                <a:lnTo>
                  <a:pt x="0" y="21335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13103" y="6822947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70104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01218" y="47701"/>
            <a:ext cx="594677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en-US" spc="-720" dirty="0"/>
              <a:t>S y s t e m.  View</a:t>
            </a:r>
            <a:endParaRPr spc="-17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105" dirty="0"/>
              <a:t>iAcademy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363118" y="1263739"/>
            <a:ext cx="8383270" cy="401712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785"/>
              </a:spcBef>
              <a:buFont typeface="Times New Roman"/>
              <a:buChar char="•"/>
              <a:tabLst>
                <a:tab pos="356870" algn="l"/>
                <a:tab pos="357505" algn="l"/>
              </a:tabLst>
            </a:pPr>
            <a:r>
              <a:rPr spc="-180" dirty="0"/>
              <a:t>Views </a:t>
            </a:r>
            <a:r>
              <a:rPr spc="-10" dirty="0"/>
              <a:t>of </a:t>
            </a:r>
            <a:r>
              <a:rPr spc="-175" dirty="0"/>
              <a:t>an </a:t>
            </a:r>
            <a:r>
              <a:rPr spc="-120" dirty="0"/>
              <a:t>Operating</a:t>
            </a:r>
            <a:r>
              <a:rPr spc="-229" dirty="0"/>
              <a:t> </a:t>
            </a:r>
            <a:r>
              <a:rPr spc="-240" dirty="0"/>
              <a:t>Systems</a:t>
            </a:r>
          </a:p>
          <a:p>
            <a:pPr marL="756285" lvl="1" indent="-286385">
              <a:lnSpc>
                <a:spcPct val="100000"/>
              </a:lnSpc>
              <a:spcBef>
                <a:spcPts val="620"/>
              </a:spcBef>
              <a:buFont typeface="Times New Roman"/>
              <a:buChar char="–"/>
              <a:tabLst>
                <a:tab pos="756920" algn="l"/>
              </a:tabLst>
            </a:pPr>
            <a:r>
              <a:rPr sz="2800" spc="-145" dirty="0">
                <a:latin typeface="Arial"/>
                <a:cs typeface="Arial"/>
              </a:rPr>
              <a:t>There </a:t>
            </a:r>
            <a:r>
              <a:rPr sz="2800" spc="-110" dirty="0">
                <a:latin typeface="Arial"/>
                <a:cs typeface="Arial"/>
              </a:rPr>
              <a:t>are </a:t>
            </a:r>
            <a:r>
              <a:rPr sz="2800" spc="-45" dirty="0">
                <a:latin typeface="Arial"/>
                <a:cs typeface="Arial"/>
              </a:rPr>
              <a:t>three </a:t>
            </a:r>
            <a:r>
              <a:rPr sz="2800" spc="-160" dirty="0">
                <a:latin typeface="Arial"/>
                <a:cs typeface="Arial"/>
              </a:rPr>
              <a:t>classical </a:t>
            </a:r>
            <a:r>
              <a:rPr sz="2800" spc="-120" dirty="0">
                <a:latin typeface="Arial"/>
                <a:cs typeface="Arial"/>
              </a:rPr>
              <a:t>views </a:t>
            </a:r>
            <a:r>
              <a:rPr sz="2800" spc="-55" dirty="0">
                <a:latin typeface="Arial"/>
                <a:cs typeface="Arial"/>
              </a:rPr>
              <a:t>(in</a:t>
            </a:r>
            <a:r>
              <a:rPr sz="2800" spc="-41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literature):</a:t>
            </a:r>
            <a:endParaRPr sz="2800" dirty="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520"/>
              </a:spcBef>
              <a:buFont typeface="Times New Roman"/>
              <a:buChar char="•"/>
              <a:tabLst>
                <a:tab pos="1156335" algn="l"/>
              </a:tabLst>
            </a:pPr>
            <a:r>
              <a:rPr sz="2400" spc="-160" dirty="0">
                <a:latin typeface="Arial"/>
                <a:cs typeface="Arial"/>
              </a:rPr>
              <a:t>Resource </a:t>
            </a:r>
            <a:r>
              <a:rPr sz="2400" spc="-100" dirty="0">
                <a:latin typeface="Arial"/>
                <a:cs typeface="Arial"/>
              </a:rPr>
              <a:t>Manager </a:t>
            </a:r>
            <a:r>
              <a:rPr sz="2400" spc="-140" dirty="0">
                <a:latin typeface="Arial"/>
                <a:cs typeface="Arial"/>
              </a:rPr>
              <a:t>– </a:t>
            </a:r>
            <a:r>
              <a:rPr sz="2400" spc="-165" dirty="0">
                <a:latin typeface="Arial"/>
                <a:cs typeface="Arial"/>
              </a:rPr>
              <a:t>manages </a:t>
            </a:r>
            <a:r>
              <a:rPr sz="2400" spc="-110" dirty="0">
                <a:latin typeface="Arial"/>
                <a:cs typeface="Arial"/>
              </a:rPr>
              <a:t>and </a:t>
            </a:r>
            <a:r>
              <a:rPr sz="2400" spc="-95" dirty="0">
                <a:latin typeface="Arial"/>
                <a:cs typeface="Arial"/>
              </a:rPr>
              <a:t>allocates</a:t>
            </a:r>
            <a:r>
              <a:rPr sz="2400" spc="-160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resources.</a:t>
            </a:r>
            <a:endParaRPr sz="2400" dirty="0">
              <a:latin typeface="Arial"/>
              <a:cs typeface="Arial"/>
            </a:endParaRPr>
          </a:p>
          <a:p>
            <a:pPr marL="1155700" marR="5080" lvl="2" indent="-228600" algn="just">
              <a:lnSpc>
                <a:spcPct val="100000"/>
              </a:lnSpc>
              <a:spcBef>
                <a:spcPts val="505"/>
              </a:spcBef>
              <a:buFont typeface="Times New Roman"/>
              <a:buChar char="•"/>
              <a:tabLst>
                <a:tab pos="1156335" algn="l"/>
              </a:tabLst>
            </a:pPr>
            <a:r>
              <a:rPr sz="2400" spc="-70" dirty="0">
                <a:latin typeface="Arial"/>
                <a:cs typeface="Arial"/>
              </a:rPr>
              <a:t>Control </a:t>
            </a:r>
            <a:r>
              <a:rPr sz="2400" spc="-80" dirty="0">
                <a:latin typeface="Arial"/>
                <a:cs typeface="Arial"/>
              </a:rPr>
              <a:t>program </a:t>
            </a:r>
            <a:r>
              <a:rPr sz="2400" spc="-140" dirty="0">
                <a:latin typeface="Arial"/>
                <a:cs typeface="Arial"/>
              </a:rPr>
              <a:t>– </a:t>
            </a:r>
            <a:r>
              <a:rPr sz="2400" spc="-65" dirty="0">
                <a:latin typeface="Arial"/>
                <a:cs typeface="Arial"/>
              </a:rPr>
              <a:t>controls</a:t>
            </a:r>
            <a:r>
              <a:rPr sz="2400" spc="5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the </a:t>
            </a:r>
            <a:r>
              <a:rPr sz="2400" spc="-80" dirty="0">
                <a:latin typeface="Arial"/>
                <a:cs typeface="Arial"/>
              </a:rPr>
              <a:t>execution </a:t>
            </a:r>
            <a:r>
              <a:rPr sz="2400" dirty="0">
                <a:latin typeface="Arial"/>
                <a:cs typeface="Arial"/>
              </a:rPr>
              <a:t>of </a:t>
            </a:r>
            <a:r>
              <a:rPr sz="2400" spc="-114" dirty="0">
                <a:latin typeface="Arial"/>
                <a:cs typeface="Arial"/>
              </a:rPr>
              <a:t>user  </a:t>
            </a:r>
            <a:r>
              <a:rPr sz="2400" spc="-105" dirty="0">
                <a:latin typeface="Arial"/>
                <a:cs typeface="Arial"/>
              </a:rPr>
              <a:t>programs </a:t>
            </a:r>
            <a:r>
              <a:rPr sz="2400" spc="-70" dirty="0">
                <a:latin typeface="Arial"/>
                <a:cs typeface="Arial"/>
              </a:rPr>
              <a:t>(application </a:t>
            </a:r>
            <a:r>
              <a:rPr sz="2400" spc="-60" dirty="0">
                <a:latin typeface="Arial"/>
                <a:cs typeface="Arial"/>
              </a:rPr>
              <a:t>software) </a:t>
            </a:r>
            <a:r>
              <a:rPr sz="2400" spc="-114" dirty="0">
                <a:latin typeface="Arial"/>
                <a:cs typeface="Arial"/>
              </a:rPr>
              <a:t>and </a:t>
            </a:r>
            <a:r>
              <a:rPr sz="2400" spc="-75" dirty="0">
                <a:latin typeface="Arial"/>
                <a:cs typeface="Arial"/>
              </a:rPr>
              <a:t>operations </a:t>
            </a:r>
            <a:r>
              <a:rPr sz="2400" spc="-15" dirty="0">
                <a:latin typeface="Arial"/>
                <a:cs typeface="Arial"/>
              </a:rPr>
              <a:t>of </a:t>
            </a:r>
            <a:r>
              <a:rPr sz="2400" spc="-35" dirty="0">
                <a:latin typeface="Arial"/>
                <a:cs typeface="Arial"/>
              </a:rPr>
              <a:t>I/O  </a:t>
            </a:r>
            <a:r>
              <a:rPr sz="2400" spc="-120" dirty="0">
                <a:latin typeface="Arial"/>
                <a:cs typeface="Arial"/>
              </a:rPr>
              <a:t>devices.</a:t>
            </a:r>
            <a:endParaRPr sz="2400" dirty="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509"/>
              </a:spcBef>
              <a:buFont typeface="Times New Roman"/>
              <a:buChar char="•"/>
              <a:tabLst>
                <a:tab pos="1156335" algn="l"/>
                <a:tab pos="2661920" algn="l"/>
                <a:tab pos="3970020" algn="l"/>
                <a:tab pos="4347845" algn="l"/>
                <a:tab pos="5640705" algn="l"/>
                <a:tab pos="6174740" algn="l"/>
                <a:tab pos="8006715" algn="l"/>
              </a:tabLst>
            </a:pPr>
            <a:r>
              <a:rPr sz="2400" spc="-150" dirty="0">
                <a:latin typeface="Arial"/>
                <a:cs typeface="Arial"/>
              </a:rPr>
              <a:t>Command	</a:t>
            </a:r>
            <a:r>
              <a:rPr sz="2400" spc="-125" dirty="0">
                <a:latin typeface="Arial"/>
                <a:cs typeface="Arial"/>
              </a:rPr>
              <a:t>Executer	</a:t>
            </a:r>
            <a:r>
              <a:rPr sz="2400" spc="-140" dirty="0">
                <a:latin typeface="Arial"/>
                <a:cs typeface="Arial"/>
              </a:rPr>
              <a:t>–	</a:t>
            </a:r>
            <a:r>
              <a:rPr sz="2400" spc="-125" dirty="0">
                <a:latin typeface="Arial"/>
                <a:cs typeface="Arial"/>
              </a:rPr>
              <a:t>Provides	</a:t>
            </a:r>
            <a:r>
              <a:rPr sz="2400" spc="-145" dirty="0">
                <a:latin typeface="Arial"/>
                <a:cs typeface="Arial"/>
              </a:rPr>
              <a:t>an	</a:t>
            </a:r>
            <a:r>
              <a:rPr sz="2400" spc="-55" dirty="0">
                <a:latin typeface="Arial"/>
                <a:cs typeface="Arial"/>
              </a:rPr>
              <a:t>environment	</a:t>
            </a:r>
            <a:r>
              <a:rPr sz="2400" dirty="0">
                <a:latin typeface="Arial"/>
                <a:cs typeface="Arial"/>
              </a:rPr>
              <a:t>for</a:t>
            </a:r>
          </a:p>
          <a:p>
            <a:pPr marL="1155700">
              <a:lnSpc>
                <a:spcPct val="100000"/>
              </a:lnSpc>
            </a:pPr>
            <a:r>
              <a:rPr sz="2400" spc="-60" dirty="0"/>
              <a:t>running </a:t>
            </a:r>
            <a:r>
              <a:rPr sz="2400" spc="-114" dirty="0"/>
              <a:t>user</a:t>
            </a:r>
            <a:r>
              <a:rPr sz="2400" spc="-265" dirty="0"/>
              <a:t> </a:t>
            </a:r>
            <a:r>
              <a:rPr sz="2400" spc="-120" dirty="0"/>
              <a:t>commands.</a:t>
            </a:r>
            <a:endParaRPr sz="2400" dirty="0"/>
          </a:p>
          <a:p>
            <a:pPr marL="756285" marR="7620" lvl="1" indent="-286385">
              <a:lnSpc>
                <a:spcPct val="100000"/>
              </a:lnSpc>
              <a:spcBef>
                <a:spcPts val="585"/>
              </a:spcBef>
              <a:buFont typeface="Times New Roman"/>
              <a:buChar char="–"/>
              <a:tabLst>
                <a:tab pos="756920" algn="l"/>
              </a:tabLst>
            </a:pPr>
            <a:r>
              <a:rPr lang="en-US" sz="2800" spc="-90" dirty="0">
                <a:latin typeface="Arial"/>
                <a:cs typeface="Arial"/>
              </a:rPr>
              <a:t>There is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one </a:t>
            </a:r>
            <a:r>
              <a:rPr sz="2800" spc="-85" dirty="0">
                <a:latin typeface="Arial"/>
                <a:cs typeface="Arial"/>
              </a:rPr>
              <a:t>modern </a:t>
            </a:r>
            <a:r>
              <a:rPr sz="2800" spc="-65" dirty="0">
                <a:latin typeface="Arial"/>
                <a:cs typeface="Arial"/>
              </a:rPr>
              <a:t>view: </a:t>
            </a:r>
            <a:r>
              <a:rPr sz="2800" spc="-50" dirty="0">
                <a:latin typeface="Arial"/>
                <a:cs typeface="Arial"/>
              </a:rPr>
              <a:t>Virtual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Machine.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40445" y="0"/>
            <a:ext cx="927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iAcademy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22859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4572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644639"/>
            <a:ext cx="9144000" cy="213360"/>
          </a:xfrm>
          <a:custGeom>
            <a:avLst/>
            <a:gdLst/>
            <a:ahLst/>
            <a:cxnLst/>
            <a:rect l="l" t="t" r="r" b="b"/>
            <a:pathLst>
              <a:path w="9144000" h="213359">
                <a:moveTo>
                  <a:pt x="0" y="213359"/>
                </a:moveTo>
                <a:lnTo>
                  <a:pt x="9144000" y="213359"/>
                </a:lnTo>
                <a:lnTo>
                  <a:pt x="9144000" y="0"/>
                </a:lnTo>
                <a:lnTo>
                  <a:pt x="0" y="0"/>
                </a:lnTo>
                <a:lnTo>
                  <a:pt x="0" y="21335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13103" y="6822947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70104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105" dirty="0"/>
              <a:t>iAcademy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8739" y="784693"/>
            <a:ext cx="8836661" cy="564225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756285" marR="5080" lvl="1" indent="-286385" algn="just">
              <a:lnSpc>
                <a:spcPct val="100000"/>
              </a:lnSpc>
              <a:spcBef>
                <a:spcPts val="620"/>
              </a:spcBef>
              <a:buFont typeface="Times New Roman"/>
              <a:buChar char="–"/>
              <a:tabLst>
                <a:tab pos="756920" algn="l"/>
              </a:tabLst>
            </a:pPr>
            <a:r>
              <a:rPr sz="2800" spc="-170" dirty="0">
                <a:latin typeface="Arial"/>
                <a:cs typeface="Arial"/>
              </a:rPr>
              <a:t>Manages </a:t>
            </a:r>
            <a:r>
              <a:rPr sz="2800" spc="-130" dirty="0">
                <a:latin typeface="Arial"/>
                <a:cs typeface="Arial"/>
              </a:rPr>
              <a:t>and </a:t>
            </a:r>
            <a:r>
              <a:rPr sz="2800" spc="-60" dirty="0">
                <a:latin typeface="Arial"/>
                <a:cs typeface="Arial"/>
              </a:rPr>
              <a:t>protects </a:t>
            </a:r>
            <a:r>
              <a:rPr sz="2800" spc="-30" dirty="0">
                <a:latin typeface="Arial"/>
                <a:cs typeface="Arial"/>
              </a:rPr>
              <a:t>multiple </a:t>
            </a:r>
            <a:r>
              <a:rPr sz="2800" spc="-70" dirty="0">
                <a:latin typeface="Arial"/>
                <a:cs typeface="Arial"/>
              </a:rPr>
              <a:t>computer</a:t>
            </a:r>
            <a:r>
              <a:rPr sz="2800" spc="-150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resources:  </a:t>
            </a:r>
            <a:r>
              <a:rPr sz="2800" spc="-320" dirty="0">
                <a:latin typeface="Arial"/>
                <a:cs typeface="Arial"/>
              </a:rPr>
              <a:t>CPU, </a:t>
            </a:r>
            <a:r>
              <a:rPr sz="2800" spc="-200" dirty="0">
                <a:latin typeface="Arial"/>
                <a:cs typeface="Arial"/>
              </a:rPr>
              <a:t>Processes, </a:t>
            </a:r>
            <a:r>
              <a:rPr sz="2800" spc="-65" dirty="0">
                <a:latin typeface="Arial"/>
                <a:cs typeface="Arial"/>
              </a:rPr>
              <a:t>Internal/External </a:t>
            </a:r>
            <a:r>
              <a:rPr sz="2800" spc="-90" dirty="0">
                <a:latin typeface="Arial"/>
                <a:cs typeface="Arial"/>
              </a:rPr>
              <a:t>memory, </a:t>
            </a:r>
            <a:r>
              <a:rPr sz="2800" spc="-235" dirty="0">
                <a:latin typeface="Arial"/>
                <a:cs typeface="Arial"/>
              </a:rPr>
              <a:t>Tasks,  </a:t>
            </a:r>
            <a:r>
              <a:rPr sz="2800" spc="-95" dirty="0">
                <a:latin typeface="Arial"/>
                <a:cs typeface="Arial"/>
              </a:rPr>
              <a:t>Applications, </a:t>
            </a:r>
            <a:r>
              <a:rPr sz="2800" spc="-170" dirty="0">
                <a:latin typeface="Arial"/>
                <a:cs typeface="Arial"/>
              </a:rPr>
              <a:t>Users, </a:t>
            </a:r>
            <a:r>
              <a:rPr sz="2800" spc="-110" dirty="0">
                <a:latin typeface="Arial"/>
                <a:cs typeface="Arial"/>
              </a:rPr>
              <a:t>Communication </a:t>
            </a:r>
            <a:r>
              <a:rPr sz="2800" spc="-140" dirty="0">
                <a:latin typeface="Arial"/>
                <a:cs typeface="Arial"/>
              </a:rPr>
              <a:t>channels,</a:t>
            </a:r>
            <a:r>
              <a:rPr sz="2800" spc="-200" dirty="0">
                <a:latin typeface="Arial"/>
                <a:cs typeface="Arial"/>
              </a:rPr>
              <a:t> </a:t>
            </a:r>
            <a:r>
              <a:rPr sz="2800" spc="-275" dirty="0">
                <a:latin typeface="Arial"/>
                <a:cs typeface="Arial"/>
              </a:rPr>
              <a:t>etc…</a:t>
            </a:r>
            <a:endParaRPr sz="2800" dirty="0">
              <a:latin typeface="Arial"/>
              <a:cs typeface="Arial"/>
            </a:endParaRPr>
          </a:p>
          <a:p>
            <a:pPr marL="756285" marR="8255" lvl="1" indent="-286385" algn="just">
              <a:lnSpc>
                <a:spcPct val="99300"/>
              </a:lnSpc>
              <a:spcBef>
                <a:spcPts val="625"/>
              </a:spcBef>
              <a:buFont typeface="Times New Roman"/>
              <a:buChar char="–"/>
              <a:tabLst>
                <a:tab pos="756920" algn="l"/>
              </a:tabLst>
            </a:pPr>
            <a:r>
              <a:rPr sz="2800" spc="-160" dirty="0">
                <a:latin typeface="Arial"/>
                <a:cs typeface="Arial"/>
              </a:rPr>
              <a:t>Handles </a:t>
            </a:r>
            <a:r>
              <a:rPr sz="2800" spc="-130" dirty="0">
                <a:latin typeface="Arial"/>
                <a:cs typeface="Arial"/>
              </a:rPr>
              <a:t>and </a:t>
            </a:r>
            <a:r>
              <a:rPr sz="2800" spc="-110" dirty="0">
                <a:latin typeface="Arial"/>
                <a:cs typeface="Arial"/>
              </a:rPr>
              <a:t>allocates </a:t>
            </a:r>
            <a:r>
              <a:rPr sz="2800" spc="-135" dirty="0">
                <a:latin typeface="Arial"/>
                <a:cs typeface="Arial"/>
              </a:rPr>
              <a:t>resources </a:t>
            </a:r>
            <a:r>
              <a:rPr sz="2800" spc="35" dirty="0">
                <a:latin typeface="Arial"/>
                <a:cs typeface="Arial"/>
              </a:rPr>
              <a:t>to </a:t>
            </a:r>
            <a:r>
              <a:rPr sz="2800" spc="-25" dirty="0">
                <a:latin typeface="Arial"/>
                <a:cs typeface="Arial"/>
              </a:rPr>
              <a:t>multiple </a:t>
            </a:r>
            <a:r>
              <a:rPr sz="2800" spc="-165" dirty="0">
                <a:latin typeface="Arial"/>
                <a:cs typeface="Arial"/>
              </a:rPr>
              <a:t>users </a:t>
            </a:r>
            <a:r>
              <a:rPr sz="2800" spc="-10" dirty="0">
                <a:latin typeface="Arial"/>
                <a:cs typeface="Arial"/>
              </a:rPr>
              <a:t>or  </a:t>
            </a:r>
            <a:r>
              <a:rPr sz="2800" spc="-30" dirty="0">
                <a:latin typeface="Arial"/>
                <a:cs typeface="Arial"/>
              </a:rPr>
              <a:t>multiple </a:t>
            </a:r>
            <a:r>
              <a:rPr sz="2800" spc="-114" dirty="0">
                <a:latin typeface="Arial"/>
                <a:cs typeface="Arial"/>
              </a:rPr>
              <a:t>programs </a:t>
            </a:r>
            <a:r>
              <a:rPr sz="2800" spc="-80" dirty="0">
                <a:latin typeface="Arial"/>
                <a:cs typeface="Arial"/>
              </a:rPr>
              <a:t>running </a:t>
            </a:r>
            <a:r>
              <a:rPr sz="2800" spc="-25" dirty="0">
                <a:latin typeface="Arial"/>
                <a:cs typeface="Arial"/>
              </a:rPr>
              <a:t>at </a:t>
            </a:r>
            <a:r>
              <a:rPr sz="2800" spc="-35" dirty="0">
                <a:latin typeface="Arial"/>
                <a:cs typeface="Arial"/>
              </a:rPr>
              <a:t>the </a:t>
            </a:r>
            <a:r>
              <a:rPr sz="2800" spc="-195" dirty="0">
                <a:latin typeface="Arial"/>
                <a:cs typeface="Arial"/>
              </a:rPr>
              <a:t>same </a:t>
            </a:r>
            <a:r>
              <a:rPr sz="2800" spc="-20" dirty="0">
                <a:latin typeface="Arial"/>
                <a:cs typeface="Arial"/>
              </a:rPr>
              <a:t>time </a:t>
            </a:r>
            <a:r>
              <a:rPr sz="2800" spc="-135" dirty="0">
                <a:latin typeface="Arial"/>
                <a:cs typeface="Arial"/>
              </a:rPr>
              <a:t>and  </a:t>
            </a:r>
            <a:r>
              <a:rPr sz="2800" spc="-200" dirty="0">
                <a:latin typeface="Arial"/>
                <a:cs typeface="Arial"/>
              </a:rPr>
              <a:t>space </a:t>
            </a:r>
            <a:r>
              <a:rPr sz="2800" spc="-120" dirty="0">
                <a:latin typeface="Arial"/>
                <a:cs typeface="Arial"/>
              </a:rPr>
              <a:t>(e.g., </a:t>
            </a:r>
            <a:r>
              <a:rPr sz="2800" spc="-130" dirty="0">
                <a:latin typeface="Arial"/>
                <a:cs typeface="Arial"/>
              </a:rPr>
              <a:t>processor </a:t>
            </a:r>
            <a:r>
              <a:rPr sz="2800" spc="-35" dirty="0">
                <a:latin typeface="Arial"/>
                <a:cs typeface="Arial"/>
              </a:rPr>
              <a:t>time, </a:t>
            </a:r>
            <a:r>
              <a:rPr sz="2800" spc="-90" dirty="0">
                <a:latin typeface="Arial"/>
                <a:cs typeface="Arial"/>
              </a:rPr>
              <a:t>memory, </a:t>
            </a:r>
            <a:r>
              <a:rPr sz="2800" spc="-30" dirty="0">
                <a:latin typeface="Arial"/>
                <a:cs typeface="Arial"/>
              </a:rPr>
              <a:t>I/O </a:t>
            </a:r>
            <a:r>
              <a:rPr sz="2800" spc="-140" dirty="0">
                <a:latin typeface="Arial"/>
                <a:cs typeface="Arial"/>
              </a:rPr>
              <a:t>devices).  </a:t>
            </a:r>
            <a:r>
              <a:rPr sz="2800" spc="-45" dirty="0">
                <a:latin typeface="Arial"/>
                <a:cs typeface="Arial"/>
              </a:rPr>
              <a:t>Mulitiplexing </a:t>
            </a:r>
            <a:r>
              <a:rPr sz="2800" spc="-140" dirty="0">
                <a:latin typeface="Arial"/>
                <a:cs typeface="Arial"/>
              </a:rPr>
              <a:t>is </a:t>
            </a:r>
            <a:r>
              <a:rPr sz="2800" spc="-60" dirty="0">
                <a:latin typeface="Arial"/>
                <a:cs typeface="Arial"/>
              </a:rPr>
              <a:t>performed </a:t>
            </a:r>
            <a:r>
              <a:rPr sz="2800" spc="35" dirty="0">
                <a:latin typeface="Arial"/>
                <a:cs typeface="Arial"/>
              </a:rPr>
              <a:t>to </a:t>
            </a:r>
            <a:r>
              <a:rPr sz="2800" spc="-105" dirty="0">
                <a:latin typeface="Arial"/>
                <a:cs typeface="Arial"/>
              </a:rPr>
              <a:t>handle </a:t>
            </a:r>
            <a:r>
              <a:rPr sz="2800" spc="-30" dirty="0">
                <a:latin typeface="Arial"/>
                <a:cs typeface="Arial"/>
              </a:rPr>
              <a:t>multiple  </a:t>
            </a:r>
            <a:r>
              <a:rPr sz="2800" spc="-95" dirty="0">
                <a:latin typeface="Arial"/>
                <a:cs typeface="Arial"/>
              </a:rPr>
              <a:t>programs/users.</a:t>
            </a:r>
            <a:endParaRPr sz="2800" dirty="0">
              <a:latin typeface="Arial"/>
              <a:cs typeface="Arial"/>
            </a:endParaRPr>
          </a:p>
          <a:p>
            <a:pPr marL="756285" marR="7620" lvl="1" indent="-286385" algn="just">
              <a:lnSpc>
                <a:spcPts val="3270"/>
              </a:lnSpc>
              <a:spcBef>
                <a:spcPts val="880"/>
              </a:spcBef>
              <a:buFont typeface="Times New Roman"/>
              <a:buChar char="–"/>
              <a:tabLst>
                <a:tab pos="756920" algn="l"/>
              </a:tabLst>
            </a:pPr>
            <a:r>
              <a:rPr sz="2800" spc="-180" dirty="0">
                <a:latin typeface="Arial"/>
                <a:cs typeface="Arial"/>
              </a:rPr>
              <a:t>Decides </a:t>
            </a:r>
            <a:r>
              <a:rPr sz="2800" spc="-75" dirty="0">
                <a:latin typeface="Arial"/>
                <a:cs typeface="Arial"/>
              </a:rPr>
              <a:t>between </a:t>
            </a:r>
            <a:r>
              <a:rPr sz="2800" spc="-60" dirty="0">
                <a:latin typeface="Arial"/>
                <a:cs typeface="Arial"/>
              </a:rPr>
              <a:t>conflicting </a:t>
            </a:r>
            <a:r>
              <a:rPr sz="2800" spc="-114" dirty="0">
                <a:latin typeface="Arial"/>
                <a:cs typeface="Arial"/>
              </a:rPr>
              <a:t>requests </a:t>
            </a:r>
            <a:r>
              <a:rPr sz="2800" spc="10" dirty="0">
                <a:latin typeface="Arial"/>
                <a:cs typeface="Arial"/>
              </a:rPr>
              <a:t>for </a:t>
            </a:r>
            <a:r>
              <a:rPr sz="2800" spc="-35" dirty="0">
                <a:latin typeface="Arial"/>
                <a:cs typeface="Arial"/>
              </a:rPr>
              <a:t>efficient  </a:t>
            </a:r>
            <a:r>
              <a:rPr sz="2800" spc="-130" dirty="0">
                <a:latin typeface="Arial"/>
                <a:cs typeface="Arial"/>
              </a:rPr>
              <a:t>and </a:t>
            </a:r>
            <a:r>
              <a:rPr sz="2800" spc="-20" dirty="0">
                <a:latin typeface="Arial"/>
                <a:cs typeface="Arial"/>
              </a:rPr>
              <a:t>fair </a:t>
            </a:r>
            <a:r>
              <a:rPr sz="2800" spc="-114" dirty="0">
                <a:latin typeface="Arial"/>
                <a:cs typeface="Arial"/>
              </a:rPr>
              <a:t>resource</a:t>
            </a:r>
            <a:r>
              <a:rPr sz="2800" spc="-335" dirty="0">
                <a:latin typeface="Arial"/>
                <a:cs typeface="Arial"/>
              </a:rPr>
              <a:t> </a:t>
            </a:r>
            <a:r>
              <a:rPr sz="2800" spc="-135" dirty="0">
                <a:latin typeface="Arial"/>
                <a:cs typeface="Arial"/>
              </a:rPr>
              <a:t>use.</a:t>
            </a:r>
            <a:r>
              <a:rPr lang="en-US" sz="2800" spc="-135" dirty="0">
                <a:latin typeface="Arial"/>
                <a:cs typeface="Arial"/>
              </a:rPr>
              <a:t> </a:t>
            </a:r>
            <a:r>
              <a:rPr lang="en-US" altLang="en-US" sz="2800" dirty="0"/>
              <a:t>(e.g. Minimize response time). </a:t>
            </a:r>
            <a:endParaRPr lang="en-US" sz="2800" spc="-135" dirty="0">
              <a:latin typeface="Arial"/>
              <a:cs typeface="Arial"/>
            </a:endParaRPr>
          </a:p>
          <a:p>
            <a:pPr marL="756285" marR="7620" lvl="1" indent="-286385" algn="just">
              <a:lnSpc>
                <a:spcPts val="3270"/>
              </a:lnSpc>
              <a:spcBef>
                <a:spcPts val="880"/>
              </a:spcBef>
              <a:buFont typeface="Times New Roman"/>
              <a:buChar char="–"/>
              <a:tabLst>
                <a:tab pos="756920" algn="l"/>
              </a:tabLst>
            </a:pPr>
            <a:r>
              <a:rPr lang="en-US" sz="2800" dirty="0" smtClean="0">
                <a:latin typeface="Arial"/>
                <a:cs typeface="Arial"/>
              </a:rPr>
              <a:t>bottom-up view.</a:t>
            </a:r>
          </a:p>
          <a:p>
            <a:pPr marL="756285" marR="7620" lvl="1" indent="-286385" algn="just">
              <a:lnSpc>
                <a:spcPts val="3270"/>
              </a:lnSpc>
              <a:spcBef>
                <a:spcPts val="880"/>
              </a:spcBef>
              <a:buFont typeface="Times New Roman"/>
              <a:buChar char="–"/>
              <a:tabLst>
                <a:tab pos="756920" algn="l"/>
              </a:tabLst>
            </a:pPr>
            <a:endParaRPr sz="2800" dirty="0">
              <a:latin typeface="Arial"/>
              <a:cs typeface="Arial"/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20208C-8D58-CF4C-A9BC-19519C474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218" y="47701"/>
            <a:ext cx="8133182" cy="1354217"/>
          </a:xfrm>
        </p:spPr>
        <p:txBody>
          <a:bodyPr/>
          <a:lstStyle/>
          <a:p>
            <a:r>
              <a:rPr lang="en-US" spc="-220" dirty="0"/>
              <a:t>Resource</a:t>
            </a:r>
            <a:r>
              <a:rPr lang="en-US" spc="-140" dirty="0"/>
              <a:t> Manager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40445" y="0"/>
            <a:ext cx="927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iAcademy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22859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4572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644639"/>
            <a:ext cx="9144000" cy="213360"/>
          </a:xfrm>
          <a:custGeom>
            <a:avLst/>
            <a:gdLst/>
            <a:ahLst/>
            <a:cxnLst/>
            <a:rect l="l" t="t" r="r" b="b"/>
            <a:pathLst>
              <a:path w="9144000" h="213359">
                <a:moveTo>
                  <a:pt x="0" y="213359"/>
                </a:moveTo>
                <a:lnTo>
                  <a:pt x="9144000" y="213359"/>
                </a:lnTo>
                <a:lnTo>
                  <a:pt x="9144000" y="0"/>
                </a:lnTo>
                <a:lnTo>
                  <a:pt x="0" y="0"/>
                </a:lnTo>
                <a:lnTo>
                  <a:pt x="0" y="21335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13103" y="6822947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70104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105" dirty="0"/>
              <a:t>iAcademy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81000" y="838201"/>
            <a:ext cx="7649108" cy="46288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95"/>
              </a:spcBef>
              <a:buFont typeface="Times New Roman"/>
              <a:buChar char="•"/>
              <a:tabLst>
                <a:tab pos="356870" algn="l"/>
                <a:tab pos="357505" algn="l"/>
              </a:tabLst>
            </a:pPr>
            <a:r>
              <a:rPr sz="3200" spc="-220" dirty="0">
                <a:latin typeface="Arial"/>
                <a:cs typeface="Arial"/>
              </a:rPr>
              <a:t>Resource </a:t>
            </a:r>
            <a:r>
              <a:rPr sz="3200" spc="-140" dirty="0">
                <a:latin typeface="Arial"/>
                <a:cs typeface="Arial"/>
              </a:rPr>
              <a:t>Manager </a:t>
            </a:r>
            <a:r>
              <a:rPr sz="3200" spc="-55" dirty="0">
                <a:latin typeface="Arial"/>
                <a:cs typeface="Arial"/>
              </a:rPr>
              <a:t>oriented </a:t>
            </a:r>
            <a:r>
              <a:rPr sz="3200" spc="-525" dirty="0">
                <a:latin typeface="Arial"/>
                <a:cs typeface="Arial"/>
              </a:rPr>
              <a:t>OS</a:t>
            </a:r>
            <a:r>
              <a:rPr sz="3200" spc="-515" dirty="0">
                <a:latin typeface="Arial"/>
                <a:cs typeface="Arial"/>
              </a:rPr>
              <a:t> </a:t>
            </a:r>
            <a:r>
              <a:rPr sz="3200" spc="-100" dirty="0">
                <a:latin typeface="Arial"/>
                <a:cs typeface="Arial"/>
              </a:rPr>
              <a:t>lists</a:t>
            </a:r>
            <a:endParaRPr sz="3200" dirty="0">
              <a:latin typeface="Arial"/>
              <a:cs typeface="Arial"/>
            </a:endParaRPr>
          </a:p>
          <a:p>
            <a:pPr marL="927100" lvl="1" indent="-228600">
              <a:lnSpc>
                <a:spcPct val="100000"/>
              </a:lnSpc>
              <a:spcBef>
                <a:spcPts val="2030"/>
              </a:spcBef>
              <a:buFont typeface="Times New Roman"/>
              <a:buChar char="–"/>
              <a:tabLst>
                <a:tab pos="927735" algn="l"/>
              </a:tabLst>
            </a:pPr>
            <a:r>
              <a:rPr sz="2800" spc="-445" dirty="0">
                <a:latin typeface="Arial"/>
                <a:cs typeface="Arial"/>
              </a:rPr>
              <a:t>DEC </a:t>
            </a:r>
            <a:r>
              <a:rPr sz="2800" spc="-495" dirty="0">
                <a:latin typeface="Arial"/>
                <a:cs typeface="Arial"/>
              </a:rPr>
              <a:t>RSX </a:t>
            </a:r>
            <a:r>
              <a:rPr sz="2800" spc="-160" dirty="0">
                <a:latin typeface="Arial"/>
                <a:cs typeface="Arial"/>
              </a:rPr>
              <a:t>– </a:t>
            </a:r>
            <a:r>
              <a:rPr sz="2800" spc="-185" dirty="0">
                <a:latin typeface="Arial"/>
                <a:cs typeface="Arial"/>
              </a:rPr>
              <a:t>Resource </a:t>
            </a:r>
            <a:r>
              <a:rPr sz="2800" spc="-165" dirty="0">
                <a:latin typeface="Arial"/>
                <a:cs typeface="Arial"/>
              </a:rPr>
              <a:t>Sharing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eXecutive</a:t>
            </a:r>
            <a:endParaRPr sz="2800" dirty="0">
              <a:latin typeface="Arial"/>
              <a:cs typeface="Arial"/>
            </a:endParaRPr>
          </a:p>
          <a:p>
            <a:pPr marL="927100" lvl="1" indent="-228600">
              <a:lnSpc>
                <a:spcPct val="100000"/>
              </a:lnSpc>
              <a:spcBef>
                <a:spcPts val="1995"/>
              </a:spcBef>
              <a:buFont typeface="Times New Roman"/>
              <a:buChar char="–"/>
              <a:tabLst>
                <a:tab pos="927735" algn="l"/>
              </a:tabLst>
            </a:pPr>
            <a:r>
              <a:rPr sz="2800" spc="-120" dirty="0">
                <a:latin typeface="Arial"/>
                <a:cs typeface="Arial"/>
              </a:rPr>
              <a:t>MIT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Multics</a:t>
            </a:r>
            <a:endParaRPr sz="2800" dirty="0">
              <a:latin typeface="Arial"/>
              <a:cs typeface="Arial"/>
            </a:endParaRPr>
          </a:p>
          <a:p>
            <a:pPr marL="927100" lvl="1" indent="-228600">
              <a:lnSpc>
                <a:spcPct val="100000"/>
              </a:lnSpc>
              <a:spcBef>
                <a:spcPts val="1995"/>
              </a:spcBef>
              <a:buFont typeface="Times New Roman"/>
              <a:buChar char="–"/>
              <a:tabLst>
                <a:tab pos="927735" algn="l"/>
              </a:tabLst>
            </a:pPr>
            <a:r>
              <a:rPr sz="2800" spc="-120" dirty="0">
                <a:latin typeface="Arial"/>
                <a:cs typeface="Arial"/>
              </a:rPr>
              <a:t>IBM </a:t>
            </a:r>
            <a:r>
              <a:rPr sz="2800" spc="-135" dirty="0">
                <a:latin typeface="Arial"/>
                <a:cs typeface="Arial"/>
              </a:rPr>
              <a:t>MFT/MVT </a:t>
            </a:r>
            <a:r>
              <a:rPr sz="2800" spc="-160" dirty="0">
                <a:latin typeface="Arial"/>
                <a:cs typeface="Arial"/>
              </a:rPr>
              <a:t>– </a:t>
            </a:r>
            <a:r>
              <a:rPr sz="2800" spc="-10" dirty="0">
                <a:latin typeface="Arial"/>
                <a:cs typeface="Arial"/>
              </a:rPr>
              <a:t>Multiple </a:t>
            </a:r>
            <a:r>
              <a:rPr sz="2800" spc="-105" dirty="0">
                <a:latin typeface="Arial"/>
                <a:cs typeface="Arial"/>
              </a:rPr>
              <a:t>Fixed/Variable</a:t>
            </a:r>
            <a:r>
              <a:rPr sz="2800" spc="-350" dirty="0">
                <a:latin typeface="Arial"/>
                <a:cs typeface="Arial"/>
              </a:rPr>
              <a:t> </a:t>
            </a:r>
            <a:r>
              <a:rPr sz="2800" spc="-260" dirty="0">
                <a:latin typeface="Arial"/>
                <a:cs typeface="Arial"/>
              </a:rPr>
              <a:t>Tasks</a:t>
            </a:r>
            <a:endParaRPr sz="2800" dirty="0">
              <a:latin typeface="Arial"/>
              <a:cs typeface="Arial"/>
            </a:endParaRPr>
          </a:p>
          <a:p>
            <a:pPr marL="927100" lvl="1" indent="-228600">
              <a:lnSpc>
                <a:spcPct val="100000"/>
              </a:lnSpc>
              <a:spcBef>
                <a:spcPts val="2020"/>
              </a:spcBef>
              <a:buFont typeface="Times New Roman"/>
              <a:buChar char="–"/>
              <a:tabLst>
                <a:tab pos="927735" algn="l"/>
              </a:tabLst>
            </a:pPr>
            <a:r>
              <a:rPr sz="2800" spc="-120" dirty="0">
                <a:latin typeface="Arial"/>
                <a:cs typeface="Arial"/>
              </a:rPr>
              <a:t>IBM </a:t>
            </a:r>
            <a:r>
              <a:rPr sz="2800" spc="-265" dirty="0">
                <a:latin typeface="Arial"/>
                <a:cs typeface="Arial"/>
              </a:rPr>
              <a:t>MVS </a:t>
            </a:r>
            <a:r>
              <a:rPr sz="2800" spc="-160" dirty="0">
                <a:latin typeface="Arial"/>
                <a:cs typeface="Arial"/>
              </a:rPr>
              <a:t>– </a:t>
            </a:r>
            <a:r>
              <a:rPr sz="2800" spc="-10" dirty="0">
                <a:latin typeface="Arial"/>
                <a:cs typeface="Arial"/>
              </a:rPr>
              <a:t>Multiple </a:t>
            </a:r>
            <a:r>
              <a:rPr sz="2800" spc="-50" dirty="0">
                <a:latin typeface="Arial"/>
                <a:cs typeface="Arial"/>
              </a:rPr>
              <a:t>Virtual</a:t>
            </a:r>
            <a:r>
              <a:rPr sz="2800" spc="-220" dirty="0">
                <a:latin typeface="Arial"/>
                <a:cs typeface="Arial"/>
              </a:rPr>
              <a:t> </a:t>
            </a:r>
            <a:r>
              <a:rPr sz="2800" spc="-150" dirty="0">
                <a:latin typeface="Arial"/>
                <a:cs typeface="Arial"/>
              </a:rPr>
              <a:t>Storage</a:t>
            </a:r>
            <a:endParaRPr sz="2800" dirty="0">
              <a:latin typeface="Arial"/>
              <a:cs typeface="Arial"/>
            </a:endParaRPr>
          </a:p>
          <a:p>
            <a:pPr marL="927100" lvl="1" indent="-228600">
              <a:lnSpc>
                <a:spcPct val="100000"/>
              </a:lnSpc>
              <a:spcBef>
                <a:spcPts val="1995"/>
              </a:spcBef>
              <a:buFont typeface="Times New Roman"/>
              <a:buChar char="–"/>
              <a:tabLst>
                <a:tab pos="927735" algn="l"/>
              </a:tabLst>
            </a:pPr>
            <a:r>
              <a:rPr sz="2800" spc="-445" dirty="0">
                <a:latin typeface="Arial"/>
                <a:cs typeface="Arial"/>
              </a:rPr>
              <a:t>DEC </a:t>
            </a:r>
            <a:r>
              <a:rPr sz="2800" spc="-265" dirty="0">
                <a:latin typeface="Arial"/>
                <a:cs typeface="Arial"/>
              </a:rPr>
              <a:t>VMS </a:t>
            </a:r>
            <a:r>
              <a:rPr sz="2800" spc="-160" dirty="0">
                <a:latin typeface="Arial"/>
                <a:cs typeface="Arial"/>
              </a:rPr>
              <a:t>– </a:t>
            </a:r>
            <a:r>
              <a:rPr sz="2800" spc="-50" dirty="0">
                <a:latin typeface="Arial"/>
                <a:cs typeface="Arial"/>
              </a:rPr>
              <a:t>Virtual </a:t>
            </a:r>
            <a:r>
              <a:rPr sz="2800" spc="-65" dirty="0">
                <a:latin typeface="Arial"/>
                <a:cs typeface="Arial"/>
              </a:rPr>
              <a:t>Memory</a:t>
            </a:r>
            <a:r>
              <a:rPr sz="2800" spc="-210" dirty="0">
                <a:latin typeface="Arial"/>
                <a:cs typeface="Arial"/>
              </a:rPr>
              <a:t> </a:t>
            </a:r>
            <a:r>
              <a:rPr sz="2800" spc="-190" dirty="0">
                <a:latin typeface="Arial"/>
                <a:cs typeface="Arial"/>
              </a:rPr>
              <a:t>System</a:t>
            </a:r>
            <a:endParaRPr sz="2800" dirty="0">
              <a:latin typeface="Arial"/>
              <a:cs typeface="Arial"/>
            </a:endParaRPr>
          </a:p>
          <a:p>
            <a:pPr marL="927100" lvl="1" indent="-228600">
              <a:lnSpc>
                <a:spcPct val="100000"/>
              </a:lnSpc>
              <a:spcBef>
                <a:spcPts val="1995"/>
              </a:spcBef>
              <a:buFont typeface="Times New Roman"/>
              <a:buChar char="–"/>
              <a:tabLst>
                <a:tab pos="927735" algn="l"/>
              </a:tabLst>
            </a:pPr>
            <a:r>
              <a:rPr sz="2800" spc="-120" dirty="0">
                <a:latin typeface="Arial"/>
                <a:cs typeface="Arial"/>
              </a:rPr>
              <a:t>IBM </a:t>
            </a:r>
            <a:r>
              <a:rPr sz="2800" spc="-110" dirty="0">
                <a:latin typeface="Arial"/>
                <a:cs typeface="Arial"/>
              </a:rPr>
              <a:t>VM </a:t>
            </a:r>
            <a:r>
              <a:rPr sz="2800" spc="-160" dirty="0">
                <a:latin typeface="Arial"/>
                <a:cs typeface="Arial"/>
              </a:rPr>
              <a:t>– </a:t>
            </a:r>
            <a:r>
              <a:rPr sz="2800" spc="-50" dirty="0">
                <a:latin typeface="Arial"/>
                <a:cs typeface="Arial"/>
              </a:rPr>
              <a:t>Virtual</a:t>
            </a:r>
            <a:r>
              <a:rPr sz="2800" spc="-204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machine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40445" y="0"/>
            <a:ext cx="927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iAcademy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644639"/>
            <a:ext cx="9144000" cy="213360"/>
          </a:xfrm>
          <a:custGeom>
            <a:avLst/>
            <a:gdLst/>
            <a:ahLst/>
            <a:cxnLst/>
            <a:rect l="l" t="t" r="r" b="b"/>
            <a:pathLst>
              <a:path w="9144000" h="213359">
                <a:moveTo>
                  <a:pt x="0" y="213359"/>
                </a:moveTo>
                <a:lnTo>
                  <a:pt x="9144000" y="213359"/>
                </a:lnTo>
                <a:lnTo>
                  <a:pt x="9144000" y="0"/>
                </a:lnTo>
                <a:lnTo>
                  <a:pt x="0" y="0"/>
                </a:lnTo>
                <a:lnTo>
                  <a:pt x="0" y="21335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13103" y="6822947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70104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105" dirty="0"/>
              <a:t>iAcademy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01118" y="838200"/>
            <a:ext cx="8337650" cy="2818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95"/>
              </a:spcBef>
              <a:buFont typeface="Times New Roman"/>
              <a:buChar char="•"/>
              <a:tabLst>
                <a:tab pos="356870" algn="l"/>
                <a:tab pos="357505" algn="l"/>
              </a:tabLst>
            </a:pPr>
            <a:r>
              <a:rPr sz="3200" spc="-100" dirty="0">
                <a:latin typeface="Arial"/>
                <a:cs typeface="Arial"/>
              </a:rPr>
              <a:t>Control</a:t>
            </a:r>
            <a:r>
              <a:rPr sz="3200" spc="-140" dirty="0">
                <a:latin typeface="Arial"/>
                <a:cs typeface="Arial"/>
              </a:rPr>
              <a:t> </a:t>
            </a:r>
            <a:r>
              <a:rPr sz="3200" spc="-165" dirty="0">
                <a:latin typeface="Arial"/>
                <a:cs typeface="Arial"/>
              </a:rPr>
              <a:t>Program</a:t>
            </a:r>
            <a:endParaRPr sz="3200" dirty="0">
              <a:latin typeface="Arial"/>
              <a:cs typeface="Arial"/>
            </a:endParaRPr>
          </a:p>
          <a:p>
            <a:pPr marL="698500" marR="5080" lvl="1" indent="-228600">
              <a:lnSpc>
                <a:spcPct val="100000"/>
              </a:lnSpc>
              <a:spcBef>
                <a:spcPts val="2030"/>
              </a:spcBef>
              <a:buFont typeface="Times New Roman"/>
              <a:buChar char="–"/>
              <a:tabLst>
                <a:tab pos="699135" algn="l"/>
              </a:tabLst>
            </a:pPr>
            <a:r>
              <a:rPr sz="2800" spc="-170" dirty="0">
                <a:latin typeface="Arial"/>
                <a:cs typeface="Arial"/>
              </a:rPr>
              <a:t>Manages </a:t>
            </a:r>
            <a:r>
              <a:rPr sz="2800" spc="-65" dirty="0">
                <a:latin typeface="Arial"/>
                <a:cs typeface="Arial"/>
              </a:rPr>
              <a:t>all </a:t>
            </a:r>
            <a:r>
              <a:rPr sz="2800" spc="-35" dirty="0">
                <a:latin typeface="Arial"/>
                <a:cs typeface="Arial"/>
              </a:rPr>
              <a:t>the </a:t>
            </a:r>
            <a:r>
              <a:rPr sz="2800" spc="-105" dirty="0">
                <a:latin typeface="Arial"/>
                <a:cs typeface="Arial"/>
              </a:rPr>
              <a:t>components </a:t>
            </a:r>
            <a:r>
              <a:rPr sz="2800" dirty="0">
                <a:latin typeface="Arial"/>
                <a:cs typeface="Arial"/>
              </a:rPr>
              <a:t>of </a:t>
            </a:r>
            <a:r>
              <a:rPr sz="2800" spc="-215" dirty="0">
                <a:latin typeface="Arial"/>
                <a:cs typeface="Arial"/>
              </a:rPr>
              <a:t>a </a:t>
            </a:r>
            <a:r>
              <a:rPr sz="2800" spc="-120" dirty="0">
                <a:latin typeface="Arial"/>
                <a:cs typeface="Arial"/>
              </a:rPr>
              <a:t>complex </a:t>
            </a:r>
            <a:r>
              <a:rPr sz="2800" spc="-70" dirty="0">
                <a:latin typeface="Arial"/>
                <a:cs typeface="Arial"/>
              </a:rPr>
              <a:t>computer  </a:t>
            </a:r>
            <a:r>
              <a:rPr sz="2800" spc="-140" dirty="0">
                <a:latin typeface="Arial"/>
                <a:cs typeface="Arial"/>
              </a:rPr>
              <a:t>system </a:t>
            </a:r>
            <a:r>
              <a:rPr sz="2800" spc="-30" dirty="0">
                <a:latin typeface="Arial"/>
                <a:cs typeface="Arial"/>
              </a:rPr>
              <a:t>in </a:t>
            </a:r>
            <a:r>
              <a:rPr sz="2800" spc="-150" dirty="0">
                <a:latin typeface="Arial"/>
                <a:cs typeface="Arial"/>
              </a:rPr>
              <a:t>an </a:t>
            </a:r>
            <a:r>
              <a:rPr sz="2800" spc="-60" dirty="0">
                <a:latin typeface="Arial"/>
                <a:cs typeface="Arial"/>
              </a:rPr>
              <a:t>integrated</a:t>
            </a:r>
            <a:r>
              <a:rPr sz="2800" spc="-335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manner.</a:t>
            </a:r>
            <a:endParaRPr sz="2800" dirty="0">
              <a:latin typeface="Arial"/>
              <a:cs typeface="Arial"/>
            </a:endParaRPr>
          </a:p>
          <a:p>
            <a:pPr marL="698500" lvl="1" indent="-228600">
              <a:lnSpc>
                <a:spcPct val="100000"/>
              </a:lnSpc>
              <a:spcBef>
                <a:spcPts val="2000"/>
              </a:spcBef>
              <a:buFont typeface="Times New Roman"/>
              <a:buChar char="–"/>
              <a:tabLst>
                <a:tab pos="699135" algn="l"/>
                <a:tab pos="2088514" algn="l"/>
                <a:tab pos="2747010" algn="l"/>
                <a:tab pos="4342130" algn="l"/>
                <a:tab pos="4814570" algn="l"/>
                <a:tab pos="5619750" algn="l"/>
                <a:tab pos="7177405" algn="l"/>
                <a:tab pos="7900034" algn="l"/>
              </a:tabLst>
            </a:pPr>
            <a:r>
              <a:rPr sz="2800" spc="-535" dirty="0">
                <a:latin typeface="Arial"/>
                <a:cs typeface="Arial"/>
              </a:rPr>
              <a:t>C</a:t>
            </a:r>
            <a:r>
              <a:rPr sz="2800" spc="-10" dirty="0">
                <a:latin typeface="Arial"/>
                <a:cs typeface="Arial"/>
              </a:rPr>
              <a:t>ontro</a:t>
            </a:r>
            <a:r>
              <a:rPr sz="2800" spc="-25" dirty="0">
                <a:latin typeface="Arial"/>
                <a:cs typeface="Arial"/>
              </a:rPr>
              <a:t>l</a:t>
            </a:r>
            <a:r>
              <a:rPr sz="2800" spc="-305" dirty="0">
                <a:latin typeface="Arial"/>
                <a:cs typeface="Arial"/>
              </a:rPr>
              <a:t>s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25" dirty="0">
                <a:latin typeface="Arial"/>
                <a:cs typeface="Arial"/>
              </a:rPr>
              <a:t>t</a:t>
            </a:r>
            <a:r>
              <a:rPr sz="2800" spc="35" dirty="0">
                <a:latin typeface="Arial"/>
                <a:cs typeface="Arial"/>
              </a:rPr>
              <a:t>h</a:t>
            </a:r>
            <a:r>
              <a:rPr sz="2800" spc="-165" dirty="0">
                <a:latin typeface="Arial"/>
                <a:cs typeface="Arial"/>
              </a:rPr>
              <a:t>e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85" dirty="0">
                <a:latin typeface="Arial"/>
                <a:cs typeface="Arial"/>
              </a:rPr>
              <a:t>exe</a:t>
            </a:r>
            <a:r>
              <a:rPr sz="2800" spc="-190" dirty="0">
                <a:latin typeface="Arial"/>
                <a:cs typeface="Arial"/>
              </a:rPr>
              <a:t>c</a:t>
            </a:r>
            <a:r>
              <a:rPr sz="2800" spc="-100" dirty="0">
                <a:latin typeface="Arial"/>
                <a:cs typeface="Arial"/>
              </a:rPr>
              <a:t>u</a:t>
            </a:r>
            <a:r>
              <a:rPr sz="2800" spc="5" dirty="0">
                <a:latin typeface="Arial"/>
                <a:cs typeface="Arial"/>
              </a:rPr>
              <a:t>tion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5" dirty="0">
                <a:latin typeface="Arial"/>
                <a:cs typeface="Arial"/>
              </a:rPr>
              <a:t>o</a:t>
            </a:r>
            <a:r>
              <a:rPr sz="2800" dirty="0">
                <a:latin typeface="Arial"/>
                <a:cs typeface="Arial"/>
              </a:rPr>
              <a:t>f	</a:t>
            </a:r>
            <a:r>
              <a:rPr sz="2800" spc="-100" dirty="0">
                <a:latin typeface="Arial"/>
                <a:cs typeface="Arial"/>
              </a:rPr>
              <a:t>u</a:t>
            </a:r>
            <a:r>
              <a:rPr sz="2800" spc="-165" dirty="0">
                <a:latin typeface="Arial"/>
                <a:cs typeface="Arial"/>
              </a:rPr>
              <a:t>se</a:t>
            </a:r>
            <a:r>
              <a:rPr sz="2800" spc="-100" dirty="0">
                <a:latin typeface="Arial"/>
                <a:cs typeface="Arial"/>
              </a:rPr>
              <a:t>r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00" dirty="0">
                <a:latin typeface="Arial"/>
                <a:cs typeface="Arial"/>
              </a:rPr>
              <a:t>p</a:t>
            </a:r>
            <a:r>
              <a:rPr sz="2800" spc="-15" dirty="0">
                <a:latin typeface="Arial"/>
                <a:cs typeface="Arial"/>
              </a:rPr>
              <a:t>ro</a:t>
            </a:r>
            <a:r>
              <a:rPr sz="2800" spc="-105" dirty="0">
                <a:latin typeface="Arial"/>
                <a:cs typeface="Arial"/>
              </a:rPr>
              <a:t>gra</a:t>
            </a:r>
            <a:r>
              <a:rPr sz="2800" spc="-220" dirty="0">
                <a:latin typeface="Arial"/>
                <a:cs typeface="Arial"/>
              </a:rPr>
              <a:t>m</a:t>
            </a:r>
            <a:r>
              <a:rPr sz="2800" spc="-305" dirty="0">
                <a:latin typeface="Arial"/>
                <a:cs typeface="Arial"/>
              </a:rPr>
              <a:t>s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50" dirty="0">
                <a:latin typeface="Arial"/>
                <a:cs typeface="Arial"/>
              </a:rPr>
              <a:t>a</a:t>
            </a:r>
            <a:r>
              <a:rPr sz="2800" spc="-165" dirty="0">
                <a:latin typeface="Arial"/>
                <a:cs typeface="Arial"/>
              </a:rPr>
              <a:t>n</a:t>
            </a:r>
            <a:r>
              <a:rPr sz="2800" spc="-85" dirty="0">
                <a:latin typeface="Arial"/>
                <a:cs typeface="Arial"/>
              </a:rPr>
              <a:t>d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90" dirty="0">
                <a:latin typeface="Arial"/>
                <a:cs typeface="Arial"/>
              </a:rPr>
              <a:t>I</a:t>
            </a:r>
            <a:r>
              <a:rPr sz="2800" spc="-15" dirty="0">
                <a:latin typeface="Arial"/>
                <a:cs typeface="Arial"/>
              </a:rPr>
              <a:t>/O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49223" y="3629914"/>
            <a:ext cx="7693659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311275" algn="l"/>
                <a:tab pos="1844675" algn="l"/>
                <a:tab pos="3201670" algn="l"/>
                <a:tab pos="4305300" algn="l"/>
                <a:tab pos="5073650" algn="l"/>
                <a:tab pos="6652895" algn="l"/>
                <a:tab pos="7381875" algn="l"/>
              </a:tabLst>
            </a:pPr>
            <a:r>
              <a:rPr sz="2800" spc="-100" dirty="0">
                <a:latin typeface="Arial"/>
                <a:cs typeface="Arial"/>
              </a:rPr>
              <a:t>d</a:t>
            </a:r>
            <a:r>
              <a:rPr sz="2800" spc="-120" dirty="0">
                <a:latin typeface="Arial"/>
                <a:cs typeface="Arial"/>
              </a:rPr>
              <a:t>evi</a:t>
            </a:r>
            <a:r>
              <a:rPr sz="2800" spc="-155" dirty="0">
                <a:latin typeface="Arial"/>
                <a:cs typeface="Arial"/>
              </a:rPr>
              <a:t>c</a:t>
            </a:r>
            <a:r>
              <a:rPr sz="2800" spc="-235" dirty="0">
                <a:latin typeface="Arial"/>
                <a:cs typeface="Arial"/>
              </a:rPr>
              <a:t>es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20" dirty="0">
                <a:latin typeface="Arial"/>
                <a:cs typeface="Arial"/>
              </a:rPr>
              <a:t>t</a:t>
            </a:r>
            <a:r>
              <a:rPr sz="2800" spc="55" dirty="0">
                <a:latin typeface="Arial"/>
                <a:cs typeface="Arial"/>
              </a:rPr>
              <a:t>o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00" dirty="0">
                <a:latin typeface="Arial"/>
                <a:cs typeface="Arial"/>
              </a:rPr>
              <a:t>p</a:t>
            </a:r>
            <a:r>
              <a:rPr sz="2800" spc="-95" dirty="0">
                <a:latin typeface="Arial"/>
                <a:cs typeface="Arial"/>
              </a:rPr>
              <a:t>reve</a:t>
            </a:r>
            <a:r>
              <a:rPr sz="2800" spc="-130" dirty="0">
                <a:latin typeface="Arial"/>
                <a:cs typeface="Arial"/>
              </a:rPr>
              <a:t>n</a:t>
            </a:r>
            <a:r>
              <a:rPr sz="2800" spc="160" dirty="0">
                <a:latin typeface="Arial"/>
                <a:cs typeface="Arial"/>
              </a:rPr>
              <a:t>t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35" dirty="0">
                <a:latin typeface="Arial"/>
                <a:cs typeface="Arial"/>
              </a:rPr>
              <a:t>erro</a:t>
            </a:r>
            <a:r>
              <a:rPr sz="2800" spc="25" dirty="0">
                <a:latin typeface="Arial"/>
                <a:cs typeface="Arial"/>
              </a:rPr>
              <a:t>r</a:t>
            </a:r>
            <a:r>
              <a:rPr sz="2800" spc="-305" dirty="0">
                <a:latin typeface="Arial"/>
                <a:cs typeface="Arial"/>
              </a:rPr>
              <a:t>s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30" dirty="0">
                <a:latin typeface="Arial"/>
                <a:cs typeface="Arial"/>
              </a:rPr>
              <a:t>and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50" dirty="0">
                <a:latin typeface="Arial"/>
                <a:cs typeface="Arial"/>
              </a:rPr>
              <a:t>im</a:t>
            </a:r>
            <a:r>
              <a:rPr sz="2800" spc="-75" dirty="0">
                <a:latin typeface="Arial"/>
                <a:cs typeface="Arial"/>
              </a:rPr>
              <a:t>p</a:t>
            </a:r>
            <a:r>
              <a:rPr sz="2800" spc="-15" dirty="0">
                <a:latin typeface="Arial"/>
                <a:cs typeface="Arial"/>
              </a:rPr>
              <a:t>ro</a:t>
            </a:r>
            <a:r>
              <a:rPr sz="2800" spc="-100" dirty="0">
                <a:latin typeface="Arial"/>
                <a:cs typeface="Arial"/>
              </a:rPr>
              <a:t>p</a:t>
            </a:r>
            <a:r>
              <a:rPr sz="2800" spc="-60" dirty="0">
                <a:latin typeface="Arial"/>
                <a:cs typeface="Arial"/>
              </a:rPr>
              <a:t>er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00" dirty="0">
                <a:latin typeface="Arial"/>
                <a:cs typeface="Arial"/>
              </a:rPr>
              <a:t>u</a:t>
            </a:r>
            <a:r>
              <a:rPr sz="2800" spc="-225" dirty="0">
                <a:latin typeface="Arial"/>
                <a:cs typeface="Arial"/>
              </a:rPr>
              <a:t>s</a:t>
            </a:r>
            <a:r>
              <a:rPr sz="2800" spc="-245" dirty="0">
                <a:latin typeface="Arial"/>
                <a:cs typeface="Arial"/>
              </a:rPr>
              <a:t>e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5" dirty="0">
                <a:latin typeface="Arial"/>
                <a:cs typeface="Arial"/>
              </a:rPr>
              <a:t>of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0623" y="3804549"/>
            <a:ext cx="7919084" cy="1385570"/>
          </a:xfrm>
          <a:prstGeom prst="rect">
            <a:avLst/>
          </a:prstGeom>
        </p:spPr>
        <p:txBody>
          <a:bodyPr vert="horz" wrap="square" lIns="0" tIns="26543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2090"/>
              </a:spcBef>
            </a:pPr>
            <a:r>
              <a:rPr sz="2800" spc="-70" dirty="0">
                <a:latin typeface="Arial"/>
                <a:cs typeface="Arial"/>
              </a:rPr>
              <a:t>computer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resources.</a:t>
            </a:r>
            <a:endParaRPr sz="2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95"/>
              </a:spcBef>
              <a:tabLst>
                <a:tab pos="1262380" algn="l"/>
                <a:tab pos="2103755" algn="l"/>
                <a:tab pos="2841625" algn="l"/>
                <a:tab pos="4237990" algn="l"/>
                <a:tab pos="4918075" algn="l"/>
                <a:tab pos="6622415" algn="l"/>
              </a:tabLst>
            </a:pPr>
            <a:r>
              <a:rPr sz="2800" spc="5" dirty="0">
                <a:latin typeface="Times New Roman"/>
                <a:cs typeface="Times New Roman"/>
              </a:rPr>
              <a:t>–</a:t>
            </a:r>
            <a:r>
              <a:rPr sz="2800" spc="-310" dirty="0">
                <a:latin typeface="Times New Roman"/>
                <a:cs typeface="Times New Roman"/>
              </a:rPr>
              <a:t> </a:t>
            </a:r>
            <a:r>
              <a:rPr sz="2800" spc="-185" dirty="0">
                <a:latin typeface="Arial"/>
                <a:cs typeface="Arial"/>
              </a:rPr>
              <a:t>Lo</a:t>
            </a:r>
            <a:r>
              <a:rPr sz="2800" spc="-180" dirty="0">
                <a:latin typeface="Arial"/>
                <a:cs typeface="Arial"/>
              </a:rPr>
              <a:t>o</a:t>
            </a:r>
            <a:r>
              <a:rPr sz="2800" spc="-215" dirty="0">
                <a:latin typeface="Arial"/>
                <a:cs typeface="Arial"/>
              </a:rPr>
              <a:t>ks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14" dirty="0">
                <a:latin typeface="Arial"/>
                <a:cs typeface="Arial"/>
              </a:rPr>
              <a:t>o</a:t>
            </a:r>
            <a:r>
              <a:rPr sz="2800" spc="-100" dirty="0">
                <a:latin typeface="Arial"/>
                <a:cs typeface="Arial"/>
              </a:rPr>
              <a:t>v</a:t>
            </a:r>
            <a:r>
              <a:rPr sz="2800" spc="-190" dirty="0">
                <a:latin typeface="Arial"/>
                <a:cs typeface="Arial"/>
              </a:rPr>
              <a:t>e</a:t>
            </a:r>
            <a:r>
              <a:rPr sz="2800" spc="45" dirty="0">
                <a:latin typeface="Arial"/>
                <a:cs typeface="Arial"/>
              </a:rPr>
              <a:t>r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50" dirty="0">
                <a:latin typeface="Arial"/>
                <a:cs typeface="Arial"/>
              </a:rPr>
              <a:t>a</a:t>
            </a:r>
            <a:r>
              <a:rPr sz="2800" spc="-165" dirty="0">
                <a:latin typeface="Arial"/>
                <a:cs typeface="Arial"/>
              </a:rPr>
              <a:t>n</a:t>
            </a:r>
            <a:r>
              <a:rPr sz="2800" spc="-85" dirty="0">
                <a:latin typeface="Arial"/>
                <a:cs typeface="Arial"/>
              </a:rPr>
              <a:t>d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00" dirty="0">
                <a:latin typeface="Arial"/>
                <a:cs typeface="Arial"/>
              </a:rPr>
              <a:t>p</a:t>
            </a:r>
            <a:r>
              <a:rPr sz="2800" spc="-15" dirty="0">
                <a:latin typeface="Arial"/>
                <a:cs typeface="Arial"/>
              </a:rPr>
              <a:t>ro</a:t>
            </a:r>
            <a:r>
              <a:rPr sz="2800" dirty="0">
                <a:latin typeface="Arial"/>
                <a:cs typeface="Arial"/>
              </a:rPr>
              <a:t>t</a:t>
            </a:r>
            <a:r>
              <a:rPr sz="2800" spc="-15" dirty="0">
                <a:latin typeface="Arial"/>
                <a:cs typeface="Arial"/>
              </a:rPr>
              <a:t>e</a:t>
            </a:r>
            <a:r>
              <a:rPr sz="2800" spc="-229" dirty="0">
                <a:latin typeface="Arial"/>
                <a:cs typeface="Arial"/>
              </a:rPr>
              <a:t>c</a:t>
            </a:r>
            <a:r>
              <a:rPr sz="2800" spc="-70" dirty="0">
                <a:latin typeface="Arial"/>
                <a:cs typeface="Arial"/>
              </a:rPr>
              <a:t>ts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175" dirty="0">
                <a:latin typeface="Arial"/>
                <a:cs typeface="Arial"/>
              </a:rPr>
              <a:t>t</a:t>
            </a:r>
            <a:r>
              <a:rPr sz="2800" spc="-100" dirty="0">
                <a:latin typeface="Arial"/>
                <a:cs typeface="Arial"/>
              </a:rPr>
              <a:t>h</a:t>
            </a:r>
            <a:r>
              <a:rPr sz="2800" spc="-160" dirty="0">
                <a:latin typeface="Arial"/>
                <a:cs typeface="Arial"/>
              </a:rPr>
              <a:t>e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229" dirty="0">
                <a:latin typeface="Arial"/>
                <a:cs typeface="Arial"/>
              </a:rPr>
              <a:t>c</a:t>
            </a:r>
            <a:r>
              <a:rPr sz="2800" spc="-45" dirty="0">
                <a:latin typeface="Arial"/>
                <a:cs typeface="Arial"/>
              </a:rPr>
              <a:t>ompu</a:t>
            </a:r>
            <a:r>
              <a:rPr sz="2800" spc="-35" dirty="0">
                <a:latin typeface="Arial"/>
                <a:cs typeface="Arial"/>
              </a:rPr>
              <a:t>t</a:t>
            </a:r>
            <a:r>
              <a:rPr sz="2800" spc="-60" dirty="0">
                <a:latin typeface="Arial"/>
                <a:cs typeface="Arial"/>
              </a:rPr>
              <a:t>er</a:t>
            </a:r>
            <a:r>
              <a:rPr sz="2800" spc="-30" dirty="0">
                <a:latin typeface="Arial"/>
                <a:cs typeface="Arial"/>
              </a:rPr>
              <a:t>: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20" dirty="0">
                <a:latin typeface="Arial"/>
                <a:cs typeface="Arial"/>
              </a:rPr>
              <a:t>Moni</a:t>
            </a:r>
            <a:r>
              <a:rPr sz="2800" spc="-5" dirty="0">
                <a:latin typeface="Arial"/>
                <a:cs typeface="Arial"/>
              </a:rPr>
              <a:t>t</a:t>
            </a:r>
            <a:r>
              <a:rPr sz="2800" spc="-25" dirty="0">
                <a:latin typeface="Arial"/>
                <a:cs typeface="Arial"/>
              </a:rPr>
              <a:t>o</a:t>
            </a:r>
            <a:r>
              <a:rPr sz="2800" spc="-10" dirty="0">
                <a:latin typeface="Arial"/>
                <a:cs typeface="Arial"/>
              </a:rPr>
              <a:t>r</a:t>
            </a:r>
            <a:r>
              <a:rPr sz="2800" spc="-80" dirty="0">
                <a:latin typeface="Arial"/>
                <a:cs typeface="Arial"/>
              </a:rPr>
              <a:t>,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49223" y="5163692"/>
            <a:ext cx="7691120" cy="13189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2268220" algn="l"/>
                <a:tab pos="4372610" algn="l"/>
                <a:tab pos="6552565" algn="l"/>
              </a:tabLst>
            </a:pPr>
            <a:r>
              <a:rPr sz="2800" spc="-260" dirty="0">
                <a:latin typeface="Arial"/>
                <a:cs typeface="Arial"/>
              </a:rPr>
              <a:t>Su</a:t>
            </a:r>
            <a:r>
              <a:rPr sz="2800" spc="-254" dirty="0">
                <a:latin typeface="Arial"/>
                <a:cs typeface="Arial"/>
              </a:rPr>
              <a:t>p</a:t>
            </a:r>
            <a:r>
              <a:rPr sz="2800" spc="-105" dirty="0">
                <a:latin typeface="Arial"/>
                <a:cs typeface="Arial"/>
              </a:rPr>
              <a:t>ervi</a:t>
            </a:r>
            <a:r>
              <a:rPr sz="2800" spc="-140" dirty="0">
                <a:latin typeface="Arial"/>
                <a:cs typeface="Arial"/>
              </a:rPr>
              <a:t>s</a:t>
            </a:r>
            <a:r>
              <a:rPr sz="2800" spc="-25" dirty="0">
                <a:latin typeface="Arial"/>
                <a:cs typeface="Arial"/>
              </a:rPr>
              <a:t>o</a:t>
            </a:r>
            <a:r>
              <a:rPr sz="2800" spc="-10" dirty="0">
                <a:latin typeface="Arial"/>
                <a:cs typeface="Arial"/>
              </a:rPr>
              <a:t>r</a:t>
            </a:r>
            <a:r>
              <a:rPr sz="2800" spc="-80" dirty="0">
                <a:latin typeface="Arial"/>
                <a:cs typeface="Arial"/>
              </a:rPr>
              <a:t>,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280" dirty="0">
                <a:latin typeface="Arial"/>
                <a:cs typeface="Arial"/>
              </a:rPr>
              <a:t>Exe</a:t>
            </a:r>
            <a:r>
              <a:rPr sz="2800" spc="-254" dirty="0">
                <a:latin typeface="Arial"/>
                <a:cs typeface="Arial"/>
              </a:rPr>
              <a:t>c</a:t>
            </a:r>
            <a:r>
              <a:rPr sz="2800" spc="45" dirty="0">
                <a:latin typeface="Arial"/>
                <a:cs typeface="Arial"/>
              </a:rPr>
              <a:t>u</a:t>
            </a:r>
            <a:r>
              <a:rPr sz="2800" spc="10" dirty="0">
                <a:latin typeface="Arial"/>
                <a:cs typeface="Arial"/>
              </a:rPr>
              <a:t>t</a:t>
            </a:r>
            <a:r>
              <a:rPr sz="2800" spc="-90" dirty="0">
                <a:latin typeface="Arial"/>
                <a:cs typeface="Arial"/>
              </a:rPr>
              <a:t>ive,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535" dirty="0">
                <a:latin typeface="Arial"/>
                <a:cs typeface="Arial"/>
              </a:rPr>
              <a:t>C</a:t>
            </a:r>
            <a:r>
              <a:rPr sz="2800" spc="-10" dirty="0">
                <a:latin typeface="Arial"/>
                <a:cs typeface="Arial"/>
              </a:rPr>
              <a:t>ontro</a:t>
            </a:r>
            <a:r>
              <a:rPr sz="2800" spc="-25" dirty="0">
                <a:latin typeface="Arial"/>
                <a:cs typeface="Arial"/>
              </a:rPr>
              <a:t>l</a:t>
            </a:r>
            <a:r>
              <a:rPr sz="2800" spc="-45" dirty="0">
                <a:latin typeface="Arial"/>
                <a:cs typeface="Arial"/>
              </a:rPr>
              <a:t>ler,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65" dirty="0">
                <a:latin typeface="Arial"/>
                <a:cs typeface="Arial"/>
              </a:rPr>
              <a:t>Master  </a:t>
            </a:r>
            <a:r>
              <a:rPr sz="2800" spc="-80" dirty="0">
                <a:latin typeface="Arial"/>
                <a:cs typeface="Arial"/>
              </a:rPr>
              <a:t>Coordinator</a:t>
            </a:r>
            <a:endParaRPr lang="en-US" sz="2800" spc="-80" dirty="0">
              <a:latin typeface="Arial"/>
              <a:cs typeface="Arial"/>
            </a:endParaRPr>
          </a:p>
          <a:p>
            <a:pPr marL="469900" marR="5080" indent="-45720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2268220" algn="l"/>
                <a:tab pos="4372610" algn="l"/>
                <a:tab pos="6552565" algn="l"/>
              </a:tabLst>
            </a:pPr>
            <a:r>
              <a:rPr lang="en-US" sz="2800" dirty="0">
                <a:latin typeface="Arial"/>
                <a:cs typeface="Arial"/>
              </a:rPr>
              <a:t>Sort of a black box view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40445" y="0"/>
            <a:ext cx="927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iAcademy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22859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4572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644639"/>
            <a:ext cx="9144000" cy="213360"/>
          </a:xfrm>
          <a:custGeom>
            <a:avLst/>
            <a:gdLst/>
            <a:ahLst/>
            <a:cxnLst/>
            <a:rect l="l" t="t" r="r" b="b"/>
            <a:pathLst>
              <a:path w="9144000" h="213359">
                <a:moveTo>
                  <a:pt x="0" y="213359"/>
                </a:moveTo>
                <a:lnTo>
                  <a:pt x="9144000" y="213359"/>
                </a:lnTo>
                <a:lnTo>
                  <a:pt x="9144000" y="0"/>
                </a:lnTo>
                <a:lnTo>
                  <a:pt x="0" y="0"/>
                </a:lnTo>
                <a:lnTo>
                  <a:pt x="0" y="21335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13103" y="6822947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70104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105" dirty="0"/>
              <a:t>iAcademy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63118" y="1351610"/>
            <a:ext cx="7160895" cy="3921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95"/>
              </a:spcBef>
              <a:buFont typeface="Times New Roman"/>
              <a:buChar char="•"/>
              <a:tabLst>
                <a:tab pos="356870" algn="l"/>
                <a:tab pos="357505" algn="l"/>
              </a:tabLst>
            </a:pPr>
            <a:r>
              <a:rPr sz="3200" spc="-100" dirty="0">
                <a:latin typeface="Arial"/>
                <a:cs typeface="Arial"/>
              </a:rPr>
              <a:t>Control </a:t>
            </a:r>
            <a:r>
              <a:rPr sz="3200" spc="-165" dirty="0">
                <a:latin typeface="Arial"/>
                <a:cs typeface="Arial"/>
              </a:rPr>
              <a:t>Program </a:t>
            </a:r>
            <a:r>
              <a:rPr sz="3200" spc="-55" dirty="0">
                <a:latin typeface="Arial"/>
                <a:cs typeface="Arial"/>
              </a:rPr>
              <a:t>oriented </a:t>
            </a:r>
            <a:r>
              <a:rPr sz="3200" spc="-525" dirty="0">
                <a:latin typeface="Arial"/>
                <a:cs typeface="Arial"/>
              </a:rPr>
              <a:t>OS</a:t>
            </a:r>
            <a:r>
              <a:rPr sz="3200" spc="-225" dirty="0">
                <a:latin typeface="Arial"/>
                <a:cs typeface="Arial"/>
              </a:rPr>
              <a:t> </a:t>
            </a:r>
            <a:r>
              <a:rPr sz="3200" spc="-100" dirty="0">
                <a:latin typeface="Arial"/>
                <a:cs typeface="Arial"/>
              </a:rPr>
              <a:t>lists</a:t>
            </a:r>
            <a:endParaRPr sz="3200" dirty="0">
              <a:latin typeface="Arial"/>
              <a:cs typeface="Arial"/>
            </a:endParaRPr>
          </a:p>
          <a:p>
            <a:pPr marL="698500" lvl="1" indent="-228600">
              <a:lnSpc>
                <a:spcPct val="100000"/>
              </a:lnSpc>
              <a:spcBef>
                <a:spcPts val="2030"/>
              </a:spcBef>
              <a:buFont typeface="Times New Roman"/>
              <a:buChar char="–"/>
              <a:tabLst>
                <a:tab pos="699135" algn="l"/>
              </a:tabLst>
            </a:pPr>
            <a:r>
              <a:rPr sz="2800" spc="-175" dirty="0">
                <a:latin typeface="Arial"/>
                <a:cs typeface="Arial"/>
              </a:rPr>
              <a:t>Unisys </a:t>
            </a:r>
            <a:r>
              <a:rPr sz="2800" spc="-295" dirty="0">
                <a:latin typeface="Arial"/>
                <a:cs typeface="Arial"/>
              </a:rPr>
              <a:t>MCP </a:t>
            </a:r>
            <a:r>
              <a:rPr sz="2800" spc="-160" dirty="0">
                <a:latin typeface="Arial"/>
                <a:cs typeface="Arial"/>
              </a:rPr>
              <a:t>– </a:t>
            </a:r>
            <a:r>
              <a:rPr sz="2800" spc="-70" dirty="0">
                <a:latin typeface="Arial"/>
                <a:cs typeface="Arial"/>
              </a:rPr>
              <a:t>Master </a:t>
            </a:r>
            <a:r>
              <a:rPr sz="2800" spc="-80" dirty="0">
                <a:latin typeface="Arial"/>
                <a:cs typeface="Arial"/>
              </a:rPr>
              <a:t>Control</a:t>
            </a:r>
            <a:r>
              <a:rPr sz="2800" spc="-540" dirty="0">
                <a:latin typeface="Arial"/>
                <a:cs typeface="Arial"/>
              </a:rPr>
              <a:t> </a:t>
            </a:r>
            <a:r>
              <a:rPr sz="2800" spc="-135" dirty="0">
                <a:latin typeface="Arial"/>
                <a:cs typeface="Arial"/>
              </a:rPr>
              <a:t>Program</a:t>
            </a:r>
            <a:endParaRPr sz="2800" dirty="0">
              <a:latin typeface="Arial"/>
              <a:cs typeface="Arial"/>
            </a:endParaRPr>
          </a:p>
          <a:p>
            <a:pPr marL="698500" lvl="1" indent="-228600">
              <a:lnSpc>
                <a:spcPct val="100000"/>
              </a:lnSpc>
              <a:spcBef>
                <a:spcPts val="1995"/>
              </a:spcBef>
              <a:buFont typeface="Times New Roman"/>
              <a:buChar char="–"/>
              <a:tabLst>
                <a:tab pos="699135" algn="l"/>
              </a:tabLst>
            </a:pPr>
            <a:r>
              <a:rPr sz="2800" spc="-400" dirty="0">
                <a:latin typeface="Arial"/>
                <a:cs typeface="Arial"/>
              </a:rPr>
              <a:t>DR </a:t>
            </a:r>
            <a:r>
              <a:rPr sz="2800" spc="-150" dirty="0">
                <a:latin typeface="Arial"/>
                <a:cs typeface="Arial"/>
              </a:rPr>
              <a:t>CP/M </a:t>
            </a:r>
            <a:r>
              <a:rPr sz="2800" spc="-160" dirty="0">
                <a:latin typeface="Arial"/>
                <a:cs typeface="Arial"/>
              </a:rPr>
              <a:t>– </a:t>
            </a:r>
            <a:r>
              <a:rPr sz="2800" spc="-80" dirty="0">
                <a:latin typeface="Arial"/>
                <a:cs typeface="Arial"/>
              </a:rPr>
              <a:t>Control</a:t>
            </a:r>
            <a:r>
              <a:rPr sz="2800" spc="-265" dirty="0">
                <a:latin typeface="Arial"/>
                <a:cs typeface="Arial"/>
              </a:rPr>
              <a:t> </a:t>
            </a:r>
            <a:r>
              <a:rPr sz="2800" spc="-70" dirty="0">
                <a:latin typeface="Arial"/>
                <a:cs typeface="Arial"/>
              </a:rPr>
              <a:t>Program/Microcomputer</a:t>
            </a:r>
            <a:endParaRPr sz="2800" dirty="0">
              <a:latin typeface="Arial"/>
              <a:cs typeface="Arial"/>
            </a:endParaRPr>
          </a:p>
          <a:p>
            <a:pPr marL="698500" lvl="1" indent="-228600">
              <a:lnSpc>
                <a:spcPct val="100000"/>
              </a:lnSpc>
              <a:spcBef>
                <a:spcPts val="1995"/>
              </a:spcBef>
              <a:buFont typeface="Times New Roman"/>
              <a:buChar char="–"/>
              <a:tabLst>
                <a:tab pos="699135" algn="l"/>
              </a:tabLst>
            </a:pPr>
            <a:r>
              <a:rPr sz="2800" spc="-120" dirty="0">
                <a:latin typeface="Arial"/>
                <a:cs typeface="Arial"/>
              </a:rPr>
              <a:t>IBM </a:t>
            </a:r>
            <a:r>
              <a:rPr sz="2800" spc="-175" dirty="0">
                <a:latin typeface="Arial"/>
                <a:cs typeface="Arial"/>
              </a:rPr>
              <a:t>VM/CP </a:t>
            </a:r>
            <a:r>
              <a:rPr sz="2800" spc="-160" dirty="0">
                <a:latin typeface="Arial"/>
                <a:cs typeface="Arial"/>
              </a:rPr>
              <a:t>– </a:t>
            </a:r>
            <a:r>
              <a:rPr sz="2800" spc="-110" dirty="0">
                <a:latin typeface="Arial"/>
                <a:cs typeface="Arial"/>
              </a:rPr>
              <a:t>VM </a:t>
            </a:r>
            <a:r>
              <a:rPr sz="2800" spc="-80" dirty="0">
                <a:latin typeface="Arial"/>
                <a:cs typeface="Arial"/>
              </a:rPr>
              <a:t>Control</a:t>
            </a:r>
            <a:r>
              <a:rPr sz="2800" spc="-185" dirty="0">
                <a:latin typeface="Arial"/>
                <a:cs typeface="Arial"/>
              </a:rPr>
              <a:t> </a:t>
            </a:r>
            <a:r>
              <a:rPr sz="2800" spc="-135" dirty="0">
                <a:latin typeface="Arial"/>
                <a:cs typeface="Arial"/>
              </a:rPr>
              <a:t>Program</a:t>
            </a:r>
            <a:endParaRPr sz="2800" dirty="0">
              <a:latin typeface="Arial"/>
              <a:cs typeface="Arial"/>
            </a:endParaRPr>
          </a:p>
          <a:p>
            <a:pPr marL="698500" lvl="1" indent="-228600">
              <a:lnSpc>
                <a:spcPct val="100000"/>
              </a:lnSpc>
              <a:spcBef>
                <a:spcPts val="2020"/>
              </a:spcBef>
              <a:buFont typeface="Times New Roman"/>
              <a:buChar char="–"/>
              <a:tabLst>
                <a:tab pos="699135" algn="l"/>
              </a:tabLst>
            </a:pPr>
            <a:r>
              <a:rPr sz="2800" spc="-120" dirty="0">
                <a:latin typeface="Arial"/>
                <a:cs typeface="Arial"/>
              </a:rPr>
              <a:t>IBM </a:t>
            </a:r>
            <a:r>
              <a:rPr sz="2800" spc="-245" dirty="0">
                <a:latin typeface="Arial"/>
                <a:cs typeface="Arial"/>
              </a:rPr>
              <a:t>AIX </a:t>
            </a:r>
            <a:r>
              <a:rPr sz="2800" spc="-160" dirty="0">
                <a:latin typeface="Arial"/>
                <a:cs typeface="Arial"/>
              </a:rPr>
              <a:t>– </a:t>
            </a:r>
            <a:r>
              <a:rPr sz="2800" spc="-155" dirty="0">
                <a:latin typeface="Arial"/>
                <a:cs typeface="Arial"/>
              </a:rPr>
              <a:t>Advanced </a:t>
            </a:r>
            <a:r>
              <a:rPr sz="2800" spc="-65" dirty="0">
                <a:latin typeface="Arial"/>
                <a:cs typeface="Arial"/>
              </a:rPr>
              <a:t>Interactive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eXecutive</a:t>
            </a:r>
            <a:endParaRPr sz="2800" dirty="0">
              <a:latin typeface="Arial"/>
              <a:cs typeface="Arial"/>
            </a:endParaRPr>
          </a:p>
          <a:p>
            <a:pPr marL="698500" lvl="1" indent="-228600">
              <a:lnSpc>
                <a:spcPct val="100000"/>
              </a:lnSpc>
              <a:spcBef>
                <a:spcPts val="1995"/>
              </a:spcBef>
              <a:buFont typeface="Times New Roman"/>
              <a:buChar char="–"/>
              <a:tabLst>
                <a:tab pos="699135" algn="l"/>
              </a:tabLst>
            </a:pPr>
            <a:r>
              <a:rPr sz="2800" spc="-445" dirty="0">
                <a:latin typeface="Arial"/>
                <a:cs typeface="Arial"/>
              </a:rPr>
              <a:t>DEC </a:t>
            </a:r>
            <a:r>
              <a:rPr sz="2800" spc="-495" dirty="0">
                <a:latin typeface="Arial"/>
                <a:cs typeface="Arial"/>
              </a:rPr>
              <a:t>RSX </a:t>
            </a:r>
            <a:r>
              <a:rPr sz="2800" spc="-160" dirty="0">
                <a:latin typeface="Arial"/>
                <a:cs typeface="Arial"/>
              </a:rPr>
              <a:t>– </a:t>
            </a:r>
            <a:r>
              <a:rPr sz="2800" spc="-185" dirty="0">
                <a:latin typeface="Arial"/>
                <a:cs typeface="Arial"/>
              </a:rPr>
              <a:t>Resource </a:t>
            </a:r>
            <a:r>
              <a:rPr sz="2800" spc="-170" dirty="0">
                <a:latin typeface="Arial"/>
                <a:cs typeface="Arial"/>
              </a:rPr>
              <a:t>Sharing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eXecutive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40445" y="0"/>
            <a:ext cx="927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iAcademy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22859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4572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644639"/>
            <a:ext cx="9144000" cy="213360"/>
          </a:xfrm>
          <a:custGeom>
            <a:avLst/>
            <a:gdLst/>
            <a:ahLst/>
            <a:cxnLst/>
            <a:rect l="l" t="t" r="r" b="b"/>
            <a:pathLst>
              <a:path w="9144000" h="213359">
                <a:moveTo>
                  <a:pt x="0" y="213359"/>
                </a:moveTo>
                <a:lnTo>
                  <a:pt x="9144000" y="213359"/>
                </a:lnTo>
                <a:lnTo>
                  <a:pt x="9144000" y="0"/>
                </a:lnTo>
                <a:lnTo>
                  <a:pt x="0" y="0"/>
                </a:lnTo>
                <a:lnTo>
                  <a:pt x="0" y="21335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13103" y="6822947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70104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105" dirty="0"/>
              <a:t>iAcademy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380365" y="488325"/>
            <a:ext cx="8383270" cy="4904726"/>
          </a:xfrm>
          <a:prstGeom prst="rect">
            <a:avLst/>
          </a:prstGeom>
        </p:spPr>
        <p:txBody>
          <a:bodyPr vert="horz" wrap="square" lIns="0" tIns="9993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95"/>
              </a:spcBef>
              <a:buFont typeface="Times New Roman"/>
              <a:buChar char="•"/>
              <a:tabLst>
                <a:tab pos="356870" algn="l"/>
                <a:tab pos="357505" algn="l"/>
              </a:tabLst>
            </a:pPr>
            <a:r>
              <a:rPr spc="-204" dirty="0"/>
              <a:t>Command</a:t>
            </a:r>
            <a:r>
              <a:rPr spc="-100" dirty="0"/>
              <a:t> </a:t>
            </a:r>
            <a:r>
              <a:rPr spc="-165" dirty="0"/>
              <a:t>Executer</a:t>
            </a:r>
          </a:p>
          <a:p>
            <a:pPr marL="698500" lvl="1" indent="-228600">
              <a:lnSpc>
                <a:spcPct val="100000"/>
              </a:lnSpc>
              <a:spcBef>
                <a:spcPts val="2030"/>
              </a:spcBef>
              <a:buFont typeface="Times New Roman"/>
              <a:buChar char="–"/>
              <a:tabLst>
                <a:tab pos="699135" algn="l"/>
              </a:tabLst>
            </a:pPr>
            <a:r>
              <a:rPr sz="2800" spc="-100" dirty="0">
                <a:latin typeface="Arial"/>
                <a:cs typeface="Arial"/>
              </a:rPr>
              <a:t>Interfaces </a:t>
            </a:r>
            <a:r>
              <a:rPr sz="2800" spc="-80" dirty="0">
                <a:latin typeface="Arial"/>
                <a:cs typeface="Arial"/>
              </a:rPr>
              <a:t>between </a:t>
            </a:r>
            <a:r>
              <a:rPr sz="2800" spc="-35" dirty="0">
                <a:latin typeface="Arial"/>
                <a:cs typeface="Arial"/>
              </a:rPr>
              <a:t>the </a:t>
            </a:r>
            <a:r>
              <a:rPr sz="2800" spc="-165" dirty="0">
                <a:latin typeface="Arial"/>
                <a:cs typeface="Arial"/>
              </a:rPr>
              <a:t>users </a:t>
            </a:r>
            <a:r>
              <a:rPr sz="2800" spc="-130" dirty="0">
                <a:latin typeface="Arial"/>
                <a:cs typeface="Arial"/>
              </a:rPr>
              <a:t>and</a:t>
            </a:r>
            <a:r>
              <a:rPr sz="2800" spc="-355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machine.</a:t>
            </a:r>
            <a:endParaRPr sz="2800" dirty="0">
              <a:latin typeface="Arial"/>
              <a:cs typeface="Arial"/>
            </a:endParaRPr>
          </a:p>
          <a:p>
            <a:pPr marL="698500" lvl="1" indent="-228600">
              <a:lnSpc>
                <a:spcPct val="100000"/>
              </a:lnSpc>
              <a:spcBef>
                <a:spcPts val="1995"/>
              </a:spcBef>
              <a:buFont typeface="Times New Roman"/>
              <a:buChar char="–"/>
              <a:tabLst>
                <a:tab pos="699135" algn="l"/>
              </a:tabLst>
            </a:pPr>
            <a:r>
              <a:rPr sz="2800" spc="-160" dirty="0">
                <a:latin typeface="Arial"/>
                <a:cs typeface="Arial"/>
              </a:rPr>
              <a:t>Supplies </a:t>
            </a:r>
            <a:r>
              <a:rPr sz="2800" spc="-60" dirty="0">
                <a:latin typeface="Arial"/>
                <a:cs typeface="Arial"/>
              </a:rPr>
              <a:t>services/utilities </a:t>
            </a:r>
            <a:r>
              <a:rPr sz="2800" spc="35" dirty="0">
                <a:latin typeface="Arial"/>
                <a:cs typeface="Arial"/>
              </a:rPr>
              <a:t>to</a:t>
            </a:r>
            <a:r>
              <a:rPr sz="2800" spc="-280" dirty="0">
                <a:latin typeface="Arial"/>
                <a:cs typeface="Arial"/>
              </a:rPr>
              <a:t> </a:t>
            </a:r>
            <a:r>
              <a:rPr sz="2800" spc="-150" dirty="0">
                <a:latin typeface="Arial"/>
                <a:cs typeface="Arial"/>
              </a:rPr>
              <a:t>users.</a:t>
            </a:r>
            <a:endParaRPr sz="2800" dirty="0">
              <a:latin typeface="Arial"/>
              <a:cs typeface="Arial"/>
            </a:endParaRPr>
          </a:p>
          <a:p>
            <a:pPr marL="698500" marR="5080" lvl="1" indent="-228600" algn="just">
              <a:lnSpc>
                <a:spcPct val="98600"/>
              </a:lnSpc>
              <a:spcBef>
                <a:spcPts val="2045"/>
              </a:spcBef>
              <a:buFont typeface="Times New Roman"/>
              <a:buChar char="–"/>
              <a:tabLst>
                <a:tab pos="699135" algn="l"/>
              </a:tabLst>
            </a:pPr>
            <a:r>
              <a:rPr sz="2800" spc="-145" dirty="0">
                <a:latin typeface="Arial"/>
                <a:cs typeface="Arial"/>
              </a:rPr>
              <a:t>Provides </a:t>
            </a:r>
            <a:r>
              <a:rPr sz="2800" spc="-35" dirty="0">
                <a:latin typeface="Arial"/>
                <a:cs typeface="Arial"/>
              </a:rPr>
              <a:t>the </a:t>
            </a:r>
            <a:r>
              <a:rPr sz="2800" spc="-165" dirty="0">
                <a:latin typeface="Arial"/>
                <a:cs typeface="Arial"/>
              </a:rPr>
              <a:t>users </a:t>
            </a:r>
            <a:r>
              <a:rPr sz="2800" spc="15" dirty="0">
                <a:latin typeface="Arial"/>
                <a:cs typeface="Arial"/>
              </a:rPr>
              <a:t>with </a:t>
            </a:r>
            <a:r>
              <a:rPr sz="2800" spc="-215" dirty="0">
                <a:latin typeface="Arial"/>
                <a:cs typeface="Arial"/>
              </a:rPr>
              <a:t>a </a:t>
            </a:r>
            <a:r>
              <a:rPr sz="2800" spc="-90" dirty="0">
                <a:latin typeface="Arial"/>
                <a:cs typeface="Arial"/>
              </a:rPr>
              <a:t>convenient </a:t>
            </a:r>
            <a:r>
              <a:rPr sz="2800" spc="-330" dirty="0">
                <a:latin typeface="Arial"/>
                <a:cs typeface="Arial"/>
              </a:rPr>
              <a:t>CLI </a:t>
            </a:r>
            <a:r>
              <a:rPr sz="2800" spc="-165" dirty="0">
                <a:latin typeface="Arial"/>
                <a:cs typeface="Arial"/>
              </a:rPr>
              <a:t>(Command  </a:t>
            </a:r>
            <a:r>
              <a:rPr sz="2800" spc="-204" dirty="0">
                <a:latin typeface="Arial"/>
                <a:cs typeface="Arial"/>
              </a:rPr>
              <a:t>Language </a:t>
            </a:r>
            <a:r>
              <a:rPr sz="2800" spc="-75" dirty="0">
                <a:latin typeface="Arial"/>
                <a:cs typeface="Arial"/>
              </a:rPr>
              <a:t>Interface), </a:t>
            </a:r>
            <a:r>
              <a:rPr sz="2800" spc="-145" dirty="0">
                <a:latin typeface="Arial"/>
                <a:cs typeface="Arial"/>
              </a:rPr>
              <a:t>also </a:t>
            </a:r>
            <a:r>
              <a:rPr sz="2800" spc="-114" dirty="0">
                <a:latin typeface="Arial"/>
                <a:cs typeface="Arial"/>
              </a:rPr>
              <a:t>called </a:t>
            </a:r>
            <a:r>
              <a:rPr sz="2800" spc="-215" dirty="0">
                <a:latin typeface="Arial"/>
                <a:cs typeface="Arial"/>
              </a:rPr>
              <a:t>a </a:t>
            </a:r>
            <a:r>
              <a:rPr sz="2800" spc="-160" dirty="0">
                <a:latin typeface="Arial"/>
                <a:cs typeface="Arial"/>
              </a:rPr>
              <a:t>Shell </a:t>
            </a:r>
            <a:r>
              <a:rPr sz="2800" spc="-55" dirty="0">
                <a:latin typeface="Arial"/>
                <a:cs typeface="Arial"/>
              </a:rPr>
              <a:t>(in </a:t>
            </a:r>
            <a:r>
              <a:rPr sz="2800" spc="-180" dirty="0">
                <a:latin typeface="Arial"/>
                <a:cs typeface="Arial"/>
              </a:rPr>
              <a:t>UNIX), </a:t>
            </a:r>
            <a:r>
              <a:rPr sz="2800" spc="20" dirty="0">
                <a:latin typeface="Arial"/>
                <a:cs typeface="Arial"/>
              </a:rPr>
              <a:t>for  </a:t>
            </a:r>
            <a:r>
              <a:rPr sz="2800" spc="-70" dirty="0">
                <a:latin typeface="Arial"/>
                <a:cs typeface="Arial"/>
              </a:rPr>
              <a:t>entering </a:t>
            </a:r>
            <a:r>
              <a:rPr sz="2800" spc="-35" dirty="0">
                <a:latin typeface="Arial"/>
                <a:cs typeface="Arial"/>
              </a:rPr>
              <a:t>the </a:t>
            </a:r>
            <a:r>
              <a:rPr sz="2800" spc="-135" dirty="0">
                <a:latin typeface="Arial"/>
                <a:cs typeface="Arial"/>
              </a:rPr>
              <a:t>user</a:t>
            </a:r>
            <a:r>
              <a:rPr sz="2800" spc="-345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commands.</a:t>
            </a:r>
            <a:endParaRPr sz="2800" dirty="0">
              <a:latin typeface="Arial"/>
              <a:cs typeface="Arial"/>
            </a:endParaRPr>
          </a:p>
          <a:p>
            <a:pPr marL="698500" lvl="1" indent="-228600">
              <a:lnSpc>
                <a:spcPct val="100000"/>
              </a:lnSpc>
              <a:spcBef>
                <a:spcPts val="2110"/>
              </a:spcBef>
              <a:buFont typeface="Times New Roman"/>
              <a:buChar char="–"/>
              <a:tabLst>
                <a:tab pos="699135" algn="l"/>
              </a:tabLst>
            </a:pPr>
            <a:r>
              <a:rPr sz="2800" spc="-235" dirty="0">
                <a:latin typeface="Arial"/>
                <a:cs typeface="Arial"/>
              </a:rPr>
              <a:t>GUI </a:t>
            </a:r>
            <a:r>
              <a:rPr sz="2800" spc="15" dirty="0">
                <a:latin typeface="Arial"/>
                <a:cs typeface="Arial"/>
              </a:rPr>
              <a:t>for </a:t>
            </a:r>
            <a:r>
              <a:rPr sz="2800" spc="-110" dirty="0">
                <a:latin typeface="Arial"/>
                <a:cs typeface="Arial"/>
              </a:rPr>
              <a:t>executing graphical </a:t>
            </a:r>
            <a:r>
              <a:rPr sz="2800" spc="-155" dirty="0">
                <a:latin typeface="Arial"/>
                <a:cs typeface="Arial"/>
              </a:rPr>
              <a:t>commands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-335" dirty="0">
                <a:latin typeface="Arial"/>
                <a:cs typeface="Arial"/>
              </a:rPr>
              <a:t> </a:t>
            </a:r>
            <a:r>
              <a:rPr sz="2800" spc="-160" dirty="0">
                <a:latin typeface="Arial"/>
                <a:cs typeface="Arial"/>
              </a:rPr>
              <a:t>User</a:t>
            </a:r>
            <a:endParaRPr lang="en-US" sz="2800" spc="-160" dirty="0">
              <a:latin typeface="Arial"/>
              <a:cs typeface="Arial"/>
            </a:endParaRPr>
          </a:p>
          <a:p>
            <a:pPr marL="698500" lvl="1" indent="-228600">
              <a:lnSpc>
                <a:spcPct val="100000"/>
              </a:lnSpc>
              <a:spcBef>
                <a:spcPts val="2110"/>
              </a:spcBef>
              <a:buFont typeface="Times New Roman"/>
              <a:buChar char="–"/>
              <a:tabLst>
                <a:tab pos="699135" algn="l"/>
              </a:tabLst>
            </a:pPr>
            <a:r>
              <a:rPr lang="en-US" sz="2800" dirty="0">
                <a:latin typeface="Arial"/>
                <a:cs typeface="Arial"/>
              </a:rPr>
              <a:t>top-down view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40445" y="0"/>
            <a:ext cx="927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iAcademy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22859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4572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644639"/>
            <a:ext cx="9144000" cy="213360"/>
          </a:xfrm>
          <a:custGeom>
            <a:avLst/>
            <a:gdLst/>
            <a:ahLst/>
            <a:cxnLst/>
            <a:rect l="l" t="t" r="r" b="b"/>
            <a:pathLst>
              <a:path w="9144000" h="213359">
                <a:moveTo>
                  <a:pt x="0" y="213359"/>
                </a:moveTo>
                <a:lnTo>
                  <a:pt x="9144000" y="213359"/>
                </a:lnTo>
                <a:lnTo>
                  <a:pt x="9144000" y="0"/>
                </a:lnTo>
                <a:lnTo>
                  <a:pt x="0" y="0"/>
                </a:lnTo>
                <a:lnTo>
                  <a:pt x="0" y="21335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13103" y="6822947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70104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105" dirty="0"/>
              <a:t>iAcademy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99863" y="633626"/>
            <a:ext cx="8380730" cy="5346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95"/>
              </a:spcBef>
              <a:buFont typeface="Times New Roman"/>
              <a:buChar char="•"/>
              <a:tabLst>
                <a:tab pos="356870" algn="l"/>
                <a:tab pos="357505" algn="l"/>
              </a:tabLst>
            </a:pPr>
            <a:r>
              <a:rPr sz="3200" spc="-120" dirty="0">
                <a:latin typeface="Arial"/>
                <a:cs typeface="Arial"/>
              </a:rPr>
              <a:t>Operating </a:t>
            </a:r>
            <a:r>
              <a:rPr sz="3200" spc="-220" dirty="0">
                <a:latin typeface="Arial"/>
                <a:cs typeface="Arial"/>
              </a:rPr>
              <a:t>System </a:t>
            </a:r>
            <a:r>
              <a:rPr sz="3200" spc="-300" dirty="0">
                <a:latin typeface="Arial"/>
                <a:cs typeface="Arial"/>
              </a:rPr>
              <a:t>as </a:t>
            </a:r>
            <a:r>
              <a:rPr sz="3200" spc="-250" dirty="0">
                <a:latin typeface="Arial"/>
                <a:cs typeface="Arial"/>
              </a:rPr>
              <a:t>a </a:t>
            </a:r>
            <a:r>
              <a:rPr sz="3200" spc="-35" dirty="0">
                <a:latin typeface="Arial"/>
                <a:cs typeface="Arial"/>
              </a:rPr>
              <a:t>virtual</a:t>
            </a:r>
            <a:r>
              <a:rPr sz="3200" spc="170" dirty="0">
                <a:latin typeface="Arial"/>
                <a:cs typeface="Arial"/>
              </a:rPr>
              <a:t> </a:t>
            </a:r>
            <a:r>
              <a:rPr sz="3200" spc="-145" dirty="0">
                <a:latin typeface="Arial"/>
                <a:cs typeface="Arial"/>
              </a:rPr>
              <a:t>machine</a:t>
            </a:r>
            <a:endParaRPr sz="3200" dirty="0">
              <a:latin typeface="Arial"/>
              <a:cs typeface="Arial"/>
            </a:endParaRPr>
          </a:p>
          <a:p>
            <a:pPr marL="698500" marR="5080" lvl="1" indent="-228600" algn="just">
              <a:lnSpc>
                <a:spcPct val="99300"/>
              </a:lnSpc>
              <a:spcBef>
                <a:spcPts val="2065"/>
              </a:spcBef>
              <a:buFont typeface="Times New Roman"/>
              <a:buChar char="–"/>
              <a:tabLst>
                <a:tab pos="699135" algn="l"/>
              </a:tabLst>
            </a:pPr>
            <a:r>
              <a:rPr sz="2500" spc="-225" dirty="0">
                <a:latin typeface="Arial"/>
                <a:cs typeface="Arial"/>
              </a:rPr>
              <a:t>A </a:t>
            </a:r>
            <a:r>
              <a:rPr sz="2500" spc="-30" dirty="0">
                <a:latin typeface="Arial"/>
                <a:cs typeface="Arial"/>
              </a:rPr>
              <a:t>virtual </a:t>
            </a:r>
            <a:r>
              <a:rPr sz="2500" spc="-114" dirty="0">
                <a:latin typeface="Arial"/>
                <a:cs typeface="Arial"/>
              </a:rPr>
              <a:t>machine </a:t>
            </a:r>
            <a:r>
              <a:rPr sz="2500" spc="-90" dirty="0">
                <a:latin typeface="Arial"/>
                <a:cs typeface="Arial"/>
              </a:rPr>
              <a:t>(VM) </a:t>
            </a:r>
            <a:r>
              <a:rPr sz="2500" spc="-130" dirty="0">
                <a:latin typeface="Arial"/>
                <a:cs typeface="Arial"/>
              </a:rPr>
              <a:t>is </a:t>
            </a:r>
            <a:r>
              <a:rPr sz="2500" spc="-195" dirty="0">
                <a:latin typeface="Arial"/>
                <a:cs typeface="Arial"/>
              </a:rPr>
              <a:t>a </a:t>
            </a:r>
            <a:r>
              <a:rPr sz="2500" spc="-60" dirty="0">
                <a:latin typeface="Arial"/>
                <a:cs typeface="Arial"/>
              </a:rPr>
              <a:t>software </a:t>
            </a:r>
            <a:r>
              <a:rPr sz="2500" spc="-90" dirty="0">
                <a:latin typeface="Arial"/>
                <a:cs typeface="Arial"/>
              </a:rPr>
              <a:t>program </a:t>
            </a:r>
            <a:r>
              <a:rPr sz="2500" spc="-30" dirty="0">
                <a:latin typeface="Arial"/>
                <a:cs typeface="Arial"/>
              </a:rPr>
              <a:t>or </a:t>
            </a:r>
            <a:r>
              <a:rPr sz="2500" spc="-65" dirty="0">
                <a:latin typeface="Arial"/>
                <a:cs typeface="Arial"/>
              </a:rPr>
              <a:t>operating  </a:t>
            </a:r>
            <a:r>
              <a:rPr sz="2500" spc="-130" dirty="0">
                <a:latin typeface="Arial"/>
                <a:cs typeface="Arial"/>
              </a:rPr>
              <a:t>system </a:t>
            </a:r>
            <a:r>
              <a:rPr sz="2500" dirty="0">
                <a:latin typeface="Arial"/>
                <a:cs typeface="Arial"/>
              </a:rPr>
              <a:t>that </a:t>
            </a:r>
            <a:r>
              <a:rPr sz="2500" spc="-15" dirty="0">
                <a:latin typeface="Arial"/>
                <a:cs typeface="Arial"/>
              </a:rPr>
              <a:t>not </a:t>
            </a:r>
            <a:r>
              <a:rPr sz="2500" spc="-70" dirty="0">
                <a:latin typeface="Arial"/>
                <a:cs typeface="Arial"/>
              </a:rPr>
              <a:t>only </a:t>
            </a:r>
            <a:r>
              <a:rPr sz="2500" spc="-75" dirty="0">
                <a:latin typeface="Arial"/>
                <a:cs typeface="Arial"/>
              </a:rPr>
              <a:t>exhibits </a:t>
            </a:r>
            <a:r>
              <a:rPr sz="2500" spc="-30" dirty="0">
                <a:latin typeface="Arial"/>
                <a:cs typeface="Arial"/>
              </a:rPr>
              <a:t>the </a:t>
            </a:r>
            <a:r>
              <a:rPr sz="2500" spc="-80" dirty="0">
                <a:latin typeface="Arial"/>
                <a:cs typeface="Arial"/>
              </a:rPr>
              <a:t>behavior </a:t>
            </a:r>
            <a:r>
              <a:rPr sz="2500" spc="-5" dirty="0">
                <a:latin typeface="Arial"/>
                <a:cs typeface="Arial"/>
              </a:rPr>
              <a:t>of </a:t>
            </a:r>
            <a:r>
              <a:rPr sz="2500" spc="-195" dirty="0">
                <a:latin typeface="Arial"/>
                <a:cs typeface="Arial"/>
              </a:rPr>
              <a:t>a </a:t>
            </a:r>
            <a:r>
              <a:rPr sz="2500" spc="-110" dirty="0">
                <a:latin typeface="Arial"/>
                <a:cs typeface="Arial"/>
              </a:rPr>
              <a:t>separate  </a:t>
            </a:r>
            <a:r>
              <a:rPr sz="2500" spc="-60" dirty="0">
                <a:latin typeface="Arial"/>
                <a:cs typeface="Arial"/>
              </a:rPr>
              <a:t>computer, </a:t>
            </a:r>
            <a:r>
              <a:rPr sz="2500" spc="-5" dirty="0">
                <a:latin typeface="Arial"/>
                <a:cs typeface="Arial"/>
              </a:rPr>
              <a:t>but </a:t>
            </a:r>
            <a:r>
              <a:rPr sz="2500" spc="-140" dirty="0">
                <a:latin typeface="Arial"/>
                <a:cs typeface="Arial"/>
              </a:rPr>
              <a:t>is </a:t>
            </a:r>
            <a:r>
              <a:rPr sz="2500" spc="-135" dirty="0">
                <a:latin typeface="Arial"/>
                <a:cs typeface="Arial"/>
              </a:rPr>
              <a:t>also </a:t>
            </a:r>
            <a:r>
              <a:rPr sz="2500" spc="-125" dirty="0">
                <a:latin typeface="Arial"/>
                <a:cs typeface="Arial"/>
              </a:rPr>
              <a:t>capable </a:t>
            </a:r>
            <a:r>
              <a:rPr sz="2500" spc="-5" dirty="0">
                <a:latin typeface="Arial"/>
                <a:cs typeface="Arial"/>
              </a:rPr>
              <a:t>of </a:t>
            </a:r>
            <a:r>
              <a:rPr sz="2500" spc="-55" dirty="0">
                <a:latin typeface="Arial"/>
                <a:cs typeface="Arial"/>
              </a:rPr>
              <a:t>performing </a:t>
            </a:r>
            <a:r>
              <a:rPr sz="2500" spc="-150" dirty="0">
                <a:latin typeface="Arial"/>
                <a:cs typeface="Arial"/>
              </a:rPr>
              <a:t>tasks </a:t>
            </a:r>
            <a:r>
              <a:rPr sz="2500" spc="-155" dirty="0">
                <a:latin typeface="Arial"/>
                <a:cs typeface="Arial"/>
              </a:rPr>
              <a:t>such </a:t>
            </a:r>
            <a:r>
              <a:rPr sz="2500" spc="-235" dirty="0">
                <a:latin typeface="Arial"/>
                <a:cs typeface="Arial"/>
              </a:rPr>
              <a:t>as  </a:t>
            </a:r>
            <a:r>
              <a:rPr sz="2500" spc="-65" dirty="0">
                <a:latin typeface="Arial"/>
                <a:cs typeface="Arial"/>
              </a:rPr>
              <a:t>running</a:t>
            </a:r>
            <a:r>
              <a:rPr sz="2500" spc="560" dirty="0">
                <a:latin typeface="Arial"/>
                <a:cs typeface="Arial"/>
              </a:rPr>
              <a:t> </a:t>
            </a:r>
            <a:r>
              <a:rPr sz="2500" spc="-85" dirty="0">
                <a:latin typeface="Arial"/>
                <a:cs typeface="Arial"/>
              </a:rPr>
              <a:t>applications </a:t>
            </a:r>
            <a:r>
              <a:rPr sz="2500" spc="-114" dirty="0">
                <a:latin typeface="Arial"/>
                <a:cs typeface="Arial"/>
              </a:rPr>
              <a:t>and </a:t>
            </a:r>
            <a:r>
              <a:rPr sz="2500" spc="-110" dirty="0">
                <a:latin typeface="Arial"/>
                <a:cs typeface="Arial"/>
              </a:rPr>
              <a:t>programs </a:t>
            </a:r>
            <a:r>
              <a:rPr sz="2500" spc="-60" dirty="0">
                <a:latin typeface="Arial"/>
                <a:cs typeface="Arial"/>
              </a:rPr>
              <a:t>like </a:t>
            </a:r>
            <a:r>
              <a:rPr sz="2500" spc="-195" dirty="0">
                <a:latin typeface="Arial"/>
                <a:cs typeface="Arial"/>
              </a:rPr>
              <a:t>a </a:t>
            </a:r>
            <a:r>
              <a:rPr sz="2500" spc="-110" dirty="0">
                <a:latin typeface="Arial"/>
                <a:cs typeface="Arial"/>
              </a:rPr>
              <a:t>separate  </a:t>
            </a:r>
            <a:r>
              <a:rPr sz="2500" spc="-60" dirty="0">
                <a:latin typeface="Arial"/>
                <a:cs typeface="Arial"/>
              </a:rPr>
              <a:t>computer. </a:t>
            </a:r>
            <a:r>
              <a:rPr sz="2500" spc="35" dirty="0">
                <a:latin typeface="Arial"/>
                <a:cs typeface="Arial"/>
              </a:rPr>
              <a:t>It </a:t>
            </a:r>
            <a:r>
              <a:rPr sz="2500" spc="-130" dirty="0">
                <a:latin typeface="Arial"/>
                <a:cs typeface="Arial"/>
              </a:rPr>
              <a:t>is also </a:t>
            </a:r>
            <a:r>
              <a:rPr sz="2500" spc="-80" dirty="0">
                <a:latin typeface="Arial"/>
                <a:cs typeface="Arial"/>
              </a:rPr>
              <a:t>known </a:t>
            </a:r>
            <a:r>
              <a:rPr sz="2500" spc="-235" dirty="0">
                <a:latin typeface="Arial"/>
                <a:cs typeface="Arial"/>
              </a:rPr>
              <a:t>as </a:t>
            </a:r>
            <a:r>
              <a:rPr sz="2500" spc="-195" dirty="0">
                <a:latin typeface="Arial"/>
                <a:cs typeface="Arial"/>
              </a:rPr>
              <a:t>a </a:t>
            </a:r>
            <a:r>
              <a:rPr sz="2500" spc="-114" dirty="0">
                <a:latin typeface="Arial"/>
                <a:cs typeface="Arial"/>
              </a:rPr>
              <a:t>guest</a:t>
            </a:r>
            <a:r>
              <a:rPr sz="2500" spc="-300" dirty="0">
                <a:latin typeface="Arial"/>
                <a:cs typeface="Arial"/>
              </a:rPr>
              <a:t> </a:t>
            </a:r>
            <a:r>
              <a:rPr sz="2500" spc="-90" dirty="0">
                <a:latin typeface="Arial"/>
                <a:cs typeface="Arial"/>
              </a:rPr>
              <a:t>machine.</a:t>
            </a:r>
            <a:endParaRPr sz="2500" dirty="0">
              <a:latin typeface="Arial"/>
              <a:cs typeface="Arial"/>
            </a:endParaRPr>
          </a:p>
          <a:p>
            <a:pPr marL="698500" marR="5080" lvl="1" indent="-228600" algn="just">
              <a:lnSpc>
                <a:spcPct val="100000"/>
              </a:lnSpc>
              <a:spcBef>
                <a:spcPts val="2090"/>
              </a:spcBef>
              <a:buFont typeface="Times New Roman"/>
              <a:buChar char="–"/>
              <a:tabLst>
                <a:tab pos="699135" algn="l"/>
              </a:tabLst>
            </a:pPr>
            <a:r>
              <a:rPr sz="2500" spc="-155" dirty="0">
                <a:latin typeface="Arial"/>
                <a:cs typeface="Arial"/>
              </a:rPr>
              <a:t>An </a:t>
            </a:r>
            <a:r>
              <a:rPr sz="2500" spc="-55" dirty="0">
                <a:latin typeface="Arial"/>
                <a:cs typeface="Arial"/>
              </a:rPr>
              <a:t>interface </a:t>
            </a:r>
            <a:r>
              <a:rPr sz="2500" spc="-70" dirty="0">
                <a:latin typeface="Arial"/>
                <a:cs typeface="Arial"/>
              </a:rPr>
              <a:t>between </a:t>
            </a:r>
            <a:r>
              <a:rPr sz="2500" spc="-30" dirty="0">
                <a:latin typeface="Arial"/>
                <a:cs typeface="Arial"/>
              </a:rPr>
              <a:t>the </a:t>
            </a:r>
            <a:r>
              <a:rPr sz="2500" spc="-114" dirty="0">
                <a:latin typeface="Arial"/>
                <a:cs typeface="Arial"/>
              </a:rPr>
              <a:t>user </a:t>
            </a:r>
            <a:r>
              <a:rPr sz="2500" spc="-125" dirty="0">
                <a:latin typeface="Arial"/>
                <a:cs typeface="Arial"/>
              </a:rPr>
              <a:t>and </a:t>
            </a:r>
            <a:r>
              <a:rPr sz="2500" spc="-80" dirty="0">
                <a:latin typeface="Arial"/>
                <a:cs typeface="Arial"/>
              </a:rPr>
              <a:t>hardware </a:t>
            </a:r>
            <a:r>
              <a:rPr sz="2500" dirty="0">
                <a:latin typeface="Arial"/>
                <a:cs typeface="Arial"/>
              </a:rPr>
              <a:t>that </a:t>
            </a:r>
            <a:r>
              <a:rPr sz="2500" spc="-120" dirty="0">
                <a:latin typeface="Arial"/>
                <a:cs typeface="Arial"/>
              </a:rPr>
              <a:t>hides  </a:t>
            </a:r>
            <a:r>
              <a:rPr sz="2500" spc="-25" dirty="0">
                <a:latin typeface="Arial"/>
                <a:cs typeface="Arial"/>
              </a:rPr>
              <a:t>the </a:t>
            </a:r>
            <a:r>
              <a:rPr sz="2500" spc="-75" dirty="0">
                <a:latin typeface="Arial"/>
                <a:cs typeface="Arial"/>
              </a:rPr>
              <a:t>details </a:t>
            </a:r>
            <a:r>
              <a:rPr sz="2500" spc="-5" dirty="0">
                <a:latin typeface="Arial"/>
                <a:cs typeface="Arial"/>
              </a:rPr>
              <a:t>of </a:t>
            </a:r>
            <a:r>
              <a:rPr sz="2500" spc="-25" dirty="0">
                <a:latin typeface="Arial"/>
                <a:cs typeface="Arial"/>
              </a:rPr>
              <a:t>the</a:t>
            </a:r>
            <a:r>
              <a:rPr sz="2500" spc="-509" dirty="0">
                <a:latin typeface="Arial"/>
                <a:cs typeface="Arial"/>
              </a:rPr>
              <a:t> </a:t>
            </a:r>
            <a:r>
              <a:rPr sz="2500" spc="-85" dirty="0">
                <a:latin typeface="Arial"/>
                <a:cs typeface="Arial"/>
              </a:rPr>
              <a:t>hardware </a:t>
            </a:r>
            <a:r>
              <a:rPr sz="2500" spc="-110" dirty="0">
                <a:latin typeface="Arial"/>
                <a:cs typeface="Arial"/>
              </a:rPr>
              <a:t>(e.g., </a:t>
            </a:r>
            <a:r>
              <a:rPr sz="2500" spc="-50" dirty="0">
                <a:latin typeface="Arial"/>
                <a:cs typeface="Arial"/>
              </a:rPr>
              <a:t>I/O).</a:t>
            </a:r>
            <a:endParaRPr sz="2500" dirty="0">
              <a:latin typeface="Arial"/>
              <a:cs typeface="Arial"/>
            </a:endParaRPr>
          </a:p>
          <a:p>
            <a:pPr marL="698500" marR="5715" lvl="1" indent="-228600" algn="just">
              <a:lnSpc>
                <a:spcPct val="100000"/>
              </a:lnSpc>
              <a:spcBef>
                <a:spcPts val="2020"/>
              </a:spcBef>
              <a:buFont typeface="Times New Roman"/>
              <a:buChar char="–"/>
              <a:tabLst>
                <a:tab pos="699135" algn="l"/>
              </a:tabLst>
            </a:pPr>
            <a:r>
              <a:rPr sz="2500" spc="-114" dirty="0">
                <a:latin typeface="Arial"/>
                <a:cs typeface="Arial"/>
              </a:rPr>
              <a:t>Constructs </a:t>
            </a:r>
            <a:r>
              <a:rPr sz="2500" spc="-75" dirty="0">
                <a:latin typeface="Arial"/>
                <a:cs typeface="Arial"/>
              </a:rPr>
              <a:t>higher-level </a:t>
            </a:r>
            <a:r>
              <a:rPr sz="2500" spc="-40" dirty="0">
                <a:latin typeface="Arial"/>
                <a:cs typeface="Arial"/>
              </a:rPr>
              <a:t>(virtual) </a:t>
            </a:r>
            <a:r>
              <a:rPr sz="2500" spc="-125" dirty="0">
                <a:latin typeface="Arial"/>
                <a:cs typeface="Arial"/>
              </a:rPr>
              <a:t>resources </a:t>
            </a:r>
            <a:r>
              <a:rPr sz="2500" spc="-20" dirty="0">
                <a:latin typeface="Arial"/>
                <a:cs typeface="Arial"/>
              </a:rPr>
              <a:t>out </a:t>
            </a:r>
            <a:r>
              <a:rPr sz="2500" spc="-5" dirty="0">
                <a:latin typeface="Arial"/>
                <a:cs typeface="Arial"/>
              </a:rPr>
              <a:t>of </a:t>
            </a:r>
            <a:r>
              <a:rPr sz="2500" spc="-45" dirty="0">
                <a:latin typeface="Arial"/>
                <a:cs typeface="Arial"/>
              </a:rPr>
              <a:t>lower-  </a:t>
            </a:r>
            <a:r>
              <a:rPr sz="2500" spc="-75" dirty="0">
                <a:latin typeface="Arial"/>
                <a:cs typeface="Arial"/>
              </a:rPr>
              <a:t>level </a:t>
            </a:r>
            <a:r>
              <a:rPr sz="2500" spc="-105" dirty="0">
                <a:latin typeface="Arial"/>
                <a:cs typeface="Arial"/>
              </a:rPr>
              <a:t>(physical) </a:t>
            </a:r>
            <a:r>
              <a:rPr sz="2500" spc="-125" dirty="0">
                <a:latin typeface="Arial"/>
                <a:cs typeface="Arial"/>
              </a:rPr>
              <a:t>resources </a:t>
            </a:r>
            <a:r>
              <a:rPr sz="2500" spc="-110" dirty="0">
                <a:latin typeface="Arial"/>
                <a:cs typeface="Arial"/>
              </a:rPr>
              <a:t>(e.g.,</a:t>
            </a:r>
            <a:r>
              <a:rPr sz="2500" spc="-210" dirty="0">
                <a:latin typeface="Arial"/>
                <a:cs typeface="Arial"/>
              </a:rPr>
              <a:t> </a:t>
            </a:r>
            <a:r>
              <a:rPr sz="2500" spc="-65" dirty="0">
                <a:latin typeface="Arial"/>
                <a:cs typeface="Arial"/>
              </a:rPr>
              <a:t>files).</a:t>
            </a:r>
            <a:endParaRPr sz="2500" dirty="0">
              <a:latin typeface="Arial"/>
              <a:cs typeface="Arial"/>
            </a:endParaRPr>
          </a:p>
          <a:p>
            <a:pPr marL="698500" lvl="1" indent="-228600">
              <a:lnSpc>
                <a:spcPct val="100000"/>
              </a:lnSpc>
              <a:spcBef>
                <a:spcPts val="1995"/>
              </a:spcBef>
              <a:buFont typeface="Times New Roman"/>
              <a:buChar char="–"/>
              <a:tabLst>
                <a:tab pos="699135" algn="l"/>
              </a:tabLst>
            </a:pPr>
            <a:r>
              <a:rPr sz="2500" spc="-145" dirty="0">
                <a:latin typeface="Arial"/>
                <a:cs typeface="Arial"/>
              </a:rPr>
              <a:t>Example: </a:t>
            </a:r>
            <a:r>
              <a:rPr sz="2500" spc="-90" dirty="0">
                <a:latin typeface="Arial"/>
                <a:cs typeface="Arial"/>
              </a:rPr>
              <a:t>VMware, </a:t>
            </a:r>
            <a:r>
              <a:rPr sz="2500" spc="-195" dirty="0">
                <a:latin typeface="Arial"/>
                <a:cs typeface="Arial"/>
              </a:rPr>
              <a:t>KVM</a:t>
            </a:r>
            <a:r>
              <a:rPr sz="2500" spc="-114" dirty="0">
                <a:latin typeface="Arial"/>
                <a:cs typeface="Arial"/>
              </a:rPr>
              <a:t> </a:t>
            </a:r>
            <a:r>
              <a:rPr sz="2500" spc="-70" dirty="0">
                <a:latin typeface="Arial"/>
                <a:cs typeface="Arial"/>
              </a:rPr>
              <a:t>etc</a:t>
            </a:r>
            <a:endParaRPr sz="25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40445" y="0"/>
            <a:ext cx="927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iAcademy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22859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4572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644639"/>
            <a:ext cx="9144000" cy="213360"/>
          </a:xfrm>
          <a:custGeom>
            <a:avLst/>
            <a:gdLst/>
            <a:ahLst/>
            <a:cxnLst/>
            <a:rect l="l" t="t" r="r" b="b"/>
            <a:pathLst>
              <a:path w="9144000" h="213359">
                <a:moveTo>
                  <a:pt x="0" y="213359"/>
                </a:moveTo>
                <a:lnTo>
                  <a:pt x="9144000" y="213359"/>
                </a:lnTo>
                <a:lnTo>
                  <a:pt x="9144000" y="0"/>
                </a:lnTo>
                <a:lnTo>
                  <a:pt x="0" y="0"/>
                </a:lnTo>
                <a:lnTo>
                  <a:pt x="0" y="21335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13103" y="6822947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70104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3118" y="268350"/>
            <a:ext cx="5847715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40" dirty="0"/>
              <a:t>Evolution </a:t>
            </a:r>
            <a:r>
              <a:rPr spc="-204" dirty="0"/>
              <a:t>Of </a:t>
            </a:r>
            <a:r>
              <a:rPr spc="-165" dirty="0"/>
              <a:t>Windows</a:t>
            </a:r>
            <a:r>
              <a:rPr spc="-310" dirty="0"/>
              <a:t> </a:t>
            </a:r>
            <a:r>
              <a:rPr spc="-725" dirty="0"/>
              <a:t>OS</a:t>
            </a:r>
          </a:p>
        </p:txBody>
      </p:sp>
      <p:sp>
        <p:nvSpPr>
          <p:cNvPr id="7" name="object 7"/>
          <p:cNvSpPr/>
          <p:nvPr/>
        </p:nvSpPr>
        <p:spPr>
          <a:xfrm>
            <a:off x="461813" y="3018653"/>
            <a:ext cx="8145688" cy="1751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105" dirty="0"/>
              <a:t>iAcademy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78739" y="1676400"/>
            <a:ext cx="1978661" cy="1066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commands of MS-DOS were replaced by GUI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3118" y="4616483"/>
            <a:ext cx="2179023" cy="155571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The most secured Operating System- Windows Vista in 35 languages. User Account Control, BitLocker Drive Encryption were provided to protect the system data.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09800" y="1674993"/>
            <a:ext cx="1978661" cy="1066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computers became the part of client/server computing.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4162" y="4769949"/>
            <a:ext cx="2179023" cy="11785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build mainly for the wireless devices such as laptops which started to overtake the desktops.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22719" y="4865114"/>
            <a:ext cx="1978661" cy="1066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launched for Tablets, Laptops and PCs Start button was not include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0803" y="1524000"/>
            <a:ext cx="2036786" cy="12223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Start Menu, Taskbar, Maximize, Minimize and Close Button appeared for the first 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99826" y="1524000"/>
            <a:ext cx="2226890" cy="12177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25 languages. Windows XP also provided Help and Support feature.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40445" y="0"/>
            <a:ext cx="927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iAcademy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22859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4572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644639"/>
            <a:ext cx="9144000" cy="213360"/>
          </a:xfrm>
          <a:custGeom>
            <a:avLst/>
            <a:gdLst/>
            <a:ahLst/>
            <a:cxnLst/>
            <a:rect l="l" t="t" r="r" b="b"/>
            <a:pathLst>
              <a:path w="9144000" h="213359">
                <a:moveTo>
                  <a:pt x="0" y="213359"/>
                </a:moveTo>
                <a:lnTo>
                  <a:pt x="9144000" y="213359"/>
                </a:lnTo>
                <a:lnTo>
                  <a:pt x="9144000" y="0"/>
                </a:lnTo>
                <a:lnTo>
                  <a:pt x="0" y="0"/>
                </a:lnTo>
                <a:lnTo>
                  <a:pt x="0" y="21335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13103" y="6822947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70104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3118" y="268350"/>
            <a:ext cx="5543550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40" dirty="0"/>
              <a:t>Evolution </a:t>
            </a:r>
            <a:r>
              <a:rPr spc="-204" dirty="0"/>
              <a:t>Of </a:t>
            </a:r>
            <a:r>
              <a:rPr spc="-120" dirty="0"/>
              <a:t>Android</a:t>
            </a:r>
            <a:r>
              <a:rPr spc="-335" dirty="0"/>
              <a:t> </a:t>
            </a:r>
            <a:r>
              <a:rPr spc="-725" dirty="0"/>
              <a:t>OS</a:t>
            </a:r>
          </a:p>
        </p:txBody>
      </p:sp>
      <p:sp>
        <p:nvSpPr>
          <p:cNvPr id="7" name="object 7"/>
          <p:cNvSpPr/>
          <p:nvPr/>
        </p:nvSpPr>
        <p:spPr>
          <a:xfrm>
            <a:off x="286511" y="1499616"/>
            <a:ext cx="8531352" cy="43007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105" dirty="0"/>
              <a:t>iAcademy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40445" y="0"/>
            <a:ext cx="927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iAcademy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22859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4572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644639"/>
            <a:ext cx="9144000" cy="213360"/>
          </a:xfrm>
          <a:custGeom>
            <a:avLst/>
            <a:gdLst/>
            <a:ahLst/>
            <a:cxnLst/>
            <a:rect l="l" t="t" r="r" b="b"/>
            <a:pathLst>
              <a:path w="9144000" h="213359">
                <a:moveTo>
                  <a:pt x="0" y="213359"/>
                </a:moveTo>
                <a:lnTo>
                  <a:pt x="9144000" y="213359"/>
                </a:lnTo>
                <a:lnTo>
                  <a:pt x="9144000" y="0"/>
                </a:lnTo>
                <a:lnTo>
                  <a:pt x="0" y="0"/>
                </a:lnTo>
                <a:lnTo>
                  <a:pt x="0" y="21335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13103" y="6822947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70104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3118" y="268350"/>
            <a:ext cx="1492250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270" dirty="0"/>
              <a:t>Q&amp;A</a:t>
            </a:r>
            <a:r>
              <a:rPr spc="-290" dirty="0"/>
              <a:t> </a:t>
            </a:r>
            <a:r>
              <a:rPr spc="-415" dirty="0"/>
              <a:t>?</a:t>
            </a:r>
          </a:p>
        </p:txBody>
      </p:sp>
      <p:sp>
        <p:nvSpPr>
          <p:cNvPr id="7" name="object 7"/>
          <p:cNvSpPr/>
          <p:nvPr/>
        </p:nvSpPr>
        <p:spPr>
          <a:xfrm>
            <a:off x="286511" y="1213103"/>
            <a:ext cx="8531352" cy="48707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105" dirty="0"/>
              <a:t>iAcademy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40445" y="0"/>
            <a:ext cx="927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iAcademy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22859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4572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644639"/>
            <a:ext cx="9144000" cy="213360"/>
          </a:xfrm>
          <a:custGeom>
            <a:avLst/>
            <a:gdLst/>
            <a:ahLst/>
            <a:cxnLst/>
            <a:rect l="l" t="t" r="r" b="b"/>
            <a:pathLst>
              <a:path w="9144000" h="213359">
                <a:moveTo>
                  <a:pt x="0" y="213359"/>
                </a:moveTo>
                <a:lnTo>
                  <a:pt x="9144000" y="213359"/>
                </a:lnTo>
                <a:lnTo>
                  <a:pt x="9144000" y="0"/>
                </a:lnTo>
                <a:lnTo>
                  <a:pt x="0" y="0"/>
                </a:lnTo>
                <a:lnTo>
                  <a:pt x="0" y="21335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13103" y="6822947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70104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3118" y="268350"/>
            <a:ext cx="2176780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275" dirty="0"/>
              <a:t>Summary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105" dirty="0"/>
              <a:t>iAcademy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63118" y="1136612"/>
            <a:ext cx="6049645" cy="311848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785"/>
              </a:spcBef>
              <a:buFont typeface="Times New Roman"/>
              <a:buChar char="•"/>
              <a:tabLst>
                <a:tab pos="356870" algn="l"/>
                <a:tab pos="357505" algn="l"/>
              </a:tabLst>
            </a:pPr>
            <a:r>
              <a:rPr sz="3200" spc="-95" dirty="0">
                <a:latin typeface="Arial"/>
                <a:cs typeface="Arial"/>
              </a:rPr>
              <a:t>In </a:t>
            </a:r>
            <a:r>
              <a:rPr sz="3200" spc="-65" dirty="0">
                <a:latin typeface="Arial"/>
                <a:cs typeface="Arial"/>
              </a:rPr>
              <a:t>this </a:t>
            </a:r>
            <a:r>
              <a:rPr sz="3200" spc="-70" dirty="0">
                <a:latin typeface="Arial"/>
                <a:cs typeface="Arial"/>
              </a:rPr>
              <a:t>lecture </a:t>
            </a:r>
            <a:r>
              <a:rPr sz="3200" spc="-110" dirty="0">
                <a:latin typeface="Arial"/>
                <a:cs typeface="Arial"/>
              </a:rPr>
              <a:t>we</a:t>
            </a:r>
            <a:r>
              <a:rPr sz="3200" spc="-445" dirty="0">
                <a:latin typeface="Arial"/>
                <a:cs typeface="Arial"/>
              </a:rPr>
              <a:t> </a:t>
            </a:r>
            <a:r>
              <a:rPr sz="3200" spc="-204" dirty="0">
                <a:latin typeface="Arial"/>
                <a:cs typeface="Arial"/>
              </a:rPr>
              <a:t>discussed</a:t>
            </a:r>
            <a:endParaRPr sz="32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20"/>
              </a:spcBef>
              <a:buFont typeface="Times New Roman"/>
              <a:buChar char="–"/>
              <a:tabLst>
                <a:tab pos="756920" algn="l"/>
              </a:tabLst>
            </a:pPr>
            <a:r>
              <a:rPr sz="2800" spc="-100" dirty="0">
                <a:latin typeface="Arial"/>
                <a:cs typeface="Arial"/>
              </a:rPr>
              <a:t>Operating</a:t>
            </a:r>
            <a:r>
              <a:rPr sz="2800" spc="-16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system</a:t>
            </a:r>
            <a:endParaRPr sz="2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00"/>
              </a:spcBef>
              <a:buFont typeface="Times New Roman"/>
              <a:buChar char="–"/>
              <a:tabLst>
                <a:tab pos="756920" algn="l"/>
              </a:tabLst>
            </a:pPr>
            <a:r>
              <a:rPr sz="2800" spc="-459" dirty="0">
                <a:latin typeface="Arial"/>
                <a:cs typeface="Arial"/>
              </a:rPr>
              <a:t>OS</a:t>
            </a:r>
            <a:r>
              <a:rPr sz="2800" spc="-15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evolution</a:t>
            </a:r>
            <a:endParaRPr sz="2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05"/>
              </a:spcBef>
              <a:buFont typeface="Times New Roman"/>
              <a:buChar char="–"/>
              <a:tabLst>
                <a:tab pos="756920" algn="l"/>
              </a:tabLst>
            </a:pPr>
            <a:r>
              <a:rPr sz="2800" spc="-40" dirty="0">
                <a:latin typeface="Arial"/>
                <a:cs typeface="Arial"/>
              </a:rPr>
              <a:t>Different </a:t>
            </a:r>
            <a:r>
              <a:rPr sz="2800" spc="-459" dirty="0">
                <a:latin typeface="Arial"/>
                <a:cs typeface="Arial"/>
              </a:rPr>
              <a:t>OS</a:t>
            </a:r>
            <a:r>
              <a:rPr sz="2800" spc="-300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components</a:t>
            </a:r>
            <a:endParaRPr sz="2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00"/>
              </a:spcBef>
              <a:buFont typeface="Times New Roman"/>
              <a:buChar char="–"/>
              <a:tabLst>
                <a:tab pos="756920" algn="l"/>
              </a:tabLst>
            </a:pPr>
            <a:r>
              <a:rPr sz="2800" spc="-40" dirty="0">
                <a:latin typeface="Arial"/>
                <a:cs typeface="Arial"/>
              </a:rPr>
              <a:t>Different </a:t>
            </a:r>
            <a:r>
              <a:rPr sz="2800" spc="-455" dirty="0">
                <a:latin typeface="Arial"/>
                <a:cs typeface="Arial"/>
              </a:rPr>
              <a:t>OS</a:t>
            </a:r>
            <a:r>
              <a:rPr sz="2800" spc="-300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types</a:t>
            </a:r>
            <a:endParaRPr sz="2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00"/>
              </a:spcBef>
              <a:buFont typeface="Times New Roman"/>
              <a:buChar char="–"/>
              <a:tabLst>
                <a:tab pos="756920" algn="l"/>
              </a:tabLst>
            </a:pPr>
            <a:r>
              <a:rPr sz="2800" spc="-100" dirty="0">
                <a:latin typeface="Arial"/>
                <a:cs typeface="Arial"/>
              </a:rPr>
              <a:t>Operating </a:t>
            </a:r>
            <a:r>
              <a:rPr sz="2800" spc="-185" dirty="0">
                <a:latin typeface="Arial"/>
                <a:cs typeface="Arial"/>
              </a:rPr>
              <a:t>System </a:t>
            </a:r>
            <a:r>
              <a:rPr sz="2800" spc="-260" dirty="0">
                <a:latin typeface="Arial"/>
                <a:cs typeface="Arial"/>
              </a:rPr>
              <a:t>as </a:t>
            </a:r>
            <a:r>
              <a:rPr sz="2800" spc="-30" dirty="0">
                <a:latin typeface="Arial"/>
                <a:cs typeface="Arial"/>
              </a:rPr>
              <a:t>virtual</a:t>
            </a:r>
            <a:r>
              <a:rPr sz="2800" spc="-160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machine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40445" y="0"/>
            <a:ext cx="927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iAcademy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22859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4572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644639"/>
            <a:ext cx="9144000" cy="213360"/>
          </a:xfrm>
          <a:custGeom>
            <a:avLst/>
            <a:gdLst/>
            <a:ahLst/>
            <a:cxnLst/>
            <a:rect l="l" t="t" r="r" b="b"/>
            <a:pathLst>
              <a:path w="9144000" h="213359">
                <a:moveTo>
                  <a:pt x="0" y="213359"/>
                </a:moveTo>
                <a:lnTo>
                  <a:pt x="9144000" y="213359"/>
                </a:lnTo>
                <a:lnTo>
                  <a:pt x="9144000" y="0"/>
                </a:lnTo>
                <a:lnTo>
                  <a:pt x="0" y="0"/>
                </a:lnTo>
                <a:lnTo>
                  <a:pt x="0" y="21335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13103" y="6822947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70104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3118" y="268350"/>
            <a:ext cx="2368550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75" dirty="0"/>
              <a:t>Workshop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105" dirty="0"/>
              <a:t>iAcademy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63118" y="1800809"/>
            <a:ext cx="773049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5080" indent="-344170">
              <a:lnSpc>
                <a:spcPct val="100000"/>
              </a:lnSpc>
              <a:spcBef>
                <a:spcPts val="95"/>
              </a:spcBef>
              <a:buFont typeface="Times New Roman"/>
              <a:buChar char="•"/>
              <a:tabLst>
                <a:tab pos="356870" algn="l"/>
                <a:tab pos="357505" algn="l"/>
                <a:tab pos="4425315" algn="l"/>
              </a:tabLst>
            </a:pPr>
            <a:r>
              <a:rPr sz="3200" spc="-300" dirty="0">
                <a:latin typeface="Arial"/>
                <a:cs typeface="Arial"/>
              </a:rPr>
              <a:t>Each </a:t>
            </a:r>
            <a:r>
              <a:rPr sz="3200" spc="-75" dirty="0">
                <a:latin typeface="Arial"/>
                <a:cs typeface="Arial"/>
              </a:rPr>
              <a:t>student</a:t>
            </a:r>
            <a:r>
              <a:rPr sz="3200" spc="55" dirty="0">
                <a:latin typeface="Arial"/>
                <a:cs typeface="Arial"/>
              </a:rPr>
              <a:t> </a:t>
            </a:r>
            <a:r>
              <a:rPr sz="3200" spc="10" dirty="0">
                <a:latin typeface="Arial"/>
                <a:cs typeface="Arial"/>
              </a:rPr>
              <a:t>will</a:t>
            </a:r>
            <a:r>
              <a:rPr sz="3200" spc="-140" dirty="0">
                <a:latin typeface="Arial"/>
                <a:cs typeface="Arial"/>
              </a:rPr>
              <a:t> </a:t>
            </a:r>
            <a:r>
              <a:rPr sz="3200" spc="-65" dirty="0">
                <a:latin typeface="Arial"/>
                <a:cs typeface="Arial"/>
              </a:rPr>
              <a:t>install	</a:t>
            </a:r>
            <a:r>
              <a:rPr sz="3200" spc="-125" dirty="0">
                <a:latin typeface="Arial"/>
                <a:cs typeface="Arial"/>
              </a:rPr>
              <a:t>Windows</a:t>
            </a:r>
            <a:r>
              <a:rPr sz="3200" spc="-185" dirty="0">
                <a:latin typeface="Arial"/>
                <a:cs typeface="Arial"/>
              </a:rPr>
              <a:t> </a:t>
            </a:r>
            <a:r>
              <a:rPr sz="3200" spc="-120" dirty="0">
                <a:latin typeface="Arial"/>
                <a:cs typeface="Arial"/>
              </a:rPr>
              <a:t>Operating  </a:t>
            </a:r>
            <a:r>
              <a:rPr sz="3200" spc="-220" dirty="0">
                <a:latin typeface="Arial"/>
                <a:cs typeface="Arial"/>
              </a:rPr>
              <a:t>System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40445" y="0"/>
            <a:ext cx="927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iAcademy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22859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4572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644639"/>
            <a:ext cx="9144000" cy="213360"/>
          </a:xfrm>
          <a:custGeom>
            <a:avLst/>
            <a:gdLst/>
            <a:ahLst/>
            <a:cxnLst/>
            <a:rect l="l" t="t" r="r" b="b"/>
            <a:pathLst>
              <a:path w="9144000" h="213359">
                <a:moveTo>
                  <a:pt x="0" y="213359"/>
                </a:moveTo>
                <a:lnTo>
                  <a:pt x="9144000" y="213359"/>
                </a:lnTo>
                <a:lnTo>
                  <a:pt x="9144000" y="0"/>
                </a:lnTo>
                <a:lnTo>
                  <a:pt x="0" y="0"/>
                </a:lnTo>
                <a:lnTo>
                  <a:pt x="0" y="21335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13103" y="6822947"/>
            <a:ext cx="7931150" cy="0"/>
          </a:xfrm>
          <a:custGeom>
            <a:avLst/>
            <a:gdLst/>
            <a:ahLst/>
            <a:cxnLst/>
            <a:rect l="l" t="t" r="r" b="b"/>
            <a:pathLst>
              <a:path w="7931150">
                <a:moveTo>
                  <a:pt x="0" y="0"/>
                </a:moveTo>
                <a:lnTo>
                  <a:pt x="7930896" y="0"/>
                </a:lnTo>
              </a:path>
            </a:pathLst>
          </a:custGeom>
          <a:ln w="70104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86583" y="1527047"/>
            <a:ext cx="4328160" cy="39745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105" dirty="0"/>
              <a:t>iAcademy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1369</TotalTime>
  <Words>1449</Words>
  <Application>Microsoft Office PowerPoint</Application>
  <PresentationFormat>On-screen Show (4:3)</PresentationFormat>
  <Paragraphs>271</Paragraphs>
  <Slides>37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Arial</vt:lpstr>
      <vt:lpstr>Calibri</vt:lpstr>
      <vt:lpstr>Times New Roman</vt:lpstr>
      <vt:lpstr>TimesNewRomanPS</vt:lpstr>
      <vt:lpstr>TimesNewRomanPSMT</vt:lpstr>
      <vt:lpstr>Wingdings</vt:lpstr>
      <vt:lpstr>Office Theme</vt:lpstr>
      <vt:lpstr>[Computer Architecture  Fundamentals and Concepts]</vt:lpstr>
      <vt:lpstr>Agenda</vt:lpstr>
      <vt:lpstr>Learning Objectives</vt:lpstr>
      <vt:lpstr>Review of Week 5 </vt:lpstr>
      <vt:lpstr>Review of Week 5 (2)</vt:lpstr>
      <vt:lpstr>Q&amp;A ?</vt:lpstr>
      <vt:lpstr>Introductions to operating systems</vt:lpstr>
      <vt:lpstr>Introductions to operating systems</vt:lpstr>
      <vt:lpstr>PowerPoint Presentation</vt:lpstr>
      <vt:lpstr>Operating System:</vt:lpstr>
      <vt:lpstr>Introductions to operating systems</vt:lpstr>
      <vt:lpstr>Kernel mode and OS</vt:lpstr>
      <vt:lpstr>PowerPoint Presentation</vt:lpstr>
      <vt:lpstr>Introductions to operating systems</vt:lpstr>
      <vt:lpstr>Operating Systems helps to:</vt:lpstr>
      <vt:lpstr>OS  Evolution, Hardware &amp;  Structures</vt:lpstr>
      <vt:lpstr>PowerPoint Presentation</vt:lpstr>
      <vt:lpstr>PowerPoint Presentation</vt:lpstr>
      <vt:lpstr>OS Evolution, Hardware &amp;  Structures</vt:lpstr>
      <vt:lpstr>OS Evolution, Hardware &amp;  Structures</vt:lpstr>
      <vt:lpstr>OS Evolution, Hardware &amp;  Structures</vt:lpstr>
      <vt:lpstr>OS Evolution, Hardware &amp;  Structures</vt:lpstr>
      <vt:lpstr>View points of OS</vt:lpstr>
      <vt:lpstr>OS - User Point of View  </vt:lpstr>
      <vt:lpstr>S y s t e m.  View</vt:lpstr>
      <vt:lpstr>Resource Manager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Evolution Of Windows OS</vt:lpstr>
      <vt:lpstr>Evolution Of Android OS</vt:lpstr>
      <vt:lpstr>Q&amp;A ?</vt:lpstr>
      <vt:lpstr>Summary</vt:lpstr>
      <vt:lpstr>Workshop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Corporate Edition</dc:creator>
  <cp:lastModifiedBy>kritika</cp:lastModifiedBy>
  <cp:revision>26</cp:revision>
  <dcterms:created xsi:type="dcterms:W3CDTF">2018-04-09T15:12:00Z</dcterms:created>
  <dcterms:modified xsi:type="dcterms:W3CDTF">2019-04-07T11:03:14Z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2017-04-12T00:00:00Z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2018-04-09T00:00:00Z</vt:filetime>
  </property>
</Properties>
</file>