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64" r:id="rId10"/>
    <p:sldId id="266" r:id="rId11"/>
    <p:sldId id="271" r:id="rId12"/>
    <p:sldId id="267" r:id="rId13"/>
    <p:sldId id="268" r:id="rId14"/>
    <p:sldId id="272" r:id="rId15"/>
    <p:sldId id="274" r:id="rId16"/>
    <p:sldId id="273" r:id="rId17"/>
    <p:sldId id="275" r:id="rId18"/>
    <p:sldId id="276" r:id="rId19"/>
    <p:sldId id="284" r:id="rId20"/>
    <p:sldId id="277" r:id="rId21"/>
    <p:sldId id="278" r:id="rId22"/>
    <p:sldId id="279" r:id="rId23"/>
    <p:sldId id="280" r:id="rId24"/>
    <p:sldId id="281" r:id="rId25"/>
    <p:sldId id="282" r:id="rId26"/>
    <p:sldId id="287" r:id="rId27"/>
    <p:sldId id="288" r:id="rId28"/>
    <p:sldId id="289" r:id="rId29"/>
    <p:sldId id="290" r:id="rId30"/>
    <p:sldId id="291" r:id="rId31"/>
    <p:sldId id="292" r:id="rId32"/>
    <p:sldId id="29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4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E76D0-14AB-476C-9DFD-E8B3A8C86723}" type="datetimeFigureOut">
              <a:rPr lang="en-US" smtClean="0"/>
              <a:t>28-Apr-19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23582-9DCB-4F73-BD36-51D087270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46713" cy="4076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59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6986250" y="-11796713"/>
            <a:ext cx="22134513" cy="12452351"/>
          </a:xfrm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58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28-Apr-19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itle 4"/>
          <p:cNvSpPr>
            <a:spLocks noGrp="1"/>
          </p:cNvSpPr>
          <p:nvPr>
            <p:ph type="ctrTitle"/>
          </p:nvPr>
        </p:nvSpPr>
        <p:spPr>
          <a:xfrm>
            <a:off x="90152" y="618187"/>
            <a:ext cx="11848563" cy="19234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7300" dirty="0"/>
              <a:t>[Computer Architecture and Operating Systems]</a:t>
            </a:r>
            <a:endParaRPr lang="en-GB" altLang="en-US" dirty="0"/>
          </a:p>
        </p:txBody>
      </p:sp>
      <p:sp>
        <p:nvSpPr>
          <p:cNvPr id="2050" name="Subtitle 5"/>
          <p:cNvSpPr>
            <a:spLocks noGrp="1"/>
          </p:cNvSpPr>
          <p:nvPr>
            <p:ph type="subTitle" idx="1"/>
          </p:nvPr>
        </p:nvSpPr>
        <p:spPr>
          <a:xfrm>
            <a:off x="1068947" y="2794715"/>
            <a:ext cx="10715222" cy="3271234"/>
          </a:xfrm>
        </p:spPr>
        <p:txBody>
          <a:bodyPr>
            <a:normAutofit/>
          </a:bodyPr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</a:rPr>
              <a:t>Lecture [8]</a:t>
            </a:r>
          </a:p>
          <a:p>
            <a:pPr algn="ctr"/>
            <a:endParaRPr lang="en-US" altLang="en-US" sz="4800" b="1" dirty="0">
              <a:solidFill>
                <a:schemeClr val="tx1"/>
              </a:solidFill>
            </a:endParaRPr>
          </a:p>
          <a:p>
            <a:pPr algn="ctr"/>
            <a:r>
              <a:rPr lang="en-US" altLang="en-US" sz="5400" b="1" dirty="0">
                <a:solidFill>
                  <a:schemeClr val="tx1"/>
                </a:solidFill>
              </a:rPr>
              <a:t>[ </a:t>
            </a:r>
            <a:r>
              <a:rPr lang="en-GB" altLang="en-US" sz="5400" b="1" dirty="0">
                <a:solidFill>
                  <a:schemeClr val="tx1"/>
                </a:solidFill>
              </a:rPr>
              <a:t>File Concept </a:t>
            </a:r>
            <a:r>
              <a:rPr lang="en-US" altLang="en-US" sz="5400" b="1" dirty="0">
                <a:solidFill>
                  <a:schemeClr val="tx1"/>
                </a:solidFill>
              </a:rPr>
              <a:t>]</a:t>
            </a:r>
            <a:endParaRPr lang="en-GB" altLang="en-US" sz="5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67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itle 1"/>
          <p:cNvSpPr>
            <a:spLocks noGrp="1"/>
          </p:cNvSpPr>
          <p:nvPr>
            <p:ph type="title"/>
          </p:nvPr>
        </p:nvSpPr>
        <p:spPr>
          <a:xfrm>
            <a:off x="1809750" y="268288"/>
            <a:ext cx="8858250" cy="762000"/>
          </a:xfrm>
        </p:spPr>
        <p:txBody>
          <a:bodyPr/>
          <a:lstStyle/>
          <a:p>
            <a:r>
              <a:rPr lang="en-US" alt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341" y="1275008"/>
            <a:ext cx="9207635" cy="5582992"/>
          </a:xfrm>
        </p:spPr>
        <p:txBody>
          <a:bodyPr/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 Lecture Coverage 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concept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methods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structure</a:t>
            </a:r>
            <a:endParaRPr lang="en-US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281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successful completion of this lecture, students will be able to demonstrate: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different file systems</a:t>
            </a:r>
          </a:p>
          <a:p>
            <a:pPr lvl="1"/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file processing system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Review of Week 7 (1)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solidFill>
                  <a:schemeClr val="tx1"/>
                </a:solidFill>
              </a:rPr>
              <a:t>From last week we should have understood: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Process Management 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Process Creation 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Process Termination 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Process Stages</a:t>
            </a:r>
          </a:p>
          <a:p>
            <a:pPr lvl="1"/>
            <a:r>
              <a:rPr lang="en-US" altLang="en-US" sz="2800" dirty="0">
                <a:solidFill>
                  <a:schemeClr val="tx1"/>
                </a:solidFill>
              </a:rPr>
              <a:t>Process Scheduling </a:t>
            </a:r>
          </a:p>
        </p:txBody>
      </p:sp>
    </p:spTree>
    <p:extLst>
      <p:ext uri="{BB962C8B-B14F-4D97-AF65-F5344CB8AC3E}">
        <p14:creationId xmlns:p14="http://schemas.microsoft.com/office/powerpoint/2010/main" val="341628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Review of Week 7 (2)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3200" dirty="0">
                <a:ea typeface="宋体" pitchFamily="2" charset="-122"/>
              </a:rPr>
              <a:t>What are the components three state process model?</a:t>
            </a:r>
          </a:p>
          <a:p>
            <a:pPr marL="0" indent="0">
              <a:buFont typeface="Times New Roman" pitchFamily="16" charset="0"/>
              <a:buNone/>
              <a:defRPr/>
            </a:pPr>
            <a:r>
              <a:rPr lang="en-US" sz="3200" dirty="0">
                <a:ea typeface="宋体" pitchFamily="2" charset="-122"/>
              </a:rPr>
              <a:t> </a:t>
            </a:r>
            <a:endParaRPr lang="en-GB" sz="3200" dirty="0">
              <a:ea typeface="宋体" pitchFamily="2" charset="-122"/>
            </a:endParaRPr>
          </a:p>
          <a:p>
            <a:pPr>
              <a:buFont typeface="Times New Roman" pitchFamily="16" charset="0"/>
              <a:buChar char="•"/>
              <a:defRPr/>
            </a:pPr>
            <a:r>
              <a:rPr lang="en-GB" sz="3200" dirty="0">
                <a:ea typeface="宋体" pitchFamily="2" charset="-122"/>
              </a:rPr>
              <a:t>Why process termination is important part of process management and What happen</a:t>
            </a:r>
            <a:r>
              <a:rPr lang="en-US" sz="3200" dirty="0">
                <a:ea typeface="宋体" pitchFamily="2" charset="-122"/>
              </a:rPr>
              <a:t>s if process never terminates ? </a:t>
            </a:r>
          </a:p>
          <a:p>
            <a:pPr>
              <a:buFont typeface="Times New Roman" pitchFamily="16" charset="0"/>
              <a:buChar char="•"/>
              <a:defRPr/>
            </a:pPr>
            <a:endParaRPr lang="en-GB" dirty="0">
              <a:latin typeface="Times New Roman"/>
              <a:ea typeface="宋体" pitchFamily="2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15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14412"/>
            <a:ext cx="10058400" cy="3464416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FILE CONCEPT</a:t>
            </a:r>
          </a:p>
        </p:txBody>
      </p:sp>
    </p:spTree>
    <p:extLst>
      <p:ext uri="{BB962C8B-B14F-4D97-AF65-F5344CB8AC3E}">
        <p14:creationId xmlns:p14="http://schemas.microsoft.com/office/powerpoint/2010/main" val="105680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197735" y="858089"/>
            <a:ext cx="8564563" cy="576263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en-US" altLang="en-US" dirty="0"/>
              <a:t>File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735" y="1828800"/>
            <a:ext cx="10792496" cy="4391696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 sequence of bits and lines whose meaning is defined by the file’s creators and recorded in a secondary storage. 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files  </a:t>
            </a:r>
          </a:p>
          <a:p>
            <a:pPr lvl="2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</a:p>
          <a:p>
            <a:pPr lvl="2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</a:p>
          <a:p>
            <a:pPr lvl="2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file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(executable file)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89420" y="5254580"/>
            <a:ext cx="1983346" cy="566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Source file</a:t>
            </a:r>
          </a:p>
        </p:txBody>
      </p:sp>
      <p:cxnSp>
        <p:nvCxnSpPr>
          <p:cNvPr id="5" name="Straight Arrow Connector 4"/>
          <p:cNvCxnSpPr>
            <a:stCxn id="2" idx="3"/>
            <a:endCxn id="7" idx="1"/>
          </p:cNvCxnSpPr>
          <p:nvPr/>
        </p:nvCxnSpPr>
        <p:spPr>
          <a:xfrm>
            <a:off x="5872766" y="5537916"/>
            <a:ext cx="413411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006885" y="5254580"/>
            <a:ext cx="1983346" cy="566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executable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3532" y="4855337"/>
            <a:ext cx="1983346" cy="566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Pass it through a complier</a:t>
            </a:r>
          </a:p>
        </p:txBody>
      </p:sp>
    </p:spTree>
    <p:extLst>
      <p:ext uri="{BB962C8B-B14F-4D97-AF65-F5344CB8AC3E}">
        <p14:creationId xmlns:p14="http://schemas.microsoft.com/office/powerpoint/2010/main" val="228919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7632"/>
              </p:ext>
            </p:extLst>
          </p:nvPr>
        </p:nvGraphicFramePr>
        <p:xfrm>
          <a:off x="141668" y="93235"/>
          <a:ext cx="11835684" cy="6714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228">
                  <a:extLst>
                    <a:ext uri="{9D8B030D-6E8A-4147-A177-3AD203B41FA5}">
                      <a16:colId xmlns:a16="http://schemas.microsoft.com/office/drawing/2014/main" val="203254862"/>
                    </a:ext>
                  </a:extLst>
                </a:gridCol>
                <a:gridCol w="3945228">
                  <a:extLst>
                    <a:ext uri="{9D8B030D-6E8A-4147-A177-3AD203B41FA5}">
                      <a16:colId xmlns:a16="http://schemas.microsoft.com/office/drawing/2014/main" val="3608251361"/>
                    </a:ext>
                  </a:extLst>
                </a:gridCol>
                <a:gridCol w="3945228">
                  <a:extLst>
                    <a:ext uri="{9D8B030D-6E8A-4147-A177-3AD203B41FA5}">
                      <a16:colId xmlns:a16="http://schemas.microsoft.com/office/drawing/2014/main" val="1985220169"/>
                    </a:ext>
                  </a:extLst>
                </a:gridCol>
              </a:tblGrid>
              <a:tr h="51856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File type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Usual extension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Function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978536826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Executable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exe, com, bin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Read to run machine language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41541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effectLst/>
                        </a:rPr>
                        <a:t>obj</a:t>
                      </a:r>
                      <a:r>
                        <a:rPr lang="en-US" sz="2400" dirty="0">
                          <a:effectLst/>
                        </a:rPr>
                        <a:t>,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Compiled, machine language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719216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Source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C, java, </a:t>
                      </a:r>
                      <a:r>
                        <a:rPr lang="en-US" sz="2400" dirty="0" err="1">
                          <a:effectLst/>
                        </a:rPr>
                        <a:t>py</a:t>
                      </a:r>
                      <a:r>
                        <a:rPr lang="en-US" sz="2400" dirty="0">
                          <a:effectLst/>
                        </a:rPr>
                        <a:t>, </a:t>
                      </a:r>
                      <a:r>
                        <a:rPr lang="en-US" sz="2400" dirty="0" err="1">
                          <a:effectLst/>
                        </a:rPr>
                        <a:t>asm</a:t>
                      </a:r>
                      <a:r>
                        <a:rPr lang="en-US" sz="2400" dirty="0">
                          <a:effectLst/>
                        </a:rPr>
                        <a:t>,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Source code in various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213547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bat, 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Commands to the command interpreter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053208"/>
                  </a:ext>
                </a:extLst>
              </a:tr>
              <a:tr h="45066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Textual data,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667148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Word 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wp, tex, rrf, doc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Various word processor formats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970976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Archive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arc, zip, 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Related files grouped into one compressed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076530"/>
                  </a:ext>
                </a:extLst>
              </a:tr>
              <a:tr h="801256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Multimedia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effectLst/>
                        </a:rPr>
                        <a:t>mpeg, mov, 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For containing audio/video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991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82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216786" y="888375"/>
            <a:ext cx="8564563" cy="5762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File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1893194"/>
            <a:ext cx="9362183" cy="4243209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/>
                <a:ea typeface="宋体" pitchFamily="2" charset="-122"/>
                <a:cs typeface="Times New Roman"/>
              </a:rPr>
              <a:t>Simple record structure</a:t>
            </a:r>
            <a:endParaRPr lang="en-US" sz="1800" dirty="0">
              <a:latin typeface="Times New Roman"/>
              <a:ea typeface="宋体" pitchFamily="2" charset="-122"/>
              <a:cs typeface="Times New Roman"/>
            </a:endParaRPr>
          </a:p>
          <a:p>
            <a:pPr lvl="2">
              <a:buFont typeface="Times New Roman" pitchFamily="16" charset="0"/>
              <a:buChar char="•"/>
              <a:defRPr/>
            </a:pPr>
            <a:r>
              <a:rPr lang="en-US" sz="1800" dirty="0">
                <a:latin typeface="Times New Roman"/>
                <a:ea typeface="宋体" pitchFamily="2" charset="-122"/>
                <a:cs typeface="Times New Roman"/>
              </a:rPr>
              <a:t>Fixed length</a:t>
            </a:r>
          </a:p>
          <a:p>
            <a:pPr lvl="2">
              <a:buFont typeface="Times New Roman" pitchFamily="16" charset="0"/>
              <a:buChar char="•"/>
              <a:defRPr/>
            </a:pPr>
            <a:r>
              <a:rPr lang="en-US" sz="1800" dirty="0">
                <a:latin typeface="Times New Roman"/>
                <a:ea typeface="宋体" pitchFamily="2" charset="-122"/>
                <a:cs typeface="Times New Roman"/>
              </a:rPr>
              <a:t>Variable length</a:t>
            </a:r>
          </a:p>
          <a:p>
            <a:pPr marL="384048" lvl="2" indent="0">
              <a:buNone/>
              <a:defRPr/>
            </a:pPr>
            <a:endParaRPr lang="en-US" sz="1600" dirty="0">
              <a:latin typeface="Times New Roman"/>
              <a:ea typeface="宋体" pitchFamily="2" charset="-122"/>
              <a:cs typeface="Times New Roman"/>
            </a:endParaRPr>
          </a:p>
          <a:p>
            <a:pPr marL="285750" lvl="1" indent="-285750">
              <a:spcBef>
                <a:spcPts val="700"/>
              </a:spcBef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Times New Roman"/>
                <a:ea typeface="宋体" pitchFamily="2" charset="-122"/>
                <a:cs typeface="Times New Roman"/>
              </a:rPr>
              <a:t> Complex Structures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Formatted document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Re-locatable load file</a:t>
            </a:r>
          </a:p>
          <a:p>
            <a:pPr lvl="1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decides: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pPr lvl="1">
              <a:lnSpc>
                <a:spcPct val="90000"/>
              </a:lnSpc>
              <a:buFont typeface="Times New Roman" pitchFamily="16" charset="0"/>
              <a:buChar char="–"/>
              <a:defRPr/>
            </a:pPr>
            <a:endParaRPr lang="en-US" dirty="0">
              <a:latin typeface="Times New Roman"/>
              <a:ea typeface="宋体" pitchFamily="2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380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203907" y="836859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Attribute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611" y="1854558"/>
            <a:ext cx="10264462" cy="4430332"/>
          </a:xfrm>
        </p:spPr>
        <p:txBody>
          <a:bodyPr/>
          <a:lstStyle/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only information kept in human-readable form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unique tag (number) identifies file within file system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needed for systems that support different types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pointer to file location on device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current file size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controls who can do reading, writing, executing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 date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creation, modification and deletion</a:t>
            </a:r>
          </a:p>
          <a:p>
            <a:pPr lvl="1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identification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data for protection, security, and usage monitoring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files are kept in the directory structure, which is maintained on the disk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162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19" y="133373"/>
            <a:ext cx="4771489" cy="66436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49251" y="1004552"/>
            <a:ext cx="3451538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056841" y="1004552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49251" y="1569076"/>
            <a:ext cx="3451538" cy="3885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49251" y="2431962"/>
            <a:ext cx="3451538" cy="34987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49251" y="2844087"/>
            <a:ext cx="3322749" cy="27260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49251" y="3631842"/>
            <a:ext cx="3052293" cy="106894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039801" y="2206581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801" y="3850782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 and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6841" y="1613082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9410" y="2809743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Size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625" y="133372"/>
            <a:ext cx="4709375" cy="660602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701433" y="3324897"/>
            <a:ext cx="4340313" cy="189104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720630" y="4666440"/>
            <a:ext cx="1637762" cy="45076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565" y="1523466"/>
            <a:ext cx="759854" cy="3602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701432" y="3116687"/>
            <a:ext cx="2125147" cy="309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3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847851" y="476251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8" y="1828800"/>
            <a:ext cx="9681410" cy="425608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Create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Delete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Open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Close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Read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Write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Append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File Seek operation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314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847851" y="476251"/>
            <a:ext cx="8564563" cy="576263"/>
          </a:xfrm>
        </p:spPr>
        <p:txBody>
          <a:bodyPr>
            <a:normAutofit fontScale="90000"/>
          </a:bodyPr>
          <a:lstStyle/>
          <a:p>
            <a:pPr marL="342900" indent="-342900"/>
            <a:r>
              <a:rPr lang="en-US" altLang="en-US" dirty="0"/>
              <a:t>What does it mean to open a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5009" y="2047740"/>
            <a:ext cx="9065968" cy="4037147"/>
          </a:xfrm>
        </p:spPr>
        <p:txBody>
          <a:bodyPr>
            <a:normAutofit/>
          </a:bodyPr>
          <a:lstStyle/>
          <a:p>
            <a:pPr lvl="1"/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pieces of data are needed to manage open files:</a:t>
            </a:r>
          </a:p>
          <a:p>
            <a:pPr lvl="2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pointer: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last read/write location, per process that has the file open</a:t>
            </a:r>
          </a:p>
          <a:p>
            <a:pPr lvl="2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File-open count: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of number of times a file is open – to allow removal of data from open-file table when last processes closes it</a:t>
            </a:r>
          </a:p>
          <a:p>
            <a:pPr lvl="2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location of the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of data access information</a:t>
            </a:r>
          </a:p>
          <a:p>
            <a:pPr lvl="2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rights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per-process access mode information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9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997845" y="927012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File Access Method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2034862"/>
            <a:ext cx="9709912" cy="4050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Sequential Access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 the file system.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Data is accessed one record right after the last. 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Reads cause a pointer to be moved ahead by one. 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Writes allocate space for the record and move the pointer to the new End Of File.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Such a method is reasonable for tape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9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File Access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following operations: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next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next 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Rewind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</a:t>
            </a:r>
          </a:p>
          <a:p>
            <a:pPr marL="201168" lvl="1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154" y="2514600"/>
            <a:ext cx="609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4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210615" y="952769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File Access Method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615" y="1957588"/>
            <a:ext cx="9130362" cy="4127299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Direct Access</a:t>
            </a:r>
          </a:p>
          <a:p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useful for disks. 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file is viewed as a numbered sequence of blocks or records.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There are no restrictions on which blocks are read/written in any order.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User now says "read n" rather than "read next".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"n" is a number relative to the beginning of file, not relative to an absolute physical disk location.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relative block number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76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File Access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1168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following operations:</a:t>
            </a:r>
          </a:p>
          <a:p>
            <a:pPr marL="201168" lvl="1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n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to n / jump to record n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current record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next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next 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rewrite 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7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365161" y="809724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Directory Structure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1" y="1893194"/>
            <a:ext cx="8975815" cy="4191694"/>
          </a:xfrm>
        </p:spPr>
        <p:txBody>
          <a:bodyPr/>
          <a:lstStyle/>
          <a:p>
            <a:pPr marL="342900" lvl="1" indent="-342900">
              <a:spcBef>
                <a:spcPts val="700"/>
              </a:spcBef>
              <a:buFont typeface="Times New Roman" panose="02020603050405020304" pitchFamily="18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collection of nodes containing information about all files</a:t>
            </a:r>
          </a:p>
          <a:p>
            <a:pPr marL="342900" lvl="1" indent="-342900">
              <a:spcBef>
                <a:spcPts val="700"/>
              </a:spcBef>
              <a:buFont typeface="Times New Roman" panose="02020603050405020304" pitchFamily="18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directory</a:t>
            </a:r>
            <a:r>
              <a:rPr lang="en-US" sz="2400" dirty="0"/>
              <a:t> is a file </a:t>
            </a:r>
            <a:r>
              <a:rPr lang="en-US" sz="2400" b="1" dirty="0"/>
              <a:t>system</a:t>
            </a:r>
            <a:r>
              <a:rPr lang="en-US" sz="2400" dirty="0"/>
              <a:t> cataloging structure which contains references to other computer files, and possibly other </a:t>
            </a:r>
            <a:r>
              <a:rPr lang="en-US" sz="2400" b="1" dirty="0"/>
              <a:t>directories</a:t>
            </a:r>
            <a:r>
              <a:rPr lang="en-US" sz="2400" dirty="0"/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pic>
        <p:nvPicPr>
          <p:cNvPr id="22" name="Picture 21" descr="Directory Structu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688" y="3032900"/>
            <a:ext cx="5040312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33" y="5345549"/>
            <a:ext cx="7776837" cy="8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0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File System Organization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2514" y="1737360"/>
            <a:ext cx="8087932" cy="44813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521" y="1964968"/>
            <a:ext cx="657225" cy="3289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729" y="1964968"/>
            <a:ext cx="836122" cy="392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9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487242" y="914133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performed on a directory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851" y="2021982"/>
            <a:ext cx="8493125" cy="4062905"/>
          </a:xfrm>
        </p:spPr>
        <p:txBody>
          <a:bodyPr/>
          <a:lstStyle/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a file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file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a file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 and directories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a file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directory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directory</a:t>
            </a:r>
          </a:p>
          <a:p>
            <a:pPr lvl="1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9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564348" y="939891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Organizing a directory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2283" y="2253802"/>
            <a:ext cx="8988694" cy="3831085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– locating a file quickly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– convenient to users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users can have same name for different files</a:t>
            </a:r>
          </a:p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file can have several different names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– logical grouping of files by properties, (e.g., all Java programs, all games, …)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596545" y="966788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level directory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677" y="1828800"/>
            <a:ext cx="8924300" cy="4256088"/>
          </a:xfrm>
        </p:spPr>
        <p:txBody>
          <a:bodyPr/>
          <a:lstStyle/>
          <a:p>
            <a:pPr lvl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directory for all users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problem </a:t>
            </a:r>
          </a:p>
          <a:p>
            <a:pPr lvl="2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problem</a:t>
            </a:r>
          </a:p>
          <a:p>
            <a:pPr lvl="2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3500439"/>
            <a:ext cx="7077075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98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590273" y="1120195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level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039" y="1893194"/>
            <a:ext cx="8962937" cy="4191694"/>
          </a:xfrm>
        </p:spPr>
        <p:txBody>
          <a:bodyPr/>
          <a:lstStyle/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directory for each user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name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have the same file name for different user</a:t>
            </a:r>
          </a:p>
          <a:p>
            <a:pPr lvl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searching</a:t>
            </a:r>
          </a:p>
          <a:p>
            <a:pPr lvl="2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704" y="3446062"/>
            <a:ext cx="7102475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93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554162" y="1017164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structured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615" y="1931830"/>
            <a:ext cx="9130362" cy="4153057"/>
          </a:xfrm>
        </p:spPr>
        <p:txBody>
          <a:bodyPr/>
          <a:lstStyle/>
          <a:p>
            <a:pPr lvl="2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searching</a:t>
            </a:r>
          </a:p>
          <a:p>
            <a:pPr lvl="2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Capability</a:t>
            </a:r>
          </a:p>
          <a:p>
            <a:pPr lvl="2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directory (working</a:t>
            </a:r>
          </a:p>
          <a:p>
            <a:pPr marL="384048" lvl="2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directory)</a:t>
            </a:r>
          </a:p>
          <a:p>
            <a:pPr lvl="2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to directory last from</a:t>
            </a:r>
          </a:p>
          <a:p>
            <a:pPr marL="384048" lvl="2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</a:t>
            </a:r>
          </a:p>
          <a:p>
            <a:pPr marL="384048" lvl="2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/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spell/mail/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/last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460" y="1931830"/>
            <a:ext cx="6669844" cy="384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01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249251" y="1042921"/>
            <a:ext cx="8564563" cy="57626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Acyclic-Graph Directories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9251" y="1957588"/>
            <a:ext cx="9091725" cy="4127299"/>
          </a:xfrm>
        </p:spPr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shared sub directories and files</a:t>
            </a:r>
          </a:p>
          <a:p>
            <a:pPr lvl="2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676" y="1825111"/>
            <a:ext cx="5477747" cy="423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52038" cy="4233094"/>
          </a:xfrm>
        </p:spPr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3200" dirty="0">
                <a:latin typeface="Times New Roman"/>
                <a:ea typeface="宋体" pitchFamily="2" charset="-122"/>
                <a:cs typeface="Times New Roman"/>
              </a:rPr>
              <a:t>File owner/creator should be able </a:t>
            </a:r>
          </a:p>
          <a:p>
            <a:pPr marL="0" indent="0">
              <a:buNone/>
              <a:defRPr/>
            </a:pPr>
            <a:r>
              <a:rPr lang="en-US" sz="3200" dirty="0">
                <a:latin typeface="Times New Roman"/>
                <a:ea typeface="宋体" pitchFamily="2" charset="-122"/>
                <a:cs typeface="Times New Roman"/>
              </a:rPr>
              <a:t>to control: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atin typeface="Times New Roman"/>
                <a:ea typeface="宋体" pitchFamily="2" charset="-122"/>
                <a:cs typeface="Times New Roman"/>
              </a:rPr>
              <a:t>what can be done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atin typeface="Times New Roman"/>
                <a:ea typeface="宋体" pitchFamily="2" charset="-122"/>
                <a:cs typeface="Times New Roman"/>
              </a:rPr>
              <a:t>by whom</a:t>
            </a:r>
          </a:p>
          <a:p>
            <a:pPr marL="914400" lvl="2" indent="0">
              <a:buNone/>
              <a:defRPr/>
            </a:pPr>
            <a:endParaRPr lang="en-US" sz="3200" dirty="0">
              <a:ea typeface="宋体" pitchFamily="2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758C5A-E755-D44C-99E9-8544178350C8}"/>
              </a:ext>
            </a:extLst>
          </p:cNvPr>
          <p:cNvSpPr/>
          <p:nvPr/>
        </p:nvSpPr>
        <p:spPr>
          <a:xfrm>
            <a:off x="7045377" y="1845734"/>
            <a:ext cx="4272197" cy="37625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Types of access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Read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Write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Execute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Append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Delete</a:t>
            </a:r>
          </a:p>
          <a:p>
            <a:pPr lvl="1">
              <a:buFont typeface="Times New Roman" pitchFamily="16" charset="0"/>
              <a:buChar char="–"/>
              <a:defRPr/>
            </a:pPr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ea typeface="宋体" pitchFamily="2" charset="-122"/>
                <a:cs typeface="Times New Roman"/>
              </a:rPr>
              <a:t>List</a:t>
            </a:r>
          </a:p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197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itchFamily="16" charset="0"/>
              <a:buChar char="•"/>
              <a:tabLst>
                <a:tab pos="1833563" algn="l"/>
                <a:tab pos="4459288" algn="l"/>
                <a:tab pos="5195888" algn="l"/>
                <a:tab pos="5888038" algn="l"/>
              </a:tabLst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Mode of access:  read, write, execute</a:t>
            </a:r>
          </a:p>
          <a:p>
            <a:pPr>
              <a:buFont typeface="Times New Roman" pitchFamily="16" charset="0"/>
              <a:buChar char="•"/>
              <a:tabLst>
                <a:tab pos="1833563" algn="l"/>
                <a:tab pos="4459288" algn="l"/>
                <a:tab pos="5195888" algn="l"/>
                <a:tab pos="5888038" algn="l"/>
              </a:tabLst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Three classes of users</a:t>
            </a:r>
          </a:p>
          <a:p>
            <a:pPr>
              <a:spcBef>
                <a:spcPct val="10000"/>
              </a:spcBef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	</a:t>
            </a:r>
            <a:r>
              <a:rPr lang="en-US" sz="900" dirty="0">
                <a:latin typeface="Times New Roman"/>
                <a:ea typeface="宋体" pitchFamily="2" charset="-122"/>
                <a:cs typeface="Times New Roman"/>
              </a:rPr>
              <a:t>	</a:t>
            </a:r>
            <a:endParaRPr lang="en-US" sz="2400" dirty="0">
              <a:latin typeface="Times New Roman"/>
              <a:ea typeface="宋体" pitchFamily="2" charset="-122"/>
              <a:cs typeface="Times New Roman"/>
              <a:sym typeface="Symbol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8158"/>
              </p:ext>
            </p:extLst>
          </p:nvPr>
        </p:nvGraphicFramePr>
        <p:xfrm>
          <a:off x="756991" y="3012104"/>
          <a:ext cx="5270324" cy="2965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7581">
                  <a:extLst>
                    <a:ext uri="{9D8B030D-6E8A-4147-A177-3AD203B41FA5}">
                      <a16:colId xmlns:a16="http://schemas.microsoft.com/office/drawing/2014/main" val="2536335145"/>
                    </a:ext>
                  </a:extLst>
                </a:gridCol>
                <a:gridCol w="1317581">
                  <a:extLst>
                    <a:ext uri="{9D8B030D-6E8A-4147-A177-3AD203B41FA5}">
                      <a16:colId xmlns:a16="http://schemas.microsoft.com/office/drawing/2014/main" val="1835334947"/>
                    </a:ext>
                  </a:extLst>
                </a:gridCol>
                <a:gridCol w="1317581">
                  <a:extLst>
                    <a:ext uri="{9D8B030D-6E8A-4147-A177-3AD203B41FA5}">
                      <a16:colId xmlns:a16="http://schemas.microsoft.com/office/drawing/2014/main" val="3581984892"/>
                    </a:ext>
                  </a:extLst>
                </a:gridCol>
                <a:gridCol w="1317581">
                  <a:extLst>
                    <a:ext uri="{9D8B030D-6E8A-4147-A177-3AD203B41FA5}">
                      <a16:colId xmlns:a16="http://schemas.microsoft.com/office/drawing/2014/main" val="2190529316"/>
                    </a:ext>
                  </a:extLst>
                </a:gridCol>
              </a:tblGrid>
              <a:tr h="988454">
                <a:tc>
                  <a:txBody>
                    <a:bodyPr/>
                    <a:lstStyle/>
                    <a:p>
                      <a:r>
                        <a:rPr lang="en-US" dirty="0" smtClean="0"/>
                        <a:t>Owner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RWX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16890"/>
                  </a:ext>
                </a:extLst>
              </a:tr>
              <a:tr h="988454">
                <a:tc>
                  <a:txBody>
                    <a:bodyPr/>
                    <a:lstStyle/>
                    <a:p>
                      <a:r>
                        <a:rPr lang="en-US" dirty="0" smtClean="0"/>
                        <a:t>Group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RWX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196174"/>
                  </a:ext>
                </a:extLst>
              </a:tr>
              <a:tr h="988454">
                <a:tc>
                  <a:txBody>
                    <a:bodyPr/>
                    <a:lstStyle/>
                    <a:p>
                      <a:r>
                        <a:rPr lang="en-US" dirty="0" smtClean="0"/>
                        <a:t>Public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RWX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2108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523" y="2059599"/>
            <a:ext cx="6865225" cy="190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0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itchFamily="16" charset="0"/>
              <a:buChar char="•"/>
              <a:tabLst>
                <a:tab pos="1833563" algn="l"/>
                <a:tab pos="4459288" algn="l"/>
                <a:tab pos="5195888" algn="l"/>
                <a:tab pos="5888038" algn="l"/>
              </a:tabLst>
              <a:defRPr/>
            </a:pPr>
            <a:r>
              <a:rPr lang="en-US" dirty="0">
                <a:latin typeface="Times New Roman"/>
                <a:ea typeface="宋体" pitchFamily="2" charset="-122"/>
                <a:cs typeface="Times New Roman"/>
              </a:rPr>
              <a:t>For a particular file (say game) or subdirectory, define an appropriate access.</a:t>
            </a:r>
          </a:p>
          <a:p>
            <a:pPr>
              <a:buFont typeface="Times New Roman" pitchFamily="16" charset="0"/>
              <a:buChar char="•"/>
              <a:tabLst>
                <a:tab pos="1833563" algn="l"/>
                <a:tab pos="4459288" algn="l"/>
                <a:tab pos="5195888" algn="l"/>
                <a:tab pos="5888038" algn="l"/>
              </a:tabLst>
              <a:defRPr/>
            </a:pPr>
            <a:endParaRPr lang="en-US" dirty="0">
              <a:latin typeface="Times New Roman"/>
              <a:ea typeface="宋体" pitchFamily="2" charset="-122"/>
              <a:cs typeface="Times New Roman"/>
            </a:endParaRPr>
          </a:p>
          <a:p>
            <a:pPr marL="914400" lvl="2" indent="0">
              <a:buNone/>
              <a:defRPr/>
            </a:pPr>
            <a:endParaRPr lang="en-US" sz="3200" dirty="0">
              <a:ea typeface="宋体" pitchFamily="2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56224"/>
            <a:ext cx="6591940" cy="28830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930" y="5320243"/>
            <a:ext cx="1809750" cy="65722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50708"/>
              </p:ext>
            </p:extLst>
          </p:nvPr>
        </p:nvGraphicFramePr>
        <p:xfrm>
          <a:off x="8291132" y="2412037"/>
          <a:ext cx="3493038" cy="2423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4346">
                  <a:extLst>
                    <a:ext uri="{9D8B030D-6E8A-4147-A177-3AD203B41FA5}">
                      <a16:colId xmlns:a16="http://schemas.microsoft.com/office/drawing/2014/main" val="974252820"/>
                    </a:ext>
                  </a:extLst>
                </a:gridCol>
                <a:gridCol w="1164346">
                  <a:extLst>
                    <a:ext uri="{9D8B030D-6E8A-4147-A177-3AD203B41FA5}">
                      <a16:colId xmlns:a16="http://schemas.microsoft.com/office/drawing/2014/main" val="36324042"/>
                    </a:ext>
                  </a:extLst>
                </a:gridCol>
                <a:gridCol w="1164346">
                  <a:extLst>
                    <a:ext uri="{9D8B030D-6E8A-4147-A177-3AD203B41FA5}">
                      <a16:colId xmlns:a16="http://schemas.microsoft.com/office/drawing/2014/main" val="3356944262"/>
                    </a:ext>
                  </a:extLst>
                </a:gridCol>
              </a:tblGrid>
              <a:tr h="807834">
                <a:tc>
                  <a:txBody>
                    <a:bodyPr/>
                    <a:lstStyle/>
                    <a:p>
                      <a:r>
                        <a:rPr lang="en-US" dirty="0" smtClean="0"/>
                        <a:t>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336406"/>
                  </a:ext>
                </a:extLst>
              </a:tr>
              <a:tr h="807834">
                <a:tc>
                  <a:txBody>
                    <a:bodyPr/>
                    <a:lstStyle/>
                    <a:p>
                      <a:r>
                        <a:rPr lang="en-US" dirty="0" smtClean="0"/>
                        <a:t>Write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65705"/>
                  </a:ext>
                </a:extLst>
              </a:tr>
              <a:tr h="807834">
                <a:tc>
                  <a:txBody>
                    <a:bodyPr/>
                    <a:lstStyle/>
                    <a:p>
                      <a:r>
                        <a:rPr lang="en-US" dirty="0" smtClean="0"/>
                        <a:t>execute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9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36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Q&amp;A ?</a:t>
            </a:r>
          </a:p>
        </p:txBody>
      </p:sp>
      <p:pic>
        <p:nvPicPr>
          <p:cNvPr id="28674" name="Content Placeholder 3" descr="Any Questions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" r="316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1340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 New Roman" pitchFamily="16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In this lecture we discussed </a:t>
            </a:r>
          </a:p>
          <a:p>
            <a:pPr lvl="1">
              <a:buFont typeface="Times New Roman" pitchFamily="16" charset="0"/>
              <a:buChar char="–"/>
              <a:defRPr/>
            </a:pPr>
            <a:endParaRPr lang="en-US" sz="2400" dirty="0">
              <a:ea typeface="宋体" pitchFamily="2" charset="-122"/>
            </a:endParaRPr>
          </a:p>
          <a:p>
            <a:pPr lvl="1">
              <a:buFont typeface="Times New Roman" pitchFamily="16" charset="0"/>
              <a:buChar char="–"/>
              <a:defRPr/>
            </a:pPr>
            <a:r>
              <a:rPr lang="en-GB" sz="2400" dirty="0">
                <a:latin typeface="Times New Roman"/>
                <a:ea typeface="宋体" pitchFamily="2" charset="-122"/>
                <a:cs typeface="Times New Roman"/>
              </a:rPr>
              <a:t>File concept</a:t>
            </a:r>
            <a:endParaRPr lang="en-US" sz="4400" dirty="0">
              <a:latin typeface="Times New Roman"/>
              <a:ea typeface="宋体" pitchFamily="2" charset="-122"/>
              <a:cs typeface="Times New Roman"/>
            </a:endParaRPr>
          </a:p>
          <a:p>
            <a:pPr lvl="1">
              <a:buFont typeface="Times New Roman" pitchFamily="16" charset="0"/>
              <a:buChar char="–"/>
              <a:defRPr/>
            </a:pPr>
            <a:r>
              <a:rPr lang="en-GB" sz="2400" dirty="0">
                <a:latin typeface="Times New Roman"/>
                <a:ea typeface="宋体" pitchFamily="2" charset="-122"/>
                <a:cs typeface="Times New Roman"/>
              </a:rPr>
              <a:t>Access methods</a:t>
            </a:r>
            <a:endParaRPr lang="en-US" sz="4400" dirty="0">
              <a:latin typeface="Times New Roman"/>
              <a:ea typeface="宋体" pitchFamily="2" charset="-122"/>
              <a:cs typeface="Times New Roman"/>
            </a:endParaRPr>
          </a:p>
          <a:p>
            <a:pPr lvl="1">
              <a:buFont typeface="Times New Roman" pitchFamily="16" charset="0"/>
              <a:buChar char="–"/>
              <a:defRPr/>
            </a:pPr>
            <a:r>
              <a:rPr lang="en-GB" sz="2400" dirty="0">
                <a:latin typeface="Times New Roman"/>
                <a:ea typeface="宋体" pitchFamily="2" charset="-122"/>
                <a:cs typeface="Times New Roman"/>
              </a:rPr>
              <a:t>Directory structure</a:t>
            </a:r>
            <a:endParaRPr lang="en-US" sz="4400" dirty="0">
              <a:latin typeface="Times New Roman"/>
              <a:ea typeface="宋体" pitchFamily="2" charset="-122"/>
              <a:cs typeface="Times New Roman"/>
            </a:endParaRPr>
          </a:p>
          <a:p>
            <a:pPr lvl="1">
              <a:buFont typeface="Times New Roman" pitchFamily="16" charset="0"/>
              <a:buChar char="–"/>
              <a:defRPr/>
            </a:pPr>
            <a:r>
              <a:rPr lang="en-GB" sz="2400" dirty="0">
                <a:latin typeface="Times New Roman"/>
                <a:ea typeface="宋体" pitchFamily="2" charset="-122"/>
                <a:cs typeface="Times New Roman"/>
              </a:rPr>
              <a:t>Protection</a:t>
            </a:r>
            <a:r>
              <a:rPr lang="en-US" sz="2400" dirty="0">
                <a:latin typeface="Times New Roman"/>
                <a:ea typeface="宋体" pitchFamily="2" charset="-122"/>
                <a:cs typeface="Times New Roman"/>
              </a:rPr>
              <a:t> </a:t>
            </a:r>
          </a:p>
          <a:p>
            <a:pPr marL="914400" lvl="2" indent="0">
              <a:buNone/>
              <a:defRPr/>
            </a:pPr>
            <a:endParaRPr lang="en-US" sz="32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17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Workshop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to create file and directory permissions on Linux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00917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386" y="2068088"/>
            <a:ext cx="4327525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6557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454</TotalTime>
  <Words>937</Words>
  <Application>Microsoft Office PowerPoint</Application>
  <PresentationFormat>Widescreen</PresentationFormat>
  <Paragraphs>234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宋体</vt:lpstr>
      <vt:lpstr>Arial</vt:lpstr>
      <vt:lpstr>Calibri</vt:lpstr>
      <vt:lpstr>Calibri Light</vt:lpstr>
      <vt:lpstr>Symbol</vt:lpstr>
      <vt:lpstr>Times New Roman</vt:lpstr>
      <vt:lpstr>Wingdings</vt:lpstr>
      <vt:lpstr>Retrospect</vt:lpstr>
      <vt:lpstr>  [Computer Architecture and Operating Systems]</vt:lpstr>
      <vt:lpstr>Agenda</vt:lpstr>
      <vt:lpstr>Learning Objectives </vt:lpstr>
      <vt:lpstr>Review of Week 7 (1)</vt:lpstr>
      <vt:lpstr>Review of Week 7 (2)</vt:lpstr>
      <vt:lpstr>PowerPoint Presentation</vt:lpstr>
      <vt:lpstr>File Concepts</vt:lpstr>
      <vt:lpstr>PowerPoint Presentation</vt:lpstr>
      <vt:lpstr>File Structure </vt:lpstr>
      <vt:lpstr>File Attribute </vt:lpstr>
      <vt:lpstr>PowerPoint Presentation</vt:lpstr>
      <vt:lpstr>File operations </vt:lpstr>
      <vt:lpstr>What does it mean to open a file?</vt:lpstr>
      <vt:lpstr>File Access Method</vt:lpstr>
      <vt:lpstr>File Access Method</vt:lpstr>
      <vt:lpstr>File Access Method</vt:lpstr>
      <vt:lpstr>File Access Method</vt:lpstr>
      <vt:lpstr>Directory Structure</vt:lpstr>
      <vt:lpstr>Typical File System Organization</vt:lpstr>
      <vt:lpstr>Operations performed on a directory </vt:lpstr>
      <vt:lpstr>Organizing a directory </vt:lpstr>
      <vt:lpstr>Single level directory </vt:lpstr>
      <vt:lpstr>Two level directory</vt:lpstr>
      <vt:lpstr>Tree structured directory</vt:lpstr>
      <vt:lpstr>Acyclic-Graph Directories</vt:lpstr>
      <vt:lpstr>Protection</vt:lpstr>
      <vt:lpstr>Protection</vt:lpstr>
      <vt:lpstr>Protection</vt:lpstr>
      <vt:lpstr>Q&amp;A ?</vt:lpstr>
      <vt:lpstr>Summary </vt:lpstr>
      <vt:lpstr>Workshop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[Computer Architecture and Operating Systems]</dc:title>
  <dc:creator>kritika</dc:creator>
  <cp:lastModifiedBy>kritika</cp:lastModifiedBy>
  <cp:revision>25</cp:revision>
  <dcterms:created xsi:type="dcterms:W3CDTF">2018-05-02T15:28:11Z</dcterms:created>
  <dcterms:modified xsi:type="dcterms:W3CDTF">2019-04-28T04:24:48Z</dcterms:modified>
</cp:coreProperties>
</file>