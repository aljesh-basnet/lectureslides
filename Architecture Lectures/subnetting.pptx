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3" r:id="rId5"/>
    <p:sldId id="261" r:id="rId6"/>
    <p:sldId id="268" r:id="rId7"/>
    <p:sldId id="262" r:id="rId8"/>
    <p:sldId id="264" r:id="rId9"/>
    <p:sldId id="265" r:id="rId10"/>
    <p:sldId id="266" r:id="rId11"/>
    <p:sldId id="267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58"/>
  </p:normalViewPr>
  <p:slideViewPr>
    <p:cSldViewPr snapToGrid="0" snapToObjects="1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A4F5-3EE7-1E48-9456-AE7DC25E1EAD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3DDD3-DEEA-6A40-A1EC-0D1C75377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1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4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5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65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05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24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09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73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40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9DFC-355B-A243-AA38-713F97625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CDF23-3EC7-7241-9F38-16EE909F2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D64AC-217E-254D-BF93-74B4A154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16CD-858A-4C40-89D9-2DE7E702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92DA0-B3F6-E942-9F30-379FC9FE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62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FE83-9E82-804E-9982-02033DE5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732D0-F63E-0D47-9E97-80A6663DE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E431-C4BA-E945-B834-3954FEB9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9E9A1-4887-4F43-A368-13AAFE3C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EE37-7970-2A4B-81FF-54A99513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7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27BA-50B4-754B-A663-467570EF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828D7-13DE-B345-838B-C5FF8CCD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F6C4-8179-A343-902D-C9DD8B5B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DD1FE-5110-E940-B497-F958F64C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CFC51-9916-2D4B-A0FE-4ED6BA3A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2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1086-2536-024F-A70E-0B3492C4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D530-5602-0642-A435-5AFB813FD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096F2-6C86-D649-8BC0-17352B313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7C8F7-985A-B148-AC75-25FBC053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23EE7-2C62-C049-8116-165DCA6C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24B40-E420-004A-8813-9264F09A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6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AD71-7471-6D46-ACB8-55157FDF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7D30E-73B0-8D41-87F0-8582AEB3C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D9575-70DF-A341-B097-C68E039A5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2ACF8-CB34-5543-8DA7-0FD0FB7B4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B0854-17BE-9F48-A744-1D05BDE25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D7554-17A4-A049-9EE9-D817692D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A424B-3ADA-BF4B-8DAC-ACA90CDA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4833F1-25EB-E847-BAB1-8E16F0F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7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C992-3875-0040-8925-0031FB55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37FB1-5534-F04C-93F1-1332AEBD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491D6-31FD-3649-A98A-9F193566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0A03B-F2B0-3F46-9FD6-9C9ABA4D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9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AE284-71AF-264D-9619-61BBD861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58530-1377-5247-BDD2-608EE9CC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627DE-D0A7-4949-A263-534017C4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0876-F1FC-8B42-8626-F33538BE6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6CC8-EF99-3346-803E-9C968AD01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22EC4-3241-A343-9CA1-A9531E13A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F81FB-91A7-2E41-8A60-C840E088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EDB1F-6F6F-6248-9550-1283CC4D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8715B-6BBC-D44E-B7AF-66A83470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5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D94A-95C1-A44A-B451-556414916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8D83F-D594-9641-91A1-7361C4E51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DB8A7-7A21-6A44-8AAF-3E7C7A84A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26092-7028-364B-A11D-346C56BB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BA338-9924-D846-BE02-7407BC70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06F4F-C1C4-544E-9258-36043122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7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A8BE-FA17-9D44-9D85-7F659EC1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1BBA7-50AD-9248-819A-67B1778DC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0CA2E-315E-6F49-8796-6D3E5369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EBB8-BE5D-E54A-A2F2-CEC5A5F8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13AA6-425E-BC46-B1BC-A32162FF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6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200B5-63F9-7746-BE39-73453774A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06A5D-2830-B648-B37A-DADE414B1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B5D3-4F1B-4044-AD30-6183A914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AF37-6DAA-F147-9F1C-248AC5DD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D26B3-9AED-9B4B-991D-93EDDC23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9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89129" y="282574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633" y="134471"/>
            <a:ext cx="10075084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EE13-F686-B844-BCB2-B47BE38B7A6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1DE6-B8D2-0547-AFF3-3DACCB5BB39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97581" y="228600"/>
            <a:ext cx="34787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691" y="1129553"/>
            <a:ext cx="10078613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81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B3BE2-8E9A-2546-8695-AEF950B1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9D02D-0659-F946-B09B-CF4A0982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3383D-B904-0142-9BEE-21A9A90C4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EEB4-D01A-5544-945F-DD279978D3A4}" type="datetimeFigureOut">
              <a:rPr lang="en-US" smtClean="0"/>
              <a:t>15-May-19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5DDEA-AC68-E64C-AB46-BA003ACE3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B8CE9-75FA-164F-BE08-B0734B104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BBF18-BFAC-DE40-B5D7-2E78AB384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9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3245-B58C-2C4E-846B-4F7D989C5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SUBNETTING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FECED-30E1-8341-BB9C-487E8A026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7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05A10-75FF-644B-B524-6B051A17E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01"/>
            <a:ext cx="10515600" cy="1325563"/>
          </a:xfrm>
        </p:spPr>
        <p:txBody>
          <a:bodyPr/>
          <a:lstStyle/>
          <a:p>
            <a:r>
              <a:rPr lang="en-US" dirty="0"/>
              <a:t>IPV4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F251-1A34-C943-A7C7-EA3651ADE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4763799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In IPv4, an address is a 32 bit quantity that uniquely identifies a network interface.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In IPv4 there are (2)</a:t>
            </a:r>
            <a:r>
              <a:rPr lang="en-US" sz="2800" baseline="30000" dirty="0"/>
              <a:t>32</a:t>
            </a:r>
            <a:r>
              <a:rPr lang="en-US" sz="2800" dirty="0"/>
              <a:t> = 4,294,967,296 unique addresses possible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IP addressing was designed to allow hosts on one network to communicate with a host on a different network regardless of the type of LANs the hosts are participating in.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3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322" y="166255"/>
            <a:ext cx="10515600" cy="4656921"/>
          </a:xfrm>
        </p:spPr>
        <p:txBody>
          <a:bodyPr>
            <a:noAutofit/>
          </a:bodyPr>
          <a:lstStyle/>
          <a:p>
            <a:pPr marL="228600" lvl="1" indent="0" algn="just">
              <a:lnSpc>
                <a:spcPct val="150000"/>
              </a:lnSpc>
              <a:buNone/>
            </a:pPr>
            <a:r>
              <a:rPr lang="en-US" sz="2600" b="1" dirty="0"/>
              <a:t>BIT:</a:t>
            </a:r>
            <a:r>
              <a:rPr lang="en-US" sz="2600" dirty="0"/>
              <a:t> A bit is one digit, either a 1 or a 0.</a:t>
            </a:r>
          </a:p>
          <a:p>
            <a:pPr marL="228600" lvl="1" indent="0" algn="just">
              <a:lnSpc>
                <a:spcPct val="150000"/>
              </a:lnSpc>
              <a:buNone/>
            </a:pPr>
            <a:r>
              <a:rPr lang="en-US" sz="2600" b="1" dirty="0"/>
              <a:t>BYTE:</a:t>
            </a:r>
            <a:r>
              <a:rPr lang="en-US" sz="2600" dirty="0"/>
              <a:t> A byte is 7 or 8 bits, depending on whether parity is used. For the rest of this chapter, always assume a byte is 8 bits.</a:t>
            </a:r>
          </a:p>
          <a:p>
            <a:pPr marL="228600" lvl="1" indent="0" algn="just">
              <a:lnSpc>
                <a:spcPct val="150000"/>
              </a:lnSpc>
              <a:buNone/>
            </a:pPr>
            <a:r>
              <a:rPr lang="en-US" sz="2600" b="1" dirty="0"/>
              <a:t>OCTET: </a:t>
            </a:r>
            <a:r>
              <a:rPr lang="en-US" sz="2600" dirty="0"/>
              <a:t> An octet, made up of 8 bits, is just an ordinary 8-bit binary number. In this chapter, the terms byte and octet are completely interchangeable.</a:t>
            </a:r>
          </a:p>
          <a:p>
            <a:pPr marL="228600" lvl="1" indent="0" algn="just">
              <a:lnSpc>
                <a:spcPct val="150000"/>
              </a:lnSpc>
              <a:buNone/>
            </a:pPr>
            <a:r>
              <a:rPr lang="en-US" sz="2600" b="1" dirty="0"/>
              <a:t>Network address: </a:t>
            </a:r>
            <a:r>
              <a:rPr lang="en-US" sz="2600" dirty="0"/>
              <a:t>This is the designation used in routing to send packets to a remote network—for example, 10.0.0.0, 172.16.0.0, and 192.168.10.0.</a:t>
            </a:r>
          </a:p>
          <a:p>
            <a:pPr marL="228600" lvl="1" indent="0" algn="just">
              <a:lnSpc>
                <a:spcPct val="150000"/>
              </a:lnSpc>
              <a:buNone/>
            </a:pPr>
            <a:r>
              <a:rPr lang="en-US" sz="2600" b="1" dirty="0"/>
              <a:t>Broadcast address: </a:t>
            </a:r>
            <a:r>
              <a:rPr lang="en-US" sz="2600" dirty="0"/>
              <a:t>The address used by applications and hosts to send information to all nodes on a network is called the broadcast address.</a:t>
            </a:r>
          </a:p>
          <a:p>
            <a:pPr marL="228600" lvl="1" indent="0" algn="just">
              <a:lnSpc>
                <a:spcPct val="150000"/>
              </a:lnSpc>
              <a:buNone/>
            </a:pPr>
            <a:r>
              <a:rPr lang="en-US" sz="2600" b="1" dirty="0"/>
              <a:t>CIDR</a:t>
            </a:r>
            <a:r>
              <a:rPr lang="en-US" sz="2600" dirty="0"/>
              <a:t> – (classless inter domain routing) total number of network bits</a:t>
            </a:r>
          </a:p>
        </p:txBody>
      </p:sp>
    </p:spTree>
    <p:extLst>
      <p:ext uri="{BB962C8B-B14F-4D97-AF65-F5344CB8AC3E}">
        <p14:creationId xmlns:p14="http://schemas.microsoft.com/office/powerpoint/2010/main" val="80786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pic>
        <p:nvPicPr>
          <p:cNvPr id="4" name="Content Placeholder 3" descr="IP address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94" b="11094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How does IP address look like ?</a:t>
            </a:r>
          </a:p>
        </p:txBody>
      </p:sp>
    </p:spTree>
    <p:extLst>
      <p:ext uri="{BB962C8B-B14F-4D97-AF65-F5344CB8AC3E}">
        <p14:creationId xmlns:p14="http://schemas.microsoft.com/office/powerpoint/2010/main" val="70486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2475" y="1371601"/>
            <a:ext cx="7556313" cy="4754563"/>
          </a:xfrm>
        </p:spPr>
        <p:txBody>
          <a:bodyPr>
            <a:noAutofit/>
          </a:bodyPr>
          <a:lstStyle/>
          <a:p>
            <a:r>
              <a:rPr lang="en-US" dirty="0"/>
              <a:t>Subdividing an IP address into a network and node address is determined by the class designation of one</a:t>
            </a:r>
            <a:r>
              <a:rPr lang="ja-JP" altLang="en-US" dirty="0"/>
              <a:t>’</a:t>
            </a:r>
            <a:r>
              <a:rPr lang="en-US" dirty="0"/>
              <a:t>s network. This figure summarizes the three classes of networks</a:t>
            </a:r>
          </a:p>
          <a:p>
            <a:endParaRPr lang="en-US" dirty="0"/>
          </a:p>
        </p:txBody>
      </p:sp>
      <p:pic>
        <p:nvPicPr>
          <p:cNvPr id="4" name="Picture 9" descr="f021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501" y="3325814"/>
            <a:ext cx="6192308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78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25A9-FFD2-A441-B269-2AA11991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class range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448630-6770-084D-AA35-82D7146D9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889721"/>
              </p:ext>
            </p:extLst>
          </p:nvPr>
        </p:nvGraphicFramePr>
        <p:xfrm>
          <a:off x="1093849" y="1932708"/>
          <a:ext cx="9783948" cy="294805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261316">
                  <a:extLst>
                    <a:ext uri="{9D8B030D-6E8A-4147-A177-3AD203B41FA5}">
                      <a16:colId xmlns:a16="http://schemas.microsoft.com/office/drawing/2014/main" val="3684188222"/>
                    </a:ext>
                  </a:extLst>
                </a:gridCol>
                <a:gridCol w="3261316">
                  <a:extLst>
                    <a:ext uri="{9D8B030D-6E8A-4147-A177-3AD203B41FA5}">
                      <a16:colId xmlns:a16="http://schemas.microsoft.com/office/drawing/2014/main" val="2092715067"/>
                    </a:ext>
                  </a:extLst>
                </a:gridCol>
                <a:gridCol w="3261316">
                  <a:extLst>
                    <a:ext uri="{9D8B030D-6E8A-4147-A177-3AD203B41FA5}">
                      <a16:colId xmlns:a16="http://schemas.microsoft.com/office/drawing/2014/main" val="3100926903"/>
                    </a:ext>
                  </a:extLst>
                </a:gridCol>
              </a:tblGrid>
              <a:tr h="438305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Octet Decimal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 Subnet mask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04115"/>
                  </a:ext>
                </a:extLst>
              </a:tr>
              <a:tr h="43830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– 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255.0.0.0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701399"/>
                  </a:ext>
                </a:extLst>
              </a:tr>
              <a:tr h="438305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128 - 191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255.255.0.0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718438"/>
                  </a:ext>
                </a:extLst>
              </a:tr>
              <a:tr h="438305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192 - 223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255.255.255.0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981593"/>
                  </a:ext>
                </a:extLst>
              </a:tr>
              <a:tr h="438305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224 - 239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Reserved for multicasting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993894"/>
                  </a:ext>
                </a:extLst>
              </a:tr>
              <a:tr h="756526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240 - 254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Experimental, used for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02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05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422E17-3952-FD43-9625-14575F612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2158" y="2590800"/>
            <a:ext cx="10231642" cy="2680494"/>
          </a:xfrm>
        </p:spPr>
      </p:pic>
    </p:spTree>
    <p:extLst>
      <p:ext uri="{BB962C8B-B14F-4D97-AF65-F5344CB8AC3E}">
        <p14:creationId xmlns:p14="http://schemas.microsoft.com/office/powerpoint/2010/main" val="189340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IP Address Format in Dotted Decimal</a:t>
            </a:r>
            <a:endParaRPr lang="en-US" dirty="0"/>
          </a:p>
        </p:txBody>
      </p:sp>
      <p:pic>
        <p:nvPicPr>
          <p:cNvPr id="6" name="Picture 5" descr="dotted 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00" y="1981200"/>
            <a:ext cx="71247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1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IP Address Format in Dotted Decimal</a:t>
            </a:r>
            <a:endParaRPr lang="en-US" dirty="0"/>
          </a:p>
        </p:txBody>
      </p:sp>
      <p:pic>
        <p:nvPicPr>
          <p:cNvPr id="5" name="Picture 4" descr="dotted 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187" y="1719263"/>
            <a:ext cx="72136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5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IP Address Format in Dotted Decimal</a:t>
            </a:r>
            <a:endParaRPr lang="en-US" dirty="0"/>
          </a:p>
        </p:txBody>
      </p:sp>
      <p:pic>
        <p:nvPicPr>
          <p:cNvPr id="6" name="Picture 5" descr="dotted 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0" y="1719263"/>
            <a:ext cx="70866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4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IP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IP Address Format in Dotted Decimal</a:t>
            </a:r>
            <a:endParaRPr lang="en-US" dirty="0"/>
          </a:p>
        </p:txBody>
      </p:sp>
      <p:pic>
        <p:nvPicPr>
          <p:cNvPr id="5" name="Picture 4" descr="dotted 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587" y="1904253"/>
            <a:ext cx="73152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6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1F5B-893F-5246-8823-F3B04777A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Questions….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C298-7D07-F145-AA34-3B1E25C55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 of diving a large network into multiple small networks.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</a:t>
            </a:r>
            <a:r>
              <a:rPr lang="en-US" b="1" dirty="0"/>
              <a:t>Subnet mask</a:t>
            </a:r>
            <a:r>
              <a:rPr lang="en-US" dirty="0" smtClean="0"/>
              <a:t>?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is the </a:t>
            </a:r>
            <a:r>
              <a:rPr lang="en-US" b="1" dirty="0" smtClean="0"/>
              <a:t>number of network</a:t>
            </a:r>
            <a:r>
              <a:rPr lang="en-US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is the </a:t>
            </a:r>
            <a:r>
              <a:rPr lang="en-US" b="1" dirty="0" smtClean="0"/>
              <a:t>number of hosts</a:t>
            </a:r>
            <a:r>
              <a:rPr lang="en-US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How </a:t>
            </a:r>
            <a:r>
              <a:rPr lang="en-US" dirty="0"/>
              <a:t>many </a:t>
            </a:r>
            <a:r>
              <a:rPr lang="en-US" b="1" dirty="0"/>
              <a:t>valid host</a:t>
            </a:r>
            <a:r>
              <a:rPr lang="en-US" dirty="0"/>
              <a:t> are there?</a:t>
            </a:r>
          </a:p>
        </p:txBody>
      </p:sp>
    </p:spTree>
    <p:extLst>
      <p:ext uri="{BB962C8B-B14F-4D97-AF65-F5344CB8AC3E}">
        <p14:creationId xmlns:p14="http://schemas.microsoft.com/office/powerpoint/2010/main" val="302072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4AB8-F62D-1B45-B350-27DBEAA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1CFB3-913C-0D4A-B656-623789A76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10910-F5BB-DF41-9921-076E3F3F0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0CAC93-5F30-774C-99CE-63606BBC2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575974"/>
              </p:ext>
            </p:extLst>
          </p:nvPr>
        </p:nvGraphicFramePr>
        <p:xfrm>
          <a:off x="506700" y="1864940"/>
          <a:ext cx="11178600" cy="435133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1287">
                  <a:extLst>
                    <a:ext uri="{9D8B030D-6E8A-4147-A177-3AD203B41FA5}">
                      <a16:colId xmlns:a16="http://schemas.microsoft.com/office/drawing/2014/main" val="2135427122"/>
                    </a:ext>
                  </a:extLst>
                </a:gridCol>
                <a:gridCol w="1448790">
                  <a:extLst>
                    <a:ext uri="{9D8B030D-6E8A-4147-A177-3AD203B41FA5}">
                      <a16:colId xmlns:a16="http://schemas.microsoft.com/office/drawing/2014/main" val="638071670"/>
                    </a:ext>
                  </a:extLst>
                </a:gridCol>
                <a:gridCol w="1033153">
                  <a:extLst>
                    <a:ext uri="{9D8B030D-6E8A-4147-A177-3AD203B41FA5}">
                      <a16:colId xmlns:a16="http://schemas.microsoft.com/office/drawing/2014/main" val="224155563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05824466"/>
                    </a:ext>
                  </a:extLst>
                </a:gridCol>
                <a:gridCol w="1009403">
                  <a:extLst>
                    <a:ext uri="{9D8B030D-6E8A-4147-A177-3AD203B41FA5}">
                      <a16:colId xmlns:a16="http://schemas.microsoft.com/office/drawing/2014/main" val="1884558007"/>
                    </a:ext>
                  </a:extLst>
                </a:gridCol>
                <a:gridCol w="1068779">
                  <a:extLst>
                    <a:ext uri="{9D8B030D-6E8A-4147-A177-3AD203B41FA5}">
                      <a16:colId xmlns:a16="http://schemas.microsoft.com/office/drawing/2014/main" val="3086092691"/>
                    </a:ext>
                  </a:extLst>
                </a:gridCol>
                <a:gridCol w="997528">
                  <a:extLst>
                    <a:ext uri="{9D8B030D-6E8A-4147-A177-3AD203B41FA5}">
                      <a16:colId xmlns:a16="http://schemas.microsoft.com/office/drawing/2014/main" val="1170720267"/>
                    </a:ext>
                  </a:extLst>
                </a:gridCol>
                <a:gridCol w="1056903">
                  <a:extLst>
                    <a:ext uri="{9D8B030D-6E8A-4147-A177-3AD203B41FA5}">
                      <a16:colId xmlns:a16="http://schemas.microsoft.com/office/drawing/2014/main" val="310983400"/>
                    </a:ext>
                  </a:extLst>
                </a:gridCol>
                <a:gridCol w="1068780">
                  <a:extLst>
                    <a:ext uri="{9D8B030D-6E8A-4147-A177-3AD203B41FA5}">
                      <a16:colId xmlns:a16="http://schemas.microsoft.com/office/drawing/2014/main" val="3543753610"/>
                    </a:ext>
                  </a:extLst>
                </a:gridCol>
                <a:gridCol w="1048949">
                  <a:extLst>
                    <a:ext uri="{9D8B030D-6E8A-4147-A177-3AD203B41FA5}">
                      <a16:colId xmlns:a16="http://schemas.microsoft.com/office/drawing/2014/main" val="1009891411"/>
                    </a:ext>
                  </a:extLst>
                </a:gridCol>
              </a:tblGrid>
              <a:tr h="701209">
                <a:tc>
                  <a:txBody>
                    <a:bodyPr/>
                    <a:lstStyle/>
                    <a:p>
                      <a:r>
                        <a:rPr lang="en-US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480091"/>
                  </a:ext>
                </a:extLst>
              </a:tr>
              <a:tr h="701209">
                <a:tc>
                  <a:txBody>
                    <a:bodyPr/>
                    <a:lstStyle/>
                    <a:p>
                      <a:r>
                        <a:rPr lang="en-US" dirty="0"/>
                        <a:t>hosts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682300"/>
                  </a:ext>
                </a:extLst>
              </a:tr>
              <a:tr h="701209">
                <a:tc>
                  <a:txBody>
                    <a:bodyPr/>
                    <a:lstStyle/>
                    <a:p>
                      <a:r>
                        <a:rPr lang="en-US" dirty="0"/>
                        <a:t>CIDR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89043"/>
                  </a:ext>
                </a:extLst>
              </a:tr>
              <a:tr h="2247710">
                <a:tc>
                  <a:txBody>
                    <a:bodyPr/>
                    <a:lstStyle/>
                    <a:p>
                      <a:r>
                        <a:rPr lang="en-US" dirty="0"/>
                        <a:t>Subnet 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255.255.255.128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255.255.255.</a:t>
                      </a:r>
                    </a:p>
                    <a:p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454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45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435</Words>
  <Application>Microsoft Office PowerPoint</Application>
  <PresentationFormat>Widescreen</PresentationFormat>
  <Paragraphs>108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游ゴシック</vt:lpstr>
      <vt:lpstr>Office Theme</vt:lpstr>
      <vt:lpstr>SUBNETTING</vt:lpstr>
      <vt:lpstr>IPV4</vt:lpstr>
      <vt:lpstr>PowerPoint Presentation</vt:lpstr>
      <vt:lpstr>IP Addressing</vt:lpstr>
      <vt:lpstr>IP Addressing</vt:lpstr>
      <vt:lpstr>IP class range</vt:lpstr>
      <vt:lpstr>IP Addressing</vt:lpstr>
      <vt:lpstr>IP Addressing</vt:lpstr>
      <vt:lpstr>IP Addressing</vt:lpstr>
      <vt:lpstr>IP Addressing</vt:lpstr>
      <vt:lpstr>IP Addressing</vt:lpstr>
      <vt:lpstr>4 Questions….</vt:lpstr>
      <vt:lpstr>subnetting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SUBNETTING</dc:title>
  <dc:creator>Microsoft Office User</dc:creator>
  <cp:lastModifiedBy>kritika</cp:lastModifiedBy>
  <cp:revision>7</cp:revision>
  <dcterms:created xsi:type="dcterms:W3CDTF">2019-03-25T15:27:07Z</dcterms:created>
  <dcterms:modified xsi:type="dcterms:W3CDTF">2019-05-15T09:55:17Z</dcterms:modified>
</cp:coreProperties>
</file>