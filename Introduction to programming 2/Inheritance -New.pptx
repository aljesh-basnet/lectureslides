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28" r:id="rId3"/>
    <p:sldId id="259" r:id="rId4"/>
    <p:sldId id="350" r:id="rId5"/>
    <p:sldId id="351" r:id="rId6"/>
    <p:sldId id="352" r:id="rId7"/>
    <p:sldId id="353" r:id="rId8"/>
    <p:sldId id="344" r:id="rId9"/>
    <p:sldId id="355" r:id="rId10"/>
    <p:sldId id="356" r:id="rId11"/>
    <p:sldId id="357" r:id="rId12"/>
    <p:sldId id="358" r:id="rId13"/>
    <p:sldId id="363" r:id="rId14"/>
    <p:sldId id="361" r:id="rId15"/>
    <p:sldId id="349" r:id="rId16"/>
    <p:sldId id="365" r:id="rId17"/>
    <p:sldId id="354" r:id="rId18"/>
    <p:sldId id="366" r:id="rId19"/>
    <p:sldId id="359" r:id="rId20"/>
    <p:sldId id="360" r:id="rId21"/>
    <p:sldId id="362" r:id="rId22"/>
    <p:sldId id="364" r:id="rId23"/>
    <p:sldId id="32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1" clrIdx="0">
    <p:extLst>
      <p:ext uri="{19B8F6BF-5375-455C-9EA6-DF929625EA0E}">
        <p15:presenceInfo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2F4C4-E14E-4534-A7A4-B6308ECC75A2}" type="datetimeFigureOut">
              <a:rPr lang="en-US" smtClean="0"/>
              <a:t>6/24/2019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F8F61-DFB9-4C53-8F2D-331560369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5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96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79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38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4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40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5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41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71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9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10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90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43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06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18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55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59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44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38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640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F8F61-DFB9-4C53-8F2D-3315603699A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1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A433-98F9-4DA0-A829-D5EA39EA323E}" type="datetime1">
              <a:rPr lang="en-US" smtClean="0"/>
              <a:t>6/24/2019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18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EF650-9C9C-4EE1-9909-91CF0E287C73}" type="datetime1">
              <a:rPr lang="en-US" smtClean="0"/>
              <a:t>6/24/2019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7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E474D-B034-4EBD-BD20-6A2F94A79F16}" type="datetime1">
              <a:rPr lang="en-US" smtClean="0"/>
              <a:t>6/24/2019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1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97C8-0022-4B24-AD73-7616F9F709D6}" type="datetime1">
              <a:rPr lang="en-US" smtClean="0"/>
              <a:t>6/24/2019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1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7A9E-3154-4A8A-AD59-59BAE2341F25}" type="datetime1">
              <a:rPr lang="en-US" smtClean="0"/>
              <a:t>6/24/2019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3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7B4F6-F204-47F2-9F0F-CA05A86FE55B}" type="datetime1">
              <a:rPr lang="en-US" smtClean="0"/>
              <a:t>6/24/2019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E60A-DE44-449A-9D79-177E8671A11D}" type="datetime1">
              <a:rPr lang="en-US" smtClean="0"/>
              <a:t>6/24/2019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7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8272D-F13C-4EE2-898B-15DDD068B541}" type="datetime1">
              <a:rPr lang="en-US" smtClean="0"/>
              <a:t>6/24/2019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5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24DD0-7D85-4055-AB96-8DF049EC187C}" type="datetime1">
              <a:rPr lang="en-US" smtClean="0"/>
              <a:t>6/24/2019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5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86EAC-9655-4A59-A199-23796FB40A00}" type="datetime1">
              <a:rPr lang="en-US" smtClean="0"/>
              <a:t>6/24/2019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2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6F1A0-DD89-44E3-87FD-986661AECDB6}" type="datetime1">
              <a:rPr lang="en-US" smtClean="0"/>
              <a:t>6/24/2019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2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6DEE0-E4BB-4287-95CB-3C1E0E7185CC}" type="datetime1">
              <a:rPr lang="en-US" smtClean="0"/>
              <a:t>6/24/2019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713F3-D376-4562-BB1D-2D0737918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oalkicker.com/JavaBook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hyperlink" Target="https://www.youtube.com/watch?v=bn3zKuU6gwI&amp;list=PLGwb7xZHg-oMzLwqeyvdI7R_OWVMQFyce" TargetMode="External"/><Relationship Id="rId4" Type="http://schemas.openxmlformats.org/officeDocument/2006/relationships/hyperlink" Target="https://www.edureka.co/blog/inheritance-in-ja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3242" y="1678099"/>
            <a:ext cx="9616224" cy="23876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+mn-lt"/>
              </a:rPr>
              <a:t>Inheritance</a:t>
            </a:r>
            <a:endParaRPr lang="en-US" sz="54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37172" y="4700588"/>
            <a:ext cx="3451539" cy="1655762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 Prasad Shrestha</a:t>
            </a:r>
          </a:p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Lecturer/Tutor at HCK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474" y="216056"/>
            <a:ext cx="2955173" cy="13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534" y="1741883"/>
            <a:ext cx="101645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/>
              <a:t>What is Inheritance?</a:t>
            </a:r>
            <a:endParaRPr lang="en-US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Inheritance </a:t>
            </a:r>
            <a:r>
              <a:rPr lang="en-GB" sz="3600" dirty="0"/>
              <a:t>in </a:t>
            </a:r>
            <a:r>
              <a:rPr lang="en-GB" sz="3600" dirty="0" smtClean="0"/>
              <a:t>Java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Types </a:t>
            </a:r>
            <a:r>
              <a:rPr lang="en-GB" sz="3600" dirty="0"/>
              <a:t>of Inheritance </a:t>
            </a:r>
            <a:r>
              <a:rPr lang="en-GB" sz="3600" dirty="0" smtClean="0"/>
              <a:t>in Java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Multiple Inheritance support in Java</a:t>
            </a:r>
            <a:endParaRPr lang="en-US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super keyword in Java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The </a:t>
            </a:r>
            <a:r>
              <a:rPr lang="en-GB" sz="3600" i="1" dirty="0" err="1"/>
              <a:t>instanceof</a:t>
            </a:r>
            <a:r>
              <a:rPr lang="en-GB" sz="3600" i="1" dirty="0"/>
              <a:t> </a:t>
            </a:r>
            <a:r>
              <a:rPr lang="en-GB" sz="3600" dirty="0" smtClean="0"/>
              <a:t>Operator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Advantages of </a:t>
            </a:r>
            <a:r>
              <a:rPr lang="en-GB" sz="3600" dirty="0" smtClean="0"/>
              <a:t>Inheritance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“IS-A” </a:t>
            </a:r>
            <a:r>
              <a:rPr lang="en-GB" sz="3600" dirty="0" err="1" smtClean="0"/>
              <a:t>vs</a:t>
            </a:r>
            <a:r>
              <a:rPr lang="en-GB" sz="3600" dirty="0" smtClean="0"/>
              <a:t> “HAS-A” relationship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Object Class in Java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04233"/>
            <a:ext cx="11128513" cy="46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16056"/>
            <a:ext cx="2782647" cy="12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1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Inheritance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1412" y="1617967"/>
            <a:ext cx="1016450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Inheritance can be defined as the process where one class acquires the properties (methods and </a:t>
            </a:r>
            <a:r>
              <a:rPr lang="en-GB" sz="3600" dirty="0" smtClean="0"/>
              <a:t>variables) </a:t>
            </a:r>
            <a:r>
              <a:rPr lang="en-GB" sz="3600" dirty="0"/>
              <a:t>of </a:t>
            </a:r>
            <a:r>
              <a:rPr lang="en-GB" sz="3600" dirty="0" smtClean="0"/>
              <a:t>another class. </a:t>
            </a:r>
            <a:endParaRPr lang="en-GB" sz="3600" dirty="0"/>
          </a:p>
          <a:p>
            <a:endParaRPr lang="en-GB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 smtClean="0"/>
              <a:t>The </a:t>
            </a:r>
            <a:r>
              <a:rPr lang="en-GB" sz="3600" dirty="0"/>
              <a:t>class which inherits the properties of other is known as </a:t>
            </a:r>
            <a:r>
              <a:rPr lang="en-GB" sz="3600" b="1" dirty="0">
                <a:solidFill>
                  <a:schemeClr val="accent2">
                    <a:lumMod val="75000"/>
                  </a:schemeClr>
                </a:solidFill>
              </a:rPr>
              <a:t>subclass</a:t>
            </a:r>
            <a:r>
              <a:rPr lang="en-GB" sz="3600" dirty="0"/>
              <a:t> (derived class, child class) and the class whose properties are inherited is known as </a:t>
            </a:r>
            <a:r>
              <a:rPr lang="en-GB" sz="3600" b="1" dirty="0">
                <a:solidFill>
                  <a:schemeClr val="accent2">
                    <a:lumMod val="75000"/>
                  </a:schemeClr>
                </a:solidFill>
              </a:rPr>
              <a:t>superclass</a:t>
            </a:r>
            <a:r>
              <a:rPr lang="en-GB" sz="3600" dirty="0"/>
              <a:t> (base class, parent class).</a:t>
            </a: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327062" cy="67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5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9293" y="1871930"/>
            <a:ext cx="10164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497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171" y="1716622"/>
            <a:ext cx="4792686" cy="46397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68560" y="6356350"/>
            <a:ext cx="5342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Ref: https</a:t>
            </a:r>
            <a:r>
              <a:rPr lang="en-US" dirty="0"/>
              <a:t>://www.edureka.co/blog/inheritance-in-java/</a:t>
            </a:r>
          </a:p>
        </p:txBody>
      </p:sp>
    </p:spTree>
    <p:extLst>
      <p:ext uri="{BB962C8B-B14F-4D97-AF65-F5344CB8AC3E}">
        <p14:creationId xmlns:p14="http://schemas.microsoft.com/office/powerpoint/2010/main" val="363333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/>
              <a:t>Inheritance in Java</a:t>
            </a:r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9293" y="1871930"/>
            <a:ext cx="1016450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U</a:t>
            </a:r>
            <a:r>
              <a:rPr lang="en-US" sz="3600" dirty="0" smtClean="0"/>
              <a:t>sing </a:t>
            </a:r>
            <a:r>
              <a:rPr lang="en-US" sz="3600" dirty="0"/>
              <a:t>the keyword </a:t>
            </a:r>
            <a:r>
              <a:rPr lang="en-US" sz="3600" dirty="0" smtClean="0">
                <a:solidFill>
                  <a:schemeClr val="accent2"/>
                </a:solidFill>
              </a:rPr>
              <a:t>extends</a:t>
            </a:r>
          </a:p>
          <a:p>
            <a:endParaRPr lang="en-US" sz="36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With the use of the extends keyword among classes, </a:t>
            </a:r>
            <a:r>
              <a:rPr lang="en-US" sz="3600" dirty="0">
                <a:solidFill>
                  <a:schemeClr val="accent2"/>
                </a:solidFill>
              </a:rPr>
              <a:t>all the properties of the superclass </a:t>
            </a:r>
            <a:r>
              <a:rPr lang="en-US" sz="3600" dirty="0"/>
              <a:t>(also known as the </a:t>
            </a:r>
            <a:r>
              <a:rPr lang="en-US" sz="3600" dirty="0" err="1"/>
              <a:t>ParentClass</a:t>
            </a:r>
            <a:r>
              <a:rPr lang="en-US" sz="3600" dirty="0"/>
              <a:t> or Base Class) </a:t>
            </a:r>
            <a:r>
              <a:rPr lang="en-US" sz="3600" dirty="0">
                <a:solidFill>
                  <a:schemeClr val="accent2"/>
                </a:solidFill>
              </a:rPr>
              <a:t>are present in the subclass</a:t>
            </a:r>
            <a:r>
              <a:rPr lang="en-US" sz="3600" dirty="0"/>
              <a:t> (also known as the Child Class or Derived Class</a:t>
            </a:r>
            <a:r>
              <a:rPr lang="en-US" sz="3600" dirty="0" smtClean="0"/>
              <a:t>)</a:t>
            </a:r>
          </a:p>
          <a:p>
            <a:endParaRPr lang="en-US" sz="3600" dirty="0" smtClean="0"/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456537"/>
            <a:ext cx="11288426" cy="93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8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lvl="0" algn="l"/>
            <a:r>
              <a:rPr lang="en-GB" sz="4000" dirty="0" smtClean="0"/>
              <a:t>Syntax:</a:t>
            </a:r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9293" y="1871930"/>
            <a:ext cx="101645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accent1"/>
                </a:solidFill>
              </a:rPr>
              <a:t>public class </a:t>
            </a:r>
            <a:r>
              <a:rPr lang="en-US" sz="3600" dirty="0" err="1" smtClean="0">
                <a:solidFill>
                  <a:schemeClr val="accent1"/>
                </a:solidFill>
              </a:rPr>
              <a:t>SuperClass</a:t>
            </a:r>
            <a:r>
              <a:rPr lang="en-US" sz="3600" dirty="0" smtClean="0">
                <a:solidFill>
                  <a:schemeClr val="accent1"/>
                </a:solidFill>
              </a:rPr>
              <a:t>{</a:t>
            </a:r>
          </a:p>
          <a:p>
            <a:r>
              <a:rPr lang="en-US" sz="3600" dirty="0" smtClean="0">
                <a:solidFill>
                  <a:schemeClr val="accent1"/>
                </a:solidFill>
              </a:rPr>
              <a:t>		….</a:t>
            </a:r>
            <a:endParaRPr lang="en-US" sz="3600" dirty="0">
              <a:solidFill>
                <a:schemeClr val="accent1"/>
              </a:solidFill>
            </a:endParaRPr>
          </a:p>
          <a:p>
            <a:r>
              <a:rPr lang="en-US" sz="3600" dirty="0" smtClean="0">
                <a:solidFill>
                  <a:schemeClr val="accent1"/>
                </a:solidFill>
              </a:rPr>
              <a:t>}</a:t>
            </a:r>
          </a:p>
          <a:p>
            <a:endParaRPr lang="en-US" sz="3600" dirty="0">
              <a:solidFill>
                <a:schemeClr val="accent1"/>
              </a:solidFill>
            </a:endParaRPr>
          </a:p>
          <a:p>
            <a:r>
              <a:rPr lang="en-US" sz="3600" dirty="0" smtClean="0">
                <a:solidFill>
                  <a:schemeClr val="accent1"/>
                </a:solidFill>
              </a:rPr>
              <a:t>public class </a:t>
            </a:r>
            <a:r>
              <a:rPr lang="en-US" sz="3600" dirty="0" err="1" smtClean="0">
                <a:solidFill>
                  <a:schemeClr val="accent1"/>
                </a:solidFill>
              </a:rPr>
              <a:t>SubClass</a:t>
            </a:r>
            <a:r>
              <a:rPr lang="en-US" sz="3600" dirty="0" smtClean="0">
                <a:solidFill>
                  <a:schemeClr val="accent1"/>
                </a:solidFill>
              </a:rPr>
              <a:t> </a:t>
            </a:r>
            <a:r>
              <a:rPr lang="en-US" sz="3600" u="sng" dirty="0" smtClean="0">
                <a:solidFill>
                  <a:schemeClr val="accent1"/>
                </a:solidFill>
              </a:rPr>
              <a:t>extends</a:t>
            </a:r>
            <a:r>
              <a:rPr lang="en-US" sz="3600" dirty="0" smtClean="0">
                <a:solidFill>
                  <a:schemeClr val="accent1"/>
                </a:solidFill>
              </a:rPr>
              <a:t> </a:t>
            </a:r>
            <a:r>
              <a:rPr lang="en-US" sz="3600" dirty="0" err="1" smtClean="0">
                <a:solidFill>
                  <a:schemeClr val="accent1"/>
                </a:solidFill>
              </a:rPr>
              <a:t>SuperClass</a:t>
            </a:r>
            <a:r>
              <a:rPr lang="en-US" sz="3600" dirty="0" smtClean="0">
                <a:solidFill>
                  <a:schemeClr val="accent1"/>
                </a:solidFill>
              </a:rPr>
              <a:t>{</a:t>
            </a:r>
          </a:p>
          <a:p>
            <a:r>
              <a:rPr lang="en-US" sz="3600" dirty="0" smtClean="0">
                <a:solidFill>
                  <a:schemeClr val="accent1"/>
                </a:solidFill>
              </a:rPr>
              <a:t>		….</a:t>
            </a:r>
            <a:endParaRPr lang="en-US" sz="3600" dirty="0">
              <a:solidFill>
                <a:schemeClr val="accent1"/>
              </a:solidFill>
            </a:endParaRPr>
          </a:p>
          <a:p>
            <a:r>
              <a:rPr lang="en-US" sz="3600" dirty="0" smtClean="0">
                <a:solidFill>
                  <a:schemeClr val="accent1"/>
                </a:solidFill>
              </a:rPr>
              <a:t>}</a:t>
            </a:r>
          </a:p>
          <a:p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23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4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Types of </a:t>
            </a:r>
            <a:r>
              <a:rPr lang="en-US" sz="4000" b="1" dirty="0" smtClean="0"/>
              <a:t>Inheritance </a:t>
            </a:r>
            <a:r>
              <a:rPr lang="en-US" sz="4000" b="1" dirty="0"/>
              <a:t>in Java</a:t>
            </a:r>
          </a:p>
          <a:p>
            <a:pPr lvl="0" algn="l"/>
            <a:endParaRPr lang="en-GB" sz="4000" dirty="0" smtClean="0"/>
          </a:p>
          <a:p>
            <a:pPr lvl="0" algn="l"/>
            <a:endParaRPr lang="en-GB" sz="4000" dirty="0"/>
          </a:p>
          <a:p>
            <a:pPr algn="l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50504"/>
            <a:ext cx="117013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593" y="2043022"/>
            <a:ext cx="8225678" cy="3952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49734" y="6191356"/>
            <a:ext cx="5289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Ref:https</a:t>
            </a:r>
            <a:r>
              <a:rPr lang="en-US" dirty="0"/>
              <a:t>://www.edureka.co/blog/inheritance-in-java/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396" y="1891323"/>
            <a:ext cx="46750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“IS-A” relationship between classes.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5259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719356" y="836296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Inheritance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4290" y="1667187"/>
            <a:ext cx="10891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single inheritance, one class inherits the properties of </a:t>
            </a:r>
            <a:r>
              <a:rPr lang="en-US" sz="2800" dirty="0" smtClean="0"/>
              <a:t>one parent class.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4"/>
            <a:ext cx="11430093" cy="33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33363" y="2608109"/>
            <a:ext cx="224092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Animal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33363" y="4602187"/>
            <a:ext cx="224092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Dog</a:t>
            </a:r>
            <a:endParaRPr lang="en-US" dirty="0"/>
          </a:p>
        </p:txBody>
      </p:sp>
      <p:sp>
        <p:nvSpPr>
          <p:cNvPr id="12" name="Up Arrow 11"/>
          <p:cNvSpPr/>
          <p:nvPr/>
        </p:nvSpPr>
        <p:spPr>
          <a:xfrm flipH="1">
            <a:off x="5550790" y="3522509"/>
            <a:ext cx="154550" cy="10796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705340" y="400533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 A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115557" y="5833130"/>
            <a:ext cx="2870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Dog </a:t>
            </a:r>
            <a:r>
              <a:rPr lang="en-US" sz="2800" dirty="0" smtClean="0">
                <a:solidFill>
                  <a:schemeClr val="accent2"/>
                </a:solidFill>
              </a:rPr>
              <a:t>“IS A” </a:t>
            </a:r>
            <a:r>
              <a:rPr lang="en-US" sz="2800" dirty="0" smtClean="0"/>
              <a:t>Animal.</a:t>
            </a:r>
            <a:endParaRPr lang="en-US" sz="2800" dirty="0"/>
          </a:p>
        </p:txBody>
      </p:sp>
      <p:cxnSp>
        <p:nvCxnSpPr>
          <p:cNvPr id="22" name="Straight Connector 21"/>
          <p:cNvCxnSpPr>
            <a:endCxn id="23" idx="2"/>
          </p:cNvCxnSpPr>
          <p:nvPr/>
        </p:nvCxnSpPr>
        <p:spPr>
          <a:xfrm flipV="1">
            <a:off x="6394364" y="3020801"/>
            <a:ext cx="1693569" cy="53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087933" y="2628930"/>
            <a:ext cx="1893194" cy="78374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SuperClass</a:t>
            </a:r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6774286" y="5177307"/>
            <a:ext cx="1532587" cy="12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81113" y="4790941"/>
            <a:ext cx="1700014" cy="8435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SubClass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94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719356" y="836296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 Inheritance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4290" y="1667187"/>
            <a:ext cx="1089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When a class is derived from a class which is also derived from another class, i.e. a class having more than one parent class but at different levels, such type of inheritance is called Multilevel Inheritance.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225287" y="1550505"/>
            <a:ext cx="11558882" cy="337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35828" y="2999556"/>
            <a:ext cx="207349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Animal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881093" y="4374651"/>
            <a:ext cx="2182969" cy="888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Dog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868214" y="5692417"/>
            <a:ext cx="2195848" cy="8056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Puppy</a:t>
            </a:r>
            <a:endParaRPr lang="en-US" dirty="0"/>
          </a:p>
        </p:txBody>
      </p:sp>
      <p:sp>
        <p:nvSpPr>
          <p:cNvPr id="16" name="Up Arrow 15"/>
          <p:cNvSpPr/>
          <p:nvPr/>
        </p:nvSpPr>
        <p:spPr>
          <a:xfrm>
            <a:off x="5803542" y="3913956"/>
            <a:ext cx="228600" cy="46069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 Arrow 16"/>
          <p:cNvSpPr/>
          <p:nvPr/>
        </p:nvSpPr>
        <p:spPr>
          <a:xfrm>
            <a:off x="5803542" y="5263293"/>
            <a:ext cx="251138" cy="42912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054680" y="4045705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 A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032142" y="5323085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08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719356" y="836296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Inheritance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4290" y="1667187"/>
            <a:ext cx="10891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When a class has more than one child classes (subclasses) or in other words, more than one child classes have the same parent class, then such kind of inheritance is known as </a:t>
            </a:r>
            <a:r>
              <a:rPr lang="en-US" sz="2800" b="1" dirty="0">
                <a:solidFill>
                  <a:schemeClr val="accent2"/>
                </a:solidFill>
              </a:rPr>
              <a:t>hierarchical</a:t>
            </a:r>
            <a:r>
              <a:rPr lang="en-US" sz="2800" dirty="0"/>
              <a:t>.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84127" y="3243601"/>
            <a:ext cx="207349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Animal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18889" y="5278475"/>
            <a:ext cx="1979897" cy="888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Dog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573047" y="417233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IS A</a:t>
            </a:r>
            <a:endParaRPr lang="en-US" sz="2400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3270087" y="4195428"/>
            <a:ext cx="1827493" cy="110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8920" y="5289491"/>
            <a:ext cx="1683913" cy="888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13" idx="0"/>
            <a:endCxn id="6" idx="2"/>
          </p:cNvCxnSpPr>
          <p:nvPr/>
        </p:nvCxnSpPr>
        <p:spPr>
          <a:xfrm flipH="1" flipV="1">
            <a:off x="6020876" y="4158001"/>
            <a:ext cx="1" cy="1131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124783" y="4326650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41685" y="5196147"/>
            <a:ext cx="146067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Rabbit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6631945" y="4191629"/>
            <a:ext cx="1951696" cy="108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741685" y="4215252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 A</a:t>
            </a:r>
          </a:p>
        </p:txBody>
      </p:sp>
    </p:spTree>
    <p:extLst>
      <p:ext uri="{BB962C8B-B14F-4D97-AF65-F5344CB8AC3E}">
        <p14:creationId xmlns:p14="http://schemas.microsoft.com/office/powerpoint/2010/main" val="51609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719356" y="836296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Inheritance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4290" y="1668120"/>
            <a:ext cx="108910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Hybrid</a:t>
            </a:r>
            <a:r>
              <a:rPr lang="en-US" sz="2800" b="1" dirty="0"/>
              <a:t> </a:t>
            </a:r>
            <a:r>
              <a:rPr lang="en-US" sz="2800" dirty="0"/>
              <a:t>inheritance is a combination of </a:t>
            </a:r>
            <a:r>
              <a:rPr lang="en-US" sz="2800" i="1" dirty="0"/>
              <a:t>two or more </a:t>
            </a:r>
            <a:r>
              <a:rPr lang="en-US" sz="2800" dirty="0"/>
              <a:t>types of inheritance.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38359" y="2558197"/>
            <a:ext cx="207349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Animal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143843" y="4621937"/>
            <a:ext cx="1752561" cy="868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Dog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93147" y="375358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IS A</a:t>
            </a:r>
            <a:endParaRPr lang="en-US" sz="2400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3126458" y="3471392"/>
            <a:ext cx="1827493" cy="1106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745448" y="4644138"/>
            <a:ext cx="1683913" cy="888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5725239" y="3485476"/>
            <a:ext cx="694" cy="1158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41156" y="3960796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8406" y="4577536"/>
            <a:ext cx="146067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Rabbit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6531884" y="3485476"/>
            <a:ext cx="1609826" cy="1060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415374" y="3796084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3843" y="6068499"/>
            <a:ext cx="1798841" cy="611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Puppy</a:t>
            </a:r>
            <a:endParaRPr lang="en-US" dirty="0"/>
          </a:p>
        </p:txBody>
      </p:sp>
      <p:cxnSp>
        <p:nvCxnSpPr>
          <p:cNvPr id="25" name="Straight Arrow Connector 24"/>
          <p:cNvCxnSpPr>
            <a:stCxn id="22" idx="0"/>
            <a:endCxn id="11" idx="2"/>
          </p:cNvCxnSpPr>
          <p:nvPr/>
        </p:nvCxnSpPr>
        <p:spPr>
          <a:xfrm flipH="1" flipV="1">
            <a:off x="3020124" y="5490730"/>
            <a:ext cx="23140" cy="577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032370" y="5611937"/>
            <a:ext cx="6495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 A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9504608" y="2558197"/>
            <a:ext cx="20219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9633397" y="5490730"/>
            <a:ext cx="20219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0341735" y="2558197"/>
            <a:ext cx="0" cy="12378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0341735" y="4422461"/>
            <a:ext cx="0" cy="1065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129644" y="3485476"/>
            <a:ext cx="2224156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smtClean="0"/>
              <a:t>Hierarchical Inheritance </a:t>
            </a:r>
            <a:endParaRPr lang="en-US" b="1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525354" y="4658566"/>
            <a:ext cx="12311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33054" y="6675058"/>
            <a:ext cx="12234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093122" y="4658566"/>
            <a:ext cx="16315" cy="8054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1109437" y="6068499"/>
            <a:ext cx="0" cy="6117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257372" y="5381337"/>
            <a:ext cx="1767156" cy="74608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Single Inheritance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67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481071" y="802541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Support in Java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95" y="1617967"/>
            <a:ext cx="108910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Multiple inheritance refers to the process where </a:t>
            </a:r>
            <a:r>
              <a:rPr lang="en-US" sz="2800" dirty="0">
                <a:solidFill>
                  <a:schemeClr val="accent2"/>
                </a:solidFill>
              </a:rPr>
              <a:t>one child class </a:t>
            </a:r>
            <a:r>
              <a:rPr lang="en-US" sz="2800" dirty="0"/>
              <a:t>tries to extend </a:t>
            </a:r>
            <a:r>
              <a:rPr lang="en-US" sz="2800" dirty="0">
                <a:solidFill>
                  <a:schemeClr val="accent2"/>
                </a:solidFill>
              </a:rPr>
              <a:t>more than one parent class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68444" y="2944971"/>
            <a:ext cx="187281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SuperClass1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42199" y="2944971"/>
            <a:ext cx="180841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SuperClass2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33363" y="4739905"/>
            <a:ext cx="240835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Subclass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3773510" y="3859371"/>
            <a:ext cx="1287887" cy="880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4" idx="2"/>
          </p:cNvCxnSpPr>
          <p:nvPr/>
        </p:nvCxnSpPr>
        <p:spPr>
          <a:xfrm flipV="1">
            <a:off x="6111193" y="3859371"/>
            <a:ext cx="1035215" cy="880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50006" y="5842347"/>
            <a:ext cx="9672034" cy="5168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Note: Multiple inheritance is not supported in Java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107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2" descr="D:\Abhinav\Course Development images\types_of_inheritance-java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2369" y="-55916"/>
            <a:ext cx="8563304" cy="6422478"/>
          </a:xfrm>
          <a:prstGeom prst="rect">
            <a:avLst/>
          </a:prstGeom>
          <a:noFill/>
        </p:spPr>
      </p:pic>
      <p:sp>
        <p:nvSpPr>
          <p:cNvPr id="8" name="Left Bracket 7"/>
          <p:cNvSpPr/>
          <p:nvPr/>
        </p:nvSpPr>
        <p:spPr>
          <a:xfrm>
            <a:off x="4713667" y="2871988"/>
            <a:ext cx="154547" cy="21894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1712890" y="2266682"/>
            <a:ext cx="3000777" cy="605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78794" y="2176530"/>
            <a:ext cx="593575" cy="283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0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481071" y="802541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Rules of Access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Modifer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Java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895" y="1617967"/>
            <a:ext cx="108910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29" y="2390700"/>
            <a:ext cx="11612216" cy="331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8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802541"/>
            <a:ext cx="10728102" cy="7479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Demo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160" y="406316"/>
            <a:ext cx="8268236" cy="588625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6716598" y="406316"/>
            <a:ext cx="1720939" cy="417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166279" y="21040"/>
            <a:ext cx="1777286" cy="86527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SuperClass</a:t>
            </a:r>
            <a:endParaRPr lang="en-US" dirty="0"/>
          </a:p>
        </p:txBody>
      </p:sp>
      <p:cxnSp>
        <p:nvCxnSpPr>
          <p:cNvPr id="13" name="Straight Connector 12"/>
          <p:cNvCxnSpPr>
            <a:endCxn id="14" idx="2"/>
          </p:cNvCxnSpPr>
          <p:nvPr/>
        </p:nvCxnSpPr>
        <p:spPr>
          <a:xfrm>
            <a:off x="6716598" y="1311986"/>
            <a:ext cx="1230741" cy="489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947339" y="1343906"/>
            <a:ext cx="2215165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Instance Variables</a:t>
            </a:r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3616008" y="1948393"/>
            <a:ext cx="1230741" cy="29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057665" y="1447205"/>
            <a:ext cx="1558343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Methods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119667" y="2714588"/>
            <a:ext cx="729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IS A</a:t>
            </a:r>
            <a:endParaRPr lang="en-US" sz="2800" dirty="0"/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8905743" y="4043966"/>
            <a:ext cx="1680691" cy="580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457645" y="3447359"/>
            <a:ext cx="1566930" cy="9144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SubClass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897746" y="6061739"/>
            <a:ext cx="673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Figure: Class Diagram of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Inheritance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37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83" y="544512"/>
            <a:ext cx="11314834" cy="581183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936383" y="1146220"/>
            <a:ext cx="2279561" cy="5444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SuperClass</a:t>
            </a:r>
            <a:r>
              <a:rPr lang="en-US" dirty="0" smtClean="0"/>
              <a:t> Person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735118" y="544512"/>
            <a:ext cx="1656008" cy="607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Subclass Student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237149" y="4391696"/>
            <a:ext cx="1858851" cy="515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601267"/>
              </p:ext>
            </p:extLst>
          </p:nvPr>
        </p:nvGraphicFramePr>
        <p:xfrm>
          <a:off x="9563122" y="2088954"/>
          <a:ext cx="5504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300"/>
                <a:gridCol w="2752300"/>
              </a:tblGrid>
              <a:tr h="283890">
                <a:tc>
                  <a:txBody>
                    <a:bodyPr/>
                    <a:lstStyle/>
                    <a:p>
                      <a:r>
                        <a:rPr lang="en-US" dirty="0" smtClean="0"/>
                        <a:t>Member of Student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8389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Inherited from Person class</a:t>
                      </a:r>
                      <a:endParaRPr lang="en-US" dirty="0"/>
                    </a:p>
                  </a:txBody>
                  <a:tcPr/>
                </a:tc>
              </a:tr>
              <a:tr h="283890">
                <a:tc>
                  <a:txBody>
                    <a:bodyPr/>
                    <a:lstStyle/>
                    <a:p>
                      <a:r>
                        <a:rPr lang="en-US" dirty="0" smtClean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Inherited</a:t>
                      </a:r>
                      <a:r>
                        <a:rPr lang="en-US" baseline="0" dirty="0" smtClean="0"/>
                        <a:t> from Person class</a:t>
                      </a:r>
                      <a:endParaRPr lang="en-US" dirty="0"/>
                    </a:p>
                  </a:txBody>
                  <a:tcPr/>
                </a:tc>
              </a:tr>
              <a:tr h="283890"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Inherited from Person</a:t>
                      </a:r>
                      <a:r>
                        <a:rPr lang="en-US" baseline="0" dirty="0" smtClean="0"/>
                        <a:t> class</a:t>
                      </a:r>
                      <a:endParaRPr lang="en-US" dirty="0"/>
                    </a:p>
                  </a:txBody>
                  <a:tcPr/>
                </a:tc>
              </a:tr>
              <a:tr h="28389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studCode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Defined</a:t>
                      </a:r>
                      <a:r>
                        <a:rPr lang="en-US" baseline="0" dirty="0" smtClean="0"/>
                        <a:t> in Student class</a:t>
                      </a:r>
                      <a:endParaRPr lang="en-US" dirty="0"/>
                    </a:p>
                  </a:txBody>
                  <a:tcPr/>
                </a:tc>
              </a:tr>
              <a:tr h="283890">
                <a:tc>
                  <a:txBody>
                    <a:bodyPr/>
                    <a:lstStyle/>
                    <a:p>
                      <a:r>
                        <a:rPr lang="en-US" dirty="0" smtClean="0"/>
                        <a:t>Getter/Setter</a:t>
                      </a:r>
                      <a:r>
                        <a:rPr lang="en-US" baseline="0" dirty="0" smtClean="0"/>
                        <a:t> methods of </a:t>
                      </a:r>
                      <a:r>
                        <a:rPr lang="en-US" baseline="0" dirty="0" err="1" smtClean="0"/>
                        <a:t>name,address</a:t>
                      </a:r>
                      <a:r>
                        <a:rPr lang="en-US" baseline="0" dirty="0" smtClean="0"/>
                        <a:t> and 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Inherited</a:t>
                      </a:r>
                      <a:r>
                        <a:rPr lang="en-US" baseline="0" dirty="0" smtClean="0"/>
                        <a:t> from Person class</a:t>
                      </a:r>
                      <a:endParaRPr lang="en-US" dirty="0"/>
                    </a:p>
                  </a:txBody>
                  <a:tcPr/>
                </a:tc>
              </a:tr>
              <a:tr h="283890">
                <a:tc>
                  <a:txBody>
                    <a:bodyPr/>
                    <a:lstStyle/>
                    <a:p>
                      <a:r>
                        <a:rPr lang="en-US" dirty="0" smtClean="0"/>
                        <a:t>Getter/Setter</a:t>
                      </a:r>
                      <a:r>
                        <a:rPr lang="en-US" baseline="0" dirty="0" smtClean="0"/>
                        <a:t> methods of </a:t>
                      </a:r>
                      <a:r>
                        <a:rPr lang="en-US" baseline="0" dirty="0" err="1" smtClean="0"/>
                        <a:t>studCode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Defined</a:t>
                      </a:r>
                      <a:r>
                        <a:rPr lang="en-US" baseline="0" dirty="0" smtClean="0"/>
                        <a:t> in Student class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>
            <a:off x="8097078" y="1418454"/>
            <a:ext cx="3525079" cy="648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21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678807" y="897302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 keyword in Java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5653" y="1702049"/>
            <a:ext cx="1089109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It is </a:t>
            </a:r>
            <a:r>
              <a:rPr lang="en-US" sz="2800" dirty="0"/>
              <a:t>a reference variable that is used to refer immediate </a:t>
            </a:r>
            <a:r>
              <a:rPr lang="en-US" sz="2800" dirty="0">
                <a:solidFill>
                  <a:schemeClr val="accent4"/>
                </a:solidFill>
              </a:rPr>
              <a:t>parent class object</a:t>
            </a:r>
            <a:r>
              <a:rPr lang="en-US" sz="2800" dirty="0" smtClean="0">
                <a:solidFill>
                  <a:schemeClr val="accent4"/>
                </a:solidFill>
              </a:rPr>
              <a:t>.</a:t>
            </a:r>
          </a:p>
          <a:p>
            <a:endParaRPr lang="en-US" sz="28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super keyword: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super is used to invoke variable of Parent class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super.parentClassVariable</a:t>
            </a:r>
            <a:r>
              <a:rPr 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2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 is used to invoke constructor of Parent class</a:t>
            </a:r>
          </a:p>
          <a:p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super( );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 super is used to invoke methods of Parent class</a:t>
            </a:r>
          </a:p>
          <a:p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super.methodName</a:t>
            </a:r>
            <a:r>
              <a:rPr 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</a:t>
            </a:r>
          </a:p>
          <a:p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7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6" y="510899"/>
            <a:ext cx="12494254" cy="584545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13F3-D376-4562-BB1D-2D0737918E47}" type="slidenum">
              <a:rPr lang="en-US" smtClean="0"/>
              <a:t>18</a:t>
            </a:fld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578087" y="4797287"/>
            <a:ext cx="2570922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7673008" y="1550504"/>
            <a:ext cx="1139688" cy="36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812696" y="1033670"/>
            <a:ext cx="2901966" cy="6570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50" dirty="0" smtClean="0"/>
              <a:t>Calling the parameterized constructor of Superclass(Person) from Student class</a:t>
            </a:r>
            <a:endParaRPr lang="en-US" sz="155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9211449" y="2771707"/>
            <a:ext cx="1052229" cy="512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263678" y="2994991"/>
            <a:ext cx="2404022" cy="5784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Calling the Person’s class variable </a:t>
            </a:r>
            <a:r>
              <a:rPr lang="en-US" dirty="0" err="1" smtClean="0"/>
              <a:t>i.e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 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242852" y="3168926"/>
            <a:ext cx="2891961" cy="2106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839543" y="5279060"/>
            <a:ext cx="2962119" cy="4988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Calling the Person’s method (display()) from Student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242838" y="836296"/>
            <a:ext cx="10728102" cy="747963"/>
          </a:xfrm>
        </p:spPr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instanceOf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in Java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710" y="1794909"/>
            <a:ext cx="110123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java </a:t>
            </a:r>
            <a:r>
              <a:rPr lang="en-US" sz="2800" b="1" dirty="0" err="1"/>
              <a:t>instanceof</a:t>
            </a:r>
            <a:r>
              <a:rPr lang="en-US" sz="2800" b="1" dirty="0"/>
              <a:t> operator</a:t>
            </a:r>
            <a:r>
              <a:rPr lang="en-US" sz="2800" dirty="0"/>
              <a:t> is used to test whether the object is an instance of the specified type (class or subclass or interface</a:t>
            </a:r>
            <a:r>
              <a:rPr lang="en-US" sz="2800" dirty="0" smtClean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sz="28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objectName</a:t>
            </a:r>
            <a:r>
              <a:rPr 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instanceOf</a:t>
            </a: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It returns Boolean value either true or false.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243" y="4284383"/>
            <a:ext cx="6591300" cy="24003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6517270" y="5484533"/>
            <a:ext cx="1891281" cy="212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/>
          <p:cNvSpPr/>
          <p:nvPr/>
        </p:nvSpPr>
        <p:spPr>
          <a:xfrm>
            <a:off x="6440557" y="5446643"/>
            <a:ext cx="153426" cy="6361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6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242838" y="836296"/>
            <a:ext cx="10728102" cy="747963"/>
          </a:xfrm>
        </p:spPr>
        <p:txBody>
          <a:bodyPr>
            <a:normAutofit/>
          </a:bodyPr>
          <a:lstStyle/>
          <a:p>
            <a:r>
              <a:rPr lang="en-GB" sz="4400" dirty="0" smtClean="0"/>
              <a:t>Advantages </a:t>
            </a:r>
            <a:r>
              <a:rPr lang="en-GB" sz="4400" dirty="0"/>
              <a:t>of Inheritance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710" y="1794909"/>
            <a:ext cx="1101236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4000" dirty="0"/>
              <a:t>Avoiding code duplication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4000" dirty="0"/>
              <a:t>Easier maintenance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4000" dirty="0"/>
              <a:t>Extendibility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5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481071" y="802541"/>
            <a:ext cx="10728102" cy="747963"/>
          </a:xfrm>
        </p:spPr>
        <p:txBody>
          <a:bodyPr>
            <a:normAutofit/>
          </a:bodyPr>
          <a:lstStyle/>
          <a:p>
            <a:r>
              <a:rPr lang="en-US" sz="4400" dirty="0" smtClean="0"/>
              <a:t>“IS-A” </a:t>
            </a:r>
            <a:r>
              <a:rPr lang="en-US" sz="4400" dirty="0" err="1" smtClean="0"/>
              <a:t>Vs</a:t>
            </a:r>
            <a:r>
              <a:rPr lang="en-US" sz="4400" dirty="0" smtClean="0"/>
              <a:t> “HAS-A” Relationships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710" y="1794909"/>
            <a:ext cx="110123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IS-A = Inheritance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Has-A </a:t>
            </a:r>
            <a:r>
              <a:rPr lang="en-US" sz="2800" dirty="0"/>
              <a:t>means an instance of one class “has a” reference to an instance of another class or another instance of same class</a:t>
            </a:r>
            <a:r>
              <a:rPr lang="en-US" sz="2800" dirty="0" smtClean="0"/>
              <a:t>.</a:t>
            </a: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99" y="3383951"/>
            <a:ext cx="8879471" cy="33293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98834" y="4516507"/>
            <a:ext cx="5473521" cy="1064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Test class “HAS” student class object(</a:t>
            </a:r>
            <a:r>
              <a:rPr lang="en-US" dirty="0" err="1" smtClean="0"/>
              <a:t>i.e</a:t>
            </a:r>
            <a:r>
              <a:rPr lang="en-US" dirty="0" smtClean="0"/>
              <a:t> </a:t>
            </a:r>
            <a:r>
              <a:rPr lang="en-US" dirty="0" err="1" smtClean="0"/>
              <a:t>stu</a:t>
            </a:r>
            <a:r>
              <a:rPr lang="en-US" dirty="0" smtClean="0"/>
              <a:t>)</a:t>
            </a:r>
          </a:p>
          <a:p>
            <a:pPr algn="ctr"/>
            <a:r>
              <a:rPr lang="en-US" dirty="0" smtClean="0"/>
              <a:t>Test class “HAS” employee class object(</a:t>
            </a:r>
            <a:r>
              <a:rPr lang="en-US" dirty="0" err="1" smtClean="0"/>
              <a:t>ie</a:t>
            </a:r>
            <a:r>
              <a:rPr lang="en-US" dirty="0" smtClean="0"/>
              <a:t>. </a:t>
            </a:r>
            <a:r>
              <a:rPr lang="en-US" dirty="0" err="1" smtClean="0"/>
              <a:t>emp</a:t>
            </a:r>
            <a:r>
              <a:rPr lang="en-US" dirty="0" smtClean="0"/>
              <a:t>)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3059177" y="4275786"/>
            <a:ext cx="0" cy="20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02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660515" y="877462"/>
            <a:ext cx="10728102" cy="747963"/>
          </a:xfrm>
        </p:spPr>
        <p:txBody>
          <a:bodyPr>
            <a:normAutofit/>
          </a:bodyPr>
          <a:lstStyle/>
          <a:p>
            <a:r>
              <a:rPr lang="en-GB" sz="4400" dirty="0"/>
              <a:t>Object Class in Java</a:t>
            </a:r>
          </a:p>
          <a:p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2710" y="1794909"/>
            <a:ext cx="110123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Object class</a:t>
            </a:r>
            <a:r>
              <a:rPr lang="en-US" sz="2800" dirty="0"/>
              <a:t> is the parent class of all the classes in java by default.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In </a:t>
            </a:r>
            <a:r>
              <a:rPr lang="en-US" sz="2800" dirty="0"/>
              <a:t>other words, it is the topmost class </a:t>
            </a:r>
            <a:r>
              <a:rPr lang="en-US" sz="2800" dirty="0" smtClean="0"/>
              <a:t>of java.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031" y="216056"/>
            <a:ext cx="2679616" cy="12404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535" y="2957245"/>
            <a:ext cx="6676451" cy="33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5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" y="802541"/>
            <a:ext cx="10895528" cy="747963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fld id="{556713F3-D376-4562-BB1D-2D0737918E4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5287" y="2082011"/>
            <a:ext cx="1164481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  <a:hlinkClick r:id="rId3"/>
              </a:rPr>
              <a:t>https://goalkicker.com/JavaBook</a:t>
            </a:r>
            <a:r>
              <a:rPr lang="en-US" sz="2800" dirty="0" smtClean="0">
                <a:cs typeface="Times New Roman" panose="02020603050405020304" pitchFamily="18" charset="0"/>
                <a:hlinkClick r:id="rId3"/>
              </a:rPr>
              <a:t>/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  <a:hlinkClick r:id="rId4"/>
              </a:rPr>
              <a:t>https://www.edureka.co/blog/inheritance-in-java</a:t>
            </a:r>
            <a:r>
              <a:rPr lang="en-US" sz="2800" dirty="0" smtClean="0">
                <a:cs typeface="Times New Roman" panose="02020603050405020304" pitchFamily="18" charset="0"/>
                <a:hlinkClick r:id="rId4"/>
              </a:rPr>
              <a:t>/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</a:rPr>
              <a:t>https://www.javatpoint.com/object-class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marL="971550" lvl="1" indent="-514350">
              <a:buAutoNum type="arabicPeriod"/>
            </a:pPr>
            <a:r>
              <a:rPr lang="en-US" sz="2800" dirty="0"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US" sz="2800" dirty="0" smtClean="0">
                <a:cs typeface="Times New Roman" panose="02020603050405020304" pitchFamily="18" charset="0"/>
                <a:hlinkClick r:id="rId5"/>
              </a:rPr>
              <a:t>www.youtube.com/watch?v=bn3zKuU6gwI&amp;list=PLGwb7xZHg-oMzLwqeyvdI7R_OWVMQFyce</a:t>
            </a:r>
            <a:endParaRPr lang="en-US" sz="2800" dirty="0" smtClean="0">
              <a:cs typeface="Times New Roman" panose="02020603050405020304" pitchFamily="18" charset="0"/>
            </a:endParaRPr>
          </a:p>
          <a:p>
            <a:pPr lvl="1"/>
            <a:endParaRPr lang="en-US" sz="2800" dirty="0" smtClean="0">
              <a:cs typeface="Times New Roman" panose="02020603050405020304" pitchFamily="18" charset="0"/>
            </a:endParaRPr>
          </a:p>
          <a:p>
            <a:pPr lvl="1"/>
            <a:endParaRPr lang="en-US" sz="2800" dirty="0" smtClean="0">
              <a:cs typeface="Times New Roman" panose="02020603050405020304" pitchFamily="18" charset="0"/>
            </a:endParaRPr>
          </a:p>
          <a:p>
            <a:pPr lvl="1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5287" y="1524000"/>
            <a:ext cx="11644818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363" y="216056"/>
            <a:ext cx="2821284" cy="130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9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4059</TotalTime>
  <Words>654</Words>
  <Application>Microsoft Office PowerPoint</Application>
  <PresentationFormat>Widescreen</PresentationFormat>
  <Paragraphs>185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Windows User</dc:creator>
  <cp:lastModifiedBy>Windows User</cp:lastModifiedBy>
  <cp:revision>692</cp:revision>
  <dcterms:created xsi:type="dcterms:W3CDTF">2018-12-22T11:37:05Z</dcterms:created>
  <dcterms:modified xsi:type="dcterms:W3CDTF">2019-06-24T08:00:48Z</dcterms:modified>
</cp:coreProperties>
</file>