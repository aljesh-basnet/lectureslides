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82" r:id="rId3"/>
    <p:sldId id="328" r:id="rId4"/>
    <p:sldId id="259" r:id="rId5"/>
    <p:sldId id="350" r:id="rId6"/>
    <p:sldId id="351" r:id="rId7"/>
    <p:sldId id="352" r:id="rId8"/>
    <p:sldId id="367" r:id="rId9"/>
    <p:sldId id="368" r:id="rId10"/>
    <p:sldId id="369" r:id="rId11"/>
    <p:sldId id="371" r:id="rId12"/>
    <p:sldId id="383" r:id="rId13"/>
    <p:sldId id="370" r:id="rId14"/>
    <p:sldId id="372" r:id="rId15"/>
    <p:sldId id="373" r:id="rId16"/>
    <p:sldId id="374" r:id="rId17"/>
    <p:sldId id="375" r:id="rId18"/>
    <p:sldId id="376" r:id="rId19"/>
    <p:sldId id="378" r:id="rId20"/>
    <p:sldId id="379" r:id="rId21"/>
    <p:sldId id="380" r:id="rId22"/>
    <p:sldId id="381" r:id="rId23"/>
    <p:sldId id="32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>
    <p:extLst>
      <p:ext uri="{19B8F6BF-5375-455C-9EA6-DF929625EA0E}">
        <p15:presenceInfo xmlns:p15="http://schemas.microsoft.com/office/powerpoint/2012/main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2F4C4-E14E-4534-A7A4-B6308ECC75A2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F8F61-DFB9-4C53-8F2D-331560369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5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96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24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79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38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4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40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75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27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56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06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81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65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68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09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40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31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26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56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609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091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014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1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A433-98F9-4DA0-A829-D5EA39EA323E}" type="datetime1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18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F650-9C9C-4EE1-9909-91CF0E287C73}" type="datetime1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7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E474D-B034-4EBD-BD20-6A2F94A79F16}" type="datetime1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1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97C8-0022-4B24-AD73-7616F9F709D6}" type="datetime1">
              <a:rPr lang="en-US" smtClean="0"/>
              <a:t>7/1/2019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1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7A9E-3154-4A8A-AD59-59BAE2341F25}" type="datetime1">
              <a:rPr lang="en-US" smtClean="0"/>
              <a:t>7/1/2019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3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7B4F6-F204-47F2-9F0F-CA05A86FE55B}" type="datetime1">
              <a:rPr lang="en-US" smtClean="0"/>
              <a:t>7/1/2019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60A-DE44-449A-9D79-177E8671A11D}" type="datetime1">
              <a:rPr lang="en-US" smtClean="0"/>
              <a:t>7/1/2019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7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272D-F13C-4EE2-898B-15DDD068B541}" type="datetime1">
              <a:rPr lang="en-US" smtClean="0"/>
              <a:t>7/1/2019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5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24DD0-7D85-4055-AB96-8DF049EC187C}" type="datetime1">
              <a:rPr lang="en-US" smtClean="0"/>
              <a:t>7/1/2019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5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6EAC-9655-4A59-A199-23796FB40A00}" type="datetime1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2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1A0-DD89-44E3-87FD-986661AECDB6}" type="datetime1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2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6DEE0-E4BB-4287-95CB-3C1E0E7185CC}" type="datetime1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oalkicker.com/JavaBook/" TargetMode="External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bn3zKuU6gwI&amp;list=PLGwb7xZHg-oMzLwqeyvdI7R_OWVMQFyce" TargetMode="External"/><Relationship Id="rId5" Type="http://schemas.openxmlformats.org/officeDocument/2006/relationships/hyperlink" Target="https://www.geeksforgeeks.org/equals-hashcode-methods-java/" TargetMode="External"/><Relationship Id="rId4" Type="http://schemas.openxmlformats.org/officeDocument/2006/relationships/hyperlink" Target="https://www.edureka.co/blog/polymorphism-in-ja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3242" y="1678099"/>
            <a:ext cx="9616224" cy="2387600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latin typeface="+mn-lt"/>
              </a:rPr>
              <a:t>Polymorphism</a:t>
            </a:r>
            <a:endParaRPr lang="en-US" sz="54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37172" y="4700588"/>
            <a:ext cx="3451539" cy="1655762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 Prasad Shrestha</a:t>
            </a:r>
          </a:p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Lecturer/Tutor at HCK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474" y="216056"/>
            <a:ext cx="2955173" cy="136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Review of Previous Week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2534" y="1741883"/>
            <a:ext cx="102932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Concept of inheritance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</a:t>
            </a:r>
            <a:r>
              <a:rPr lang="en-US" sz="3600" i="1" dirty="0"/>
              <a:t>super</a:t>
            </a:r>
            <a:r>
              <a:rPr lang="en-US" sz="3600" dirty="0"/>
              <a:t> keyword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</a:t>
            </a:r>
            <a:r>
              <a:rPr lang="en-US" sz="3600" i="1" dirty="0"/>
              <a:t>is-a </a:t>
            </a:r>
            <a:r>
              <a:rPr lang="en-US" sz="3600" dirty="0"/>
              <a:t>and</a:t>
            </a:r>
            <a:r>
              <a:rPr lang="en-US" sz="3600" i="1" dirty="0"/>
              <a:t> has-a </a:t>
            </a:r>
            <a:r>
              <a:rPr lang="en-US" sz="3600" dirty="0"/>
              <a:t>relationship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</a:t>
            </a:r>
            <a:r>
              <a:rPr lang="en-US" sz="3600" i="1" dirty="0"/>
              <a:t>extends </a:t>
            </a:r>
            <a:r>
              <a:rPr lang="en-US" sz="3600" dirty="0"/>
              <a:t>keyword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</a:t>
            </a:r>
            <a:r>
              <a:rPr lang="en-US" sz="3600" i="1" dirty="0" err="1"/>
              <a:t>instanceof</a:t>
            </a:r>
            <a:r>
              <a:rPr lang="en-US" sz="3600" i="1" dirty="0"/>
              <a:t> </a:t>
            </a:r>
            <a:r>
              <a:rPr lang="en-US" sz="3600" dirty="0"/>
              <a:t> keyword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Types of inheritance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Advantages of inheritance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04233"/>
            <a:ext cx="11128513" cy="46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16056"/>
            <a:ext cx="2782647" cy="128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6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2534" y="1741883"/>
            <a:ext cx="102932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   What </a:t>
            </a:r>
            <a:r>
              <a:rPr lang="en-US" sz="3600" dirty="0"/>
              <a:t>is Polymorphism?</a:t>
            </a:r>
          </a:p>
          <a:p>
            <a:r>
              <a:rPr lang="en-US" sz="3600" dirty="0"/>
              <a:t>•	Method Overriding (Run time Polymorphism)</a:t>
            </a:r>
          </a:p>
          <a:p>
            <a:r>
              <a:rPr lang="en-US" sz="3600" dirty="0"/>
              <a:t>•	Method Overloading (Compile time Polymorphism)</a:t>
            </a:r>
          </a:p>
          <a:p>
            <a:r>
              <a:rPr lang="en-US" sz="3600" dirty="0"/>
              <a:t>•	Abstract Methods and Classes</a:t>
            </a:r>
          </a:p>
          <a:p>
            <a:r>
              <a:rPr lang="en-US" sz="3600" dirty="0"/>
              <a:t>•	Inheriting Abstract Class</a:t>
            </a:r>
          </a:p>
          <a:p>
            <a:r>
              <a:rPr lang="en-US" sz="3600" dirty="0"/>
              <a:t>•	Object Equality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04233"/>
            <a:ext cx="11128513" cy="46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16056"/>
            <a:ext cx="2782647" cy="128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1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241853" y="836272"/>
            <a:ext cx="10728102" cy="747963"/>
          </a:xfrm>
        </p:spPr>
        <p:txBody>
          <a:bodyPr>
            <a:normAutofit/>
          </a:bodyPr>
          <a:lstStyle/>
          <a:p>
            <a:r>
              <a:rPr lang="en-US" sz="4000" dirty="0"/>
              <a:t>What is Polymorphism?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6564" y="1939938"/>
            <a:ext cx="101645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 </a:t>
            </a:r>
            <a:r>
              <a:rPr lang="en-US" sz="3600" dirty="0">
                <a:solidFill>
                  <a:schemeClr val="accent2"/>
                </a:solidFill>
              </a:rPr>
              <a:t>Poly</a:t>
            </a:r>
            <a:r>
              <a:rPr lang="en-US" sz="3600" dirty="0"/>
              <a:t> means </a:t>
            </a:r>
            <a:r>
              <a:rPr lang="en-US" sz="3600" dirty="0" smtClean="0">
                <a:solidFill>
                  <a:schemeClr val="accent2"/>
                </a:solidFill>
              </a:rPr>
              <a:t>‘many’ </a:t>
            </a:r>
            <a:r>
              <a:rPr lang="en-US" sz="3600" dirty="0"/>
              <a:t>and </a:t>
            </a:r>
            <a:r>
              <a:rPr lang="en-US" sz="3600" dirty="0">
                <a:solidFill>
                  <a:schemeClr val="accent2"/>
                </a:solidFill>
              </a:rPr>
              <a:t>morph</a:t>
            </a:r>
            <a:r>
              <a:rPr lang="en-US" sz="3600" dirty="0"/>
              <a:t> means </a:t>
            </a:r>
            <a:r>
              <a:rPr lang="en-US" sz="3600" dirty="0" smtClean="0">
                <a:solidFill>
                  <a:schemeClr val="accent2"/>
                </a:solidFill>
              </a:rPr>
              <a:t>‘</a:t>
            </a:r>
            <a:r>
              <a:rPr lang="en-US" sz="3600" dirty="0">
                <a:solidFill>
                  <a:schemeClr val="accent2"/>
                </a:solidFill>
              </a:rPr>
              <a:t>form</a:t>
            </a:r>
            <a:r>
              <a:rPr lang="en-US" sz="3600" dirty="0" smtClean="0">
                <a:solidFill>
                  <a:schemeClr val="accent2"/>
                </a:solidFill>
              </a:rPr>
              <a:t>’.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2"/>
                </a:solidFill>
              </a:rPr>
              <a:t>Polymorphism</a:t>
            </a:r>
            <a:r>
              <a:rPr lang="en-US" sz="3600" dirty="0"/>
              <a:t> is the ability of an </a:t>
            </a:r>
            <a:r>
              <a:rPr lang="en-US" sz="3600" dirty="0" smtClean="0">
                <a:solidFill>
                  <a:schemeClr val="accent2"/>
                </a:solidFill>
              </a:rPr>
              <a:t>entity(object)</a:t>
            </a:r>
            <a:r>
              <a:rPr lang="en-US" sz="3600" dirty="0" smtClean="0"/>
              <a:t> </a:t>
            </a:r>
            <a:r>
              <a:rPr lang="en-US" sz="3600" dirty="0"/>
              <a:t>to take </a:t>
            </a:r>
            <a:r>
              <a:rPr lang="en-US" sz="3600" dirty="0">
                <a:solidFill>
                  <a:schemeClr val="accent2"/>
                </a:solidFill>
              </a:rPr>
              <a:t>several forms</a:t>
            </a:r>
            <a:r>
              <a:rPr lang="en-US" sz="3600" dirty="0" smtClean="0"/>
              <a:t>.</a:t>
            </a:r>
            <a:endParaRPr lang="en-US" sz="3600" dirty="0" smtClean="0">
              <a:solidFill>
                <a:schemeClr val="accent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Similarly, in the programming world, </a:t>
            </a:r>
            <a:r>
              <a:rPr lang="en-US" sz="3600" dirty="0" smtClean="0">
                <a:solidFill>
                  <a:schemeClr val="accent2"/>
                </a:solidFill>
              </a:rPr>
              <a:t>Java </a:t>
            </a:r>
            <a:r>
              <a:rPr lang="en-US" sz="3600" dirty="0">
                <a:solidFill>
                  <a:schemeClr val="accent2"/>
                </a:solidFill>
              </a:rPr>
              <a:t>objects </a:t>
            </a:r>
            <a:r>
              <a:rPr lang="en-US" sz="3600" dirty="0"/>
              <a:t>possess the same functionality where </a:t>
            </a:r>
            <a:r>
              <a:rPr lang="en-US" sz="3600" dirty="0">
                <a:solidFill>
                  <a:schemeClr val="accent2"/>
                </a:solidFill>
              </a:rPr>
              <a:t>each object can take multiple forms.</a:t>
            </a:r>
            <a:endParaRPr lang="en-GB" sz="3600" dirty="0">
              <a:solidFill>
                <a:schemeClr val="accent2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327062" cy="67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5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9293" y="1871930"/>
            <a:ext cx="10164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89969" y="6079077"/>
            <a:ext cx="5635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</a:t>
            </a:r>
            <a:r>
              <a:rPr lang="en-US" dirty="0"/>
              <a:t>: https://www.edureka.co/blog/polymorphism-in-java/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380" y="12515"/>
            <a:ext cx="6392183" cy="583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3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Polymorphism in </a:t>
            </a:r>
            <a:r>
              <a:rPr lang="en-GB" sz="4000" dirty="0"/>
              <a:t>Java</a:t>
            </a:r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9293" y="1730808"/>
            <a:ext cx="10164507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/>
              <a:t>In Java, there </a:t>
            </a:r>
            <a:r>
              <a:rPr lang="en-US" sz="2800" dirty="0" smtClean="0">
                <a:solidFill>
                  <a:srgbClr val="FF0000"/>
                </a:solidFill>
              </a:rPr>
              <a:t>are two types </a:t>
            </a:r>
            <a:r>
              <a:rPr lang="en-US" sz="2800" dirty="0" smtClean="0"/>
              <a:t>of polymorphism they are:</a:t>
            </a:r>
          </a:p>
          <a:p>
            <a:pPr lvl="3"/>
            <a:r>
              <a:rPr lang="en-US" sz="2800" dirty="0" smtClean="0"/>
              <a:t>1)   Compile time Polymorphism(Early Binding) </a:t>
            </a:r>
          </a:p>
          <a:p>
            <a:pPr marL="1885950" lvl="3" indent="-514350">
              <a:buAutoNum type="arabicParenR" startAt="2"/>
            </a:pPr>
            <a:r>
              <a:rPr lang="en-US" sz="2800" dirty="0" smtClean="0"/>
              <a:t>Run time Polymorphism( Late Binding)</a:t>
            </a: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/>
              <a:t>At compile time , it will know  which </a:t>
            </a:r>
            <a:r>
              <a:rPr lang="en-US" sz="2800" b="1" dirty="0" smtClean="0"/>
              <a:t>version of method </a:t>
            </a:r>
            <a:r>
              <a:rPr lang="en-US" sz="2800" dirty="0" smtClean="0"/>
              <a:t>should </a:t>
            </a:r>
            <a:r>
              <a:rPr lang="en-US" sz="2800" b="1" dirty="0" smtClean="0"/>
              <a:t>be called(or bind with)</a:t>
            </a:r>
            <a:r>
              <a:rPr lang="en-US" sz="2800" dirty="0" smtClean="0"/>
              <a:t> is </a:t>
            </a:r>
            <a:r>
              <a:rPr lang="en-US" sz="2800" dirty="0"/>
              <a:t>known as </a:t>
            </a:r>
            <a:r>
              <a:rPr lang="en-US" sz="2800" dirty="0" smtClean="0"/>
              <a:t>compile time polymorphism. </a:t>
            </a:r>
            <a:r>
              <a:rPr lang="en-US" sz="2800" dirty="0" smtClean="0">
                <a:solidFill>
                  <a:schemeClr val="accent2"/>
                </a:solidFill>
              </a:rPr>
              <a:t>Constructor  and</a:t>
            </a:r>
            <a:r>
              <a:rPr lang="en-US" sz="2800" dirty="0" smtClean="0"/>
              <a:t> </a:t>
            </a:r>
            <a:r>
              <a:rPr lang="en-US" sz="2800" dirty="0">
                <a:solidFill>
                  <a:schemeClr val="accent2"/>
                </a:solidFill>
              </a:rPr>
              <a:t>Method overloading</a:t>
            </a:r>
            <a:r>
              <a:rPr lang="en-US" sz="2800" dirty="0"/>
              <a:t> </a:t>
            </a:r>
            <a:r>
              <a:rPr lang="en-US" sz="2800" dirty="0" smtClean="0"/>
              <a:t>is </a:t>
            </a:r>
            <a:r>
              <a:rPr lang="en-US" sz="2800" dirty="0"/>
              <a:t>an example of compile time polymorphism</a:t>
            </a:r>
            <a:r>
              <a:rPr lang="en-US" sz="3600" dirty="0" smtClean="0"/>
              <a:t>.</a:t>
            </a:r>
            <a:endParaRPr lang="en-US" sz="3600" dirty="0" smtClean="0">
              <a:solidFill>
                <a:schemeClr val="accent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/>
              <a:t>At runtime , it will know </a:t>
            </a:r>
            <a:r>
              <a:rPr lang="en-US" sz="2800" b="1" dirty="0" smtClean="0"/>
              <a:t>which overridden method is to called (or bind with</a:t>
            </a:r>
            <a:r>
              <a:rPr lang="en-US" sz="2800" dirty="0" smtClean="0"/>
              <a:t>)  </a:t>
            </a:r>
            <a:r>
              <a:rPr lang="en-US" sz="2800" dirty="0"/>
              <a:t>is called runtime polymorphism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      </a:t>
            </a:r>
            <a:r>
              <a:rPr lang="en-US" sz="2800" dirty="0" smtClean="0">
                <a:solidFill>
                  <a:schemeClr val="accent2"/>
                </a:solidFill>
              </a:rPr>
              <a:t>Method overriding </a:t>
            </a:r>
            <a:r>
              <a:rPr lang="en-US" sz="2800" dirty="0" smtClean="0"/>
              <a:t>is an example of run time polymorphism.	</a:t>
            </a:r>
          </a:p>
          <a:p>
            <a:endParaRPr lang="en-US" sz="3600" dirty="0" smtClean="0"/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456537"/>
            <a:ext cx="11288426" cy="93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8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Method Overloading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488" y="1719856"/>
            <a:ext cx="101645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If </a:t>
            </a:r>
            <a:r>
              <a:rPr lang="en-US" sz="3600" dirty="0">
                <a:solidFill>
                  <a:schemeClr val="accent2"/>
                </a:solidFill>
              </a:rPr>
              <a:t>a class have multiple methods </a:t>
            </a:r>
            <a:r>
              <a:rPr lang="en-US" sz="3600" dirty="0"/>
              <a:t>by </a:t>
            </a:r>
            <a:r>
              <a:rPr lang="en-US" sz="3600" dirty="0">
                <a:solidFill>
                  <a:schemeClr val="accent2"/>
                </a:solidFill>
              </a:rPr>
              <a:t>same name but different parameters</a:t>
            </a:r>
            <a:r>
              <a:rPr lang="en-US" sz="3600" dirty="0"/>
              <a:t>, it is known </a:t>
            </a:r>
            <a:r>
              <a:rPr lang="en-US" sz="3600" dirty="0" smtClean="0"/>
              <a:t>as Method Overloading.</a:t>
            </a:r>
          </a:p>
          <a:p>
            <a:r>
              <a:rPr lang="en-US" sz="3600" dirty="0" smtClean="0">
                <a:solidFill>
                  <a:schemeClr val="accent2"/>
                </a:solidFill>
              </a:rPr>
              <a:t>Advantages of Method Overloading: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If we have to </a:t>
            </a:r>
            <a:r>
              <a:rPr lang="en-US" sz="3600" dirty="0">
                <a:solidFill>
                  <a:schemeClr val="accent2"/>
                </a:solidFill>
              </a:rPr>
              <a:t>perform only one operation</a:t>
            </a:r>
            <a:r>
              <a:rPr lang="en-US" sz="3600" dirty="0"/>
              <a:t>, having </a:t>
            </a:r>
            <a:r>
              <a:rPr lang="en-US" sz="3600" dirty="0">
                <a:solidFill>
                  <a:schemeClr val="accent2"/>
                </a:solidFill>
              </a:rPr>
              <a:t>same name of the methods </a:t>
            </a:r>
            <a:r>
              <a:rPr lang="en-US" sz="3600" dirty="0"/>
              <a:t>increases the </a:t>
            </a:r>
            <a:r>
              <a:rPr lang="en-US" sz="3600" dirty="0">
                <a:solidFill>
                  <a:schemeClr val="accent2"/>
                </a:solidFill>
              </a:rPr>
              <a:t>readability</a:t>
            </a:r>
            <a:r>
              <a:rPr lang="en-US" sz="3600" dirty="0"/>
              <a:t> of the program.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4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Method Overloading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751527" y="2498500"/>
            <a:ext cx="7972021" cy="1815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to Overload the method:</a:t>
            </a:r>
          </a:p>
          <a:p>
            <a:r>
              <a:rPr lang="en-US" sz="2800" dirty="0" smtClean="0"/>
              <a:t>1</a:t>
            </a:r>
            <a:r>
              <a:rPr lang="en-US" sz="2800" dirty="0"/>
              <a:t>. By changing number of </a:t>
            </a:r>
            <a:r>
              <a:rPr lang="en-US" sz="2800" dirty="0" smtClean="0"/>
              <a:t>parameters(arguments)</a:t>
            </a:r>
          </a:p>
          <a:p>
            <a:r>
              <a:rPr lang="en-US" sz="2800" dirty="0" smtClean="0"/>
              <a:t>2</a:t>
            </a:r>
            <a:r>
              <a:rPr lang="en-US" sz="2800" dirty="0"/>
              <a:t>. By changing the data </a:t>
            </a:r>
            <a:r>
              <a:rPr lang="en-US" sz="2800" dirty="0" smtClean="0"/>
              <a:t>type of parameters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0310" y="4919730"/>
            <a:ext cx="98137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</a:rPr>
              <a:t>Note: In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java, Method Overloading is not possible by changing the return type of the method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536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Method Overloading Examples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707" y="1760168"/>
            <a:ext cx="8577330" cy="50978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50847" y="2564736"/>
            <a:ext cx="3120443" cy="15889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925059" y="2663302"/>
            <a:ext cx="2665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Same method name (.</a:t>
            </a:r>
            <a:r>
              <a:rPr lang="en-US" dirty="0" err="1" smtClean="0"/>
              <a:t>i.e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/>
                </a:solidFill>
              </a:rPr>
              <a:t>sum</a:t>
            </a:r>
            <a:r>
              <a:rPr lang="en-US" dirty="0" smtClean="0"/>
              <a:t>) with different parameters in a class named </a:t>
            </a:r>
            <a:r>
              <a:rPr lang="en-US" dirty="0" err="1" smtClean="0">
                <a:solidFill>
                  <a:schemeClr val="accent2"/>
                </a:solidFill>
              </a:rPr>
              <a:t>MethodOverload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541690" y="2663302"/>
            <a:ext cx="5068910" cy="20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606085" y="3124967"/>
            <a:ext cx="5004515" cy="197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773510" y="3586632"/>
            <a:ext cx="4837090" cy="72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331076" y="4262907"/>
            <a:ext cx="360609" cy="1352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68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Method Overriding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84349" y="1836802"/>
            <a:ext cx="1057784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If subclass (child class) has the same method as declared in </a:t>
            </a:r>
            <a:r>
              <a:rPr lang="en-US" sz="3600" dirty="0" smtClean="0"/>
              <a:t>the superclass( </a:t>
            </a:r>
            <a:r>
              <a:rPr lang="en-US" sz="3600" dirty="0"/>
              <a:t>parent </a:t>
            </a:r>
            <a:r>
              <a:rPr lang="en-US" sz="3600" dirty="0" smtClean="0"/>
              <a:t>class), </a:t>
            </a:r>
            <a:r>
              <a:rPr lang="en-US" sz="3600" dirty="0"/>
              <a:t>it is known </a:t>
            </a:r>
            <a:r>
              <a:rPr lang="en-US" sz="3600" dirty="0" smtClean="0"/>
              <a:t>as method </a:t>
            </a:r>
            <a:r>
              <a:rPr lang="en-US" sz="3600" dirty="0"/>
              <a:t>overriding in java</a:t>
            </a:r>
            <a:r>
              <a:rPr lang="en-US" sz="3600" dirty="0" smtClean="0"/>
              <a:t>.</a:t>
            </a:r>
          </a:p>
          <a:p>
            <a:r>
              <a:rPr lang="en-US" sz="3600" u="sng" dirty="0" smtClean="0"/>
              <a:t>Usage of Overriding: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Overriding</a:t>
            </a:r>
            <a:r>
              <a:rPr lang="en-US" sz="3600" dirty="0"/>
              <a:t> is a feature that allows a subclass or child class to provide a specific implementation of a </a:t>
            </a:r>
            <a:r>
              <a:rPr lang="en-US" sz="3600" b="1" dirty="0"/>
              <a:t>method</a:t>
            </a:r>
            <a:r>
              <a:rPr lang="en-US" sz="3600" dirty="0"/>
              <a:t> that is already provided by one of its super-classes or parent classes.</a:t>
            </a:r>
          </a:p>
        </p:txBody>
      </p:sp>
    </p:spTree>
    <p:extLst>
      <p:ext uri="{BB962C8B-B14F-4D97-AF65-F5344CB8AC3E}">
        <p14:creationId xmlns:p14="http://schemas.microsoft.com/office/powerpoint/2010/main" val="269850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Method Overriding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84349" y="1836802"/>
            <a:ext cx="1057784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FF0000"/>
                </a:solidFill>
              </a:rPr>
              <a:t>Rules for Java Method </a:t>
            </a:r>
            <a:r>
              <a:rPr lang="en-US" sz="3600" u="sng" dirty="0" smtClean="0">
                <a:solidFill>
                  <a:srgbClr val="FF0000"/>
                </a:solidFill>
              </a:rPr>
              <a:t>Overriding:</a:t>
            </a:r>
          </a:p>
          <a:p>
            <a:r>
              <a:rPr lang="en-US" sz="3600" dirty="0" smtClean="0"/>
              <a:t>1. </a:t>
            </a:r>
            <a:r>
              <a:rPr lang="en-US" sz="3600" dirty="0"/>
              <a:t>Classes must be IS-A relationship (inheritance</a:t>
            </a:r>
            <a:r>
              <a:rPr lang="en-US" sz="3600" dirty="0" smtClean="0"/>
              <a:t>).</a:t>
            </a:r>
            <a:endParaRPr lang="en-US" sz="3600" dirty="0" smtClean="0">
              <a:solidFill>
                <a:srgbClr val="FF0000"/>
              </a:solidFill>
            </a:endParaRPr>
          </a:p>
          <a:p>
            <a:r>
              <a:rPr lang="en-US" sz="3600" dirty="0"/>
              <a:t>2</a:t>
            </a:r>
            <a:r>
              <a:rPr lang="en-US" sz="3600" dirty="0" smtClean="0"/>
              <a:t>.  Method </a:t>
            </a:r>
            <a:r>
              <a:rPr lang="en-US" sz="3600" dirty="0"/>
              <a:t>must have same name as in the parent </a:t>
            </a:r>
            <a:r>
              <a:rPr lang="en-US" sz="3600" dirty="0" smtClean="0"/>
              <a:t>class.</a:t>
            </a:r>
          </a:p>
          <a:p>
            <a:r>
              <a:rPr lang="en-US" sz="3600" dirty="0"/>
              <a:t>3</a:t>
            </a:r>
            <a:r>
              <a:rPr lang="en-US" sz="3600" dirty="0" smtClean="0"/>
              <a:t>.  Method </a:t>
            </a:r>
            <a:r>
              <a:rPr lang="en-US" sz="3600" dirty="0"/>
              <a:t>must have same parameter as in the parent class</a:t>
            </a:r>
            <a:r>
              <a:rPr lang="en-US" sz="3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229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Method Overriding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84349" y="1836802"/>
            <a:ext cx="10577847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   	</a:t>
            </a:r>
            <a:r>
              <a:rPr lang="en-US" sz="3600" b="1" dirty="0" smtClean="0">
                <a:solidFill>
                  <a:schemeClr val="accent1"/>
                </a:solidFill>
              </a:rPr>
              <a:t>Bank </a:t>
            </a:r>
            <a:r>
              <a:rPr lang="en-US" sz="3600" b="1" dirty="0" err="1" smtClean="0">
                <a:solidFill>
                  <a:schemeClr val="accent1"/>
                </a:solidFill>
              </a:rPr>
              <a:t>bank</a:t>
            </a:r>
            <a:r>
              <a:rPr lang="en-US" sz="3600" b="1" dirty="0" smtClean="0">
                <a:solidFill>
                  <a:schemeClr val="accent1"/>
                </a:solidFill>
              </a:rPr>
              <a:t> ;</a:t>
            </a:r>
          </a:p>
          <a:p>
            <a:r>
              <a:rPr lang="en-US" sz="3600" b="1" dirty="0" smtClean="0"/>
              <a:t>This statement says that bank is a reference variable of type class Bank</a:t>
            </a:r>
          </a:p>
          <a:p>
            <a:r>
              <a:rPr lang="en-US" sz="3600" b="1" dirty="0" smtClean="0">
                <a:solidFill>
                  <a:schemeClr val="accent2"/>
                </a:solidFill>
              </a:rPr>
              <a:t>   	 </a:t>
            </a:r>
            <a:r>
              <a:rPr lang="en-US" sz="3600" b="1" dirty="0" smtClean="0">
                <a:solidFill>
                  <a:schemeClr val="accent1"/>
                </a:solidFill>
              </a:rPr>
              <a:t>bank = new </a:t>
            </a:r>
            <a:r>
              <a:rPr lang="en-US" sz="3600" b="1" dirty="0" err="1" smtClean="0">
                <a:solidFill>
                  <a:schemeClr val="accent1"/>
                </a:solidFill>
              </a:rPr>
              <a:t>NicAsia</a:t>
            </a:r>
            <a:r>
              <a:rPr lang="en-US" sz="3600" b="1" dirty="0" smtClean="0">
                <a:solidFill>
                  <a:schemeClr val="accent1"/>
                </a:solidFill>
              </a:rPr>
              <a:t>(); </a:t>
            </a:r>
          </a:p>
          <a:p>
            <a:r>
              <a:rPr lang="en-US" sz="3600" b="1" dirty="0" smtClean="0"/>
              <a:t>This statement says that  bank  as  a reference variable and it refers to </a:t>
            </a:r>
            <a:r>
              <a:rPr lang="en-US" sz="3600" b="1" dirty="0" err="1" smtClean="0"/>
              <a:t>NicAsia</a:t>
            </a:r>
            <a:r>
              <a:rPr lang="en-US" sz="3600" b="1" dirty="0" smtClean="0"/>
              <a:t> class object</a:t>
            </a:r>
          </a:p>
          <a:p>
            <a:endParaRPr lang="en-US" sz="3600" b="1" dirty="0"/>
          </a:p>
          <a:p>
            <a:endParaRPr lang="en-US" sz="3600" b="1" dirty="0" smtClean="0"/>
          </a:p>
          <a:p>
            <a:r>
              <a:rPr lang="en-US" sz="3600" b="1" dirty="0" smtClean="0"/>
              <a:t> </a:t>
            </a:r>
          </a:p>
          <a:p>
            <a:endParaRPr lang="en-US" sz="3600" dirty="0"/>
          </a:p>
          <a:p>
            <a:endParaRPr lang="en-US" sz="3600" dirty="0" smtClean="0"/>
          </a:p>
          <a:p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46078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Method Overriding Examples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56" y="1550504"/>
            <a:ext cx="10829771" cy="54959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15932" y="2099256"/>
            <a:ext cx="1300767" cy="3606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15932" y="2099256"/>
            <a:ext cx="1300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dirty="0" err="1" smtClean="0"/>
              <a:t>SuperClass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247031" y="2043022"/>
            <a:ext cx="1107583" cy="3228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337184" y="2000875"/>
            <a:ext cx="101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Subclass</a:t>
            </a:r>
          </a:p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428408" y="4298466"/>
            <a:ext cx="1107583" cy="3228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 flipH="1">
            <a:off x="9484852" y="4288761"/>
            <a:ext cx="147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Subclass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979572" y="4037268"/>
            <a:ext cx="1287887" cy="4743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Testclass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367789" y="5830047"/>
            <a:ext cx="3387143" cy="9994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528238" y="5830046"/>
            <a:ext cx="3066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Same method signature in Superclass and Subclasses with different implementations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709893" y="4765183"/>
            <a:ext cx="657896" cy="149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052571" y="2525216"/>
            <a:ext cx="5315218" cy="3871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6890197" y="2525216"/>
            <a:ext cx="638041" cy="330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940868" y="4784103"/>
            <a:ext cx="25757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97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  Abstraction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58590" y="1813823"/>
            <a:ext cx="1079678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Java Abstraction whose main functionality is to</a:t>
            </a:r>
            <a:r>
              <a:rPr lang="en-US" sz="3200" dirty="0">
                <a:solidFill>
                  <a:schemeClr val="accent2"/>
                </a:solidFill>
              </a:rPr>
              <a:t> hide the internal implementation details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It basically deals with </a:t>
            </a:r>
            <a:r>
              <a:rPr lang="en-US" sz="3200" dirty="0">
                <a:solidFill>
                  <a:schemeClr val="accent2"/>
                </a:solidFill>
              </a:rPr>
              <a:t>hiding the internal details </a:t>
            </a:r>
            <a:r>
              <a:rPr lang="en-US" sz="3200" dirty="0"/>
              <a:t>and </a:t>
            </a:r>
            <a:r>
              <a:rPr lang="en-US" sz="3200" dirty="0">
                <a:solidFill>
                  <a:schemeClr val="accent2"/>
                </a:solidFill>
              </a:rPr>
              <a:t>showing the essential things to the user.</a:t>
            </a:r>
          </a:p>
        </p:txBody>
      </p:sp>
    </p:spTree>
    <p:extLst>
      <p:ext uri="{BB962C8B-B14F-4D97-AF65-F5344CB8AC3E}">
        <p14:creationId xmlns:p14="http://schemas.microsoft.com/office/powerpoint/2010/main" val="143293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  Abstraction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888" y="0"/>
            <a:ext cx="5025712" cy="59531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84888" y="6169580"/>
            <a:ext cx="5084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Ref: https</a:t>
            </a:r>
            <a:r>
              <a:rPr lang="en-US" dirty="0"/>
              <a:t>://www.edureka.co/blog/java-abstraction/</a:t>
            </a:r>
          </a:p>
        </p:txBody>
      </p:sp>
    </p:spTree>
    <p:extLst>
      <p:ext uri="{BB962C8B-B14F-4D97-AF65-F5344CB8AC3E}">
        <p14:creationId xmlns:p14="http://schemas.microsoft.com/office/powerpoint/2010/main" val="274018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  Achieving Abstraction in Java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0382" y="1881334"/>
            <a:ext cx="9427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You can achieve abstraction in two ways</a:t>
            </a:r>
            <a:r>
              <a:rPr lang="en-US" sz="3600" dirty="0" smtClean="0"/>
              <a:t>:</a:t>
            </a:r>
          </a:p>
          <a:p>
            <a:r>
              <a:rPr lang="en-US" sz="3600" dirty="0"/>
              <a:t>	</a:t>
            </a:r>
            <a:r>
              <a:rPr lang="en-US" sz="3600" dirty="0" smtClean="0"/>
              <a:t>1</a:t>
            </a:r>
            <a:r>
              <a:rPr lang="en-US" sz="3600" dirty="0" smtClean="0">
                <a:solidFill>
                  <a:schemeClr val="accent2"/>
                </a:solidFill>
              </a:rPr>
              <a:t>. Abstract Class</a:t>
            </a:r>
          </a:p>
          <a:p>
            <a:r>
              <a:rPr lang="en-US" sz="3600" dirty="0"/>
              <a:t>	</a:t>
            </a:r>
            <a:r>
              <a:rPr lang="en-US" sz="3600" dirty="0" smtClean="0"/>
              <a:t>2. Interface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9436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  Abstract Class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0382" y="1546479"/>
            <a:ext cx="103030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smtClean="0"/>
              <a:t> Abstract</a:t>
            </a:r>
            <a:r>
              <a:rPr lang="en-US" sz="3200" dirty="0" smtClean="0"/>
              <a:t> class contains the </a:t>
            </a:r>
            <a:r>
              <a:rPr lang="en-US" sz="3200" dirty="0" smtClean="0">
                <a:solidFill>
                  <a:schemeClr val="accent2"/>
                </a:solidFill>
              </a:rPr>
              <a:t>‘abstract’ </a:t>
            </a:r>
            <a:r>
              <a:rPr lang="en-US" sz="3200" dirty="0" smtClean="0"/>
              <a:t>keyword.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smtClean="0"/>
              <a:t> </a:t>
            </a:r>
            <a:r>
              <a:rPr lang="en-US" sz="3200" dirty="0" smtClean="0"/>
              <a:t>If </a:t>
            </a:r>
            <a:r>
              <a:rPr lang="en-US" sz="3200" dirty="0" smtClean="0"/>
              <a:t>you make the class abstract</a:t>
            </a:r>
            <a:r>
              <a:rPr lang="en-US" sz="3200" u="sng" dirty="0" smtClean="0">
                <a:solidFill>
                  <a:schemeClr val="accent2"/>
                </a:solidFill>
              </a:rPr>
              <a:t>, it cannot be instantiated, </a:t>
            </a:r>
            <a:r>
              <a:rPr lang="en-US" sz="3200" u="sng" dirty="0" err="1" smtClean="0">
                <a:solidFill>
                  <a:schemeClr val="accent2"/>
                </a:solidFill>
              </a:rPr>
              <a:t>i.e</a:t>
            </a:r>
            <a:r>
              <a:rPr lang="en-US" sz="3200" u="sng" dirty="0" smtClean="0">
                <a:solidFill>
                  <a:schemeClr val="accent2"/>
                </a:solidFill>
              </a:rPr>
              <a:t> you cannot create an object of an abstract class.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smtClean="0"/>
              <a:t>Also, an abstract class can </a:t>
            </a:r>
            <a:r>
              <a:rPr lang="en-US" sz="3200" dirty="0" smtClean="0">
                <a:solidFill>
                  <a:schemeClr val="accent2"/>
                </a:solidFill>
              </a:rPr>
              <a:t>contain abstract as well as concrete(normal) methods</a:t>
            </a:r>
            <a:r>
              <a:rPr lang="en-US" sz="3200" dirty="0" smtClean="0">
                <a:solidFill>
                  <a:schemeClr val="accent2"/>
                </a:solidFill>
              </a:rPr>
              <a:t>.</a:t>
            </a:r>
          </a:p>
          <a:p>
            <a:endParaRPr lang="en-US" sz="3200" dirty="0" smtClean="0">
              <a:solidFill>
                <a:schemeClr val="accent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accent2"/>
                </a:solidFill>
              </a:rPr>
              <a:t>Abstract method:</a:t>
            </a:r>
          </a:p>
          <a:p>
            <a:r>
              <a:rPr lang="en-US" sz="3200" dirty="0" smtClean="0">
                <a:solidFill>
                  <a:schemeClr val="accent2"/>
                </a:solidFill>
              </a:rPr>
              <a:t> </a:t>
            </a:r>
            <a:r>
              <a:rPr lang="en-US" sz="3200" dirty="0" smtClean="0"/>
              <a:t>A method that is declared as abstract and does not have implementation(no body)is known as abstract method.</a:t>
            </a:r>
            <a:endParaRPr lang="en-US" sz="3200" dirty="0" smtClean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56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  Syntax of Abstract Class and Method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0899" y="1456537"/>
            <a:ext cx="994249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sz="3600" dirty="0">
                <a:solidFill>
                  <a:schemeClr val="accent1"/>
                </a:solidFill>
              </a:rPr>
              <a:t>Abstract </a:t>
            </a:r>
            <a:r>
              <a:rPr lang="en-GB" sz="3600" dirty="0" smtClean="0">
                <a:solidFill>
                  <a:schemeClr val="accent1"/>
                </a:solidFill>
              </a:rPr>
              <a:t>Class  Syntax:</a:t>
            </a:r>
            <a:endParaRPr lang="en-US" sz="3600" dirty="0" smtClean="0">
              <a:solidFill>
                <a:schemeClr val="accent1"/>
              </a:solidFill>
            </a:endParaRPr>
          </a:p>
          <a:p>
            <a:r>
              <a:rPr lang="en-US" sz="3600" dirty="0" smtClean="0">
                <a:solidFill>
                  <a:schemeClr val="accent2"/>
                </a:solidFill>
              </a:rPr>
              <a:t>	abstract class </a:t>
            </a:r>
            <a:r>
              <a:rPr lang="en-US" sz="3600" dirty="0" err="1" smtClean="0">
                <a:solidFill>
                  <a:schemeClr val="accent2"/>
                </a:solidFill>
              </a:rPr>
              <a:t>ClassName</a:t>
            </a:r>
            <a:endParaRPr lang="en-US" sz="3600" dirty="0" smtClean="0">
              <a:solidFill>
                <a:schemeClr val="accent2"/>
              </a:solidFill>
            </a:endParaRPr>
          </a:p>
          <a:p>
            <a:r>
              <a:rPr lang="en-US" sz="3600" dirty="0" smtClean="0">
                <a:solidFill>
                  <a:schemeClr val="accent2"/>
                </a:solidFill>
              </a:rPr>
              <a:t>	{</a:t>
            </a:r>
          </a:p>
          <a:p>
            <a:r>
              <a:rPr lang="en-US" sz="3600" dirty="0" smtClean="0">
                <a:solidFill>
                  <a:schemeClr val="accent2"/>
                </a:solidFill>
              </a:rPr>
              <a:t>		</a:t>
            </a:r>
            <a:r>
              <a:rPr lang="en-US" sz="2000" dirty="0" smtClean="0">
                <a:solidFill>
                  <a:schemeClr val="accent2"/>
                </a:solidFill>
              </a:rPr>
              <a:t>//Instance variables ,Abstract and Normal methods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3600" dirty="0" smtClean="0">
                <a:solidFill>
                  <a:schemeClr val="accent2"/>
                </a:solidFill>
              </a:rPr>
              <a:t>	} </a:t>
            </a:r>
          </a:p>
          <a:p>
            <a:r>
              <a:rPr lang="en-US" sz="3600" dirty="0" smtClean="0">
                <a:solidFill>
                  <a:schemeClr val="accent1"/>
                </a:solidFill>
              </a:rPr>
              <a:t>2.</a:t>
            </a:r>
            <a:r>
              <a:rPr lang="en-US" sz="3600" dirty="0" smtClean="0">
                <a:solidFill>
                  <a:schemeClr val="accent2"/>
                </a:solidFill>
              </a:rPr>
              <a:t> </a:t>
            </a:r>
            <a:r>
              <a:rPr lang="en-US" sz="3600" dirty="0" smtClean="0">
                <a:solidFill>
                  <a:schemeClr val="accent1"/>
                </a:solidFill>
              </a:rPr>
              <a:t>Abstract Method Syntax:</a:t>
            </a:r>
            <a:endParaRPr lang="en-US" sz="3600" dirty="0">
              <a:solidFill>
                <a:schemeClr val="accent2"/>
              </a:solidFill>
            </a:endParaRPr>
          </a:p>
          <a:p>
            <a:r>
              <a:rPr lang="en-US" sz="3600" dirty="0" smtClean="0">
                <a:solidFill>
                  <a:schemeClr val="accent2"/>
                </a:solidFill>
              </a:rPr>
              <a:t>     	abstract </a:t>
            </a:r>
            <a:r>
              <a:rPr lang="en-US" sz="3600" dirty="0" err="1" smtClean="0">
                <a:solidFill>
                  <a:schemeClr val="accent2"/>
                </a:solidFill>
              </a:rPr>
              <a:t>return_type</a:t>
            </a:r>
            <a:r>
              <a:rPr lang="en-US" sz="3600" dirty="0" smtClean="0">
                <a:solidFill>
                  <a:schemeClr val="accent2"/>
                </a:solidFill>
              </a:rPr>
              <a:t> </a:t>
            </a:r>
            <a:r>
              <a:rPr lang="en-US" sz="3600" dirty="0" err="1" smtClean="0">
                <a:solidFill>
                  <a:schemeClr val="accent2"/>
                </a:solidFill>
              </a:rPr>
              <a:t>methodName</a:t>
            </a:r>
            <a:r>
              <a:rPr lang="en-US" sz="3600" dirty="0" smtClean="0">
                <a:solidFill>
                  <a:schemeClr val="accent2"/>
                </a:solidFill>
              </a:rPr>
              <a:t>;</a:t>
            </a:r>
          </a:p>
          <a:p>
            <a:r>
              <a:rPr lang="en-US" sz="2400" b="1" dirty="0" smtClean="0"/>
              <a:t>Note</a:t>
            </a:r>
            <a:r>
              <a:rPr lang="en-US" sz="2400" dirty="0" smtClean="0"/>
              <a:t>: </a:t>
            </a:r>
            <a:r>
              <a:rPr lang="en-US" sz="2400" dirty="0"/>
              <a:t>that the method signatures have no braces and are terminated with a semicolon</a:t>
            </a:r>
            <a:r>
              <a:rPr lang="en-US" sz="2400" dirty="0" smtClean="0"/>
              <a:t>.(Abstract method)</a:t>
            </a:r>
            <a:endParaRPr lang="en-US" sz="2400" dirty="0"/>
          </a:p>
          <a:p>
            <a:endParaRPr lang="en-US" sz="2400" dirty="0" smtClean="0">
              <a:solidFill>
                <a:schemeClr val="accent2"/>
              </a:solidFill>
            </a:endParaRPr>
          </a:p>
          <a:p>
            <a:r>
              <a:rPr lang="en-US" sz="2400" b="1" i="1" dirty="0"/>
              <a:t>Note:</a:t>
            </a:r>
            <a:r>
              <a:rPr lang="en-US" sz="2400" i="1" dirty="0"/>
              <a:t> You can achieve 0-100% abstraction using an abstract class.</a:t>
            </a:r>
            <a:endParaRPr lang="en-US" sz="2400" dirty="0" smtClean="0">
              <a:solidFill>
                <a:schemeClr val="accent2"/>
              </a:solidFill>
            </a:endParaRPr>
          </a:p>
          <a:p>
            <a:r>
              <a:rPr lang="en-US" sz="2400" dirty="0" smtClean="0">
                <a:solidFill>
                  <a:schemeClr val="accent2"/>
                </a:solidFill>
              </a:rPr>
              <a:t>	</a:t>
            </a:r>
            <a:endParaRPr lang="en-US" sz="2400" dirty="0">
              <a:solidFill>
                <a:schemeClr val="accent2"/>
              </a:solidFill>
            </a:endParaRPr>
          </a:p>
          <a:p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04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GB" sz="4000" dirty="0" smtClean="0"/>
              <a:t>  </a:t>
            </a:r>
            <a:r>
              <a:rPr lang="en-US" sz="4000" dirty="0"/>
              <a:t>Inheriting Abstract Class</a:t>
            </a:r>
          </a:p>
          <a:p>
            <a:pPr lvl="0"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0912" y="1867436"/>
            <a:ext cx="1053491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Subclass can inherit  abstract and concrete(normal) methods from Superclass Abstract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Subclass override the abstract methods of Superclass abstract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5287" y="4624752"/>
            <a:ext cx="11128513" cy="1415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accent1"/>
                </a:solidFill>
              </a:rPr>
              <a:t>Note: </a:t>
            </a:r>
            <a:r>
              <a:rPr lang="en-US" sz="3200" dirty="0">
                <a:solidFill>
                  <a:schemeClr val="accent1"/>
                </a:solidFill>
              </a:rPr>
              <a:t>A</a:t>
            </a:r>
            <a:r>
              <a:rPr lang="en-US" sz="3200" dirty="0" smtClean="0">
                <a:solidFill>
                  <a:schemeClr val="accent1"/>
                </a:solidFill>
              </a:rPr>
              <a:t>bstract methods override by Subclasses should  have the method definition(in Subclass). </a:t>
            </a:r>
            <a:endParaRPr lang="en-US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39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GB" sz="4000" dirty="0" smtClean="0"/>
              <a:t>  Example of </a:t>
            </a:r>
            <a:r>
              <a:rPr lang="en-US" sz="4000" dirty="0" smtClean="0"/>
              <a:t>Inheriting </a:t>
            </a:r>
            <a:r>
              <a:rPr lang="en-US" sz="4000" dirty="0"/>
              <a:t>Abstract </a:t>
            </a:r>
            <a:r>
              <a:rPr lang="en-US" sz="4000" dirty="0" smtClean="0"/>
              <a:t>Class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89" y="1644471"/>
            <a:ext cx="10822115" cy="50350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15932" y="1783312"/>
            <a:ext cx="2163651" cy="6121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Superclass declared as abstract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864526" y="1602527"/>
            <a:ext cx="2768958" cy="798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Subclass inherit abstract method from Superclass with its definition </a:t>
            </a:r>
            <a:endParaRPr lang="en-US" dirty="0"/>
          </a:p>
        </p:txBody>
      </p:sp>
      <p:sp>
        <p:nvSpPr>
          <p:cNvPr id="12" name="Right Brace 11"/>
          <p:cNvSpPr/>
          <p:nvPr/>
        </p:nvSpPr>
        <p:spPr>
          <a:xfrm>
            <a:off x="11062952" y="2743200"/>
            <a:ext cx="90152" cy="4378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11070465" y="2394475"/>
            <a:ext cx="256505" cy="511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126058" y="2874935"/>
            <a:ext cx="227742" cy="37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146997" y="4984124"/>
            <a:ext cx="1217053" cy="3992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Test class</a:t>
            </a: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167990" y="2650337"/>
            <a:ext cx="1223706" cy="530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391696" y="3079364"/>
            <a:ext cx="1245985" cy="6439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Abstract method 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4662152" y="4984124"/>
            <a:ext cx="1481071" cy="901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79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GB" sz="4000" dirty="0" smtClean="0"/>
              <a:t>  Object Equality and </a:t>
            </a:r>
            <a:r>
              <a:rPr lang="en-GB" sz="4000" dirty="0" err="1" smtClean="0"/>
              <a:t>hashCode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45" y="1813823"/>
            <a:ext cx="1002405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 java equals() method is used to </a:t>
            </a:r>
            <a:r>
              <a:rPr lang="en-US" sz="3200" dirty="0">
                <a:solidFill>
                  <a:schemeClr val="accent2"/>
                </a:solidFill>
              </a:rPr>
              <a:t>compare equality of two Objects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H</a:t>
            </a:r>
            <a:r>
              <a:rPr lang="en-US" sz="3200" dirty="0" err="1" smtClean="0"/>
              <a:t>ashcode</a:t>
            </a:r>
            <a:r>
              <a:rPr lang="en-US" sz="3200" dirty="0" smtClean="0"/>
              <a:t> </a:t>
            </a:r>
            <a:r>
              <a:rPr lang="en-US" sz="3200" dirty="0"/>
              <a:t>is a number generated from any object. This is what allows objects to be stored/retrieved quickly in a </a:t>
            </a:r>
            <a:r>
              <a:rPr lang="en-US" sz="3200" dirty="0" err="1"/>
              <a:t>Hashtable</a:t>
            </a:r>
            <a:r>
              <a:rPr lang="en-US" sz="3200" dirty="0"/>
              <a:t>.</a:t>
            </a: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56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GB" sz="4000" dirty="0" smtClean="0"/>
              <a:t>  Object Equality and </a:t>
            </a:r>
            <a:r>
              <a:rPr lang="en-GB" sz="4000" dirty="0" err="1" smtClean="0"/>
              <a:t>hashCode</a:t>
            </a:r>
            <a:r>
              <a:rPr lang="en-GB" sz="4000" dirty="0" smtClean="0"/>
              <a:t> Demo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468" y="1550504"/>
            <a:ext cx="8087932" cy="52197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3271234" y="4288665"/>
            <a:ext cx="1081825" cy="206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59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" y="802541"/>
            <a:ext cx="10895528" cy="7479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5287" y="2082011"/>
            <a:ext cx="116448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AutoNum type="arabicPeriod"/>
            </a:pPr>
            <a:r>
              <a:rPr lang="en-US" sz="2800" dirty="0">
                <a:cs typeface="Times New Roman" panose="02020603050405020304" pitchFamily="18" charset="0"/>
                <a:hlinkClick r:id="rId3"/>
              </a:rPr>
              <a:t>https://goalkicker.com/JavaBook</a:t>
            </a:r>
            <a:r>
              <a:rPr lang="en-US" sz="2800" dirty="0" smtClean="0">
                <a:cs typeface="Times New Roman" panose="02020603050405020304" pitchFamily="18" charset="0"/>
                <a:hlinkClick r:id="rId3"/>
              </a:rPr>
              <a:t>/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marL="971550" lvl="1" indent="-514350">
              <a:buAutoNum type="arabicPeriod"/>
            </a:pPr>
            <a:r>
              <a:rPr lang="en-US" sz="2800" dirty="0">
                <a:cs typeface="Times New Roman" panose="02020603050405020304" pitchFamily="18" charset="0"/>
                <a:hlinkClick r:id="rId4"/>
              </a:rPr>
              <a:t>https://www.edureka.co/blog/polymorphism-in-java</a:t>
            </a:r>
            <a:r>
              <a:rPr lang="en-US" sz="2800" dirty="0" smtClean="0">
                <a:cs typeface="Times New Roman" panose="02020603050405020304" pitchFamily="18" charset="0"/>
                <a:hlinkClick r:id="rId4"/>
              </a:rPr>
              <a:t>/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971550" lvl="1" indent="-514350">
              <a:buAutoNum type="arabicPeriod"/>
            </a:pPr>
            <a:r>
              <a:rPr lang="en-US" sz="2800" dirty="0">
                <a:cs typeface="Times New Roman" panose="02020603050405020304" pitchFamily="18" charset="0"/>
              </a:rPr>
              <a:t>https://docs.oracle.com/javase/tutorial/java/IandI/polymorphism.html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marL="971550" lvl="1" indent="-514350">
              <a:buAutoNum type="arabicPeriod"/>
            </a:pPr>
            <a:r>
              <a:rPr lang="en-US" sz="2800" dirty="0">
                <a:cs typeface="Times New Roman" panose="02020603050405020304" pitchFamily="18" charset="0"/>
                <a:hlinkClick r:id="rId5"/>
              </a:rPr>
              <a:t>https://www.geeksforgeeks.org/equals-hashcode-methods-java</a:t>
            </a:r>
            <a:r>
              <a:rPr lang="en-US" sz="2800" dirty="0" smtClean="0">
                <a:cs typeface="Times New Roman" panose="02020603050405020304" pitchFamily="18" charset="0"/>
                <a:hlinkClick r:id="rId5"/>
              </a:rPr>
              <a:t>/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marL="971550" lvl="1" indent="-514350">
              <a:buAutoNum type="arabicPeriod"/>
            </a:pPr>
            <a:r>
              <a:rPr lang="en-US" sz="2800" dirty="0">
                <a:cs typeface="Times New Roman" panose="02020603050405020304" pitchFamily="18" charset="0"/>
              </a:rPr>
              <a:t>https://dzone.com/articles/object-identity-and-equality-in-java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marL="971550" lvl="1" indent="-514350">
              <a:buAutoNum type="arabicPeriod"/>
            </a:pPr>
            <a:r>
              <a:rPr lang="en-US" sz="2800" dirty="0" smtClean="0">
                <a:cs typeface="Times New Roman" panose="02020603050405020304" pitchFamily="18" charset="0"/>
                <a:hlinkClick r:id="rId6"/>
              </a:rPr>
              <a:t>https</a:t>
            </a:r>
            <a:r>
              <a:rPr lang="en-US" sz="2800" dirty="0">
                <a:cs typeface="Times New Roman" panose="02020603050405020304" pitchFamily="18" charset="0"/>
                <a:hlinkClick r:id="rId6"/>
              </a:rPr>
              <a:t>://</a:t>
            </a:r>
            <a:r>
              <a:rPr lang="en-US" sz="2800" dirty="0" smtClean="0">
                <a:cs typeface="Times New Roman" panose="02020603050405020304" pitchFamily="18" charset="0"/>
                <a:hlinkClick r:id="rId6"/>
              </a:rPr>
              <a:t>www.youtube.com/watch?v=bn3zKuU6gwI&amp;list=PLGwb7xZHg-oMzLwqeyvdI7R_OWVMQFyce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lvl="1"/>
            <a:endParaRPr lang="en-US" sz="2800" dirty="0" smtClean="0">
              <a:cs typeface="Times New Roman" panose="02020603050405020304" pitchFamily="18" charset="0"/>
            </a:endParaRPr>
          </a:p>
          <a:p>
            <a:pPr lvl="1"/>
            <a:endParaRPr lang="en-US" sz="2800" dirty="0" smtClean="0">
              <a:cs typeface="Times New Roman" panose="02020603050405020304" pitchFamily="18" charset="0"/>
            </a:endParaRPr>
          </a:p>
          <a:p>
            <a:pPr lvl="1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363" y="216056"/>
            <a:ext cx="2821284" cy="130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9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4359</TotalTime>
  <Words>634</Words>
  <Application>Microsoft Office PowerPoint</Application>
  <PresentationFormat>Widescreen</PresentationFormat>
  <Paragraphs>165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Polymorphism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Windows User</dc:creator>
  <cp:lastModifiedBy>Windows User</cp:lastModifiedBy>
  <cp:revision>867</cp:revision>
  <dcterms:created xsi:type="dcterms:W3CDTF">2018-12-22T11:37:05Z</dcterms:created>
  <dcterms:modified xsi:type="dcterms:W3CDTF">2019-07-01T01:31:23Z</dcterms:modified>
</cp:coreProperties>
</file>