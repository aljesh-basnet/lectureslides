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294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95" r:id="rId14"/>
    <p:sldId id="296" r:id="rId15"/>
    <p:sldId id="297" r:id="rId16"/>
    <p:sldId id="298" r:id="rId17"/>
    <p:sldId id="299" r:id="rId18"/>
    <p:sldId id="278" r:id="rId19"/>
    <p:sldId id="279" r:id="rId20"/>
    <p:sldId id="314" r:id="rId21"/>
    <p:sldId id="280" r:id="rId22"/>
    <p:sldId id="281" r:id="rId23"/>
    <p:sldId id="315" r:id="rId24"/>
    <p:sldId id="282" r:id="rId25"/>
    <p:sldId id="283" r:id="rId26"/>
    <p:sldId id="284" r:id="rId27"/>
    <p:sldId id="301" r:id="rId28"/>
    <p:sldId id="302" r:id="rId29"/>
    <p:sldId id="313" r:id="rId30"/>
    <p:sldId id="265" r:id="rId31"/>
    <p:sldId id="31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43"/>
    <p:restoredTop sz="96341"/>
  </p:normalViewPr>
  <p:slideViewPr>
    <p:cSldViewPr snapToGrid="0" snapToObjects="1">
      <p:cViewPr varScale="1">
        <p:scale>
          <a:sx n="100" d="100"/>
          <a:sy n="100" d="100"/>
        </p:scale>
        <p:origin x="18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76B53-3239-B74F-9605-97696844C25A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A753D-596F-F84F-802D-0254A2F81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1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36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6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19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89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81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17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7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14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14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33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42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60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00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10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32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70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94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C20F7C-D8D7-EA47-B168-F6FBBA42C46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05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B847-D03C-DA42-935D-5DC3350AC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F8A51-5C23-5C45-8C65-1C2EA7E50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0C5A-E8CE-E74C-A447-F7304688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BEEE-4C56-0544-B3A0-3DF1C40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140FF-6C8B-E248-AA8D-2FA60E02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93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5682-0F24-BB4B-B248-B6A1C1BF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8F3BC-2E26-B44B-92A0-52F20878B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CF15-2ACB-F243-A4E5-0C66A650C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0A16B-896B-8841-A2D9-866042FA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9B80C-DC70-2847-B8D7-1A1202469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7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E026-D787-9A44-ABB7-26B5F80E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F1DA4-0C67-E940-B28E-BE6E6C1B3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4400B-E0F6-4542-8BD7-D7BE5F40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CDCCD-BC59-E94C-AF97-486588BBA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4E21B-DA49-AA43-837A-8A7DE270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83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39C3-453E-A747-9D3C-261CD75D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4F2E1-0666-7A4A-9901-D156D7FE1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7EA46-27BF-5A40-B00A-7A2D27F61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A6053-F11E-D14F-AA87-5C2A80457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BF739-9FBE-784C-AEBE-6AB570ACE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C5190-6D02-1440-8F0B-A133180A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5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3E8B-E076-6849-873D-43F17447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87BFA-EE82-2840-A2C3-C86590D6A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15F33-AC19-CE4E-B947-ECB3669CC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B8B42-AC5B-F844-92D2-BA1A8252B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AFFD9-0A9B-E54A-8F9A-3DDBD7C6C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460D7-7A04-054B-A86E-7F68F61D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A5907-EDD3-3C4D-9AF8-3B6F7756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36300-4555-A74A-9533-540B81ECB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12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9087-95F3-E648-9C75-6138AF8FC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54AD7-EDFB-1F4C-87CE-A9EC4076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163C7-07BB-F949-825C-8A81AF6B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EBFF2-8484-C242-B696-8AAD41E7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06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D5B23-4B36-AA44-B6AD-D08D373BC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5EFA9-9D9D-684D-9E59-F9B4A072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40C29-3F45-354F-B436-CAAB2BB3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5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844B-7A1D-174A-9D75-BC611D18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154C7-6BF8-B24A-A3BC-B2A8F42AE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C85E-1E5F-DE4C-81D1-E2A5A9179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38755-AE17-B94B-B278-B21622296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9DB00-A441-7C42-823F-539EA508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6CB00-B099-964E-B578-6A0B708E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9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344D-5A06-224B-BBBA-F821F1F14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7D93D-3C3C-734F-B19D-B559CEECF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9CB10-EE5E-6944-91C3-060EE6F40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91D7E-E5BD-CE4C-9B21-471811E76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C4F77-1CD7-DF44-AC93-B616D7E6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DDDFC-F382-2B4B-B506-11B9AD6F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0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0ED5-1353-BE40-9CAD-31F1558B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15E97-B111-1B4A-B832-1CEBBA532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B8BCF-46DA-C845-AA49-10C21ABE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774A-7F09-2A4B-8316-99B12CEC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333CE-47CF-F941-AC8D-CC570C79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5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28E57-33FB-784F-9B32-93BA325F8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FCBF1-387C-BB4B-9719-62085938F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380E0-3B94-DC41-963B-8B61D416B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342BF-0A4D-8E46-A33D-8CA77EBE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66DB1-BFA6-394A-AF55-C7FB2398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1C189-5390-534D-A3CF-45ECC7461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EFA49-2BAA-174E-B1C7-020F397A7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A41C4-9CEB-AA43-BF12-B53CAEF62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66C56-2345-2746-91AA-24E1CFB9AB14}" type="datetimeFigureOut">
              <a:rPr lang="en-US" smtClean="0"/>
              <a:t>11/13/19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1DF9B-DFDB-4A46-9FF8-232BAA0AF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B9FE6-1E19-8C42-8F84-D8C91D142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AD83A-F0E5-6F41-8FC0-D2892BF6D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7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png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2374-B174-F34F-8AFF-FE8833813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Introductory Computer Networking and IT Security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BA501-51A5-C948-B97B-2246F8216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87798"/>
            <a:ext cx="9144000" cy="1270001"/>
          </a:xfrm>
        </p:spPr>
        <p:txBody>
          <a:bodyPr/>
          <a:lstStyle/>
          <a:p>
            <a:r>
              <a:rPr lang="en-US" dirty="0"/>
              <a:t>Week 5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BD8D6-0482-B348-8E52-88F13AFCEE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566B64-800D-7343-9B97-B4BCEFCA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3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Ethernet Switching</a:t>
            </a:r>
            <a:endParaRPr lang="en-US" dirty="0"/>
          </a:p>
          <a:p>
            <a:pPr lvl="0"/>
            <a:r>
              <a:rPr lang="en-GB" dirty="0"/>
              <a:t>STP (Spanning Tree Protocol)</a:t>
            </a:r>
            <a:endParaRPr lang="en-US" dirty="0"/>
          </a:p>
          <a:p>
            <a:pPr lvl="0"/>
            <a:r>
              <a:rPr lang="en-GB" dirty="0"/>
              <a:t>Configuring switches</a:t>
            </a:r>
            <a:endParaRPr lang="en-US" dirty="0"/>
          </a:p>
          <a:p>
            <a:pPr lvl="0"/>
            <a:r>
              <a:rPr lang="en-GB" dirty="0"/>
              <a:t>VLAN Basics</a:t>
            </a:r>
            <a:endParaRPr lang="en-US" dirty="0"/>
          </a:p>
          <a:p>
            <a:r>
              <a:rPr lang="en-GB" dirty="0"/>
              <a:t>VLAN Trunking Protocols (VTP)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0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06100" cy="4667250"/>
          </a:xfrm>
        </p:spPr>
        <p:txBody>
          <a:bodyPr>
            <a:normAutofit/>
          </a:bodyPr>
          <a:lstStyle/>
          <a:p>
            <a:r>
              <a:rPr lang="en-US" dirty="0"/>
              <a:t>Hub is a multipoint repeater.</a:t>
            </a:r>
          </a:p>
          <a:p>
            <a:pPr algn="just"/>
            <a:r>
              <a:rPr lang="en-US" dirty="0"/>
              <a:t>A repeater receives a digital signal, </a:t>
            </a:r>
            <a:r>
              <a:rPr lang="en-US" dirty="0" err="1"/>
              <a:t>reamplifies</a:t>
            </a:r>
            <a:r>
              <a:rPr lang="en-US" dirty="0"/>
              <a:t> or regenerates that signal, then forwards the signal out the other port without looking at any data. </a:t>
            </a:r>
          </a:p>
          <a:p>
            <a:r>
              <a:rPr lang="en-US" dirty="0"/>
              <a:t>Any digital signal received from a segment on a hub port is regenerated or reamplified and transmitted out all other ports on the hub.</a:t>
            </a:r>
          </a:p>
          <a:p>
            <a:r>
              <a:rPr lang="en-US" dirty="0"/>
              <a:t>This means all devices plugged into a hub are in the same collision domain as well as in the same broadcast domain.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2500D-06B6-0647-B072-2B447F828A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2398E7-9D1C-5044-84B0-BAAB2A750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8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pic>
        <p:nvPicPr>
          <p:cNvPr id="4" name="Content Placeholder 3" descr="Hub Working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0" r="6440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2022475" y="1663960"/>
            <a:ext cx="1797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Working of a hub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489473-BEA3-0B42-8265-B1F15C1255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93E98-8389-1645-AD49-33945FA2F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14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Switch works at data link layer.</a:t>
            </a:r>
          </a:p>
          <a:p>
            <a:r>
              <a:rPr lang="en-US" dirty="0"/>
              <a:t>Bridges were used to separate collision domain in ethernet networks.</a:t>
            </a:r>
          </a:p>
          <a:p>
            <a:r>
              <a:rPr lang="en-US" dirty="0"/>
              <a:t> Bridge are software based.</a:t>
            </a:r>
          </a:p>
          <a:p>
            <a:r>
              <a:rPr lang="en-US" dirty="0"/>
              <a:t>New generation fast switches use application-specific integrated circuits </a:t>
            </a:r>
            <a:r>
              <a:rPr lang="hu-HU" dirty="0"/>
              <a:t>(</a:t>
            </a:r>
            <a:r>
              <a:rPr lang="hu-HU" dirty="0" err="1"/>
              <a:t>ASICs</a:t>
            </a:r>
            <a:r>
              <a:rPr lang="hu-HU" dirty="0"/>
              <a:t>).</a:t>
            </a:r>
          </a:p>
          <a:p>
            <a:r>
              <a:rPr lang="hu-HU" dirty="0"/>
              <a:t>Switches forward </a:t>
            </a:r>
            <a:r>
              <a:rPr lang="hu-HU" dirty="0" err="1"/>
              <a:t>ethernet</a:t>
            </a:r>
            <a:r>
              <a:rPr lang="hu-HU" dirty="0"/>
              <a:t> </a:t>
            </a:r>
            <a:r>
              <a:rPr lang="hu-HU" dirty="0" err="1"/>
              <a:t>frames</a:t>
            </a:r>
            <a:r>
              <a:rPr lang="hu-HU" dirty="0"/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F523C-19C9-184D-A40D-AB30EEC72C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035C40-B552-A84A-8AAA-ABAE89C32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7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 of four important advantages we gain when using Layer 2 switching:</a:t>
            </a:r>
          </a:p>
          <a:p>
            <a:endParaRPr lang="en-US" dirty="0"/>
          </a:p>
          <a:p>
            <a:pPr lvl="1"/>
            <a:r>
              <a:rPr lang="en-US" dirty="0"/>
              <a:t>Hardware-based bridging (ASICs)</a:t>
            </a:r>
          </a:p>
          <a:p>
            <a:pPr lvl="1"/>
            <a:endParaRPr lang="en-US" dirty="0"/>
          </a:p>
          <a:p>
            <a:pPr lvl="1"/>
            <a:r>
              <a:rPr lang="fi-FI" dirty="0" err="1"/>
              <a:t>Wire</a:t>
            </a:r>
            <a:r>
              <a:rPr lang="fi-FI" dirty="0"/>
              <a:t> </a:t>
            </a:r>
            <a:r>
              <a:rPr lang="fi-FI" dirty="0" err="1"/>
              <a:t>speed</a:t>
            </a:r>
            <a:endParaRPr lang="fi-FI" dirty="0"/>
          </a:p>
          <a:p>
            <a:pPr lvl="1"/>
            <a:endParaRPr lang="fi-FI" dirty="0"/>
          </a:p>
          <a:p>
            <a:pPr lvl="1"/>
            <a:r>
              <a:rPr lang="pl-PL" dirty="0"/>
              <a:t> </a:t>
            </a:r>
            <a:r>
              <a:rPr lang="pl-PL" dirty="0" err="1"/>
              <a:t>Low</a:t>
            </a:r>
            <a:r>
              <a:rPr lang="pl-PL" dirty="0"/>
              <a:t> </a:t>
            </a:r>
            <a:r>
              <a:rPr lang="pl-PL" dirty="0" err="1"/>
              <a:t>latency</a:t>
            </a:r>
            <a:endParaRPr lang="pl-PL" dirty="0"/>
          </a:p>
          <a:p>
            <a:pPr lvl="1"/>
            <a:endParaRPr lang="pl-PL" dirty="0"/>
          </a:p>
          <a:p>
            <a:pPr lvl="1"/>
            <a:r>
              <a:rPr lang="en-US" dirty="0"/>
              <a:t>Low cost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8B725-3888-4847-B4E0-2880FC491C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BB35FE-9FEE-274C-BDD7-9F3FF3121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9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Below is the structure of a layer 2 frame. Ethernet switches takes decision based on destination MAC address</a:t>
            </a:r>
          </a:p>
          <a:p>
            <a:endParaRPr lang="en-US" dirty="0"/>
          </a:p>
        </p:txBody>
      </p:sp>
      <p:pic>
        <p:nvPicPr>
          <p:cNvPr id="4" name="Picture 3" descr="Frame Forma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00" y="3429000"/>
            <a:ext cx="8966200" cy="1498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4FADE-398C-4348-A54B-3BB8B544FA6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66F8B7-DF11-9948-BFF0-0E58E7A83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17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main functions of a switch</a:t>
            </a:r>
          </a:p>
          <a:p>
            <a:endParaRPr lang="en-US" dirty="0"/>
          </a:p>
          <a:p>
            <a:pPr lvl="1"/>
            <a:r>
              <a:rPr lang="en-US" dirty="0"/>
              <a:t>Address learning</a:t>
            </a:r>
          </a:p>
          <a:p>
            <a:pPr lvl="1"/>
            <a:endParaRPr lang="en-US" dirty="0"/>
          </a:p>
          <a:p>
            <a:pPr lvl="1"/>
            <a:r>
              <a:rPr lang="de-DE" dirty="0"/>
              <a:t>Forward/</a:t>
            </a:r>
            <a:r>
              <a:rPr lang="de-DE" dirty="0" err="1"/>
              <a:t>filter</a:t>
            </a:r>
            <a:r>
              <a:rPr lang="de-DE" dirty="0"/>
              <a:t> </a:t>
            </a:r>
            <a:r>
              <a:rPr lang="de-DE" dirty="0" err="1"/>
              <a:t>decisions</a:t>
            </a:r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Loop </a:t>
            </a:r>
            <a:r>
              <a:rPr lang="de-DE" dirty="0" err="1"/>
              <a:t>avoidance</a:t>
            </a:r>
            <a:r>
              <a:rPr lang="de-DE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25692-9BAC-4E4C-9ED5-A47206C5A4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D2A441-8643-3440-8D2E-64639CB61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/>
              <a:t>Address learning </a:t>
            </a:r>
          </a:p>
          <a:p>
            <a:pPr lvl="1"/>
            <a:r>
              <a:rPr lang="en-US" dirty="0"/>
              <a:t>When a switch is first powered on, the MAC forward/filter table (CAM) is empty.</a:t>
            </a:r>
          </a:p>
          <a:p>
            <a:pPr lvl="1"/>
            <a:r>
              <a:rPr lang="en-US" dirty="0"/>
              <a:t>When a device transmits and an interface receives a frame, the switch places the frame’s source address in the MAC forward/filter table. </a:t>
            </a:r>
          </a:p>
          <a:p>
            <a:pPr lvl="1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 descr="CAM Tabl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966" y="3883347"/>
            <a:ext cx="6092060" cy="2894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D47A62-8114-014B-A50E-278E932122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4137C7-EA5F-A945-BFC7-17294883A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5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Forward/Filter decision </a:t>
            </a:r>
          </a:p>
          <a:p>
            <a:pPr marL="0" indent="0">
              <a:buNone/>
            </a:pPr>
            <a:endParaRPr lang="en-US" dirty="0"/>
          </a:p>
          <a:p>
            <a:pPr lvl="1" algn="just"/>
            <a:r>
              <a:rPr lang="en-US" dirty="0"/>
              <a:t>When a frame arrives at a switch interface, the destination hardware address is compared to the forward/filter MAC database. If the destination hardware address is known and listed in the database, the frame is only sent out of the appropriate exit interface.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If the destination hardware address isn’t listed in the MAC database, then the frame will be flooded out all active interfaces except the interface it was received on.</a:t>
            </a:r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0C2BF-FD62-7945-92E3-CE3D1D9608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FD2224-AB9F-BC4F-B97D-BF807FC0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2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 Avoidance </a:t>
            </a:r>
          </a:p>
          <a:p>
            <a:pPr lvl="1" algn="just"/>
            <a:r>
              <a:rPr lang="en-US" dirty="0"/>
              <a:t>Redundant path in the switching network create a loop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Loop will create problems like</a:t>
            </a:r>
          </a:p>
          <a:p>
            <a:pPr lvl="2" algn="just"/>
            <a:r>
              <a:rPr lang="en-US" dirty="0"/>
              <a:t>Broadcast Storm </a:t>
            </a:r>
          </a:p>
          <a:p>
            <a:pPr lvl="2" algn="just"/>
            <a:r>
              <a:rPr lang="en-US" dirty="0"/>
              <a:t>Multiple frame copies </a:t>
            </a:r>
          </a:p>
          <a:p>
            <a:pPr lvl="2" algn="just"/>
            <a:r>
              <a:rPr lang="en-US" dirty="0"/>
              <a:t>CAM table thrashing </a:t>
            </a:r>
          </a:p>
          <a:p>
            <a:pPr lvl="2" algn="just"/>
            <a:endParaRPr lang="en-US" dirty="0"/>
          </a:p>
          <a:p>
            <a:pPr lvl="1" algn="just">
              <a:buClr>
                <a:srgbClr val="663366">
                  <a:lumMod val="60000"/>
                  <a:lumOff val="40000"/>
                </a:srgbClr>
              </a:buClr>
            </a:pPr>
            <a:r>
              <a:rPr lang="en-US" dirty="0"/>
              <a:t>Spanning Tree Protocol is used to avoid loop in </a:t>
            </a:r>
            <a:r>
              <a:rPr lang="en-US" dirty="0" err="1"/>
              <a:t>ethernet</a:t>
            </a:r>
            <a:r>
              <a:rPr lang="en-US" dirty="0"/>
              <a:t> switched networks </a:t>
            </a:r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90567-E2C0-3F4F-A8E7-B9353788A0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9C639-F428-DE43-9F9E-37E0BF52C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79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Introduction to Ethernet switching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</a:t>
            </a:r>
            <a:r>
              <a:rPr lang="en-US" dirty="0" err="1"/>
              <a:t>ethernet</a:t>
            </a:r>
            <a:r>
              <a:rPr lang="en-US" dirty="0"/>
              <a:t> switch network</a:t>
            </a:r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4" descr="F08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696" y="2668589"/>
            <a:ext cx="655320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70278F-6829-7848-9BDE-66688BB93B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2236D8-D353-BE40-AE13-E400CA64E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34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Spanning Tree Protocol (STP)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Cisco switches run the IEEE 802.1D version of STP, which isn’t compatible with the DEC version. </a:t>
            </a:r>
          </a:p>
          <a:p>
            <a:r>
              <a:rPr lang="en-US" dirty="0"/>
              <a:t>STP’s main task is to stop network loops from occurring on your layer 2 network (bridges or switches). </a:t>
            </a:r>
          </a:p>
          <a:p>
            <a:r>
              <a:rPr lang="en-US" dirty="0"/>
              <a:t>It vigilantly monitors the network to find all links, making sure that no loops occur by shutting down any redundant links. </a:t>
            </a:r>
          </a:p>
          <a:p>
            <a:r>
              <a:rPr lang="en-US" dirty="0"/>
              <a:t>STP uses the spanning-tree algorithm (STA) to first create a topology database, then search out and destroy redundant links.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3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STP Terminology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A0D80B-E8B8-224C-BD0E-C455DF348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4574" y="1690688"/>
            <a:ext cx="6322027" cy="491191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DF8D21-898B-EC45-82B9-1FAB0D8AB51E}"/>
              </a:ext>
            </a:extLst>
          </p:cNvPr>
          <p:cNvSpPr/>
          <p:nvPr/>
        </p:nvSpPr>
        <p:spPr>
          <a:xfrm>
            <a:off x="624138" y="2056849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Root bridge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BPDU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Bridge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Non root bridge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Root 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abon"/>
              </a:rPr>
              <a:t>Designated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abon"/>
              </a:rPr>
              <a:t>Port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abon"/>
              </a:rPr>
              <a:t>Non designated 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abon"/>
              </a:rPr>
              <a:t>Forwarding 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abon"/>
              </a:rPr>
              <a:t>Blocked port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147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Configuring switches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Setting the passwords</a:t>
            </a:r>
          </a:p>
          <a:p>
            <a:r>
              <a:rPr lang="en-US" dirty="0"/>
              <a:t>Setting the hostname</a:t>
            </a:r>
          </a:p>
          <a:p>
            <a:r>
              <a:rPr lang="en-US" dirty="0"/>
              <a:t>Configuring the IP address and subnet mask </a:t>
            </a:r>
          </a:p>
          <a:p>
            <a:r>
              <a:rPr lang="en-US" dirty="0"/>
              <a:t>Setting a description on the interfaces </a:t>
            </a:r>
          </a:p>
          <a:p>
            <a:r>
              <a:rPr lang="en-US" dirty="0"/>
              <a:t>Setting port security</a:t>
            </a:r>
          </a:p>
          <a:p>
            <a:r>
              <a:rPr lang="en-US" dirty="0"/>
              <a:t>Erasing the switch configurations </a:t>
            </a:r>
          </a:p>
          <a:p>
            <a:pPr lvl="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41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F58659-2C97-3247-A5FE-E4440AB30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889" y="888157"/>
            <a:ext cx="8284944" cy="97013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25DBED-07FC-8049-8EC2-D1487EA85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938" y="2023390"/>
            <a:ext cx="4659674" cy="707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32FE35-BE80-A545-BD4A-787A85780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861" y="2763272"/>
            <a:ext cx="4635697" cy="2875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95F520-8D7A-644F-99F2-795A6CEDE0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40" y="5484776"/>
            <a:ext cx="4365604" cy="97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5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108C22-324A-C24C-AD95-4CAADF484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09588"/>
            <a:ext cx="6581326" cy="146605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5863E3-723D-EF4E-A9CA-ACED5CA84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975646"/>
            <a:ext cx="6121400" cy="18479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A7EB53-A6C2-0943-99F0-CC48A5D00B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99" y="3823616"/>
            <a:ext cx="6324649" cy="4435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CD5BAC-7D87-3040-B92F-2B57248E19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98" y="4267199"/>
            <a:ext cx="7095273" cy="222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5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 2 switches create a flat network.</a:t>
            </a:r>
          </a:p>
          <a:p>
            <a:r>
              <a:rPr lang="en-US" dirty="0"/>
              <a:t>Its by default does not break up broadcast domain.</a:t>
            </a:r>
          </a:p>
          <a:p>
            <a:r>
              <a:rPr lang="en-US" dirty="0"/>
              <a:t>Virtual LAN (VLANs) are used to break broadcast domain. </a:t>
            </a:r>
          </a:p>
          <a:p>
            <a:r>
              <a:rPr lang="en-US" dirty="0"/>
              <a:t>Logical port group is created in a switch.</a:t>
            </a:r>
          </a:p>
          <a:p>
            <a:r>
              <a:rPr lang="en-US" dirty="0"/>
              <a:t>Security can be implemented by segregating the network.</a:t>
            </a:r>
          </a:p>
          <a:p>
            <a:r>
              <a:rPr lang="en-US" dirty="0"/>
              <a:t>Network adds, moves, and changes are achieved with ease by just configuring a port into the appropriate VLAN.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E0873-DD2C-A446-937E-44B4FC3F67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0CE62F-F241-614A-812C-29C49B1B2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7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Arial" charset="0"/>
              </a:rPr>
              <a:t>Static VLANs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>
              <a:latin typeface="Arial" charset="0"/>
            </a:endParaRP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Typical method of creating VLANs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Most secure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A switch port assigned to a VLAN always maintains that assignment until changed.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2EA1D-1041-CD45-93C8-859E346946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8FCB4F-2301-B14E-BC59-60E10C901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8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Arial" charset="0"/>
              </a:rPr>
              <a:t>Dynamic VLANs</a:t>
            </a:r>
          </a:p>
          <a:p>
            <a:pPr>
              <a:lnSpc>
                <a:spcPct val="120000"/>
              </a:lnSpc>
            </a:pPr>
            <a:endParaRPr lang="en-US" dirty="0">
              <a:latin typeface="Arial" charset="0"/>
            </a:endParaRP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Node assignment to a VLAN is automatic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MAC addresses, protocols, network addresses, </a:t>
            </a:r>
            <a:r>
              <a:rPr lang="en-US" dirty="0" err="1">
                <a:latin typeface="Arial" charset="0"/>
              </a:rPr>
              <a:t>etc</a:t>
            </a:r>
            <a:endParaRPr lang="en-US" dirty="0">
              <a:latin typeface="Arial" charset="0"/>
            </a:endParaRP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VLAN Management Policy Server (VMPS)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MAC address database for dynamic assignments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" charset="0"/>
              </a:rPr>
              <a:t>MAC-address to VLAN mapping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2EA1D-1041-CD45-93C8-859E346946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8FCB4F-2301-B14E-BC59-60E10C901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Arial" charset="0"/>
              </a:rPr>
              <a:t>Identifying VLANs</a:t>
            </a:r>
          </a:p>
          <a:p>
            <a:pPr>
              <a:lnSpc>
                <a:spcPct val="120000"/>
              </a:lnSpc>
            </a:pPr>
            <a:endParaRPr lang="en-US" sz="2400" dirty="0">
              <a:latin typeface="Arial" charset="0"/>
            </a:endParaRPr>
          </a:p>
          <a:p>
            <a:pPr lvl="1"/>
            <a:r>
              <a:rPr lang="en-US" dirty="0">
                <a:latin typeface="Arial" charset="0"/>
              </a:rPr>
              <a:t>Access links</a:t>
            </a:r>
          </a:p>
          <a:p>
            <a:pPr lvl="2"/>
            <a:r>
              <a:rPr lang="en-US" dirty="0">
                <a:latin typeface="Arial" charset="0"/>
              </a:rPr>
              <a:t>A link that is part of only one VLAN</a:t>
            </a:r>
          </a:p>
          <a:p>
            <a:pPr lvl="1"/>
            <a:endParaRPr lang="en-US" dirty="0">
              <a:latin typeface="Arial" charset="0"/>
            </a:endParaRPr>
          </a:p>
          <a:p>
            <a:pPr lvl="1"/>
            <a:r>
              <a:rPr lang="en-US" dirty="0">
                <a:latin typeface="Arial" charset="0"/>
              </a:rPr>
              <a:t>Trunk links</a:t>
            </a:r>
          </a:p>
          <a:p>
            <a:pPr lvl="2"/>
            <a:r>
              <a:rPr lang="en-US" dirty="0">
                <a:latin typeface="Arial" charset="0"/>
              </a:rPr>
              <a:t>Carries multiple VLANs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32489-9EB9-F44C-9BBA-C3227C8C49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D6E716-87A6-5644-8179-FF0B372BA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1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1211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Arial" charset="0"/>
              </a:rPr>
              <a:t>Frame Tagging</a:t>
            </a:r>
          </a:p>
          <a:p>
            <a:pPr marL="457200" lvl="1" indent="0">
              <a:buNone/>
            </a:pPr>
            <a:r>
              <a:rPr lang="en-US" dirty="0">
                <a:latin typeface="Arial" charset="0"/>
              </a:rPr>
              <a:t>A means of keeping track of users &amp; frames as they travel the switch fabric &amp; VLANs</a:t>
            </a:r>
          </a:p>
          <a:p>
            <a:pPr lvl="2"/>
            <a:r>
              <a:rPr lang="en-US" sz="2400" dirty="0">
                <a:latin typeface="Arial" charset="0"/>
              </a:rPr>
              <a:t>User-defined ID assigned to each frame</a:t>
            </a:r>
          </a:p>
          <a:p>
            <a:pPr lvl="2"/>
            <a:r>
              <a:rPr lang="en-US" sz="2400" dirty="0">
                <a:latin typeface="Arial" charset="0"/>
              </a:rPr>
              <a:t>VLAN ID is removed before exiting trunked links &amp; access links</a:t>
            </a:r>
          </a:p>
          <a:p>
            <a:pPr marL="914400" lvl="2" indent="0">
              <a:buNone/>
            </a:pPr>
            <a:endParaRPr lang="en-US" dirty="0">
              <a:latin typeface="Arial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3D8BE-F73B-7344-8385-0ED4984525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09BCF6-15A2-F045-8EEF-823A25520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06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2" indent="0">
              <a:lnSpc>
                <a:spcPct val="130000"/>
              </a:lnSpc>
              <a:spcBef>
                <a:spcPts val="2000"/>
              </a:spcBef>
              <a:buNone/>
            </a:pPr>
            <a:r>
              <a:rPr lang="en-US" sz="2400" dirty="0">
                <a:latin typeface="Arial" charset="0"/>
              </a:rPr>
              <a:t>Two tagging methods are used</a:t>
            </a:r>
          </a:p>
          <a:p>
            <a:pPr marL="0" lvl="2" indent="0">
              <a:lnSpc>
                <a:spcPct val="130000"/>
              </a:lnSpc>
              <a:spcBef>
                <a:spcPts val="2000"/>
              </a:spcBef>
              <a:buNone/>
            </a:pPr>
            <a:endParaRPr lang="en-US" sz="2400" dirty="0">
              <a:latin typeface="Arial" charset="0"/>
            </a:endParaRPr>
          </a:p>
          <a:p>
            <a:pPr lvl="1"/>
            <a:r>
              <a:rPr lang="en-US" dirty="0">
                <a:latin typeface="Arial" charset="0"/>
              </a:rPr>
              <a:t>Inter-Switch Link (ISL)</a:t>
            </a:r>
          </a:p>
          <a:p>
            <a:pPr lvl="2"/>
            <a:r>
              <a:rPr lang="en-US" sz="2400" dirty="0">
                <a:latin typeface="Arial" charset="0"/>
              </a:rPr>
              <a:t>Cisco proprietary</a:t>
            </a:r>
          </a:p>
          <a:p>
            <a:pPr lvl="1"/>
            <a:r>
              <a:rPr lang="en-US" dirty="0">
                <a:latin typeface="Arial" charset="0"/>
              </a:rPr>
              <a:t>IEEE 802.1q</a:t>
            </a:r>
          </a:p>
          <a:p>
            <a:pPr lvl="2"/>
            <a:r>
              <a:rPr lang="en-US" sz="2400" dirty="0">
                <a:latin typeface="Arial" charset="0"/>
              </a:rPr>
              <a:t>Open standard defied by IEEE</a:t>
            </a:r>
          </a:p>
          <a:p>
            <a:pPr lvl="2"/>
            <a:endParaRPr lang="en-US" dirty="0">
              <a:latin typeface="Arial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3D8BE-F73B-7344-8385-0ED4984525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09BCF6-15A2-F045-8EEF-823A25520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6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Arial" charset="0"/>
              </a:rPr>
              <a:t>Typical VLAN implementation on a single switch</a:t>
            </a:r>
          </a:p>
          <a:p>
            <a:pPr>
              <a:lnSpc>
                <a:spcPct val="120000"/>
              </a:lnSpc>
            </a:pPr>
            <a:endParaRPr lang="en-US" sz="2400" dirty="0">
              <a:latin typeface="Arial" charset="0"/>
            </a:endParaRPr>
          </a:p>
          <a:p>
            <a:pPr lvl="2"/>
            <a:endParaRPr lang="en-US" dirty="0">
              <a:latin typeface="Arial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56819" y="72337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Typical VALN Implementati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046" y="2895600"/>
            <a:ext cx="6420659" cy="2984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D10C8-B3BE-1340-A40D-6A2C0E4848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14A9F-2C6F-5045-93CF-F43601B53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61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b="1" dirty="0"/>
              <a:t>VLANs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Arial" charset="0"/>
              </a:rPr>
              <a:t>Typical VLAN implementation on a multiple switch</a:t>
            </a:r>
          </a:p>
          <a:p>
            <a:pPr>
              <a:lnSpc>
                <a:spcPct val="120000"/>
              </a:lnSpc>
            </a:pPr>
            <a:endParaRPr lang="en-US" sz="2400" dirty="0">
              <a:latin typeface="Arial" charset="0"/>
            </a:endParaRPr>
          </a:p>
          <a:p>
            <a:pPr lvl="2"/>
            <a:endParaRPr lang="en-US" dirty="0">
              <a:latin typeface="Arial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56819" y="72337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3"/>
          <a:stretch>
            <a:fillRect/>
          </a:stretch>
        </p:blipFill>
        <p:spPr bwMode="auto">
          <a:xfrm>
            <a:off x="2826267" y="2620226"/>
            <a:ext cx="6190733" cy="379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49043F-CF10-054F-9230-3FAE13E91D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92A266-7663-0843-9941-97CEE35CD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425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VLAN </a:t>
            </a:r>
            <a:r>
              <a:rPr lang="en-US" b="1" dirty="0" err="1"/>
              <a:t>Trunking</a:t>
            </a:r>
            <a:r>
              <a:rPr lang="en-US" b="1" dirty="0"/>
              <a:t> Protocol (VTP)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goals of </a:t>
            </a:r>
            <a:r>
              <a:rPr lang="en-US" i="1" dirty="0"/>
              <a:t>VLAN </a:t>
            </a:r>
            <a:r>
              <a:rPr lang="en-US" i="1" dirty="0" err="1"/>
              <a:t>Trunking</a:t>
            </a:r>
            <a:r>
              <a:rPr lang="en-US" i="1" dirty="0"/>
              <a:t> Protocol (VTP) </a:t>
            </a:r>
            <a:r>
              <a:rPr lang="en-US" dirty="0"/>
              <a:t>are to manage all configured VLANs across a switched internetwork.</a:t>
            </a:r>
          </a:p>
          <a:p>
            <a:r>
              <a:rPr lang="en-US" dirty="0"/>
              <a:t>Consistent VLAN configuration across all switches in the network.</a:t>
            </a:r>
          </a:p>
          <a:p>
            <a:r>
              <a:rPr lang="en-US" dirty="0"/>
              <a:t>VLAN </a:t>
            </a:r>
            <a:r>
              <a:rPr lang="en-US" dirty="0" err="1"/>
              <a:t>trunking</a:t>
            </a:r>
            <a:r>
              <a:rPr lang="en-US" dirty="0"/>
              <a:t> over mixed networks, such as Ethernet to ATM LANE or even FDDI.</a:t>
            </a:r>
          </a:p>
          <a:p>
            <a:r>
              <a:rPr lang="en-US" dirty="0"/>
              <a:t>Accurate tracking and monitoring of VLAN.</a:t>
            </a:r>
          </a:p>
          <a:p>
            <a:r>
              <a:rPr lang="en-US" dirty="0"/>
              <a:t>Dynamic reporting of added VLANs to all switches in the VTP domain</a:t>
            </a:r>
          </a:p>
          <a:p>
            <a:r>
              <a:rPr lang="en-US" dirty="0"/>
              <a:t>Plug-and-Play VLAN adding.</a:t>
            </a:r>
          </a:p>
          <a:p>
            <a:endParaRPr lang="en-US" dirty="0"/>
          </a:p>
          <a:p>
            <a:endParaRPr lang="en-US" dirty="0"/>
          </a:p>
          <a:p>
            <a:pPr lvl="2" algn="just"/>
            <a:endParaRPr lang="en-US" dirty="0"/>
          </a:p>
          <a:p>
            <a:pPr marL="228600" lvl="1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56819" y="72337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CD028-73CF-7C40-B43A-BE0A1D5F18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187A8E-B3FE-9A42-B55E-378534744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3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EEC963-C7BE-E341-9142-3B7A7DF52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0301" y="1690688"/>
            <a:ext cx="5793896" cy="397465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18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VLANs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FEEC7A-A886-B54B-A52C-C61708A00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27100" y="1384299"/>
            <a:ext cx="6502400" cy="2311279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1025" name="Picture 1" descr="page429image9688704">
            <a:extLst>
              <a:ext uri="{FF2B5EF4-FFF2-40B4-BE49-F238E27FC236}">
                <a16:creationId xmlns:a16="http://schemas.microsoft.com/office/drawing/2014/main" id="{CD1EDA30-77F6-7E45-9F7F-31C5753B6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292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190852B-0875-B34B-A7B1-1337A202BF14}"/>
              </a:ext>
            </a:extLst>
          </p:cNvPr>
          <p:cNvSpPr/>
          <p:nvPr/>
        </p:nvSpPr>
        <p:spPr>
          <a:xfrm>
            <a:off x="838200" y="3739634"/>
            <a:ext cx="3929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Univers" panose="020B0503020202020204" pitchFamily="34" charset="0"/>
              </a:rPr>
              <a:t>Assigning Switch Ports to VLANs 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D2062B-FB4C-174D-88BE-E366E4A24D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100" y="4108966"/>
            <a:ext cx="4813300" cy="13053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C70052-7417-5644-97EA-DC4C1EEA5B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5384744"/>
            <a:ext cx="5006516" cy="105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9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Configuring Trunk Ports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854645-6956-6D49-9B3E-93F4599D5C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7073F7-EEC6-F14B-842C-7DA235BC4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1025" name="Picture 1" descr="page429image9688704">
            <a:extLst>
              <a:ext uri="{FF2B5EF4-FFF2-40B4-BE49-F238E27FC236}">
                <a16:creationId xmlns:a16="http://schemas.microsoft.com/office/drawing/2014/main" id="{CD1EDA30-77F6-7E45-9F7F-31C5753B6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292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F802E7-27E5-1948-9A90-2C93F2C17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38200" y="1452046"/>
            <a:ext cx="6580468" cy="1684854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E0EE8C-7A5E-DA47-9FB8-BD180822C70E}"/>
              </a:ext>
            </a:extLst>
          </p:cNvPr>
          <p:cNvSpPr/>
          <p:nvPr/>
        </p:nvSpPr>
        <p:spPr>
          <a:xfrm>
            <a:off x="838200" y="3429000"/>
            <a:ext cx="25666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+mj-lt"/>
              </a:rPr>
              <a:t>Configuring VTP </a:t>
            </a:r>
            <a:endParaRPr lang="en-US" sz="2800" b="1" dirty="0">
              <a:effectLst/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FEBC17-4DDF-EB41-B822-184B7EFC0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4016375"/>
            <a:ext cx="3676650" cy="283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8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FF6BB4-30DF-5241-BB02-49D8C2C87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9607" y="1379576"/>
            <a:ext cx="4362453" cy="473129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554627-AB8A-4C47-B3A8-4DD22E7C6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9FD74-4D6E-644D-94A5-0E7847CBA9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77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7E11-26C9-BC41-8219-8B91F5B9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8800" dirty="0"/>
          </a:p>
          <a:p>
            <a:pPr marL="0" indent="0" algn="ctr">
              <a:buNone/>
            </a:pPr>
            <a:r>
              <a:rPr lang="en-US" sz="8800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E2121-0636-2946-B4F2-9E6774F8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0" y="80167"/>
            <a:ext cx="3009900" cy="63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CD382-13A5-794A-B9A6-4625832D91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54" t="17234" r="4854" b="21966"/>
          <a:stretch/>
        </p:blipFill>
        <p:spPr>
          <a:xfrm>
            <a:off x="10883900" y="0"/>
            <a:ext cx="1308100" cy="7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2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891</Words>
  <Application>Microsoft Macintosh PowerPoint</Application>
  <PresentationFormat>Widescreen</PresentationFormat>
  <Paragraphs>196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Sabon</vt:lpstr>
      <vt:lpstr>Univers</vt:lpstr>
      <vt:lpstr>Office Theme</vt:lpstr>
      <vt:lpstr>Introductory Computer Networking and IT Security </vt:lpstr>
      <vt:lpstr>Agenda</vt:lpstr>
      <vt:lpstr>Introduction to Ethernet switching </vt:lpstr>
      <vt:lpstr>Introduction to Ethernet switching </vt:lpstr>
      <vt:lpstr>Introduction to Ethernet switching </vt:lpstr>
      <vt:lpstr>Introduction to Ethernet switching </vt:lpstr>
      <vt:lpstr>Introduction to Ethernet switching </vt:lpstr>
      <vt:lpstr>Introduction to Ethernet switching </vt:lpstr>
      <vt:lpstr>Introduction to Ethernet switching </vt:lpstr>
      <vt:lpstr>Introduction to Ethernet switching </vt:lpstr>
      <vt:lpstr>Introduction to Ethernet switching </vt:lpstr>
      <vt:lpstr>Introduction to Ethernet switching </vt:lpstr>
      <vt:lpstr>Spanning Tree Protocol (STP) </vt:lpstr>
      <vt:lpstr>STP Terminology</vt:lpstr>
      <vt:lpstr>Configuring switches</vt:lpstr>
      <vt:lpstr>PowerPoint Presentation</vt:lpstr>
      <vt:lpstr>PowerPoint Presentation</vt:lpstr>
      <vt:lpstr>VLANs</vt:lpstr>
      <vt:lpstr>VLANs</vt:lpstr>
      <vt:lpstr>VLANs</vt:lpstr>
      <vt:lpstr>VLANs</vt:lpstr>
      <vt:lpstr>VLANs</vt:lpstr>
      <vt:lpstr>VLANs</vt:lpstr>
      <vt:lpstr>VLANs</vt:lpstr>
      <vt:lpstr>VLANs</vt:lpstr>
      <vt:lpstr>VLAN Trunking Protocol (VTP) </vt:lpstr>
      <vt:lpstr>PowerPoint Presentation</vt:lpstr>
      <vt:lpstr>Configuring VLANs </vt:lpstr>
      <vt:lpstr>Configuring Trunk Ports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Computer Networking and IT Security </dc:title>
  <dc:creator>Krittika Tuladhar</dc:creator>
  <cp:lastModifiedBy>Krittika Tuladhar</cp:lastModifiedBy>
  <cp:revision>8</cp:revision>
  <dcterms:created xsi:type="dcterms:W3CDTF">2019-11-13T17:33:36Z</dcterms:created>
  <dcterms:modified xsi:type="dcterms:W3CDTF">2019-11-13T18:27:25Z</dcterms:modified>
</cp:coreProperties>
</file>