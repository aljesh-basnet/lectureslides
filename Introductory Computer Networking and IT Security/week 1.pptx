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87" r:id="rId3"/>
    <p:sldId id="288" r:id="rId4"/>
    <p:sldId id="313" r:id="rId5"/>
    <p:sldId id="289" r:id="rId6"/>
    <p:sldId id="315" r:id="rId7"/>
    <p:sldId id="291" r:id="rId8"/>
    <p:sldId id="316" r:id="rId9"/>
    <p:sldId id="317" r:id="rId10"/>
    <p:sldId id="290" r:id="rId11"/>
    <p:sldId id="294" r:id="rId12"/>
    <p:sldId id="318" r:id="rId13"/>
    <p:sldId id="295" r:id="rId14"/>
    <p:sldId id="319" r:id="rId15"/>
    <p:sldId id="320" r:id="rId16"/>
    <p:sldId id="298" r:id="rId17"/>
    <p:sldId id="300" r:id="rId18"/>
    <p:sldId id="327" r:id="rId19"/>
    <p:sldId id="301" r:id="rId20"/>
    <p:sldId id="328" r:id="rId21"/>
    <p:sldId id="302" r:id="rId22"/>
    <p:sldId id="303" r:id="rId23"/>
    <p:sldId id="304" r:id="rId24"/>
    <p:sldId id="308" r:id="rId25"/>
    <p:sldId id="330" r:id="rId26"/>
    <p:sldId id="309" r:id="rId27"/>
    <p:sldId id="329" r:id="rId28"/>
    <p:sldId id="299" r:id="rId29"/>
    <p:sldId id="257" r:id="rId30"/>
    <p:sldId id="258" r:id="rId31"/>
    <p:sldId id="259" r:id="rId32"/>
    <p:sldId id="260" r:id="rId33"/>
    <p:sldId id="261" r:id="rId34"/>
    <p:sldId id="307" r:id="rId35"/>
    <p:sldId id="305" r:id="rId36"/>
    <p:sldId id="321" r:id="rId37"/>
    <p:sldId id="310" r:id="rId38"/>
    <p:sldId id="311" r:id="rId39"/>
    <p:sldId id="262" r:id="rId40"/>
    <p:sldId id="306" r:id="rId41"/>
    <p:sldId id="323" r:id="rId42"/>
    <p:sldId id="324" r:id="rId43"/>
    <p:sldId id="325" r:id="rId44"/>
    <p:sldId id="265" r:id="rId45"/>
    <p:sldId id="266" r:id="rId46"/>
    <p:sldId id="31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tu" initials="k" lastIdx="2" clrIdx="0">
    <p:extLst>
      <p:ext uri="{19B8F6BF-5375-455C-9EA6-DF929625EA0E}">
        <p15:presenceInfo xmlns:p15="http://schemas.microsoft.com/office/powerpoint/2012/main" userId="kitt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583"/>
    <p:restoredTop sz="96291"/>
  </p:normalViewPr>
  <p:slideViewPr>
    <p:cSldViewPr snapToGrid="0" snapToObjects="1">
      <p:cViewPr varScale="1">
        <p:scale>
          <a:sx n="97" d="100"/>
          <a:sy n="97" d="100"/>
        </p:scale>
        <p:origin x="208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1-05T10:13:11.779" idx="1">
    <p:pos x="6971" y="3779"/>
    <p:text>deatil discussion on the layers will be on on following lectures.</p:text>
    <p:extLst>
      <p:ext uri="{C676402C-5697-4E1C-873F-D02D1690AC5C}">
        <p15:threadingInfo xmlns:p15="http://schemas.microsoft.com/office/powerpoint/2012/main" timeZoneBias="-345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1-05T10:13:59.424" idx="2">
    <p:pos x="7108" y="3782"/>
    <p:text>expalnation of the functions and how it works of the devices.</p:text>
    <p:extLst>
      <p:ext uri="{C676402C-5697-4E1C-873F-D02D1690AC5C}">
        <p15:threadingInfo xmlns:p15="http://schemas.microsoft.com/office/powerpoint/2012/main" timeZoneBias="-345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5D21-3779-9D4A-96B2-716F500A0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E0B42-10F1-6044-BE4B-384802FB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81609-90CE-154B-8776-27A493D5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B777A-1959-6648-A373-B88A4886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379DA-CC01-C341-8993-FD671F69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6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EB30-5CA3-5E40-96EA-48AC8898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55323-BB86-494C-8598-E35CE840E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418F4-7BCC-F142-8EA3-AF15B7F0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235A-215F-8C45-B342-CF642D8F3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455E1-CF97-A34C-A4C3-5D878D80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3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FF9-380F-2B4D-82A6-E4603408D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92D24-B768-5646-A0CE-0F33AC63A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C71F1-2664-3443-B3EA-3E8422A1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61DB0-D3EB-6F44-A3A6-E3D2FE08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E436E-C351-584F-BEEC-5D4B4895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9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FDC4-073F-7748-8AC0-773B84E9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81130-1E55-8842-AD83-834540AA5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2C7AC-2773-CC4E-9E67-4BC4919CA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90750-DA36-0F4D-9170-4C780C3B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5C203-E7E0-3549-B8C3-4B5BD650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BF55F-0B6A-7540-B54F-3221D6B9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DF16-94C3-FF42-8462-171546ACE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BD131-003D-1C4E-9193-17F9FE02A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98978-4637-C94C-9711-38E622EDB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280CA-1D80-BA41-8B51-F3F450571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BDD44-4224-5844-B195-FD5F1CCE5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3ECFF6-F627-EE45-AAD6-20DB7756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9576D-89C0-624D-91C7-2C55D833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C3ECB-DDA9-3F42-A60E-AD72EB78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5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E20A-22B6-7E44-93A7-E9C4AA38B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600CCB-7285-5044-A8CE-86E15680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FBC9D-6EE4-1048-852E-3EF005D5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9C07F-8A56-2F4C-A600-84AE5BFA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9F650-20FD-184E-9F51-5B949D0B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768E8-A33F-FF4E-B324-A9D8683C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84C8F-AF16-C044-B7C1-BC8382BF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5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4D0B-F120-A444-AFD1-622A137A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E5F9-3751-5449-AF23-F7B755F37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4E4BF-FDE1-A644-8EC2-E37A3B2D0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C4589-59C2-B442-925A-DEEEB9F3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DE415-6058-244B-941C-7282A229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BB5D1-F165-0B48-99A0-0329A914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3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AC63-BD15-A947-861D-9E7E6787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5A857-4610-004A-B69A-F7FC92F48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0EBCD-BC0A-7A46-A49B-D9633990E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63B1B-DB38-8544-9858-12BCFB51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77580-85A0-CC4C-846B-E5A20CFF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0A275-8760-104A-B148-D8DEF314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4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C977-0DF7-CE46-826A-3320AC94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36836-28ED-7D43-A4B8-6EF3279AE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0FEE5-392B-5246-BE25-11FE4D4E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4CBB1-46A6-6447-AD71-C7F48B41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57D61-FCF9-4040-A5B4-273FE609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6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2CEC9-BAF8-CC43-A146-4560033AC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5E38A-8CD6-0543-87A3-C3AD84EC0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08FD9-E6BA-234F-B65B-55DF4850B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0590A-A7DF-224F-BD1E-2AB9F2A4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A0FD6-F229-A44A-BB09-8F0208D0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C9BA0-8302-494B-B4F4-7D4DAC4B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FFF56-B5E4-C04B-AB06-6708397EC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5C5F0-E8E9-8941-8C32-7BDC01D3C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6DE3D-8699-5449-83D4-37D87BBB182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2AD9D-C2C7-B340-B083-972625F54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BAAF6-A273-D44F-B136-C4685C79D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6BA9F-934E-FA49-9CC2-86E9EE3B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54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2374-B174-F34F-8AFF-FE8833813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Introductory Computer Networking and IT Security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BA501-51A5-C948-B97B-2246F8216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7798"/>
            <a:ext cx="9144000" cy="1270001"/>
          </a:xfrm>
        </p:spPr>
        <p:txBody>
          <a:bodyPr/>
          <a:lstStyle/>
          <a:p>
            <a:r>
              <a:rPr lang="en-US" dirty="0"/>
              <a:t>Week 1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BD8D6-0482-B348-8E52-88F13AFC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9528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6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50000"/>
              </a:lnSpc>
            </a:pPr>
            <a:r>
              <a:rPr lang="en-GB" sz="3200" dirty="0"/>
              <a:t>Introduction to network fundamentals </a:t>
            </a:r>
          </a:p>
          <a:p>
            <a:pPr lvl="0">
              <a:lnSpc>
                <a:spcPct val="150000"/>
              </a:lnSpc>
            </a:pPr>
            <a:r>
              <a:rPr lang="en-GB" sz="3200" dirty="0"/>
              <a:t>Communication model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Internetworking models</a:t>
            </a:r>
            <a:endParaRPr lang="en-US" sz="3200" dirty="0"/>
          </a:p>
          <a:p>
            <a:pPr lvl="0">
              <a:lnSpc>
                <a:spcPct val="150000"/>
              </a:lnSpc>
            </a:pPr>
            <a:r>
              <a:rPr lang="en-GB" sz="3200" dirty="0"/>
              <a:t>Networking elements and devices</a:t>
            </a:r>
          </a:p>
          <a:p>
            <a:pPr lvl="0">
              <a:lnSpc>
                <a:spcPct val="150000"/>
              </a:lnSpc>
            </a:pPr>
            <a:r>
              <a:rPr lang="en-GB" sz="3200" dirty="0"/>
              <a:t>Introduction to different network topology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Usages and future of computer networks </a:t>
            </a:r>
          </a:p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18DF7-853E-CD4B-BB81-48199AB3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2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Computer network fundamentals and concepts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7"/>
            <a:ext cx="7201829" cy="480218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computer network or data network is a telecommunications network which allows computers to exchange data. 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 system of interconnected devices that can communicate using some common standards (called </a:t>
            </a:r>
            <a:r>
              <a:rPr lang="en-US" b="1" dirty="0"/>
              <a:t>protocols</a:t>
            </a:r>
            <a:r>
              <a:rPr lang="en-US" dirty="0"/>
              <a:t>). These devices communicate to exchange resources (e.g. files and printers) and services.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13DAE-3B39-8C48-AD15-759E8478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45844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9699B7-1037-634E-992E-8D237498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028" y="2320285"/>
            <a:ext cx="3869578" cy="354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Computer Networks divided mainly into 3 categories 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3200" dirty="0"/>
              <a:t>Local Area Networks (LAN)</a:t>
            </a:r>
          </a:p>
          <a:p>
            <a:pPr lvl="1">
              <a:lnSpc>
                <a:spcPct val="120000"/>
              </a:lnSpc>
            </a:pPr>
            <a:r>
              <a:rPr lang="en-US" sz="3200" dirty="0"/>
              <a:t>Metropolitan Area Networks (MAN)</a:t>
            </a:r>
          </a:p>
          <a:p>
            <a:pPr lvl="1">
              <a:lnSpc>
                <a:spcPct val="120000"/>
              </a:lnSpc>
            </a:pPr>
            <a:r>
              <a:rPr lang="en-US" sz="3200" dirty="0"/>
              <a:t>Wide Area Networks (WAN)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13DAE-3B39-8C48-AD15-759E8478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45844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6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923" y="1519707"/>
            <a:ext cx="8920866" cy="520447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a communications network that interconnects devices in a limited area (a house, office, building…). This type of network is usually capable of achieving high data transfer rate at low cost.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It is usually the case that the LAN is owned by the same organization that owns the attached devices.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Some of the most popular LAN technologies are Ethernet, Token Ring and FDDI. Most LAN networks use TCP/IP to communicate. Twisted-pair cabling is usually used in a LAN.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D1B68-D1EC-7F43-BA54-747BCA226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966" y="0"/>
            <a:ext cx="1270000" cy="127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1421CE2-5EF4-3241-9721-66EEFA2B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72" y="133815"/>
            <a:ext cx="10394794" cy="883811"/>
          </a:xfrm>
        </p:spPr>
        <p:txBody>
          <a:bodyPr>
            <a:normAutofit fontScale="90000"/>
          </a:bodyPr>
          <a:lstStyle/>
          <a:p>
            <a:r>
              <a:rPr lang="en-US" dirty="0"/>
              <a:t>Local Area Networks (LAN)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E20CAA-6013-B547-B2C5-43948701F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932" y="2171137"/>
            <a:ext cx="2758068" cy="248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4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78" y="1674254"/>
            <a:ext cx="9321212" cy="5049931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b="1" u="sng" dirty="0"/>
              <a:t>Examples of local area network (LAN)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en-US" sz="2200" dirty="0"/>
          </a:p>
          <a:p>
            <a:pPr lvl="1" fontAlgn="base">
              <a:lnSpc>
                <a:spcPct val="120000"/>
              </a:lnSpc>
            </a:pPr>
            <a:r>
              <a:rPr lang="en-US" dirty="0"/>
              <a:t>Networking in home, office. </a:t>
            </a:r>
            <a:r>
              <a:rPr lang="en-US" sz="2200" dirty="0"/>
              <a:t>SOHO (small office/home office) LAN consist of PCs, printers, switches, routers, and cabling that connects all these devices together.</a:t>
            </a:r>
          </a:p>
          <a:p>
            <a:pPr lvl="1" fontAlgn="base">
              <a:lnSpc>
                <a:spcPct val="120000"/>
              </a:lnSpc>
            </a:pPr>
            <a:endParaRPr lang="en-US" dirty="0"/>
          </a:p>
          <a:p>
            <a:pPr lvl="1" fontAlgn="base">
              <a:lnSpc>
                <a:spcPct val="120000"/>
              </a:lnSpc>
            </a:pPr>
            <a:r>
              <a:rPr lang="en-US" dirty="0"/>
              <a:t>Wi-Fi (When we consider wireless LAN) &amp; switched LAN.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D1B68-D1EC-7F43-BA54-747BCA226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966" y="0"/>
            <a:ext cx="1270000" cy="127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1421CE2-5EF4-3241-9721-66EEFA2B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72" y="133815"/>
            <a:ext cx="10394794" cy="883811"/>
          </a:xfrm>
        </p:spPr>
        <p:txBody>
          <a:bodyPr>
            <a:normAutofit fontScale="90000"/>
          </a:bodyPr>
          <a:lstStyle/>
          <a:p>
            <a:r>
              <a:rPr lang="en-US" dirty="0"/>
              <a:t>Local Area Networks (LAN)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E20CAA-6013-B547-B2C5-43948701F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932" y="2171137"/>
            <a:ext cx="2758068" cy="248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76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512" y="9749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271239"/>
            <a:ext cx="11052175" cy="4905724"/>
          </a:xfrm>
        </p:spPr>
        <p:txBody>
          <a:bodyPr>
            <a:normAutofit/>
          </a:bodyPr>
          <a:lstStyle/>
          <a:p>
            <a:r>
              <a:rPr lang="en-US" dirty="0"/>
              <a:t>Covers a large geographical area.</a:t>
            </a:r>
          </a:p>
          <a:p>
            <a:r>
              <a:rPr lang="en-US" dirty="0"/>
              <a:t>Implemented using circuit switching and packet switching.</a:t>
            </a:r>
          </a:p>
          <a:p>
            <a:r>
              <a:rPr lang="en-US" dirty="0"/>
              <a:t>Significant fraction of the network assets is not owned rather lease.</a:t>
            </a:r>
          </a:p>
          <a:p>
            <a:r>
              <a:rPr lang="en-US" dirty="0"/>
              <a:t>Commonly used technologies are: Frame Relay, ATM, X.25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DC2A0-73D8-934B-A35B-59217642A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06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0F7D5E-1934-FE42-B42E-F92BDDD59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286" y="4134118"/>
            <a:ext cx="5354852" cy="272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9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512" y="9749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271239"/>
            <a:ext cx="11052175" cy="490572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3200" b="1" u="sng" dirty="0"/>
              <a:t>Example of Wide area network (WAN)</a:t>
            </a:r>
          </a:p>
          <a:p>
            <a:pPr fontAlgn="base"/>
            <a:r>
              <a:rPr lang="en-US" sz="2400" dirty="0"/>
              <a:t>Internet is the example of WAN.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DC2A0-73D8-934B-A35B-59217642A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06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0F7D5E-1934-FE42-B42E-F92BDDD59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886" y="3455779"/>
            <a:ext cx="5354852" cy="301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84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90" y="793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Metropolitan Area Networks (MAN)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015" y="1333500"/>
            <a:ext cx="9846526" cy="5516562"/>
          </a:xfrm>
        </p:spPr>
        <p:txBody>
          <a:bodyPr>
            <a:normAutofit/>
          </a:bodyPr>
          <a:lstStyle/>
          <a:p>
            <a:r>
              <a:rPr lang="en-US" sz="3200" dirty="0"/>
              <a:t>MAN is a communications network that interconnects area of few city blocks or entire city.</a:t>
            </a:r>
          </a:p>
          <a:p>
            <a:r>
              <a:rPr lang="en-US" sz="3200" dirty="0"/>
              <a:t> The scope of the MAN is larger than LANs and smaller than WANs.</a:t>
            </a:r>
          </a:p>
          <a:p>
            <a:r>
              <a:rPr lang="en-US" sz="3200" dirty="0"/>
              <a:t>Increasingly displaced by technologies like Metro Ethernet.</a:t>
            </a:r>
          </a:p>
          <a:p>
            <a:r>
              <a:rPr lang="en-US" sz="3200" dirty="0"/>
              <a:t>The most common technologies used are </a:t>
            </a:r>
            <a:r>
              <a:rPr lang="fr-FR" sz="3200" dirty="0" err="1"/>
              <a:t>Asynchronous</a:t>
            </a:r>
            <a:r>
              <a:rPr lang="fr-FR" sz="3200" dirty="0"/>
              <a:t> Transfer Mode (ATM), </a:t>
            </a:r>
            <a:r>
              <a:rPr lang="en-US" sz="3200" dirty="0"/>
              <a:t>Fiber Distributed Data Interface (FDDI), Metro Ethernet.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0FBAF-2501-8E4B-A2E0-E908061BF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921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7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90" y="793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Metropolitan Area Networks (MAN)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015" y="1996224"/>
            <a:ext cx="9846526" cy="485383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3600" b="1" u="sng" dirty="0"/>
              <a:t>Examples of Metropolitan area network (MAN)</a:t>
            </a:r>
            <a:endParaRPr lang="en-US" sz="3600" dirty="0"/>
          </a:p>
          <a:p>
            <a:pPr lvl="1" fontAlgn="base"/>
            <a:r>
              <a:rPr lang="en-US" sz="2800" dirty="0"/>
              <a:t>Networking between banks in a city.</a:t>
            </a:r>
          </a:p>
          <a:p>
            <a:pPr lvl="1" fontAlgn="base"/>
            <a:r>
              <a:rPr lang="en-US" sz="2800" dirty="0"/>
              <a:t>Used in air reservation.</a:t>
            </a:r>
          </a:p>
          <a:p>
            <a:pPr lvl="1" fontAlgn="base"/>
            <a:r>
              <a:rPr lang="en-US" sz="2800" dirty="0"/>
              <a:t>TV cable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0FBAF-2501-8E4B-A2E0-E908061BF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921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05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849" y="2823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Communication Model</a:t>
            </a:r>
            <a:br>
              <a:rPr lang="en-US" dirty="0"/>
            </a:b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175" y="1169679"/>
            <a:ext cx="10515600" cy="214223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Basic Communication Mode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253" y="945144"/>
            <a:ext cx="7833444" cy="2591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306DC-8AB8-4543-B3D0-99C4B7CE0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483" y="91021"/>
            <a:ext cx="1270000" cy="127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F7E0D-953B-1D46-BC74-8753345B9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466" y="3764001"/>
            <a:ext cx="8470144" cy="208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41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" y="142101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Communication Model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467664"/>
            <a:ext cx="12054625" cy="5248235"/>
          </a:xfrm>
        </p:spPr>
        <p:txBody>
          <a:bodyPr>
            <a:normAutofit/>
          </a:bodyPr>
          <a:lstStyle/>
          <a:p>
            <a:r>
              <a:rPr lang="en-US" dirty="0"/>
              <a:t>Source </a:t>
            </a:r>
          </a:p>
          <a:p>
            <a:pPr marL="457200" lvl="1" indent="0">
              <a:buNone/>
            </a:pPr>
            <a:r>
              <a:rPr lang="en-US" dirty="0"/>
              <a:t>This device generates the data to be transmitted; examples are telephones and personal computers.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Transmitter</a:t>
            </a:r>
            <a:r>
              <a:rPr lang="de-DE" dirty="0"/>
              <a:t> </a:t>
            </a:r>
          </a:p>
          <a:p>
            <a:pPr marL="457200" lvl="1" indent="0">
              <a:buNone/>
            </a:pPr>
            <a:r>
              <a:rPr lang="de-DE" dirty="0"/>
              <a:t>Transmitter </a:t>
            </a:r>
            <a:r>
              <a:rPr lang="en-US" dirty="0"/>
              <a:t>transforms and encodes the information in such a way as to produce electromagnetic signals that can be transmitted across some sort of transmission system.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Transmission System </a:t>
            </a:r>
          </a:p>
          <a:p>
            <a:pPr marL="457200" lvl="1" indent="0">
              <a:buNone/>
            </a:pPr>
            <a:r>
              <a:rPr lang="en-US" dirty="0"/>
              <a:t>This can be a single transmission line or a complex network connecting source and destination.</a:t>
            </a:r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F5758-04DD-554C-8C25-8DA5294C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" y="142101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Communication Model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3180"/>
            <a:ext cx="12192000" cy="3753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Receiver</a:t>
            </a:r>
          </a:p>
          <a:p>
            <a:pPr marL="457200" lvl="1" indent="0">
              <a:buNone/>
            </a:pPr>
            <a:r>
              <a:rPr lang="en-US" dirty="0"/>
              <a:t>The receiver accepts the signal from the transmission system and converts it into a form that can be handled by the destination device.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Destination</a:t>
            </a:r>
          </a:p>
          <a:p>
            <a:pPr marL="457200" lvl="1" indent="0">
              <a:buNone/>
            </a:pPr>
            <a:r>
              <a:rPr lang="en-US" dirty="0"/>
              <a:t>Takes the incoming data from the receiver.</a:t>
            </a:r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F5758-04DD-554C-8C25-8DA5294C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B3F283-6D77-E640-BE9A-D048AC5C01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22" r="8465" b="11051"/>
          <a:stretch/>
        </p:blipFill>
        <p:spPr>
          <a:xfrm>
            <a:off x="5881564" y="4018209"/>
            <a:ext cx="5887746" cy="254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4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Internetworking Models (OSI Model and TCP/IP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619"/>
            <a:ext cx="10515600" cy="4116343"/>
          </a:xfrm>
        </p:spPr>
        <p:txBody>
          <a:bodyPr>
            <a:normAutofit/>
          </a:bodyPr>
          <a:lstStyle/>
          <a:p>
            <a:r>
              <a:rPr lang="en-US" dirty="0"/>
              <a:t>OSI stands for </a:t>
            </a:r>
            <a:r>
              <a:rPr lang="en-US" b="1" dirty="0"/>
              <a:t>Open Systems Interconnection</a:t>
            </a:r>
            <a:r>
              <a:rPr lang="en-US" dirty="0"/>
              <a:t>. It has been developed by ISO – ‘</a:t>
            </a:r>
            <a:r>
              <a:rPr lang="en-US" b="1" dirty="0"/>
              <a:t>International Organization of Standardization</a:t>
            </a:r>
            <a:r>
              <a:rPr lang="en-US" dirty="0"/>
              <a:t>‘, in the year 1974.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TCP/IP model, it was designed and developed by Department of Defense (DoD) in 1960s and is based on standard protocols. It stands for </a:t>
            </a:r>
            <a:r>
              <a:rPr lang="en-US" b="1" dirty="0"/>
              <a:t>Transmission Control Protocol/Internet Protocol.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707" y="93663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3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1CD455-66FF-7449-89E0-43D5F77A4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900" y="970156"/>
            <a:ext cx="5326100" cy="524490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45224"/>
            <a:ext cx="1270000" cy="127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99063-214E-9748-86D7-F6E5746DB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908" y="1315224"/>
            <a:ext cx="3774254" cy="382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56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Networking Elements and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Repeater or Hubs</a:t>
            </a:r>
          </a:p>
          <a:p>
            <a:pPr lvl="1"/>
            <a:r>
              <a:rPr lang="en-US" dirty="0"/>
              <a:t>Bridges</a:t>
            </a:r>
          </a:p>
          <a:p>
            <a:pPr lvl="1"/>
            <a:r>
              <a:rPr lang="en-US" dirty="0"/>
              <a:t>Switches </a:t>
            </a:r>
          </a:p>
          <a:p>
            <a:pPr lvl="1"/>
            <a:r>
              <a:rPr lang="en-US" dirty="0"/>
              <a:t>Routers</a:t>
            </a:r>
          </a:p>
          <a:p>
            <a:pPr lvl="1"/>
            <a:r>
              <a:rPr lang="en-US" dirty="0"/>
              <a:t>Gateways</a:t>
            </a:r>
          </a:p>
          <a:p>
            <a:pPr lvl="1"/>
            <a:r>
              <a:rPr lang="en-US" dirty="0"/>
              <a:t>Firewalls</a:t>
            </a:r>
          </a:p>
          <a:p>
            <a:pPr lvl="1"/>
            <a:r>
              <a:rPr lang="en-US" dirty="0"/>
              <a:t>Wireless Access Points</a:t>
            </a:r>
          </a:p>
          <a:p>
            <a:pPr lvl="1"/>
            <a:r>
              <a:rPr lang="en-US" dirty="0"/>
              <a:t>Network Interfaces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4D31E-2781-5947-AF9A-818820B4E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90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Repeater or Hubs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5124"/>
            <a:ext cx="10515600" cy="5060643"/>
          </a:xfrm>
        </p:spPr>
        <p:txBody>
          <a:bodyPr/>
          <a:lstStyle/>
          <a:p>
            <a:pPr lvl="1" algn="just"/>
            <a:r>
              <a:rPr lang="en-US" sz="2800" dirty="0"/>
              <a:t>A repeater is an electronic device that receives a network signal, cleans it of unnecessary noise and regenerates it. A hub is a multiport repeater.</a:t>
            </a:r>
          </a:p>
          <a:p>
            <a:pPr marL="457200" lvl="1" indent="0" algn="just">
              <a:buNone/>
            </a:pPr>
            <a:r>
              <a:rPr lang="en-US" sz="2800" dirty="0"/>
              <a:t> </a:t>
            </a:r>
          </a:p>
          <a:p>
            <a:pPr lvl="1" algn="just"/>
            <a:r>
              <a:rPr lang="en-US" sz="2800" dirty="0"/>
              <a:t>No filtering and no addressing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Works on physical layer</a:t>
            </a:r>
          </a:p>
          <a:p>
            <a:pPr lvl="1"/>
            <a:endParaRPr lang="en-US" dirty="0"/>
          </a:p>
        </p:txBody>
      </p:sp>
      <p:pic>
        <p:nvPicPr>
          <p:cNvPr id="5" name="Picture 4" descr="Hub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298" y="4165445"/>
            <a:ext cx="2722261" cy="1919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E2E370-4654-1549-A385-C7B0E7DEA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2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Repeater or Hubs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9367" y="2055814"/>
            <a:ext cx="59288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Types:</a:t>
            </a:r>
          </a:p>
          <a:p>
            <a:r>
              <a:rPr lang="en-US" sz="2800" b="1" dirty="0"/>
              <a:t>1.Passive Hub</a:t>
            </a:r>
          </a:p>
          <a:p>
            <a:r>
              <a:rPr lang="en-US" sz="2800" dirty="0"/>
              <a:t>-no power supply needed</a:t>
            </a:r>
          </a:p>
          <a:p>
            <a:r>
              <a:rPr lang="en-US" sz="2800" dirty="0"/>
              <a:t>-transmit signal as it is</a:t>
            </a:r>
          </a:p>
          <a:p>
            <a:endParaRPr lang="en-US" sz="2800" dirty="0"/>
          </a:p>
          <a:p>
            <a:r>
              <a:rPr lang="en-US" sz="2800" b="1" dirty="0"/>
              <a:t>2.Active Hub(Multiport Repeater)</a:t>
            </a:r>
          </a:p>
          <a:p>
            <a:r>
              <a:rPr lang="en-US" sz="2800" dirty="0"/>
              <a:t>-power supply is needed</a:t>
            </a:r>
          </a:p>
          <a:p>
            <a:r>
              <a:rPr lang="en-US" sz="2800" dirty="0"/>
              <a:t>-regenerate signal and transmit 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2E370-4654-1549-A385-C7B0E7DEA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1026" name="Picture 2" descr="Image result for 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517" y="2258666"/>
            <a:ext cx="4438650" cy="313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157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sz="2800" dirty="0"/>
              <a:t>A network bridge connects and filters traffic between two network segments 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Works on data link layer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only transmit signal if destination address is available to outgoing port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data filtering</a:t>
            </a:r>
          </a:p>
        </p:txBody>
      </p:sp>
      <p:pic>
        <p:nvPicPr>
          <p:cNvPr id="6" name="Picture 5" descr="Brid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784" y="4548848"/>
            <a:ext cx="3003216" cy="1783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227A8-B36B-454A-9E6B-3B794888A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5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en-US" sz="2800" dirty="0"/>
              <a:t>maintains signal traffic and elongate network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differentiate collision domain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do not handle broadcasting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slower than switch as it uses s/w for switching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one incoming and one outgoing port</a:t>
            </a:r>
          </a:p>
          <a:p>
            <a:pPr lvl="1"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D227A8-B36B-454A-9E6B-3B794888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889" y="2418735"/>
            <a:ext cx="3829665" cy="1946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760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339" y="45925"/>
            <a:ext cx="7556313" cy="1116106"/>
          </a:xfrm>
        </p:spPr>
        <p:txBody>
          <a:bodyPr>
            <a:normAutofit/>
          </a:bodyPr>
          <a:lstStyle/>
          <a:p>
            <a:r>
              <a:rPr lang="en-US" dirty="0"/>
              <a:t>Switches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665" y="1252803"/>
            <a:ext cx="11414025" cy="3540423"/>
          </a:xfrm>
        </p:spPr>
        <p:txBody>
          <a:bodyPr>
            <a:noAutofit/>
          </a:bodyPr>
          <a:lstStyle/>
          <a:p>
            <a:pPr lvl="1" algn="just"/>
            <a:r>
              <a:rPr lang="en-US" sz="2800" dirty="0"/>
              <a:t>A network switch is a device that forwards and filters datagrams (frames) between ports based on the destination MAC address in each frame. Switches are based on Application Specific Integrated Circuit (ASIC) 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Filtering is done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Maintains MAC table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Works on data link layer</a:t>
            </a:r>
          </a:p>
        </p:txBody>
      </p:sp>
      <p:pic>
        <p:nvPicPr>
          <p:cNvPr id="5" name="Picture 4" descr="Switc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823" y="3023014"/>
            <a:ext cx="4692858" cy="3228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A7B704-3F67-644F-BA8D-C1D587F5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220" y="1687513"/>
            <a:ext cx="10515600" cy="4351338"/>
          </a:xfrm>
        </p:spPr>
        <p:txBody>
          <a:bodyPr>
            <a:noAutofit/>
          </a:bodyPr>
          <a:lstStyle/>
          <a:p>
            <a:pPr lvl="1" algn="just"/>
            <a:r>
              <a:rPr lang="en-US" sz="2800" dirty="0"/>
              <a:t>A router is an internetworking device that forwards packets between networks by processing the routing information included in the packet or datagram 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It works on different protocols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Controls collision domain and broadcast domains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Works on network layer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pPr lvl="1" algn="just"/>
            <a:r>
              <a:rPr lang="en-US" sz="2800" dirty="0"/>
              <a:t>Maintains routing table for routing</a:t>
            </a:r>
          </a:p>
        </p:txBody>
      </p:sp>
      <p:pic>
        <p:nvPicPr>
          <p:cNvPr id="4" name="Picture 3" descr="Router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636" y="3546548"/>
            <a:ext cx="3197888" cy="3311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BFED1-9C0C-6E4D-8945-699D4E8C4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524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803995" cy="4351338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Connect different networks.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Combination of hardware and software so that it can works on different architecture and protocols.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It works on network and all layers above network layer.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Mostly works on Application layer.</a:t>
            </a:r>
          </a:p>
        </p:txBody>
      </p:sp>
      <p:pic>
        <p:nvPicPr>
          <p:cNvPr id="1026" name="Picture 2" descr="Image result for image of gateway in computer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783" y="3250373"/>
            <a:ext cx="2733929" cy="217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E801DA-746A-414B-95D5-D6EE86377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5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6905-1D9D-A845-B38B-EF15A472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4006B-294F-364F-B957-5B13480C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7592122" cy="4437062"/>
          </a:xfrm>
        </p:spPr>
        <p:txBody>
          <a:bodyPr/>
          <a:lstStyle/>
          <a:p>
            <a:r>
              <a:rPr lang="en-US" dirty="0"/>
              <a:t>System designed to prevent unauthorized access to/from private network</a:t>
            </a:r>
          </a:p>
          <a:p>
            <a:endParaRPr lang="en-US" dirty="0"/>
          </a:p>
          <a:p>
            <a:r>
              <a:rPr lang="en-US" dirty="0"/>
              <a:t>Can be hardware or software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to prevent unauthorized users from accessing private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F4D8B-CEAC-0A4D-B7B0-76627BA6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6C1DCF-C40C-6242-973A-1F3A3FEEA5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11" b="60226"/>
          <a:stretch/>
        </p:blipFill>
        <p:spPr>
          <a:xfrm>
            <a:off x="8067758" y="3758676"/>
            <a:ext cx="3648607" cy="158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2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6905-1D9D-A845-B38B-EF15A472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4006B-294F-364F-B957-5B13480C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045"/>
            <a:ext cx="6226081" cy="4619830"/>
          </a:xfrm>
        </p:spPr>
        <p:txBody>
          <a:bodyPr/>
          <a:lstStyle/>
          <a:p>
            <a:r>
              <a:rPr lang="en-US" dirty="0"/>
              <a:t>Techniques – packet filtering, application gateway, circuit-level gateway, proxy server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Prevents harm from getting in or out of the network.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F4D8B-CEAC-0A4D-B7B0-76627BA6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6C1DCF-C40C-6242-973A-1F3A3FEEA5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092" r="-969"/>
          <a:stretch/>
        </p:blipFill>
        <p:spPr>
          <a:xfrm>
            <a:off x="7064281" y="2477729"/>
            <a:ext cx="4711697" cy="341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2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268D-9ADB-AF48-87A9-A579DBE1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Access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29D9-DE3E-5648-ABA9-27D6158DA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86" y="2049430"/>
            <a:ext cx="6744629" cy="4820502"/>
          </a:xfrm>
        </p:spPr>
        <p:txBody>
          <a:bodyPr/>
          <a:lstStyle/>
          <a:p>
            <a:r>
              <a:rPr lang="en-US" dirty="0"/>
              <a:t>Acts as a communication hubs for users of wireless devices to wired networks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 be hardware or software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Extends physical range of service a wireless user has access 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A463F-825D-3A4A-93E2-285A60527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AEC10A-37DD-5A49-A4A6-1688EAE65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325" y="2055813"/>
            <a:ext cx="1180974" cy="29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3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268D-9ADB-AF48-87A9-A579DBE1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Access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29D9-DE3E-5648-ABA9-27D6158DA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86" y="2241754"/>
            <a:ext cx="6744629" cy="4120945"/>
          </a:xfrm>
        </p:spPr>
        <p:txBody>
          <a:bodyPr/>
          <a:lstStyle/>
          <a:p>
            <a:r>
              <a:rPr lang="en-US" dirty="0"/>
              <a:t>Provides heightened security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almost everywhere including places like business, home, schools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A463F-825D-3A4A-93E2-285A60527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C8AD68-25EE-BC44-BBC1-8BE4C6E0B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15" y="1155473"/>
            <a:ext cx="4560194" cy="570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7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en-US" dirty="0"/>
              <a:t>A network interface controller (NIC) is computer hardware that provides a computer with the ability to access the transmission media, and has the ability to process low-level network information. </a:t>
            </a:r>
          </a:p>
          <a:p>
            <a:pPr lvl="1" algn="just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NIC Car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659" y="4440414"/>
            <a:ext cx="4693083" cy="1679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1AC7B2-B7F6-9C40-8C02-5899CCBF8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1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11164"/>
            <a:ext cx="10515600" cy="1325563"/>
          </a:xfrm>
        </p:spPr>
        <p:txBody>
          <a:bodyPr/>
          <a:lstStyle/>
          <a:p>
            <a:r>
              <a:rPr lang="en-US" dirty="0"/>
              <a:t>Network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53" y="1550020"/>
            <a:ext cx="11529281" cy="5101503"/>
          </a:xfrm>
        </p:spPr>
        <p:txBody>
          <a:bodyPr>
            <a:normAutofit/>
          </a:bodyPr>
          <a:lstStyle/>
          <a:p>
            <a:r>
              <a:rPr lang="en-US" dirty="0"/>
              <a:t>A topology is a map of a network. </a:t>
            </a:r>
          </a:p>
          <a:p>
            <a:r>
              <a:rPr lang="en-US" dirty="0"/>
              <a:t>The physical topology of a network describes the layout of the cables and workstations and the location of all network components</a:t>
            </a:r>
          </a:p>
          <a:p>
            <a:r>
              <a:rPr lang="en-US" dirty="0"/>
              <a:t> defines how the information or data flows within the network.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 are four most common topologies: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Bus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Star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Ring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Mesh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15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99303" cy="4898560"/>
          </a:xfrm>
        </p:spPr>
        <p:txBody>
          <a:bodyPr>
            <a:normAutofit/>
          </a:bodyPr>
          <a:lstStyle/>
          <a:p>
            <a:r>
              <a:rPr lang="en-US" dirty="0"/>
              <a:t>All computers are attached to a single continuous cable that is terminated at both ends.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It is the simplest way to create a physical network. Originally, computers were attached to the cable with wire taps.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773"/>
            <a:ext cx="1270000" cy="127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C333F-A48F-C746-9AAA-6A38584C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63" y="1985921"/>
            <a:ext cx="4983437" cy="265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7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08649" cy="5032375"/>
          </a:xfrm>
        </p:spPr>
        <p:txBody>
          <a:bodyPr>
            <a:normAutofit/>
          </a:bodyPr>
          <a:lstStyle/>
          <a:p>
            <a:r>
              <a:rPr lang="en-US" dirty="0"/>
              <a:t>computers in a </a:t>
            </a:r>
            <a:r>
              <a:rPr lang="en-US" i="1" dirty="0"/>
              <a:t>star topology </a:t>
            </a:r>
            <a:r>
              <a:rPr lang="en-US" dirty="0"/>
              <a:t>is connected to a central point by a separate cable or wireless connection.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central point is a device known by such names as </a:t>
            </a:r>
            <a:r>
              <a:rPr lang="en-US" i="1" dirty="0"/>
              <a:t>hub, switch, </a:t>
            </a:r>
            <a:r>
              <a:rPr lang="en-US" dirty="0"/>
              <a:t>and </a:t>
            </a:r>
            <a:r>
              <a:rPr lang="en-US" i="1" dirty="0"/>
              <a:t>AP </a:t>
            </a:r>
          </a:p>
          <a:p>
            <a:endParaRPr lang="en-US" i="1" dirty="0"/>
          </a:p>
          <a:p>
            <a:r>
              <a:rPr lang="en-US" dirty="0"/>
              <a:t>Star topology is much more fault tolerant than a bus topology.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DB5A16-CA9E-EF45-9CBF-DD0EAC131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444" y="2228866"/>
            <a:ext cx="4932556" cy="276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3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80610" cy="4667250"/>
          </a:xfrm>
        </p:spPr>
        <p:txBody>
          <a:bodyPr>
            <a:normAutofit/>
          </a:bodyPr>
          <a:lstStyle/>
          <a:p>
            <a:r>
              <a:rPr lang="en-US" dirty="0"/>
              <a:t>Each computer is connected directly to two other computers in the network.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 moves down a one-way path from one computer to another.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Any break, such as adding or removing a computer, disrupts the entire network. it is very difficult to reconfigure without bringing down the whole network.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0F1C4B-1C7B-A243-9972-1CACB8DCC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190" y="1690688"/>
            <a:ext cx="38608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6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1" y="1438507"/>
            <a:ext cx="8564137" cy="5411556"/>
          </a:xfrm>
        </p:spPr>
        <p:txBody>
          <a:bodyPr>
            <a:normAutofit/>
          </a:bodyPr>
          <a:lstStyle/>
          <a:p>
            <a:r>
              <a:rPr lang="en-US" dirty="0"/>
              <a:t>A path exists from each station to every other station in the network, resulting in the most physical connections per node of any topology.</a:t>
            </a:r>
          </a:p>
          <a:p>
            <a:endParaRPr lang="en-US" dirty="0"/>
          </a:p>
          <a:p>
            <a:r>
              <a:rPr lang="en-US" dirty="0"/>
              <a:t>hybrid mesh—is used on the Internet and other WANs in a limited fashion. </a:t>
            </a:r>
          </a:p>
          <a:p>
            <a:endParaRPr lang="en-US" dirty="0"/>
          </a:p>
          <a:p>
            <a:r>
              <a:rPr lang="en-US" dirty="0"/>
              <a:t>Hybrid mesh topology networks can have multiple connections between some locations, but this is done only for redundancy.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999" y="16436"/>
            <a:ext cx="12700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18BC40-26F0-7E42-B11F-DEFA5BD01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348" y="2152184"/>
            <a:ext cx="3105651" cy="22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0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65BE-768E-614F-A573-2F70A842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3D19F-41DC-2E42-9F19-9C03C2D85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/>
              <a:t>On the basis of:</a:t>
            </a:r>
          </a:p>
          <a:p>
            <a:pPr marL="0" indent="0">
              <a:buNone/>
            </a:pPr>
            <a:endParaRPr lang="en-US" sz="3600" b="1" dirty="0"/>
          </a:p>
          <a:p>
            <a:r>
              <a:rPr lang="en-US" dirty="0"/>
              <a:t>Cost</a:t>
            </a:r>
          </a:p>
          <a:p>
            <a:r>
              <a:rPr lang="en-US" dirty="0"/>
              <a:t>Ease of installation</a:t>
            </a:r>
          </a:p>
          <a:p>
            <a:r>
              <a:rPr lang="en-US" dirty="0"/>
              <a:t>Ease of maintenance</a:t>
            </a:r>
          </a:p>
          <a:p>
            <a:r>
              <a:rPr lang="en-US" dirty="0"/>
              <a:t>Cable fault tolerance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DDBC6-2D9A-1B40-A103-175AD60E7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26886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5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Usages of computer networks </a:t>
            </a:r>
            <a:br>
              <a:rPr lang="en-US" dirty="0"/>
            </a:b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5" y="847493"/>
            <a:ext cx="12044516" cy="5486400"/>
          </a:xfrm>
        </p:spPr>
        <p:txBody>
          <a:bodyPr>
            <a:normAutofit/>
          </a:bodyPr>
          <a:lstStyle/>
          <a:p>
            <a:r>
              <a:rPr lang="en-US" sz="3800" b="1" dirty="0"/>
              <a:t>Computer Networks: Business Applications:</a:t>
            </a:r>
          </a:p>
          <a:p>
            <a:pPr marL="0" indent="0">
              <a:buNone/>
            </a:pPr>
            <a:endParaRPr lang="en-US" sz="3800" b="1" dirty="0"/>
          </a:p>
          <a:p>
            <a:pPr marL="0" indent="0">
              <a:buNone/>
            </a:pPr>
            <a:r>
              <a:rPr lang="en-US" b="1" dirty="0"/>
              <a:t>1. Resource Sharing:</a:t>
            </a:r>
          </a:p>
          <a:p>
            <a:pPr marL="0" indent="0" algn="just">
              <a:buNone/>
            </a:pPr>
            <a:r>
              <a:rPr lang="en-US" dirty="0"/>
              <a:t>All programs, equipment (printers), and especially data, available to anyone on the network without regard to the physical location of the resource and the user.</a:t>
            </a:r>
          </a:p>
          <a:p>
            <a:pPr marL="0" indent="0" algn="just">
              <a:buNone/>
            </a:pPr>
            <a:br>
              <a:rPr lang="en-US" dirty="0"/>
            </a:br>
            <a:r>
              <a:rPr lang="en-US" b="1" dirty="0"/>
              <a:t>2. Server-Client model:</a:t>
            </a:r>
          </a:p>
          <a:p>
            <a:pPr marL="0" indent="0" algn="just">
              <a:buNone/>
            </a:pPr>
            <a:r>
              <a:rPr lang="en-US" dirty="0"/>
              <a:t>In this model, the data is stored on powerful computers called </a:t>
            </a:r>
            <a:r>
              <a:rPr lang="en-US" b="1" dirty="0"/>
              <a:t>Servers</a:t>
            </a:r>
            <a:r>
              <a:rPr lang="en-US" dirty="0"/>
              <a:t>. Often these are centrally housed and maintained by a system administrator. In contrast, the employees have simple machines, called </a:t>
            </a:r>
            <a:r>
              <a:rPr lang="en-US" b="1" dirty="0"/>
              <a:t>Clients</a:t>
            </a:r>
            <a:r>
              <a:rPr lang="en-US" dirty="0"/>
              <a:t>, on their desks, using which they access remote data.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0CB34-AC17-414A-9196-ED2EA4E8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1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Usages of computer networks </a:t>
            </a:r>
            <a:br>
              <a:rPr lang="en-US" dirty="0"/>
            </a:b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34" y="1034741"/>
            <a:ext cx="11600985" cy="5486400"/>
          </a:xfrm>
        </p:spPr>
        <p:txBody>
          <a:bodyPr>
            <a:normAutofit/>
          </a:bodyPr>
          <a:lstStyle/>
          <a:p>
            <a:r>
              <a:rPr lang="en-US" sz="3800" b="1" dirty="0"/>
              <a:t>Computer Networks: Business Applications: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3. Communication Medium:</a:t>
            </a:r>
          </a:p>
          <a:p>
            <a:pPr marL="0" indent="0" algn="just">
              <a:buNone/>
            </a:pPr>
            <a:r>
              <a:rPr lang="en-US" dirty="0"/>
              <a:t>e-mail (electronic mail), video conferencing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4. eCommerce: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0CB34-AC17-414A-9196-ED2EA4E8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6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8A97-26A7-834A-B370-455EA0F44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of 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1F56D-C831-2B45-8B3E-9E7F78BC3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234" y="1550020"/>
            <a:ext cx="11041566" cy="4626943"/>
          </a:xfrm>
        </p:spPr>
        <p:txBody>
          <a:bodyPr>
            <a:normAutofit/>
          </a:bodyPr>
          <a:lstStyle/>
          <a:p>
            <a:r>
              <a:rPr lang="en-US" b="1" dirty="0"/>
              <a:t>Computer Networks: Home Applications</a:t>
            </a:r>
          </a:p>
          <a:p>
            <a:pPr marL="0" indent="0">
              <a:buNone/>
            </a:pPr>
            <a:r>
              <a:rPr lang="en-US" dirty="0"/>
              <a:t>Some of the most important uses of the Internet for home users are as follows: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Access to remote information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Person-to-person communication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Interactive entertainment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Electronic commerce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Computer Networks: Mobile Users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0CB34-AC17-414A-9196-ED2EA4E8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4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85E4-D9CB-424F-89B5-A54B5987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of computer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3A861-E005-2749-8404-D4930F379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Uses of Computer Networks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Data sharing </a:t>
            </a:r>
          </a:p>
          <a:p>
            <a:pPr lvl="1"/>
            <a:r>
              <a:rPr lang="en-US" dirty="0"/>
              <a:t>Instantaneous sharing of information</a:t>
            </a:r>
          </a:p>
          <a:p>
            <a:pPr lvl="1"/>
            <a:r>
              <a:rPr lang="en-US" dirty="0"/>
              <a:t>Collaborations </a:t>
            </a:r>
          </a:p>
          <a:p>
            <a:pPr lvl="1"/>
            <a:r>
              <a:rPr lang="en-US" dirty="0"/>
              <a:t>Streamlined business processes </a:t>
            </a:r>
          </a:p>
          <a:p>
            <a:pPr lvl="1"/>
            <a:r>
              <a:rPr lang="en-US" dirty="0"/>
              <a:t>Flexibility </a:t>
            </a:r>
          </a:p>
          <a:p>
            <a:pPr lvl="1"/>
            <a:r>
              <a:rPr lang="en-US" dirty="0"/>
              <a:t>Resource sharing </a:t>
            </a:r>
          </a:p>
          <a:p>
            <a:pPr lvl="1"/>
            <a:r>
              <a:rPr lang="en-US" dirty="0"/>
              <a:t>Now computer networks are used for all voice, video and data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0CB34-AC17-414A-9196-ED2EA4E8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8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of 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SDN</a:t>
            </a:r>
          </a:p>
          <a:p>
            <a:r>
              <a:rPr lang="en-US" dirty="0"/>
              <a:t>5G and Supported Applications</a:t>
            </a:r>
          </a:p>
          <a:p>
            <a:r>
              <a:rPr lang="en-US" dirty="0"/>
              <a:t>Micro-service architecture</a:t>
            </a:r>
          </a:p>
          <a:p>
            <a:r>
              <a:rPr lang="en-US" dirty="0"/>
              <a:t>4D Network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72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Usages of computer networks </a:t>
            </a:r>
            <a:br>
              <a:rPr lang="en-US" dirty="0"/>
            </a:b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511" y="1228724"/>
            <a:ext cx="11474201" cy="535760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Software defined networks (SDN)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 </a:t>
            </a:r>
            <a:r>
              <a:rPr lang="en-US" sz="3000" dirty="0"/>
              <a:t>A network organizing technique that has come to recent prominence is the software-defined network (SDN).</a:t>
            </a:r>
          </a:p>
          <a:p>
            <a:pPr marL="457200" lvl="1" indent="0">
              <a:buNone/>
            </a:pPr>
            <a:endParaRPr lang="en-US" sz="3000" dirty="0"/>
          </a:p>
          <a:p>
            <a:pPr lvl="1"/>
            <a:r>
              <a:rPr lang="en-US" sz="3000" dirty="0"/>
              <a:t> An SDN separates the data and control functions of networking devices, such as routers, packet switches, and LAN switches.</a:t>
            </a:r>
          </a:p>
          <a:p>
            <a:pPr marL="457200" lvl="1" indent="0">
              <a:buNone/>
            </a:pPr>
            <a:endParaRPr lang="en-US" sz="3000" dirty="0"/>
          </a:p>
          <a:p>
            <a:pPr lvl="1"/>
            <a:r>
              <a:rPr lang="en-US" sz="3000" dirty="0"/>
              <a:t>SDN provides future networking requirements for agility, automation, security, automations.</a:t>
            </a:r>
          </a:p>
          <a:p>
            <a:pPr marL="457200" lvl="1" indent="0">
              <a:buNone/>
            </a:pPr>
            <a:endParaRPr lang="en-US" sz="3000" dirty="0"/>
          </a:p>
          <a:p>
            <a:pPr lvl="1"/>
            <a:r>
              <a:rPr lang="en-US" sz="3000" dirty="0"/>
              <a:t>The cloud computing and virtualization has changed the way we used computer networks.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312E0-5871-F84C-B350-560D65BD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7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of 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43" y="1417983"/>
            <a:ext cx="11622157" cy="544001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5G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800" dirty="0"/>
              <a:t>5G or 802.11ac, is the next step in wireless technology. 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5G will provide that by annexing radio spectrum that are 1 millisecond. (Superfast  movie download)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5G would be made possible by SDN and support a variety of devices and applications. 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This will allow further development in such arenas as driverless cars, virtual reality , or computer simulated, 3D images, wearables and possibly no-touch computing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1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of 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1431235"/>
            <a:ext cx="11516139" cy="5300869"/>
          </a:xfrm>
        </p:spPr>
        <p:txBody>
          <a:bodyPr>
            <a:normAutofit/>
          </a:bodyPr>
          <a:lstStyle/>
          <a:p>
            <a:r>
              <a:rPr lang="en-US" b="1" dirty="0"/>
              <a:t>Micro-service architecture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sz="2800" dirty="0"/>
              <a:t>It refers to small independent modules within software applications.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With micro-service architecture, each module will run independently of the other on the network, so you can adjust each one as needed. 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With this, and increased speed, you could transmit data from Java to another application and take the advantage of several applications.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7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of 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243"/>
            <a:ext cx="11234530" cy="526111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4D Network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sz="2800" dirty="0"/>
              <a:t>It is an attempt to eliminate the need for Internet Protocol that we know today. </a:t>
            </a:r>
          </a:p>
          <a:p>
            <a:pPr lvl="1"/>
            <a:r>
              <a:rPr lang="en-US" sz="2800" dirty="0"/>
              <a:t>Internet Protocol is an old system and has some vulnerability and inefficiency as.</a:t>
            </a:r>
          </a:p>
          <a:p>
            <a:pPr lvl="1"/>
            <a:r>
              <a:rPr lang="en-US" sz="2800" dirty="0"/>
              <a:t>A 4D Network would restructure how packets of information are handled by following the 4 network planes: </a:t>
            </a:r>
          </a:p>
          <a:p>
            <a:pPr lvl="2"/>
            <a:r>
              <a:rPr lang="en-US" sz="2400" dirty="0"/>
              <a:t>Decision plane - creating a network configuration </a:t>
            </a:r>
          </a:p>
          <a:p>
            <a:pPr lvl="2"/>
            <a:r>
              <a:rPr lang="en-US" sz="2400" dirty="0"/>
              <a:t>Dissemination plane - getting information and sending out decision plane output to routers </a:t>
            </a:r>
          </a:p>
          <a:p>
            <a:pPr lvl="2"/>
            <a:r>
              <a:rPr lang="en-US" sz="2400" dirty="0"/>
              <a:t>Discovery plane - letting devices 'discover' their directly connected neighbors; </a:t>
            </a:r>
          </a:p>
          <a:p>
            <a:pPr lvl="2"/>
            <a:r>
              <a:rPr lang="en-US" sz="2400" dirty="0"/>
              <a:t>Data plane - directing the forwarding of network traffic.</a:t>
            </a:r>
          </a:p>
          <a:p>
            <a:pPr marL="457200" lvl="1" indent="0">
              <a:buNone/>
            </a:pPr>
            <a:endParaRPr lang="en-US" sz="28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7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FF6BB4-30DF-5241-BB02-49D8C2C87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9607" y="1379576"/>
            <a:ext cx="4362453" cy="4731291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40869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73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BC83-FE91-FB49-8484-23F2B3E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Networking concepts (LAN, MAN, WAN)</a:t>
            </a:r>
          </a:p>
          <a:p>
            <a:r>
              <a:rPr lang="en-US" dirty="0"/>
              <a:t>Communication model ( sender, transmitter, transmission system, receiver, destination)</a:t>
            </a:r>
          </a:p>
          <a:p>
            <a:r>
              <a:rPr lang="en-US" dirty="0"/>
              <a:t>Introduction to internetworking models ( OSI &amp; TCP/IP Models)</a:t>
            </a:r>
          </a:p>
          <a:p>
            <a:r>
              <a:rPr lang="en-US" dirty="0"/>
              <a:t>Different networking devices (router, switches, hubs, access points)</a:t>
            </a:r>
          </a:p>
          <a:p>
            <a:r>
              <a:rPr lang="en-US" dirty="0"/>
              <a:t>Network topology ( star, ring, bus, mesh)</a:t>
            </a:r>
          </a:p>
          <a:p>
            <a:r>
              <a:rPr lang="en-US" dirty="0"/>
              <a:t>Usage and future of computer network)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230188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39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r>
              <a:rPr lang="en-US" sz="88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2BE3-7A95-C941-9C78-D6524C9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24" y="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6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</TotalTime>
  <Words>1568</Words>
  <Application>Microsoft Macintosh PowerPoint</Application>
  <PresentationFormat>Widescreen</PresentationFormat>
  <Paragraphs>285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Wingdings</vt:lpstr>
      <vt:lpstr>Office Theme</vt:lpstr>
      <vt:lpstr>Introductory Computer Networking and IT Security </vt:lpstr>
      <vt:lpstr>Agenda</vt:lpstr>
      <vt:lpstr>Computer network fundamentals and concepts </vt:lpstr>
      <vt:lpstr>PowerPoint Presentation</vt:lpstr>
      <vt:lpstr>Local Area Networks (LAN) </vt:lpstr>
      <vt:lpstr>Local Area Networks (LAN) </vt:lpstr>
      <vt:lpstr>Wide Area Networks (WAN)</vt:lpstr>
      <vt:lpstr>Wide Area Networks (WAN)</vt:lpstr>
      <vt:lpstr>Metropolitan Area Networks (MAN)</vt:lpstr>
      <vt:lpstr>Metropolitan Area Networks (MAN)</vt:lpstr>
      <vt:lpstr>Communication Model  </vt:lpstr>
      <vt:lpstr>Communication Model </vt:lpstr>
      <vt:lpstr>Communication Model </vt:lpstr>
      <vt:lpstr>Internetworking Models (OSI Model and TCP/IP Model)</vt:lpstr>
      <vt:lpstr>PowerPoint Presentation</vt:lpstr>
      <vt:lpstr>Common Networking Elements and Devices</vt:lpstr>
      <vt:lpstr>Repeater or Hubs </vt:lpstr>
      <vt:lpstr>Repeater or Hubs </vt:lpstr>
      <vt:lpstr>Bridges</vt:lpstr>
      <vt:lpstr>Bridges</vt:lpstr>
      <vt:lpstr>Switches </vt:lpstr>
      <vt:lpstr>Routers</vt:lpstr>
      <vt:lpstr>Gateway</vt:lpstr>
      <vt:lpstr>Firewalls</vt:lpstr>
      <vt:lpstr>Firewalls</vt:lpstr>
      <vt:lpstr>Wireless Access Points</vt:lpstr>
      <vt:lpstr>Wireless Access Points</vt:lpstr>
      <vt:lpstr>Network Interfaces</vt:lpstr>
      <vt:lpstr>Network Topology</vt:lpstr>
      <vt:lpstr>Bus Topology</vt:lpstr>
      <vt:lpstr>Star Topology</vt:lpstr>
      <vt:lpstr>Ring Topology</vt:lpstr>
      <vt:lpstr>Mesh Topology</vt:lpstr>
      <vt:lpstr>Selecting Topology</vt:lpstr>
      <vt:lpstr>Usages of computer networks   </vt:lpstr>
      <vt:lpstr>Usages of computer networks   </vt:lpstr>
      <vt:lpstr>Usage of Computer networks</vt:lpstr>
      <vt:lpstr>Usage of computer network</vt:lpstr>
      <vt:lpstr>Future of computer networks</vt:lpstr>
      <vt:lpstr>Usages of computer networks   </vt:lpstr>
      <vt:lpstr>Future of computer networks</vt:lpstr>
      <vt:lpstr>Future of computer networks</vt:lpstr>
      <vt:lpstr>Future of computer networks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Computer Networking and IT Security</dc:title>
  <dc:creator>Krittika Tuladhar</dc:creator>
  <cp:lastModifiedBy>Krittika Tuladhar</cp:lastModifiedBy>
  <cp:revision>28</cp:revision>
  <dcterms:created xsi:type="dcterms:W3CDTF">2019-10-24T15:28:00Z</dcterms:created>
  <dcterms:modified xsi:type="dcterms:W3CDTF">2019-11-06T16:31:24Z</dcterms:modified>
</cp:coreProperties>
</file>