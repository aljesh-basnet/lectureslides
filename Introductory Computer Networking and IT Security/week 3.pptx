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313" r:id="rId2"/>
    <p:sldId id="257" r:id="rId3"/>
    <p:sldId id="314" r:id="rId4"/>
    <p:sldId id="259" r:id="rId5"/>
    <p:sldId id="260" r:id="rId6"/>
    <p:sldId id="261" r:id="rId7"/>
    <p:sldId id="330" r:id="rId8"/>
    <p:sldId id="263" r:id="rId9"/>
    <p:sldId id="264" r:id="rId10"/>
    <p:sldId id="265" r:id="rId11"/>
    <p:sldId id="266" r:id="rId12"/>
    <p:sldId id="267" r:id="rId13"/>
    <p:sldId id="268" r:id="rId14"/>
    <p:sldId id="269" r:id="rId15"/>
    <p:sldId id="270" r:id="rId16"/>
    <p:sldId id="271" r:id="rId17"/>
    <p:sldId id="272" r:id="rId18"/>
    <p:sldId id="331" r:id="rId19"/>
    <p:sldId id="273" r:id="rId20"/>
    <p:sldId id="274" r:id="rId21"/>
    <p:sldId id="275" r:id="rId22"/>
    <p:sldId id="315" r:id="rId23"/>
    <p:sldId id="256" r:id="rId24"/>
    <p:sldId id="316" r:id="rId25"/>
    <p:sldId id="317" r:id="rId26"/>
    <p:sldId id="318" r:id="rId27"/>
    <p:sldId id="319" r:id="rId28"/>
    <p:sldId id="320" r:id="rId29"/>
    <p:sldId id="262" r:id="rId30"/>
    <p:sldId id="321" r:id="rId31"/>
    <p:sldId id="322" r:id="rId32"/>
    <p:sldId id="323" r:id="rId33"/>
    <p:sldId id="324" r:id="rId34"/>
    <p:sldId id="325" r:id="rId35"/>
    <p:sldId id="326" r:id="rId36"/>
    <p:sldId id="327" r:id="rId37"/>
    <p:sldId id="328" r:id="rId38"/>
    <p:sldId id="329" r:id="rId39"/>
    <p:sldId id="31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257"/>
    <p:restoredTop sz="96341"/>
  </p:normalViewPr>
  <p:slideViewPr>
    <p:cSldViewPr snapToGrid="0" snapToObjects="1">
      <p:cViewPr varScale="1">
        <p:scale>
          <a:sx n="63" d="100"/>
          <a:sy n="63" d="100"/>
        </p:scale>
        <p:origin x="200" y="15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647277-E14E-FD43-96A6-721E7B7446DC}" type="datetimeFigureOut">
              <a:rPr lang="en-US" smtClean="0"/>
              <a:t>11/6/19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931761-D57D-0344-99C4-20897DBE6C57}" type="slidenum">
              <a:rPr lang="en-US" smtClean="0"/>
              <a:t>‹#›</a:t>
            </a:fld>
            <a:endParaRPr lang="en-US"/>
          </a:p>
        </p:txBody>
      </p:sp>
    </p:spTree>
    <p:extLst>
      <p:ext uri="{BB962C8B-B14F-4D97-AF65-F5344CB8AC3E}">
        <p14:creationId xmlns:p14="http://schemas.microsoft.com/office/powerpoint/2010/main" val="501944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a:t>
            </a:fld>
            <a:endParaRPr lang="en-US"/>
          </a:p>
        </p:txBody>
      </p:sp>
    </p:spTree>
    <p:extLst>
      <p:ext uri="{BB962C8B-B14F-4D97-AF65-F5344CB8AC3E}">
        <p14:creationId xmlns:p14="http://schemas.microsoft.com/office/powerpoint/2010/main" val="1005148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4</a:t>
            </a:fld>
            <a:endParaRPr lang="en-US"/>
          </a:p>
        </p:txBody>
      </p:sp>
    </p:spTree>
    <p:extLst>
      <p:ext uri="{BB962C8B-B14F-4D97-AF65-F5344CB8AC3E}">
        <p14:creationId xmlns:p14="http://schemas.microsoft.com/office/powerpoint/2010/main" val="1416411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5</a:t>
            </a:fld>
            <a:endParaRPr lang="en-US"/>
          </a:p>
        </p:txBody>
      </p:sp>
    </p:spTree>
    <p:extLst>
      <p:ext uri="{BB962C8B-B14F-4D97-AF65-F5344CB8AC3E}">
        <p14:creationId xmlns:p14="http://schemas.microsoft.com/office/powerpoint/2010/main" val="588999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6</a:t>
            </a:fld>
            <a:endParaRPr lang="en-US"/>
          </a:p>
        </p:txBody>
      </p:sp>
    </p:spTree>
    <p:extLst>
      <p:ext uri="{BB962C8B-B14F-4D97-AF65-F5344CB8AC3E}">
        <p14:creationId xmlns:p14="http://schemas.microsoft.com/office/powerpoint/2010/main" val="3063498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7</a:t>
            </a:fld>
            <a:endParaRPr lang="en-US"/>
          </a:p>
        </p:txBody>
      </p:sp>
    </p:spTree>
    <p:extLst>
      <p:ext uri="{BB962C8B-B14F-4D97-AF65-F5344CB8AC3E}">
        <p14:creationId xmlns:p14="http://schemas.microsoft.com/office/powerpoint/2010/main" val="3301816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8</a:t>
            </a:fld>
            <a:endParaRPr lang="en-US"/>
          </a:p>
        </p:txBody>
      </p:sp>
    </p:spTree>
    <p:extLst>
      <p:ext uri="{BB962C8B-B14F-4D97-AF65-F5344CB8AC3E}">
        <p14:creationId xmlns:p14="http://schemas.microsoft.com/office/powerpoint/2010/main" val="1539144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9</a:t>
            </a:fld>
            <a:endParaRPr lang="en-US"/>
          </a:p>
        </p:txBody>
      </p:sp>
    </p:spTree>
    <p:extLst>
      <p:ext uri="{BB962C8B-B14F-4D97-AF65-F5344CB8AC3E}">
        <p14:creationId xmlns:p14="http://schemas.microsoft.com/office/powerpoint/2010/main" val="1428805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10</a:t>
            </a:fld>
            <a:endParaRPr lang="en-US"/>
          </a:p>
        </p:txBody>
      </p:sp>
    </p:spTree>
    <p:extLst>
      <p:ext uri="{BB962C8B-B14F-4D97-AF65-F5344CB8AC3E}">
        <p14:creationId xmlns:p14="http://schemas.microsoft.com/office/powerpoint/2010/main" val="118881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11</a:t>
            </a:fld>
            <a:endParaRPr lang="en-US"/>
          </a:p>
        </p:txBody>
      </p:sp>
    </p:spTree>
    <p:extLst>
      <p:ext uri="{BB962C8B-B14F-4D97-AF65-F5344CB8AC3E}">
        <p14:creationId xmlns:p14="http://schemas.microsoft.com/office/powerpoint/2010/main" val="752471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12</a:t>
            </a:fld>
            <a:endParaRPr lang="en-US"/>
          </a:p>
        </p:txBody>
      </p:sp>
    </p:spTree>
    <p:extLst>
      <p:ext uri="{BB962C8B-B14F-4D97-AF65-F5344CB8AC3E}">
        <p14:creationId xmlns:p14="http://schemas.microsoft.com/office/powerpoint/2010/main" val="3097281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13</a:t>
            </a:fld>
            <a:endParaRPr lang="en-US"/>
          </a:p>
        </p:txBody>
      </p:sp>
    </p:spTree>
    <p:extLst>
      <p:ext uri="{BB962C8B-B14F-4D97-AF65-F5344CB8AC3E}">
        <p14:creationId xmlns:p14="http://schemas.microsoft.com/office/powerpoint/2010/main" val="3550555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14</a:t>
            </a:fld>
            <a:endParaRPr lang="en-US"/>
          </a:p>
        </p:txBody>
      </p:sp>
    </p:spTree>
    <p:extLst>
      <p:ext uri="{BB962C8B-B14F-4D97-AF65-F5344CB8AC3E}">
        <p14:creationId xmlns:p14="http://schemas.microsoft.com/office/powerpoint/2010/main" val="309152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15</a:t>
            </a:fld>
            <a:endParaRPr lang="en-US"/>
          </a:p>
        </p:txBody>
      </p:sp>
    </p:spTree>
    <p:extLst>
      <p:ext uri="{BB962C8B-B14F-4D97-AF65-F5344CB8AC3E}">
        <p14:creationId xmlns:p14="http://schemas.microsoft.com/office/powerpoint/2010/main" val="3430589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16</a:t>
            </a:fld>
            <a:endParaRPr lang="en-US"/>
          </a:p>
        </p:txBody>
      </p:sp>
    </p:spTree>
    <p:extLst>
      <p:ext uri="{BB962C8B-B14F-4D97-AF65-F5344CB8AC3E}">
        <p14:creationId xmlns:p14="http://schemas.microsoft.com/office/powerpoint/2010/main" val="2069163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17</a:t>
            </a:fld>
            <a:endParaRPr lang="en-US"/>
          </a:p>
        </p:txBody>
      </p:sp>
    </p:spTree>
    <p:extLst>
      <p:ext uri="{BB962C8B-B14F-4D97-AF65-F5344CB8AC3E}">
        <p14:creationId xmlns:p14="http://schemas.microsoft.com/office/powerpoint/2010/main" val="953038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18</a:t>
            </a:fld>
            <a:endParaRPr lang="en-US"/>
          </a:p>
        </p:txBody>
      </p:sp>
    </p:spTree>
    <p:extLst>
      <p:ext uri="{BB962C8B-B14F-4D97-AF65-F5344CB8AC3E}">
        <p14:creationId xmlns:p14="http://schemas.microsoft.com/office/powerpoint/2010/main" val="2543807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19</a:t>
            </a:fld>
            <a:endParaRPr lang="en-US"/>
          </a:p>
        </p:txBody>
      </p:sp>
    </p:spTree>
    <p:extLst>
      <p:ext uri="{BB962C8B-B14F-4D97-AF65-F5344CB8AC3E}">
        <p14:creationId xmlns:p14="http://schemas.microsoft.com/office/powerpoint/2010/main" val="13057622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20</a:t>
            </a:fld>
            <a:endParaRPr lang="en-US"/>
          </a:p>
        </p:txBody>
      </p:sp>
    </p:spTree>
    <p:extLst>
      <p:ext uri="{BB962C8B-B14F-4D97-AF65-F5344CB8AC3E}">
        <p14:creationId xmlns:p14="http://schemas.microsoft.com/office/powerpoint/2010/main" val="4453448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21</a:t>
            </a:fld>
            <a:endParaRPr lang="en-US"/>
          </a:p>
        </p:txBody>
      </p:sp>
    </p:spTree>
    <p:extLst>
      <p:ext uri="{BB962C8B-B14F-4D97-AF65-F5344CB8AC3E}">
        <p14:creationId xmlns:p14="http://schemas.microsoft.com/office/powerpoint/2010/main" val="12291180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25</a:t>
            </a:fld>
            <a:endParaRPr lang="en-US"/>
          </a:p>
        </p:txBody>
      </p:sp>
    </p:spTree>
    <p:extLst>
      <p:ext uri="{BB962C8B-B14F-4D97-AF65-F5344CB8AC3E}">
        <p14:creationId xmlns:p14="http://schemas.microsoft.com/office/powerpoint/2010/main" val="3041347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26</a:t>
            </a:fld>
            <a:endParaRPr lang="en-US"/>
          </a:p>
        </p:txBody>
      </p:sp>
    </p:spTree>
    <p:extLst>
      <p:ext uri="{BB962C8B-B14F-4D97-AF65-F5344CB8AC3E}">
        <p14:creationId xmlns:p14="http://schemas.microsoft.com/office/powerpoint/2010/main" val="2509430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27</a:t>
            </a:fld>
            <a:endParaRPr lang="en-US"/>
          </a:p>
        </p:txBody>
      </p:sp>
    </p:spTree>
    <p:extLst>
      <p:ext uri="{BB962C8B-B14F-4D97-AF65-F5344CB8AC3E}">
        <p14:creationId xmlns:p14="http://schemas.microsoft.com/office/powerpoint/2010/main" val="1772966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29</a:t>
            </a:fld>
            <a:endParaRPr lang="en-US"/>
          </a:p>
        </p:txBody>
      </p:sp>
    </p:spTree>
    <p:extLst>
      <p:ext uri="{BB962C8B-B14F-4D97-AF65-F5344CB8AC3E}">
        <p14:creationId xmlns:p14="http://schemas.microsoft.com/office/powerpoint/2010/main" val="4049081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30</a:t>
            </a:fld>
            <a:endParaRPr lang="en-US"/>
          </a:p>
        </p:txBody>
      </p:sp>
    </p:spTree>
    <p:extLst>
      <p:ext uri="{BB962C8B-B14F-4D97-AF65-F5344CB8AC3E}">
        <p14:creationId xmlns:p14="http://schemas.microsoft.com/office/powerpoint/2010/main" val="2918008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31</a:t>
            </a:fld>
            <a:endParaRPr lang="en-US"/>
          </a:p>
        </p:txBody>
      </p:sp>
    </p:spTree>
    <p:extLst>
      <p:ext uri="{BB962C8B-B14F-4D97-AF65-F5344CB8AC3E}">
        <p14:creationId xmlns:p14="http://schemas.microsoft.com/office/powerpoint/2010/main" val="18943335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32</a:t>
            </a:fld>
            <a:endParaRPr lang="en-US"/>
          </a:p>
        </p:txBody>
      </p:sp>
    </p:spTree>
    <p:extLst>
      <p:ext uri="{BB962C8B-B14F-4D97-AF65-F5344CB8AC3E}">
        <p14:creationId xmlns:p14="http://schemas.microsoft.com/office/powerpoint/2010/main" val="4074128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33</a:t>
            </a:fld>
            <a:endParaRPr lang="en-US"/>
          </a:p>
        </p:txBody>
      </p:sp>
    </p:spTree>
    <p:extLst>
      <p:ext uri="{BB962C8B-B14F-4D97-AF65-F5344CB8AC3E}">
        <p14:creationId xmlns:p14="http://schemas.microsoft.com/office/powerpoint/2010/main" val="1907758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36</a:t>
            </a:fld>
            <a:endParaRPr lang="en-US"/>
          </a:p>
        </p:txBody>
      </p:sp>
    </p:spTree>
    <p:extLst>
      <p:ext uri="{BB962C8B-B14F-4D97-AF65-F5344CB8AC3E}">
        <p14:creationId xmlns:p14="http://schemas.microsoft.com/office/powerpoint/2010/main" val="4081587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D642-5312-BB4C-A365-25C4075E0B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D2FBE7-723C-5944-BFD4-E0D4D9DF45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492F1C-1F3C-6145-AF91-5B0456D13135}"/>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5" name="Footer Placeholder 4">
            <a:extLst>
              <a:ext uri="{FF2B5EF4-FFF2-40B4-BE49-F238E27FC236}">
                <a16:creationId xmlns:a16="http://schemas.microsoft.com/office/drawing/2014/main" id="{54665CB3-CE3F-0A41-B32B-826D6D915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CAB3B9-A529-2643-91E4-792B288BB4CA}"/>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122761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CF117-B11D-0442-B9E0-E81A5F49EE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8FC74C-77E8-4B43-AB50-8D6A7311AC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1E1D62-AB4C-6E4B-B6B1-E3DA6D64E66D}"/>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5" name="Footer Placeholder 4">
            <a:extLst>
              <a:ext uri="{FF2B5EF4-FFF2-40B4-BE49-F238E27FC236}">
                <a16:creationId xmlns:a16="http://schemas.microsoft.com/office/drawing/2014/main" id="{ACE1D177-2975-3F40-A1A7-5B2FDEDF7D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C58C14-88BB-B24E-8773-20BC9AD9BE48}"/>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4125772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296C-239F-D045-98E1-AEFEBCA137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5166E6-7A4F-9A48-956F-D718014C27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97A4AD-884A-6A4F-8162-59BD2BAC33B6}"/>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5" name="Footer Placeholder 4">
            <a:extLst>
              <a:ext uri="{FF2B5EF4-FFF2-40B4-BE49-F238E27FC236}">
                <a16:creationId xmlns:a16="http://schemas.microsoft.com/office/drawing/2014/main" id="{3CA2D169-03D2-ED41-AFE6-21CC97C733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DCD61-56D6-9A4C-8A4F-60A73C09D825}"/>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153449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D0E20-D2E4-0140-A0BB-9DC4BA015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637C82-5725-724F-9BCF-28E0AE4428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2DF24E-E50D-9740-A708-4087DC0BCF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709A53-8D29-464F-ACF9-9CA9FDF55D2C}"/>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6" name="Footer Placeholder 5">
            <a:extLst>
              <a:ext uri="{FF2B5EF4-FFF2-40B4-BE49-F238E27FC236}">
                <a16:creationId xmlns:a16="http://schemas.microsoft.com/office/drawing/2014/main" id="{AE8C5F34-BBB3-584B-925F-23E4C9D948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9F981C-565D-584C-90A2-48D71B0BE506}"/>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3620622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3BF11-4A22-1E40-AC80-DCF34C03E6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0421EE-419B-B142-8FD6-BFB35E842D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428E38-DE8B-7249-B5D7-20AAAA2FD9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0D6144-680A-F941-8CDD-36B6EEE4CF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E6D40C-EF34-C04D-8EA9-98F5BD4E3D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6E3C6D-10BF-A14E-9301-75C20AFBBF73}"/>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8" name="Footer Placeholder 7">
            <a:extLst>
              <a:ext uri="{FF2B5EF4-FFF2-40B4-BE49-F238E27FC236}">
                <a16:creationId xmlns:a16="http://schemas.microsoft.com/office/drawing/2014/main" id="{9E87736C-6C3E-AE4D-AFC0-6BF5FD5531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BC1A4D-1916-1B46-BE73-4A36464EF3CB}"/>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1169414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B5DEC-362D-6C4D-815C-F46921FF46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D51442-481D-3A49-8923-F8E074676509}"/>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4" name="Footer Placeholder 3">
            <a:extLst>
              <a:ext uri="{FF2B5EF4-FFF2-40B4-BE49-F238E27FC236}">
                <a16:creationId xmlns:a16="http://schemas.microsoft.com/office/drawing/2014/main" id="{1C4F285F-46CA-DC48-B37F-11815CE759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ED6B3C-7AE8-2F4D-8C5C-8C4FACD9D983}"/>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1597122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238A2-6414-244B-BA09-237C822E7CB6}"/>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3" name="Footer Placeholder 2">
            <a:extLst>
              <a:ext uri="{FF2B5EF4-FFF2-40B4-BE49-F238E27FC236}">
                <a16:creationId xmlns:a16="http://schemas.microsoft.com/office/drawing/2014/main" id="{34DFD089-6504-7540-9C19-F94B9743E5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DC380F-23E6-0148-A821-75A251D99F14}"/>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3880673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8BAEC-4D93-B941-AA5F-1223E507CA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2FFDA9-1E09-394F-AE54-D56396E4CA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355730-F309-F74B-AD82-24342A4BE2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648F7-6D05-AA4D-9AA1-11A379340485}"/>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6" name="Footer Placeholder 5">
            <a:extLst>
              <a:ext uri="{FF2B5EF4-FFF2-40B4-BE49-F238E27FC236}">
                <a16:creationId xmlns:a16="http://schemas.microsoft.com/office/drawing/2014/main" id="{E397E614-A408-BC47-A080-68249F4770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E46813-157B-A047-BB55-B42F83319E66}"/>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2227111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6357-2C52-6440-ABE3-6D2CCDF2CD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BE46DA-69E0-AB49-8A7C-51D67C73A0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13C0A9-078F-DD4F-9880-BB2349E45B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4D1E6C-DD8E-9849-B55A-846C61E88B66}"/>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6" name="Footer Placeholder 5">
            <a:extLst>
              <a:ext uri="{FF2B5EF4-FFF2-40B4-BE49-F238E27FC236}">
                <a16:creationId xmlns:a16="http://schemas.microsoft.com/office/drawing/2014/main" id="{2AAEAC84-F70D-5144-ACB2-033ABA064E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D9CCB4-0ECD-6447-A6EC-D959F7835421}"/>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4280084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E2E40-15B3-BC45-B95E-44A81513FD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22EE3C-81BA-C642-9637-37A870109F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45ED56-94A8-0D49-8E1D-A198DD637103}"/>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5" name="Footer Placeholder 4">
            <a:extLst>
              <a:ext uri="{FF2B5EF4-FFF2-40B4-BE49-F238E27FC236}">
                <a16:creationId xmlns:a16="http://schemas.microsoft.com/office/drawing/2014/main" id="{5067CDB6-D8C2-CC41-B130-85690812E6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A3F85-659E-EC4C-AD7B-2E759BB72BFB}"/>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1094787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AD49F7-4EA8-D54A-ABE9-BA2439A795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EC8554-79F6-EE41-8193-B57A75DDA4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BBE10-C3EB-4B4D-A9B1-4C7B8874BAEC}"/>
              </a:ext>
            </a:extLst>
          </p:cNvPr>
          <p:cNvSpPr>
            <a:spLocks noGrp="1"/>
          </p:cNvSpPr>
          <p:nvPr>
            <p:ph type="dt" sz="half" idx="10"/>
          </p:nvPr>
        </p:nvSpPr>
        <p:spPr/>
        <p:txBody>
          <a:bodyPr/>
          <a:lstStyle/>
          <a:p>
            <a:fld id="{8386A9B2-213A-E448-B39B-EEF0398158F6}" type="datetimeFigureOut">
              <a:rPr lang="en-US" smtClean="0"/>
              <a:t>11/6/19</a:t>
            </a:fld>
            <a:endParaRPr lang="en-US"/>
          </a:p>
        </p:txBody>
      </p:sp>
      <p:sp>
        <p:nvSpPr>
          <p:cNvPr id="5" name="Footer Placeholder 4">
            <a:extLst>
              <a:ext uri="{FF2B5EF4-FFF2-40B4-BE49-F238E27FC236}">
                <a16:creationId xmlns:a16="http://schemas.microsoft.com/office/drawing/2014/main" id="{EDA61827-BC5C-5E4E-BC4F-56D2D7161B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352967-E13F-A344-8D4E-9E262EBED5F1}"/>
              </a:ext>
            </a:extLst>
          </p:cNvPr>
          <p:cNvSpPr>
            <a:spLocks noGrp="1"/>
          </p:cNvSpPr>
          <p:nvPr>
            <p:ph type="sldNum" sz="quarter" idx="12"/>
          </p:nvPr>
        </p:nvSpPr>
        <p:spPr/>
        <p:txBody>
          <a:bodyPr/>
          <a:lstStyle/>
          <a:p>
            <a:fld id="{DB275B00-6864-F745-BDF7-CB7E75F17200}" type="slidenum">
              <a:rPr lang="en-US" smtClean="0"/>
              <a:t>‹#›</a:t>
            </a:fld>
            <a:endParaRPr lang="en-US"/>
          </a:p>
        </p:txBody>
      </p:sp>
    </p:spTree>
    <p:extLst>
      <p:ext uri="{BB962C8B-B14F-4D97-AF65-F5344CB8AC3E}">
        <p14:creationId xmlns:p14="http://schemas.microsoft.com/office/powerpoint/2010/main" val="2588882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ontent, Alt.">
    <p:spTree>
      <p:nvGrpSpPr>
        <p:cNvPr id="1" name=""/>
        <p:cNvGrpSpPr/>
        <p:nvPr/>
      </p:nvGrpSpPr>
      <p:grpSpPr>
        <a:xfrm>
          <a:off x="0" y="0"/>
          <a:ext cx="0" cy="0"/>
          <a:chOff x="0" y="0"/>
          <a:chExt cx="0" cy="0"/>
        </a:xfrm>
      </p:grpSpPr>
      <p:sp>
        <p:nvSpPr>
          <p:cNvPr id="7" name="Rectangle 6"/>
          <p:cNvSpPr/>
          <p:nvPr/>
        </p:nvSpPr>
        <p:spPr>
          <a:xfrm>
            <a:off x="10889129" y="282574"/>
            <a:ext cx="9144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64633" y="134471"/>
            <a:ext cx="10075084"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A395EE13-F686-B844-BCB2-B47BE38B7A64}" type="datetimeFigureOut">
              <a:rPr lang="en-US" smtClean="0"/>
              <a:t>11/6/19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801DE6-B8D2-0547-AFF3-3DACCB5BB395}" type="slidenum">
              <a:rPr lang="en-US" smtClean="0"/>
              <a:t>‹#›</a:t>
            </a:fld>
            <a:endParaRPr lang="en-US"/>
          </a:p>
        </p:txBody>
      </p:sp>
      <p:sp>
        <p:nvSpPr>
          <p:cNvPr id="9" name="TextBox 8"/>
          <p:cNvSpPr txBox="1"/>
          <p:nvPr/>
        </p:nvSpPr>
        <p:spPr>
          <a:xfrm>
            <a:off x="297581" y="228600"/>
            <a:ext cx="34787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664691" y="1129553"/>
            <a:ext cx="10078613"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extLst>
      <p:ext uri="{BB962C8B-B14F-4D97-AF65-F5344CB8AC3E}">
        <p14:creationId xmlns:p14="http://schemas.microsoft.com/office/powerpoint/2010/main" val="2244161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1EE88-6CC1-3A42-93AE-0A72B897EE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7D85E3-1608-154A-BF35-1E59F5AC0F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B5D39-819E-5D47-BED4-05699B10D1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A9B2-213A-E448-B39B-EEF0398158F6}" type="datetimeFigureOut">
              <a:rPr lang="en-US" smtClean="0"/>
              <a:t>11/6/19</a:t>
            </a:fld>
            <a:endParaRPr lang="en-US"/>
          </a:p>
        </p:txBody>
      </p:sp>
      <p:sp>
        <p:nvSpPr>
          <p:cNvPr id="5" name="Footer Placeholder 4">
            <a:extLst>
              <a:ext uri="{FF2B5EF4-FFF2-40B4-BE49-F238E27FC236}">
                <a16:creationId xmlns:a16="http://schemas.microsoft.com/office/drawing/2014/main" id="{1CEBE2D3-91A1-B940-9BA5-468C511935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76DE12-7A9F-E348-BE77-FCC3982C8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275B00-6864-F745-BDF7-CB7E75F17200}" type="slidenum">
              <a:rPr lang="en-US" smtClean="0"/>
              <a:t>‹#›</a:t>
            </a:fld>
            <a:endParaRPr lang="en-US"/>
          </a:p>
        </p:txBody>
      </p:sp>
    </p:spTree>
    <p:extLst>
      <p:ext uri="{BB962C8B-B14F-4D97-AF65-F5344CB8AC3E}">
        <p14:creationId xmlns:p14="http://schemas.microsoft.com/office/powerpoint/2010/main" val="1791386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F2374-B174-F34F-8AFF-FE883381322E}"/>
              </a:ext>
            </a:extLst>
          </p:cNvPr>
          <p:cNvSpPr>
            <a:spLocks noGrp="1"/>
          </p:cNvSpPr>
          <p:nvPr>
            <p:ph type="ctrTitle"/>
          </p:nvPr>
        </p:nvSpPr>
        <p:spPr/>
        <p:txBody>
          <a:bodyPr>
            <a:normAutofit/>
          </a:bodyPr>
          <a:lstStyle/>
          <a:p>
            <a:r>
              <a:rPr lang="en-GB" dirty="0"/>
              <a:t>Introductory Computer Networking and IT Security </a:t>
            </a:r>
            <a:endParaRPr lang="en-US" dirty="0"/>
          </a:p>
        </p:txBody>
      </p:sp>
      <p:sp>
        <p:nvSpPr>
          <p:cNvPr id="3" name="Subtitle 2">
            <a:extLst>
              <a:ext uri="{FF2B5EF4-FFF2-40B4-BE49-F238E27FC236}">
                <a16:creationId xmlns:a16="http://schemas.microsoft.com/office/drawing/2014/main" id="{0F0BA501-51A5-C948-B97B-2246F8216B5F}"/>
              </a:ext>
            </a:extLst>
          </p:cNvPr>
          <p:cNvSpPr>
            <a:spLocks noGrp="1"/>
          </p:cNvSpPr>
          <p:nvPr>
            <p:ph type="subTitle" idx="1"/>
          </p:nvPr>
        </p:nvSpPr>
        <p:spPr>
          <a:xfrm>
            <a:off x="1524000" y="3987798"/>
            <a:ext cx="9144000" cy="1270001"/>
          </a:xfrm>
        </p:spPr>
        <p:txBody>
          <a:bodyPr/>
          <a:lstStyle/>
          <a:p>
            <a:r>
              <a:rPr lang="en-US" dirty="0"/>
              <a:t>Week 3</a:t>
            </a:r>
          </a:p>
          <a:p>
            <a:endParaRPr lang="en-US" dirty="0"/>
          </a:p>
        </p:txBody>
      </p:sp>
      <p:pic>
        <p:nvPicPr>
          <p:cNvPr id="7" name="Picture 6">
            <a:extLst>
              <a:ext uri="{FF2B5EF4-FFF2-40B4-BE49-F238E27FC236}">
                <a16:creationId xmlns:a16="http://schemas.microsoft.com/office/drawing/2014/main" id="{D14BD8D6-0482-B348-8E52-88F13AFCEEF3}"/>
              </a:ext>
            </a:extLst>
          </p:cNvPr>
          <p:cNvPicPr>
            <a:picLocks noChangeAspect="1"/>
          </p:cNvPicPr>
          <p:nvPr/>
        </p:nvPicPr>
        <p:blipFill>
          <a:blip r:embed="rId2"/>
          <a:stretch>
            <a:fillRect/>
          </a:stretch>
        </p:blipFill>
        <p:spPr>
          <a:xfrm>
            <a:off x="10922000" y="0"/>
            <a:ext cx="1270000" cy="1270000"/>
          </a:xfrm>
          <a:prstGeom prst="rect">
            <a:avLst/>
          </a:prstGeom>
        </p:spPr>
      </p:pic>
    </p:spTree>
    <p:extLst>
      <p:ext uri="{BB962C8B-B14F-4D97-AF65-F5344CB8AC3E}">
        <p14:creationId xmlns:p14="http://schemas.microsoft.com/office/powerpoint/2010/main" val="2810046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a:bodyPr>
          <a:lstStyle/>
          <a:p>
            <a:pPr lvl="0"/>
            <a:r>
              <a:rPr lang="en-GB" dirty="0"/>
              <a:t>Introduction to TCP/IP protocols </a:t>
            </a:r>
            <a:endParaRPr lang="en-US" dirty="0"/>
          </a:p>
          <a:p>
            <a:pPr lvl="0"/>
            <a:r>
              <a:rPr lang="en-GB" dirty="0"/>
              <a:t>Each layer datagrams and their encapsulations</a:t>
            </a:r>
            <a:endParaRPr lang="en-US" dirty="0"/>
          </a:p>
          <a:p>
            <a:pPr lvl="0"/>
            <a:r>
              <a:rPr lang="en-GB" dirty="0"/>
              <a:t>Differentiate TCP and UDP</a:t>
            </a:r>
            <a:endParaRPr lang="en-US" dirty="0"/>
          </a:p>
          <a:p>
            <a:pPr lvl="0"/>
            <a:r>
              <a:rPr lang="en-GB" dirty="0"/>
              <a:t>Process/ application layer protocol</a:t>
            </a:r>
            <a:endParaRPr lang="en-US" dirty="0"/>
          </a:p>
          <a:p>
            <a:pPr lvl="0"/>
            <a:r>
              <a:rPr lang="en-GB" dirty="0"/>
              <a:t>Internet layer protocol</a:t>
            </a:r>
            <a:endParaRPr lang="en-US" dirty="0"/>
          </a:p>
          <a:p>
            <a:pPr lvl="0"/>
            <a:r>
              <a:rPr lang="en-GB" dirty="0"/>
              <a:t>IPv4 subnetting </a:t>
            </a:r>
            <a:endParaRPr lang="en-US" dirty="0"/>
          </a:p>
          <a:p>
            <a:r>
              <a:rPr lang="en-GB" dirty="0"/>
              <a:t>VLSM (variable length subnet mask)</a:t>
            </a:r>
            <a:endParaRPr lang="en-US" dirty="0"/>
          </a:p>
        </p:txBody>
      </p:sp>
      <p:pic>
        <p:nvPicPr>
          <p:cNvPr id="4" name="Picture 3">
            <a:extLst>
              <a:ext uri="{FF2B5EF4-FFF2-40B4-BE49-F238E27FC236}">
                <a16:creationId xmlns:a16="http://schemas.microsoft.com/office/drawing/2014/main" id="{0587A6ED-AEEE-374E-9410-83A795AE7E43}"/>
              </a:ext>
            </a:extLst>
          </p:cNvPr>
          <p:cNvPicPr>
            <a:picLocks noChangeAspect="1"/>
          </p:cNvPicPr>
          <p:nvPr/>
        </p:nvPicPr>
        <p:blipFill>
          <a:blip r:embed="rId2"/>
          <a:stretch>
            <a:fillRect/>
          </a:stretch>
        </p:blipFill>
        <p:spPr>
          <a:xfrm>
            <a:off x="10922000" y="0"/>
            <a:ext cx="1270000" cy="1270000"/>
          </a:xfrm>
          <a:prstGeom prst="rect">
            <a:avLst/>
          </a:prstGeom>
        </p:spPr>
      </p:pic>
    </p:spTree>
    <p:extLst>
      <p:ext uri="{BB962C8B-B14F-4D97-AF65-F5344CB8AC3E}">
        <p14:creationId xmlns:p14="http://schemas.microsoft.com/office/powerpoint/2010/main" val="341070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Introduction to TCP/IP protocols </a:t>
            </a:r>
            <a:endParaRPr lang="en-US" dirty="0"/>
          </a:p>
        </p:txBody>
      </p:sp>
      <p:sp>
        <p:nvSpPr>
          <p:cNvPr id="3" name="Content Placeholder 2"/>
          <p:cNvSpPr>
            <a:spLocks noGrp="1"/>
          </p:cNvSpPr>
          <p:nvPr>
            <p:ph idx="1"/>
          </p:nvPr>
        </p:nvSpPr>
        <p:spPr>
          <a:xfrm>
            <a:off x="497490" y="1598612"/>
            <a:ext cx="11059510" cy="3660775"/>
          </a:xfrm>
        </p:spPr>
        <p:txBody>
          <a:bodyPr/>
          <a:lstStyle/>
          <a:p>
            <a:pPr algn="just"/>
            <a:r>
              <a:rPr lang="en-US" dirty="0"/>
              <a:t> The Internet Protocol (IP) is the address system of the internet and has the core function of delivering packets of information from a source device to a target device and it requires another protocol, typically Transmission Control Protocol (TCP). TCP is used in conjunction with IP in order to maintain a connection between the sender and the target and to ensure packet order. For example, when an email is sent over TCP, a connection is established and a 3-way handshake.</a:t>
            </a:r>
          </a:p>
        </p:txBody>
      </p:sp>
      <p:pic>
        <p:nvPicPr>
          <p:cNvPr id="4" name="Picture 3">
            <a:extLst>
              <a:ext uri="{FF2B5EF4-FFF2-40B4-BE49-F238E27FC236}">
                <a16:creationId xmlns:a16="http://schemas.microsoft.com/office/drawing/2014/main" id="{F305E571-8B41-8443-980A-5C89824D730E}"/>
              </a:ext>
            </a:extLst>
          </p:cNvPr>
          <p:cNvPicPr>
            <a:picLocks noChangeAspect="1"/>
          </p:cNvPicPr>
          <p:nvPr/>
        </p:nvPicPr>
        <p:blipFill>
          <a:blip r:embed="rId3"/>
          <a:stretch>
            <a:fillRect/>
          </a:stretch>
        </p:blipFill>
        <p:spPr>
          <a:xfrm>
            <a:off x="10922000" y="82482"/>
            <a:ext cx="1270000" cy="1270000"/>
          </a:xfrm>
          <a:prstGeom prst="rect">
            <a:avLst/>
          </a:prstGeom>
        </p:spPr>
      </p:pic>
      <p:pic>
        <p:nvPicPr>
          <p:cNvPr id="6" name="Picture 5">
            <a:extLst>
              <a:ext uri="{FF2B5EF4-FFF2-40B4-BE49-F238E27FC236}">
                <a16:creationId xmlns:a16="http://schemas.microsoft.com/office/drawing/2014/main" id="{E1C19A4F-12AD-AB44-AF48-A7D75410BD47}"/>
              </a:ext>
            </a:extLst>
          </p:cNvPr>
          <p:cNvPicPr>
            <a:picLocks noChangeAspect="1"/>
          </p:cNvPicPr>
          <p:nvPr/>
        </p:nvPicPr>
        <p:blipFill>
          <a:blip r:embed="rId4"/>
          <a:stretch>
            <a:fillRect/>
          </a:stretch>
        </p:blipFill>
        <p:spPr>
          <a:xfrm>
            <a:off x="5890039" y="4533002"/>
            <a:ext cx="5666961" cy="2176670"/>
          </a:xfrm>
          <a:prstGeom prst="rect">
            <a:avLst/>
          </a:prstGeom>
        </p:spPr>
      </p:pic>
    </p:spTree>
    <p:extLst>
      <p:ext uri="{BB962C8B-B14F-4D97-AF65-F5344CB8AC3E}">
        <p14:creationId xmlns:p14="http://schemas.microsoft.com/office/powerpoint/2010/main" val="326074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Introduction to TCP/IP protocols </a:t>
            </a:r>
            <a:endParaRPr lang="en-US" dirty="0"/>
          </a:p>
        </p:txBody>
      </p:sp>
      <p:pic>
        <p:nvPicPr>
          <p:cNvPr id="6" name="Content Placeholder 5">
            <a:extLst>
              <a:ext uri="{FF2B5EF4-FFF2-40B4-BE49-F238E27FC236}">
                <a16:creationId xmlns:a16="http://schemas.microsoft.com/office/drawing/2014/main" id="{6EFCFF59-1845-F843-8F52-3662465094EB}"/>
              </a:ext>
            </a:extLst>
          </p:cNvPr>
          <p:cNvPicPr>
            <a:picLocks noGrp="1" noChangeAspect="1"/>
          </p:cNvPicPr>
          <p:nvPr>
            <p:ph idx="1"/>
          </p:nvPr>
        </p:nvPicPr>
        <p:blipFill>
          <a:blip r:embed="rId3"/>
          <a:stretch>
            <a:fillRect/>
          </a:stretch>
        </p:blipFill>
        <p:spPr>
          <a:xfrm>
            <a:off x="2156791" y="1642068"/>
            <a:ext cx="8244008" cy="4937408"/>
          </a:xfrm>
        </p:spPr>
      </p:pic>
      <p:pic>
        <p:nvPicPr>
          <p:cNvPr id="4" name="Picture 3">
            <a:extLst>
              <a:ext uri="{FF2B5EF4-FFF2-40B4-BE49-F238E27FC236}">
                <a16:creationId xmlns:a16="http://schemas.microsoft.com/office/drawing/2014/main" id="{C6FBB133-0898-CE4E-BFC0-9024199DEED5}"/>
              </a:ext>
            </a:extLst>
          </p:cNvPr>
          <p:cNvPicPr>
            <a:picLocks noChangeAspect="1"/>
          </p:cNvPicPr>
          <p:nvPr/>
        </p:nvPicPr>
        <p:blipFill>
          <a:blip r:embed="rId4"/>
          <a:stretch>
            <a:fillRect/>
          </a:stretch>
        </p:blipFill>
        <p:spPr>
          <a:xfrm>
            <a:off x="10922000" y="0"/>
            <a:ext cx="1270000" cy="1270000"/>
          </a:xfrm>
          <a:prstGeom prst="rect">
            <a:avLst/>
          </a:prstGeom>
        </p:spPr>
      </p:pic>
    </p:spTree>
    <p:extLst>
      <p:ext uri="{BB962C8B-B14F-4D97-AF65-F5344CB8AC3E}">
        <p14:creationId xmlns:p14="http://schemas.microsoft.com/office/powerpoint/2010/main" val="6225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Layer</a:t>
            </a:r>
          </a:p>
        </p:txBody>
      </p:sp>
      <p:sp>
        <p:nvSpPr>
          <p:cNvPr id="3" name="Content Placeholder 2"/>
          <p:cNvSpPr>
            <a:spLocks noGrp="1"/>
          </p:cNvSpPr>
          <p:nvPr>
            <p:ph idx="1"/>
          </p:nvPr>
        </p:nvSpPr>
        <p:spPr/>
        <p:txBody>
          <a:bodyPr>
            <a:normAutofit/>
          </a:bodyPr>
          <a:lstStyle/>
          <a:p>
            <a:pPr lvl="1" algn="just"/>
            <a:r>
              <a:rPr lang="en-US" sz="2800" dirty="0"/>
              <a:t>Provides access to the TCP/IP environment for users and also provides distributed information services.</a:t>
            </a:r>
          </a:p>
          <a:p>
            <a:pPr lvl="1" algn="just"/>
            <a:endParaRPr lang="en-US" sz="2800" dirty="0"/>
          </a:p>
          <a:p>
            <a:pPr lvl="1" algn="just"/>
            <a:r>
              <a:rPr lang="en-US" sz="2800" dirty="0"/>
              <a:t>The Application layer provides applications the ability to access the services of the other layers and defines the protocols that applications use to exchange data.</a:t>
            </a:r>
          </a:p>
          <a:p>
            <a:pPr marL="457200" lvl="1" indent="0" algn="just">
              <a:buNone/>
            </a:pPr>
            <a:endParaRPr lang="en-US" sz="2800" dirty="0"/>
          </a:p>
          <a:p>
            <a:pPr lvl="1" algn="just"/>
            <a:r>
              <a:rPr lang="en-US" sz="2800" dirty="0"/>
              <a:t>Some application layer protocols are: FTP, SMTP.,TELNET, SSH,DNS</a:t>
            </a:r>
          </a:p>
        </p:txBody>
      </p:sp>
      <p:pic>
        <p:nvPicPr>
          <p:cNvPr id="4" name="Picture 3">
            <a:extLst>
              <a:ext uri="{FF2B5EF4-FFF2-40B4-BE49-F238E27FC236}">
                <a16:creationId xmlns:a16="http://schemas.microsoft.com/office/drawing/2014/main" id="{0189601B-7AD3-6C47-887B-87B65CF4B74A}"/>
              </a:ext>
            </a:extLst>
          </p:cNvPr>
          <p:cNvPicPr>
            <a:picLocks noChangeAspect="1"/>
          </p:cNvPicPr>
          <p:nvPr/>
        </p:nvPicPr>
        <p:blipFill>
          <a:blip r:embed="rId3"/>
          <a:stretch>
            <a:fillRect/>
          </a:stretch>
        </p:blipFill>
        <p:spPr>
          <a:xfrm>
            <a:off x="10922000" y="0"/>
            <a:ext cx="1270000" cy="1270000"/>
          </a:xfrm>
          <a:prstGeom prst="rect">
            <a:avLst/>
          </a:prstGeom>
        </p:spPr>
      </p:pic>
    </p:spTree>
    <p:extLst>
      <p:ext uri="{BB962C8B-B14F-4D97-AF65-F5344CB8AC3E}">
        <p14:creationId xmlns:p14="http://schemas.microsoft.com/office/powerpoint/2010/main" val="402988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5" y="126586"/>
            <a:ext cx="10515600" cy="1325563"/>
          </a:xfrm>
        </p:spPr>
        <p:txBody>
          <a:bodyPr/>
          <a:lstStyle/>
          <a:p>
            <a:pPr lvl="0"/>
            <a:r>
              <a:rPr lang="en-US" dirty="0"/>
              <a:t>Application Layer Protocols</a:t>
            </a:r>
          </a:p>
        </p:txBody>
      </p:sp>
      <p:sp>
        <p:nvSpPr>
          <p:cNvPr id="3" name="Content Placeholder 2"/>
          <p:cNvSpPr>
            <a:spLocks noGrp="1"/>
          </p:cNvSpPr>
          <p:nvPr>
            <p:ph idx="1"/>
          </p:nvPr>
        </p:nvSpPr>
        <p:spPr>
          <a:xfrm>
            <a:off x="203200" y="1580737"/>
            <a:ext cx="11353800" cy="4724814"/>
          </a:xfrm>
        </p:spPr>
        <p:txBody>
          <a:bodyPr>
            <a:normAutofit/>
          </a:bodyPr>
          <a:lstStyle/>
          <a:p>
            <a:pPr algn="just"/>
            <a:r>
              <a:rPr lang="en-US" b="1" dirty="0"/>
              <a:t>FTP</a:t>
            </a:r>
            <a:r>
              <a:rPr lang="en-US" dirty="0"/>
              <a:t>: The File Transfer Protocol (FTP)  is used to send files from one system to another under user command. Both text and binary files are accommodated, and the protocol provides features for controlling user access. </a:t>
            </a:r>
          </a:p>
          <a:p>
            <a:pPr marL="0" indent="0" algn="just">
              <a:buNone/>
            </a:pPr>
            <a:endParaRPr lang="en-US" dirty="0"/>
          </a:p>
          <a:p>
            <a:pPr algn="just"/>
            <a:r>
              <a:rPr lang="en-US" b="1" dirty="0"/>
              <a:t>SMTP </a:t>
            </a:r>
            <a:r>
              <a:rPr lang="en-US" dirty="0"/>
              <a:t>:The Simple Mail Transfer Protocol (SMTP)  provides a basic electronic mail transport facility. It provides a mechanism for transferring messages among separate hosts. </a:t>
            </a:r>
          </a:p>
          <a:p>
            <a:pPr marL="0" indent="0" algn="just">
              <a:buNone/>
            </a:pPr>
            <a:endParaRPr lang="en-US" dirty="0"/>
          </a:p>
          <a:p>
            <a:pPr algn="just"/>
            <a:r>
              <a:rPr lang="en-US" b="1" dirty="0"/>
              <a:t>TELNET</a:t>
            </a:r>
            <a:r>
              <a:rPr lang="en-US" dirty="0"/>
              <a:t>: provides a remote logon capability in plain texts. </a:t>
            </a:r>
          </a:p>
          <a:p>
            <a:pPr lvl="0" algn="just">
              <a:buClr>
                <a:srgbClr val="663366"/>
              </a:buClr>
            </a:pPr>
            <a:endParaRPr lang="en-US" dirty="0">
              <a:solidFill>
                <a:prstClr val="black">
                  <a:lumMod val="65000"/>
                  <a:lumOff val="35000"/>
                </a:prstClr>
              </a:solidFill>
            </a:endParaRPr>
          </a:p>
          <a:p>
            <a:pPr lvl="1" algn="just"/>
            <a:endParaRPr lang="en-US" sz="2800" dirty="0">
              <a:solidFill>
                <a:prstClr val="black">
                  <a:lumMod val="65000"/>
                  <a:lumOff val="35000"/>
                </a:prstClr>
              </a:solidFill>
            </a:endParaRPr>
          </a:p>
        </p:txBody>
      </p:sp>
      <p:pic>
        <p:nvPicPr>
          <p:cNvPr id="4" name="Picture 3">
            <a:extLst>
              <a:ext uri="{FF2B5EF4-FFF2-40B4-BE49-F238E27FC236}">
                <a16:creationId xmlns:a16="http://schemas.microsoft.com/office/drawing/2014/main" id="{442D77B3-1646-6E4E-A372-B6292A81D247}"/>
              </a:ext>
            </a:extLst>
          </p:cNvPr>
          <p:cNvPicPr>
            <a:picLocks noChangeAspect="1"/>
          </p:cNvPicPr>
          <p:nvPr/>
        </p:nvPicPr>
        <p:blipFill>
          <a:blip r:embed="rId3"/>
          <a:stretch>
            <a:fillRect/>
          </a:stretch>
        </p:blipFill>
        <p:spPr>
          <a:xfrm>
            <a:off x="10922000" y="46037"/>
            <a:ext cx="1270000" cy="1270000"/>
          </a:xfrm>
          <a:prstGeom prst="rect">
            <a:avLst/>
          </a:prstGeom>
        </p:spPr>
      </p:pic>
    </p:spTree>
    <p:extLst>
      <p:ext uri="{BB962C8B-B14F-4D97-AF65-F5344CB8AC3E}">
        <p14:creationId xmlns:p14="http://schemas.microsoft.com/office/powerpoint/2010/main" val="213974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5" y="126586"/>
            <a:ext cx="10515600" cy="1325563"/>
          </a:xfrm>
        </p:spPr>
        <p:txBody>
          <a:bodyPr/>
          <a:lstStyle/>
          <a:p>
            <a:pPr lvl="0"/>
            <a:r>
              <a:rPr lang="en-US" dirty="0"/>
              <a:t>Application Layer Protocols</a:t>
            </a:r>
          </a:p>
        </p:txBody>
      </p:sp>
      <p:sp>
        <p:nvSpPr>
          <p:cNvPr id="3" name="Content Placeholder 2"/>
          <p:cNvSpPr>
            <a:spLocks noGrp="1"/>
          </p:cNvSpPr>
          <p:nvPr>
            <p:ph idx="1"/>
          </p:nvPr>
        </p:nvSpPr>
        <p:spPr>
          <a:xfrm>
            <a:off x="0" y="1985963"/>
            <a:ext cx="11353800" cy="4191000"/>
          </a:xfrm>
        </p:spPr>
        <p:txBody>
          <a:bodyPr>
            <a:normAutofit/>
          </a:bodyPr>
          <a:lstStyle/>
          <a:p>
            <a:pPr algn="just"/>
            <a:r>
              <a:rPr lang="en-US" b="1" dirty="0"/>
              <a:t>SSH: </a:t>
            </a:r>
            <a:r>
              <a:rPr lang="en-US" dirty="0"/>
              <a:t>Secure Shell (SSH) provides a secure remote logon capability, which enables a user at a terminal or personal computer to log on to a remote computer and function as if directly connected to that computer.</a:t>
            </a:r>
          </a:p>
          <a:p>
            <a:pPr marL="0" indent="0" algn="just">
              <a:buNone/>
            </a:pPr>
            <a:endParaRPr lang="en-US" dirty="0"/>
          </a:p>
          <a:p>
            <a:pPr algn="just">
              <a:buClr>
                <a:srgbClr val="663366"/>
              </a:buClr>
            </a:pPr>
            <a:r>
              <a:rPr lang="en-US" b="1" dirty="0"/>
              <a:t>DNS: </a:t>
            </a:r>
            <a:r>
              <a:rPr lang="en-US" dirty="0"/>
              <a:t>The Domain Name System (DNS) is a hierarchical decentralized naming system for computers, services, or any resource connected to the Internet or a private network.</a:t>
            </a:r>
          </a:p>
          <a:p>
            <a:pPr lvl="0" algn="just">
              <a:buClr>
                <a:srgbClr val="663366"/>
              </a:buClr>
            </a:pPr>
            <a:endParaRPr lang="en-US" dirty="0">
              <a:solidFill>
                <a:prstClr val="black">
                  <a:lumMod val="65000"/>
                  <a:lumOff val="35000"/>
                </a:prstClr>
              </a:solidFill>
            </a:endParaRPr>
          </a:p>
          <a:p>
            <a:pPr lvl="1" algn="just"/>
            <a:endParaRPr lang="en-US" sz="2800" dirty="0">
              <a:solidFill>
                <a:prstClr val="black">
                  <a:lumMod val="65000"/>
                  <a:lumOff val="35000"/>
                </a:prstClr>
              </a:solidFill>
            </a:endParaRPr>
          </a:p>
        </p:txBody>
      </p:sp>
      <p:pic>
        <p:nvPicPr>
          <p:cNvPr id="4" name="Picture 3">
            <a:extLst>
              <a:ext uri="{FF2B5EF4-FFF2-40B4-BE49-F238E27FC236}">
                <a16:creationId xmlns:a16="http://schemas.microsoft.com/office/drawing/2014/main" id="{442D77B3-1646-6E4E-A372-B6292A81D247}"/>
              </a:ext>
            </a:extLst>
          </p:cNvPr>
          <p:cNvPicPr>
            <a:picLocks noChangeAspect="1"/>
          </p:cNvPicPr>
          <p:nvPr/>
        </p:nvPicPr>
        <p:blipFill>
          <a:blip r:embed="rId3"/>
          <a:stretch>
            <a:fillRect/>
          </a:stretch>
        </p:blipFill>
        <p:spPr>
          <a:xfrm>
            <a:off x="10922000" y="46037"/>
            <a:ext cx="1270000" cy="1270000"/>
          </a:xfrm>
          <a:prstGeom prst="rect">
            <a:avLst/>
          </a:prstGeom>
        </p:spPr>
      </p:pic>
    </p:spTree>
    <p:extLst>
      <p:ext uri="{BB962C8B-B14F-4D97-AF65-F5344CB8AC3E}">
        <p14:creationId xmlns:p14="http://schemas.microsoft.com/office/powerpoint/2010/main" val="6591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 Layer </a:t>
            </a:r>
          </a:p>
        </p:txBody>
      </p:sp>
      <p:sp>
        <p:nvSpPr>
          <p:cNvPr id="3" name="Content Placeholder 2"/>
          <p:cNvSpPr>
            <a:spLocks noGrp="1"/>
          </p:cNvSpPr>
          <p:nvPr>
            <p:ph idx="1"/>
          </p:nvPr>
        </p:nvSpPr>
        <p:spPr>
          <a:xfrm>
            <a:off x="477078" y="1610139"/>
            <a:ext cx="10876722" cy="4566824"/>
          </a:xfrm>
        </p:spPr>
        <p:txBody>
          <a:bodyPr>
            <a:normAutofit/>
          </a:bodyPr>
          <a:lstStyle/>
          <a:p>
            <a:pPr lvl="1" algn="just"/>
            <a:r>
              <a:rPr lang="en-US" sz="2800" dirty="0"/>
              <a:t>The main purpose of the transport layer is to shield the upper-layer applications from the complexities of the network. </a:t>
            </a:r>
          </a:p>
          <a:p>
            <a:pPr lvl="1" algn="just"/>
            <a:endParaRPr lang="en-US" sz="2800" dirty="0"/>
          </a:p>
          <a:p>
            <a:pPr lvl="1" algn="just"/>
            <a:r>
              <a:rPr lang="en-US" sz="2800" dirty="0"/>
              <a:t>Transfer of data between end points. May provide error control, flow control,</a:t>
            </a:r>
            <a:r>
              <a:rPr lang="fr-FR" sz="2800" dirty="0"/>
              <a:t>congestion control, reliable </a:t>
            </a:r>
            <a:r>
              <a:rPr lang="en-US" sz="2800" dirty="0"/>
              <a:t>delivery.</a:t>
            </a:r>
          </a:p>
          <a:p>
            <a:pPr lvl="1" algn="just"/>
            <a:endParaRPr lang="en-US" sz="2800" dirty="0"/>
          </a:p>
          <a:p>
            <a:pPr lvl="1" algn="just"/>
            <a:r>
              <a:rPr lang="en-US" sz="2800" dirty="0"/>
              <a:t>Two main protocols used in this layer are: </a:t>
            </a:r>
          </a:p>
          <a:p>
            <a:pPr lvl="2" algn="just"/>
            <a:r>
              <a:rPr lang="en-US" sz="2400" dirty="0"/>
              <a:t>Transmission Control Protocol (TCP)</a:t>
            </a:r>
          </a:p>
          <a:p>
            <a:pPr lvl="2" algn="just"/>
            <a:r>
              <a:rPr lang="en-US" sz="2400" dirty="0"/>
              <a:t>User Datagram Protocol (UDP)</a:t>
            </a:r>
          </a:p>
        </p:txBody>
      </p:sp>
      <p:pic>
        <p:nvPicPr>
          <p:cNvPr id="4" name="Picture 3">
            <a:extLst>
              <a:ext uri="{FF2B5EF4-FFF2-40B4-BE49-F238E27FC236}">
                <a16:creationId xmlns:a16="http://schemas.microsoft.com/office/drawing/2014/main" id="{835E36DE-E887-1D42-9222-C913BDD53EC0}"/>
              </a:ext>
            </a:extLst>
          </p:cNvPr>
          <p:cNvPicPr>
            <a:picLocks noChangeAspect="1"/>
          </p:cNvPicPr>
          <p:nvPr/>
        </p:nvPicPr>
        <p:blipFill>
          <a:blip r:embed="rId3"/>
          <a:stretch>
            <a:fillRect/>
          </a:stretch>
        </p:blipFill>
        <p:spPr>
          <a:xfrm>
            <a:off x="10823904" y="0"/>
            <a:ext cx="1270000" cy="1270000"/>
          </a:xfrm>
          <a:prstGeom prst="rect">
            <a:avLst/>
          </a:prstGeom>
        </p:spPr>
      </p:pic>
    </p:spTree>
    <p:extLst>
      <p:ext uri="{BB962C8B-B14F-4D97-AF65-F5344CB8AC3E}">
        <p14:creationId xmlns:p14="http://schemas.microsoft.com/office/powerpoint/2010/main" val="1463744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Transmission Control Protocol (TCP)</a:t>
            </a:r>
            <a:br>
              <a:rPr lang="en-US" dirty="0"/>
            </a:br>
            <a:endParaRPr lang="en-US" dirty="0"/>
          </a:p>
        </p:txBody>
      </p:sp>
      <p:sp>
        <p:nvSpPr>
          <p:cNvPr id="3" name="Content Placeholder 2"/>
          <p:cNvSpPr>
            <a:spLocks noGrp="1"/>
          </p:cNvSpPr>
          <p:nvPr>
            <p:ph idx="1"/>
          </p:nvPr>
        </p:nvSpPr>
        <p:spPr>
          <a:xfrm>
            <a:off x="614363" y="1528763"/>
            <a:ext cx="11372849" cy="5143500"/>
          </a:xfrm>
        </p:spPr>
        <p:txBody>
          <a:bodyPr>
            <a:normAutofit lnSpcReduction="10000"/>
          </a:bodyPr>
          <a:lstStyle/>
          <a:p>
            <a:pPr lvl="1" algn="just"/>
            <a:r>
              <a:rPr lang="en-US" sz="2800" dirty="0"/>
              <a:t>TCP provides a reliable connection for the transfer of data between applications. </a:t>
            </a:r>
          </a:p>
          <a:p>
            <a:pPr marL="457200" lvl="1" indent="0" algn="just">
              <a:buNone/>
            </a:pPr>
            <a:endParaRPr lang="en-US" sz="2800" dirty="0"/>
          </a:p>
          <a:p>
            <a:pPr lvl="1" algn="just"/>
            <a:r>
              <a:rPr lang="en-US" sz="2800" dirty="0"/>
              <a:t>A connection is simply a temporary logical association between two entities in different systems. A logical connection refers to a given pair of port values.</a:t>
            </a:r>
          </a:p>
          <a:p>
            <a:pPr marL="457200" lvl="1" indent="0" algn="just">
              <a:buNone/>
            </a:pPr>
            <a:endParaRPr lang="en-US" sz="2800" dirty="0"/>
          </a:p>
          <a:p>
            <a:pPr lvl="1" algn="just"/>
            <a:r>
              <a:rPr lang="en-US" sz="2800" dirty="0"/>
              <a:t>For the duration of the connection, each entity keeps track of TCP segments coming and going to the other entity, in order to regulate the flow of segments and to recover from lost or damaged segments.</a:t>
            </a:r>
          </a:p>
          <a:p>
            <a:pPr marL="457200" lvl="1" indent="0" algn="just">
              <a:buNone/>
            </a:pPr>
            <a:endParaRPr lang="en-US" sz="2800" dirty="0"/>
          </a:p>
          <a:p>
            <a:pPr lvl="1" algn="just"/>
            <a:r>
              <a:rPr lang="en-US" sz="2800" dirty="0"/>
              <a:t>Each process with a host must have an address that is unique within the host addresses are known as ports</a:t>
            </a:r>
            <a:r>
              <a:rPr lang="en-US" dirty="0"/>
              <a:t>. </a:t>
            </a:r>
          </a:p>
        </p:txBody>
      </p:sp>
      <p:pic>
        <p:nvPicPr>
          <p:cNvPr id="4" name="Picture 3">
            <a:extLst>
              <a:ext uri="{FF2B5EF4-FFF2-40B4-BE49-F238E27FC236}">
                <a16:creationId xmlns:a16="http://schemas.microsoft.com/office/drawing/2014/main" id="{93E5F3BD-4C62-C845-8614-B86F3A29C0D4}"/>
              </a:ext>
            </a:extLst>
          </p:cNvPr>
          <p:cNvPicPr>
            <a:picLocks noChangeAspect="1"/>
          </p:cNvPicPr>
          <p:nvPr/>
        </p:nvPicPr>
        <p:blipFill>
          <a:blip r:embed="rId3"/>
          <a:stretch>
            <a:fillRect/>
          </a:stretch>
        </p:blipFill>
        <p:spPr>
          <a:xfrm>
            <a:off x="10922000" y="46037"/>
            <a:ext cx="1270000" cy="1270000"/>
          </a:xfrm>
          <a:prstGeom prst="rect">
            <a:avLst/>
          </a:prstGeom>
        </p:spPr>
      </p:pic>
    </p:spTree>
    <p:extLst>
      <p:ext uri="{BB962C8B-B14F-4D97-AF65-F5344CB8AC3E}">
        <p14:creationId xmlns:p14="http://schemas.microsoft.com/office/powerpoint/2010/main" val="108603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Transmission Control Protocol (TCP)</a:t>
            </a:r>
            <a:br>
              <a:rPr lang="en-US" dirty="0"/>
            </a:br>
            <a:endParaRPr lang="en-US" dirty="0"/>
          </a:p>
        </p:txBody>
      </p:sp>
      <p:sp>
        <p:nvSpPr>
          <p:cNvPr id="3" name="Content Placeholder 2"/>
          <p:cNvSpPr>
            <a:spLocks noGrp="1"/>
          </p:cNvSpPr>
          <p:nvPr>
            <p:ph idx="1"/>
          </p:nvPr>
        </p:nvSpPr>
        <p:spPr/>
        <p:txBody>
          <a:bodyPr>
            <a:normAutofit/>
          </a:bodyPr>
          <a:lstStyle/>
          <a:p>
            <a:r>
              <a:rPr lang="en-US" dirty="0"/>
              <a:t>TCP header </a:t>
            </a:r>
          </a:p>
          <a:p>
            <a:endParaRPr lang="en-US" dirty="0"/>
          </a:p>
        </p:txBody>
      </p:sp>
      <p:pic>
        <p:nvPicPr>
          <p:cNvPr id="4" name="Picture 3" descr="TCP Header.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8581" y="2668451"/>
            <a:ext cx="6197600" cy="3264812"/>
          </a:xfrm>
          <a:prstGeom prst="rect">
            <a:avLst/>
          </a:prstGeom>
        </p:spPr>
      </p:pic>
      <p:pic>
        <p:nvPicPr>
          <p:cNvPr id="5" name="Picture 4">
            <a:extLst>
              <a:ext uri="{FF2B5EF4-FFF2-40B4-BE49-F238E27FC236}">
                <a16:creationId xmlns:a16="http://schemas.microsoft.com/office/drawing/2014/main" id="{3D0DB546-8C1C-0D4D-9304-0DDEDEFA2BD7}"/>
              </a:ext>
            </a:extLst>
          </p:cNvPr>
          <p:cNvPicPr>
            <a:picLocks noChangeAspect="1"/>
          </p:cNvPicPr>
          <p:nvPr/>
        </p:nvPicPr>
        <p:blipFill>
          <a:blip r:embed="rId4"/>
          <a:stretch>
            <a:fillRect/>
          </a:stretch>
        </p:blipFill>
        <p:spPr>
          <a:xfrm>
            <a:off x="10922000" y="-2518"/>
            <a:ext cx="1270000" cy="1270000"/>
          </a:xfrm>
          <a:prstGeom prst="rect">
            <a:avLst/>
          </a:prstGeom>
        </p:spPr>
      </p:pic>
    </p:spTree>
    <p:extLst>
      <p:ext uri="{BB962C8B-B14F-4D97-AF65-F5344CB8AC3E}">
        <p14:creationId xmlns:p14="http://schemas.microsoft.com/office/powerpoint/2010/main" val="1269790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err="1"/>
              <a:t>User</a:t>
            </a:r>
            <a:r>
              <a:rPr lang="pt-BR" dirty="0"/>
              <a:t> </a:t>
            </a:r>
            <a:r>
              <a:rPr lang="pt-BR" dirty="0" err="1"/>
              <a:t>Datagram</a:t>
            </a:r>
            <a:r>
              <a:rPr lang="pt-BR" dirty="0"/>
              <a:t> </a:t>
            </a:r>
            <a:r>
              <a:rPr lang="pt-BR" dirty="0" err="1"/>
              <a:t>Protocol</a:t>
            </a:r>
            <a:r>
              <a:rPr lang="pt-BR" dirty="0"/>
              <a:t> (UDP)</a:t>
            </a:r>
          </a:p>
        </p:txBody>
      </p:sp>
      <p:sp>
        <p:nvSpPr>
          <p:cNvPr id="3" name="Content Placeholder 2"/>
          <p:cNvSpPr>
            <a:spLocks noGrp="1"/>
          </p:cNvSpPr>
          <p:nvPr>
            <p:ph idx="1"/>
          </p:nvPr>
        </p:nvSpPr>
        <p:spPr>
          <a:xfrm>
            <a:off x="385763" y="1635126"/>
            <a:ext cx="11672887" cy="5222874"/>
          </a:xfrm>
        </p:spPr>
        <p:txBody>
          <a:bodyPr>
            <a:normAutofit/>
          </a:bodyPr>
          <a:lstStyle/>
          <a:p>
            <a:r>
              <a:rPr lang="en-US" dirty="0"/>
              <a:t>UDP does not guarantee delivery, preservation of sequence, or protection against duplication.</a:t>
            </a:r>
          </a:p>
          <a:p>
            <a:endParaRPr lang="en-US" sz="2800" dirty="0"/>
          </a:p>
          <a:p>
            <a:r>
              <a:rPr lang="en-US" sz="2800" dirty="0"/>
              <a:t>UDP enables a procedure to send messages to other procedures with a minimum of protocol mechanism. </a:t>
            </a:r>
          </a:p>
          <a:p>
            <a:endParaRPr lang="en-US" sz="2800" dirty="0"/>
          </a:p>
          <a:p>
            <a:r>
              <a:rPr lang="en-US" dirty="0"/>
              <a:t>Because it is connection less, UDP has very little to do.</a:t>
            </a:r>
            <a:endParaRPr lang="en-US" sz="2800" dirty="0"/>
          </a:p>
          <a:p>
            <a:endParaRPr lang="en-US" dirty="0"/>
          </a:p>
          <a:p>
            <a:r>
              <a:rPr lang="en-US" sz="2800" dirty="0"/>
              <a:t>Some transaction-oriented applications make use of UDP; one example is SNMP (Simple Network Management Protocol), the standard network management protocol for TCP/IP networks.</a:t>
            </a:r>
          </a:p>
        </p:txBody>
      </p:sp>
      <p:pic>
        <p:nvPicPr>
          <p:cNvPr id="4" name="Picture 3">
            <a:extLst>
              <a:ext uri="{FF2B5EF4-FFF2-40B4-BE49-F238E27FC236}">
                <a16:creationId xmlns:a16="http://schemas.microsoft.com/office/drawing/2014/main" id="{1E8B3F12-CCDB-FC4E-BA44-4F3FEE2CCE1C}"/>
              </a:ext>
            </a:extLst>
          </p:cNvPr>
          <p:cNvPicPr>
            <a:picLocks noChangeAspect="1"/>
          </p:cNvPicPr>
          <p:nvPr/>
        </p:nvPicPr>
        <p:blipFill>
          <a:blip r:embed="rId3"/>
          <a:stretch>
            <a:fillRect/>
          </a:stretch>
        </p:blipFill>
        <p:spPr>
          <a:xfrm>
            <a:off x="10922000" y="0"/>
            <a:ext cx="1270000" cy="1270000"/>
          </a:xfrm>
          <a:prstGeom prst="rect">
            <a:avLst/>
          </a:prstGeom>
        </p:spPr>
      </p:pic>
    </p:spTree>
    <p:extLst>
      <p:ext uri="{BB962C8B-B14F-4D97-AF65-F5344CB8AC3E}">
        <p14:creationId xmlns:p14="http://schemas.microsoft.com/office/powerpoint/2010/main" val="275784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Transport Layer Protocol</a:t>
            </a:r>
          </a:p>
        </p:txBody>
      </p:sp>
      <p:sp>
        <p:nvSpPr>
          <p:cNvPr id="3" name="Content Placeholder 2"/>
          <p:cNvSpPr>
            <a:spLocks noGrp="1"/>
          </p:cNvSpPr>
          <p:nvPr>
            <p:ph idx="1"/>
          </p:nvPr>
        </p:nvSpPr>
        <p:spPr/>
        <p:txBody>
          <a:bodyPr>
            <a:normAutofit/>
          </a:bodyPr>
          <a:lstStyle/>
          <a:p>
            <a:r>
              <a:rPr lang="en-US" dirty="0"/>
              <a:t>UDP header </a:t>
            </a:r>
          </a:p>
          <a:p>
            <a:endParaRPr lang="en-US" dirty="0"/>
          </a:p>
        </p:txBody>
      </p:sp>
      <p:pic>
        <p:nvPicPr>
          <p:cNvPr id="5" name="Picture 4" descr="UDP Header.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2600" y="2679700"/>
            <a:ext cx="6146800" cy="2110652"/>
          </a:xfrm>
          <a:prstGeom prst="rect">
            <a:avLst/>
          </a:prstGeom>
        </p:spPr>
      </p:pic>
      <p:pic>
        <p:nvPicPr>
          <p:cNvPr id="6" name="Picture 5">
            <a:extLst>
              <a:ext uri="{FF2B5EF4-FFF2-40B4-BE49-F238E27FC236}">
                <a16:creationId xmlns:a16="http://schemas.microsoft.com/office/drawing/2014/main" id="{AAC6F7A5-B203-8540-BD4F-B3951BBF3FE6}"/>
              </a:ext>
            </a:extLst>
          </p:cNvPr>
          <p:cNvPicPr>
            <a:picLocks noChangeAspect="1"/>
          </p:cNvPicPr>
          <p:nvPr/>
        </p:nvPicPr>
        <p:blipFill>
          <a:blip r:embed="rId4"/>
          <a:stretch>
            <a:fillRect/>
          </a:stretch>
        </p:blipFill>
        <p:spPr>
          <a:xfrm>
            <a:off x="10922000" y="0"/>
            <a:ext cx="1270000" cy="1270000"/>
          </a:xfrm>
          <a:prstGeom prst="rect">
            <a:avLst/>
          </a:prstGeom>
        </p:spPr>
      </p:pic>
    </p:spTree>
    <p:extLst>
      <p:ext uri="{BB962C8B-B14F-4D97-AF65-F5344CB8AC3E}">
        <p14:creationId xmlns:p14="http://schemas.microsoft.com/office/powerpoint/2010/main" val="185117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Transport Layer Protocol</a:t>
            </a:r>
          </a:p>
        </p:txBody>
      </p:sp>
      <p:sp>
        <p:nvSpPr>
          <p:cNvPr id="3" name="Content Placeholder 2"/>
          <p:cNvSpPr>
            <a:spLocks noGrp="1"/>
          </p:cNvSpPr>
          <p:nvPr>
            <p:ph idx="1"/>
          </p:nvPr>
        </p:nvSpPr>
        <p:spPr/>
        <p:txBody>
          <a:bodyPr>
            <a:normAutofit/>
          </a:bodyPr>
          <a:lstStyle/>
          <a:p>
            <a:r>
              <a:rPr lang="en-US" dirty="0"/>
              <a:t>TCP </a:t>
            </a:r>
            <a:r>
              <a:rPr lang="en-US" dirty="0" err="1"/>
              <a:t>vs</a:t>
            </a:r>
            <a:r>
              <a:rPr lang="en-US" dirty="0"/>
              <a:t> UDP </a:t>
            </a:r>
          </a:p>
          <a:p>
            <a:pPr marL="457200" lvl="2" indent="0">
              <a:buNone/>
            </a:pPr>
            <a:r>
              <a:rPr lang="en-US" dirty="0"/>
              <a:t> </a:t>
            </a:r>
          </a:p>
        </p:txBody>
      </p:sp>
      <p:pic>
        <p:nvPicPr>
          <p:cNvPr id="4" name="Picture 3">
            <a:extLst>
              <a:ext uri="{FF2B5EF4-FFF2-40B4-BE49-F238E27FC236}">
                <a16:creationId xmlns:a16="http://schemas.microsoft.com/office/drawing/2014/main" id="{8CF8579E-9308-DD44-B6F8-5D39580D08CE}"/>
              </a:ext>
            </a:extLst>
          </p:cNvPr>
          <p:cNvPicPr>
            <a:picLocks noChangeAspect="1"/>
          </p:cNvPicPr>
          <p:nvPr/>
        </p:nvPicPr>
        <p:blipFill>
          <a:blip r:embed="rId3"/>
          <a:stretch>
            <a:fillRect/>
          </a:stretch>
        </p:blipFill>
        <p:spPr>
          <a:xfrm>
            <a:off x="10820071" y="0"/>
            <a:ext cx="1270000" cy="1270000"/>
          </a:xfrm>
          <a:prstGeom prst="rect">
            <a:avLst/>
          </a:prstGeom>
        </p:spPr>
      </p:pic>
      <p:pic>
        <p:nvPicPr>
          <p:cNvPr id="6" name="Picture 5">
            <a:extLst>
              <a:ext uri="{FF2B5EF4-FFF2-40B4-BE49-F238E27FC236}">
                <a16:creationId xmlns:a16="http://schemas.microsoft.com/office/drawing/2014/main" id="{73B68127-49FE-514A-BEDC-226CE5981231}"/>
              </a:ext>
            </a:extLst>
          </p:cNvPr>
          <p:cNvPicPr>
            <a:picLocks noChangeAspect="1"/>
          </p:cNvPicPr>
          <p:nvPr/>
        </p:nvPicPr>
        <p:blipFill>
          <a:blip r:embed="rId4"/>
          <a:stretch>
            <a:fillRect/>
          </a:stretch>
        </p:blipFill>
        <p:spPr>
          <a:xfrm>
            <a:off x="1171161" y="2674524"/>
            <a:ext cx="4800600" cy="2895600"/>
          </a:xfrm>
          <a:prstGeom prst="rect">
            <a:avLst/>
          </a:prstGeom>
        </p:spPr>
      </p:pic>
    </p:spTree>
    <p:extLst>
      <p:ext uri="{BB962C8B-B14F-4D97-AF65-F5344CB8AC3E}">
        <p14:creationId xmlns:p14="http://schemas.microsoft.com/office/powerpoint/2010/main" val="1328932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Internet </a:t>
            </a:r>
            <a:r>
              <a:rPr lang="pt-BR" dirty="0" err="1"/>
              <a:t>Layer</a:t>
            </a:r>
            <a:endParaRPr lang="pt-BR" dirty="0"/>
          </a:p>
        </p:txBody>
      </p:sp>
      <p:sp>
        <p:nvSpPr>
          <p:cNvPr id="3" name="Content Placeholder 2"/>
          <p:cNvSpPr>
            <a:spLocks noGrp="1"/>
          </p:cNvSpPr>
          <p:nvPr>
            <p:ph idx="1"/>
          </p:nvPr>
        </p:nvSpPr>
        <p:spPr/>
        <p:txBody>
          <a:bodyPr>
            <a:normAutofit/>
          </a:bodyPr>
          <a:lstStyle/>
          <a:p>
            <a:pPr lvl="1"/>
            <a:r>
              <a:rPr lang="en-US" sz="2800" dirty="0">
                <a:latin typeface=""/>
              </a:rPr>
              <a:t>Shields higher layers from details of physical network configuration. </a:t>
            </a:r>
          </a:p>
          <a:p>
            <a:pPr lvl="1"/>
            <a:endParaRPr lang="en-US" sz="2800" dirty="0">
              <a:latin typeface=""/>
            </a:endParaRPr>
          </a:p>
          <a:p>
            <a:pPr lvl="1"/>
            <a:r>
              <a:rPr lang="en-US" sz="2800" dirty="0">
                <a:latin typeface=""/>
              </a:rPr>
              <a:t>Provides routing. </a:t>
            </a:r>
          </a:p>
          <a:p>
            <a:pPr lvl="1"/>
            <a:endParaRPr lang="en-US" sz="2800" dirty="0">
              <a:latin typeface=""/>
            </a:endParaRPr>
          </a:p>
          <a:p>
            <a:pPr lvl="1"/>
            <a:r>
              <a:rPr lang="en-US" sz="2800" dirty="0">
                <a:latin typeface=""/>
              </a:rPr>
              <a:t>May provide Quality of Service (</a:t>
            </a:r>
            <a:r>
              <a:rPr lang="en-US" sz="2800" dirty="0" err="1">
                <a:latin typeface=""/>
              </a:rPr>
              <a:t>QoS</a:t>
            </a:r>
            <a:r>
              <a:rPr lang="en-US" sz="2800" dirty="0">
                <a:latin typeface=""/>
              </a:rPr>
              <a:t>), </a:t>
            </a:r>
            <a:r>
              <a:rPr lang="fr-FR" sz="2800" dirty="0">
                <a:latin typeface=""/>
              </a:rPr>
              <a:t>congestion control.</a:t>
            </a:r>
          </a:p>
          <a:p>
            <a:pPr lvl="1"/>
            <a:endParaRPr lang="fr-FR" sz="2800" dirty="0">
              <a:latin typeface=""/>
            </a:endParaRPr>
          </a:p>
          <a:p>
            <a:pPr lvl="1"/>
            <a:r>
              <a:rPr lang="fr-FR" sz="2800" dirty="0" err="1">
                <a:latin typeface=""/>
              </a:rPr>
              <a:t>Some</a:t>
            </a:r>
            <a:r>
              <a:rPr lang="fr-FR" sz="2800" dirty="0">
                <a:latin typeface=""/>
              </a:rPr>
              <a:t> Internet Layer protocoles are IP, ICMP, ARP etc. </a:t>
            </a:r>
            <a:endParaRPr lang="pt-BR" sz="2800" dirty="0"/>
          </a:p>
        </p:txBody>
      </p:sp>
      <p:pic>
        <p:nvPicPr>
          <p:cNvPr id="4" name="Picture 3">
            <a:extLst>
              <a:ext uri="{FF2B5EF4-FFF2-40B4-BE49-F238E27FC236}">
                <a16:creationId xmlns:a16="http://schemas.microsoft.com/office/drawing/2014/main" id="{F5C5F53C-A014-D249-A6BB-D77EEF79BE85}"/>
              </a:ext>
            </a:extLst>
          </p:cNvPr>
          <p:cNvPicPr>
            <a:picLocks noChangeAspect="1"/>
          </p:cNvPicPr>
          <p:nvPr/>
        </p:nvPicPr>
        <p:blipFill>
          <a:blip r:embed="rId3"/>
          <a:stretch>
            <a:fillRect/>
          </a:stretch>
        </p:blipFill>
        <p:spPr>
          <a:xfrm>
            <a:off x="10922000" y="0"/>
            <a:ext cx="1270000" cy="1270000"/>
          </a:xfrm>
          <a:prstGeom prst="rect">
            <a:avLst/>
          </a:prstGeom>
        </p:spPr>
      </p:pic>
    </p:spTree>
    <p:extLst>
      <p:ext uri="{BB962C8B-B14F-4D97-AF65-F5344CB8AC3E}">
        <p14:creationId xmlns:p14="http://schemas.microsoft.com/office/powerpoint/2010/main" val="1282001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Internet </a:t>
            </a:r>
            <a:r>
              <a:rPr lang="pt-BR" dirty="0" err="1"/>
              <a:t>Layer</a:t>
            </a:r>
            <a:r>
              <a:rPr lang="pt-BR" dirty="0"/>
              <a:t> </a:t>
            </a:r>
            <a:r>
              <a:rPr lang="pt-BR" dirty="0" err="1"/>
              <a:t>Protocol</a:t>
            </a:r>
            <a:endParaRPr lang="pt-BR" dirty="0"/>
          </a:p>
        </p:txBody>
      </p:sp>
      <p:sp>
        <p:nvSpPr>
          <p:cNvPr id="3" name="Content Placeholder 2"/>
          <p:cNvSpPr>
            <a:spLocks noGrp="1"/>
          </p:cNvSpPr>
          <p:nvPr>
            <p:ph idx="1"/>
          </p:nvPr>
        </p:nvSpPr>
        <p:spPr/>
        <p:txBody>
          <a:bodyPr>
            <a:normAutofit/>
          </a:bodyPr>
          <a:lstStyle/>
          <a:p>
            <a:pPr lvl="1" algn="just"/>
            <a:r>
              <a:rPr lang="en-US" sz="2800" dirty="0"/>
              <a:t>Provides addressing of sender and receiver on the internet.</a:t>
            </a:r>
          </a:p>
          <a:p>
            <a:pPr lvl="1" algn="just"/>
            <a:endParaRPr lang="en-US" sz="2800" dirty="0"/>
          </a:p>
          <a:p>
            <a:pPr lvl="1" algn="just"/>
            <a:r>
              <a:rPr lang="en-US" sz="2800" dirty="0"/>
              <a:t> Protocol defines how to route messages through a network.</a:t>
            </a:r>
          </a:p>
          <a:p>
            <a:pPr lvl="1" algn="just"/>
            <a:endParaRPr lang="en-US" sz="2800" dirty="0"/>
          </a:p>
          <a:p>
            <a:pPr lvl="1" algn="just"/>
            <a:r>
              <a:rPr lang="it-IT" sz="2800" dirty="0"/>
              <a:t>Internet </a:t>
            </a:r>
            <a:r>
              <a:rPr lang="it-IT" sz="2800" dirty="0" err="1"/>
              <a:t>protocol</a:t>
            </a:r>
            <a:r>
              <a:rPr lang="it-IT" sz="2800" dirty="0"/>
              <a:t> </a:t>
            </a:r>
            <a:r>
              <a:rPr lang="it-IT" sz="2800" dirty="0" err="1"/>
              <a:t>datagrams</a:t>
            </a:r>
            <a:r>
              <a:rPr lang="it-IT" sz="2800" dirty="0"/>
              <a:t> are </a:t>
            </a:r>
            <a:r>
              <a:rPr lang="it-IT" sz="2800" dirty="0" err="1"/>
              <a:t>not</a:t>
            </a:r>
            <a:r>
              <a:rPr lang="it-IT" sz="2800" dirty="0"/>
              <a:t> </a:t>
            </a:r>
            <a:r>
              <a:rPr lang="it-IT" sz="2800" dirty="0" err="1"/>
              <a:t>continuous</a:t>
            </a:r>
            <a:r>
              <a:rPr lang="it-IT" sz="2800" dirty="0"/>
              <a:t>.</a:t>
            </a:r>
          </a:p>
          <a:p>
            <a:pPr lvl="1" algn="just"/>
            <a:endParaRPr lang="it-IT" sz="2800" dirty="0"/>
          </a:p>
          <a:p>
            <a:pPr lvl="1" algn="just"/>
            <a:r>
              <a:rPr lang="en-US" sz="2800" dirty="0"/>
              <a:t> Delivery not guaranteed.</a:t>
            </a:r>
          </a:p>
          <a:p>
            <a:pPr lvl="1" algn="just"/>
            <a:endParaRPr lang="en-US" sz="2800" dirty="0"/>
          </a:p>
          <a:p>
            <a:pPr lvl="1" algn="just"/>
            <a:r>
              <a:rPr lang="en-US" sz="2800" dirty="0"/>
              <a:t>IP addresses are used to identify source and destinations.</a:t>
            </a:r>
          </a:p>
          <a:p>
            <a:pPr marL="228600" lvl="1" indent="0" algn="just">
              <a:buNone/>
            </a:pPr>
            <a:endParaRPr lang="en-US" sz="2800" dirty="0"/>
          </a:p>
        </p:txBody>
      </p:sp>
      <p:pic>
        <p:nvPicPr>
          <p:cNvPr id="4" name="Picture 3">
            <a:extLst>
              <a:ext uri="{FF2B5EF4-FFF2-40B4-BE49-F238E27FC236}">
                <a16:creationId xmlns:a16="http://schemas.microsoft.com/office/drawing/2014/main" id="{63541DFD-8654-E44E-85D2-3BA5E53777FF}"/>
              </a:ext>
            </a:extLst>
          </p:cNvPr>
          <p:cNvPicPr>
            <a:picLocks noChangeAspect="1"/>
          </p:cNvPicPr>
          <p:nvPr/>
        </p:nvPicPr>
        <p:blipFill>
          <a:blip r:embed="rId3"/>
          <a:stretch>
            <a:fillRect/>
          </a:stretch>
        </p:blipFill>
        <p:spPr>
          <a:xfrm>
            <a:off x="10820071" y="0"/>
            <a:ext cx="1270000" cy="1270000"/>
          </a:xfrm>
          <a:prstGeom prst="rect">
            <a:avLst/>
          </a:prstGeom>
        </p:spPr>
      </p:pic>
    </p:spTree>
    <p:extLst>
      <p:ext uri="{BB962C8B-B14F-4D97-AF65-F5344CB8AC3E}">
        <p14:creationId xmlns:p14="http://schemas.microsoft.com/office/powerpoint/2010/main" val="353730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Internet </a:t>
            </a:r>
            <a:r>
              <a:rPr lang="pt-BR" dirty="0" err="1"/>
              <a:t>Layer</a:t>
            </a:r>
            <a:r>
              <a:rPr lang="pt-BR" dirty="0"/>
              <a:t> </a:t>
            </a:r>
            <a:r>
              <a:rPr lang="pt-BR" dirty="0" err="1"/>
              <a:t>Protocol</a:t>
            </a:r>
            <a:endParaRPr lang="pt-BR" dirty="0"/>
          </a:p>
        </p:txBody>
      </p:sp>
      <p:sp>
        <p:nvSpPr>
          <p:cNvPr id="3" name="Content Placeholder 2"/>
          <p:cNvSpPr>
            <a:spLocks noGrp="1"/>
          </p:cNvSpPr>
          <p:nvPr>
            <p:ph idx="1"/>
          </p:nvPr>
        </p:nvSpPr>
        <p:spPr/>
        <p:txBody>
          <a:bodyPr>
            <a:normAutofit/>
          </a:bodyPr>
          <a:lstStyle/>
          <a:p>
            <a:r>
              <a:rPr lang="pt-BR" dirty="0"/>
              <a:t>Internet </a:t>
            </a:r>
            <a:r>
              <a:rPr lang="pt-BR" dirty="0" err="1"/>
              <a:t>Protocol</a:t>
            </a:r>
            <a:r>
              <a:rPr lang="pt-BR" dirty="0"/>
              <a:t> (IP) header</a:t>
            </a:r>
          </a:p>
          <a:p>
            <a:pPr lvl="1"/>
            <a:endParaRPr lang="pt-BR" dirty="0"/>
          </a:p>
          <a:p>
            <a:pPr marL="228600" lvl="1" indent="0">
              <a:buNone/>
            </a:pPr>
            <a:endParaRPr lang="en-US" dirty="0"/>
          </a:p>
        </p:txBody>
      </p:sp>
      <p:pic>
        <p:nvPicPr>
          <p:cNvPr id="4" name="Picture 3" descr="IPv4 Header.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1487" y="2687700"/>
            <a:ext cx="7607300" cy="2755900"/>
          </a:xfrm>
          <a:prstGeom prst="rect">
            <a:avLst/>
          </a:prstGeom>
        </p:spPr>
      </p:pic>
      <p:pic>
        <p:nvPicPr>
          <p:cNvPr id="5" name="Picture 4">
            <a:extLst>
              <a:ext uri="{FF2B5EF4-FFF2-40B4-BE49-F238E27FC236}">
                <a16:creationId xmlns:a16="http://schemas.microsoft.com/office/drawing/2014/main" id="{3C0FD200-3C80-2741-927C-1A083649A22D}"/>
              </a:ext>
            </a:extLst>
          </p:cNvPr>
          <p:cNvPicPr>
            <a:picLocks noChangeAspect="1"/>
          </p:cNvPicPr>
          <p:nvPr/>
        </p:nvPicPr>
        <p:blipFill>
          <a:blip r:embed="rId4"/>
          <a:stretch>
            <a:fillRect/>
          </a:stretch>
        </p:blipFill>
        <p:spPr>
          <a:xfrm>
            <a:off x="10922000" y="0"/>
            <a:ext cx="1270000" cy="1270000"/>
          </a:xfrm>
          <a:prstGeom prst="rect">
            <a:avLst/>
          </a:prstGeom>
        </p:spPr>
      </p:pic>
    </p:spTree>
    <p:extLst>
      <p:ext uri="{BB962C8B-B14F-4D97-AF65-F5344CB8AC3E}">
        <p14:creationId xmlns:p14="http://schemas.microsoft.com/office/powerpoint/2010/main" val="2219783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Internet </a:t>
            </a:r>
            <a:r>
              <a:rPr lang="pt-BR" dirty="0" err="1"/>
              <a:t>Layer</a:t>
            </a:r>
            <a:r>
              <a:rPr lang="pt-BR" dirty="0"/>
              <a:t> </a:t>
            </a:r>
            <a:r>
              <a:rPr lang="pt-BR" dirty="0" err="1"/>
              <a:t>Protocol</a:t>
            </a:r>
            <a:endParaRPr lang="en-US" dirty="0"/>
          </a:p>
        </p:txBody>
      </p:sp>
      <p:sp>
        <p:nvSpPr>
          <p:cNvPr id="3" name="Content Placeholder 2"/>
          <p:cNvSpPr>
            <a:spLocks noGrp="1"/>
          </p:cNvSpPr>
          <p:nvPr>
            <p:ph idx="1"/>
          </p:nvPr>
        </p:nvSpPr>
        <p:spPr>
          <a:xfrm>
            <a:off x="301625" y="1690688"/>
            <a:ext cx="11052175" cy="4486275"/>
          </a:xfrm>
        </p:spPr>
        <p:txBody>
          <a:bodyPr>
            <a:normAutofit/>
          </a:bodyPr>
          <a:lstStyle/>
          <a:p>
            <a:pPr>
              <a:buClr>
                <a:srgbClr val="663366"/>
              </a:buClr>
            </a:pPr>
            <a:r>
              <a:rPr lang="pt-BR" sz="3200" b="1" dirty="0"/>
              <a:t>Internet </a:t>
            </a:r>
            <a:r>
              <a:rPr lang="pt-BR" sz="3200" b="1" dirty="0" err="1"/>
              <a:t>Control</a:t>
            </a:r>
            <a:r>
              <a:rPr lang="pt-BR" sz="3200" b="1" dirty="0"/>
              <a:t> </a:t>
            </a:r>
            <a:r>
              <a:rPr lang="pt-BR" sz="3200" b="1" dirty="0" err="1"/>
              <a:t>Message</a:t>
            </a:r>
            <a:r>
              <a:rPr lang="pt-BR" sz="3200" b="1" dirty="0"/>
              <a:t> </a:t>
            </a:r>
            <a:r>
              <a:rPr lang="pt-BR" sz="3200" b="1" dirty="0" err="1"/>
              <a:t>Protocol</a:t>
            </a:r>
            <a:r>
              <a:rPr lang="pt-BR" sz="3200" b="1" dirty="0"/>
              <a:t> (ICMP)</a:t>
            </a:r>
          </a:p>
          <a:p>
            <a:pPr>
              <a:buClr>
                <a:srgbClr val="663366"/>
              </a:buClr>
            </a:pPr>
            <a:endParaRPr lang="pt-BR" dirty="0"/>
          </a:p>
          <a:p>
            <a:pPr lvl="1"/>
            <a:r>
              <a:rPr lang="en-US" sz="2800" dirty="0"/>
              <a:t>ICMP works at the Network layer and is used by IP for many different services. </a:t>
            </a:r>
          </a:p>
          <a:p>
            <a:pPr marL="457200" lvl="1" indent="0">
              <a:buNone/>
            </a:pPr>
            <a:endParaRPr lang="en-US" sz="2800" dirty="0"/>
          </a:p>
          <a:p>
            <a:pPr lvl="1"/>
            <a:r>
              <a:rPr lang="en-US" sz="2800" dirty="0"/>
              <a:t>ICMP is a management protocol and messaging service provider for IP.</a:t>
            </a:r>
          </a:p>
          <a:p>
            <a:pPr marL="457200" lvl="1" indent="0">
              <a:buNone/>
            </a:pPr>
            <a:r>
              <a:rPr lang="en-US" sz="2800" dirty="0"/>
              <a:t> </a:t>
            </a:r>
          </a:p>
          <a:p>
            <a:pPr lvl="1"/>
            <a:r>
              <a:rPr lang="en-US" sz="2800" dirty="0"/>
              <a:t>Its messages are carried as IP datagrams.</a:t>
            </a:r>
          </a:p>
          <a:p>
            <a:pPr lvl="2"/>
            <a:endParaRPr lang="en-US" dirty="0"/>
          </a:p>
        </p:txBody>
      </p:sp>
      <p:pic>
        <p:nvPicPr>
          <p:cNvPr id="4" name="Picture 3">
            <a:extLst>
              <a:ext uri="{FF2B5EF4-FFF2-40B4-BE49-F238E27FC236}">
                <a16:creationId xmlns:a16="http://schemas.microsoft.com/office/drawing/2014/main" id="{DCEB5486-15DA-5C40-98C9-141177D007F8}"/>
              </a:ext>
            </a:extLst>
          </p:cNvPr>
          <p:cNvPicPr>
            <a:picLocks noChangeAspect="1"/>
          </p:cNvPicPr>
          <p:nvPr/>
        </p:nvPicPr>
        <p:blipFill>
          <a:blip r:embed="rId3"/>
          <a:stretch>
            <a:fillRect/>
          </a:stretch>
        </p:blipFill>
        <p:spPr>
          <a:xfrm>
            <a:off x="10922000" y="0"/>
            <a:ext cx="1270000" cy="1270000"/>
          </a:xfrm>
          <a:prstGeom prst="rect">
            <a:avLst/>
          </a:prstGeom>
        </p:spPr>
      </p:pic>
    </p:spTree>
    <p:extLst>
      <p:ext uri="{BB962C8B-B14F-4D97-AF65-F5344CB8AC3E}">
        <p14:creationId xmlns:p14="http://schemas.microsoft.com/office/powerpoint/2010/main" val="257103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Internet </a:t>
            </a:r>
            <a:r>
              <a:rPr lang="pt-BR" dirty="0" err="1"/>
              <a:t>Layer</a:t>
            </a:r>
            <a:r>
              <a:rPr lang="pt-BR" dirty="0"/>
              <a:t> </a:t>
            </a:r>
            <a:r>
              <a:rPr lang="pt-BR" dirty="0" err="1"/>
              <a:t>Protocol</a:t>
            </a:r>
            <a:endParaRPr lang="en-US" dirty="0"/>
          </a:p>
        </p:txBody>
      </p:sp>
      <p:sp>
        <p:nvSpPr>
          <p:cNvPr id="3" name="Content Placeholder 2"/>
          <p:cNvSpPr>
            <a:spLocks noGrp="1"/>
          </p:cNvSpPr>
          <p:nvPr>
            <p:ph idx="1"/>
          </p:nvPr>
        </p:nvSpPr>
        <p:spPr>
          <a:xfrm>
            <a:off x="214313" y="1635126"/>
            <a:ext cx="11815762" cy="4857750"/>
          </a:xfrm>
        </p:spPr>
        <p:txBody>
          <a:bodyPr>
            <a:normAutofit/>
          </a:bodyPr>
          <a:lstStyle/>
          <a:p>
            <a:pPr lvl="0">
              <a:buClr>
                <a:srgbClr val="663366"/>
              </a:buClr>
            </a:pPr>
            <a:r>
              <a:rPr lang="pt-BR" b="1" dirty="0" err="1"/>
              <a:t>Address</a:t>
            </a:r>
            <a:r>
              <a:rPr lang="pt-BR" b="1" dirty="0"/>
              <a:t> </a:t>
            </a:r>
            <a:r>
              <a:rPr lang="pt-BR" b="1" dirty="0" err="1"/>
              <a:t>Resolution</a:t>
            </a:r>
            <a:r>
              <a:rPr lang="pt-BR" b="1" dirty="0"/>
              <a:t>  </a:t>
            </a:r>
            <a:r>
              <a:rPr lang="pt-BR" b="1" dirty="0" err="1"/>
              <a:t>Protocol</a:t>
            </a:r>
            <a:r>
              <a:rPr lang="pt-BR" b="1" dirty="0"/>
              <a:t> (ARP)</a:t>
            </a:r>
          </a:p>
          <a:p>
            <a:pPr lvl="0">
              <a:buClr>
                <a:srgbClr val="663366"/>
              </a:buClr>
            </a:pPr>
            <a:endParaRPr lang="en-US" dirty="0"/>
          </a:p>
          <a:p>
            <a:pPr lvl="2" algn="just"/>
            <a:r>
              <a:rPr lang="en-US" sz="2800" dirty="0"/>
              <a:t>ARP resolves IP addresses to Ethernet (MAC) addresses.</a:t>
            </a:r>
          </a:p>
          <a:p>
            <a:pPr marL="914400" lvl="2" indent="0" algn="just">
              <a:buNone/>
            </a:pPr>
            <a:endParaRPr lang="en-US" sz="2800" dirty="0"/>
          </a:p>
          <a:p>
            <a:pPr lvl="2" algn="just"/>
            <a:r>
              <a:rPr lang="en-US" sz="2800" dirty="0"/>
              <a:t>When IP has a datagram to send, it must inform Ethernet, of the destination’s hardware address on the local network. If IP doesn’t find the destination host’s hardware address in the ARP cache, it uses ARP to find this information. As ARP interrogates the local network by sending out a broadcast asking the machine with the specified IP address to reply with its hardware address. ARP translates the IP address into a hardware address.</a:t>
            </a:r>
          </a:p>
          <a:p>
            <a:pPr lvl="2"/>
            <a:endParaRPr lang="en-US" dirty="0"/>
          </a:p>
        </p:txBody>
      </p:sp>
      <p:pic>
        <p:nvPicPr>
          <p:cNvPr id="4" name="Picture 3">
            <a:extLst>
              <a:ext uri="{FF2B5EF4-FFF2-40B4-BE49-F238E27FC236}">
                <a16:creationId xmlns:a16="http://schemas.microsoft.com/office/drawing/2014/main" id="{DCEB5486-15DA-5C40-98C9-141177D007F8}"/>
              </a:ext>
            </a:extLst>
          </p:cNvPr>
          <p:cNvPicPr>
            <a:picLocks noChangeAspect="1"/>
          </p:cNvPicPr>
          <p:nvPr/>
        </p:nvPicPr>
        <p:blipFill>
          <a:blip r:embed="rId3"/>
          <a:stretch>
            <a:fillRect/>
          </a:stretch>
        </p:blipFill>
        <p:spPr>
          <a:xfrm>
            <a:off x="10922000" y="0"/>
            <a:ext cx="1270000" cy="1270000"/>
          </a:xfrm>
          <a:prstGeom prst="rect">
            <a:avLst/>
          </a:prstGeom>
        </p:spPr>
      </p:pic>
    </p:spTree>
    <p:extLst>
      <p:ext uri="{BB962C8B-B14F-4D97-AF65-F5344CB8AC3E}">
        <p14:creationId xmlns:p14="http://schemas.microsoft.com/office/powerpoint/2010/main" val="7010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access/data link layer</a:t>
            </a:r>
          </a:p>
        </p:txBody>
      </p:sp>
      <p:sp>
        <p:nvSpPr>
          <p:cNvPr id="3" name="Content Placeholder 2"/>
          <p:cNvSpPr>
            <a:spLocks noGrp="1"/>
          </p:cNvSpPr>
          <p:nvPr>
            <p:ph idx="1"/>
          </p:nvPr>
        </p:nvSpPr>
        <p:spPr/>
        <p:txBody>
          <a:bodyPr>
            <a:noAutofit/>
          </a:bodyPr>
          <a:lstStyle/>
          <a:p>
            <a:pPr lvl="1"/>
            <a:r>
              <a:rPr lang="en-US" sz="2800" dirty="0"/>
              <a:t>Logical interface to network hardware. </a:t>
            </a:r>
          </a:p>
          <a:p>
            <a:pPr lvl="1"/>
            <a:endParaRPr lang="en-US" sz="2800" dirty="0"/>
          </a:p>
          <a:p>
            <a:pPr lvl="1"/>
            <a:r>
              <a:rPr lang="en-US" sz="2800" dirty="0"/>
              <a:t>May be stream or packet oriented. </a:t>
            </a:r>
          </a:p>
          <a:p>
            <a:pPr lvl="1"/>
            <a:endParaRPr lang="en-US" sz="2800" dirty="0"/>
          </a:p>
          <a:p>
            <a:pPr lvl="1"/>
            <a:r>
              <a:rPr lang="en-US" sz="2800" dirty="0"/>
              <a:t>May provide reliable delivery.</a:t>
            </a:r>
          </a:p>
          <a:p>
            <a:pPr lvl="1"/>
            <a:endParaRPr lang="en-US" sz="2800" dirty="0"/>
          </a:p>
          <a:p>
            <a:pPr lvl="1"/>
            <a:r>
              <a:rPr lang="en-US" sz="2800" dirty="0"/>
              <a:t>Some data link layer protocols are:</a:t>
            </a:r>
          </a:p>
          <a:p>
            <a:pPr marL="457200" lvl="1" indent="0">
              <a:buNone/>
            </a:pPr>
            <a:r>
              <a:rPr lang="en-US" sz="2800" dirty="0"/>
              <a:t>		Ethernet, Wi-Fi, ATM, frame relay</a:t>
            </a:r>
          </a:p>
        </p:txBody>
      </p:sp>
      <p:pic>
        <p:nvPicPr>
          <p:cNvPr id="4" name="Picture 3">
            <a:extLst>
              <a:ext uri="{FF2B5EF4-FFF2-40B4-BE49-F238E27FC236}">
                <a16:creationId xmlns:a16="http://schemas.microsoft.com/office/drawing/2014/main" id="{E8F890FF-7713-994C-8170-4D1DDA486C5E}"/>
              </a:ext>
            </a:extLst>
          </p:cNvPr>
          <p:cNvPicPr>
            <a:picLocks noChangeAspect="1"/>
          </p:cNvPicPr>
          <p:nvPr/>
        </p:nvPicPr>
        <p:blipFill>
          <a:blip r:embed="rId3"/>
          <a:stretch>
            <a:fillRect/>
          </a:stretch>
        </p:blipFill>
        <p:spPr>
          <a:xfrm>
            <a:off x="10718800" y="0"/>
            <a:ext cx="1270000" cy="1270000"/>
          </a:xfrm>
          <a:prstGeom prst="rect">
            <a:avLst/>
          </a:prstGeom>
        </p:spPr>
      </p:pic>
    </p:spTree>
    <p:extLst>
      <p:ext uri="{BB962C8B-B14F-4D97-AF65-F5344CB8AC3E}">
        <p14:creationId xmlns:p14="http://schemas.microsoft.com/office/powerpoint/2010/main" val="370332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layer</a:t>
            </a:r>
          </a:p>
        </p:txBody>
      </p:sp>
      <p:sp>
        <p:nvSpPr>
          <p:cNvPr id="3" name="Content Placeholder 2"/>
          <p:cNvSpPr>
            <a:spLocks noGrp="1"/>
          </p:cNvSpPr>
          <p:nvPr>
            <p:ph idx="1"/>
          </p:nvPr>
        </p:nvSpPr>
        <p:spPr/>
        <p:txBody>
          <a:bodyPr>
            <a:normAutofit/>
          </a:bodyPr>
          <a:lstStyle/>
          <a:p>
            <a:pPr lvl="1"/>
            <a:r>
              <a:rPr lang="en-US" sz="2800" dirty="0"/>
              <a:t>Transmission of bit stream.</a:t>
            </a:r>
          </a:p>
          <a:p>
            <a:pPr lvl="1"/>
            <a:endParaRPr lang="en-US" sz="2800" dirty="0"/>
          </a:p>
          <a:p>
            <a:pPr lvl="1"/>
            <a:r>
              <a:rPr lang="en-US" sz="2800" dirty="0"/>
              <a:t>Specifies medium, signal encoding technique, data rate, bandwidth, and physical connector.</a:t>
            </a:r>
          </a:p>
          <a:p>
            <a:pPr lvl="1"/>
            <a:endParaRPr lang="en-US" sz="2800" dirty="0"/>
          </a:p>
          <a:p>
            <a:pPr lvl="1"/>
            <a:r>
              <a:rPr lang="en-US" sz="2800" dirty="0"/>
              <a:t>Some examples are: </a:t>
            </a:r>
          </a:p>
          <a:p>
            <a:pPr marL="457200" lvl="1" indent="0">
              <a:buNone/>
            </a:pPr>
            <a:r>
              <a:rPr lang="en-US" sz="2800" dirty="0"/>
              <a:t>		Twisted pair, optical fiber, satellite, </a:t>
            </a:r>
            <a:r>
              <a:rPr lang="pl-PL" sz="2800" dirty="0" err="1"/>
              <a:t>terrestrial</a:t>
            </a:r>
            <a:r>
              <a:rPr lang="pl-PL" sz="2800" dirty="0"/>
              <a:t> </a:t>
            </a:r>
            <a:r>
              <a:rPr lang="pl-PL" sz="2800" dirty="0" err="1"/>
              <a:t>microwave</a:t>
            </a:r>
            <a:r>
              <a:rPr lang="pl-PL" sz="2800" dirty="0"/>
              <a:t> </a:t>
            </a:r>
          </a:p>
          <a:p>
            <a:pPr marL="228600" lvl="1" indent="0">
              <a:buNone/>
            </a:pPr>
            <a:endParaRPr lang="en-US" dirty="0"/>
          </a:p>
        </p:txBody>
      </p:sp>
      <p:pic>
        <p:nvPicPr>
          <p:cNvPr id="4" name="Picture 3">
            <a:extLst>
              <a:ext uri="{FF2B5EF4-FFF2-40B4-BE49-F238E27FC236}">
                <a16:creationId xmlns:a16="http://schemas.microsoft.com/office/drawing/2014/main" id="{EDD6D7D5-AD2B-CD47-BE31-61BDE29F88E1}"/>
              </a:ext>
            </a:extLst>
          </p:cNvPr>
          <p:cNvPicPr>
            <a:picLocks noChangeAspect="1"/>
          </p:cNvPicPr>
          <p:nvPr/>
        </p:nvPicPr>
        <p:blipFill>
          <a:blip r:embed="rId3"/>
          <a:stretch>
            <a:fillRect/>
          </a:stretch>
        </p:blipFill>
        <p:spPr>
          <a:xfrm>
            <a:off x="10922000" y="0"/>
            <a:ext cx="1270000" cy="1270000"/>
          </a:xfrm>
          <a:prstGeom prst="rect">
            <a:avLst/>
          </a:prstGeom>
        </p:spPr>
      </p:pic>
    </p:spTree>
    <p:extLst>
      <p:ext uri="{BB962C8B-B14F-4D97-AF65-F5344CB8AC3E}">
        <p14:creationId xmlns:p14="http://schemas.microsoft.com/office/powerpoint/2010/main" val="171869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Protocol Data Units (PDUs) in the TCP/IP Architecture</a:t>
            </a:r>
            <a:br>
              <a:rPr lang="en-US" dirty="0"/>
            </a:br>
            <a:endParaRPr lang="en-US" dirty="0"/>
          </a:p>
        </p:txBody>
      </p:sp>
      <p:sp>
        <p:nvSpPr>
          <p:cNvPr id="3" name="Content Placeholder 2"/>
          <p:cNvSpPr>
            <a:spLocks noGrp="1"/>
          </p:cNvSpPr>
          <p:nvPr>
            <p:ph idx="1"/>
          </p:nvPr>
        </p:nvSpPr>
        <p:spPr>
          <a:xfrm>
            <a:off x="2022475" y="1366377"/>
            <a:ext cx="7556313" cy="4759787"/>
          </a:xfrm>
        </p:spPr>
        <p:txBody>
          <a:bodyPr>
            <a:normAutofit/>
          </a:bodyPr>
          <a:lstStyle/>
          <a:p>
            <a:pPr marL="0" indent="0">
              <a:buNone/>
            </a:pPr>
            <a:endParaRPr lang="en-US" dirty="0"/>
          </a:p>
        </p:txBody>
      </p:sp>
      <p:pic>
        <p:nvPicPr>
          <p:cNvPr id="4" name="Picture 3" descr="PDU TCP IP.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2474" y="1784327"/>
            <a:ext cx="7226300" cy="4115202"/>
          </a:xfrm>
          <a:prstGeom prst="rect">
            <a:avLst/>
          </a:prstGeom>
        </p:spPr>
      </p:pic>
      <p:pic>
        <p:nvPicPr>
          <p:cNvPr id="5" name="Picture 4">
            <a:extLst>
              <a:ext uri="{FF2B5EF4-FFF2-40B4-BE49-F238E27FC236}">
                <a16:creationId xmlns:a16="http://schemas.microsoft.com/office/drawing/2014/main" id="{E68EBC69-7D03-B946-B8A9-E6795E96B1C7}"/>
              </a:ext>
            </a:extLst>
          </p:cNvPr>
          <p:cNvPicPr>
            <a:picLocks noChangeAspect="1"/>
          </p:cNvPicPr>
          <p:nvPr/>
        </p:nvPicPr>
        <p:blipFill>
          <a:blip r:embed="rId4"/>
          <a:stretch>
            <a:fillRect/>
          </a:stretch>
        </p:blipFill>
        <p:spPr>
          <a:xfrm>
            <a:off x="10922000" y="-1078"/>
            <a:ext cx="1270000" cy="1270000"/>
          </a:xfrm>
          <a:prstGeom prst="rect">
            <a:avLst/>
          </a:prstGeom>
        </p:spPr>
      </p:pic>
    </p:spTree>
    <p:extLst>
      <p:ext uri="{BB962C8B-B14F-4D97-AF65-F5344CB8AC3E}">
        <p14:creationId xmlns:p14="http://schemas.microsoft.com/office/powerpoint/2010/main" val="2334909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71BC8-4DBE-B54B-9728-3F34B9930118}"/>
              </a:ext>
            </a:extLst>
          </p:cNvPr>
          <p:cNvSpPr>
            <a:spLocks noGrp="1"/>
          </p:cNvSpPr>
          <p:nvPr>
            <p:ph type="title"/>
          </p:nvPr>
        </p:nvSpPr>
        <p:spPr/>
        <p:txBody>
          <a:bodyPr/>
          <a:lstStyle/>
          <a:p>
            <a:r>
              <a:rPr lang="en-US" dirty="0"/>
              <a:t>Data Encapsulation in TCP/IP Model</a:t>
            </a:r>
          </a:p>
        </p:txBody>
      </p:sp>
      <p:pic>
        <p:nvPicPr>
          <p:cNvPr id="5" name="Content Placeholder 4">
            <a:extLst>
              <a:ext uri="{FF2B5EF4-FFF2-40B4-BE49-F238E27FC236}">
                <a16:creationId xmlns:a16="http://schemas.microsoft.com/office/drawing/2014/main" id="{13485689-4BE7-A345-9833-1A806457DCCB}"/>
              </a:ext>
            </a:extLst>
          </p:cNvPr>
          <p:cNvPicPr>
            <a:picLocks noGrp="1" noChangeAspect="1"/>
          </p:cNvPicPr>
          <p:nvPr>
            <p:ph idx="1"/>
          </p:nvPr>
        </p:nvPicPr>
        <p:blipFill>
          <a:blip r:embed="rId2"/>
          <a:stretch>
            <a:fillRect/>
          </a:stretch>
        </p:blipFill>
        <p:spPr>
          <a:xfrm>
            <a:off x="1854491" y="1825625"/>
            <a:ext cx="8483017" cy="4351338"/>
          </a:xfrm>
        </p:spPr>
      </p:pic>
      <p:pic>
        <p:nvPicPr>
          <p:cNvPr id="4" name="Picture 3">
            <a:extLst>
              <a:ext uri="{FF2B5EF4-FFF2-40B4-BE49-F238E27FC236}">
                <a16:creationId xmlns:a16="http://schemas.microsoft.com/office/drawing/2014/main" id="{648A9286-342A-2046-B89C-EE610BA029F5}"/>
              </a:ext>
            </a:extLst>
          </p:cNvPr>
          <p:cNvPicPr>
            <a:picLocks noChangeAspect="1"/>
          </p:cNvPicPr>
          <p:nvPr/>
        </p:nvPicPr>
        <p:blipFill>
          <a:blip r:embed="rId3"/>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1909782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3245-B58C-2C4E-846B-4F7D989C5784}"/>
              </a:ext>
            </a:extLst>
          </p:cNvPr>
          <p:cNvSpPr>
            <a:spLocks noGrp="1"/>
          </p:cNvSpPr>
          <p:nvPr>
            <p:ph type="ctrTitle"/>
          </p:nvPr>
        </p:nvSpPr>
        <p:spPr>
          <a:xfrm>
            <a:off x="1524000" y="1122363"/>
            <a:ext cx="9144000" cy="3688176"/>
          </a:xfrm>
        </p:spPr>
        <p:txBody>
          <a:bodyPr>
            <a:normAutofit/>
          </a:bodyPr>
          <a:lstStyle/>
          <a:p>
            <a:r>
              <a:rPr lang="en-US" dirty="0"/>
              <a:t>IP V4 SUBNETTING and VLSM (Variable Length Subnet Mask)</a:t>
            </a:r>
            <a:br>
              <a:rPr lang="en-US" dirty="0"/>
            </a:br>
            <a:endParaRPr lang="en-US" dirty="0"/>
          </a:p>
        </p:txBody>
      </p:sp>
    </p:spTree>
    <p:extLst>
      <p:ext uri="{BB962C8B-B14F-4D97-AF65-F5344CB8AC3E}">
        <p14:creationId xmlns:p14="http://schemas.microsoft.com/office/powerpoint/2010/main" val="9880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05A10-75FF-644B-B524-6B051A17EE7C}"/>
              </a:ext>
            </a:extLst>
          </p:cNvPr>
          <p:cNvSpPr>
            <a:spLocks noGrp="1"/>
          </p:cNvSpPr>
          <p:nvPr>
            <p:ph type="title"/>
          </p:nvPr>
        </p:nvSpPr>
        <p:spPr>
          <a:xfrm>
            <a:off x="838200" y="87601"/>
            <a:ext cx="10515600" cy="1325563"/>
          </a:xfrm>
        </p:spPr>
        <p:txBody>
          <a:bodyPr/>
          <a:lstStyle/>
          <a:p>
            <a:r>
              <a:rPr lang="en-US" dirty="0"/>
              <a:t>IPV4</a:t>
            </a:r>
          </a:p>
        </p:txBody>
      </p:sp>
      <p:sp>
        <p:nvSpPr>
          <p:cNvPr id="3" name="Content Placeholder 2">
            <a:extLst>
              <a:ext uri="{FF2B5EF4-FFF2-40B4-BE49-F238E27FC236}">
                <a16:creationId xmlns:a16="http://schemas.microsoft.com/office/drawing/2014/main" id="{2560F251-1A34-C943-A7C7-EA3651ADE5D3}"/>
              </a:ext>
            </a:extLst>
          </p:cNvPr>
          <p:cNvSpPr>
            <a:spLocks noGrp="1"/>
          </p:cNvSpPr>
          <p:nvPr>
            <p:ph idx="1"/>
          </p:nvPr>
        </p:nvSpPr>
        <p:spPr>
          <a:xfrm>
            <a:off x="838200" y="1413164"/>
            <a:ext cx="10515600" cy="4763799"/>
          </a:xfrm>
        </p:spPr>
        <p:txBody>
          <a:bodyPr>
            <a:normAutofit fontScale="92500" lnSpcReduction="20000"/>
          </a:bodyPr>
          <a:lstStyle/>
          <a:p>
            <a:pPr lvl="1">
              <a:lnSpc>
                <a:spcPct val="150000"/>
              </a:lnSpc>
            </a:pPr>
            <a:r>
              <a:rPr lang="en-US" sz="2800" dirty="0"/>
              <a:t>In IPv4, an address is a 32 bit quantity that uniquely identifies a network interface.</a:t>
            </a:r>
          </a:p>
          <a:p>
            <a:pPr lvl="1">
              <a:lnSpc>
                <a:spcPct val="150000"/>
              </a:lnSpc>
            </a:pPr>
            <a:endParaRPr lang="en-US" sz="2800" dirty="0"/>
          </a:p>
          <a:p>
            <a:pPr lvl="1">
              <a:lnSpc>
                <a:spcPct val="150000"/>
              </a:lnSpc>
            </a:pPr>
            <a:r>
              <a:rPr lang="en-US" sz="2800" dirty="0"/>
              <a:t>In IPv4 there are (2)</a:t>
            </a:r>
            <a:r>
              <a:rPr lang="en-US" sz="2800" baseline="30000" dirty="0"/>
              <a:t>32</a:t>
            </a:r>
            <a:r>
              <a:rPr lang="en-US" sz="2800" dirty="0"/>
              <a:t> = 4,294,967,296 unique addresses possible.</a:t>
            </a:r>
          </a:p>
          <a:p>
            <a:pPr marL="457200" lvl="1" indent="0">
              <a:lnSpc>
                <a:spcPct val="150000"/>
              </a:lnSpc>
              <a:buNone/>
            </a:pPr>
            <a:endParaRPr lang="en-US" sz="2800" dirty="0"/>
          </a:p>
          <a:p>
            <a:pPr lvl="1">
              <a:lnSpc>
                <a:spcPct val="150000"/>
              </a:lnSpc>
            </a:pPr>
            <a:r>
              <a:rPr lang="en-US" sz="2800" dirty="0"/>
              <a:t>IP addressing was designed to allow hosts on one network to communicate with a host on a different network regardless of the type of LANs the hosts are participating in.</a:t>
            </a:r>
          </a:p>
          <a:p>
            <a:pPr>
              <a:lnSpc>
                <a:spcPct val="150000"/>
              </a:lnSpc>
            </a:pPr>
            <a:endParaRPr lang="en-US" dirty="0"/>
          </a:p>
        </p:txBody>
      </p:sp>
      <p:pic>
        <p:nvPicPr>
          <p:cNvPr id="4" name="Picture 3">
            <a:extLst>
              <a:ext uri="{FF2B5EF4-FFF2-40B4-BE49-F238E27FC236}">
                <a16:creationId xmlns:a16="http://schemas.microsoft.com/office/drawing/2014/main" id="{3962FEB7-3634-5147-80B6-3A4373BE48BB}"/>
              </a:ext>
            </a:extLst>
          </p:cNvPr>
          <p:cNvPicPr>
            <a:picLocks noChangeAspect="1"/>
          </p:cNvPicPr>
          <p:nvPr/>
        </p:nvPicPr>
        <p:blipFill>
          <a:blip r:embed="rId2"/>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135128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322" y="166255"/>
            <a:ext cx="11364356" cy="6520295"/>
          </a:xfrm>
        </p:spPr>
        <p:txBody>
          <a:bodyPr>
            <a:noAutofit/>
          </a:bodyPr>
          <a:lstStyle/>
          <a:p>
            <a:pPr marL="228600" lvl="1" indent="0" algn="just">
              <a:lnSpc>
                <a:spcPct val="150000"/>
              </a:lnSpc>
              <a:buNone/>
            </a:pPr>
            <a:r>
              <a:rPr lang="en-US" sz="2600" b="1" dirty="0"/>
              <a:t>BIT:</a:t>
            </a:r>
            <a:r>
              <a:rPr lang="en-US" sz="2600" dirty="0"/>
              <a:t> A bit is one digit, either a 1 or a 0.</a:t>
            </a:r>
          </a:p>
          <a:p>
            <a:pPr marL="228600" lvl="1" indent="0" algn="just">
              <a:lnSpc>
                <a:spcPct val="150000"/>
              </a:lnSpc>
              <a:buNone/>
            </a:pPr>
            <a:r>
              <a:rPr lang="en-US" sz="2600" b="1" dirty="0"/>
              <a:t>BYTE:</a:t>
            </a:r>
            <a:r>
              <a:rPr lang="en-US" sz="2600" dirty="0"/>
              <a:t> A byte is 7 or 8 bits, depending on whether parity is used. </a:t>
            </a:r>
          </a:p>
          <a:p>
            <a:pPr marL="228600" lvl="1" indent="0" algn="just">
              <a:lnSpc>
                <a:spcPct val="150000"/>
              </a:lnSpc>
              <a:buNone/>
            </a:pPr>
            <a:r>
              <a:rPr lang="en-US" sz="2600" b="1" dirty="0"/>
              <a:t>OCTET: </a:t>
            </a:r>
            <a:r>
              <a:rPr lang="en-US" sz="2600" dirty="0"/>
              <a:t> An octet, made up of 8 bits, is just an ordinary 8-bit binary number.</a:t>
            </a:r>
          </a:p>
          <a:p>
            <a:pPr marL="228600" lvl="1" indent="0" algn="just">
              <a:lnSpc>
                <a:spcPct val="150000"/>
              </a:lnSpc>
              <a:buNone/>
            </a:pPr>
            <a:endParaRPr lang="en-US" sz="2600" dirty="0"/>
          </a:p>
          <a:p>
            <a:pPr marL="228600" lvl="1" indent="0" algn="just">
              <a:lnSpc>
                <a:spcPct val="150000"/>
              </a:lnSpc>
              <a:buNone/>
            </a:pPr>
            <a:r>
              <a:rPr lang="en-US" sz="2600" dirty="0"/>
              <a:t> </a:t>
            </a:r>
            <a:r>
              <a:rPr lang="en-US" sz="2600" b="1" dirty="0"/>
              <a:t>Network address: </a:t>
            </a:r>
            <a:r>
              <a:rPr lang="en-US" sz="2600" dirty="0"/>
              <a:t>This is the designation used in routing to send packets to a remote network—for example, 10.0.0.0, 172.16.0.0, and 192.168.10.0.</a:t>
            </a:r>
          </a:p>
          <a:p>
            <a:pPr marL="228600" lvl="1" indent="0" algn="just">
              <a:lnSpc>
                <a:spcPct val="150000"/>
              </a:lnSpc>
              <a:buNone/>
            </a:pPr>
            <a:r>
              <a:rPr lang="en-US" sz="2600" b="1" dirty="0"/>
              <a:t>Broadcast address: </a:t>
            </a:r>
            <a:r>
              <a:rPr lang="en-US" sz="2600" dirty="0"/>
              <a:t>The address used by applications and hosts to send information to all nodes on a network is called the broadcast address.</a:t>
            </a:r>
          </a:p>
          <a:p>
            <a:pPr marL="228600" lvl="1" indent="0" algn="just">
              <a:lnSpc>
                <a:spcPct val="150000"/>
              </a:lnSpc>
              <a:buNone/>
            </a:pPr>
            <a:r>
              <a:rPr lang="en-US" sz="2600" b="1" dirty="0"/>
              <a:t>CIDR</a:t>
            </a:r>
            <a:r>
              <a:rPr lang="en-US" sz="2600" dirty="0"/>
              <a:t> – (classless inter domain routing) total number of network bits.</a:t>
            </a:r>
          </a:p>
        </p:txBody>
      </p:sp>
      <p:pic>
        <p:nvPicPr>
          <p:cNvPr id="4" name="Picture 3">
            <a:extLst>
              <a:ext uri="{FF2B5EF4-FFF2-40B4-BE49-F238E27FC236}">
                <a16:creationId xmlns:a16="http://schemas.microsoft.com/office/drawing/2014/main" id="{C986AB99-6EE6-9841-8AC6-9304FBA62C80}"/>
              </a:ext>
            </a:extLst>
          </p:cNvPr>
          <p:cNvPicPr>
            <a:picLocks noChangeAspect="1"/>
          </p:cNvPicPr>
          <p:nvPr/>
        </p:nvPicPr>
        <p:blipFill>
          <a:blip r:embed="rId3"/>
          <a:stretch>
            <a:fillRect/>
          </a:stretch>
        </p:blipFill>
        <p:spPr>
          <a:xfrm>
            <a:off x="10825678" y="0"/>
            <a:ext cx="1270000" cy="1270000"/>
          </a:xfrm>
          <a:prstGeom prst="rect">
            <a:avLst/>
          </a:prstGeom>
        </p:spPr>
      </p:pic>
    </p:spTree>
    <p:extLst>
      <p:ext uri="{BB962C8B-B14F-4D97-AF65-F5344CB8AC3E}">
        <p14:creationId xmlns:p14="http://schemas.microsoft.com/office/powerpoint/2010/main" val="43323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IP Addressing</a:t>
            </a:r>
            <a:endParaRPr lang="en-US" dirty="0"/>
          </a:p>
        </p:txBody>
      </p:sp>
      <p:pic>
        <p:nvPicPr>
          <p:cNvPr id="4" name="Content Placeholder 3" descr="IP address.png"/>
          <p:cNvPicPr>
            <a:picLocks noGrp="1" noChangeAspect="1"/>
          </p:cNvPicPr>
          <p:nvPr>
            <p:ph idx="1"/>
          </p:nvPr>
        </p:nvPicPr>
        <p:blipFill>
          <a:blip r:embed="rId3">
            <a:extLst>
              <a:ext uri="{28A0092B-C50C-407E-A947-70E740481C1C}">
                <a14:useLocalDpi xmlns:a14="http://schemas.microsoft.com/office/drawing/2010/main" val="0"/>
              </a:ext>
            </a:extLst>
          </a:blip>
          <a:srcRect t="11094" b="11094"/>
          <a:stretch>
            <a:fillRect/>
          </a:stretch>
        </p:blipFill>
        <p:spPr/>
      </p:pic>
      <p:sp>
        <p:nvSpPr>
          <p:cNvPr id="5" name="Text Placeholder 4"/>
          <p:cNvSpPr>
            <a:spLocks noGrp="1"/>
          </p:cNvSpPr>
          <p:nvPr>
            <p:ph type="body" sz="half" idx="2"/>
          </p:nvPr>
        </p:nvSpPr>
        <p:spPr/>
        <p:txBody>
          <a:bodyPr/>
          <a:lstStyle/>
          <a:p>
            <a:r>
              <a:rPr lang="en-US" b="1" dirty="0">
                <a:solidFill>
                  <a:schemeClr val="tx1"/>
                </a:solidFill>
              </a:rPr>
              <a:t>How does IP address look like ?</a:t>
            </a:r>
          </a:p>
        </p:txBody>
      </p:sp>
      <p:pic>
        <p:nvPicPr>
          <p:cNvPr id="6" name="Picture 5">
            <a:extLst>
              <a:ext uri="{FF2B5EF4-FFF2-40B4-BE49-F238E27FC236}">
                <a16:creationId xmlns:a16="http://schemas.microsoft.com/office/drawing/2014/main" id="{A0B82422-3AB7-C645-931F-BA80F4D3A91E}"/>
              </a:ext>
            </a:extLst>
          </p:cNvPr>
          <p:cNvPicPr>
            <a:picLocks noChangeAspect="1"/>
          </p:cNvPicPr>
          <p:nvPr/>
        </p:nvPicPr>
        <p:blipFill>
          <a:blip r:embed="rId4"/>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3807647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IP Addressing</a:t>
            </a:r>
            <a:endParaRPr lang="en-US" dirty="0"/>
          </a:p>
        </p:txBody>
      </p:sp>
      <p:sp>
        <p:nvSpPr>
          <p:cNvPr id="3" name="Content Placeholder 2"/>
          <p:cNvSpPr>
            <a:spLocks noGrp="1"/>
          </p:cNvSpPr>
          <p:nvPr>
            <p:ph idx="1"/>
          </p:nvPr>
        </p:nvSpPr>
        <p:spPr>
          <a:xfrm>
            <a:off x="2022475" y="1371601"/>
            <a:ext cx="7556313" cy="4754563"/>
          </a:xfrm>
        </p:spPr>
        <p:txBody>
          <a:bodyPr>
            <a:noAutofit/>
          </a:bodyPr>
          <a:lstStyle/>
          <a:p>
            <a:r>
              <a:rPr lang="en-US" dirty="0"/>
              <a:t>Subdividing an IP address into a network and node address is determined by the class designation of one</a:t>
            </a:r>
            <a:r>
              <a:rPr lang="ja-JP" altLang="en-US" dirty="0"/>
              <a:t>’</a:t>
            </a:r>
            <a:r>
              <a:rPr lang="en-US" dirty="0"/>
              <a:t>s network. This figure summarizes the three classes of networks</a:t>
            </a:r>
          </a:p>
          <a:p>
            <a:endParaRPr lang="en-US" dirty="0"/>
          </a:p>
        </p:txBody>
      </p:sp>
      <p:pic>
        <p:nvPicPr>
          <p:cNvPr id="4" name="Picture 9" descr="f021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6501" y="3325814"/>
            <a:ext cx="6192308" cy="2800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4">
            <a:extLst>
              <a:ext uri="{FF2B5EF4-FFF2-40B4-BE49-F238E27FC236}">
                <a16:creationId xmlns:a16="http://schemas.microsoft.com/office/drawing/2014/main" id="{3DAF1538-61D4-8E42-82DC-F527E8A4CDE5}"/>
              </a:ext>
            </a:extLst>
          </p:cNvPr>
          <p:cNvPicPr>
            <a:picLocks noChangeAspect="1"/>
          </p:cNvPicPr>
          <p:nvPr/>
        </p:nvPicPr>
        <p:blipFill>
          <a:blip r:embed="rId4"/>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504870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25A9-FFD2-A441-B269-2AA119910AA9}"/>
              </a:ext>
            </a:extLst>
          </p:cNvPr>
          <p:cNvSpPr>
            <a:spLocks noGrp="1"/>
          </p:cNvSpPr>
          <p:nvPr>
            <p:ph type="title"/>
          </p:nvPr>
        </p:nvSpPr>
        <p:spPr/>
        <p:txBody>
          <a:bodyPr/>
          <a:lstStyle/>
          <a:p>
            <a:r>
              <a:rPr lang="en-US" dirty="0"/>
              <a:t>IP class range</a:t>
            </a:r>
          </a:p>
        </p:txBody>
      </p:sp>
      <p:graphicFrame>
        <p:nvGraphicFramePr>
          <p:cNvPr id="6" name="Table 5">
            <a:extLst>
              <a:ext uri="{FF2B5EF4-FFF2-40B4-BE49-F238E27FC236}">
                <a16:creationId xmlns:a16="http://schemas.microsoft.com/office/drawing/2014/main" id="{0B448630-6770-084D-AA35-82D7146D9E24}"/>
              </a:ext>
            </a:extLst>
          </p:cNvPr>
          <p:cNvGraphicFramePr>
            <a:graphicFrameLocks noGrp="1"/>
          </p:cNvGraphicFramePr>
          <p:nvPr>
            <p:extLst/>
          </p:nvPr>
        </p:nvGraphicFramePr>
        <p:xfrm>
          <a:off x="1093849" y="1932708"/>
          <a:ext cx="9783948" cy="2948051"/>
        </p:xfrm>
        <a:graphic>
          <a:graphicData uri="http://schemas.openxmlformats.org/drawingml/2006/table">
            <a:tbl>
              <a:tblPr firstRow="1" bandRow="1">
                <a:tableStyleId>{69CF1AB2-1976-4502-BF36-3FF5EA218861}</a:tableStyleId>
              </a:tblPr>
              <a:tblGrid>
                <a:gridCol w="3261316">
                  <a:extLst>
                    <a:ext uri="{9D8B030D-6E8A-4147-A177-3AD203B41FA5}">
                      <a16:colId xmlns:a16="http://schemas.microsoft.com/office/drawing/2014/main" val="3684188222"/>
                    </a:ext>
                  </a:extLst>
                </a:gridCol>
                <a:gridCol w="3261316">
                  <a:extLst>
                    <a:ext uri="{9D8B030D-6E8A-4147-A177-3AD203B41FA5}">
                      <a16:colId xmlns:a16="http://schemas.microsoft.com/office/drawing/2014/main" val="2092715067"/>
                    </a:ext>
                  </a:extLst>
                </a:gridCol>
                <a:gridCol w="3261316">
                  <a:extLst>
                    <a:ext uri="{9D8B030D-6E8A-4147-A177-3AD203B41FA5}">
                      <a16:colId xmlns:a16="http://schemas.microsoft.com/office/drawing/2014/main" val="3100926903"/>
                    </a:ext>
                  </a:extLst>
                </a:gridCol>
              </a:tblGrid>
              <a:tr h="438305">
                <a:tc>
                  <a:txBody>
                    <a:bodyPr/>
                    <a:lstStyle/>
                    <a:p>
                      <a:r>
                        <a:rPr lang="en-US" dirty="0"/>
                        <a:t>Class</a:t>
                      </a:r>
                    </a:p>
                  </a:txBody>
                  <a:tcPr/>
                </a:tc>
                <a:tc>
                  <a:txBody>
                    <a:bodyPr/>
                    <a:lstStyle/>
                    <a:p>
                      <a:r>
                        <a:rPr lang="en-US" dirty="0"/>
                        <a:t>1</a:t>
                      </a:r>
                      <a:r>
                        <a:rPr lang="en-US" baseline="30000" dirty="0"/>
                        <a:t>st</a:t>
                      </a:r>
                      <a:r>
                        <a:rPr lang="en-US" dirty="0"/>
                        <a:t> Octet Decimal Range</a:t>
                      </a:r>
                    </a:p>
                  </a:txBody>
                  <a:tcPr/>
                </a:tc>
                <a:tc>
                  <a:txBody>
                    <a:bodyPr/>
                    <a:lstStyle/>
                    <a:p>
                      <a:r>
                        <a:rPr lang="en-US" dirty="0"/>
                        <a:t>Default Subnet mask</a:t>
                      </a:r>
                    </a:p>
                  </a:txBody>
                  <a:tcPr/>
                </a:tc>
                <a:extLst>
                  <a:ext uri="{0D108BD9-81ED-4DB2-BD59-A6C34878D82A}">
                    <a16:rowId xmlns:a16="http://schemas.microsoft.com/office/drawing/2014/main" val="3754404115"/>
                  </a:ext>
                </a:extLst>
              </a:tr>
              <a:tr h="438305">
                <a:tc>
                  <a:txBody>
                    <a:bodyPr/>
                    <a:lstStyle/>
                    <a:p>
                      <a:r>
                        <a:rPr lang="en-US" dirty="0"/>
                        <a:t>A</a:t>
                      </a:r>
                    </a:p>
                  </a:txBody>
                  <a:tcPr/>
                </a:tc>
                <a:tc>
                  <a:txBody>
                    <a:bodyPr/>
                    <a:lstStyle/>
                    <a:p>
                      <a:r>
                        <a:rPr lang="en-US" dirty="0"/>
                        <a:t>1 – 126</a:t>
                      </a:r>
                    </a:p>
                  </a:txBody>
                  <a:tcPr/>
                </a:tc>
                <a:tc>
                  <a:txBody>
                    <a:bodyPr/>
                    <a:lstStyle/>
                    <a:p>
                      <a:r>
                        <a:rPr lang="en-US" dirty="0"/>
                        <a:t>255.0.0.0</a:t>
                      </a:r>
                    </a:p>
                  </a:txBody>
                  <a:tcPr/>
                </a:tc>
                <a:extLst>
                  <a:ext uri="{0D108BD9-81ED-4DB2-BD59-A6C34878D82A}">
                    <a16:rowId xmlns:a16="http://schemas.microsoft.com/office/drawing/2014/main" val="1383701399"/>
                  </a:ext>
                </a:extLst>
              </a:tr>
              <a:tr h="438305">
                <a:tc>
                  <a:txBody>
                    <a:bodyPr/>
                    <a:lstStyle/>
                    <a:p>
                      <a:r>
                        <a:rPr lang="en-US" dirty="0"/>
                        <a:t>B</a:t>
                      </a:r>
                    </a:p>
                  </a:txBody>
                  <a:tcPr/>
                </a:tc>
                <a:tc>
                  <a:txBody>
                    <a:bodyPr/>
                    <a:lstStyle/>
                    <a:p>
                      <a:r>
                        <a:rPr lang="en-US" dirty="0"/>
                        <a:t>128 - 191</a:t>
                      </a:r>
                    </a:p>
                  </a:txBody>
                  <a:tcPr/>
                </a:tc>
                <a:tc>
                  <a:txBody>
                    <a:bodyPr/>
                    <a:lstStyle/>
                    <a:p>
                      <a:r>
                        <a:rPr lang="en-US" dirty="0"/>
                        <a:t>255.255.0.0</a:t>
                      </a:r>
                    </a:p>
                  </a:txBody>
                  <a:tcPr/>
                </a:tc>
                <a:extLst>
                  <a:ext uri="{0D108BD9-81ED-4DB2-BD59-A6C34878D82A}">
                    <a16:rowId xmlns:a16="http://schemas.microsoft.com/office/drawing/2014/main" val="1393718438"/>
                  </a:ext>
                </a:extLst>
              </a:tr>
              <a:tr h="438305">
                <a:tc>
                  <a:txBody>
                    <a:bodyPr/>
                    <a:lstStyle/>
                    <a:p>
                      <a:r>
                        <a:rPr lang="en-US" dirty="0"/>
                        <a:t>C</a:t>
                      </a:r>
                    </a:p>
                  </a:txBody>
                  <a:tcPr/>
                </a:tc>
                <a:tc>
                  <a:txBody>
                    <a:bodyPr/>
                    <a:lstStyle/>
                    <a:p>
                      <a:r>
                        <a:rPr lang="en-US" dirty="0"/>
                        <a:t>192 - 223</a:t>
                      </a:r>
                    </a:p>
                  </a:txBody>
                  <a:tcPr/>
                </a:tc>
                <a:tc>
                  <a:txBody>
                    <a:bodyPr/>
                    <a:lstStyle/>
                    <a:p>
                      <a:r>
                        <a:rPr lang="en-US" dirty="0"/>
                        <a:t>255.255.255.0</a:t>
                      </a:r>
                    </a:p>
                  </a:txBody>
                  <a:tcPr/>
                </a:tc>
                <a:extLst>
                  <a:ext uri="{0D108BD9-81ED-4DB2-BD59-A6C34878D82A}">
                    <a16:rowId xmlns:a16="http://schemas.microsoft.com/office/drawing/2014/main" val="3468981593"/>
                  </a:ext>
                </a:extLst>
              </a:tr>
              <a:tr h="438305">
                <a:tc>
                  <a:txBody>
                    <a:bodyPr/>
                    <a:lstStyle/>
                    <a:p>
                      <a:r>
                        <a:rPr lang="en-US" dirty="0"/>
                        <a:t>D</a:t>
                      </a:r>
                    </a:p>
                  </a:txBody>
                  <a:tcPr/>
                </a:tc>
                <a:tc>
                  <a:txBody>
                    <a:bodyPr/>
                    <a:lstStyle/>
                    <a:p>
                      <a:r>
                        <a:rPr lang="en-US" dirty="0"/>
                        <a:t>224 - 239</a:t>
                      </a:r>
                    </a:p>
                  </a:txBody>
                  <a:tcPr/>
                </a:tc>
                <a:tc>
                  <a:txBody>
                    <a:bodyPr/>
                    <a:lstStyle/>
                    <a:p>
                      <a:r>
                        <a:rPr lang="en-US" dirty="0"/>
                        <a:t>Reserved for multicasting</a:t>
                      </a:r>
                    </a:p>
                  </a:txBody>
                  <a:tcPr/>
                </a:tc>
                <a:extLst>
                  <a:ext uri="{0D108BD9-81ED-4DB2-BD59-A6C34878D82A}">
                    <a16:rowId xmlns:a16="http://schemas.microsoft.com/office/drawing/2014/main" val="2360993894"/>
                  </a:ext>
                </a:extLst>
              </a:tr>
              <a:tr h="756526">
                <a:tc>
                  <a:txBody>
                    <a:bodyPr/>
                    <a:lstStyle/>
                    <a:p>
                      <a:r>
                        <a:rPr lang="en-US" dirty="0"/>
                        <a:t>E</a:t>
                      </a:r>
                    </a:p>
                  </a:txBody>
                  <a:tcPr/>
                </a:tc>
                <a:tc>
                  <a:txBody>
                    <a:bodyPr/>
                    <a:lstStyle/>
                    <a:p>
                      <a:r>
                        <a:rPr lang="en-US" dirty="0"/>
                        <a:t>240 - 254</a:t>
                      </a:r>
                    </a:p>
                  </a:txBody>
                  <a:tcPr/>
                </a:tc>
                <a:tc>
                  <a:txBody>
                    <a:bodyPr/>
                    <a:lstStyle/>
                    <a:p>
                      <a:r>
                        <a:rPr lang="en-US" dirty="0"/>
                        <a:t>Experimental, used for research</a:t>
                      </a:r>
                    </a:p>
                  </a:txBody>
                  <a:tcPr/>
                </a:tc>
                <a:extLst>
                  <a:ext uri="{0D108BD9-81ED-4DB2-BD59-A6C34878D82A}">
                    <a16:rowId xmlns:a16="http://schemas.microsoft.com/office/drawing/2014/main" val="3559502564"/>
                  </a:ext>
                </a:extLst>
              </a:tr>
            </a:tbl>
          </a:graphicData>
        </a:graphic>
      </p:graphicFrame>
      <p:pic>
        <p:nvPicPr>
          <p:cNvPr id="4" name="Picture 3">
            <a:extLst>
              <a:ext uri="{FF2B5EF4-FFF2-40B4-BE49-F238E27FC236}">
                <a16:creationId xmlns:a16="http://schemas.microsoft.com/office/drawing/2014/main" id="{A7824729-DFB4-CE4B-A389-716F392D9264}"/>
              </a:ext>
            </a:extLst>
          </p:cNvPr>
          <p:cNvPicPr>
            <a:picLocks noChangeAspect="1"/>
          </p:cNvPicPr>
          <p:nvPr/>
        </p:nvPicPr>
        <p:blipFill>
          <a:blip r:embed="rId2"/>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2293341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IP Addressing</a:t>
            </a:r>
            <a:endParaRPr lang="en-US" dirty="0"/>
          </a:p>
        </p:txBody>
      </p:sp>
      <p:pic>
        <p:nvPicPr>
          <p:cNvPr id="7" name="Content Placeholder 6">
            <a:extLst>
              <a:ext uri="{FF2B5EF4-FFF2-40B4-BE49-F238E27FC236}">
                <a16:creationId xmlns:a16="http://schemas.microsoft.com/office/drawing/2014/main" id="{EE422E17-3952-FD43-9625-14575F612715}"/>
              </a:ext>
            </a:extLst>
          </p:cNvPr>
          <p:cNvPicPr>
            <a:picLocks noGrp="1" noChangeAspect="1"/>
          </p:cNvPicPr>
          <p:nvPr>
            <p:ph idx="1"/>
          </p:nvPr>
        </p:nvPicPr>
        <p:blipFill>
          <a:blip r:embed="rId3"/>
          <a:stretch>
            <a:fillRect/>
          </a:stretch>
        </p:blipFill>
        <p:spPr>
          <a:xfrm>
            <a:off x="1122158" y="2590800"/>
            <a:ext cx="10231642" cy="2680494"/>
          </a:xfrm>
        </p:spPr>
      </p:pic>
      <p:pic>
        <p:nvPicPr>
          <p:cNvPr id="4" name="Picture 3">
            <a:extLst>
              <a:ext uri="{FF2B5EF4-FFF2-40B4-BE49-F238E27FC236}">
                <a16:creationId xmlns:a16="http://schemas.microsoft.com/office/drawing/2014/main" id="{36823228-0546-B545-8085-17BCE77B7B8C}"/>
              </a:ext>
            </a:extLst>
          </p:cNvPr>
          <p:cNvPicPr>
            <a:picLocks noChangeAspect="1"/>
          </p:cNvPicPr>
          <p:nvPr/>
        </p:nvPicPr>
        <p:blipFill>
          <a:blip r:embed="rId4"/>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2143390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IP Addressing</a:t>
            </a:r>
            <a:endParaRPr lang="en-US" dirty="0"/>
          </a:p>
        </p:txBody>
      </p:sp>
      <p:sp>
        <p:nvSpPr>
          <p:cNvPr id="3" name="Content Placeholder 2"/>
          <p:cNvSpPr>
            <a:spLocks noGrp="1"/>
          </p:cNvSpPr>
          <p:nvPr>
            <p:ph idx="1"/>
          </p:nvPr>
        </p:nvSpPr>
        <p:spPr/>
        <p:txBody>
          <a:bodyPr>
            <a:noAutofit/>
          </a:bodyPr>
          <a:lstStyle/>
          <a:p>
            <a:pPr marL="0" indent="0">
              <a:buNone/>
            </a:pPr>
            <a:endParaRPr lang="en-US" dirty="0"/>
          </a:p>
          <a:p>
            <a:pPr marL="0" indent="0">
              <a:buNone/>
            </a:pPr>
            <a:endParaRPr lang="en-US" dirty="0"/>
          </a:p>
        </p:txBody>
      </p:sp>
      <p:sp>
        <p:nvSpPr>
          <p:cNvPr id="4" name="Text Placeholder 3"/>
          <p:cNvSpPr>
            <a:spLocks noGrp="1"/>
          </p:cNvSpPr>
          <p:nvPr>
            <p:ph type="body" sz="half" idx="2"/>
          </p:nvPr>
        </p:nvSpPr>
        <p:spPr/>
        <p:txBody>
          <a:bodyPr/>
          <a:lstStyle/>
          <a:p>
            <a:r>
              <a:rPr lang="en-US" b="1" dirty="0"/>
              <a:t>IP Address Format in Dotted Decimal</a:t>
            </a:r>
            <a:endParaRPr lang="en-US" dirty="0"/>
          </a:p>
        </p:txBody>
      </p:sp>
      <p:pic>
        <p:nvPicPr>
          <p:cNvPr id="6" name="Picture 5" descr="dotted 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7300" y="1981200"/>
            <a:ext cx="7124700" cy="3657600"/>
          </a:xfrm>
          <a:prstGeom prst="rect">
            <a:avLst/>
          </a:prstGeom>
        </p:spPr>
      </p:pic>
      <p:pic>
        <p:nvPicPr>
          <p:cNvPr id="7" name="Picture 6">
            <a:extLst>
              <a:ext uri="{FF2B5EF4-FFF2-40B4-BE49-F238E27FC236}">
                <a16:creationId xmlns:a16="http://schemas.microsoft.com/office/drawing/2014/main" id="{78129384-A3C4-0A41-BD9D-20569AB07191}"/>
              </a:ext>
            </a:extLst>
          </p:cNvPr>
          <p:cNvPicPr>
            <a:picLocks noChangeAspect="1"/>
          </p:cNvPicPr>
          <p:nvPr/>
        </p:nvPicPr>
        <p:blipFill>
          <a:blip r:embed="rId4"/>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2746384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IP Addressing</a:t>
            </a:r>
            <a:endParaRPr lang="en-US" dirty="0"/>
          </a:p>
        </p:txBody>
      </p:sp>
      <p:sp>
        <p:nvSpPr>
          <p:cNvPr id="3" name="Content Placeholder 2"/>
          <p:cNvSpPr>
            <a:spLocks noGrp="1"/>
          </p:cNvSpPr>
          <p:nvPr>
            <p:ph idx="1"/>
          </p:nvPr>
        </p:nvSpPr>
        <p:spPr/>
        <p:txBody>
          <a:bodyPr>
            <a:noAutofit/>
          </a:bodyPr>
          <a:lstStyle/>
          <a:p>
            <a:pPr marL="0" indent="0">
              <a:buNone/>
            </a:pPr>
            <a:endParaRPr lang="en-US" dirty="0"/>
          </a:p>
          <a:p>
            <a:pPr marL="0" indent="0">
              <a:buNone/>
            </a:pPr>
            <a:endParaRPr lang="en-US" dirty="0"/>
          </a:p>
        </p:txBody>
      </p:sp>
      <p:sp>
        <p:nvSpPr>
          <p:cNvPr id="4" name="Text Placeholder 3"/>
          <p:cNvSpPr>
            <a:spLocks noGrp="1"/>
          </p:cNvSpPr>
          <p:nvPr>
            <p:ph type="body" sz="half" idx="2"/>
          </p:nvPr>
        </p:nvSpPr>
        <p:spPr/>
        <p:txBody>
          <a:bodyPr/>
          <a:lstStyle/>
          <a:p>
            <a:r>
              <a:rPr lang="en-US" b="1" dirty="0"/>
              <a:t>IP Address Format in Dotted Decimal</a:t>
            </a:r>
            <a:endParaRPr lang="en-US" dirty="0"/>
          </a:p>
        </p:txBody>
      </p:sp>
      <p:pic>
        <p:nvPicPr>
          <p:cNvPr id="5" name="Picture 4" descr="dotted 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5187" y="1719263"/>
            <a:ext cx="7213600" cy="4406900"/>
          </a:xfrm>
          <a:prstGeom prst="rect">
            <a:avLst/>
          </a:prstGeom>
        </p:spPr>
      </p:pic>
      <p:pic>
        <p:nvPicPr>
          <p:cNvPr id="6" name="Picture 5">
            <a:extLst>
              <a:ext uri="{FF2B5EF4-FFF2-40B4-BE49-F238E27FC236}">
                <a16:creationId xmlns:a16="http://schemas.microsoft.com/office/drawing/2014/main" id="{9C3A65D6-73CD-C549-8A83-9CE206E51CC9}"/>
              </a:ext>
            </a:extLst>
          </p:cNvPr>
          <p:cNvPicPr>
            <a:picLocks noChangeAspect="1"/>
          </p:cNvPicPr>
          <p:nvPr/>
        </p:nvPicPr>
        <p:blipFill>
          <a:blip r:embed="rId4"/>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3663611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IP Addressing</a:t>
            </a:r>
            <a:endParaRPr lang="en-US" dirty="0"/>
          </a:p>
        </p:txBody>
      </p:sp>
      <p:sp>
        <p:nvSpPr>
          <p:cNvPr id="3" name="Content Placeholder 2"/>
          <p:cNvSpPr>
            <a:spLocks noGrp="1"/>
          </p:cNvSpPr>
          <p:nvPr>
            <p:ph idx="1"/>
          </p:nvPr>
        </p:nvSpPr>
        <p:spPr/>
        <p:txBody>
          <a:bodyPr>
            <a:noAutofit/>
          </a:bodyPr>
          <a:lstStyle/>
          <a:p>
            <a:pPr marL="0" indent="0">
              <a:buNone/>
            </a:pPr>
            <a:endParaRPr lang="en-US" dirty="0"/>
          </a:p>
          <a:p>
            <a:pPr marL="0" indent="0">
              <a:buNone/>
            </a:pPr>
            <a:endParaRPr lang="en-US" dirty="0"/>
          </a:p>
        </p:txBody>
      </p:sp>
      <p:sp>
        <p:nvSpPr>
          <p:cNvPr id="4" name="Text Placeholder 3"/>
          <p:cNvSpPr>
            <a:spLocks noGrp="1"/>
          </p:cNvSpPr>
          <p:nvPr>
            <p:ph type="body" sz="half" idx="2"/>
          </p:nvPr>
        </p:nvSpPr>
        <p:spPr/>
        <p:txBody>
          <a:bodyPr/>
          <a:lstStyle/>
          <a:p>
            <a:r>
              <a:rPr lang="en-US" b="1" dirty="0"/>
              <a:t>IP Address Format in Dotted Decimal</a:t>
            </a:r>
            <a:endParaRPr lang="en-US" dirty="0"/>
          </a:p>
        </p:txBody>
      </p:sp>
      <p:pic>
        <p:nvPicPr>
          <p:cNvPr id="6" name="Picture 5" descr="dotted 3.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9500" y="1719263"/>
            <a:ext cx="7086600" cy="4406900"/>
          </a:xfrm>
          <a:prstGeom prst="rect">
            <a:avLst/>
          </a:prstGeom>
        </p:spPr>
      </p:pic>
      <p:pic>
        <p:nvPicPr>
          <p:cNvPr id="7" name="Picture 6">
            <a:extLst>
              <a:ext uri="{FF2B5EF4-FFF2-40B4-BE49-F238E27FC236}">
                <a16:creationId xmlns:a16="http://schemas.microsoft.com/office/drawing/2014/main" id="{CD2D2905-8F7C-E840-BA14-B1FE5F631F85}"/>
              </a:ext>
            </a:extLst>
          </p:cNvPr>
          <p:cNvPicPr>
            <a:picLocks noChangeAspect="1"/>
          </p:cNvPicPr>
          <p:nvPr/>
        </p:nvPicPr>
        <p:blipFill>
          <a:blip r:embed="rId4"/>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11839276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IP Addressing</a:t>
            </a:r>
            <a:endParaRPr lang="en-US" dirty="0"/>
          </a:p>
        </p:txBody>
      </p:sp>
      <p:sp>
        <p:nvSpPr>
          <p:cNvPr id="3" name="Content Placeholder 2"/>
          <p:cNvSpPr>
            <a:spLocks noGrp="1"/>
          </p:cNvSpPr>
          <p:nvPr>
            <p:ph idx="1"/>
          </p:nvPr>
        </p:nvSpPr>
        <p:spPr/>
        <p:txBody>
          <a:bodyPr>
            <a:noAutofit/>
          </a:bodyPr>
          <a:lstStyle/>
          <a:p>
            <a:pPr marL="0" indent="0">
              <a:buNone/>
            </a:pPr>
            <a:endParaRPr lang="en-US" dirty="0"/>
          </a:p>
          <a:p>
            <a:pPr marL="0" indent="0">
              <a:buNone/>
            </a:pPr>
            <a:endParaRPr lang="en-US" dirty="0"/>
          </a:p>
        </p:txBody>
      </p:sp>
      <p:sp>
        <p:nvSpPr>
          <p:cNvPr id="4" name="Text Placeholder 3"/>
          <p:cNvSpPr>
            <a:spLocks noGrp="1"/>
          </p:cNvSpPr>
          <p:nvPr>
            <p:ph type="body" sz="half" idx="2"/>
          </p:nvPr>
        </p:nvSpPr>
        <p:spPr/>
        <p:txBody>
          <a:bodyPr/>
          <a:lstStyle/>
          <a:p>
            <a:r>
              <a:rPr lang="en-US" b="1" dirty="0"/>
              <a:t>IP Address Format in Dotted Decimal</a:t>
            </a:r>
            <a:endParaRPr lang="en-US" dirty="0"/>
          </a:p>
        </p:txBody>
      </p:sp>
      <p:pic>
        <p:nvPicPr>
          <p:cNvPr id="5" name="Picture 4" descr="dotted 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3587" y="1904253"/>
            <a:ext cx="7315200" cy="4381500"/>
          </a:xfrm>
          <a:prstGeom prst="rect">
            <a:avLst/>
          </a:prstGeom>
        </p:spPr>
      </p:pic>
      <p:pic>
        <p:nvPicPr>
          <p:cNvPr id="6" name="Picture 5">
            <a:extLst>
              <a:ext uri="{FF2B5EF4-FFF2-40B4-BE49-F238E27FC236}">
                <a16:creationId xmlns:a16="http://schemas.microsoft.com/office/drawing/2014/main" id="{3D679654-49C5-DE41-A0F8-C6BA57EA2F57}"/>
              </a:ext>
            </a:extLst>
          </p:cNvPr>
          <p:cNvPicPr>
            <a:picLocks noChangeAspect="1"/>
          </p:cNvPicPr>
          <p:nvPr/>
        </p:nvPicPr>
        <p:blipFill>
          <a:blip r:embed="rId4"/>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610083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1F5B-893F-5246-8823-F3B04777A461}"/>
              </a:ext>
            </a:extLst>
          </p:cNvPr>
          <p:cNvSpPr>
            <a:spLocks noGrp="1"/>
          </p:cNvSpPr>
          <p:nvPr>
            <p:ph type="title"/>
          </p:nvPr>
        </p:nvSpPr>
        <p:spPr/>
        <p:txBody>
          <a:bodyPr/>
          <a:lstStyle/>
          <a:p>
            <a:r>
              <a:rPr lang="en-US" dirty="0"/>
              <a:t>4 Questions….</a:t>
            </a:r>
          </a:p>
        </p:txBody>
      </p:sp>
      <p:sp>
        <p:nvSpPr>
          <p:cNvPr id="3" name="Content Placeholder 2">
            <a:extLst>
              <a:ext uri="{FF2B5EF4-FFF2-40B4-BE49-F238E27FC236}">
                <a16:creationId xmlns:a16="http://schemas.microsoft.com/office/drawing/2014/main" id="{F640C298-7D07-F145-AA34-3B1E25C55893}"/>
              </a:ext>
            </a:extLst>
          </p:cNvPr>
          <p:cNvSpPr>
            <a:spLocks noGrp="1"/>
          </p:cNvSpPr>
          <p:nvPr>
            <p:ph idx="1"/>
          </p:nvPr>
        </p:nvSpPr>
        <p:spPr/>
        <p:txBody>
          <a:bodyPr/>
          <a:lstStyle/>
          <a:p>
            <a:pPr marL="0" indent="0">
              <a:buNone/>
            </a:pPr>
            <a:r>
              <a:rPr lang="en-US" dirty="0"/>
              <a:t>Process of diving a large network into multiple small networks.</a:t>
            </a:r>
          </a:p>
          <a:p>
            <a:endParaRPr lang="en-US" dirty="0"/>
          </a:p>
          <a:p>
            <a:pPr marL="514350" indent="-514350">
              <a:buFont typeface="+mj-lt"/>
              <a:buAutoNum type="arabicPeriod"/>
            </a:pPr>
            <a:r>
              <a:rPr lang="en-US" dirty="0"/>
              <a:t>What is the </a:t>
            </a:r>
            <a:r>
              <a:rPr lang="en-US" b="1" dirty="0"/>
              <a:t>Subnet mask</a:t>
            </a:r>
            <a:r>
              <a:rPr lang="en-US" dirty="0"/>
              <a:t>?</a:t>
            </a:r>
          </a:p>
          <a:p>
            <a:pPr marL="514350" indent="-514350">
              <a:buFont typeface="+mj-lt"/>
              <a:buAutoNum type="arabicPeriod"/>
            </a:pPr>
            <a:r>
              <a:rPr lang="en-US" dirty="0"/>
              <a:t>What is the </a:t>
            </a:r>
            <a:r>
              <a:rPr lang="en-US" b="1" dirty="0"/>
              <a:t>number of network</a:t>
            </a:r>
            <a:r>
              <a:rPr lang="en-US" dirty="0"/>
              <a:t>?</a:t>
            </a:r>
          </a:p>
          <a:p>
            <a:pPr marL="514350" indent="-514350">
              <a:buFont typeface="+mj-lt"/>
              <a:buAutoNum type="arabicPeriod"/>
            </a:pPr>
            <a:r>
              <a:rPr lang="en-US" dirty="0"/>
              <a:t>What is the </a:t>
            </a:r>
            <a:r>
              <a:rPr lang="en-US" b="1" dirty="0"/>
              <a:t>number of hosts</a:t>
            </a:r>
            <a:r>
              <a:rPr lang="en-US" dirty="0"/>
              <a:t>?</a:t>
            </a:r>
          </a:p>
          <a:p>
            <a:pPr marL="514350" indent="-514350">
              <a:buFont typeface="+mj-lt"/>
              <a:buAutoNum type="arabicPeriod"/>
            </a:pPr>
            <a:r>
              <a:rPr lang="en-US" dirty="0"/>
              <a:t>How many </a:t>
            </a:r>
            <a:r>
              <a:rPr lang="en-US" b="1" dirty="0"/>
              <a:t>valid host</a:t>
            </a:r>
            <a:r>
              <a:rPr lang="en-US" dirty="0"/>
              <a:t> are there?</a:t>
            </a:r>
          </a:p>
        </p:txBody>
      </p:sp>
      <p:pic>
        <p:nvPicPr>
          <p:cNvPr id="4" name="Picture 3">
            <a:extLst>
              <a:ext uri="{FF2B5EF4-FFF2-40B4-BE49-F238E27FC236}">
                <a16:creationId xmlns:a16="http://schemas.microsoft.com/office/drawing/2014/main" id="{8D418617-5CE5-DA47-835F-07A38404520D}"/>
              </a:ext>
            </a:extLst>
          </p:cNvPr>
          <p:cNvPicPr>
            <a:picLocks noChangeAspect="1"/>
          </p:cNvPicPr>
          <p:nvPr/>
        </p:nvPicPr>
        <p:blipFill>
          <a:blip r:embed="rId2"/>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17761598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4AB8-F62D-1B45-B350-27DBEAA39341}"/>
              </a:ext>
            </a:extLst>
          </p:cNvPr>
          <p:cNvSpPr>
            <a:spLocks noGrp="1"/>
          </p:cNvSpPr>
          <p:nvPr>
            <p:ph type="title"/>
          </p:nvPr>
        </p:nvSpPr>
        <p:spPr/>
        <p:txBody>
          <a:bodyPr/>
          <a:lstStyle/>
          <a:p>
            <a:r>
              <a:rPr lang="en-US" dirty="0"/>
              <a:t>subnetting</a:t>
            </a:r>
          </a:p>
        </p:txBody>
      </p:sp>
      <p:sp>
        <p:nvSpPr>
          <p:cNvPr id="3" name="Content Placeholder 2">
            <a:extLst>
              <a:ext uri="{FF2B5EF4-FFF2-40B4-BE49-F238E27FC236}">
                <a16:creationId xmlns:a16="http://schemas.microsoft.com/office/drawing/2014/main" id="{4A71CFB3-913C-0D4A-B656-623789A763CD}"/>
              </a:ext>
            </a:extLst>
          </p:cNvPr>
          <p:cNvSpPr>
            <a:spLocks noGrp="1"/>
          </p:cNvSpPr>
          <p:nvPr>
            <p:ph idx="1"/>
          </p:nvPr>
        </p:nvSpPr>
        <p:spPr/>
        <p:txBody>
          <a:bodyPr/>
          <a:lstStyle/>
          <a:p>
            <a:endParaRPr lang="en-US" dirty="0"/>
          </a:p>
        </p:txBody>
      </p:sp>
      <p:sp>
        <p:nvSpPr>
          <p:cNvPr id="4" name="Text Placeholder 3">
            <a:extLst>
              <a:ext uri="{FF2B5EF4-FFF2-40B4-BE49-F238E27FC236}">
                <a16:creationId xmlns:a16="http://schemas.microsoft.com/office/drawing/2014/main" id="{E0C10910-F5BB-DF41-9921-076E3F3F0C03}"/>
              </a:ext>
            </a:extLst>
          </p:cNvPr>
          <p:cNvSpPr>
            <a:spLocks noGrp="1"/>
          </p:cNvSpPr>
          <p:nvPr>
            <p:ph type="body" sz="half" idx="2"/>
          </p:nvPr>
        </p:nvSpPr>
        <p:spPr/>
        <p:txBody>
          <a:bodyPr/>
          <a:lstStyle/>
          <a:p>
            <a:endParaRPr lang="en-US" dirty="0"/>
          </a:p>
        </p:txBody>
      </p:sp>
      <p:graphicFrame>
        <p:nvGraphicFramePr>
          <p:cNvPr id="5" name="Table 4">
            <a:extLst>
              <a:ext uri="{FF2B5EF4-FFF2-40B4-BE49-F238E27FC236}">
                <a16:creationId xmlns:a16="http://schemas.microsoft.com/office/drawing/2014/main" id="{AF0CAC93-5F30-774C-99CE-63606BBC26F8}"/>
              </a:ext>
            </a:extLst>
          </p:cNvPr>
          <p:cNvGraphicFramePr>
            <a:graphicFrameLocks noGrp="1"/>
          </p:cNvGraphicFramePr>
          <p:nvPr>
            <p:extLst/>
          </p:nvPr>
        </p:nvGraphicFramePr>
        <p:xfrm>
          <a:off x="506700" y="1864940"/>
          <a:ext cx="11178600" cy="4351337"/>
        </p:xfrm>
        <a:graphic>
          <a:graphicData uri="http://schemas.openxmlformats.org/drawingml/2006/table">
            <a:tbl>
              <a:tblPr firstRow="1" bandRow="1">
                <a:tableStyleId>{69CF1AB2-1976-4502-BF36-3FF5EA218861}</a:tableStyleId>
              </a:tblPr>
              <a:tblGrid>
                <a:gridCol w="1401287">
                  <a:extLst>
                    <a:ext uri="{9D8B030D-6E8A-4147-A177-3AD203B41FA5}">
                      <a16:colId xmlns:a16="http://schemas.microsoft.com/office/drawing/2014/main" val="2135427122"/>
                    </a:ext>
                  </a:extLst>
                </a:gridCol>
                <a:gridCol w="1448790">
                  <a:extLst>
                    <a:ext uri="{9D8B030D-6E8A-4147-A177-3AD203B41FA5}">
                      <a16:colId xmlns:a16="http://schemas.microsoft.com/office/drawing/2014/main" val="638071670"/>
                    </a:ext>
                  </a:extLst>
                </a:gridCol>
                <a:gridCol w="1033153">
                  <a:extLst>
                    <a:ext uri="{9D8B030D-6E8A-4147-A177-3AD203B41FA5}">
                      <a16:colId xmlns:a16="http://schemas.microsoft.com/office/drawing/2014/main" val="2241555636"/>
                    </a:ext>
                  </a:extLst>
                </a:gridCol>
                <a:gridCol w="1045028">
                  <a:extLst>
                    <a:ext uri="{9D8B030D-6E8A-4147-A177-3AD203B41FA5}">
                      <a16:colId xmlns:a16="http://schemas.microsoft.com/office/drawing/2014/main" val="4105824466"/>
                    </a:ext>
                  </a:extLst>
                </a:gridCol>
                <a:gridCol w="1009403">
                  <a:extLst>
                    <a:ext uri="{9D8B030D-6E8A-4147-A177-3AD203B41FA5}">
                      <a16:colId xmlns:a16="http://schemas.microsoft.com/office/drawing/2014/main" val="1884558007"/>
                    </a:ext>
                  </a:extLst>
                </a:gridCol>
                <a:gridCol w="1068779">
                  <a:extLst>
                    <a:ext uri="{9D8B030D-6E8A-4147-A177-3AD203B41FA5}">
                      <a16:colId xmlns:a16="http://schemas.microsoft.com/office/drawing/2014/main" val="3086092691"/>
                    </a:ext>
                  </a:extLst>
                </a:gridCol>
                <a:gridCol w="997528">
                  <a:extLst>
                    <a:ext uri="{9D8B030D-6E8A-4147-A177-3AD203B41FA5}">
                      <a16:colId xmlns:a16="http://schemas.microsoft.com/office/drawing/2014/main" val="1170720267"/>
                    </a:ext>
                  </a:extLst>
                </a:gridCol>
                <a:gridCol w="1056903">
                  <a:extLst>
                    <a:ext uri="{9D8B030D-6E8A-4147-A177-3AD203B41FA5}">
                      <a16:colId xmlns:a16="http://schemas.microsoft.com/office/drawing/2014/main" val="310983400"/>
                    </a:ext>
                  </a:extLst>
                </a:gridCol>
                <a:gridCol w="1068780">
                  <a:extLst>
                    <a:ext uri="{9D8B030D-6E8A-4147-A177-3AD203B41FA5}">
                      <a16:colId xmlns:a16="http://schemas.microsoft.com/office/drawing/2014/main" val="3543753610"/>
                    </a:ext>
                  </a:extLst>
                </a:gridCol>
                <a:gridCol w="1048949">
                  <a:extLst>
                    <a:ext uri="{9D8B030D-6E8A-4147-A177-3AD203B41FA5}">
                      <a16:colId xmlns:a16="http://schemas.microsoft.com/office/drawing/2014/main" val="1009891411"/>
                    </a:ext>
                  </a:extLst>
                </a:gridCol>
              </a:tblGrid>
              <a:tr h="701209">
                <a:tc>
                  <a:txBody>
                    <a:bodyPr/>
                    <a:lstStyle/>
                    <a:p>
                      <a:r>
                        <a:rPr lang="en-US" dirty="0"/>
                        <a:t>network</a:t>
                      </a:r>
                    </a:p>
                  </a:txBody>
                  <a:tcPr/>
                </a:tc>
                <a:tc>
                  <a:txBody>
                    <a:bodyPr/>
                    <a:lstStyle/>
                    <a:p>
                      <a:r>
                        <a:rPr lang="en-US" dirty="0"/>
                        <a:t>1</a:t>
                      </a:r>
                    </a:p>
                  </a:txBody>
                  <a:tcPr/>
                </a:tc>
                <a:tc>
                  <a:txBody>
                    <a:bodyPr/>
                    <a:lstStyle/>
                    <a:p>
                      <a:r>
                        <a:rPr lang="en-US" dirty="0"/>
                        <a:t>2</a:t>
                      </a:r>
                    </a:p>
                  </a:txBody>
                  <a:tcPr/>
                </a:tc>
                <a:tc>
                  <a:txBody>
                    <a:bodyPr/>
                    <a:lstStyle/>
                    <a:p>
                      <a:r>
                        <a:rPr lang="en-US" dirty="0"/>
                        <a:t>4</a:t>
                      </a:r>
                    </a:p>
                  </a:txBody>
                  <a:tcPr/>
                </a:tc>
                <a:tc>
                  <a:txBody>
                    <a:bodyPr/>
                    <a:lstStyle/>
                    <a:p>
                      <a:r>
                        <a:rPr lang="en-US" dirty="0"/>
                        <a:t>8</a:t>
                      </a:r>
                    </a:p>
                  </a:txBody>
                  <a:tcPr/>
                </a:tc>
                <a:tc>
                  <a:txBody>
                    <a:bodyPr/>
                    <a:lstStyle/>
                    <a:p>
                      <a:r>
                        <a:rPr lang="en-US" dirty="0"/>
                        <a:t>16</a:t>
                      </a:r>
                    </a:p>
                  </a:txBody>
                  <a:tcPr/>
                </a:tc>
                <a:tc>
                  <a:txBody>
                    <a:bodyPr/>
                    <a:lstStyle/>
                    <a:p>
                      <a:r>
                        <a:rPr lang="en-US" dirty="0"/>
                        <a:t>32</a:t>
                      </a:r>
                    </a:p>
                  </a:txBody>
                  <a:tcPr/>
                </a:tc>
                <a:tc>
                  <a:txBody>
                    <a:bodyPr/>
                    <a:lstStyle/>
                    <a:p>
                      <a:r>
                        <a:rPr lang="en-US" dirty="0"/>
                        <a:t>64</a:t>
                      </a:r>
                    </a:p>
                  </a:txBody>
                  <a:tcPr/>
                </a:tc>
                <a:tc>
                  <a:txBody>
                    <a:bodyPr/>
                    <a:lstStyle/>
                    <a:p>
                      <a:r>
                        <a:rPr lang="en-US" dirty="0"/>
                        <a:t>128</a:t>
                      </a:r>
                    </a:p>
                  </a:txBody>
                  <a:tcPr/>
                </a:tc>
                <a:tc>
                  <a:txBody>
                    <a:bodyPr/>
                    <a:lstStyle/>
                    <a:p>
                      <a:r>
                        <a:rPr lang="en-US" dirty="0"/>
                        <a:t>256</a:t>
                      </a:r>
                    </a:p>
                  </a:txBody>
                  <a:tcPr/>
                </a:tc>
                <a:extLst>
                  <a:ext uri="{0D108BD9-81ED-4DB2-BD59-A6C34878D82A}">
                    <a16:rowId xmlns:a16="http://schemas.microsoft.com/office/drawing/2014/main" val="4076480091"/>
                  </a:ext>
                </a:extLst>
              </a:tr>
              <a:tr h="701209">
                <a:tc>
                  <a:txBody>
                    <a:bodyPr/>
                    <a:lstStyle/>
                    <a:p>
                      <a:r>
                        <a:rPr lang="en-US" dirty="0"/>
                        <a:t>hosts</a:t>
                      </a:r>
                    </a:p>
                  </a:txBody>
                  <a:tcPr/>
                </a:tc>
                <a:tc>
                  <a:txBody>
                    <a:bodyPr/>
                    <a:lstStyle/>
                    <a:p>
                      <a:r>
                        <a:rPr lang="en-US" dirty="0"/>
                        <a:t>256</a:t>
                      </a:r>
                    </a:p>
                  </a:txBody>
                  <a:tcPr/>
                </a:tc>
                <a:tc>
                  <a:txBody>
                    <a:bodyPr/>
                    <a:lstStyle/>
                    <a:p>
                      <a:r>
                        <a:rPr lang="en-US" dirty="0"/>
                        <a:t>128</a:t>
                      </a:r>
                    </a:p>
                  </a:txBody>
                  <a:tcPr/>
                </a:tc>
                <a:tc>
                  <a:txBody>
                    <a:bodyPr/>
                    <a:lstStyle/>
                    <a:p>
                      <a:r>
                        <a:rPr lang="en-US" dirty="0"/>
                        <a:t>64</a:t>
                      </a:r>
                    </a:p>
                  </a:txBody>
                  <a:tcPr/>
                </a:tc>
                <a:tc>
                  <a:txBody>
                    <a:bodyPr/>
                    <a:lstStyle/>
                    <a:p>
                      <a:r>
                        <a:rPr lang="en-US" dirty="0"/>
                        <a:t>32</a:t>
                      </a:r>
                    </a:p>
                  </a:txBody>
                  <a:tcPr/>
                </a:tc>
                <a:tc>
                  <a:txBody>
                    <a:bodyPr/>
                    <a:lstStyle/>
                    <a:p>
                      <a:r>
                        <a:rPr lang="en-US" dirty="0"/>
                        <a:t>16</a:t>
                      </a:r>
                    </a:p>
                  </a:txBody>
                  <a:tcPr/>
                </a:tc>
                <a:tc>
                  <a:txBody>
                    <a:bodyPr/>
                    <a:lstStyle/>
                    <a:p>
                      <a:r>
                        <a:rPr lang="en-US" dirty="0"/>
                        <a:t>8</a:t>
                      </a:r>
                    </a:p>
                  </a:txBody>
                  <a:tcPr/>
                </a:tc>
                <a:tc>
                  <a:txBody>
                    <a:bodyPr/>
                    <a:lstStyle/>
                    <a:p>
                      <a:r>
                        <a:rPr lang="en-US" dirty="0"/>
                        <a:t>4</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3128682300"/>
                  </a:ext>
                </a:extLst>
              </a:tr>
              <a:tr h="701209">
                <a:tc>
                  <a:txBody>
                    <a:bodyPr/>
                    <a:lstStyle/>
                    <a:p>
                      <a:r>
                        <a:rPr lang="en-US" dirty="0"/>
                        <a:t>CIDR</a:t>
                      </a:r>
                    </a:p>
                  </a:txBody>
                  <a:tcPr/>
                </a:tc>
                <a:tc>
                  <a:txBody>
                    <a:bodyPr/>
                    <a:lstStyle/>
                    <a:p>
                      <a:r>
                        <a:rPr lang="en-US" dirty="0"/>
                        <a:t>/24</a:t>
                      </a:r>
                    </a:p>
                  </a:txBody>
                  <a:tcPr/>
                </a:tc>
                <a:tc>
                  <a:txBody>
                    <a:bodyPr/>
                    <a:lstStyle/>
                    <a:p>
                      <a:r>
                        <a:rPr lang="en-US" dirty="0"/>
                        <a:t>/25</a:t>
                      </a:r>
                    </a:p>
                  </a:txBody>
                  <a:tcPr/>
                </a:tc>
                <a:tc>
                  <a:txBody>
                    <a:bodyPr/>
                    <a:lstStyle/>
                    <a:p>
                      <a:r>
                        <a:rPr lang="en-US" dirty="0"/>
                        <a:t>/26</a:t>
                      </a:r>
                    </a:p>
                  </a:txBody>
                  <a:tcPr/>
                </a:tc>
                <a:tc>
                  <a:txBody>
                    <a:bodyPr/>
                    <a:lstStyle/>
                    <a:p>
                      <a:r>
                        <a:rPr lang="en-US" dirty="0"/>
                        <a:t>/27</a:t>
                      </a:r>
                    </a:p>
                  </a:txBody>
                  <a:tcPr/>
                </a:tc>
                <a:tc>
                  <a:txBody>
                    <a:bodyPr/>
                    <a:lstStyle/>
                    <a:p>
                      <a:r>
                        <a:rPr lang="en-US" dirty="0"/>
                        <a:t>/28</a:t>
                      </a:r>
                    </a:p>
                  </a:txBody>
                  <a:tcPr/>
                </a:tc>
                <a:tc>
                  <a:txBody>
                    <a:bodyPr/>
                    <a:lstStyle/>
                    <a:p>
                      <a:r>
                        <a:rPr lang="en-US" dirty="0"/>
                        <a:t>/29</a:t>
                      </a:r>
                    </a:p>
                  </a:txBody>
                  <a:tcPr/>
                </a:tc>
                <a:tc>
                  <a:txBody>
                    <a:bodyPr/>
                    <a:lstStyle/>
                    <a:p>
                      <a:r>
                        <a:rPr lang="en-US" dirty="0"/>
                        <a:t>/30</a:t>
                      </a:r>
                    </a:p>
                  </a:txBody>
                  <a:tcPr/>
                </a:tc>
                <a:tc>
                  <a:txBody>
                    <a:bodyPr/>
                    <a:lstStyle/>
                    <a:p>
                      <a:r>
                        <a:rPr lang="en-US" dirty="0"/>
                        <a:t>/31</a:t>
                      </a:r>
                    </a:p>
                  </a:txBody>
                  <a:tcPr/>
                </a:tc>
                <a:tc>
                  <a:txBody>
                    <a:bodyPr/>
                    <a:lstStyle/>
                    <a:p>
                      <a:r>
                        <a:rPr lang="en-US" dirty="0"/>
                        <a:t>/32</a:t>
                      </a:r>
                    </a:p>
                  </a:txBody>
                  <a:tcPr/>
                </a:tc>
                <a:extLst>
                  <a:ext uri="{0D108BD9-81ED-4DB2-BD59-A6C34878D82A}">
                    <a16:rowId xmlns:a16="http://schemas.microsoft.com/office/drawing/2014/main" val="76289043"/>
                  </a:ext>
                </a:extLst>
              </a:tr>
              <a:tr h="2247710">
                <a:tc>
                  <a:txBody>
                    <a:bodyPr/>
                    <a:lstStyle/>
                    <a:p>
                      <a:r>
                        <a:rPr lang="en-US" dirty="0"/>
                        <a:t>Subnet mask</a:t>
                      </a:r>
                    </a:p>
                  </a:txBody>
                  <a:tcPr/>
                </a:tc>
                <a:tc>
                  <a:txBody>
                    <a:bodyPr/>
                    <a:lstStyle/>
                    <a:p>
                      <a:r>
                        <a:rPr lang="en-US" dirty="0"/>
                        <a:t>255.255.255.0</a:t>
                      </a:r>
                    </a:p>
                  </a:txBody>
                  <a:tcPr/>
                </a:tc>
                <a:tc>
                  <a:txBody>
                    <a:bodyPr/>
                    <a:lstStyle/>
                    <a:p>
                      <a:r>
                        <a:rPr lang="en-US" dirty="0"/>
                        <a:t>255.255.255.128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255.255.255.</a:t>
                      </a:r>
                    </a:p>
                    <a:p>
                      <a:r>
                        <a:rPr lang="en-US" dirty="0"/>
                        <a:t>192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255.255.255.</a:t>
                      </a:r>
                    </a:p>
                    <a:p>
                      <a:r>
                        <a:rPr lang="en-US" dirty="0"/>
                        <a:t>224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255.255.255.</a:t>
                      </a:r>
                    </a:p>
                    <a:p>
                      <a:r>
                        <a:rPr lang="en-US" dirty="0"/>
                        <a:t>240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255.255.255.</a:t>
                      </a:r>
                    </a:p>
                    <a:p>
                      <a:r>
                        <a:rPr lang="en-US" dirty="0"/>
                        <a:t>248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255.255.255.</a:t>
                      </a:r>
                    </a:p>
                    <a:p>
                      <a:r>
                        <a:rPr lang="en-US" dirty="0"/>
                        <a:t>252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255.255.255.</a:t>
                      </a:r>
                    </a:p>
                    <a:p>
                      <a:r>
                        <a:rPr lang="en-US" dirty="0"/>
                        <a:t>254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255.255.255.</a:t>
                      </a:r>
                    </a:p>
                    <a:p>
                      <a:r>
                        <a:rPr lang="en-US" dirty="0"/>
                        <a:t>255</a:t>
                      </a:r>
                    </a:p>
                  </a:txBody>
                  <a:tcPr/>
                </a:tc>
                <a:extLst>
                  <a:ext uri="{0D108BD9-81ED-4DB2-BD59-A6C34878D82A}">
                    <a16:rowId xmlns:a16="http://schemas.microsoft.com/office/drawing/2014/main" val="2103454841"/>
                  </a:ext>
                </a:extLst>
              </a:tr>
            </a:tbl>
          </a:graphicData>
        </a:graphic>
      </p:graphicFrame>
      <p:pic>
        <p:nvPicPr>
          <p:cNvPr id="6" name="Picture 5">
            <a:extLst>
              <a:ext uri="{FF2B5EF4-FFF2-40B4-BE49-F238E27FC236}">
                <a16:creationId xmlns:a16="http://schemas.microsoft.com/office/drawing/2014/main" id="{6CC268CE-C046-614F-8EF4-40D36DBD8CB1}"/>
              </a:ext>
            </a:extLst>
          </p:cNvPr>
          <p:cNvPicPr>
            <a:picLocks noChangeAspect="1"/>
          </p:cNvPicPr>
          <p:nvPr/>
        </p:nvPicPr>
        <p:blipFill>
          <a:blip r:embed="rId2"/>
          <a:stretch>
            <a:fillRect/>
          </a:stretch>
        </p:blipFill>
        <p:spPr>
          <a:xfrm>
            <a:off x="10718800" y="134471"/>
            <a:ext cx="1270000" cy="1270000"/>
          </a:xfrm>
          <a:prstGeom prst="rect">
            <a:avLst/>
          </a:prstGeom>
        </p:spPr>
      </p:pic>
    </p:spTree>
    <p:extLst>
      <p:ext uri="{BB962C8B-B14F-4D97-AF65-F5344CB8AC3E}">
        <p14:creationId xmlns:p14="http://schemas.microsoft.com/office/powerpoint/2010/main" val="3705644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normAutofit/>
          </a:bodyPr>
          <a:lstStyle/>
          <a:p>
            <a:pPr algn="just"/>
            <a:r>
              <a:rPr lang="en-US" dirty="0"/>
              <a:t>An administrator have 192.168.1.0/24 network. The suffix /24 (pronounced as "slash 24") tells the number of bits used for network address. In this example, the administrator has three different departments with different number of hosts. Sales department has 100 computers, Purchase department has 50 computers, Accounts has 25 computers and Management has 5 computers. In CIDR, the subnets are of fixed size. Using the same methodology the administrator cannot fulfill all the requirements of the network.</a:t>
            </a:r>
          </a:p>
          <a:p>
            <a:pPr marL="0" indent="0" algn="just">
              <a:buNone/>
            </a:pPr>
            <a:br>
              <a:rPr lang="en-US" dirty="0"/>
            </a:br>
            <a:endParaRPr lang="en-US" dirty="0"/>
          </a:p>
        </p:txBody>
      </p:sp>
      <p:pic>
        <p:nvPicPr>
          <p:cNvPr id="4" name="Picture 3">
            <a:extLst>
              <a:ext uri="{FF2B5EF4-FFF2-40B4-BE49-F238E27FC236}">
                <a16:creationId xmlns:a16="http://schemas.microsoft.com/office/drawing/2014/main" id="{0189601B-7AD3-6C47-887B-87B65CF4B74A}"/>
              </a:ext>
            </a:extLst>
          </p:cNvPr>
          <p:cNvPicPr>
            <a:picLocks noChangeAspect="1"/>
          </p:cNvPicPr>
          <p:nvPr/>
        </p:nvPicPr>
        <p:blipFill>
          <a:blip r:embed="rId3"/>
          <a:stretch>
            <a:fillRect/>
          </a:stretch>
        </p:blipFill>
        <p:spPr>
          <a:xfrm>
            <a:off x="10620375" y="5580063"/>
            <a:ext cx="1270000" cy="1270000"/>
          </a:xfrm>
          <a:prstGeom prst="rect">
            <a:avLst/>
          </a:prstGeom>
        </p:spPr>
      </p:pic>
    </p:spTree>
    <p:extLst>
      <p:ext uri="{BB962C8B-B14F-4D97-AF65-F5344CB8AC3E}">
        <p14:creationId xmlns:p14="http://schemas.microsoft.com/office/powerpoint/2010/main" val="36554786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BC83-FE91-FB49-8484-23F2B3EC5391}"/>
              </a:ext>
            </a:extLst>
          </p:cNvPr>
          <p:cNvSpPr>
            <a:spLocks noGrp="1"/>
          </p:cNvSpPr>
          <p:nvPr>
            <p:ph type="title"/>
          </p:nvPr>
        </p:nvSpPr>
        <p:spPr/>
        <p:txBody>
          <a:bodyPr/>
          <a:lstStyle/>
          <a:p>
            <a:endParaRPr lang="en-US" dirty="0"/>
          </a:p>
        </p:txBody>
      </p:sp>
      <p:pic>
        <p:nvPicPr>
          <p:cNvPr id="6" name="Content Placeholder 5">
            <a:extLst>
              <a:ext uri="{FF2B5EF4-FFF2-40B4-BE49-F238E27FC236}">
                <a16:creationId xmlns:a16="http://schemas.microsoft.com/office/drawing/2014/main" id="{50FF6BB4-30DF-5241-BB02-49D8C2C87E78}"/>
              </a:ext>
            </a:extLst>
          </p:cNvPr>
          <p:cNvPicPr>
            <a:picLocks noGrp="1" noChangeAspect="1"/>
          </p:cNvPicPr>
          <p:nvPr>
            <p:ph idx="1"/>
          </p:nvPr>
        </p:nvPicPr>
        <p:blipFill>
          <a:blip r:embed="rId2"/>
          <a:stretch>
            <a:fillRect/>
          </a:stretch>
        </p:blipFill>
        <p:spPr>
          <a:xfrm>
            <a:off x="3739607" y="1379576"/>
            <a:ext cx="4362453" cy="4731291"/>
          </a:xfrm>
        </p:spPr>
      </p:pic>
      <p:pic>
        <p:nvPicPr>
          <p:cNvPr id="4" name="Picture 3">
            <a:extLst>
              <a:ext uri="{FF2B5EF4-FFF2-40B4-BE49-F238E27FC236}">
                <a16:creationId xmlns:a16="http://schemas.microsoft.com/office/drawing/2014/main" id="{70F22BE3-7A95-C941-9C78-D6524C92F251}"/>
              </a:ext>
            </a:extLst>
          </p:cNvPr>
          <p:cNvPicPr>
            <a:picLocks noChangeAspect="1"/>
          </p:cNvPicPr>
          <p:nvPr/>
        </p:nvPicPr>
        <p:blipFill>
          <a:blip r:embed="rId3"/>
          <a:stretch>
            <a:fillRect/>
          </a:stretch>
        </p:blipFill>
        <p:spPr>
          <a:xfrm>
            <a:off x="10620375" y="5580063"/>
            <a:ext cx="1270000" cy="1270000"/>
          </a:xfrm>
          <a:prstGeom prst="rect">
            <a:avLst/>
          </a:prstGeom>
        </p:spPr>
      </p:pic>
    </p:spTree>
    <p:extLst>
      <p:ext uri="{BB962C8B-B14F-4D97-AF65-F5344CB8AC3E}">
        <p14:creationId xmlns:p14="http://schemas.microsoft.com/office/powerpoint/2010/main" val="9385155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BC83-FE91-FB49-8484-23F2B3EC5391}"/>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0577E11-26C9-BC41-8219-8B91F5B954C7}"/>
              </a:ext>
            </a:extLst>
          </p:cNvPr>
          <p:cNvSpPr>
            <a:spLocks noGrp="1"/>
          </p:cNvSpPr>
          <p:nvPr>
            <p:ph idx="1"/>
          </p:nvPr>
        </p:nvSpPr>
        <p:spPr/>
        <p:txBody>
          <a:bodyPr>
            <a:normAutofit/>
          </a:bodyPr>
          <a:lstStyle/>
          <a:p>
            <a:r>
              <a:rPr lang="en-US" dirty="0"/>
              <a:t>TCP/IP model and its protocols (Application layer, Transport layer, Network layer, Data Link layer, Physical layer) </a:t>
            </a:r>
          </a:p>
          <a:p>
            <a:r>
              <a:rPr lang="en-US" dirty="0"/>
              <a:t>Difference between TCP and UDP</a:t>
            </a:r>
          </a:p>
          <a:p>
            <a:r>
              <a:rPr lang="en-US" dirty="0"/>
              <a:t>Encapsulation in each layer</a:t>
            </a:r>
          </a:p>
          <a:p>
            <a:r>
              <a:rPr lang="en-US" dirty="0"/>
              <a:t>IP V4 subnetting</a:t>
            </a:r>
          </a:p>
        </p:txBody>
      </p:sp>
      <p:pic>
        <p:nvPicPr>
          <p:cNvPr id="4" name="Picture 3">
            <a:extLst>
              <a:ext uri="{FF2B5EF4-FFF2-40B4-BE49-F238E27FC236}">
                <a16:creationId xmlns:a16="http://schemas.microsoft.com/office/drawing/2014/main" id="{70F22BE3-7A95-C941-9C78-D6524C92F251}"/>
              </a:ext>
            </a:extLst>
          </p:cNvPr>
          <p:cNvPicPr>
            <a:picLocks noChangeAspect="1"/>
          </p:cNvPicPr>
          <p:nvPr/>
        </p:nvPicPr>
        <p:blipFill>
          <a:blip r:embed="rId2"/>
          <a:stretch>
            <a:fillRect/>
          </a:stretch>
        </p:blipFill>
        <p:spPr>
          <a:xfrm>
            <a:off x="10620375" y="5580063"/>
            <a:ext cx="1270000" cy="1270000"/>
          </a:xfrm>
          <a:prstGeom prst="rect">
            <a:avLst/>
          </a:prstGeom>
        </p:spPr>
      </p:pic>
    </p:spTree>
    <p:extLst>
      <p:ext uri="{BB962C8B-B14F-4D97-AF65-F5344CB8AC3E}">
        <p14:creationId xmlns:p14="http://schemas.microsoft.com/office/powerpoint/2010/main" val="10697957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577E11-26C9-BC41-8219-8B91F5B954C7}"/>
              </a:ext>
            </a:extLst>
          </p:cNvPr>
          <p:cNvSpPr>
            <a:spLocks noGrp="1"/>
          </p:cNvSpPr>
          <p:nvPr>
            <p:ph idx="1"/>
          </p:nvPr>
        </p:nvSpPr>
        <p:spPr/>
        <p:txBody>
          <a:bodyPr>
            <a:normAutofit/>
          </a:bodyPr>
          <a:lstStyle/>
          <a:p>
            <a:pPr marL="0" indent="0" algn="ctr">
              <a:buNone/>
            </a:pPr>
            <a:endParaRPr lang="en-US" sz="8800" dirty="0"/>
          </a:p>
          <a:p>
            <a:pPr marL="0" indent="0" algn="ctr">
              <a:buNone/>
            </a:pPr>
            <a:r>
              <a:rPr lang="en-US" sz="8800" dirty="0"/>
              <a:t>THANK YOU</a:t>
            </a:r>
          </a:p>
        </p:txBody>
      </p:sp>
      <p:pic>
        <p:nvPicPr>
          <p:cNvPr id="4" name="Picture 3">
            <a:extLst>
              <a:ext uri="{FF2B5EF4-FFF2-40B4-BE49-F238E27FC236}">
                <a16:creationId xmlns:a16="http://schemas.microsoft.com/office/drawing/2014/main" id="{70F22BE3-7A95-C941-9C78-D6524C92F251}"/>
              </a:ext>
            </a:extLst>
          </p:cNvPr>
          <p:cNvPicPr>
            <a:picLocks noChangeAspect="1"/>
          </p:cNvPicPr>
          <p:nvPr/>
        </p:nvPicPr>
        <p:blipFill>
          <a:blip r:embed="rId2"/>
          <a:stretch>
            <a:fillRect/>
          </a:stretch>
        </p:blipFill>
        <p:spPr>
          <a:xfrm>
            <a:off x="10620375" y="5580063"/>
            <a:ext cx="1270000" cy="1270000"/>
          </a:xfrm>
          <a:prstGeom prst="rect">
            <a:avLst/>
          </a:prstGeom>
        </p:spPr>
      </p:pic>
    </p:spTree>
    <p:extLst>
      <p:ext uri="{BB962C8B-B14F-4D97-AF65-F5344CB8AC3E}">
        <p14:creationId xmlns:p14="http://schemas.microsoft.com/office/powerpoint/2010/main" val="3211001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1525</Words>
  <Application>Microsoft Macintosh PowerPoint</Application>
  <PresentationFormat>Widescreen</PresentationFormat>
  <Paragraphs>251</Paragraphs>
  <Slides>39</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Calibri Light</vt:lpstr>
      <vt:lpstr>Office Theme</vt:lpstr>
      <vt:lpstr>Introductory Computer Networking and IT Security </vt:lpstr>
      <vt:lpstr>Agenda</vt:lpstr>
      <vt:lpstr>Introduction to TCP/IP protocols </vt:lpstr>
      <vt:lpstr>Introduction to TCP/IP protocols </vt:lpstr>
      <vt:lpstr>Application Layer</vt:lpstr>
      <vt:lpstr>Application Layer Protocols</vt:lpstr>
      <vt:lpstr>Application Layer Protocols</vt:lpstr>
      <vt:lpstr>Transport Layer </vt:lpstr>
      <vt:lpstr>Transmission Control Protocol (TCP) </vt:lpstr>
      <vt:lpstr>Transmission Control Protocol (TCP) </vt:lpstr>
      <vt:lpstr>User Datagram Protocol (UDP)</vt:lpstr>
      <vt:lpstr>Transport Layer Protocol</vt:lpstr>
      <vt:lpstr>Transport Layer Protocol</vt:lpstr>
      <vt:lpstr>Internet Layer</vt:lpstr>
      <vt:lpstr>Internet Layer Protocol</vt:lpstr>
      <vt:lpstr>Internet Layer Protocol</vt:lpstr>
      <vt:lpstr>Internet Layer Protocol</vt:lpstr>
      <vt:lpstr>Internet Layer Protocol</vt:lpstr>
      <vt:lpstr>Network access/data link layer</vt:lpstr>
      <vt:lpstr>Physical layer</vt:lpstr>
      <vt:lpstr>Protocol Data Units (PDUs) in the TCP/IP Architecture </vt:lpstr>
      <vt:lpstr>Data Encapsulation in TCP/IP Model</vt:lpstr>
      <vt:lpstr>IP V4 SUBNETTING and VLSM (Variable Length Subnet Mask) </vt:lpstr>
      <vt:lpstr>IPV4</vt:lpstr>
      <vt:lpstr>PowerPoint Presentation</vt:lpstr>
      <vt:lpstr>IP Addressing</vt:lpstr>
      <vt:lpstr>IP Addressing</vt:lpstr>
      <vt:lpstr>IP class range</vt:lpstr>
      <vt:lpstr>IP Addressing</vt:lpstr>
      <vt:lpstr>IP Addressing</vt:lpstr>
      <vt:lpstr>IP Addressing</vt:lpstr>
      <vt:lpstr>IP Addressing</vt:lpstr>
      <vt:lpstr>IP Addressing</vt:lpstr>
      <vt:lpstr>4 Questions….</vt:lpstr>
      <vt:lpstr>subnetting</vt:lpstr>
      <vt:lpstr>Question:</vt:lpstr>
      <vt:lpstr>PowerPoint Presentation</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 Computer Networking and IT Security </dc:title>
  <dc:creator>Krittika Tuladhar</dc:creator>
  <cp:lastModifiedBy>Krittika Tuladhar</cp:lastModifiedBy>
  <cp:revision>9</cp:revision>
  <dcterms:created xsi:type="dcterms:W3CDTF">2019-10-24T18:48:30Z</dcterms:created>
  <dcterms:modified xsi:type="dcterms:W3CDTF">2019-11-06T17:26:54Z</dcterms:modified>
</cp:coreProperties>
</file>