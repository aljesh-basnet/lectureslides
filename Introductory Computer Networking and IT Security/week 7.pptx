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7" r:id="rId2"/>
    <p:sldId id="294" r:id="rId3"/>
    <p:sldId id="313" r:id="rId4"/>
    <p:sldId id="268" r:id="rId5"/>
    <p:sldId id="320" r:id="rId6"/>
    <p:sldId id="314" r:id="rId7"/>
    <p:sldId id="315" r:id="rId8"/>
    <p:sldId id="316" r:id="rId9"/>
    <p:sldId id="295" r:id="rId10"/>
    <p:sldId id="296" r:id="rId11"/>
    <p:sldId id="297" r:id="rId12"/>
    <p:sldId id="317" r:id="rId13"/>
    <p:sldId id="318" r:id="rId14"/>
    <p:sldId id="319" r:id="rId15"/>
    <p:sldId id="298" r:id="rId16"/>
    <p:sldId id="299" r:id="rId17"/>
    <p:sldId id="300" r:id="rId18"/>
    <p:sldId id="301" r:id="rId19"/>
    <p:sldId id="30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rittika Tuladhar" initials="KT" lastIdx="1" clrIdx="0">
    <p:extLst>
      <p:ext uri="{19B8F6BF-5375-455C-9EA6-DF929625EA0E}">
        <p15:presenceInfo xmlns:p15="http://schemas.microsoft.com/office/powerpoint/2012/main" userId="aacc547425d44af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82"/>
    <p:restoredTop sz="95470"/>
  </p:normalViewPr>
  <p:slideViewPr>
    <p:cSldViewPr snapToGrid="0" snapToObjects="1">
      <p:cViewPr varScale="1">
        <p:scale>
          <a:sx n="72" d="100"/>
          <a:sy n="72" d="100"/>
        </p:scale>
        <p:origin x="208" y="8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9-12-22T21:31:13.503" idx="1">
    <p:pos x="7028" y="1476"/>
    <p:text>3. (For example, you can set them up to make very specific decisions about regulating traffic patterns so that they’ll only allow certain hosts to access WWW resources on the Internet while restricting others. )
</p:text>
    <p:extLst>
      <p:ext uri="{C676402C-5697-4E1C-873F-D02D1690AC5C}">
        <p15:threadingInfo xmlns:p15="http://schemas.microsoft.com/office/powerpoint/2012/main" timeZoneBias="-345"/>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9A9659-6FF1-E34F-8FBC-1C65498385AD}" type="datetimeFigureOut">
              <a:rPr lang="en-US" smtClean="0"/>
              <a:t>12/28/19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41A6B2-1AF1-4A46-BD77-A249ECC76C88}" type="slidenum">
              <a:rPr lang="en-US" smtClean="0"/>
              <a:t>‹#›</a:t>
            </a:fld>
            <a:endParaRPr lang="en-US"/>
          </a:p>
        </p:txBody>
      </p:sp>
    </p:spTree>
    <p:extLst>
      <p:ext uri="{BB962C8B-B14F-4D97-AF65-F5344CB8AC3E}">
        <p14:creationId xmlns:p14="http://schemas.microsoft.com/office/powerpoint/2010/main" val="3889911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4</a:t>
            </a:fld>
            <a:endParaRPr lang="en-US"/>
          </a:p>
        </p:txBody>
      </p:sp>
    </p:spTree>
    <p:extLst>
      <p:ext uri="{BB962C8B-B14F-4D97-AF65-F5344CB8AC3E}">
        <p14:creationId xmlns:p14="http://schemas.microsoft.com/office/powerpoint/2010/main" val="977435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5</a:t>
            </a:fld>
            <a:endParaRPr lang="en-US"/>
          </a:p>
        </p:txBody>
      </p:sp>
    </p:spTree>
    <p:extLst>
      <p:ext uri="{BB962C8B-B14F-4D97-AF65-F5344CB8AC3E}">
        <p14:creationId xmlns:p14="http://schemas.microsoft.com/office/powerpoint/2010/main" val="54652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6</a:t>
            </a:fld>
            <a:endParaRPr lang="en-US"/>
          </a:p>
        </p:txBody>
      </p:sp>
    </p:spTree>
    <p:extLst>
      <p:ext uri="{BB962C8B-B14F-4D97-AF65-F5344CB8AC3E}">
        <p14:creationId xmlns:p14="http://schemas.microsoft.com/office/powerpoint/2010/main" val="4292708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7</a:t>
            </a:fld>
            <a:endParaRPr lang="en-US"/>
          </a:p>
        </p:txBody>
      </p:sp>
    </p:spTree>
    <p:extLst>
      <p:ext uri="{BB962C8B-B14F-4D97-AF65-F5344CB8AC3E}">
        <p14:creationId xmlns:p14="http://schemas.microsoft.com/office/powerpoint/2010/main" val="599485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8</a:t>
            </a:fld>
            <a:endParaRPr lang="en-US"/>
          </a:p>
        </p:txBody>
      </p:sp>
    </p:spTree>
    <p:extLst>
      <p:ext uri="{BB962C8B-B14F-4D97-AF65-F5344CB8AC3E}">
        <p14:creationId xmlns:p14="http://schemas.microsoft.com/office/powerpoint/2010/main" val="1956516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9</a:t>
            </a:fld>
            <a:endParaRPr lang="en-US"/>
          </a:p>
        </p:txBody>
      </p:sp>
    </p:spTree>
    <p:extLst>
      <p:ext uri="{BB962C8B-B14F-4D97-AF65-F5344CB8AC3E}">
        <p14:creationId xmlns:p14="http://schemas.microsoft.com/office/powerpoint/2010/main" val="2908497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10</a:t>
            </a:fld>
            <a:endParaRPr lang="en-US"/>
          </a:p>
        </p:txBody>
      </p:sp>
    </p:spTree>
    <p:extLst>
      <p:ext uri="{BB962C8B-B14F-4D97-AF65-F5344CB8AC3E}">
        <p14:creationId xmlns:p14="http://schemas.microsoft.com/office/powerpoint/2010/main" val="23456274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11</a:t>
            </a:fld>
            <a:endParaRPr lang="en-US"/>
          </a:p>
        </p:txBody>
      </p:sp>
    </p:spTree>
    <p:extLst>
      <p:ext uri="{BB962C8B-B14F-4D97-AF65-F5344CB8AC3E}">
        <p14:creationId xmlns:p14="http://schemas.microsoft.com/office/powerpoint/2010/main" val="2218907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12</a:t>
            </a:fld>
            <a:endParaRPr lang="en-US"/>
          </a:p>
        </p:txBody>
      </p:sp>
    </p:spTree>
    <p:extLst>
      <p:ext uri="{BB962C8B-B14F-4D97-AF65-F5344CB8AC3E}">
        <p14:creationId xmlns:p14="http://schemas.microsoft.com/office/powerpoint/2010/main" val="1574933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13</a:t>
            </a:fld>
            <a:endParaRPr lang="en-US"/>
          </a:p>
        </p:txBody>
      </p:sp>
    </p:spTree>
    <p:extLst>
      <p:ext uri="{BB962C8B-B14F-4D97-AF65-F5344CB8AC3E}">
        <p14:creationId xmlns:p14="http://schemas.microsoft.com/office/powerpoint/2010/main" val="3555104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14</a:t>
            </a:fld>
            <a:endParaRPr lang="en-US"/>
          </a:p>
        </p:txBody>
      </p:sp>
    </p:spTree>
    <p:extLst>
      <p:ext uri="{BB962C8B-B14F-4D97-AF65-F5344CB8AC3E}">
        <p14:creationId xmlns:p14="http://schemas.microsoft.com/office/powerpoint/2010/main" val="13521395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15</a:t>
            </a:fld>
            <a:endParaRPr lang="en-US"/>
          </a:p>
        </p:txBody>
      </p:sp>
    </p:spTree>
    <p:extLst>
      <p:ext uri="{BB962C8B-B14F-4D97-AF65-F5344CB8AC3E}">
        <p14:creationId xmlns:p14="http://schemas.microsoft.com/office/powerpoint/2010/main" val="30897104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16</a:t>
            </a:fld>
            <a:endParaRPr lang="en-US"/>
          </a:p>
        </p:txBody>
      </p:sp>
    </p:spTree>
    <p:extLst>
      <p:ext uri="{BB962C8B-B14F-4D97-AF65-F5344CB8AC3E}">
        <p14:creationId xmlns:p14="http://schemas.microsoft.com/office/powerpoint/2010/main" val="18756601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17</a:t>
            </a:fld>
            <a:endParaRPr lang="en-US"/>
          </a:p>
        </p:txBody>
      </p:sp>
    </p:spTree>
    <p:extLst>
      <p:ext uri="{BB962C8B-B14F-4D97-AF65-F5344CB8AC3E}">
        <p14:creationId xmlns:p14="http://schemas.microsoft.com/office/powerpoint/2010/main" val="2658501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18</a:t>
            </a:fld>
            <a:endParaRPr lang="en-US"/>
          </a:p>
        </p:txBody>
      </p:sp>
    </p:spTree>
    <p:extLst>
      <p:ext uri="{BB962C8B-B14F-4D97-AF65-F5344CB8AC3E}">
        <p14:creationId xmlns:p14="http://schemas.microsoft.com/office/powerpoint/2010/main" val="2399128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19</a:t>
            </a:fld>
            <a:endParaRPr lang="en-US"/>
          </a:p>
        </p:txBody>
      </p:sp>
    </p:spTree>
    <p:extLst>
      <p:ext uri="{BB962C8B-B14F-4D97-AF65-F5344CB8AC3E}">
        <p14:creationId xmlns:p14="http://schemas.microsoft.com/office/powerpoint/2010/main" val="4097994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ED332-6292-6842-8F58-A318F0E07D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BC70972-DF3F-F642-B078-E7CA546FF6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313175-5576-DB42-87C4-12BB4FED6CA4}"/>
              </a:ext>
            </a:extLst>
          </p:cNvPr>
          <p:cNvSpPr>
            <a:spLocks noGrp="1"/>
          </p:cNvSpPr>
          <p:nvPr>
            <p:ph type="dt" sz="half" idx="10"/>
          </p:nvPr>
        </p:nvSpPr>
        <p:spPr/>
        <p:txBody>
          <a:bodyPr/>
          <a:lstStyle/>
          <a:p>
            <a:fld id="{2AA72E3F-8A55-9C48-B22C-9888FA90A321}" type="datetimeFigureOut">
              <a:rPr lang="en-US" smtClean="0"/>
              <a:t>12/28/19</a:t>
            </a:fld>
            <a:endParaRPr lang="en-US"/>
          </a:p>
        </p:txBody>
      </p:sp>
      <p:sp>
        <p:nvSpPr>
          <p:cNvPr id="5" name="Footer Placeholder 4">
            <a:extLst>
              <a:ext uri="{FF2B5EF4-FFF2-40B4-BE49-F238E27FC236}">
                <a16:creationId xmlns:a16="http://schemas.microsoft.com/office/drawing/2014/main" id="{A314B902-AA96-A74C-93DB-40944AE609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E7983B-FCF0-D044-9B2D-ED8A17BF92EB}"/>
              </a:ext>
            </a:extLst>
          </p:cNvPr>
          <p:cNvSpPr>
            <a:spLocks noGrp="1"/>
          </p:cNvSpPr>
          <p:nvPr>
            <p:ph type="sldNum" sz="quarter" idx="12"/>
          </p:nvPr>
        </p:nvSpPr>
        <p:spPr/>
        <p:txBody>
          <a:bodyPr/>
          <a:lstStyle/>
          <a:p>
            <a:fld id="{405CDD07-B233-034C-B1B1-01CD15064FCC}" type="slidenum">
              <a:rPr lang="en-US" smtClean="0"/>
              <a:t>‹#›</a:t>
            </a:fld>
            <a:endParaRPr lang="en-US"/>
          </a:p>
        </p:txBody>
      </p:sp>
    </p:spTree>
    <p:extLst>
      <p:ext uri="{BB962C8B-B14F-4D97-AF65-F5344CB8AC3E}">
        <p14:creationId xmlns:p14="http://schemas.microsoft.com/office/powerpoint/2010/main" val="2106215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A3407-A53D-7442-B6D4-B647E9E4E3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3750FF-863D-2046-872A-FF917AAFC9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BB4E8-A058-D546-8759-8827F4ED8E86}"/>
              </a:ext>
            </a:extLst>
          </p:cNvPr>
          <p:cNvSpPr>
            <a:spLocks noGrp="1"/>
          </p:cNvSpPr>
          <p:nvPr>
            <p:ph type="dt" sz="half" idx="10"/>
          </p:nvPr>
        </p:nvSpPr>
        <p:spPr/>
        <p:txBody>
          <a:bodyPr/>
          <a:lstStyle/>
          <a:p>
            <a:fld id="{2AA72E3F-8A55-9C48-B22C-9888FA90A321}" type="datetimeFigureOut">
              <a:rPr lang="en-US" smtClean="0"/>
              <a:t>12/28/19</a:t>
            </a:fld>
            <a:endParaRPr lang="en-US"/>
          </a:p>
        </p:txBody>
      </p:sp>
      <p:sp>
        <p:nvSpPr>
          <p:cNvPr id="5" name="Footer Placeholder 4">
            <a:extLst>
              <a:ext uri="{FF2B5EF4-FFF2-40B4-BE49-F238E27FC236}">
                <a16:creationId xmlns:a16="http://schemas.microsoft.com/office/drawing/2014/main" id="{4F3959AE-4E92-1145-91BD-FFF1CAEA04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3F28F1-359A-0D4E-9EC9-9CBB6CEBBEFB}"/>
              </a:ext>
            </a:extLst>
          </p:cNvPr>
          <p:cNvSpPr>
            <a:spLocks noGrp="1"/>
          </p:cNvSpPr>
          <p:nvPr>
            <p:ph type="sldNum" sz="quarter" idx="12"/>
          </p:nvPr>
        </p:nvSpPr>
        <p:spPr/>
        <p:txBody>
          <a:bodyPr/>
          <a:lstStyle/>
          <a:p>
            <a:fld id="{405CDD07-B233-034C-B1B1-01CD15064FCC}" type="slidenum">
              <a:rPr lang="en-US" smtClean="0"/>
              <a:t>‹#›</a:t>
            </a:fld>
            <a:endParaRPr lang="en-US"/>
          </a:p>
        </p:txBody>
      </p:sp>
    </p:spTree>
    <p:extLst>
      <p:ext uri="{BB962C8B-B14F-4D97-AF65-F5344CB8AC3E}">
        <p14:creationId xmlns:p14="http://schemas.microsoft.com/office/powerpoint/2010/main" val="1487847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7E32C-9B73-794A-96CA-8E94884485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B38DDCE-E6D1-4841-AE85-568C6C50BF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EB3635-85AE-7246-BBF7-68FF74C9B99F}"/>
              </a:ext>
            </a:extLst>
          </p:cNvPr>
          <p:cNvSpPr>
            <a:spLocks noGrp="1"/>
          </p:cNvSpPr>
          <p:nvPr>
            <p:ph type="dt" sz="half" idx="10"/>
          </p:nvPr>
        </p:nvSpPr>
        <p:spPr/>
        <p:txBody>
          <a:bodyPr/>
          <a:lstStyle/>
          <a:p>
            <a:fld id="{2AA72E3F-8A55-9C48-B22C-9888FA90A321}" type="datetimeFigureOut">
              <a:rPr lang="en-US" smtClean="0"/>
              <a:t>12/28/19</a:t>
            </a:fld>
            <a:endParaRPr lang="en-US"/>
          </a:p>
        </p:txBody>
      </p:sp>
      <p:sp>
        <p:nvSpPr>
          <p:cNvPr id="5" name="Footer Placeholder 4">
            <a:extLst>
              <a:ext uri="{FF2B5EF4-FFF2-40B4-BE49-F238E27FC236}">
                <a16:creationId xmlns:a16="http://schemas.microsoft.com/office/drawing/2014/main" id="{A3C40C1C-3960-7443-A593-DFB9A3E7F8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39CA79-C339-4143-BE95-DFD86892F4A3}"/>
              </a:ext>
            </a:extLst>
          </p:cNvPr>
          <p:cNvSpPr>
            <a:spLocks noGrp="1"/>
          </p:cNvSpPr>
          <p:nvPr>
            <p:ph type="sldNum" sz="quarter" idx="12"/>
          </p:nvPr>
        </p:nvSpPr>
        <p:spPr/>
        <p:txBody>
          <a:bodyPr/>
          <a:lstStyle/>
          <a:p>
            <a:fld id="{405CDD07-B233-034C-B1B1-01CD15064FCC}" type="slidenum">
              <a:rPr lang="en-US" smtClean="0"/>
              <a:t>‹#›</a:t>
            </a:fld>
            <a:endParaRPr lang="en-US"/>
          </a:p>
        </p:txBody>
      </p:sp>
    </p:spTree>
    <p:extLst>
      <p:ext uri="{BB962C8B-B14F-4D97-AF65-F5344CB8AC3E}">
        <p14:creationId xmlns:p14="http://schemas.microsoft.com/office/powerpoint/2010/main" val="1038341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D0EED-468D-DC41-BB98-424AB9FC72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9D5AFF-B147-6A41-A859-9007773047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69D7AFF-6C33-384E-8B75-2894677483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9F2851-E5AA-D448-AA51-F578F7CB8753}"/>
              </a:ext>
            </a:extLst>
          </p:cNvPr>
          <p:cNvSpPr>
            <a:spLocks noGrp="1"/>
          </p:cNvSpPr>
          <p:nvPr>
            <p:ph type="dt" sz="half" idx="10"/>
          </p:nvPr>
        </p:nvSpPr>
        <p:spPr/>
        <p:txBody>
          <a:bodyPr/>
          <a:lstStyle/>
          <a:p>
            <a:fld id="{2AA72E3F-8A55-9C48-B22C-9888FA90A321}" type="datetimeFigureOut">
              <a:rPr lang="en-US" smtClean="0"/>
              <a:t>12/28/19</a:t>
            </a:fld>
            <a:endParaRPr lang="en-US"/>
          </a:p>
        </p:txBody>
      </p:sp>
      <p:sp>
        <p:nvSpPr>
          <p:cNvPr id="6" name="Footer Placeholder 5">
            <a:extLst>
              <a:ext uri="{FF2B5EF4-FFF2-40B4-BE49-F238E27FC236}">
                <a16:creationId xmlns:a16="http://schemas.microsoft.com/office/drawing/2014/main" id="{154C5A62-7019-6745-A357-81ECF9B6EC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27AEFB-6F70-704C-A7C6-2F7B48616E71}"/>
              </a:ext>
            </a:extLst>
          </p:cNvPr>
          <p:cNvSpPr>
            <a:spLocks noGrp="1"/>
          </p:cNvSpPr>
          <p:nvPr>
            <p:ph type="sldNum" sz="quarter" idx="12"/>
          </p:nvPr>
        </p:nvSpPr>
        <p:spPr/>
        <p:txBody>
          <a:bodyPr/>
          <a:lstStyle/>
          <a:p>
            <a:fld id="{405CDD07-B233-034C-B1B1-01CD15064FCC}" type="slidenum">
              <a:rPr lang="en-US" smtClean="0"/>
              <a:t>‹#›</a:t>
            </a:fld>
            <a:endParaRPr lang="en-US"/>
          </a:p>
        </p:txBody>
      </p:sp>
    </p:spTree>
    <p:extLst>
      <p:ext uri="{BB962C8B-B14F-4D97-AF65-F5344CB8AC3E}">
        <p14:creationId xmlns:p14="http://schemas.microsoft.com/office/powerpoint/2010/main" val="25080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32328-E8BC-2F42-9F68-4752D08CA1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F3A0748-EDCE-784E-8031-2E02EFCB9C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07D1EA-DBE9-3640-8DA9-99CE1BB110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38504B3-E14C-EF49-8552-063AA7186A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207F8C-3DBE-3F43-AA9D-304B71BDA2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9A95854-408C-6C4F-A05B-261A6CA846DE}"/>
              </a:ext>
            </a:extLst>
          </p:cNvPr>
          <p:cNvSpPr>
            <a:spLocks noGrp="1"/>
          </p:cNvSpPr>
          <p:nvPr>
            <p:ph type="dt" sz="half" idx="10"/>
          </p:nvPr>
        </p:nvSpPr>
        <p:spPr/>
        <p:txBody>
          <a:bodyPr/>
          <a:lstStyle/>
          <a:p>
            <a:fld id="{2AA72E3F-8A55-9C48-B22C-9888FA90A321}" type="datetimeFigureOut">
              <a:rPr lang="en-US" smtClean="0"/>
              <a:t>12/28/19</a:t>
            </a:fld>
            <a:endParaRPr lang="en-US"/>
          </a:p>
        </p:txBody>
      </p:sp>
      <p:sp>
        <p:nvSpPr>
          <p:cNvPr id="8" name="Footer Placeholder 7">
            <a:extLst>
              <a:ext uri="{FF2B5EF4-FFF2-40B4-BE49-F238E27FC236}">
                <a16:creationId xmlns:a16="http://schemas.microsoft.com/office/drawing/2014/main" id="{315E1584-6463-1848-9156-67BB5FB19B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78923C3-93C0-514E-93E0-262BBFC589C7}"/>
              </a:ext>
            </a:extLst>
          </p:cNvPr>
          <p:cNvSpPr>
            <a:spLocks noGrp="1"/>
          </p:cNvSpPr>
          <p:nvPr>
            <p:ph type="sldNum" sz="quarter" idx="12"/>
          </p:nvPr>
        </p:nvSpPr>
        <p:spPr/>
        <p:txBody>
          <a:bodyPr/>
          <a:lstStyle/>
          <a:p>
            <a:fld id="{405CDD07-B233-034C-B1B1-01CD15064FCC}" type="slidenum">
              <a:rPr lang="en-US" smtClean="0"/>
              <a:t>‹#›</a:t>
            </a:fld>
            <a:endParaRPr lang="en-US"/>
          </a:p>
        </p:txBody>
      </p:sp>
    </p:spTree>
    <p:extLst>
      <p:ext uri="{BB962C8B-B14F-4D97-AF65-F5344CB8AC3E}">
        <p14:creationId xmlns:p14="http://schemas.microsoft.com/office/powerpoint/2010/main" val="4034659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76E2F-689B-3E40-955B-4513C7EED1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8809ED-8655-564A-AA0D-2CA70CAC1484}"/>
              </a:ext>
            </a:extLst>
          </p:cNvPr>
          <p:cNvSpPr>
            <a:spLocks noGrp="1"/>
          </p:cNvSpPr>
          <p:nvPr>
            <p:ph type="dt" sz="half" idx="10"/>
          </p:nvPr>
        </p:nvSpPr>
        <p:spPr/>
        <p:txBody>
          <a:bodyPr/>
          <a:lstStyle/>
          <a:p>
            <a:fld id="{2AA72E3F-8A55-9C48-B22C-9888FA90A321}" type="datetimeFigureOut">
              <a:rPr lang="en-US" smtClean="0"/>
              <a:t>12/28/19</a:t>
            </a:fld>
            <a:endParaRPr lang="en-US"/>
          </a:p>
        </p:txBody>
      </p:sp>
      <p:sp>
        <p:nvSpPr>
          <p:cNvPr id="4" name="Footer Placeholder 3">
            <a:extLst>
              <a:ext uri="{FF2B5EF4-FFF2-40B4-BE49-F238E27FC236}">
                <a16:creationId xmlns:a16="http://schemas.microsoft.com/office/drawing/2014/main" id="{A40CEDF2-2578-594F-B4BF-733F066C5C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C076D5-3BA4-2A4C-9C5F-488AA177327B}"/>
              </a:ext>
            </a:extLst>
          </p:cNvPr>
          <p:cNvSpPr>
            <a:spLocks noGrp="1"/>
          </p:cNvSpPr>
          <p:nvPr>
            <p:ph type="sldNum" sz="quarter" idx="12"/>
          </p:nvPr>
        </p:nvSpPr>
        <p:spPr/>
        <p:txBody>
          <a:bodyPr/>
          <a:lstStyle/>
          <a:p>
            <a:fld id="{405CDD07-B233-034C-B1B1-01CD15064FCC}" type="slidenum">
              <a:rPr lang="en-US" smtClean="0"/>
              <a:t>‹#›</a:t>
            </a:fld>
            <a:endParaRPr lang="en-US"/>
          </a:p>
        </p:txBody>
      </p:sp>
    </p:spTree>
    <p:extLst>
      <p:ext uri="{BB962C8B-B14F-4D97-AF65-F5344CB8AC3E}">
        <p14:creationId xmlns:p14="http://schemas.microsoft.com/office/powerpoint/2010/main" val="2819601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12C7B6-F3EE-E144-9EEE-FBF4379F4DA8}"/>
              </a:ext>
            </a:extLst>
          </p:cNvPr>
          <p:cNvSpPr>
            <a:spLocks noGrp="1"/>
          </p:cNvSpPr>
          <p:nvPr>
            <p:ph type="dt" sz="half" idx="10"/>
          </p:nvPr>
        </p:nvSpPr>
        <p:spPr/>
        <p:txBody>
          <a:bodyPr/>
          <a:lstStyle/>
          <a:p>
            <a:fld id="{2AA72E3F-8A55-9C48-B22C-9888FA90A321}" type="datetimeFigureOut">
              <a:rPr lang="en-US" smtClean="0"/>
              <a:t>12/28/19</a:t>
            </a:fld>
            <a:endParaRPr lang="en-US"/>
          </a:p>
        </p:txBody>
      </p:sp>
      <p:sp>
        <p:nvSpPr>
          <p:cNvPr id="3" name="Footer Placeholder 2">
            <a:extLst>
              <a:ext uri="{FF2B5EF4-FFF2-40B4-BE49-F238E27FC236}">
                <a16:creationId xmlns:a16="http://schemas.microsoft.com/office/drawing/2014/main" id="{9003FC04-86B1-C945-A893-550D52EE772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59C51B-9A01-B14E-BF9B-DBE9AE5BFD4D}"/>
              </a:ext>
            </a:extLst>
          </p:cNvPr>
          <p:cNvSpPr>
            <a:spLocks noGrp="1"/>
          </p:cNvSpPr>
          <p:nvPr>
            <p:ph type="sldNum" sz="quarter" idx="12"/>
          </p:nvPr>
        </p:nvSpPr>
        <p:spPr/>
        <p:txBody>
          <a:bodyPr/>
          <a:lstStyle/>
          <a:p>
            <a:fld id="{405CDD07-B233-034C-B1B1-01CD15064FCC}" type="slidenum">
              <a:rPr lang="en-US" smtClean="0"/>
              <a:t>‹#›</a:t>
            </a:fld>
            <a:endParaRPr lang="en-US"/>
          </a:p>
        </p:txBody>
      </p:sp>
    </p:spTree>
    <p:extLst>
      <p:ext uri="{BB962C8B-B14F-4D97-AF65-F5344CB8AC3E}">
        <p14:creationId xmlns:p14="http://schemas.microsoft.com/office/powerpoint/2010/main" val="3109198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34527-4179-9B4F-99EB-2A53586864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525B1A-A10D-0941-8BA1-032F387D8E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041739-DA7B-6F4A-BD7C-89C78D7A38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F546BB-D87F-454C-A03C-004CA02E6C85}"/>
              </a:ext>
            </a:extLst>
          </p:cNvPr>
          <p:cNvSpPr>
            <a:spLocks noGrp="1"/>
          </p:cNvSpPr>
          <p:nvPr>
            <p:ph type="dt" sz="half" idx="10"/>
          </p:nvPr>
        </p:nvSpPr>
        <p:spPr/>
        <p:txBody>
          <a:bodyPr/>
          <a:lstStyle/>
          <a:p>
            <a:fld id="{2AA72E3F-8A55-9C48-B22C-9888FA90A321}" type="datetimeFigureOut">
              <a:rPr lang="en-US" smtClean="0"/>
              <a:t>12/28/19</a:t>
            </a:fld>
            <a:endParaRPr lang="en-US"/>
          </a:p>
        </p:txBody>
      </p:sp>
      <p:sp>
        <p:nvSpPr>
          <p:cNvPr id="6" name="Footer Placeholder 5">
            <a:extLst>
              <a:ext uri="{FF2B5EF4-FFF2-40B4-BE49-F238E27FC236}">
                <a16:creationId xmlns:a16="http://schemas.microsoft.com/office/drawing/2014/main" id="{E7598B01-DF96-8840-B0D8-B10E8F7CA8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5FDD5C-8831-614B-A7DA-53FC245B5CE4}"/>
              </a:ext>
            </a:extLst>
          </p:cNvPr>
          <p:cNvSpPr>
            <a:spLocks noGrp="1"/>
          </p:cNvSpPr>
          <p:nvPr>
            <p:ph type="sldNum" sz="quarter" idx="12"/>
          </p:nvPr>
        </p:nvSpPr>
        <p:spPr/>
        <p:txBody>
          <a:bodyPr/>
          <a:lstStyle/>
          <a:p>
            <a:fld id="{405CDD07-B233-034C-B1B1-01CD15064FCC}" type="slidenum">
              <a:rPr lang="en-US" smtClean="0"/>
              <a:t>‹#›</a:t>
            </a:fld>
            <a:endParaRPr lang="en-US"/>
          </a:p>
        </p:txBody>
      </p:sp>
    </p:spTree>
    <p:extLst>
      <p:ext uri="{BB962C8B-B14F-4D97-AF65-F5344CB8AC3E}">
        <p14:creationId xmlns:p14="http://schemas.microsoft.com/office/powerpoint/2010/main" val="3588848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AC480-FFE0-BB4A-9D69-A8802AEE67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2DD8AF-F6A6-0944-91DC-817DE48CC3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616B84-166D-F942-80A7-4391202E45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428BEC-B1AB-5847-B3F8-05E8421DA992}"/>
              </a:ext>
            </a:extLst>
          </p:cNvPr>
          <p:cNvSpPr>
            <a:spLocks noGrp="1"/>
          </p:cNvSpPr>
          <p:nvPr>
            <p:ph type="dt" sz="half" idx="10"/>
          </p:nvPr>
        </p:nvSpPr>
        <p:spPr/>
        <p:txBody>
          <a:bodyPr/>
          <a:lstStyle/>
          <a:p>
            <a:fld id="{2AA72E3F-8A55-9C48-B22C-9888FA90A321}" type="datetimeFigureOut">
              <a:rPr lang="en-US" smtClean="0"/>
              <a:t>12/28/19</a:t>
            </a:fld>
            <a:endParaRPr lang="en-US"/>
          </a:p>
        </p:txBody>
      </p:sp>
      <p:sp>
        <p:nvSpPr>
          <p:cNvPr id="6" name="Footer Placeholder 5">
            <a:extLst>
              <a:ext uri="{FF2B5EF4-FFF2-40B4-BE49-F238E27FC236}">
                <a16:creationId xmlns:a16="http://schemas.microsoft.com/office/drawing/2014/main" id="{84E96A6E-04D2-F844-96CA-1CD9DF01DC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05D58-0543-2F45-93B2-DD93B02E28DF}"/>
              </a:ext>
            </a:extLst>
          </p:cNvPr>
          <p:cNvSpPr>
            <a:spLocks noGrp="1"/>
          </p:cNvSpPr>
          <p:nvPr>
            <p:ph type="sldNum" sz="quarter" idx="12"/>
          </p:nvPr>
        </p:nvSpPr>
        <p:spPr/>
        <p:txBody>
          <a:bodyPr/>
          <a:lstStyle/>
          <a:p>
            <a:fld id="{405CDD07-B233-034C-B1B1-01CD15064FCC}" type="slidenum">
              <a:rPr lang="en-US" smtClean="0"/>
              <a:t>‹#›</a:t>
            </a:fld>
            <a:endParaRPr lang="en-US"/>
          </a:p>
        </p:txBody>
      </p:sp>
    </p:spTree>
    <p:extLst>
      <p:ext uri="{BB962C8B-B14F-4D97-AF65-F5344CB8AC3E}">
        <p14:creationId xmlns:p14="http://schemas.microsoft.com/office/powerpoint/2010/main" val="2055887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CEF44-1E3F-6347-A5D4-F7AB48E089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BCC03E4-D552-2543-9BC5-84A0CC954D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502B3B-4F50-2C46-BBD7-946365591401}"/>
              </a:ext>
            </a:extLst>
          </p:cNvPr>
          <p:cNvSpPr>
            <a:spLocks noGrp="1"/>
          </p:cNvSpPr>
          <p:nvPr>
            <p:ph type="dt" sz="half" idx="10"/>
          </p:nvPr>
        </p:nvSpPr>
        <p:spPr/>
        <p:txBody>
          <a:bodyPr/>
          <a:lstStyle/>
          <a:p>
            <a:fld id="{2AA72E3F-8A55-9C48-B22C-9888FA90A321}" type="datetimeFigureOut">
              <a:rPr lang="en-US" smtClean="0"/>
              <a:t>12/28/19</a:t>
            </a:fld>
            <a:endParaRPr lang="en-US"/>
          </a:p>
        </p:txBody>
      </p:sp>
      <p:sp>
        <p:nvSpPr>
          <p:cNvPr id="5" name="Footer Placeholder 4">
            <a:extLst>
              <a:ext uri="{FF2B5EF4-FFF2-40B4-BE49-F238E27FC236}">
                <a16:creationId xmlns:a16="http://schemas.microsoft.com/office/drawing/2014/main" id="{F131BB33-4362-2D4A-B2C4-51C887FB6D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651A40-A07E-AB41-AE58-988D142E4C3B}"/>
              </a:ext>
            </a:extLst>
          </p:cNvPr>
          <p:cNvSpPr>
            <a:spLocks noGrp="1"/>
          </p:cNvSpPr>
          <p:nvPr>
            <p:ph type="sldNum" sz="quarter" idx="12"/>
          </p:nvPr>
        </p:nvSpPr>
        <p:spPr/>
        <p:txBody>
          <a:bodyPr/>
          <a:lstStyle/>
          <a:p>
            <a:fld id="{405CDD07-B233-034C-B1B1-01CD15064FCC}" type="slidenum">
              <a:rPr lang="en-US" smtClean="0"/>
              <a:t>‹#›</a:t>
            </a:fld>
            <a:endParaRPr lang="en-US"/>
          </a:p>
        </p:txBody>
      </p:sp>
    </p:spTree>
    <p:extLst>
      <p:ext uri="{BB962C8B-B14F-4D97-AF65-F5344CB8AC3E}">
        <p14:creationId xmlns:p14="http://schemas.microsoft.com/office/powerpoint/2010/main" val="3631113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C0597A-5431-934F-ACC4-B7926E303CE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99DF70-AA81-BB4F-AB9A-7302EF70BA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28ECE4-8671-0D43-B5B5-14014C80BD1E}"/>
              </a:ext>
            </a:extLst>
          </p:cNvPr>
          <p:cNvSpPr>
            <a:spLocks noGrp="1"/>
          </p:cNvSpPr>
          <p:nvPr>
            <p:ph type="dt" sz="half" idx="10"/>
          </p:nvPr>
        </p:nvSpPr>
        <p:spPr/>
        <p:txBody>
          <a:bodyPr/>
          <a:lstStyle/>
          <a:p>
            <a:fld id="{2AA72E3F-8A55-9C48-B22C-9888FA90A321}" type="datetimeFigureOut">
              <a:rPr lang="en-US" smtClean="0"/>
              <a:t>12/28/19</a:t>
            </a:fld>
            <a:endParaRPr lang="en-US"/>
          </a:p>
        </p:txBody>
      </p:sp>
      <p:sp>
        <p:nvSpPr>
          <p:cNvPr id="5" name="Footer Placeholder 4">
            <a:extLst>
              <a:ext uri="{FF2B5EF4-FFF2-40B4-BE49-F238E27FC236}">
                <a16:creationId xmlns:a16="http://schemas.microsoft.com/office/drawing/2014/main" id="{7125D9E2-1DAC-9A49-B91C-B5C712CCD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413507-265C-8248-9B56-10A8A72EA06F}"/>
              </a:ext>
            </a:extLst>
          </p:cNvPr>
          <p:cNvSpPr>
            <a:spLocks noGrp="1"/>
          </p:cNvSpPr>
          <p:nvPr>
            <p:ph type="sldNum" sz="quarter" idx="12"/>
          </p:nvPr>
        </p:nvSpPr>
        <p:spPr/>
        <p:txBody>
          <a:bodyPr/>
          <a:lstStyle/>
          <a:p>
            <a:fld id="{405CDD07-B233-034C-B1B1-01CD15064FCC}" type="slidenum">
              <a:rPr lang="en-US" smtClean="0"/>
              <a:t>‹#›</a:t>
            </a:fld>
            <a:endParaRPr lang="en-US"/>
          </a:p>
        </p:txBody>
      </p:sp>
    </p:spTree>
    <p:extLst>
      <p:ext uri="{BB962C8B-B14F-4D97-AF65-F5344CB8AC3E}">
        <p14:creationId xmlns:p14="http://schemas.microsoft.com/office/powerpoint/2010/main" val="1923435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9D1731-7D66-3A47-BED3-F6B891D537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209A00-0C98-DC46-A647-F5EC4EAA63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46802C-594E-9341-94C1-348DB1B90F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A72E3F-8A55-9C48-B22C-9888FA90A321}" type="datetimeFigureOut">
              <a:rPr lang="en-US" smtClean="0"/>
              <a:t>12/28/19</a:t>
            </a:fld>
            <a:endParaRPr lang="en-US"/>
          </a:p>
        </p:txBody>
      </p:sp>
      <p:sp>
        <p:nvSpPr>
          <p:cNvPr id="5" name="Footer Placeholder 4">
            <a:extLst>
              <a:ext uri="{FF2B5EF4-FFF2-40B4-BE49-F238E27FC236}">
                <a16:creationId xmlns:a16="http://schemas.microsoft.com/office/drawing/2014/main" id="{12E07D02-AB96-AA43-A7BE-F7F9478EA3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A348523-85A7-4A4B-A6D0-4C1BABCF29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5CDD07-B233-034C-B1B1-01CD15064FCC}" type="slidenum">
              <a:rPr lang="en-US" smtClean="0"/>
              <a:t>‹#›</a:t>
            </a:fld>
            <a:endParaRPr lang="en-US"/>
          </a:p>
        </p:txBody>
      </p:sp>
    </p:spTree>
    <p:extLst>
      <p:ext uri="{BB962C8B-B14F-4D97-AF65-F5344CB8AC3E}">
        <p14:creationId xmlns:p14="http://schemas.microsoft.com/office/powerpoint/2010/main" val="2715638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omments" Target="../comments/comment1.xml"/><Relationship Id="rId5" Type="http://schemas.openxmlformats.org/officeDocument/2006/relationships/image" Target="../media/image4.jpeg"/><Relationship Id="rId4" Type="http://schemas.openxmlformats.org/officeDocument/2006/relationships/image" Target="../media/image2.tiff"/></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tiff"/></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2.tiff"/><Relationship Id="rId4" Type="http://schemas.openxmlformats.org/officeDocument/2006/relationships/image" Target="../media/image1.png"/><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tiff"/></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2.tiff"/></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2.tiff"/></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2.tiff"/><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tiff"/><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tiff"/></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F2374-B174-F34F-8AFF-FE883381322E}"/>
              </a:ext>
            </a:extLst>
          </p:cNvPr>
          <p:cNvSpPr>
            <a:spLocks noGrp="1"/>
          </p:cNvSpPr>
          <p:nvPr>
            <p:ph type="ctrTitle"/>
          </p:nvPr>
        </p:nvSpPr>
        <p:spPr/>
        <p:txBody>
          <a:bodyPr>
            <a:normAutofit/>
          </a:bodyPr>
          <a:lstStyle/>
          <a:p>
            <a:r>
              <a:rPr lang="en-GB" dirty="0"/>
              <a:t>Introductory Computer Networking and IT Security </a:t>
            </a:r>
            <a:endParaRPr lang="en-US" dirty="0"/>
          </a:p>
        </p:txBody>
      </p:sp>
      <p:sp>
        <p:nvSpPr>
          <p:cNvPr id="3" name="Subtitle 2">
            <a:extLst>
              <a:ext uri="{FF2B5EF4-FFF2-40B4-BE49-F238E27FC236}">
                <a16:creationId xmlns:a16="http://schemas.microsoft.com/office/drawing/2014/main" id="{0F0BA501-51A5-C948-B97B-2246F8216B5F}"/>
              </a:ext>
            </a:extLst>
          </p:cNvPr>
          <p:cNvSpPr>
            <a:spLocks noGrp="1"/>
          </p:cNvSpPr>
          <p:nvPr>
            <p:ph type="subTitle" idx="1"/>
          </p:nvPr>
        </p:nvSpPr>
        <p:spPr>
          <a:xfrm>
            <a:off x="1524000" y="3987798"/>
            <a:ext cx="9144000" cy="1270001"/>
          </a:xfrm>
        </p:spPr>
        <p:txBody>
          <a:bodyPr/>
          <a:lstStyle/>
          <a:p>
            <a:r>
              <a:rPr lang="en-US" dirty="0"/>
              <a:t>Week 7</a:t>
            </a:r>
          </a:p>
          <a:p>
            <a:endParaRPr lang="en-US" dirty="0"/>
          </a:p>
        </p:txBody>
      </p:sp>
      <p:pic>
        <p:nvPicPr>
          <p:cNvPr id="7" name="Picture 6">
            <a:extLst>
              <a:ext uri="{FF2B5EF4-FFF2-40B4-BE49-F238E27FC236}">
                <a16:creationId xmlns:a16="http://schemas.microsoft.com/office/drawing/2014/main" id="{D14BD8D6-0482-B348-8E52-88F13AFCEEF3}"/>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4" name="Picture 3">
            <a:extLst>
              <a:ext uri="{FF2B5EF4-FFF2-40B4-BE49-F238E27FC236}">
                <a16:creationId xmlns:a16="http://schemas.microsoft.com/office/drawing/2014/main" id="{D9566B64-800D-7343-9B97-B4BCEFCA1F0E}"/>
              </a:ext>
            </a:extLst>
          </p:cNvPr>
          <p:cNvPicPr>
            <a:picLocks noChangeAspect="1"/>
          </p:cNvPicPr>
          <p:nvPr/>
        </p:nvPicPr>
        <p:blipFill>
          <a:blip r:embed="rId3"/>
          <a:stretch>
            <a:fillRect/>
          </a:stretch>
        </p:blipFill>
        <p:spPr>
          <a:xfrm>
            <a:off x="7874000" y="80167"/>
            <a:ext cx="3009900" cy="635000"/>
          </a:xfrm>
          <a:prstGeom prst="rect">
            <a:avLst/>
          </a:prstGeom>
        </p:spPr>
      </p:pic>
    </p:spTree>
    <p:extLst>
      <p:ext uri="{BB962C8B-B14F-4D97-AF65-F5344CB8AC3E}">
        <p14:creationId xmlns:p14="http://schemas.microsoft.com/office/powerpoint/2010/main" val="1498426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Agenda</a:t>
            </a:r>
          </a:p>
        </p:txBody>
      </p:sp>
      <p:sp>
        <p:nvSpPr>
          <p:cNvPr id="3" name="Content Placeholder 2"/>
          <p:cNvSpPr>
            <a:spLocks noGrp="1"/>
          </p:cNvSpPr>
          <p:nvPr>
            <p:ph idx="1"/>
          </p:nvPr>
        </p:nvSpPr>
        <p:spPr/>
        <p:txBody>
          <a:bodyPr>
            <a:normAutofit/>
          </a:bodyPr>
          <a:lstStyle/>
          <a:p>
            <a:pPr lvl="0"/>
            <a:r>
              <a:rPr lang="en-GB" dirty="0"/>
              <a:t>Introduction to Access Control List</a:t>
            </a:r>
          </a:p>
          <a:p>
            <a:r>
              <a:rPr lang="en-GB" dirty="0"/>
              <a:t>Types of Access Control List</a:t>
            </a:r>
          </a:p>
          <a:p>
            <a:r>
              <a:rPr lang="en-GB" dirty="0"/>
              <a:t>Wildcard masking</a:t>
            </a:r>
            <a:endParaRPr lang="en-US" dirty="0"/>
          </a:p>
          <a:p>
            <a:pPr lvl="0"/>
            <a:r>
              <a:rPr lang="en-GB" dirty="0"/>
              <a:t>Authentication and managing traffic with Access Control List (configuration)</a:t>
            </a:r>
            <a:endParaRPr lang="en-US" dirty="0"/>
          </a:p>
        </p:txBody>
      </p:sp>
      <p:pic>
        <p:nvPicPr>
          <p:cNvPr id="6" name="Picture 5">
            <a:extLst>
              <a:ext uri="{FF2B5EF4-FFF2-40B4-BE49-F238E27FC236}">
                <a16:creationId xmlns:a16="http://schemas.microsoft.com/office/drawing/2014/main" id="{56854645-6956-6D49-9B3E-93F4599D5C5D}"/>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7" name="Picture 6">
            <a:extLst>
              <a:ext uri="{FF2B5EF4-FFF2-40B4-BE49-F238E27FC236}">
                <a16:creationId xmlns:a16="http://schemas.microsoft.com/office/drawing/2014/main" id="{637073F7-EEC6-F14B-842C-7DA235BC4B69}"/>
              </a:ext>
            </a:extLst>
          </p:cNvPr>
          <p:cNvPicPr>
            <a:picLocks noChangeAspect="1"/>
          </p:cNvPicPr>
          <p:nvPr/>
        </p:nvPicPr>
        <p:blipFill>
          <a:blip r:embed="rId3"/>
          <a:stretch>
            <a:fillRect/>
          </a:stretch>
        </p:blipFill>
        <p:spPr>
          <a:xfrm>
            <a:off x="7874000" y="80167"/>
            <a:ext cx="3009900" cy="635000"/>
          </a:xfrm>
          <a:prstGeom prst="rect">
            <a:avLst/>
          </a:prstGeom>
        </p:spPr>
      </p:pic>
    </p:spTree>
    <p:extLst>
      <p:ext uri="{BB962C8B-B14F-4D97-AF65-F5344CB8AC3E}">
        <p14:creationId xmlns:p14="http://schemas.microsoft.com/office/powerpoint/2010/main" val="560164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Access List</a:t>
            </a:r>
          </a:p>
        </p:txBody>
      </p:sp>
      <p:pic>
        <p:nvPicPr>
          <p:cNvPr id="5" name="Content Placeholder 4">
            <a:extLst>
              <a:ext uri="{FF2B5EF4-FFF2-40B4-BE49-F238E27FC236}">
                <a16:creationId xmlns:a16="http://schemas.microsoft.com/office/drawing/2014/main" id="{FBE7DE6D-6BD7-044A-965D-424033813E2A}"/>
              </a:ext>
            </a:extLst>
          </p:cNvPr>
          <p:cNvPicPr>
            <a:picLocks noGrp="1" noChangeAspect="1"/>
          </p:cNvPicPr>
          <p:nvPr>
            <p:ph idx="1"/>
          </p:nvPr>
        </p:nvPicPr>
        <p:blipFill>
          <a:blip r:embed="rId2"/>
          <a:stretch>
            <a:fillRect/>
          </a:stretch>
        </p:blipFill>
        <p:spPr>
          <a:xfrm>
            <a:off x="2119565" y="1253331"/>
            <a:ext cx="7952869" cy="4351338"/>
          </a:xfrm>
        </p:spPr>
      </p:pic>
      <p:pic>
        <p:nvPicPr>
          <p:cNvPr id="6" name="Picture 5">
            <a:extLst>
              <a:ext uri="{FF2B5EF4-FFF2-40B4-BE49-F238E27FC236}">
                <a16:creationId xmlns:a16="http://schemas.microsoft.com/office/drawing/2014/main" id="{56854645-6956-6D49-9B3E-93F4599D5C5D}"/>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7" name="Picture 6">
            <a:extLst>
              <a:ext uri="{FF2B5EF4-FFF2-40B4-BE49-F238E27FC236}">
                <a16:creationId xmlns:a16="http://schemas.microsoft.com/office/drawing/2014/main" id="{637073F7-EEC6-F14B-842C-7DA235BC4B69}"/>
              </a:ext>
            </a:extLst>
          </p:cNvPr>
          <p:cNvPicPr>
            <a:picLocks noChangeAspect="1"/>
          </p:cNvPicPr>
          <p:nvPr/>
        </p:nvPicPr>
        <p:blipFill>
          <a:blip r:embed="rId4"/>
          <a:stretch>
            <a:fillRect/>
          </a:stretch>
        </p:blipFill>
        <p:spPr>
          <a:xfrm>
            <a:off x="7874000" y="80167"/>
            <a:ext cx="3009900" cy="635000"/>
          </a:xfrm>
          <a:prstGeom prst="rect">
            <a:avLst/>
          </a:prstGeom>
        </p:spPr>
      </p:pic>
      <p:sp>
        <p:nvSpPr>
          <p:cNvPr id="8" name="TextBox 7">
            <a:extLst>
              <a:ext uri="{FF2B5EF4-FFF2-40B4-BE49-F238E27FC236}">
                <a16:creationId xmlns:a16="http://schemas.microsoft.com/office/drawing/2014/main" id="{A7AAC756-D571-C140-B5E1-603B81C56B0D}"/>
              </a:ext>
            </a:extLst>
          </p:cNvPr>
          <p:cNvSpPr txBox="1"/>
          <p:nvPr/>
        </p:nvSpPr>
        <p:spPr>
          <a:xfrm>
            <a:off x="1595113" y="5358003"/>
            <a:ext cx="8477321" cy="1569660"/>
          </a:xfrm>
          <a:prstGeom prst="rect">
            <a:avLst/>
          </a:prstGeom>
          <a:noFill/>
        </p:spPr>
        <p:txBody>
          <a:bodyPr wrap="none" rtlCol="0">
            <a:spAutoFit/>
          </a:bodyPr>
          <a:lstStyle/>
          <a:p>
            <a:r>
              <a:rPr lang="en-US" sz="2400" dirty="0"/>
              <a:t>With ACL we can deny access to host C into the Financial network, </a:t>
            </a:r>
          </a:p>
          <a:p>
            <a:r>
              <a:rPr lang="en-US" sz="2400" dirty="0"/>
              <a:t>and at the same time, allowing access to host D.</a:t>
            </a:r>
          </a:p>
          <a:p>
            <a:br>
              <a:rPr lang="en-US" sz="2400" dirty="0"/>
            </a:br>
            <a:endParaRPr lang="en-US" sz="2400" dirty="0"/>
          </a:p>
        </p:txBody>
      </p:sp>
    </p:spTree>
    <p:extLst>
      <p:ext uri="{BB962C8B-B14F-4D97-AF65-F5344CB8AC3E}">
        <p14:creationId xmlns:p14="http://schemas.microsoft.com/office/powerpoint/2010/main" val="4058151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b="1" dirty="0"/>
              <a:t>Access Control List</a:t>
            </a:r>
          </a:p>
        </p:txBody>
      </p:sp>
      <p:sp>
        <p:nvSpPr>
          <p:cNvPr id="3" name="Content Placeholder 2"/>
          <p:cNvSpPr>
            <a:spLocks noGrp="1"/>
          </p:cNvSpPr>
          <p:nvPr>
            <p:ph idx="1"/>
          </p:nvPr>
        </p:nvSpPr>
        <p:spPr>
          <a:xfrm>
            <a:off x="838200" y="1825625"/>
            <a:ext cx="10706100" cy="4667250"/>
          </a:xfrm>
        </p:spPr>
        <p:txBody>
          <a:bodyPr>
            <a:normAutofit/>
          </a:bodyPr>
          <a:lstStyle/>
          <a:p>
            <a:r>
              <a:rPr lang="en-US" sz="3200" dirty="0"/>
              <a:t>A list of permissions or conditions are categorizes packets</a:t>
            </a:r>
          </a:p>
          <a:p>
            <a:r>
              <a:rPr lang="en-US" sz="3200" dirty="0"/>
              <a:t>Used to exercise control over network traffic. </a:t>
            </a:r>
          </a:p>
          <a:p>
            <a:r>
              <a:rPr lang="en-US" sz="3200" dirty="0"/>
              <a:t>Used to filter unwanted packets when implementing security policies.</a:t>
            </a:r>
          </a:p>
          <a:p>
            <a:r>
              <a:rPr lang="en-US" sz="3200" dirty="0"/>
              <a:t>Used to control which networks will or won’t be advertised by dynamic routing protocols </a:t>
            </a:r>
          </a:p>
          <a:p>
            <a:endParaRPr lang="en-US" dirty="0"/>
          </a:p>
          <a:p>
            <a:endParaRPr lang="en-US" dirty="0">
              <a:effectLst/>
            </a:endParaRPr>
          </a:p>
        </p:txBody>
      </p:sp>
      <p:pic>
        <p:nvPicPr>
          <p:cNvPr id="4" name="Picture 3">
            <a:extLst>
              <a:ext uri="{FF2B5EF4-FFF2-40B4-BE49-F238E27FC236}">
                <a16:creationId xmlns:a16="http://schemas.microsoft.com/office/drawing/2014/main" id="{9B12500D-06B6-0647-B072-2B447F828A6F}"/>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F32398E7-9D1C-5044-84B0-BAAB2A75098A}"/>
              </a:ext>
            </a:extLst>
          </p:cNvPr>
          <p:cNvPicPr>
            <a:picLocks noChangeAspect="1"/>
          </p:cNvPicPr>
          <p:nvPr/>
        </p:nvPicPr>
        <p:blipFill>
          <a:blip r:embed="rId4"/>
          <a:stretch>
            <a:fillRect/>
          </a:stretch>
        </p:blipFill>
        <p:spPr>
          <a:xfrm>
            <a:off x="7874000" y="80167"/>
            <a:ext cx="3009900" cy="635000"/>
          </a:xfrm>
          <a:prstGeom prst="rect">
            <a:avLst/>
          </a:prstGeom>
        </p:spPr>
      </p:pic>
      <p:pic>
        <p:nvPicPr>
          <p:cNvPr id="1025" name="Picture 1" descr="page1image1348752064">
            <a:extLst>
              <a:ext uri="{FF2B5EF4-FFF2-40B4-BE49-F238E27FC236}">
                <a16:creationId xmlns:a16="http://schemas.microsoft.com/office/drawing/2014/main" id="{ECF9A94B-7BEB-C443-85BE-E82438582F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6121400" cy="78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339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b="1" dirty="0"/>
              <a:t>Access Control List</a:t>
            </a:r>
          </a:p>
        </p:txBody>
      </p:sp>
      <p:sp>
        <p:nvSpPr>
          <p:cNvPr id="3" name="Content Placeholder 2"/>
          <p:cNvSpPr>
            <a:spLocks noGrp="1"/>
          </p:cNvSpPr>
          <p:nvPr>
            <p:ph idx="1"/>
          </p:nvPr>
        </p:nvSpPr>
        <p:spPr>
          <a:xfrm>
            <a:off x="838200" y="1825625"/>
            <a:ext cx="10706100" cy="4667250"/>
          </a:xfrm>
        </p:spPr>
        <p:txBody>
          <a:bodyPr>
            <a:normAutofit/>
          </a:bodyPr>
          <a:lstStyle/>
          <a:p>
            <a:r>
              <a:rPr lang="en-US" sz="3200" dirty="0"/>
              <a:t>Used access lists to categorize packets for queuing or QoS-type services</a:t>
            </a:r>
          </a:p>
          <a:p>
            <a:r>
              <a:rPr lang="en-US" sz="3200" dirty="0"/>
              <a:t>Used for controlling which types of traffic can activate a pricey ISDN link. </a:t>
            </a:r>
          </a:p>
          <a:p>
            <a:r>
              <a:rPr lang="en-US" sz="3200" dirty="0"/>
              <a:t>ACLs are directly configured in a device’s forwarding hardware, so they do not compromise the end performance.</a:t>
            </a:r>
          </a:p>
          <a:p>
            <a:endParaRPr lang="en-US" dirty="0"/>
          </a:p>
          <a:p>
            <a:endParaRPr lang="en-US" dirty="0">
              <a:effectLst/>
            </a:endParaRPr>
          </a:p>
        </p:txBody>
      </p:sp>
      <p:pic>
        <p:nvPicPr>
          <p:cNvPr id="4" name="Picture 3">
            <a:extLst>
              <a:ext uri="{FF2B5EF4-FFF2-40B4-BE49-F238E27FC236}">
                <a16:creationId xmlns:a16="http://schemas.microsoft.com/office/drawing/2014/main" id="{9B12500D-06B6-0647-B072-2B447F828A6F}"/>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F32398E7-9D1C-5044-84B0-BAAB2A75098A}"/>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1243664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Where Can You Place An ACL?</a:t>
            </a:r>
          </a:p>
        </p:txBody>
      </p:sp>
      <p:sp>
        <p:nvSpPr>
          <p:cNvPr id="3" name="Content Placeholder 2"/>
          <p:cNvSpPr>
            <a:spLocks noGrp="1"/>
          </p:cNvSpPr>
          <p:nvPr>
            <p:ph idx="1"/>
          </p:nvPr>
        </p:nvSpPr>
        <p:spPr>
          <a:xfrm>
            <a:off x="838200" y="1825625"/>
            <a:ext cx="3950368" cy="4667250"/>
          </a:xfrm>
        </p:spPr>
        <p:txBody>
          <a:bodyPr>
            <a:normAutofit/>
          </a:bodyPr>
          <a:lstStyle/>
          <a:p>
            <a:r>
              <a:rPr lang="en-US" dirty="0"/>
              <a:t>On the edge routers.</a:t>
            </a:r>
          </a:p>
          <a:p>
            <a:r>
              <a:rPr lang="en-US" dirty="0"/>
              <a:t>A routing device with an ACL can be placed facing the Internet and connecting the DMZ (De-Militarized Zone).</a:t>
            </a:r>
          </a:p>
          <a:p>
            <a:r>
              <a:rPr lang="en-US" dirty="0"/>
              <a:t> configure an ACL in this router to protect against specific well-known ports (TCP or UDP).</a:t>
            </a:r>
          </a:p>
          <a:p>
            <a:endParaRPr lang="en-US" dirty="0"/>
          </a:p>
          <a:p>
            <a:endParaRPr lang="en-US" dirty="0">
              <a:effectLst/>
            </a:endParaRPr>
          </a:p>
        </p:txBody>
      </p:sp>
      <p:pic>
        <p:nvPicPr>
          <p:cNvPr id="4" name="Picture 3">
            <a:extLst>
              <a:ext uri="{FF2B5EF4-FFF2-40B4-BE49-F238E27FC236}">
                <a16:creationId xmlns:a16="http://schemas.microsoft.com/office/drawing/2014/main" id="{9B12500D-06B6-0647-B072-2B447F828A6F}"/>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F32398E7-9D1C-5044-84B0-BAAB2A75098A}"/>
              </a:ext>
            </a:extLst>
          </p:cNvPr>
          <p:cNvPicPr>
            <a:picLocks noChangeAspect="1"/>
          </p:cNvPicPr>
          <p:nvPr/>
        </p:nvPicPr>
        <p:blipFill>
          <a:blip r:embed="rId4"/>
          <a:stretch>
            <a:fillRect/>
          </a:stretch>
        </p:blipFill>
        <p:spPr>
          <a:xfrm>
            <a:off x="7874000" y="80167"/>
            <a:ext cx="3009900" cy="635000"/>
          </a:xfrm>
          <a:prstGeom prst="rect">
            <a:avLst/>
          </a:prstGeom>
        </p:spPr>
      </p:pic>
      <p:pic>
        <p:nvPicPr>
          <p:cNvPr id="7" name="Picture 6">
            <a:extLst>
              <a:ext uri="{FF2B5EF4-FFF2-40B4-BE49-F238E27FC236}">
                <a16:creationId xmlns:a16="http://schemas.microsoft.com/office/drawing/2014/main" id="{572354DF-4A66-474D-BB20-82C446F80D07}"/>
              </a:ext>
            </a:extLst>
          </p:cNvPr>
          <p:cNvPicPr>
            <a:picLocks noChangeAspect="1"/>
          </p:cNvPicPr>
          <p:nvPr/>
        </p:nvPicPr>
        <p:blipFill>
          <a:blip r:embed="rId5"/>
          <a:stretch>
            <a:fillRect/>
          </a:stretch>
        </p:blipFill>
        <p:spPr>
          <a:xfrm>
            <a:off x="5582653" y="2224087"/>
            <a:ext cx="6446252" cy="3228077"/>
          </a:xfrm>
          <a:prstGeom prst="rect">
            <a:avLst/>
          </a:prstGeom>
        </p:spPr>
      </p:pic>
    </p:spTree>
    <p:extLst>
      <p:ext uri="{BB962C8B-B14F-4D97-AF65-F5344CB8AC3E}">
        <p14:creationId xmlns:p14="http://schemas.microsoft.com/office/powerpoint/2010/main" val="349273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71600"/>
            <a:ext cx="10515600" cy="319088"/>
          </a:xfrm>
        </p:spPr>
        <p:txBody>
          <a:bodyPr>
            <a:normAutofit fontScale="90000"/>
          </a:bodyPr>
          <a:lstStyle/>
          <a:p>
            <a:r>
              <a:rPr lang="en-US" b="1" dirty="0"/>
              <a:t>What Are The Components of An ACL?</a:t>
            </a:r>
            <a:br>
              <a:rPr lang="en-US" b="1" dirty="0"/>
            </a:br>
            <a:br>
              <a:rPr lang="en-US" b="1" dirty="0"/>
            </a:br>
            <a:endParaRPr lang="en-GB" b="1" dirty="0"/>
          </a:p>
        </p:txBody>
      </p:sp>
      <p:sp>
        <p:nvSpPr>
          <p:cNvPr id="3" name="Content Placeholder 2"/>
          <p:cNvSpPr>
            <a:spLocks noGrp="1"/>
          </p:cNvSpPr>
          <p:nvPr>
            <p:ph idx="1"/>
          </p:nvPr>
        </p:nvSpPr>
        <p:spPr>
          <a:xfrm>
            <a:off x="625642" y="1451768"/>
            <a:ext cx="10918658" cy="5041107"/>
          </a:xfrm>
        </p:spPr>
        <p:txBody>
          <a:bodyPr>
            <a:normAutofit lnSpcReduction="10000"/>
          </a:bodyPr>
          <a:lstStyle/>
          <a:p>
            <a:pPr marL="514350" indent="-514350">
              <a:buFont typeface="+mj-lt"/>
              <a:buAutoNum type="arabicPeriod"/>
            </a:pPr>
            <a:r>
              <a:rPr lang="en-US" b="1" dirty="0">
                <a:effectLst/>
              </a:rPr>
              <a:t>Sequence Number:</a:t>
            </a:r>
            <a:br>
              <a:rPr lang="en-US" b="1" dirty="0">
                <a:effectLst/>
              </a:rPr>
            </a:br>
            <a:r>
              <a:rPr lang="en-US" dirty="0"/>
              <a:t>Identify an ACL entry using a number.</a:t>
            </a:r>
          </a:p>
          <a:p>
            <a:pPr marL="514350" indent="-514350">
              <a:buFont typeface="+mj-lt"/>
              <a:buAutoNum type="arabicPeriod"/>
            </a:pPr>
            <a:r>
              <a:rPr lang="en-US" b="1" dirty="0">
                <a:effectLst/>
              </a:rPr>
              <a:t>ACL Name:</a:t>
            </a:r>
            <a:br>
              <a:rPr lang="en-US" b="1" dirty="0">
                <a:effectLst/>
              </a:rPr>
            </a:br>
            <a:r>
              <a:rPr lang="en-US" dirty="0"/>
              <a:t>Define an ACL entry using a name. Instead of using a sequence of numbers, some routers allow a combination of letters and numbers.</a:t>
            </a:r>
          </a:p>
          <a:p>
            <a:pPr marL="514350" indent="-514350">
              <a:buFont typeface="+mj-lt"/>
              <a:buAutoNum type="arabicPeriod"/>
            </a:pPr>
            <a:r>
              <a:rPr lang="en-US" b="1" dirty="0">
                <a:effectLst/>
              </a:rPr>
              <a:t>Remark:</a:t>
            </a:r>
            <a:br>
              <a:rPr lang="en-US" dirty="0"/>
            </a:br>
            <a:r>
              <a:rPr lang="en-US" dirty="0"/>
              <a:t>Some Routers allows to add comments into an ACL, which can help to add detailed descriptions.</a:t>
            </a:r>
          </a:p>
          <a:p>
            <a:pPr marL="514350" indent="-514350">
              <a:buFont typeface="+mj-lt"/>
              <a:buAutoNum type="arabicPeriod"/>
            </a:pPr>
            <a:r>
              <a:rPr lang="en-US" b="1" dirty="0">
                <a:effectLst/>
              </a:rPr>
              <a:t>Statement:</a:t>
            </a:r>
            <a:br>
              <a:rPr lang="en-US" b="1" dirty="0">
                <a:effectLst/>
              </a:rPr>
            </a:br>
            <a:r>
              <a:rPr lang="en-US" dirty="0"/>
              <a:t>Deny or permit a specific source based on address and wildcard mask. Some routing devices, such as Cisco, configure an implicit deny statement at the end of each ACL by default.</a:t>
            </a:r>
          </a:p>
        </p:txBody>
      </p:sp>
      <p:pic>
        <p:nvPicPr>
          <p:cNvPr id="4" name="Picture 3">
            <a:extLst>
              <a:ext uri="{FF2B5EF4-FFF2-40B4-BE49-F238E27FC236}">
                <a16:creationId xmlns:a16="http://schemas.microsoft.com/office/drawing/2014/main" id="{9B12500D-06B6-0647-B072-2B447F828A6F}"/>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F32398E7-9D1C-5044-84B0-BAAB2A75098A}"/>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1956599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71600"/>
            <a:ext cx="10515600" cy="319088"/>
          </a:xfrm>
        </p:spPr>
        <p:txBody>
          <a:bodyPr>
            <a:normAutofit fontScale="90000"/>
          </a:bodyPr>
          <a:lstStyle/>
          <a:p>
            <a:r>
              <a:rPr lang="en-US" b="1" dirty="0"/>
              <a:t>What Are The Components of An ACL?</a:t>
            </a:r>
            <a:br>
              <a:rPr lang="en-US" b="1" dirty="0"/>
            </a:br>
            <a:br>
              <a:rPr lang="en-US" b="1" dirty="0"/>
            </a:br>
            <a:endParaRPr lang="en-GB" b="1" dirty="0"/>
          </a:p>
        </p:txBody>
      </p:sp>
      <p:sp>
        <p:nvSpPr>
          <p:cNvPr id="3" name="Content Placeholder 2"/>
          <p:cNvSpPr>
            <a:spLocks noGrp="1"/>
          </p:cNvSpPr>
          <p:nvPr>
            <p:ph idx="1"/>
          </p:nvPr>
        </p:nvSpPr>
        <p:spPr>
          <a:xfrm>
            <a:off x="838200" y="1825625"/>
            <a:ext cx="10706100" cy="4667250"/>
          </a:xfrm>
        </p:spPr>
        <p:txBody>
          <a:bodyPr>
            <a:normAutofit fontScale="92500"/>
          </a:bodyPr>
          <a:lstStyle/>
          <a:p>
            <a:pPr marL="514350" indent="-514350">
              <a:buFont typeface="+mj-lt"/>
              <a:buAutoNum type="arabicPeriod" startAt="4"/>
            </a:pPr>
            <a:r>
              <a:rPr lang="en-US" b="1" dirty="0">
                <a:effectLst/>
              </a:rPr>
              <a:t>Network Protocol:</a:t>
            </a:r>
            <a:br>
              <a:rPr lang="en-US" b="1" dirty="0">
                <a:effectLst/>
              </a:rPr>
            </a:br>
            <a:r>
              <a:rPr lang="en-US" dirty="0"/>
              <a:t>Specify whether deny/permit IP, IPX, ICMP, TCP, UDP, NetBIOS, and more.</a:t>
            </a:r>
          </a:p>
          <a:p>
            <a:pPr marL="514350" indent="-514350">
              <a:buFont typeface="+mj-lt"/>
              <a:buAutoNum type="arabicPeriod" startAt="4"/>
            </a:pPr>
            <a:r>
              <a:rPr lang="en-US" b="1" dirty="0">
                <a:effectLst/>
              </a:rPr>
              <a:t>Source or Destination:</a:t>
            </a:r>
            <a:br>
              <a:rPr lang="en-US" b="1" dirty="0">
                <a:effectLst/>
              </a:rPr>
            </a:br>
            <a:r>
              <a:rPr lang="en-US" dirty="0"/>
              <a:t>Define the Source or Destination target as a Single IP, a Address Range (CIDR), or all Addresses.</a:t>
            </a:r>
          </a:p>
          <a:p>
            <a:pPr marL="514350" indent="-514350">
              <a:buFont typeface="+mj-lt"/>
              <a:buAutoNum type="arabicPeriod" startAt="4"/>
            </a:pPr>
            <a:r>
              <a:rPr lang="en-US" b="1" dirty="0">
                <a:effectLst/>
              </a:rPr>
              <a:t>Log:</a:t>
            </a:r>
            <a:br>
              <a:rPr lang="en-US" b="1" dirty="0">
                <a:effectLst/>
              </a:rPr>
            </a:br>
            <a:r>
              <a:rPr lang="en-US" dirty="0"/>
              <a:t>Some devices are capable of keeping logs when ACL matches are found.</a:t>
            </a:r>
          </a:p>
          <a:p>
            <a:pPr marL="514350" indent="-514350">
              <a:buFont typeface="+mj-lt"/>
              <a:buAutoNum type="arabicPeriod" startAt="4"/>
            </a:pPr>
            <a:r>
              <a:rPr lang="en-US" b="1" dirty="0">
                <a:effectLst/>
              </a:rPr>
              <a:t>Other Criteria:</a:t>
            </a:r>
            <a:br>
              <a:rPr lang="en-US" b="1" dirty="0">
                <a:effectLst/>
              </a:rPr>
            </a:br>
            <a:r>
              <a:rPr lang="en-US" dirty="0"/>
              <a:t>Advanced ACLs allow you to use control traffic through the Type of Service (</a:t>
            </a:r>
            <a:r>
              <a:rPr lang="en-US" dirty="0" err="1"/>
              <a:t>ToS</a:t>
            </a:r>
            <a:r>
              <a:rPr lang="en-US" dirty="0"/>
              <a:t>), IP precedence, and differentiated services codepoint (DSCP) priority.</a:t>
            </a:r>
            <a:endParaRPr lang="en-US" dirty="0">
              <a:effectLst/>
            </a:endParaRPr>
          </a:p>
        </p:txBody>
      </p:sp>
      <p:pic>
        <p:nvPicPr>
          <p:cNvPr id="4" name="Picture 3">
            <a:extLst>
              <a:ext uri="{FF2B5EF4-FFF2-40B4-BE49-F238E27FC236}">
                <a16:creationId xmlns:a16="http://schemas.microsoft.com/office/drawing/2014/main" id="{9B12500D-06B6-0647-B072-2B447F828A6F}"/>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F32398E7-9D1C-5044-84B0-BAAB2A75098A}"/>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1547392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b="1" dirty="0"/>
              <a:t>Types of Access Lists</a:t>
            </a:r>
          </a:p>
        </p:txBody>
      </p:sp>
      <p:sp>
        <p:nvSpPr>
          <p:cNvPr id="3" name="Content Placeholder 2"/>
          <p:cNvSpPr>
            <a:spLocks noGrp="1"/>
          </p:cNvSpPr>
          <p:nvPr>
            <p:ph idx="1"/>
          </p:nvPr>
        </p:nvSpPr>
        <p:spPr>
          <a:xfrm>
            <a:off x="838200" y="1825625"/>
            <a:ext cx="10706100" cy="4667250"/>
          </a:xfrm>
        </p:spPr>
        <p:txBody>
          <a:bodyPr>
            <a:normAutofit/>
          </a:bodyPr>
          <a:lstStyle/>
          <a:p>
            <a:pPr marL="742950" indent="-742950">
              <a:buFont typeface="+mj-lt"/>
              <a:buAutoNum type="arabicPeriod"/>
            </a:pPr>
            <a:r>
              <a:rPr lang="en-US" sz="3600" dirty="0"/>
              <a:t>Standard access lists </a:t>
            </a:r>
          </a:p>
          <a:p>
            <a:pPr marL="742950" indent="-742950">
              <a:buFont typeface="+mj-lt"/>
              <a:buAutoNum type="arabicPeriod"/>
            </a:pPr>
            <a:r>
              <a:rPr lang="en-US" sz="3600" dirty="0"/>
              <a:t>Extended access lists </a:t>
            </a:r>
          </a:p>
          <a:p>
            <a:pPr marL="742950" indent="-742950">
              <a:buFont typeface="+mj-lt"/>
              <a:buAutoNum type="arabicPeriod"/>
            </a:pPr>
            <a:r>
              <a:rPr lang="en-US" sz="3600" dirty="0"/>
              <a:t>Dynamic access lists</a:t>
            </a:r>
          </a:p>
          <a:p>
            <a:pPr marL="742950" indent="-742950">
              <a:buFont typeface="+mj-lt"/>
              <a:buAutoNum type="arabicPeriod"/>
            </a:pPr>
            <a:r>
              <a:rPr lang="en-US" sz="3600" dirty="0"/>
              <a:t>Reflexive access lists</a:t>
            </a:r>
          </a:p>
          <a:p>
            <a:pPr marL="742950" indent="-742950">
              <a:buFont typeface="+mj-lt"/>
              <a:buAutoNum type="arabicPeriod"/>
            </a:pPr>
            <a:endParaRPr lang="en-US" sz="3600" dirty="0">
              <a:effectLst/>
            </a:endParaRPr>
          </a:p>
        </p:txBody>
      </p:sp>
      <p:pic>
        <p:nvPicPr>
          <p:cNvPr id="4" name="Picture 3">
            <a:extLst>
              <a:ext uri="{FF2B5EF4-FFF2-40B4-BE49-F238E27FC236}">
                <a16:creationId xmlns:a16="http://schemas.microsoft.com/office/drawing/2014/main" id="{9B12500D-06B6-0647-B072-2B447F828A6F}"/>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F32398E7-9D1C-5044-84B0-BAAB2A75098A}"/>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3888648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Standard Access Lists </a:t>
            </a:r>
            <a:br>
              <a:rPr lang="en-US" b="1" dirty="0"/>
            </a:br>
            <a:endParaRPr lang="en-GB" b="1" dirty="0"/>
          </a:p>
        </p:txBody>
      </p:sp>
      <p:sp>
        <p:nvSpPr>
          <p:cNvPr id="3" name="Content Placeholder 2"/>
          <p:cNvSpPr>
            <a:spLocks noGrp="1"/>
          </p:cNvSpPr>
          <p:nvPr>
            <p:ph idx="1"/>
          </p:nvPr>
        </p:nvSpPr>
        <p:spPr>
          <a:xfrm>
            <a:off x="838200" y="1825625"/>
            <a:ext cx="10706100" cy="4667250"/>
          </a:xfrm>
        </p:spPr>
        <p:txBody>
          <a:bodyPr>
            <a:normAutofit/>
          </a:bodyPr>
          <a:lstStyle/>
          <a:p>
            <a:r>
              <a:rPr lang="en-US" dirty="0"/>
              <a:t>Standard IP access lists filter network traffic by examining the source IP address in a packet. </a:t>
            </a:r>
          </a:p>
          <a:p>
            <a:r>
              <a:rPr lang="en-US" dirty="0"/>
              <a:t>Standard access lists basically permits or denies an entire suite of protocols. </a:t>
            </a:r>
          </a:p>
          <a:p>
            <a:r>
              <a:rPr lang="en-US" dirty="0"/>
              <a:t>They don’t distinguish between any of the many types of IP traffic such as WWW, Telnet, UDP, etc. </a:t>
            </a:r>
          </a:p>
          <a:p>
            <a:r>
              <a:rPr lang="en-US" dirty="0"/>
              <a:t>It is the most basic type and can be used for simple deployments, but it does not provide strong security.</a:t>
            </a:r>
            <a:endParaRPr lang="en-US" dirty="0">
              <a:effectLst/>
            </a:endParaRPr>
          </a:p>
        </p:txBody>
      </p:sp>
      <p:pic>
        <p:nvPicPr>
          <p:cNvPr id="4" name="Picture 3">
            <a:extLst>
              <a:ext uri="{FF2B5EF4-FFF2-40B4-BE49-F238E27FC236}">
                <a16:creationId xmlns:a16="http://schemas.microsoft.com/office/drawing/2014/main" id="{9B12500D-06B6-0647-B072-2B447F828A6F}"/>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F32398E7-9D1C-5044-84B0-BAAB2A75098A}"/>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3754106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Standard Access Lists </a:t>
            </a:r>
            <a:br>
              <a:rPr lang="en-US" b="1" dirty="0"/>
            </a:br>
            <a:endParaRPr lang="en-GB" b="1" dirty="0"/>
          </a:p>
        </p:txBody>
      </p:sp>
      <p:pic>
        <p:nvPicPr>
          <p:cNvPr id="7" name="Content Placeholder 6">
            <a:extLst>
              <a:ext uri="{FF2B5EF4-FFF2-40B4-BE49-F238E27FC236}">
                <a16:creationId xmlns:a16="http://schemas.microsoft.com/office/drawing/2014/main" id="{AAF14350-333A-9744-A528-8DD3BCC71068}"/>
              </a:ext>
            </a:extLst>
          </p:cNvPr>
          <p:cNvPicPr>
            <a:picLocks noGrp="1" noChangeAspect="1"/>
          </p:cNvPicPr>
          <p:nvPr>
            <p:ph idx="1"/>
          </p:nvPr>
        </p:nvPicPr>
        <p:blipFill>
          <a:blip r:embed="rId3"/>
          <a:stretch>
            <a:fillRect/>
          </a:stretch>
        </p:blipFill>
        <p:spPr>
          <a:xfrm>
            <a:off x="838200" y="3240588"/>
            <a:ext cx="5118100" cy="3352800"/>
          </a:xfrm>
        </p:spPr>
      </p:pic>
      <p:pic>
        <p:nvPicPr>
          <p:cNvPr id="4" name="Picture 3">
            <a:extLst>
              <a:ext uri="{FF2B5EF4-FFF2-40B4-BE49-F238E27FC236}">
                <a16:creationId xmlns:a16="http://schemas.microsoft.com/office/drawing/2014/main" id="{9B12500D-06B6-0647-B072-2B447F828A6F}"/>
              </a:ext>
            </a:extLst>
          </p:cNvPr>
          <p:cNvPicPr>
            <a:picLocks noChangeAspect="1"/>
          </p:cNvPicPr>
          <p:nvPr/>
        </p:nvPicPr>
        <p:blipFill rotWithShape="1">
          <a:blip r:embed="rId4">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F32398E7-9D1C-5044-84B0-BAAB2A75098A}"/>
              </a:ext>
            </a:extLst>
          </p:cNvPr>
          <p:cNvPicPr>
            <a:picLocks noChangeAspect="1"/>
          </p:cNvPicPr>
          <p:nvPr/>
        </p:nvPicPr>
        <p:blipFill>
          <a:blip r:embed="rId5"/>
          <a:stretch>
            <a:fillRect/>
          </a:stretch>
        </p:blipFill>
        <p:spPr>
          <a:xfrm>
            <a:off x="7874000" y="80167"/>
            <a:ext cx="3009900" cy="635000"/>
          </a:xfrm>
          <a:prstGeom prst="rect">
            <a:avLst/>
          </a:prstGeom>
        </p:spPr>
      </p:pic>
      <p:pic>
        <p:nvPicPr>
          <p:cNvPr id="9" name="Picture 8">
            <a:extLst>
              <a:ext uri="{FF2B5EF4-FFF2-40B4-BE49-F238E27FC236}">
                <a16:creationId xmlns:a16="http://schemas.microsoft.com/office/drawing/2014/main" id="{B10E2D3D-3292-354D-8FC2-A68D830FEAA4}"/>
              </a:ext>
            </a:extLst>
          </p:cNvPr>
          <p:cNvPicPr>
            <a:picLocks noChangeAspect="1"/>
          </p:cNvPicPr>
          <p:nvPr/>
        </p:nvPicPr>
        <p:blipFill>
          <a:blip r:embed="rId6"/>
          <a:stretch>
            <a:fillRect/>
          </a:stretch>
        </p:blipFill>
        <p:spPr>
          <a:xfrm>
            <a:off x="6439326" y="3167563"/>
            <a:ext cx="3606800" cy="1104900"/>
          </a:xfrm>
          <a:prstGeom prst="rect">
            <a:avLst/>
          </a:prstGeom>
        </p:spPr>
      </p:pic>
      <p:pic>
        <p:nvPicPr>
          <p:cNvPr id="11" name="Picture 10">
            <a:extLst>
              <a:ext uri="{FF2B5EF4-FFF2-40B4-BE49-F238E27FC236}">
                <a16:creationId xmlns:a16="http://schemas.microsoft.com/office/drawing/2014/main" id="{66A79310-8D0E-224A-8812-A6C62973ACFC}"/>
              </a:ext>
            </a:extLst>
          </p:cNvPr>
          <p:cNvPicPr>
            <a:picLocks noChangeAspect="1"/>
          </p:cNvPicPr>
          <p:nvPr/>
        </p:nvPicPr>
        <p:blipFill>
          <a:blip r:embed="rId7"/>
          <a:stretch>
            <a:fillRect/>
          </a:stretch>
        </p:blipFill>
        <p:spPr>
          <a:xfrm>
            <a:off x="6235702" y="4383588"/>
            <a:ext cx="4165600" cy="1066800"/>
          </a:xfrm>
          <a:prstGeom prst="rect">
            <a:avLst/>
          </a:prstGeom>
        </p:spPr>
      </p:pic>
      <p:pic>
        <p:nvPicPr>
          <p:cNvPr id="13" name="Picture 12">
            <a:extLst>
              <a:ext uri="{FF2B5EF4-FFF2-40B4-BE49-F238E27FC236}">
                <a16:creationId xmlns:a16="http://schemas.microsoft.com/office/drawing/2014/main" id="{3FC0BE41-EAFB-5E4F-89DC-65EEC4F1FB51}"/>
              </a:ext>
            </a:extLst>
          </p:cNvPr>
          <p:cNvPicPr>
            <a:picLocks noChangeAspect="1"/>
          </p:cNvPicPr>
          <p:nvPr/>
        </p:nvPicPr>
        <p:blipFill>
          <a:blip r:embed="rId8"/>
          <a:stretch>
            <a:fillRect/>
          </a:stretch>
        </p:blipFill>
        <p:spPr>
          <a:xfrm>
            <a:off x="6439326" y="5780480"/>
            <a:ext cx="4775200" cy="381000"/>
          </a:xfrm>
          <a:prstGeom prst="rect">
            <a:avLst/>
          </a:prstGeom>
        </p:spPr>
      </p:pic>
      <p:pic>
        <p:nvPicPr>
          <p:cNvPr id="15" name="Picture 14">
            <a:extLst>
              <a:ext uri="{FF2B5EF4-FFF2-40B4-BE49-F238E27FC236}">
                <a16:creationId xmlns:a16="http://schemas.microsoft.com/office/drawing/2014/main" id="{522FF3CE-E778-D344-8039-1F0304221035}"/>
              </a:ext>
            </a:extLst>
          </p:cNvPr>
          <p:cNvPicPr>
            <a:picLocks noChangeAspect="1"/>
          </p:cNvPicPr>
          <p:nvPr/>
        </p:nvPicPr>
        <p:blipFill>
          <a:blip r:embed="rId9"/>
          <a:stretch>
            <a:fillRect/>
          </a:stretch>
        </p:blipFill>
        <p:spPr>
          <a:xfrm>
            <a:off x="1717506" y="1750143"/>
            <a:ext cx="7495007" cy="1486352"/>
          </a:xfrm>
          <a:prstGeom prst="rect">
            <a:avLst/>
          </a:prstGeom>
        </p:spPr>
      </p:pic>
    </p:spTree>
    <p:extLst>
      <p:ext uri="{BB962C8B-B14F-4D97-AF65-F5344CB8AC3E}">
        <p14:creationId xmlns:p14="http://schemas.microsoft.com/office/powerpoint/2010/main" val="1027350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Extended Access Lists </a:t>
            </a:r>
            <a:br>
              <a:rPr lang="en-US" b="1" dirty="0"/>
            </a:br>
            <a:endParaRPr lang="en-GB" b="1" dirty="0"/>
          </a:p>
        </p:txBody>
      </p:sp>
      <p:sp>
        <p:nvSpPr>
          <p:cNvPr id="3" name="Content Placeholder 2"/>
          <p:cNvSpPr>
            <a:spLocks noGrp="1"/>
          </p:cNvSpPr>
          <p:nvPr>
            <p:ph idx="1"/>
          </p:nvPr>
        </p:nvSpPr>
        <p:spPr>
          <a:xfrm>
            <a:off x="838200" y="1825625"/>
            <a:ext cx="10706100" cy="4667250"/>
          </a:xfrm>
        </p:spPr>
        <p:txBody>
          <a:bodyPr>
            <a:normAutofit/>
          </a:bodyPr>
          <a:lstStyle/>
          <a:p>
            <a:r>
              <a:rPr lang="en-US" dirty="0"/>
              <a:t>Can be used to block source and destination for single hosts or entire networks.</a:t>
            </a:r>
          </a:p>
          <a:p>
            <a:r>
              <a:rPr lang="en-US" dirty="0"/>
              <a:t>Can also used an extended ACL to filter traffic based on protocol information (IP, ICMP, TCP, UDP).</a:t>
            </a:r>
          </a:p>
          <a:p>
            <a:endParaRPr lang="en-US" dirty="0">
              <a:effectLst/>
            </a:endParaRPr>
          </a:p>
        </p:txBody>
      </p:sp>
      <p:pic>
        <p:nvPicPr>
          <p:cNvPr id="4" name="Picture 3">
            <a:extLst>
              <a:ext uri="{FF2B5EF4-FFF2-40B4-BE49-F238E27FC236}">
                <a16:creationId xmlns:a16="http://schemas.microsoft.com/office/drawing/2014/main" id="{9B12500D-06B6-0647-B072-2B447F828A6F}"/>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F32398E7-9D1C-5044-84B0-BAAB2A75098A}"/>
              </a:ext>
            </a:extLst>
          </p:cNvPr>
          <p:cNvPicPr>
            <a:picLocks noChangeAspect="1"/>
          </p:cNvPicPr>
          <p:nvPr/>
        </p:nvPicPr>
        <p:blipFill>
          <a:blip r:embed="rId4"/>
          <a:stretch>
            <a:fillRect/>
          </a:stretch>
        </p:blipFill>
        <p:spPr>
          <a:xfrm>
            <a:off x="7874000" y="80167"/>
            <a:ext cx="3009900" cy="635000"/>
          </a:xfrm>
          <a:prstGeom prst="rect">
            <a:avLst/>
          </a:prstGeom>
        </p:spPr>
      </p:pic>
      <p:pic>
        <p:nvPicPr>
          <p:cNvPr id="7" name="Picture 6">
            <a:extLst>
              <a:ext uri="{FF2B5EF4-FFF2-40B4-BE49-F238E27FC236}">
                <a16:creationId xmlns:a16="http://schemas.microsoft.com/office/drawing/2014/main" id="{37C9960E-A243-1D4A-BBC3-6B52EBEF20AA}"/>
              </a:ext>
            </a:extLst>
          </p:cNvPr>
          <p:cNvPicPr>
            <a:picLocks noChangeAspect="1"/>
          </p:cNvPicPr>
          <p:nvPr/>
        </p:nvPicPr>
        <p:blipFill>
          <a:blip r:embed="rId5"/>
          <a:stretch>
            <a:fillRect/>
          </a:stretch>
        </p:blipFill>
        <p:spPr>
          <a:xfrm>
            <a:off x="2144294" y="3871912"/>
            <a:ext cx="7518400" cy="2755900"/>
          </a:xfrm>
          <a:prstGeom prst="rect">
            <a:avLst/>
          </a:prstGeom>
        </p:spPr>
      </p:pic>
    </p:spTree>
    <p:extLst>
      <p:ext uri="{BB962C8B-B14F-4D97-AF65-F5344CB8AC3E}">
        <p14:creationId xmlns:p14="http://schemas.microsoft.com/office/powerpoint/2010/main" val="4150562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Dynamic Access Lists </a:t>
            </a:r>
            <a:br>
              <a:rPr lang="en-US" b="1" dirty="0"/>
            </a:br>
            <a:endParaRPr lang="en-GB" b="1" dirty="0"/>
          </a:p>
        </p:txBody>
      </p:sp>
      <p:sp>
        <p:nvSpPr>
          <p:cNvPr id="3" name="Content Placeholder 2"/>
          <p:cNvSpPr>
            <a:spLocks noGrp="1"/>
          </p:cNvSpPr>
          <p:nvPr>
            <p:ph idx="1"/>
          </p:nvPr>
        </p:nvSpPr>
        <p:spPr>
          <a:xfrm>
            <a:off x="742950" y="1382710"/>
            <a:ext cx="10706100" cy="4802187"/>
          </a:xfrm>
        </p:spPr>
        <p:txBody>
          <a:bodyPr>
            <a:normAutofit/>
          </a:bodyPr>
          <a:lstStyle/>
          <a:p>
            <a:r>
              <a:rPr lang="en-US" dirty="0"/>
              <a:t>Dynamic ACLs, rely upon extended ACLs, Telnet, and authentication. This type of ACLs are often referred to as “Lock and Key” and can be used for specific timeframes.</a:t>
            </a:r>
          </a:p>
          <a:p>
            <a:r>
              <a:rPr lang="en-US" dirty="0"/>
              <a:t>These lists permit access to a user to a source or destination only if the user authenticates to the device via Telnet.</a:t>
            </a:r>
          </a:p>
          <a:p>
            <a:endParaRPr lang="en-US" dirty="0">
              <a:effectLst/>
            </a:endParaRPr>
          </a:p>
        </p:txBody>
      </p:sp>
      <p:pic>
        <p:nvPicPr>
          <p:cNvPr id="4" name="Picture 3">
            <a:extLst>
              <a:ext uri="{FF2B5EF4-FFF2-40B4-BE49-F238E27FC236}">
                <a16:creationId xmlns:a16="http://schemas.microsoft.com/office/drawing/2014/main" id="{9B12500D-06B6-0647-B072-2B447F828A6F}"/>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F32398E7-9D1C-5044-84B0-BAAB2A75098A}"/>
              </a:ext>
            </a:extLst>
          </p:cNvPr>
          <p:cNvPicPr>
            <a:picLocks noChangeAspect="1"/>
          </p:cNvPicPr>
          <p:nvPr/>
        </p:nvPicPr>
        <p:blipFill>
          <a:blip r:embed="rId4"/>
          <a:stretch>
            <a:fillRect/>
          </a:stretch>
        </p:blipFill>
        <p:spPr>
          <a:xfrm>
            <a:off x="7874000" y="80167"/>
            <a:ext cx="3009900" cy="635000"/>
          </a:xfrm>
          <a:prstGeom prst="rect">
            <a:avLst/>
          </a:prstGeom>
        </p:spPr>
      </p:pic>
      <p:pic>
        <p:nvPicPr>
          <p:cNvPr id="8" name="Picture 7">
            <a:extLst>
              <a:ext uri="{FF2B5EF4-FFF2-40B4-BE49-F238E27FC236}">
                <a16:creationId xmlns:a16="http://schemas.microsoft.com/office/drawing/2014/main" id="{9266B1E8-1764-6143-BF8C-55D3F81DAAAC}"/>
              </a:ext>
            </a:extLst>
          </p:cNvPr>
          <p:cNvPicPr>
            <a:picLocks noChangeAspect="1"/>
          </p:cNvPicPr>
          <p:nvPr/>
        </p:nvPicPr>
        <p:blipFill>
          <a:blip r:embed="rId5"/>
          <a:stretch>
            <a:fillRect/>
          </a:stretch>
        </p:blipFill>
        <p:spPr>
          <a:xfrm>
            <a:off x="3713079" y="3523164"/>
            <a:ext cx="7735971" cy="3249108"/>
          </a:xfrm>
          <a:prstGeom prst="rect">
            <a:avLst/>
          </a:prstGeom>
        </p:spPr>
      </p:pic>
    </p:spTree>
    <p:extLst>
      <p:ext uri="{BB962C8B-B14F-4D97-AF65-F5344CB8AC3E}">
        <p14:creationId xmlns:p14="http://schemas.microsoft.com/office/powerpoint/2010/main" val="1446850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Reflexive Access Lists </a:t>
            </a:r>
            <a:br>
              <a:rPr lang="en-US" b="1" dirty="0"/>
            </a:br>
            <a:endParaRPr lang="en-GB" b="1" dirty="0"/>
          </a:p>
        </p:txBody>
      </p:sp>
      <p:sp>
        <p:nvSpPr>
          <p:cNvPr id="3" name="Content Placeholder 2"/>
          <p:cNvSpPr>
            <a:spLocks noGrp="1"/>
          </p:cNvSpPr>
          <p:nvPr>
            <p:ph idx="1"/>
          </p:nvPr>
        </p:nvSpPr>
        <p:spPr>
          <a:xfrm>
            <a:off x="742950" y="1160460"/>
            <a:ext cx="10706100" cy="4667250"/>
          </a:xfrm>
        </p:spPr>
        <p:txBody>
          <a:bodyPr>
            <a:normAutofit/>
          </a:bodyPr>
          <a:lstStyle/>
          <a:p>
            <a:r>
              <a:rPr lang="en-US" dirty="0"/>
              <a:t>Reflexive ACLs are also referred to as IP session ACLs. These type of ACLs, filter traffic based on upper layer session information.</a:t>
            </a:r>
          </a:p>
          <a:p>
            <a:r>
              <a:rPr lang="en-US" dirty="0"/>
              <a:t>They react to sessions originated inside the router to whether permit outbound traffic or restrict incoming traffic. The router recognizes the outbound ACL traffic and creates a new ACL entry for the inbound.</a:t>
            </a:r>
          </a:p>
          <a:p>
            <a:r>
              <a:rPr lang="en-US" dirty="0"/>
              <a:t>When the session finishes, the entry is removed.</a:t>
            </a:r>
          </a:p>
          <a:p>
            <a:pPr marL="0" indent="0">
              <a:buNone/>
            </a:pPr>
            <a:br>
              <a:rPr lang="en-US" dirty="0"/>
            </a:br>
            <a:endParaRPr lang="en-US" dirty="0">
              <a:effectLst/>
            </a:endParaRPr>
          </a:p>
        </p:txBody>
      </p:sp>
      <p:pic>
        <p:nvPicPr>
          <p:cNvPr id="4" name="Picture 3">
            <a:extLst>
              <a:ext uri="{FF2B5EF4-FFF2-40B4-BE49-F238E27FC236}">
                <a16:creationId xmlns:a16="http://schemas.microsoft.com/office/drawing/2014/main" id="{9B12500D-06B6-0647-B072-2B447F828A6F}"/>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F32398E7-9D1C-5044-84B0-BAAB2A75098A}"/>
              </a:ext>
            </a:extLst>
          </p:cNvPr>
          <p:cNvPicPr>
            <a:picLocks noChangeAspect="1"/>
          </p:cNvPicPr>
          <p:nvPr/>
        </p:nvPicPr>
        <p:blipFill>
          <a:blip r:embed="rId4"/>
          <a:stretch>
            <a:fillRect/>
          </a:stretch>
        </p:blipFill>
        <p:spPr>
          <a:xfrm>
            <a:off x="7874000" y="80167"/>
            <a:ext cx="3009900" cy="635000"/>
          </a:xfrm>
          <a:prstGeom prst="rect">
            <a:avLst/>
          </a:prstGeom>
        </p:spPr>
      </p:pic>
      <p:pic>
        <p:nvPicPr>
          <p:cNvPr id="8" name="Picture 7">
            <a:extLst>
              <a:ext uri="{FF2B5EF4-FFF2-40B4-BE49-F238E27FC236}">
                <a16:creationId xmlns:a16="http://schemas.microsoft.com/office/drawing/2014/main" id="{33A456E7-C9C7-D240-9DD4-E6301D5EE135}"/>
              </a:ext>
            </a:extLst>
          </p:cNvPr>
          <p:cNvPicPr>
            <a:picLocks noChangeAspect="1"/>
          </p:cNvPicPr>
          <p:nvPr/>
        </p:nvPicPr>
        <p:blipFill>
          <a:blip r:embed="rId5"/>
          <a:stretch>
            <a:fillRect/>
          </a:stretch>
        </p:blipFill>
        <p:spPr>
          <a:xfrm>
            <a:off x="4927600" y="4060033"/>
            <a:ext cx="6426200" cy="2717800"/>
          </a:xfrm>
          <a:prstGeom prst="rect">
            <a:avLst/>
          </a:prstGeom>
        </p:spPr>
      </p:pic>
    </p:spTree>
    <p:extLst>
      <p:ext uri="{BB962C8B-B14F-4D97-AF65-F5344CB8AC3E}">
        <p14:creationId xmlns:p14="http://schemas.microsoft.com/office/powerpoint/2010/main" val="10780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Wildcard Masking </a:t>
            </a:r>
            <a:endParaRPr lang="en-GB" b="1" dirty="0"/>
          </a:p>
        </p:txBody>
      </p:sp>
      <p:sp>
        <p:nvSpPr>
          <p:cNvPr id="3" name="Content Placeholder 2"/>
          <p:cNvSpPr>
            <a:spLocks noGrp="1"/>
          </p:cNvSpPr>
          <p:nvPr>
            <p:ph idx="1"/>
          </p:nvPr>
        </p:nvSpPr>
        <p:spPr>
          <a:xfrm>
            <a:off x="533400" y="1690688"/>
            <a:ext cx="11010900" cy="4802187"/>
          </a:xfrm>
        </p:spPr>
        <p:txBody>
          <a:bodyPr>
            <a:normAutofit/>
          </a:bodyPr>
          <a:lstStyle/>
          <a:p>
            <a:r>
              <a:rPr lang="en-US" dirty="0"/>
              <a:t>A wildcard mask is a string of binary digits telling the router to check specific parts of the subnet number.</a:t>
            </a:r>
          </a:p>
          <a:p>
            <a:r>
              <a:rPr lang="en-US" dirty="0"/>
              <a:t>Wildcard masks are referred to as inverse mask.</a:t>
            </a:r>
          </a:p>
          <a:p>
            <a:r>
              <a:rPr lang="en-US" dirty="0" err="1"/>
              <a:t>Wilcard</a:t>
            </a:r>
            <a:r>
              <a:rPr lang="en-US" dirty="0"/>
              <a:t> mask bit 0:</a:t>
            </a:r>
          </a:p>
          <a:p>
            <a:pPr lvl="1">
              <a:buFont typeface="Wingdings" pitchFamily="2" charset="2"/>
              <a:buChar char="Ø"/>
            </a:pPr>
            <a:r>
              <a:rPr lang="en-US" dirty="0"/>
              <a:t>The corresponding bit value in the IP address to be tested must match the bit value in the address specified in ACL.</a:t>
            </a:r>
          </a:p>
          <a:p>
            <a:r>
              <a:rPr lang="en-US" dirty="0" err="1"/>
              <a:t>Wlidcard</a:t>
            </a:r>
            <a:r>
              <a:rPr lang="en-US" dirty="0"/>
              <a:t> mask bit 1:</a:t>
            </a:r>
          </a:p>
          <a:p>
            <a:pPr lvl="1">
              <a:buFont typeface="Wingdings" pitchFamily="2" charset="2"/>
              <a:buChar char="Ø"/>
            </a:pPr>
            <a:r>
              <a:rPr lang="en-US" dirty="0"/>
              <a:t>Ignore the corresponding bit value</a:t>
            </a:r>
          </a:p>
          <a:p>
            <a:r>
              <a:rPr lang="en-US" dirty="0"/>
              <a:t>Just like a subnet mask, a wildcard mask is 32 bits long. It is a sort of inverted subnet masks,</a:t>
            </a:r>
            <a:endParaRPr lang="en-US" dirty="0">
              <a:effectLst/>
            </a:endParaRPr>
          </a:p>
        </p:txBody>
      </p:sp>
      <p:pic>
        <p:nvPicPr>
          <p:cNvPr id="4" name="Picture 3">
            <a:extLst>
              <a:ext uri="{FF2B5EF4-FFF2-40B4-BE49-F238E27FC236}">
                <a16:creationId xmlns:a16="http://schemas.microsoft.com/office/drawing/2014/main" id="{9B12500D-06B6-0647-B072-2B447F828A6F}"/>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F32398E7-9D1C-5044-84B0-BAAB2A75098A}"/>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3757388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Wildcard Masking </a:t>
            </a:r>
            <a:br>
              <a:rPr lang="en-US" dirty="0"/>
            </a:br>
            <a:endParaRPr lang="en-GB" b="1" dirty="0"/>
          </a:p>
        </p:txBody>
      </p:sp>
      <p:pic>
        <p:nvPicPr>
          <p:cNvPr id="7" name="Content Placeholder 6">
            <a:extLst>
              <a:ext uri="{FF2B5EF4-FFF2-40B4-BE49-F238E27FC236}">
                <a16:creationId xmlns:a16="http://schemas.microsoft.com/office/drawing/2014/main" id="{E03DA365-D563-B342-B6DD-8EFB2D2459E8}"/>
              </a:ext>
            </a:extLst>
          </p:cNvPr>
          <p:cNvPicPr>
            <a:picLocks noGrp="1" noChangeAspect="1"/>
          </p:cNvPicPr>
          <p:nvPr>
            <p:ph idx="1"/>
          </p:nvPr>
        </p:nvPicPr>
        <p:blipFill>
          <a:blip r:embed="rId3"/>
          <a:stretch>
            <a:fillRect/>
          </a:stretch>
        </p:blipFill>
        <p:spPr>
          <a:xfrm>
            <a:off x="1778000" y="3995332"/>
            <a:ext cx="8166100" cy="901700"/>
          </a:xfrm>
        </p:spPr>
      </p:pic>
      <p:pic>
        <p:nvPicPr>
          <p:cNvPr id="4" name="Picture 3">
            <a:extLst>
              <a:ext uri="{FF2B5EF4-FFF2-40B4-BE49-F238E27FC236}">
                <a16:creationId xmlns:a16="http://schemas.microsoft.com/office/drawing/2014/main" id="{9B12500D-06B6-0647-B072-2B447F828A6F}"/>
              </a:ext>
            </a:extLst>
          </p:cNvPr>
          <p:cNvPicPr>
            <a:picLocks noChangeAspect="1"/>
          </p:cNvPicPr>
          <p:nvPr/>
        </p:nvPicPr>
        <p:blipFill rotWithShape="1">
          <a:blip r:embed="rId4">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F32398E7-9D1C-5044-84B0-BAAB2A75098A}"/>
              </a:ext>
            </a:extLst>
          </p:cNvPr>
          <p:cNvPicPr>
            <a:picLocks noChangeAspect="1"/>
          </p:cNvPicPr>
          <p:nvPr/>
        </p:nvPicPr>
        <p:blipFill>
          <a:blip r:embed="rId5"/>
          <a:stretch>
            <a:fillRect/>
          </a:stretch>
        </p:blipFill>
        <p:spPr>
          <a:xfrm>
            <a:off x="7874000" y="80167"/>
            <a:ext cx="3009900" cy="635000"/>
          </a:xfrm>
          <a:prstGeom prst="rect">
            <a:avLst/>
          </a:prstGeom>
        </p:spPr>
      </p:pic>
      <p:pic>
        <p:nvPicPr>
          <p:cNvPr id="9" name="Picture 8">
            <a:extLst>
              <a:ext uri="{FF2B5EF4-FFF2-40B4-BE49-F238E27FC236}">
                <a16:creationId xmlns:a16="http://schemas.microsoft.com/office/drawing/2014/main" id="{E47A0CC6-CE41-DC49-9AEF-F1815BBE1718}"/>
              </a:ext>
            </a:extLst>
          </p:cNvPr>
          <p:cNvPicPr>
            <a:picLocks noChangeAspect="1"/>
          </p:cNvPicPr>
          <p:nvPr/>
        </p:nvPicPr>
        <p:blipFill>
          <a:blip r:embed="rId6"/>
          <a:stretch>
            <a:fillRect/>
          </a:stretch>
        </p:blipFill>
        <p:spPr>
          <a:xfrm>
            <a:off x="1778000" y="2386418"/>
            <a:ext cx="8102600" cy="952500"/>
          </a:xfrm>
          <a:prstGeom prst="rect">
            <a:avLst/>
          </a:prstGeom>
        </p:spPr>
      </p:pic>
    </p:spTree>
    <p:extLst>
      <p:ext uri="{BB962C8B-B14F-4D97-AF65-F5344CB8AC3E}">
        <p14:creationId xmlns:p14="http://schemas.microsoft.com/office/powerpoint/2010/main" val="1436860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Configuration</a:t>
            </a:r>
          </a:p>
        </p:txBody>
      </p:sp>
      <p:pic>
        <p:nvPicPr>
          <p:cNvPr id="7" name="Content Placeholder 6">
            <a:extLst>
              <a:ext uri="{FF2B5EF4-FFF2-40B4-BE49-F238E27FC236}">
                <a16:creationId xmlns:a16="http://schemas.microsoft.com/office/drawing/2014/main" id="{36A8ABF3-E07A-1344-BBF1-7E9E8CEC0BD3}"/>
              </a:ext>
            </a:extLst>
          </p:cNvPr>
          <p:cNvPicPr>
            <a:picLocks noGrp="1" noChangeAspect="1"/>
          </p:cNvPicPr>
          <p:nvPr>
            <p:ph idx="1"/>
          </p:nvPr>
        </p:nvPicPr>
        <p:blipFill>
          <a:blip r:embed="rId3"/>
          <a:stretch>
            <a:fillRect/>
          </a:stretch>
        </p:blipFill>
        <p:spPr>
          <a:xfrm>
            <a:off x="1581151" y="1517717"/>
            <a:ext cx="7797799" cy="4975158"/>
          </a:xfrm>
        </p:spPr>
      </p:pic>
      <p:pic>
        <p:nvPicPr>
          <p:cNvPr id="4" name="Picture 3">
            <a:extLst>
              <a:ext uri="{FF2B5EF4-FFF2-40B4-BE49-F238E27FC236}">
                <a16:creationId xmlns:a16="http://schemas.microsoft.com/office/drawing/2014/main" id="{9B12500D-06B6-0647-B072-2B447F828A6F}"/>
              </a:ext>
            </a:extLst>
          </p:cNvPr>
          <p:cNvPicPr>
            <a:picLocks noChangeAspect="1"/>
          </p:cNvPicPr>
          <p:nvPr/>
        </p:nvPicPr>
        <p:blipFill rotWithShape="1">
          <a:blip r:embed="rId4">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F32398E7-9D1C-5044-84B0-BAAB2A75098A}"/>
              </a:ext>
            </a:extLst>
          </p:cNvPr>
          <p:cNvPicPr>
            <a:picLocks noChangeAspect="1"/>
          </p:cNvPicPr>
          <p:nvPr/>
        </p:nvPicPr>
        <p:blipFill>
          <a:blip r:embed="rId5"/>
          <a:stretch>
            <a:fillRect/>
          </a:stretch>
        </p:blipFill>
        <p:spPr>
          <a:xfrm>
            <a:off x="7874000" y="80167"/>
            <a:ext cx="3009900" cy="635000"/>
          </a:xfrm>
          <a:prstGeom prst="rect">
            <a:avLst/>
          </a:prstGeom>
        </p:spPr>
      </p:pic>
    </p:spTree>
    <p:extLst>
      <p:ext uri="{BB962C8B-B14F-4D97-AF65-F5344CB8AC3E}">
        <p14:creationId xmlns:p14="http://schemas.microsoft.com/office/powerpoint/2010/main" val="2972803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endParaRPr lang="en-GB" b="1" dirty="0"/>
          </a:p>
        </p:txBody>
      </p:sp>
      <p:sp>
        <p:nvSpPr>
          <p:cNvPr id="3" name="Content Placeholder 2"/>
          <p:cNvSpPr>
            <a:spLocks noGrp="1"/>
          </p:cNvSpPr>
          <p:nvPr>
            <p:ph idx="1"/>
          </p:nvPr>
        </p:nvSpPr>
        <p:spPr>
          <a:xfrm>
            <a:off x="838200" y="1825625"/>
            <a:ext cx="10706100" cy="4667250"/>
          </a:xfrm>
        </p:spPr>
        <p:txBody>
          <a:bodyPr>
            <a:normAutofit/>
          </a:bodyPr>
          <a:lstStyle/>
          <a:p>
            <a:endParaRPr lang="en-US" dirty="0">
              <a:effectLst/>
            </a:endParaRPr>
          </a:p>
        </p:txBody>
      </p:sp>
      <p:pic>
        <p:nvPicPr>
          <p:cNvPr id="4" name="Picture 3">
            <a:extLst>
              <a:ext uri="{FF2B5EF4-FFF2-40B4-BE49-F238E27FC236}">
                <a16:creationId xmlns:a16="http://schemas.microsoft.com/office/drawing/2014/main" id="{9B12500D-06B6-0647-B072-2B447F828A6F}"/>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F32398E7-9D1C-5044-84B0-BAAB2A75098A}"/>
              </a:ext>
            </a:extLst>
          </p:cNvPr>
          <p:cNvPicPr>
            <a:picLocks noChangeAspect="1"/>
          </p:cNvPicPr>
          <p:nvPr/>
        </p:nvPicPr>
        <p:blipFill>
          <a:blip r:embed="rId4"/>
          <a:stretch>
            <a:fillRect/>
          </a:stretch>
        </p:blipFill>
        <p:spPr>
          <a:xfrm>
            <a:off x="7874000" y="80167"/>
            <a:ext cx="3009900" cy="635000"/>
          </a:xfrm>
          <a:prstGeom prst="rect">
            <a:avLst/>
          </a:prstGeom>
        </p:spPr>
      </p:pic>
      <p:pic>
        <p:nvPicPr>
          <p:cNvPr id="6" name="Picture 5">
            <a:extLst>
              <a:ext uri="{FF2B5EF4-FFF2-40B4-BE49-F238E27FC236}">
                <a16:creationId xmlns:a16="http://schemas.microsoft.com/office/drawing/2014/main" id="{B64981AB-18EF-B245-B3AE-78E908F97727}"/>
              </a:ext>
            </a:extLst>
          </p:cNvPr>
          <p:cNvPicPr>
            <a:picLocks noChangeAspect="1"/>
          </p:cNvPicPr>
          <p:nvPr/>
        </p:nvPicPr>
        <p:blipFill>
          <a:blip r:embed="rId5"/>
          <a:stretch>
            <a:fillRect/>
          </a:stretch>
        </p:blipFill>
        <p:spPr>
          <a:xfrm>
            <a:off x="1530350" y="1535113"/>
            <a:ext cx="9131300" cy="1041400"/>
          </a:xfrm>
          <a:prstGeom prst="rect">
            <a:avLst/>
          </a:prstGeom>
        </p:spPr>
      </p:pic>
      <p:pic>
        <p:nvPicPr>
          <p:cNvPr id="7" name="Picture 6">
            <a:extLst>
              <a:ext uri="{FF2B5EF4-FFF2-40B4-BE49-F238E27FC236}">
                <a16:creationId xmlns:a16="http://schemas.microsoft.com/office/drawing/2014/main" id="{6F7A3A9C-3534-FF42-8EEB-189F07A3A0A6}"/>
              </a:ext>
            </a:extLst>
          </p:cNvPr>
          <p:cNvPicPr>
            <a:picLocks noChangeAspect="1"/>
          </p:cNvPicPr>
          <p:nvPr/>
        </p:nvPicPr>
        <p:blipFill>
          <a:blip r:embed="rId6"/>
          <a:stretch>
            <a:fillRect/>
          </a:stretch>
        </p:blipFill>
        <p:spPr>
          <a:xfrm>
            <a:off x="1581150" y="2717804"/>
            <a:ext cx="9080500" cy="787400"/>
          </a:xfrm>
          <a:prstGeom prst="rect">
            <a:avLst/>
          </a:prstGeom>
        </p:spPr>
      </p:pic>
      <p:pic>
        <p:nvPicPr>
          <p:cNvPr id="8" name="Picture 7">
            <a:extLst>
              <a:ext uri="{FF2B5EF4-FFF2-40B4-BE49-F238E27FC236}">
                <a16:creationId xmlns:a16="http://schemas.microsoft.com/office/drawing/2014/main" id="{6C7A9BAE-C8C3-3B4A-AC83-211A7A2D21F9}"/>
              </a:ext>
            </a:extLst>
          </p:cNvPr>
          <p:cNvPicPr>
            <a:picLocks noChangeAspect="1"/>
          </p:cNvPicPr>
          <p:nvPr/>
        </p:nvPicPr>
        <p:blipFill>
          <a:blip r:embed="rId7"/>
          <a:stretch>
            <a:fillRect/>
          </a:stretch>
        </p:blipFill>
        <p:spPr>
          <a:xfrm>
            <a:off x="1530350" y="3887789"/>
            <a:ext cx="8940800" cy="1054100"/>
          </a:xfrm>
          <a:prstGeom prst="rect">
            <a:avLst/>
          </a:prstGeom>
        </p:spPr>
      </p:pic>
    </p:spTree>
    <p:extLst>
      <p:ext uri="{BB962C8B-B14F-4D97-AF65-F5344CB8AC3E}">
        <p14:creationId xmlns:p14="http://schemas.microsoft.com/office/powerpoint/2010/main" val="61875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endParaRPr lang="en-GB" b="1" dirty="0"/>
          </a:p>
        </p:txBody>
      </p:sp>
      <p:sp>
        <p:nvSpPr>
          <p:cNvPr id="3" name="Content Placeholder 2"/>
          <p:cNvSpPr>
            <a:spLocks noGrp="1"/>
          </p:cNvSpPr>
          <p:nvPr>
            <p:ph idx="1"/>
          </p:nvPr>
        </p:nvSpPr>
        <p:spPr>
          <a:xfrm>
            <a:off x="838200" y="1825625"/>
            <a:ext cx="10706100" cy="4667250"/>
          </a:xfrm>
        </p:spPr>
        <p:txBody>
          <a:bodyPr>
            <a:normAutofit/>
          </a:bodyPr>
          <a:lstStyle/>
          <a:p>
            <a:pPr marL="0" indent="0" algn="ctr">
              <a:buNone/>
            </a:pPr>
            <a:r>
              <a:rPr lang="en-US" sz="16600" dirty="0">
                <a:effectLst/>
              </a:rPr>
              <a:t>Thank You</a:t>
            </a:r>
          </a:p>
        </p:txBody>
      </p:sp>
      <p:pic>
        <p:nvPicPr>
          <p:cNvPr id="4" name="Picture 3">
            <a:extLst>
              <a:ext uri="{FF2B5EF4-FFF2-40B4-BE49-F238E27FC236}">
                <a16:creationId xmlns:a16="http://schemas.microsoft.com/office/drawing/2014/main" id="{9B12500D-06B6-0647-B072-2B447F828A6F}"/>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F32398E7-9D1C-5044-84B0-BAAB2A75098A}"/>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1335469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571</Words>
  <Application>Microsoft Macintosh PowerPoint</Application>
  <PresentationFormat>Widescreen</PresentationFormat>
  <Paragraphs>83</Paragraphs>
  <Slides>19</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Wingdings</vt:lpstr>
      <vt:lpstr>Office Theme</vt:lpstr>
      <vt:lpstr>Introductory Computer Networking and IT Security </vt:lpstr>
      <vt:lpstr>Agenda</vt:lpstr>
      <vt:lpstr>Access List</vt:lpstr>
      <vt:lpstr>Access Control List</vt:lpstr>
      <vt:lpstr>Access Control List</vt:lpstr>
      <vt:lpstr>Where Can You Place An ACL?</vt:lpstr>
      <vt:lpstr>What Are The Components of An ACL?  </vt:lpstr>
      <vt:lpstr>What Are The Components of An ACL?  </vt:lpstr>
      <vt:lpstr>Types of Access Lists</vt:lpstr>
      <vt:lpstr>Standard Access Lists  </vt:lpstr>
      <vt:lpstr>Standard Access Lists  </vt:lpstr>
      <vt:lpstr>Extended Access Lists  </vt:lpstr>
      <vt:lpstr>Dynamic Access Lists  </vt:lpstr>
      <vt:lpstr>Reflexive Access Lists  </vt:lpstr>
      <vt:lpstr>Wildcard Masking </vt:lpstr>
      <vt:lpstr>Wildcard Masking  </vt:lpstr>
      <vt:lpstr>Configuration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Introductory Computer Networking and IT Security </dc:title>
  <dc:creator>Krittika Tuladhar</dc:creator>
  <cp:lastModifiedBy>Krittika Tuladhar</cp:lastModifiedBy>
  <cp:revision>13</cp:revision>
  <dcterms:created xsi:type="dcterms:W3CDTF">2019-12-22T14:30:13Z</dcterms:created>
  <dcterms:modified xsi:type="dcterms:W3CDTF">2019-12-28T15:45:07Z</dcterms:modified>
</cp:coreProperties>
</file>