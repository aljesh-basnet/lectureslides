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template.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handoutMasterIdLst>
    <p:handoutMasterId r:id="rId37"/>
  </p:handoutMasterIdLst>
  <p:sldIdLst>
    <p:sldId id="257" r:id="rId2"/>
    <p:sldId id="287" r:id="rId3"/>
    <p:sldId id="268" r:id="rId4"/>
    <p:sldId id="303" r:id="rId5"/>
    <p:sldId id="269" r:id="rId6"/>
    <p:sldId id="304" r:id="rId7"/>
    <p:sldId id="305" r:id="rId8"/>
    <p:sldId id="306" r:id="rId9"/>
    <p:sldId id="307" r:id="rId10"/>
    <p:sldId id="308" r:id="rId11"/>
    <p:sldId id="309" r:id="rId12"/>
    <p:sldId id="319" r:id="rId13"/>
    <p:sldId id="270" r:id="rId14"/>
    <p:sldId id="320" r:id="rId15"/>
    <p:sldId id="314" r:id="rId16"/>
    <p:sldId id="315" r:id="rId17"/>
    <p:sldId id="271" r:id="rId18"/>
    <p:sldId id="272" r:id="rId19"/>
    <p:sldId id="318" r:id="rId20"/>
    <p:sldId id="274" r:id="rId21"/>
    <p:sldId id="273" r:id="rId22"/>
    <p:sldId id="275" r:id="rId23"/>
    <p:sldId id="280" r:id="rId24"/>
    <p:sldId id="316" r:id="rId25"/>
    <p:sldId id="317" r:id="rId26"/>
    <p:sldId id="276" r:id="rId27"/>
    <p:sldId id="290" r:id="rId28"/>
    <p:sldId id="277" r:id="rId29"/>
    <p:sldId id="289" r:id="rId30"/>
    <p:sldId id="278" r:id="rId31"/>
    <p:sldId id="279" r:id="rId32"/>
    <p:sldId id="291" r:id="rId33"/>
    <p:sldId id="292" r:id="rId34"/>
    <p:sldId id="29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43"/>
    <p:restoredTop sz="96291"/>
  </p:normalViewPr>
  <p:slideViewPr>
    <p:cSldViewPr snapToGrid="0" snapToObjects="1">
      <p:cViewPr varScale="1">
        <p:scale>
          <a:sx n="100" d="100"/>
          <a:sy n="100" d="100"/>
        </p:scale>
        <p:origin x="184" y="7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A63AD1D-AAF7-C74C-A227-E8987C7F71F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56AF56F-86E8-884A-927B-C66EF9B059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BD819A-2425-2349-8F55-5A8B6FDFF79A}" type="datetimeFigureOut">
              <a:rPr lang="en-US" smtClean="0"/>
              <a:t>11/13/19</a:t>
            </a:fld>
            <a:endParaRPr lang="en-US"/>
          </a:p>
        </p:txBody>
      </p:sp>
      <p:sp>
        <p:nvSpPr>
          <p:cNvPr id="4" name="Footer Placeholder 3">
            <a:extLst>
              <a:ext uri="{FF2B5EF4-FFF2-40B4-BE49-F238E27FC236}">
                <a16:creationId xmlns:a16="http://schemas.microsoft.com/office/drawing/2014/main" id="{AF2C075D-8659-2B42-A4A5-23BE2DE5503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FC66EED-3415-BD43-98AF-F0FC511FDD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FFA8227-6A29-1446-A508-3B9FD5FA7EF4}" type="slidenum">
              <a:rPr lang="en-US" smtClean="0"/>
              <a:t>‹#›</a:t>
            </a:fld>
            <a:endParaRPr lang="en-US"/>
          </a:p>
        </p:txBody>
      </p:sp>
    </p:spTree>
    <p:extLst>
      <p:ext uri="{BB962C8B-B14F-4D97-AF65-F5344CB8AC3E}">
        <p14:creationId xmlns:p14="http://schemas.microsoft.com/office/powerpoint/2010/main" val="997109312"/>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2F98FD-9F28-5E41-A974-91819359E8D8}" type="datetimeFigureOut">
              <a:rPr lang="en-US" smtClean="0"/>
              <a:t>11/13/19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11E7BD-1384-D341-A59D-7E06CC1AC735}" type="slidenum">
              <a:rPr lang="en-US" smtClean="0"/>
              <a:t>‹#›</a:t>
            </a:fld>
            <a:endParaRPr lang="en-US"/>
          </a:p>
        </p:txBody>
      </p:sp>
    </p:spTree>
    <p:extLst>
      <p:ext uri="{BB962C8B-B14F-4D97-AF65-F5344CB8AC3E}">
        <p14:creationId xmlns:p14="http://schemas.microsoft.com/office/powerpoint/2010/main" val="217335422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3</a:t>
            </a:fld>
            <a:endParaRPr lang="en-US"/>
          </a:p>
        </p:txBody>
      </p:sp>
    </p:spTree>
    <p:extLst>
      <p:ext uri="{BB962C8B-B14F-4D97-AF65-F5344CB8AC3E}">
        <p14:creationId xmlns:p14="http://schemas.microsoft.com/office/powerpoint/2010/main" val="3171173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5</a:t>
            </a:fld>
            <a:endParaRPr lang="en-US"/>
          </a:p>
        </p:txBody>
      </p:sp>
    </p:spTree>
    <p:extLst>
      <p:ext uri="{BB962C8B-B14F-4D97-AF65-F5344CB8AC3E}">
        <p14:creationId xmlns:p14="http://schemas.microsoft.com/office/powerpoint/2010/main" val="29624617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13</a:t>
            </a:fld>
            <a:endParaRPr lang="en-US"/>
          </a:p>
        </p:txBody>
      </p:sp>
    </p:spTree>
    <p:extLst>
      <p:ext uri="{BB962C8B-B14F-4D97-AF65-F5344CB8AC3E}">
        <p14:creationId xmlns:p14="http://schemas.microsoft.com/office/powerpoint/2010/main" val="83771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17</a:t>
            </a:fld>
            <a:endParaRPr lang="en-US"/>
          </a:p>
        </p:txBody>
      </p:sp>
    </p:spTree>
    <p:extLst>
      <p:ext uri="{BB962C8B-B14F-4D97-AF65-F5344CB8AC3E}">
        <p14:creationId xmlns:p14="http://schemas.microsoft.com/office/powerpoint/2010/main" val="3409064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18</a:t>
            </a:fld>
            <a:endParaRPr lang="en-US"/>
          </a:p>
        </p:txBody>
      </p:sp>
    </p:spTree>
    <p:extLst>
      <p:ext uri="{BB962C8B-B14F-4D97-AF65-F5344CB8AC3E}">
        <p14:creationId xmlns:p14="http://schemas.microsoft.com/office/powerpoint/2010/main" val="2524075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19</a:t>
            </a:fld>
            <a:endParaRPr lang="en-US"/>
          </a:p>
        </p:txBody>
      </p:sp>
    </p:spTree>
    <p:extLst>
      <p:ext uri="{BB962C8B-B14F-4D97-AF65-F5344CB8AC3E}">
        <p14:creationId xmlns:p14="http://schemas.microsoft.com/office/powerpoint/2010/main" val="960421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20</a:t>
            </a:fld>
            <a:endParaRPr lang="en-US"/>
          </a:p>
        </p:txBody>
      </p:sp>
    </p:spTree>
    <p:extLst>
      <p:ext uri="{BB962C8B-B14F-4D97-AF65-F5344CB8AC3E}">
        <p14:creationId xmlns:p14="http://schemas.microsoft.com/office/powerpoint/2010/main" val="3658653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21</a:t>
            </a:fld>
            <a:endParaRPr lang="en-US"/>
          </a:p>
        </p:txBody>
      </p:sp>
    </p:spTree>
    <p:extLst>
      <p:ext uri="{BB962C8B-B14F-4D97-AF65-F5344CB8AC3E}">
        <p14:creationId xmlns:p14="http://schemas.microsoft.com/office/powerpoint/2010/main" val="3228522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22</a:t>
            </a:fld>
            <a:endParaRPr lang="en-US"/>
          </a:p>
        </p:txBody>
      </p:sp>
    </p:spTree>
    <p:extLst>
      <p:ext uri="{BB962C8B-B14F-4D97-AF65-F5344CB8AC3E}">
        <p14:creationId xmlns:p14="http://schemas.microsoft.com/office/powerpoint/2010/main" val="189644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23</a:t>
            </a:fld>
            <a:endParaRPr lang="en-US"/>
          </a:p>
        </p:txBody>
      </p:sp>
    </p:spTree>
    <p:extLst>
      <p:ext uri="{BB962C8B-B14F-4D97-AF65-F5344CB8AC3E}">
        <p14:creationId xmlns:p14="http://schemas.microsoft.com/office/powerpoint/2010/main" val="221338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26</a:t>
            </a:fld>
            <a:endParaRPr lang="en-US"/>
          </a:p>
        </p:txBody>
      </p:sp>
    </p:spTree>
    <p:extLst>
      <p:ext uri="{BB962C8B-B14F-4D97-AF65-F5344CB8AC3E}">
        <p14:creationId xmlns:p14="http://schemas.microsoft.com/office/powerpoint/2010/main" val="2969839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28</a:t>
            </a:fld>
            <a:endParaRPr lang="en-US"/>
          </a:p>
        </p:txBody>
      </p:sp>
    </p:spTree>
    <p:extLst>
      <p:ext uri="{BB962C8B-B14F-4D97-AF65-F5344CB8AC3E}">
        <p14:creationId xmlns:p14="http://schemas.microsoft.com/office/powerpoint/2010/main" val="28637781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30</a:t>
            </a:fld>
            <a:endParaRPr lang="en-US"/>
          </a:p>
        </p:txBody>
      </p:sp>
    </p:spTree>
    <p:extLst>
      <p:ext uri="{BB962C8B-B14F-4D97-AF65-F5344CB8AC3E}">
        <p14:creationId xmlns:p14="http://schemas.microsoft.com/office/powerpoint/2010/main" val="23660238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1C20F7C-D8D7-EA47-B168-F6FBBA42C463}" type="slidenum">
              <a:rPr lang="en-US" smtClean="0"/>
              <a:t>31</a:t>
            </a:fld>
            <a:endParaRPr lang="en-US"/>
          </a:p>
        </p:txBody>
      </p:sp>
    </p:spTree>
    <p:extLst>
      <p:ext uri="{BB962C8B-B14F-4D97-AF65-F5344CB8AC3E}">
        <p14:creationId xmlns:p14="http://schemas.microsoft.com/office/powerpoint/2010/main" val="4165153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EF17C-A7D2-B446-B1ED-C6EDDA801C5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F9B2E0B-5F19-D44D-B4CF-AA5084F63E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46ECCF-3B41-B841-A431-1EBFA9BDBACD}"/>
              </a:ext>
            </a:extLst>
          </p:cNvPr>
          <p:cNvSpPr>
            <a:spLocks noGrp="1"/>
          </p:cNvSpPr>
          <p:nvPr>
            <p:ph type="dt" sz="half" idx="10"/>
          </p:nvPr>
        </p:nvSpPr>
        <p:spPr/>
        <p:txBody>
          <a:bodyPr/>
          <a:lstStyle/>
          <a:p>
            <a:fld id="{F5FF5B31-87BA-1E46-977F-B1D419EA6E28}" type="datetimeFigureOut">
              <a:rPr lang="en-US" smtClean="0"/>
              <a:t>11/13/19</a:t>
            </a:fld>
            <a:endParaRPr lang="en-US"/>
          </a:p>
        </p:txBody>
      </p:sp>
      <p:sp>
        <p:nvSpPr>
          <p:cNvPr id="5" name="Footer Placeholder 4">
            <a:extLst>
              <a:ext uri="{FF2B5EF4-FFF2-40B4-BE49-F238E27FC236}">
                <a16:creationId xmlns:a16="http://schemas.microsoft.com/office/drawing/2014/main" id="{372C8C2D-FA7E-2F4C-81AB-D02308CC65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2170D-42C5-C546-AB96-08465582DC71}"/>
              </a:ext>
            </a:extLst>
          </p:cNvPr>
          <p:cNvSpPr>
            <a:spLocks noGrp="1"/>
          </p:cNvSpPr>
          <p:nvPr>
            <p:ph type="sldNum" sz="quarter" idx="12"/>
          </p:nvPr>
        </p:nvSpPr>
        <p:spPr/>
        <p:txBody>
          <a:bodyPr/>
          <a:lstStyle/>
          <a:p>
            <a:fld id="{446625A8-3B6B-5047-8F79-973169DB3DD7}" type="slidenum">
              <a:rPr lang="en-US" smtClean="0"/>
              <a:t>‹#›</a:t>
            </a:fld>
            <a:endParaRPr lang="en-US"/>
          </a:p>
        </p:txBody>
      </p:sp>
    </p:spTree>
    <p:extLst>
      <p:ext uri="{BB962C8B-B14F-4D97-AF65-F5344CB8AC3E}">
        <p14:creationId xmlns:p14="http://schemas.microsoft.com/office/powerpoint/2010/main" val="26686994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E462B-5E55-2248-B0FD-C396C1D62F1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595B66-5722-2B47-A912-9B78699586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BA50B5-657B-4142-B458-9D40D7D3489D}"/>
              </a:ext>
            </a:extLst>
          </p:cNvPr>
          <p:cNvSpPr>
            <a:spLocks noGrp="1"/>
          </p:cNvSpPr>
          <p:nvPr>
            <p:ph type="dt" sz="half" idx="10"/>
          </p:nvPr>
        </p:nvSpPr>
        <p:spPr/>
        <p:txBody>
          <a:bodyPr/>
          <a:lstStyle/>
          <a:p>
            <a:fld id="{F5FF5B31-87BA-1E46-977F-B1D419EA6E28}" type="datetimeFigureOut">
              <a:rPr lang="en-US" smtClean="0"/>
              <a:t>11/13/19</a:t>
            </a:fld>
            <a:endParaRPr lang="en-US"/>
          </a:p>
        </p:txBody>
      </p:sp>
      <p:sp>
        <p:nvSpPr>
          <p:cNvPr id="5" name="Footer Placeholder 4">
            <a:extLst>
              <a:ext uri="{FF2B5EF4-FFF2-40B4-BE49-F238E27FC236}">
                <a16:creationId xmlns:a16="http://schemas.microsoft.com/office/drawing/2014/main" id="{B3C50A32-778C-F947-B340-EE252873C8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550B7-B0C6-064D-B1EF-944647DACE3D}"/>
              </a:ext>
            </a:extLst>
          </p:cNvPr>
          <p:cNvSpPr>
            <a:spLocks noGrp="1"/>
          </p:cNvSpPr>
          <p:nvPr>
            <p:ph type="sldNum" sz="quarter" idx="12"/>
          </p:nvPr>
        </p:nvSpPr>
        <p:spPr/>
        <p:txBody>
          <a:bodyPr/>
          <a:lstStyle/>
          <a:p>
            <a:fld id="{446625A8-3B6B-5047-8F79-973169DB3DD7}" type="slidenum">
              <a:rPr lang="en-US" smtClean="0"/>
              <a:t>‹#›</a:t>
            </a:fld>
            <a:endParaRPr lang="en-US"/>
          </a:p>
        </p:txBody>
      </p:sp>
    </p:spTree>
    <p:extLst>
      <p:ext uri="{BB962C8B-B14F-4D97-AF65-F5344CB8AC3E}">
        <p14:creationId xmlns:p14="http://schemas.microsoft.com/office/powerpoint/2010/main" val="1544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CF741-580A-5544-8046-DDD5228FE35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A866203-B89C-7B4F-9BDE-BCBBA7180B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D47F2DC-D074-F84F-904F-F41D6A3B1095}"/>
              </a:ext>
            </a:extLst>
          </p:cNvPr>
          <p:cNvSpPr>
            <a:spLocks noGrp="1"/>
          </p:cNvSpPr>
          <p:nvPr>
            <p:ph type="dt" sz="half" idx="10"/>
          </p:nvPr>
        </p:nvSpPr>
        <p:spPr/>
        <p:txBody>
          <a:bodyPr/>
          <a:lstStyle/>
          <a:p>
            <a:fld id="{F5FF5B31-87BA-1E46-977F-B1D419EA6E28}" type="datetimeFigureOut">
              <a:rPr lang="en-US" smtClean="0"/>
              <a:t>11/13/19</a:t>
            </a:fld>
            <a:endParaRPr lang="en-US"/>
          </a:p>
        </p:txBody>
      </p:sp>
      <p:sp>
        <p:nvSpPr>
          <p:cNvPr id="5" name="Footer Placeholder 4">
            <a:extLst>
              <a:ext uri="{FF2B5EF4-FFF2-40B4-BE49-F238E27FC236}">
                <a16:creationId xmlns:a16="http://schemas.microsoft.com/office/drawing/2014/main" id="{9C0E9B22-1949-374A-BE39-DB4EFCF8D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326E01-6D27-6A41-AE2E-21A6CD60EAE8}"/>
              </a:ext>
            </a:extLst>
          </p:cNvPr>
          <p:cNvSpPr>
            <a:spLocks noGrp="1"/>
          </p:cNvSpPr>
          <p:nvPr>
            <p:ph type="sldNum" sz="quarter" idx="12"/>
          </p:nvPr>
        </p:nvSpPr>
        <p:spPr/>
        <p:txBody>
          <a:bodyPr/>
          <a:lstStyle/>
          <a:p>
            <a:fld id="{446625A8-3B6B-5047-8F79-973169DB3DD7}" type="slidenum">
              <a:rPr lang="en-US" smtClean="0"/>
              <a:t>‹#›</a:t>
            </a:fld>
            <a:endParaRPr lang="en-US"/>
          </a:p>
        </p:txBody>
      </p:sp>
    </p:spTree>
    <p:extLst>
      <p:ext uri="{BB962C8B-B14F-4D97-AF65-F5344CB8AC3E}">
        <p14:creationId xmlns:p14="http://schemas.microsoft.com/office/powerpoint/2010/main" val="1153207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FCD78-D1DD-3742-ABE2-124EB8EF23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CF1489-4A52-3D4A-A465-0882F9F14B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7D52DA1-43D4-C841-A9BA-6DC25D06D7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8C5CD3-7888-6A49-9100-20E932EF46D5}"/>
              </a:ext>
            </a:extLst>
          </p:cNvPr>
          <p:cNvSpPr>
            <a:spLocks noGrp="1"/>
          </p:cNvSpPr>
          <p:nvPr>
            <p:ph type="dt" sz="half" idx="10"/>
          </p:nvPr>
        </p:nvSpPr>
        <p:spPr/>
        <p:txBody>
          <a:bodyPr/>
          <a:lstStyle/>
          <a:p>
            <a:fld id="{F5FF5B31-87BA-1E46-977F-B1D419EA6E28}" type="datetimeFigureOut">
              <a:rPr lang="en-US" smtClean="0"/>
              <a:t>11/13/19</a:t>
            </a:fld>
            <a:endParaRPr lang="en-US"/>
          </a:p>
        </p:txBody>
      </p:sp>
      <p:sp>
        <p:nvSpPr>
          <p:cNvPr id="6" name="Footer Placeholder 5">
            <a:extLst>
              <a:ext uri="{FF2B5EF4-FFF2-40B4-BE49-F238E27FC236}">
                <a16:creationId xmlns:a16="http://schemas.microsoft.com/office/drawing/2014/main" id="{4397D283-A503-B04A-82AE-BD9097E41A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172212-0742-064C-8679-EF4AFECCBD94}"/>
              </a:ext>
            </a:extLst>
          </p:cNvPr>
          <p:cNvSpPr>
            <a:spLocks noGrp="1"/>
          </p:cNvSpPr>
          <p:nvPr>
            <p:ph type="sldNum" sz="quarter" idx="12"/>
          </p:nvPr>
        </p:nvSpPr>
        <p:spPr/>
        <p:txBody>
          <a:bodyPr/>
          <a:lstStyle/>
          <a:p>
            <a:fld id="{446625A8-3B6B-5047-8F79-973169DB3DD7}" type="slidenum">
              <a:rPr lang="en-US" smtClean="0"/>
              <a:t>‹#›</a:t>
            </a:fld>
            <a:endParaRPr lang="en-US"/>
          </a:p>
        </p:txBody>
      </p:sp>
    </p:spTree>
    <p:extLst>
      <p:ext uri="{BB962C8B-B14F-4D97-AF65-F5344CB8AC3E}">
        <p14:creationId xmlns:p14="http://schemas.microsoft.com/office/powerpoint/2010/main" val="1141738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224EA-9B71-2749-8165-AD650AFFB7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7603FF-7667-184F-AD9F-81DC83E7F2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99E158-9CCC-8641-B204-5491E814FA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B7A3B99-C487-5F46-8BE7-068FDB6EDA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F86633-A90D-4846-A0FB-252E39EF6A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E115745-28E6-B246-942E-F18D3D261714}"/>
              </a:ext>
            </a:extLst>
          </p:cNvPr>
          <p:cNvSpPr>
            <a:spLocks noGrp="1"/>
          </p:cNvSpPr>
          <p:nvPr>
            <p:ph type="dt" sz="half" idx="10"/>
          </p:nvPr>
        </p:nvSpPr>
        <p:spPr/>
        <p:txBody>
          <a:bodyPr/>
          <a:lstStyle/>
          <a:p>
            <a:fld id="{F5FF5B31-87BA-1E46-977F-B1D419EA6E28}" type="datetimeFigureOut">
              <a:rPr lang="en-US" smtClean="0"/>
              <a:t>11/13/19</a:t>
            </a:fld>
            <a:endParaRPr lang="en-US"/>
          </a:p>
        </p:txBody>
      </p:sp>
      <p:sp>
        <p:nvSpPr>
          <p:cNvPr id="8" name="Footer Placeholder 7">
            <a:extLst>
              <a:ext uri="{FF2B5EF4-FFF2-40B4-BE49-F238E27FC236}">
                <a16:creationId xmlns:a16="http://schemas.microsoft.com/office/drawing/2014/main" id="{6D3C6CD9-FDFA-594A-9714-8C6A9EEEB6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013AD9-2DB6-1042-836D-D28B2F6EA759}"/>
              </a:ext>
            </a:extLst>
          </p:cNvPr>
          <p:cNvSpPr>
            <a:spLocks noGrp="1"/>
          </p:cNvSpPr>
          <p:nvPr>
            <p:ph type="sldNum" sz="quarter" idx="12"/>
          </p:nvPr>
        </p:nvSpPr>
        <p:spPr/>
        <p:txBody>
          <a:bodyPr/>
          <a:lstStyle/>
          <a:p>
            <a:fld id="{446625A8-3B6B-5047-8F79-973169DB3DD7}" type="slidenum">
              <a:rPr lang="en-US" smtClean="0"/>
              <a:t>‹#›</a:t>
            </a:fld>
            <a:endParaRPr lang="en-US"/>
          </a:p>
        </p:txBody>
      </p:sp>
    </p:spTree>
    <p:extLst>
      <p:ext uri="{BB962C8B-B14F-4D97-AF65-F5344CB8AC3E}">
        <p14:creationId xmlns:p14="http://schemas.microsoft.com/office/powerpoint/2010/main" val="2193907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C413F-21D5-454C-84FA-C1438AA75B5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81DB06-1EE4-1D4F-9503-4850922A2A39}"/>
              </a:ext>
            </a:extLst>
          </p:cNvPr>
          <p:cNvSpPr>
            <a:spLocks noGrp="1"/>
          </p:cNvSpPr>
          <p:nvPr>
            <p:ph type="dt" sz="half" idx="10"/>
          </p:nvPr>
        </p:nvSpPr>
        <p:spPr/>
        <p:txBody>
          <a:bodyPr/>
          <a:lstStyle/>
          <a:p>
            <a:fld id="{F5FF5B31-87BA-1E46-977F-B1D419EA6E28}" type="datetimeFigureOut">
              <a:rPr lang="en-US" smtClean="0"/>
              <a:t>11/13/19</a:t>
            </a:fld>
            <a:endParaRPr lang="en-US"/>
          </a:p>
        </p:txBody>
      </p:sp>
      <p:sp>
        <p:nvSpPr>
          <p:cNvPr id="4" name="Footer Placeholder 3">
            <a:extLst>
              <a:ext uri="{FF2B5EF4-FFF2-40B4-BE49-F238E27FC236}">
                <a16:creationId xmlns:a16="http://schemas.microsoft.com/office/drawing/2014/main" id="{2319CEA6-80EF-634A-9B1A-01FBE5EBC3C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A482F3-593D-6C47-B138-F26B98DBF96A}"/>
              </a:ext>
            </a:extLst>
          </p:cNvPr>
          <p:cNvSpPr>
            <a:spLocks noGrp="1"/>
          </p:cNvSpPr>
          <p:nvPr>
            <p:ph type="sldNum" sz="quarter" idx="12"/>
          </p:nvPr>
        </p:nvSpPr>
        <p:spPr/>
        <p:txBody>
          <a:bodyPr/>
          <a:lstStyle/>
          <a:p>
            <a:fld id="{446625A8-3B6B-5047-8F79-973169DB3DD7}" type="slidenum">
              <a:rPr lang="en-US" smtClean="0"/>
              <a:t>‹#›</a:t>
            </a:fld>
            <a:endParaRPr lang="en-US"/>
          </a:p>
        </p:txBody>
      </p:sp>
    </p:spTree>
    <p:extLst>
      <p:ext uri="{BB962C8B-B14F-4D97-AF65-F5344CB8AC3E}">
        <p14:creationId xmlns:p14="http://schemas.microsoft.com/office/powerpoint/2010/main" val="329324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FFCC63-DFE8-354E-80BA-422CA6E1233F}"/>
              </a:ext>
            </a:extLst>
          </p:cNvPr>
          <p:cNvSpPr>
            <a:spLocks noGrp="1"/>
          </p:cNvSpPr>
          <p:nvPr>
            <p:ph type="dt" sz="half" idx="10"/>
          </p:nvPr>
        </p:nvSpPr>
        <p:spPr/>
        <p:txBody>
          <a:bodyPr/>
          <a:lstStyle/>
          <a:p>
            <a:fld id="{F5FF5B31-87BA-1E46-977F-B1D419EA6E28}" type="datetimeFigureOut">
              <a:rPr lang="en-US" smtClean="0"/>
              <a:t>11/13/19</a:t>
            </a:fld>
            <a:endParaRPr lang="en-US"/>
          </a:p>
        </p:txBody>
      </p:sp>
      <p:sp>
        <p:nvSpPr>
          <p:cNvPr id="3" name="Footer Placeholder 2">
            <a:extLst>
              <a:ext uri="{FF2B5EF4-FFF2-40B4-BE49-F238E27FC236}">
                <a16:creationId xmlns:a16="http://schemas.microsoft.com/office/drawing/2014/main" id="{0DC879DB-B103-6849-B5EB-CB65C80103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358265-C313-764E-AA49-B09E37F2562C}"/>
              </a:ext>
            </a:extLst>
          </p:cNvPr>
          <p:cNvSpPr>
            <a:spLocks noGrp="1"/>
          </p:cNvSpPr>
          <p:nvPr>
            <p:ph type="sldNum" sz="quarter" idx="12"/>
          </p:nvPr>
        </p:nvSpPr>
        <p:spPr/>
        <p:txBody>
          <a:bodyPr/>
          <a:lstStyle/>
          <a:p>
            <a:fld id="{446625A8-3B6B-5047-8F79-973169DB3DD7}" type="slidenum">
              <a:rPr lang="en-US" smtClean="0"/>
              <a:t>‹#›</a:t>
            </a:fld>
            <a:endParaRPr lang="en-US"/>
          </a:p>
        </p:txBody>
      </p:sp>
    </p:spTree>
    <p:extLst>
      <p:ext uri="{BB962C8B-B14F-4D97-AF65-F5344CB8AC3E}">
        <p14:creationId xmlns:p14="http://schemas.microsoft.com/office/powerpoint/2010/main" val="2914743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76A83-DAE5-7B44-A108-E9095B3086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B083FE-CAC4-394D-BA44-CB0A330EA4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CA8904-D136-F74E-B27D-C2D07C7124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4AA32A-64E7-C543-B4A1-3D9FD55B4705}"/>
              </a:ext>
            </a:extLst>
          </p:cNvPr>
          <p:cNvSpPr>
            <a:spLocks noGrp="1"/>
          </p:cNvSpPr>
          <p:nvPr>
            <p:ph type="dt" sz="half" idx="10"/>
          </p:nvPr>
        </p:nvSpPr>
        <p:spPr/>
        <p:txBody>
          <a:bodyPr/>
          <a:lstStyle/>
          <a:p>
            <a:fld id="{F5FF5B31-87BA-1E46-977F-B1D419EA6E28}" type="datetimeFigureOut">
              <a:rPr lang="en-US" smtClean="0"/>
              <a:t>11/13/19</a:t>
            </a:fld>
            <a:endParaRPr lang="en-US"/>
          </a:p>
        </p:txBody>
      </p:sp>
      <p:sp>
        <p:nvSpPr>
          <p:cNvPr id="6" name="Footer Placeholder 5">
            <a:extLst>
              <a:ext uri="{FF2B5EF4-FFF2-40B4-BE49-F238E27FC236}">
                <a16:creationId xmlns:a16="http://schemas.microsoft.com/office/drawing/2014/main" id="{6E4ABE91-A364-9348-919A-A82B65E7E6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ACF700-A5DA-0B40-A7B7-C91BFCF0226A}"/>
              </a:ext>
            </a:extLst>
          </p:cNvPr>
          <p:cNvSpPr>
            <a:spLocks noGrp="1"/>
          </p:cNvSpPr>
          <p:nvPr>
            <p:ph type="sldNum" sz="quarter" idx="12"/>
          </p:nvPr>
        </p:nvSpPr>
        <p:spPr/>
        <p:txBody>
          <a:bodyPr/>
          <a:lstStyle/>
          <a:p>
            <a:fld id="{446625A8-3B6B-5047-8F79-973169DB3DD7}" type="slidenum">
              <a:rPr lang="en-US" smtClean="0"/>
              <a:t>‹#›</a:t>
            </a:fld>
            <a:endParaRPr lang="en-US"/>
          </a:p>
        </p:txBody>
      </p:sp>
    </p:spTree>
    <p:extLst>
      <p:ext uri="{BB962C8B-B14F-4D97-AF65-F5344CB8AC3E}">
        <p14:creationId xmlns:p14="http://schemas.microsoft.com/office/powerpoint/2010/main" val="613951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7CEDE-6377-6E47-8B30-10991BE710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C7466D-4FA4-D043-9355-05E1BBC7E6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F3F9E4-3B21-D443-AC87-AE28A8D690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622724-E90F-4E4F-98D5-17ADE227EDFB}"/>
              </a:ext>
            </a:extLst>
          </p:cNvPr>
          <p:cNvSpPr>
            <a:spLocks noGrp="1"/>
          </p:cNvSpPr>
          <p:nvPr>
            <p:ph type="dt" sz="half" idx="10"/>
          </p:nvPr>
        </p:nvSpPr>
        <p:spPr/>
        <p:txBody>
          <a:bodyPr/>
          <a:lstStyle/>
          <a:p>
            <a:fld id="{F5FF5B31-87BA-1E46-977F-B1D419EA6E28}" type="datetimeFigureOut">
              <a:rPr lang="en-US" smtClean="0"/>
              <a:t>11/13/19</a:t>
            </a:fld>
            <a:endParaRPr lang="en-US"/>
          </a:p>
        </p:txBody>
      </p:sp>
      <p:sp>
        <p:nvSpPr>
          <p:cNvPr id="6" name="Footer Placeholder 5">
            <a:extLst>
              <a:ext uri="{FF2B5EF4-FFF2-40B4-BE49-F238E27FC236}">
                <a16:creationId xmlns:a16="http://schemas.microsoft.com/office/drawing/2014/main" id="{6CAD5E25-C68F-524C-B897-1F80F2FAD8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CDB756-A45D-2646-9F41-C4921A7F8564}"/>
              </a:ext>
            </a:extLst>
          </p:cNvPr>
          <p:cNvSpPr>
            <a:spLocks noGrp="1"/>
          </p:cNvSpPr>
          <p:nvPr>
            <p:ph type="sldNum" sz="quarter" idx="12"/>
          </p:nvPr>
        </p:nvSpPr>
        <p:spPr/>
        <p:txBody>
          <a:bodyPr/>
          <a:lstStyle/>
          <a:p>
            <a:fld id="{446625A8-3B6B-5047-8F79-973169DB3DD7}" type="slidenum">
              <a:rPr lang="en-US" smtClean="0"/>
              <a:t>‹#›</a:t>
            </a:fld>
            <a:endParaRPr lang="en-US"/>
          </a:p>
        </p:txBody>
      </p:sp>
    </p:spTree>
    <p:extLst>
      <p:ext uri="{BB962C8B-B14F-4D97-AF65-F5344CB8AC3E}">
        <p14:creationId xmlns:p14="http://schemas.microsoft.com/office/powerpoint/2010/main" val="3674507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7C890-C7C8-C24A-BDE5-8EF7FC34EB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BDFD5E-E315-A048-99DD-10D8A88732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204AF4-BBE0-4445-852B-9C20EBF61417}"/>
              </a:ext>
            </a:extLst>
          </p:cNvPr>
          <p:cNvSpPr>
            <a:spLocks noGrp="1"/>
          </p:cNvSpPr>
          <p:nvPr>
            <p:ph type="dt" sz="half" idx="10"/>
          </p:nvPr>
        </p:nvSpPr>
        <p:spPr/>
        <p:txBody>
          <a:bodyPr/>
          <a:lstStyle/>
          <a:p>
            <a:fld id="{F5FF5B31-87BA-1E46-977F-B1D419EA6E28}" type="datetimeFigureOut">
              <a:rPr lang="en-US" smtClean="0"/>
              <a:t>11/13/19</a:t>
            </a:fld>
            <a:endParaRPr lang="en-US"/>
          </a:p>
        </p:txBody>
      </p:sp>
      <p:sp>
        <p:nvSpPr>
          <p:cNvPr id="5" name="Footer Placeholder 4">
            <a:extLst>
              <a:ext uri="{FF2B5EF4-FFF2-40B4-BE49-F238E27FC236}">
                <a16:creationId xmlns:a16="http://schemas.microsoft.com/office/drawing/2014/main" id="{81F41AF0-C326-7241-95E2-8FCF548043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2C841B-E6F9-7749-82E1-A50CB15B5BD7}"/>
              </a:ext>
            </a:extLst>
          </p:cNvPr>
          <p:cNvSpPr>
            <a:spLocks noGrp="1"/>
          </p:cNvSpPr>
          <p:nvPr>
            <p:ph type="sldNum" sz="quarter" idx="12"/>
          </p:nvPr>
        </p:nvSpPr>
        <p:spPr/>
        <p:txBody>
          <a:bodyPr/>
          <a:lstStyle/>
          <a:p>
            <a:fld id="{446625A8-3B6B-5047-8F79-973169DB3DD7}" type="slidenum">
              <a:rPr lang="en-US" smtClean="0"/>
              <a:t>‹#›</a:t>
            </a:fld>
            <a:endParaRPr lang="en-US"/>
          </a:p>
        </p:txBody>
      </p:sp>
    </p:spTree>
    <p:extLst>
      <p:ext uri="{BB962C8B-B14F-4D97-AF65-F5344CB8AC3E}">
        <p14:creationId xmlns:p14="http://schemas.microsoft.com/office/powerpoint/2010/main" val="316957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289FD73-1739-C943-8432-892A6F5B40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4617BA-0A53-1840-9BD0-63E0ABAC85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781015-290D-9341-95AF-4BA99028028C}"/>
              </a:ext>
            </a:extLst>
          </p:cNvPr>
          <p:cNvSpPr>
            <a:spLocks noGrp="1"/>
          </p:cNvSpPr>
          <p:nvPr>
            <p:ph type="dt" sz="half" idx="10"/>
          </p:nvPr>
        </p:nvSpPr>
        <p:spPr/>
        <p:txBody>
          <a:bodyPr/>
          <a:lstStyle/>
          <a:p>
            <a:fld id="{F5FF5B31-87BA-1E46-977F-B1D419EA6E28}" type="datetimeFigureOut">
              <a:rPr lang="en-US" smtClean="0"/>
              <a:t>11/13/19</a:t>
            </a:fld>
            <a:endParaRPr lang="en-US"/>
          </a:p>
        </p:txBody>
      </p:sp>
      <p:sp>
        <p:nvSpPr>
          <p:cNvPr id="5" name="Footer Placeholder 4">
            <a:extLst>
              <a:ext uri="{FF2B5EF4-FFF2-40B4-BE49-F238E27FC236}">
                <a16:creationId xmlns:a16="http://schemas.microsoft.com/office/drawing/2014/main" id="{EDC2366B-6B23-B74A-A3CB-8888BB1F5E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D00335-180B-0D4F-9B2A-35D46AC75E6F}"/>
              </a:ext>
            </a:extLst>
          </p:cNvPr>
          <p:cNvSpPr>
            <a:spLocks noGrp="1"/>
          </p:cNvSpPr>
          <p:nvPr>
            <p:ph type="sldNum" sz="quarter" idx="12"/>
          </p:nvPr>
        </p:nvSpPr>
        <p:spPr/>
        <p:txBody>
          <a:bodyPr/>
          <a:lstStyle/>
          <a:p>
            <a:fld id="{446625A8-3B6B-5047-8F79-973169DB3DD7}" type="slidenum">
              <a:rPr lang="en-US" smtClean="0"/>
              <a:t>‹#›</a:t>
            </a:fld>
            <a:endParaRPr lang="en-US"/>
          </a:p>
        </p:txBody>
      </p:sp>
    </p:spTree>
    <p:extLst>
      <p:ext uri="{BB962C8B-B14F-4D97-AF65-F5344CB8AC3E}">
        <p14:creationId xmlns:p14="http://schemas.microsoft.com/office/powerpoint/2010/main" val="11110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9EBCB3-E234-F74F-98F8-8DE8A5FBB9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A24409-7225-EA4E-8364-2F764135A6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ED1115-5223-6945-9449-D63A3E1B4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FF5B31-87BA-1E46-977F-B1D419EA6E28}" type="datetimeFigureOut">
              <a:rPr lang="en-US" smtClean="0"/>
              <a:t>11/13/19</a:t>
            </a:fld>
            <a:endParaRPr lang="en-US"/>
          </a:p>
        </p:txBody>
      </p:sp>
      <p:sp>
        <p:nvSpPr>
          <p:cNvPr id="5" name="Footer Placeholder 4">
            <a:extLst>
              <a:ext uri="{FF2B5EF4-FFF2-40B4-BE49-F238E27FC236}">
                <a16:creationId xmlns:a16="http://schemas.microsoft.com/office/drawing/2014/main" id="{FFCAE506-F226-F14A-B347-6196B728A5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5E3C6C-2615-9E47-8BB6-71D6345825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6625A8-3B6B-5047-8F79-973169DB3DD7}" type="slidenum">
              <a:rPr lang="en-US" smtClean="0"/>
              <a:t>‹#›</a:t>
            </a:fld>
            <a:endParaRPr lang="en-US"/>
          </a:p>
        </p:txBody>
      </p:sp>
    </p:spTree>
    <p:extLst>
      <p:ext uri="{BB962C8B-B14F-4D97-AF65-F5344CB8AC3E}">
        <p14:creationId xmlns:p14="http://schemas.microsoft.com/office/powerpoint/2010/main" val="6202525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tiff"/></Relationships>
</file>

<file path=ppt/slides/_rels/slide4.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tiff"/><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2.tiff"/><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tiff"/><Relationship Id="rId7"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14.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23.xml.rels><?xml version="1.0" encoding="UTF-8" standalone="yes"?>
<Relationships xmlns="http://schemas.openxmlformats.org/package/2006/relationships"><Relationship Id="rId3" Type="http://schemas.openxmlformats.org/officeDocument/2006/relationships/image" Target="../media/image28.wmf"/><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tiff"/><Relationship Id="rId5" Type="http://schemas.openxmlformats.org/officeDocument/2006/relationships/image" Target="../media/image1.png"/><Relationship Id="rId4" Type="http://schemas.openxmlformats.org/officeDocument/2006/relationships/image" Target="../media/image29.wmf"/></Relationships>
</file>

<file path=ppt/slides/_rels/slide24.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2.tiff"/></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2.tiff"/></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tiff"/></Relationships>
</file>

<file path=ppt/slides/_rels/slide3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F2374-B174-F34F-8AFF-FE883381322E}"/>
              </a:ext>
            </a:extLst>
          </p:cNvPr>
          <p:cNvSpPr>
            <a:spLocks noGrp="1"/>
          </p:cNvSpPr>
          <p:nvPr>
            <p:ph type="ctrTitle"/>
          </p:nvPr>
        </p:nvSpPr>
        <p:spPr/>
        <p:txBody>
          <a:bodyPr>
            <a:normAutofit/>
          </a:bodyPr>
          <a:lstStyle/>
          <a:p>
            <a:r>
              <a:rPr lang="en-GB" dirty="0"/>
              <a:t>Introductory Computer Networking and IT Security </a:t>
            </a:r>
            <a:endParaRPr lang="en-US" dirty="0"/>
          </a:p>
        </p:txBody>
      </p:sp>
      <p:sp>
        <p:nvSpPr>
          <p:cNvPr id="3" name="Subtitle 2">
            <a:extLst>
              <a:ext uri="{FF2B5EF4-FFF2-40B4-BE49-F238E27FC236}">
                <a16:creationId xmlns:a16="http://schemas.microsoft.com/office/drawing/2014/main" id="{0F0BA501-51A5-C948-B97B-2246F8216B5F}"/>
              </a:ext>
            </a:extLst>
          </p:cNvPr>
          <p:cNvSpPr>
            <a:spLocks noGrp="1"/>
          </p:cNvSpPr>
          <p:nvPr>
            <p:ph type="subTitle" idx="1"/>
          </p:nvPr>
        </p:nvSpPr>
        <p:spPr>
          <a:xfrm>
            <a:off x="1524000" y="3987798"/>
            <a:ext cx="9144000" cy="1270001"/>
          </a:xfrm>
        </p:spPr>
        <p:txBody>
          <a:bodyPr/>
          <a:lstStyle/>
          <a:p>
            <a:r>
              <a:rPr lang="en-US" dirty="0"/>
              <a:t>Week 4</a:t>
            </a:r>
          </a:p>
          <a:p>
            <a:endParaRPr lang="en-US" dirty="0"/>
          </a:p>
        </p:txBody>
      </p:sp>
      <p:pic>
        <p:nvPicPr>
          <p:cNvPr id="7" name="Picture 6">
            <a:extLst>
              <a:ext uri="{FF2B5EF4-FFF2-40B4-BE49-F238E27FC236}">
                <a16:creationId xmlns:a16="http://schemas.microsoft.com/office/drawing/2014/main" id="{D14BD8D6-0482-B348-8E52-88F13AFCEEF3}"/>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4" name="Picture 3">
            <a:extLst>
              <a:ext uri="{FF2B5EF4-FFF2-40B4-BE49-F238E27FC236}">
                <a16:creationId xmlns:a16="http://schemas.microsoft.com/office/drawing/2014/main" id="{D9566B64-800D-7343-9B97-B4BCEFCA1F0E}"/>
              </a:ext>
            </a:extLst>
          </p:cNvPr>
          <p:cNvPicPr>
            <a:picLocks noChangeAspect="1"/>
          </p:cNvPicPr>
          <p:nvPr/>
        </p:nvPicPr>
        <p:blipFill>
          <a:blip r:embed="rId3"/>
          <a:stretch>
            <a:fillRect/>
          </a:stretch>
        </p:blipFill>
        <p:spPr>
          <a:xfrm>
            <a:off x="7874000" y="80167"/>
            <a:ext cx="3009900" cy="635000"/>
          </a:xfrm>
          <a:prstGeom prst="rect">
            <a:avLst/>
          </a:prstGeom>
        </p:spPr>
      </p:pic>
    </p:spTree>
    <p:extLst>
      <p:ext uri="{BB962C8B-B14F-4D97-AF65-F5344CB8AC3E}">
        <p14:creationId xmlns:p14="http://schemas.microsoft.com/office/powerpoint/2010/main" val="1014506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Agenda</a:t>
            </a:r>
          </a:p>
        </p:txBody>
      </p:sp>
      <p:sp>
        <p:nvSpPr>
          <p:cNvPr id="3" name="Content Placeholder 2"/>
          <p:cNvSpPr>
            <a:spLocks noGrp="1"/>
          </p:cNvSpPr>
          <p:nvPr>
            <p:ph idx="1"/>
          </p:nvPr>
        </p:nvSpPr>
        <p:spPr>
          <a:xfrm>
            <a:off x="838200" y="2055813"/>
            <a:ext cx="10515600" cy="4802186"/>
          </a:xfrm>
        </p:spPr>
        <p:txBody>
          <a:bodyPr>
            <a:noAutofit/>
          </a:bodyPr>
          <a:lstStyle/>
          <a:p>
            <a:r>
              <a:rPr lang="en-GB" sz="3200" dirty="0"/>
              <a:t>Introduction to routing </a:t>
            </a:r>
          </a:p>
          <a:p>
            <a:r>
              <a:rPr lang="en-GB" sz="3200" dirty="0"/>
              <a:t>Command line interface</a:t>
            </a:r>
          </a:p>
          <a:p>
            <a:r>
              <a:rPr lang="en-GB" sz="3200" dirty="0"/>
              <a:t>Router user interface</a:t>
            </a:r>
            <a:endParaRPr lang="en-US" sz="3200" dirty="0"/>
          </a:p>
          <a:p>
            <a:pPr lvl="0"/>
            <a:r>
              <a:rPr lang="en-GB" sz="3200" dirty="0"/>
              <a:t>Static Routing and Dynamic routing </a:t>
            </a:r>
            <a:endParaRPr lang="en-US" sz="3200" dirty="0"/>
          </a:p>
          <a:p>
            <a:r>
              <a:rPr lang="en-GB" sz="3200" dirty="0"/>
              <a:t>Introduction to RIP v1 and v2</a:t>
            </a:r>
            <a:endParaRPr lang="en-US" sz="3200" dirty="0"/>
          </a:p>
          <a:p>
            <a:r>
              <a:rPr lang="en-GB" sz="3200" dirty="0"/>
              <a:t>Static and dynamic routing (EIGRP &amp; OSPF)</a:t>
            </a:r>
            <a:r>
              <a:rPr lang="en-US" sz="3200" dirty="0">
                <a:effectLst/>
              </a:rPr>
              <a:t> </a:t>
            </a:r>
            <a:endParaRPr lang="en-US" sz="3200" dirty="0"/>
          </a:p>
          <a:p>
            <a:pPr lvl="0"/>
            <a:endParaRPr lang="en-US" sz="3200" dirty="0"/>
          </a:p>
        </p:txBody>
      </p:sp>
      <p:pic>
        <p:nvPicPr>
          <p:cNvPr id="6" name="Picture 5">
            <a:extLst>
              <a:ext uri="{FF2B5EF4-FFF2-40B4-BE49-F238E27FC236}">
                <a16:creationId xmlns:a16="http://schemas.microsoft.com/office/drawing/2014/main" id="{56854645-6956-6D49-9B3E-93F4599D5C5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7" name="Picture 6">
            <a:extLst>
              <a:ext uri="{FF2B5EF4-FFF2-40B4-BE49-F238E27FC236}">
                <a16:creationId xmlns:a16="http://schemas.microsoft.com/office/drawing/2014/main" id="{637073F7-EEC6-F14B-842C-7DA235BC4B69}"/>
              </a:ext>
            </a:extLst>
          </p:cNvPr>
          <p:cNvPicPr>
            <a:picLocks noChangeAspect="1"/>
          </p:cNvPicPr>
          <p:nvPr/>
        </p:nvPicPr>
        <p:blipFill>
          <a:blip r:embed="rId3"/>
          <a:stretch>
            <a:fillRect/>
          </a:stretch>
        </p:blipFill>
        <p:spPr>
          <a:xfrm>
            <a:off x="7874000" y="80167"/>
            <a:ext cx="3009900" cy="635000"/>
          </a:xfrm>
          <a:prstGeom prst="rect">
            <a:avLst/>
          </a:prstGeom>
        </p:spPr>
      </p:pic>
    </p:spTree>
    <p:extLst>
      <p:ext uri="{BB962C8B-B14F-4D97-AF65-F5344CB8AC3E}">
        <p14:creationId xmlns:p14="http://schemas.microsoft.com/office/powerpoint/2010/main" val="3167204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b="1" dirty="0"/>
              <a:t>Introduction To Routing </a:t>
            </a:r>
            <a:endParaRPr lang="en-US" b="1" dirty="0"/>
          </a:p>
        </p:txBody>
      </p:sp>
      <p:sp>
        <p:nvSpPr>
          <p:cNvPr id="3" name="Content Placeholder 2"/>
          <p:cNvSpPr>
            <a:spLocks noGrp="1"/>
          </p:cNvSpPr>
          <p:nvPr>
            <p:ph idx="1"/>
          </p:nvPr>
        </p:nvSpPr>
        <p:spPr>
          <a:xfrm>
            <a:off x="838200" y="1600200"/>
            <a:ext cx="10515600" cy="4576763"/>
          </a:xfrm>
        </p:spPr>
        <p:txBody>
          <a:bodyPr/>
          <a:lstStyle/>
          <a:p>
            <a:r>
              <a:rPr lang="en-US" dirty="0"/>
              <a:t>Routing is the process of selecting best paths in a network</a:t>
            </a:r>
          </a:p>
          <a:p>
            <a:r>
              <a:rPr lang="en-US" dirty="0"/>
              <a:t>In simple words: Routing is building maps and giving directions </a:t>
            </a:r>
          </a:p>
          <a:p>
            <a:endParaRPr lang="en-US" dirty="0"/>
          </a:p>
        </p:txBody>
      </p:sp>
      <p:pic>
        <p:nvPicPr>
          <p:cNvPr id="4" name="Picture 3">
            <a:extLst>
              <a:ext uri="{FF2B5EF4-FFF2-40B4-BE49-F238E27FC236}">
                <a16:creationId xmlns:a16="http://schemas.microsoft.com/office/drawing/2014/main" id="{810247E8-F0E8-B54F-98EB-BC11CEE7D163}"/>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BE6986E-13DD-644A-833F-B7B83173CE72}"/>
              </a:ext>
            </a:extLst>
          </p:cNvPr>
          <p:cNvPicPr>
            <a:picLocks noChangeAspect="1"/>
          </p:cNvPicPr>
          <p:nvPr/>
        </p:nvPicPr>
        <p:blipFill>
          <a:blip r:embed="rId4"/>
          <a:stretch>
            <a:fillRect/>
          </a:stretch>
        </p:blipFill>
        <p:spPr>
          <a:xfrm>
            <a:off x="7874000" y="80167"/>
            <a:ext cx="3009900" cy="635000"/>
          </a:xfrm>
          <a:prstGeom prst="rect">
            <a:avLst/>
          </a:prstGeom>
        </p:spPr>
      </p:pic>
      <p:pic>
        <p:nvPicPr>
          <p:cNvPr id="6" name="Content Placeholder 6">
            <a:extLst>
              <a:ext uri="{FF2B5EF4-FFF2-40B4-BE49-F238E27FC236}">
                <a16:creationId xmlns:a16="http://schemas.microsoft.com/office/drawing/2014/main" id="{68D23E53-0B9C-384D-A455-6937ECE8E6A8}"/>
              </a:ext>
            </a:extLst>
          </p:cNvPr>
          <p:cNvPicPr>
            <a:picLocks noChangeAspect="1"/>
          </p:cNvPicPr>
          <p:nvPr/>
        </p:nvPicPr>
        <p:blipFill>
          <a:blip r:embed="rId5"/>
          <a:stretch>
            <a:fillRect/>
          </a:stretch>
        </p:blipFill>
        <p:spPr>
          <a:xfrm>
            <a:off x="2227004" y="2927350"/>
            <a:ext cx="7737991" cy="1323163"/>
          </a:xfrm>
          <a:prstGeom prst="rect">
            <a:avLst/>
          </a:prstGeom>
        </p:spPr>
      </p:pic>
      <p:pic>
        <p:nvPicPr>
          <p:cNvPr id="7" name="Picture 6">
            <a:extLst>
              <a:ext uri="{FF2B5EF4-FFF2-40B4-BE49-F238E27FC236}">
                <a16:creationId xmlns:a16="http://schemas.microsoft.com/office/drawing/2014/main" id="{B0DCF9E9-A9BC-204F-A51B-27E20681F256}"/>
              </a:ext>
            </a:extLst>
          </p:cNvPr>
          <p:cNvPicPr>
            <a:picLocks noChangeAspect="1"/>
          </p:cNvPicPr>
          <p:nvPr/>
        </p:nvPicPr>
        <p:blipFill>
          <a:blip r:embed="rId6"/>
          <a:stretch>
            <a:fillRect/>
          </a:stretch>
        </p:blipFill>
        <p:spPr>
          <a:xfrm>
            <a:off x="1840324" y="4343399"/>
            <a:ext cx="8668957" cy="2149475"/>
          </a:xfrm>
          <a:prstGeom prst="rect">
            <a:avLst/>
          </a:prstGeom>
        </p:spPr>
      </p:pic>
      <p:sp>
        <p:nvSpPr>
          <p:cNvPr id="8" name="TextBox 7">
            <a:extLst>
              <a:ext uri="{FF2B5EF4-FFF2-40B4-BE49-F238E27FC236}">
                <a16:creationId xmlns:a16="http://schemas.microsoft.com/office/drawing/2014/main" id="{BBE47797-1B10-B740-B5C2-5883566F855D}"/>
              </a:ext>
            </a:extLst>
          </p:cNvPr>
          <p:cNvSpPr txBox="1"/>
          <p:nvPr/>
        </p:nvSpPr>
        <p:spPr>
          <a:xfrm>
            <a:off x="3492500" y="2835275"/>
            <a:ext cx="1885324" cy="646331"/>
          </a:xfrm>
          <a:prstGeom prst="rect">
            <a:avLst/>
          </a:prstGeom>
          <a:noFill/>
        </p:spPr>
        <p:txBody>
          <a:bodyPr wrap="none" rtlCol="0">
            <a:spAutoFit/>
          </a:bodyPr>
          <a:lstStyle/>
          <a:p>
            <a:r>
              <a:rPr lang="en-US" dirty="0"/>
              <a:t>Cisco 2501 router </a:t>
            </a:r>
          </a:p>
          <a:p>
            <a:endParaRPr lang="en-US" dirty="0"/>
          </a:p>
        </p:txBody>
      </p:sp>
    </p:spTree>
    <p:extLst>
      <p:ext uri="{BB962C8B-B14F-4D97-AF65-F5344CB8AC3E}">
        <p14:creationId xmlns:p14="http://schemas.microsoft.com/office/powerpoint/2010/main" val="339103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4C0F3-F412-0945-AAF2-C4DF175882E8}"/>
              </a:ext>
            </a:extLst>
          </p:cNvPr>
          <p:cNvSpPr>
            <a:spLocks noGrp="1"/>
          </p:cNvSpPr>
          <p:nvPr>
            <p:ph type="title"/>
          </p:nvPr>
        </p:nvSpPr>
        <p:spPr>
          <a:xfrm>
            <a:off x="838200" y="607615"/>
            <a:ext cx="10515600" cy="1325563"/>
          </a:xfrm>
        </p:spPr>
        <p:txBody>
          <a:bodyPr/>
          <a:lstStyle/>
          <a:p>
            <a:r>
              <a:rPr lang="en-US" b="1" dirty="0"/>
              <a:t>To route a router need to know:</a:t>
            </a:r>
            <a:br>
              <a:rPr lang="en-US" b="1" dirty="0"/>
            </a:br>
            <a:endParaRPr lang="en-US" b="1" dirty="0"/>
          </a:p>
        </p:txBody>
      </p:sp>
      <p:sp>
        <p:nvSpPr>
          <p:cNvPr id="3" name="Content Placeholder 2">
            <a:extLst>
              <a:ext uri="{FF2B5EF4-FFF2-40B4-BE49-F238E27FC236}">
                <a16:creationId xmlns:a16="http://schemas.microsoft.com/office/drawing/2014/main" id="{CF67AC4E-7B54-6243-9779-F6B9DA093791}"/>
              </a:ext>
            </a:extLst>
          </p:cNvPr>
          <p:cNvSpPr>
            <a:spLocks noGrp="1"/>
          </p:cNvSpPr>
          <p:nvPr>
            <p:ph idx="1"/>
          </p:nvPr>
        </p:nvSpPr>
        <p:spPr/>
        <p:txBody>
          <a:bodyPr>
            <a:normAutofit/>
          </a:bodyPr>
          <a:lstStyle/>
          <a:p>
            <a:pPr lvl="1"/>
            <a:r>
              <a:rPr lang="en-US" sz="2800" dirty="0"/>
              <a:t>Remote Networks</a:t>
            </a:r>
          </a:p>
          <a:p>
            <a:pPr lvl="1"/>
            <a:r>
              <a:rPr lang="en-US" sz="2800" dirty="0"/>
              <a:t>Neighbor Routers</a:t>
            </a:r>
          </a:p>
          <a:p>
            <a:pPr lvl="1"/>
            <a:r>
              <a:rPr lang="en-US" sz="2800" dirty="0"/>
              <a:t>All Possible routes to remote network</a:t>
            </a:r>
          </a:p>
          <a:p>
            <a:pPr lvl="1"/>
            <a:r>
              <a:rPr lang="en-US" sz="2800" dirty="0"/>
              <a:t>The absolute best route to all remote networks</a:t>
            </a:r>
          </a:p>
          <a:p>
            <a:pPr lvl="1"/>
            <a:r>
              <a:rPr lang="en-US" sz="2800" dirty="0"/>
              <a:t>Maintain and verify the routing information</a:t>
            </a:r>
          </a:p>
          <a:p>
            <a:endParaRPr lang="en-US" sz="2400" dirty="0"/>
          </a:p>
        </p:txBody>
      </p:sp>
      <p:pic>
        <p:nvPicPr>
          <p:cNvPr id="4" name="Picture 3">
            <a:extLst>
              <a:ext uri="{FF2B5EF4-FFF2-40B4-BE49-F238E27FC236}">
                <a16:creationId xmlns:a16="http://schemas.microsoft.com/office/drawing/2014/main" id="{3D35DD99-54AA-9044-8F4B-84EEFF704A17}"/>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74232E47-2E44-A645-A230-A955F41B67D0}"/>
              </a:ext>
            </a:extLst>
          </p:cNvPr>
          <p:cNvPicPr>
            <a:picLocks noChangeAspect="1"/>
          </p:cNvPicPr>
          <p:nvPr/>
        </p:nvPicPr>
        <p:blipFill>
          <a:blip r:embed="rId3"/>
          <a:stretch>
            <a:fillRect/>
          </a:stretch>
        </p:blipFill>
        <p:spPr>
          <a:xfrm>
            <a:off x="7874000" y="80167"/>
            <a:ext cx="3009900" cy="635000"/>
          </a:xfrm>
          <a:prstGeom prst="rect">
            <a:avLst/>
          </a:prstGeom>
        </p:spPr>
      </p:pic>
    </p:spTree>
    <p:extLst>
      <p:ext uri="{BB962C8B-B14F-4D97-AF65-F5344CB8AC3E}">
        <p14:creationId xmlns:p14="http://schemas.microsoft.com/office/powerpoint/2010/main" val="437287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GB" b="1" dirty="0"/>
              <a:t>Introduction To Routing </a:t>
            </a:r>
            <a:endParaRPr lang="en-US" b="1" dirty="0"/>
          </a:p>
        </p:txBody>
      </p:sp>
      <p:sp>
        <p:nvSpPr>
          <p:cNvPr id="3" name="Content Placeholder 2"/>
          <p:cNvSpPr>
            <a:spLocks noGrp="1"/>
          </p:cNvSpPr>
          <p:nvPr>
            <p:ph idx="1"/>
          </p:nvPr>
        </p:nvSpPr>
        <p:spPr>
          <a:xfrm>
            <a:off x="838200" y="1498600"/>
            <a:ext cx="10515600" cy="4678363"/>
          </a:xfrm>
        </p:spPr>
        <p:txBody>
          <a:bodyPr/>
          <a:lstStyle/>
          <a:p>
            <a:pPr marL="0" indent="0">
              <a:buNone/>
            </a:pPr>
            <a:r>
              <a:rPr lang="en-US" dirty="0"/>
              <a:t>Best path Selection </a:t>
            </a:r>
          </a:p>
          <a:p>
            <a:pPr marL="0" indent="0">
              <a:buNone/>
            </a:pPr>
            <a:endParaRPr lang="en-US" dirty="0"/>
          </a:p>
          <a:p>
            <a:pPr lvl="1"/>
            <a:r>
              <a:rPr lang="en-US" dirty="0">
                <a:latin typeface="Arial" charset="0"/>
              </a:rPr>
              <a:t>What interface will the router send out  a packet if it has  destination address of 10.10.10.18?</a:t>
            </a:r>
          </a:p>
          <a:p>
            <a:pPr lvl="1"/>
            <a:endParaRPr lang="en-US" dirty="0">
              <a:latin typeface="Arial" charset="0"/>
            </a:endParaRPr>
          </a:p>
          <a:p>
            <a:pPr lvl="1"/>
            <a:endParaRPr lang="en-US" dirty="0">
              <a:latin typeface="Arial" charset="0"/>
            </a:endParaRPr>
          </a:p>
          <a:p>
            <a:pPr lvl="1"/>
            <a:endParaRPr lang="en-US" dirty="0"/>
          </a:p>
        </p:txBody>
      </p:sp>
      <p:pic>
        <p:nvPicPr>
          <p:cNvPr id="4" name="Picture 4" descr="figure 5"/>
          <p:cNvPicPr>
            <a:picLocks noChangeAspect="1" noChangeArrowheads="1"/>
          </p:cNvPicPr>
          <p:nvPr/>
        </p:nvPicPr>
        <p:blipFill>
          <a:blip r:embed="rId3">
            <a:grayscl/>
            <a:extLst>
              <a:ext uri="{28A0092B-C50C-407E-A947-70E740481C1C}">
                <a14:useLocalDpi xmlns:a14="http://schemas.microsoft.com/office/drawing/2010/main"/>
              </a:ext>
            </a:extLst>
          </a:blip>
          <a:srcRect/>
          <a:stretch>
            <a:fillRect/>
          </a:stretch>
        </p:blipFill>
        <p:spPr bwMode="auto">
          <a:xfrm>
            <a:off x="5552810" y="3069527"/>
            <a:ext cx="5331090" cy="287742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 name="Picture 4">
            <a:extLst>
              <a:ext uri="{FF2B5EF4-FFF2-40B4-BE49-F238E27FC236}">
                <a16:creationId xmlns:a16="http://schemas.microsoft.com/office/drawing/2014/main" id="{2A16EE3E-8710-BE48-8659-9AB7FDA2BB3C}"/>
              </a:ext>
            </a:extLst>
          </p:cNvPr>
          <p:cNvPicPr>
            <a:picLocks noChangeAspect="1"/>
          </p:cNvPicPr>
          <p:nvPr/>
        </p:nvPicPr>
        <p:blipFill rotWithShape="1">
          <a:blip r:embed="rId4">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6" name="Picture 5">
            <a:extLst>
              <a:ext uri="{FF2B5EF4-FFF2-40B4-BE49-F238E27FC236}">
                <a16:creationId xmlns:a16="http://schemas.microsoft.com/office/drawing/2014/main" id="{A88990A5-36BD-194C-A13C-222426D2C5DF}"/>
              </a:ext>
            </a:extLst>
          </p:cNvPr>
          <p:cNvPicPr>
            <a:picLocks noChangeAspect="1"/>
          </p:cNvPicPr>
          <p:nvPr/>
        </p:nvPicPr>
        <p:blipFill>
          <a:blip r:embed="rId5"/>
          <a:stretch>
            <a:fillRect/>
          </a:stretch>
        </p:blipFill>
        <p:spPr>
          <a:xfrm>
            <a:off x="7874000" y="80167"/>
            <a:ext cx="3009900" cy="635000"/>
          </a:xfrm>
          <a:prstGeom prst="rect">
            <a:avLst/>
          </a:prstGeom>
        </p:spPr>
      </p:pic>
    </p:spTree>
    <p:extLst>
      <p:ext uri="{BB962C8B-B14F-4D97-AF65-F5344CB8AC3E}">
        <p14:creationId xmlns:p14="http://schemas.microsoft.com/office/powerpoint/2010/main" val="347581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B04F-3CCF-1D49-A200-1FCB10B1D8FD}"/>
              </a:ext>
            </a:extLst>
          </p:cNvPr>
          <p:cNvSpPr>
            <a:spLocks noGrp="1"/>
          </p:cNvSpPr>
          <p:nvPr>
            <p:ph type="title"/>
          </p:nvPr>
        </p:nvSpPr>
        <p:spPr/>
        <p:txBody>
          <a:bodyPr/>
          <a:lstStyle/>
          <a:p>
            <a:r>
              <a:rPr lang="en-US" b="1" dirty="0"/>
              <a:t>Command-Line Interface </a:t>
            </a:r>
            <a:br>
              <a:rPr lang="en-US" b="1" dirty="0"/>
            </a:br>
            <a:endParaRPr lang="en-US" b="1" dirty="0"/>
          </a:p>
        </p:txBody>
      </p:sp>
      <p:pic>
        <p:nvPicPr>
          <p:cNvPr id="4" name="Picture 3">
            <a:extLst>
              <a:ext uri="{FF2B5EF4-FFF2-40B4-BE49-F238E27FC236}">
                <a16:creationId xmlns:a16="http://schemas.microsoft.com/office/drawing/2014/main" id="{F18CA356-D79A-B345-A594-F28C8994698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0EFB265-AAF7-8548-BCA1-C8E0018E3E19}"/>
              </a:ext>
            </a:extLst>
          </p:cNvPr>
          <p:cNvPicPr>
            <a:picLocks noChangeAspect="1"/>
          </p:cNvPicPr>
          <p:nvPr/>
        </p:nvPicPr>
        <p:blipFill>
          <a:blip r:embed="rId3"/>
          <a:stretch>
            <a:fillRect/>
          </a:stretch>
        </p:blipFill>
        <p:spPr>
          <a:xfrm>
            <a:off x="7874000" y="80167"/>
            <a:ext cx="3009900" cy="635000"/>
          </a:xfrm>
          <a:prstGeom prst="rect">
            <a:avLst/>
          </a:prstGeom>
        </p:spPr>
      </p:pic>
      <p:pic>
        <p:nvPicPr>
          <p:cNvPr id="12" name="Content Placeholder 11">
            <a:extLst>
              <a:ext uri="{FF2B5EF4-FFF2-40B4-BE49-F238E27FC236}">
                <a16:creationId xmlns:a16="http://schemas.microsoft.com/office/drawing/2014/main" id="{A0947A96-6EE4-2541-87A4-336BF00D13E7}"/>
              </a:ext>
            </a:extLst>
          </p:cNvPr>
          <p:cNvPicPr>
            <a:picLocks noGrp="1" noChangeAspect="1"/>
          </p:cNvPicPr>
          <p:nvPr>
            <p:ph idx="1"/>
          </p:nvPr>
        </p:nvPicPr>
        <p:blipFill>
          <a:blip r:embed="rId4"/>
          <a:stretch>
            <a:fillRect/>
          </a:stretch>
        </p:blipFill>
        <p:spPr>
          <a:xfrm>
            <a:off x="838200" y="1208087"/>
            <a:ext cx="6749906" cy="1325563"/>
          </a:xfrm>
        </p:spPr>
      </p:pic>
      <p:pic>
        <p:nvPicPr>
          <p:cNvPr id="14" name="Picture 13">
            <a:extLst>
              <a:ext uri="{FF2B5EF4-FFF2-40B4-BE49-F238E27FC236}">
                <a16:creationId xmlns:a16="http://schemas.microsoft.com/office/drawing/2014/main" id="{E79272D9-EED0-824C-A975-592B057A94E9}"/>
              </a:ext>
            </a:extLst>
          </p:cNvPr>
          <p:cNvPicPr>
            <a:picLocks noChangeAspect="1"/>
          </p:cNvPicPr>
          <p:nvPr/>
        </p:nvPicPr>
        <p:blipFill>
          <a:blip r:embed="rId5"/>
          <a:stretch>
            <a:fillRect/>
          </a:stretch>
        </p:blipFill>
        <p:spPr>
          <a:xfrm>
            <a:off x="1039000" y="2533650"/>
            <a:ext cx="3825100" cy="663538"/>
          </a:xfrm>
          <a:prstGeom prst="rect">
            <a:avLst/>
          </a:prstGeom>
        </p:spPr>
      </p:pic>
      <p:sp>
        <p:nvSpPr>
          <p:cNvPr id="15" name="TextBox 14">
            <a:extLst>
              <a:ext uri="{FF2B5EF4-FFF2-40B4-BE49-F238E27FC236}">
                <a16:creationId xmlns:a16="http://schemas.microsoft.com/office/drawing/2014/main" id="{9D4FFBFC-F63E-4A48-9015-4C337753D582}"/>
              </a:ext>
            </a:extLst>
          </p:cNvPr>
          <p:cNvSpPr txBox="1"/>
          <p:nvPr/>
        </p:nvSpPr>
        <p:spPr>
          <a:xfrm>
            <a:off x="1104900" y="3530600"/>
            <a:ext cx="3658246" cy="584775"/>
          </a:xfrm>
          <a:prstGeom prst="rect">
            <a:avLst/>
          </a:prstGeom>
          <a:noFill/>
        </p:spPr>
        <p:txBody>
          <a:bodyPr wrap="none" rtlCol="0">
            <a:spAutoFit/>
          </a:bodyPr>
          <a:lstStyle/>
          <a:p>
            <a:r>
              <a:rPr lang="en-US" sz="2800" dirty="0"/>
              <a:t>Logging into the </a:t>
            </a:r>
            <a:r>
              <a:rPr lang="en-US" sz="3200" dirty="0"/>
              <a:t>router</a:t>
            </a:r>
            <a:endParaRPr lang="en-US" sz="2800" dirty="0"/>
          </a:p>
        </p:txBody>
      </p:sp>
      <p:pic>
        <p:nvPicPr>
          <p:cNvPr id="17" name="Picture 16">
            <a:extLst>
              <a:ext uri="{FF2B5EF4-FFF2-40B4-BE49-F238E27FC236}">
                <a16:creationId xmlns:a16="http://schemas.microsoft.com/office/drawing/2014/main" id="{C6B09AEE-42C4-E542-A968-317DC29BF056}"/>
              </a:ext>
            </a:extLst>
          </p:cNvPr>
          <p:cNvPicPr>
            <a:picLocks noChangeAspect="1"/>
          </p:cNvPicPr>
          <p:nvPr/>
        </p:nvPicPr>
        <p:blipFill>
          <a:blip r:embed="rId6"/>
          <a:stretch>
            <a:fillRect/>
          </a:stretch>
        </p:blipFill>
        <p:spPr>
          <a:xfrm>
            <a:off x="1104899" y="4233343"/>
            <a:ext cx="8557679" cy="1325563"/>
          </a:xfrm>
          <a:prstGeom prst="rect">
            <a:avLst/>
          </a:prstGeom>
        </p:spPr>
      </p:pic>
    </p:spTree>
    <p:extLst>
      <p:ext uri="{BB962C8B-B14F-4D97-AF65-F5344CB8AC3E}">
        <p14:creationId xmlns:p14="http://schemas.microsoft.com/office/powerpoint/2010/main" val="396572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B04F-3CCF-1D49-A200-1FCB10B1D8FD}"/>
              </a:ext>
            </a:extLst>
          </p:cNvPr>
          <p:cNvSpPr>
            <a:spLocks noGrp="1"/>
          </p:cNvSpPr>
          <p:nvPr>
            <p:ph type="title"/>
          </p:nvPr>
        </p:nvSpPr>
        <p:spPr/>
        <p:txBody>
          <a:bodyPr/>
          <a:lstStyle/>
          <a:p>
            <a:r>
              <a:rPr lang="en-US" b="1" dirty="0"/>
              <a:t>Overview of Router Modes </a:t>
            </a:r>
            <a:br>
              <a:rPr lang="en-US" b="1" dirty="0"/>
            </a:br>
            <a:endParaRPr lang="en-US" b="1" dirty="0"/>
          </a:p>
        </p:txBody>
      </p:sp>
      <p:pic>
        <p:nvPicPr>
          <p:cNvPr id="4" name="Picture 3">
            <a:extLst>
              <a:ext uri="{FF2B5EF4-FFF2-40B4-BE49-F238E27FC236}">
                <a16:creationId xmlns:a16="http://schemas.microsoft.com/office/drawing/2014/main" id="{F18CA356-D79A-B345-A594-F28C8994698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0EFB265-AAF7-8548-BCA1-C8E0018E3E19}"/>
              </a:ext>
            </a:extLst>
          </p:cNvPr>
          <p:cNvPicPr>
            <a:picLocks noChangeAspect="1"/>
          </p:cNvPicPr>
          <p:nvPr/>
        </p:nvPicPr>
        <p:blipFill>
          <a:blip r:embed="rId3"/>
          <a:stretch>
            <a:fillRect/>
          </a:stretch>
        </p:blipFill>
        <p:spPr>
          <a:xfrm>
            <a:off x="7874000" y="80167"/>
            <a:ext cx="3009900" cy="635000"/>
          </a:xfrm>
          <a:prstGeom prst="rect">
            <a:avLst/>
          </a:prstGeom>
        </p:spPr>
      </p:pic>
      <p:pic>
        <p:nvPicPr>
          <p:cNvPr id="6" name="Content Placeholder 5">
            <a:extLst>
              <a:ext uri="{FF2B5EF4-FFF2-40B4-BE49-F238E27FC236}">
                <a16:creationId xmlns:a16="http://schemas.microsoft.com/office/drawing/2014/main" id="{92A106D1-43B0-704D-A42A-9EE2EEA260EC}"/>
              </a:ext>
            </a:extLst>
          </p:cNvPr>
          <p:cNvPicPr>
            <a:picLocks noGrp="1" noChangeAspect="1"/>
          </p:cNvPicPr>
          <p:nvPr>
            <p:ph idx="1"/>
          </p:nvPr>
        </p:nvPicPr>
        <p:blipFill>
          <a:blip r:embed="rId4"/>
          <a:stretch>
            <a:fillRect/>
          </a:stretch>
        </p:blipFill>
        <p:spPr>
          <a:xfrm>
            <a:off x="838200" y="1239045"/>
            <a:ext cx="7234870" cy="1668479"/>
          </a:xfrm>
        </p:spPr>
      </p:pic>
      <p:sp>
        <p:nvSpPr>
          <p:cNvPr id="7" name="Rectangle 6">
            <a:extLst>
              <a:ext uri="{FF2B5EF4-FFF2-40B4-BE49-F238E27FC236}">
                <a16:creationId xmlns:a16="http://schemas.microsoft.com/office/drawing/2014/main" id="{8753A59B-267F-F745-9D4C-E793566F7BA7}"/>
              </a:ext>
            </a:extLst>
          </p:cNvPr>
          <p:cNvSpPr/>
          <p:nvPr/>
        </p:nvSpPr>
        <p:spPr>
          <a:xfrm>
            <a:off x="838200" y="3055808"/>
            <a:ext cx="1686680" cy="461665"/>
          </a:xfrm>
          <a:prstGeom prst="rect">
            <a:avLst/>
          </a:prstGeom>
        </p:spPr>
        <p:txBody>
          <a:bodyPr wrap="none">
            <a:spAutoFit/>
          </a:bodyPr>
          <a:lstStyle/>
          <a:p>
            <a:r>
              <a:rPr lang="en-US" sz="2400" b="1" dirty="0">
                <a:latin typeface="Univers" panose="020B0503020202020204" pitchFamily="34" charset="0"/>
              </a:rPr>
              <a:t>Interfaces</a:t>
            </a:r>
            <a:r>
              <a:rPr lang="en-US" b="1" dirty="0">
                <a:latin typeface="Univers" panose="020B0503020202020204" pitchFamily="34" charset="0"/>
              </a:rPr>
              <a:t> </a:t>
            </a:r>
            <a:endParaRPr lang="en-US" dirty="0"/>
          </a:p>
        </p:txBody>
      </p:sp>
      <p:pic>
        <p:nvPicPr>
          <p:cNvPr id="11" name="Picture 10">
            <a:extLst>
              <a:ext uri="{FF2B5EF4-FFF2-40B4-BE49-F238E27FC236}">
                <a16:creationId xmlns:a16="http://schemas.microsoft.com/office/drawing/2014/main" id="{C9A80A66-B4DD-0E4B-A82D-04DCDF0AC66A}"/>
              </a:ext>
            </a:extLst>
          </p:cNvPr>
          <p:cNvPicPr>
            <a:picLocks noChangeAspect="1"/>
          </p:cNvPicPr>
          <p:nvPr/>
        </p:nvPicPr>
        <p:blipFill>
          <a:blip r:embed="rId5"/>
          <a:stretch>
            <a:fillRect/>
          </a:stretch>
        </p:blipFill>
        <p:spPr>
          <a:xfrm>
            <a:off x="838200" y="3883045"/>
            <a:ext cx="5725454" cy="1735909"/>
          </a:xfrm>
          <a:prstGeom prst="rect">
            <a:avLst/>
          </a:prstGeom>
        </p:spPr>
      </p:pic>
      <p:pic>
        <p:nvPicPr>
          <p:cNvPr id="13" name="Picture 12">
            <a:extLst>
              <a:ext uri="{FF2B5EF4-FFF2-40B4-BE49-F238E27FC236}">
                <a16:creationId xmlns:a16="http://schemas.microsoft.com/office/drawing/2014/main" id="{DF49887B-624A-AF40-9E31-8613766A1440}"/>
              </a:ext>
            </a:extLst>
          </p:cNvPr>
          <p:cNvPicPr>
            <a:picLocks noChangeAspect="1"/>
          </p:cNvPicPr>
          <p:nvPr/>
        </p:nvPicPr>
        <p:blipFill>
          <a:blip r:embed="rId6"/>
          <a:stretch>
            <a:fillRect/>
          </a:stretch>
        </p:blipFill>
        <p:spPr>
          <a:xfrm>
            <a:off x="6054377" y="3045499"/>
            <a:ext cx="5725454" cy="3416142"/>
          </a:xfrm>
          <a:prstGeom prst="rect">
            <a:avLst/>
          </a:prstGeom>
        </p:spPr>
      </p:pic>
    </p:spTree>
    <p:extLst>
      <p:ext uri="{BB962C8B-B14F-4D97-AF65-F5344CB8AC3E}">
        <p14:creationId xmlns:p14="http://schemas.microsoft.com/office/powerpoint/2010/main" val="1474618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B04F-3CCF-1D49-A200-1FCB10B1D8FD}"/>
              </a:ext>
            </a:extLst>
          </p:cNvPr>
          <p:cNvSpPr>
            <a:spLocks noGrp="1"/>
          </p:cNvSpPr>
          <p:nvPr>
            <p:ph type="title"/>
          </p:nvPr>
        </p:nvSpPr>
        <p:spPr/>
        <p:txBody>
          <a:bodyPr/>
          <a:lstStyle/>
          <a:p>
            <a:r>
              <a:rPr lang="en-US" b="1" dirty="0"/>
              <a:t>Sub interfaces </a:t>
            </a:r>
            <a:br>
              <a:rPr lang="en-US" b="1" dirty="0"/>
            </a:br>
            <a:endParaRPr lang="en-US" b="1" dirty="0"/>
          </a:p>
        </p:txBody>
      </p:sp>
      <p:pic>
        <p:nvPicPr>
          <p:cNvPr id="4" name="Picture 3">
            <a:extLst>
              <a:ext uri="{FF2B5EF4-FFF2-40B4-BE49-F238E27FC236}">
                <a16:creationId xmlns:a16="http://schemas.microsoft.com/office/drawing/2014/main" id="{F18CA356-D79A-B345-A594-F28C8994698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0EFB265-AAF7-8548-BCA1-C8E0018E3E19}"/>
              </a:ext>
            </a:extLst>
          </p:cNvPr>
          <p:cNvPicPr>
            <a:picLocks noChangeAspect="1"/>
          </p:cNvPicPr>
          <p:nvPr/>
        </p:nvPicPr>
        <p:blipFill>
          <a:blip r:embed="rId3"/>
          <a:stretch>
            <a:fillRect/>
          </a:stretch>
        </p:blipFill>
        <p:spPr>
          <a:xfrm>
            <a:off x="7874000" y="80167"/>
            <a:ext cx="3009900" cy="635000"/>
          </a:xfrm>
          <a:prstGeom prst="rect">
            <a:avLst/>
          </a:prstGeom>
        </p:spPr>
      </p:pic>
      <p:pic>
        <p:nvPicPr>
          <p:cNvPr id="6" name="Content Placeholder 5">
            <a:extLst>
              <a:ext uri="{FF2B5EF4-FFF2-40B4-BE49-F238E27FC236}">
                <a16:creationId xmlns:a16="http://schemas.microsoft.com/office/drawing/2014/main" id="{1DFF1FA5-5B1F-9944-94E5-AD51A9D6A6CE}"/>
              </a:ext>
            </a:extLst>
          </p:cNvPr>
          <p:cNvPicPr>
            <a:picLocks noGrp="1" noChangeAspect="1"/>
          </p:cNvPicPr>
          <p:nvPr>
            <p:ph idx="1"/>
          </p:nvPr>
        </p:nvPicPr>
        <p:blipFill>
          <a:blip r:embed="rId4"/>
          <a:stretch>
            <a:fillRect/>
          </a:stretch>
        </p:blipFill>
        <p:spPr>
          <a:xfrm>
            <a:off x="433943" y="1245393"/>
            <a:ext cx="5554106" cy="3313906"/>
          </a:xfrm>
        </p:spPr>
      </p:pic>
      <p:sp>
        <p:nvSpPr>
          <p:cNvPr id="7" name="TextBox 6">
            <a:extLst>
              <a:ext uri="{FF2B5EF4-FFF2-40B4-BE49-F238E27FC236}">
                <a16:creationId xmlns:a16="http://schemas.microsoft.com/office/drawing/2014/main" id="{AA75D69A-A22C-1F4B-953A-732F5AB458FB}"/>
              </a:ext>
            </a:extLst>
          </p:cNvPr>
          <p:cNvSpPr txBox="1"/>
          <p:nvPr/>
        </p:nvSpPr>
        <p:spPr>
          <a:xfrm>
            <a:off x="6203952" y="922228"/>
            <a:ext cx="2634054" cy="800219"/>
          </a:xfrm>
          <a:prstGeom prst="rect">
            <a:avLst/>
          </a:prstGeom>
          <a:noFill/>
        </p:spPr>
        <p:txBody>
          <a:bodyPr wrap="none" rtlCol="0">
            <a:spAutoFit/>
          </a:bodyPr>
          <a:lstStyle/>
          <a:p>
            <a:r>
              <a:rPr lang="en-US" sz="2800" b="1" dirty="0"/>
              <a:t>Line Commands </a:t>
            </a:r>
            <a:endParaRPr lang="en-US" sz="2800" dirty="0"/>
          </a:p>
          <a:p>
            <a:endParaRPr lang="en-US" dirty="0"/>
          </a:p>
        </p:txBody>
      </p:sp>
      <p:pic>
        <p:nvPicPr>
          <p:cNvPr id="9" name="Picture 8">
            <a:extLst>
              <a:ext uri="{FF2B5EF4-FFF2-40B4-BE49-F238E27FC236}">
                <a16:creationId xmlns:a16="http://schemas.microsoft.com/office/drawing/2014/main" id="{7031E921-4547-3A41-AFE2-0B8A7C2C678F}"/>
              </a:ext>
            </a:extLst>
          </p:cNvPr>
          <p:cNvPicPr>
            <a:picLocks noChangeAspect="1"/>
          </p:cNvPicPr>
          <p:nvPr/>
        </p:nvPicPr>
        <p:blipFill>
          <a:blip r:embed="rId5"/>
          <a:stretch>
            <a:fillRect/>
          </a:stretch>
        </p:blipFill>
        <p:spPr>
          <a:xfrm>
            <a:off x="5556250" y="1775620"/>
            <a:ext cx="6643808" cy="1419857"/>
          </a:xfrm>
          <a:prstGeom prst="rect">
            <a:avLst/>
          </a:prstGeom>
        </p:spPr>
      </p:pic>
      <p:pic>
        <p:nvPicPr>
          <p:cNvPr id="13" name="Picture 12">
            <a:extLst>
              <a:ext uri="{FF2B5EF4-FFF2-40B4-BE49-F238E27FC236}">
                <a16:creationId xmlns:a16="http://schemas.microsoft.com/office/drawing/2014/main" id="{DCE389AA-D787-694F-912F-D2327BDD7D71}"/>
              </a:ext>
            </a:extLst>
          </p:cNvPr>
          <p:cNvPicPr>
            <a:picLocks noChangeAspect="1"/>
          </p:cNvPicPr>
          <p:nvPr/>
        </p:nvPicPr>
        <p:blipFill>
          <a:blip r:embed="rId6"/>
          <a:stretch>
            <a:fillRect/>
          </a:stretch>
        </p:blipFill>
        <p:spPr>
          <a:xfrm>
            <a:off x="5556250" y="3280409"/>
            <a:ext cx="4168941" cy="3422920"/>
          </a:xfrm>
          <a:prstGeom prst="rect">
            <a:avLst/>
          </a:prstGeom>
        </p:spPr>
      </p:pic>
    </p:spTree>
    <p:extLst>
      <p:ext uri="{BB962C8B-B14F-4D97-AF65-F5344CB8AC3E}">
        <p14:creationId xmlns:p14="http://schemas.microsoft.com/office/powerpoint/2010/main" val="819172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B04F-3CCF-1D49-A200-1FCB10B1D8FD}"/>
              </a:ext>
            </a:extLst>
          </p:cNvPr>
          <p:cNvSpPr>
            <a:spLocks noGrp="1"/>
          </p:cNvSpPr>
          <p:nvPr>
            <p:ph type="title"/>
          </p:nvPr>
        </p:nvSpPr>
        <p:spPr>
          <a:xfrm>
            <a:off x="838200" y="842166"/>
            <a:ext cx="10515600" cy="848522"/>
          </a:xfrm>
        </p:spPr>
        <p:txBody>
          <a:bodyPr>
            <a:normAutofit/>
          </a:bodyPr>
          <a:lstStyle/>
          <a:p>
            <a:r>
              <a:rPr lang="en-US" b="1" dirty="0"/>
              <a:t>Router and </a:t>
            </a:r>
            <a:r>
              <a:rPr lang="en-US" sz="4900" b="1" dirty="0"/>
              <a:t>Switch</a:t>
            </a:r>
            <a:r>
              <a:rPr lang="en-US" b="1" dirty="0"/>
              <a:t> Administrative Functions </a:t>
            </a:r>
          </a:p>
        </p:txBody>
      </p:sp>
      <p:pic>
        <p:nvPicPr>
          <p:cNvPr id="4" name="Picture 3">
            <a:extLst>
              <a:ext uri="{FF2B5EF4-FFF2-40B4-BE49-F238E27FC236}">
                <a16:creationId xmlns:a16="http://schemas.microsoft.com/office/drawing/2014/main" id="{F18CA356-D79A-B345-A594-F28C8994698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0EFB265-AAF7-8548-BCA1-C8E0018E3E19}"/>
              </a:ext>
            </a:extLst>
          </p:cNvPr>
          <p:cNvPicPr>
            <a:picLocks noChangeAspect="1"/>
          </p:cNvPicPr>
          <p:nvPr/>
        </p:nvPicPr>
        <p:blipFill>
          <a:blip r:embed="rId3"/>
          <a:stretch>
            <a:fillRect/>
          </a:stretch>
        </p:blipFill>
        <p:spPr>
          <a:xfrm>
            <a:off x="7874000" y="80167"/>
            <a:ext cx="3009900" cy="635000"/>
          </a:xfrm>
          <a:prstGeom prst="rect">
            <a:avLst/>
          </a:prstGeom>
        </p:spPr>
      </p:pic>
      <p:sp>
        <p:nvSpPr>
          <p:cNvPr id="10" name="Content Placeholder 9">
            <a:extLst>
              <a:ext uri="{FF2B5EF4-FFF2-40B4-BE49-F238E27FC236}">
                <a16:creationId xmlns:a16="http://schemas.microsoft.com/office/drawing/2014/main" id="{C66395CC-940F-F344-BA7D-E8CE25E7BAD0}"/>
              </a:ext>
            </a:extLst>
          </p:cNvPr>
          <p:cNvSpPr>
            <a:spLocks noGrp="1"/>
          </p:cNvSpPr>
          <p:nvPr>
            <p:ph idx="1"/>
          </p:nvPr>
        </p:nvSpPr>
        <p:spPr>
          <a:xfrm>
            <a:off x="838200" y="1825625"/>
            <a:ext cx="10515600" cy="4351338"/>
          </a:xfrm>
        </p:spPr>
        <p:txBody>
          <a:bodyPr/>
          <a:lstStyle/>
          <a:p>
            <a:pPr marL="0" indent="0">
              <a:buNone/>
            </a:pPr>
            <a:r>
              <a:rPr lang="en-US" b="1" dirty="0"/>
              <a:t>Hostnames </a:t>
            </a:r>
            <a:endParaRPr lang="en-US" dirty="0"/>
          </a:p>
        </p:txBody>
      </p:sp>
      <p:pic>
        <p:nvPicPr>
          <p:cNvPr id="6" name="Picture 5">
            <a:extLst>
              <a:ext uri="{FF2B5EF4-FFF2-40B4-BE49-F238E27FC236}">
                <a16:creationId xmlns:a16="http://schemas.microsoft.com/office/drawing/2014/main" id="{4550B7F0-F0CE-4A43-8C6D-4A38599ACE4B}"/>
              </a:ext>
            </a:extLst>
          </p:cNvPr>
          <p:cNvPicPr>
            <a:picLocks noChangeAspect="1"/>
          </p:cNvPicPr>
          <p:nvPr/>
        </p:nvPicPr>
        <p:blipFill>
          <a:blip r:embed="rId4"/>
          <a:stretch>
            <a:fillRect/>
          </a:stretch>
        </p:blipFill>
        <p:spPr>
          <a:xfrm>
            <a:off x="711200" y="2698750"/>
            <a:ext cx="5576846" cy="1771650"/>
          </a:xfrm>
          <a:prstGeom prst="rect">
            <a:avLst/>
          </a:prstGeom>
        </p:spPr>
      </p:pic>
      <p:sp>
        <p:nvSpPr>
          <p:cNvPr id="7" name="TextBox 6">
            <a:extLst>
              <a:ext uri="{FF2B5EF4-FFF2-40B4-BE49-F238E27FC236}">
                <a16:creationId xmlns:a16="http://schemas.microsoft.com/office/drawing/2014/main" id="{68A5454A-CF2B-7E42-842D-42892177508F}"/>
              </a:ext>
            </a:extLst>
          </p:cNvPr>
          <p:cNvSpPr txBox="1"/>
          <p:nvPr/>
        </p:nvSpPr>
        <p:spPr>
          <a:xfrm>
            <a:off x="6502400" y="1825625"/>
            <a:ext cx="1478738" cy="800219"/>
          </a:xfrm>
          <a:prstGeom prst="rect">
            <a:avLst/>
          </a:prstGeom>
          <a:noFill/>
        </p:spPr>
        <p:txBody>
          <a:bodyPr wrap="none" rtlCol="0">
            <a:spAutoFit/>
          </a:bodyPr>
          <a:lstStyle/>
          <a:p>
            <a:r>
              <a:rPr lang="en-US" sz="2800" b="1" dirty="0"/>
              <a:t>Banners </a:t>
            </a:r>
            <a:endParaRPr lang="en-US" sz="2800" dirty="0"/>
          </a:p>
          <a:p>
            <a:endParaRPr lang="en-US" dirty="0"/>
          </a:p>
        </p:txBody>
      </p:sp>
      <p:pic>
        <p:nvPicPr>
          <p:cNvPr id="9" name="Picture 8">
            <a:extLst>
              <a:ext uri="{FF2B5EF4-FFF2-40B4-BE49-F238E27FC236}">
                <a16:creationId xmlns:a16="http://schemas.microsoft.com/office/drawing/2014/main" id="{E3BBD44D-AE60-C04B-A29B-6990EBC14581}"/>
              </a:ext>
            </a:extLst>
          </p:cNvPr>
          <p:cNvPicPr>
            <a:picLocks noChangeAspect="1"/>
          </p:cNvPicPr>
          <p:nvPr/>
        </p:nvPicPr>
        <p:blipFill>
          <a:blip r:embed="rId5"/>
          <a:stretch>
            <a:fillRect/>
          </a:stretch>
        </p:blipFill>
        <p:spPr>
          <a:xfrm>
            <a:off x="6415046" y="2672675"/>
            <a:ext cx="5065754" cy="1782670"/>
          </a:xfrm>
          <a:prstGeom prst="rect">
            <a:avLst/>
          </a:prstGeom>
        </p:spPr>
      </p:pic>
      <p:pic>
        <p:nvPicPr>
          <p:cNvPr id="12" name="Picture 11">
            <a:extLst>
              <a:ext uri="{FF2B5EF4-FFF2-40B4-BE49-F238E27FC236}">
                <a16:creationId xmlns:a16="http://schemas.microsoft.com/office/drawing/2014/main" id="{C6F8D41B-8425-8641-8F80-CD5F88348895}"/>
              </a:ext>
            </a:extLst>
          </p:cNvPr>
          <p:cNvPicPr>
            <a:picLocks noChangeAspect="1"/>
          </p:cNvPicPr>
          <p:nvPr/>
        </p:nvPicPr>
        <p:blipFill rotWithShape="1">
          <a:blip r:embed="rId6">
            <a:extLst>
              <a:ext uri="{28A0092B-C50C-407E-A947-70E740481C1C}">
                <a14:useLocalDpi xmlns:a14="http://schemas.microsoft.com/office/drawing/2010/main"/>
              </a:ext>
            </a:extLst>
          </a:blip>
          <a:srcRect/>
          <a:stretch/>
        </p:blipFill>
        <p:spPr>
          <a:xfrm>
            <a:off x="2459151" y="4780900"/>
            <a:ext cx="9377249" cy="795334"/>
          </a:xfrm>
          <a:prstGeom prst="rect">
            <a:avLst/>
          </a:prstGeom>
        </p:spPr>
      </p:pic>
    </p:spTree>
    <p:extLst>
      <p:ext uri="{BB962C8B-B14F-4D97-AF65-F5344CB8AC3E}">
        <p14:creationId xmlns:p14="http://schemas.microsoft.com/office/powerpoint/2010/main" val="1955350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B04F-3CCF-1D49-A200-1FCB10B1D8FD}"/>
              </a:ext>
            </a:extLst>
          </p:cNvPr>
          <p:cNvSpPr>
            <a:spLocks noGrp="1"/>
          </p:cNvSpPr>
          <p:nvPr>
            <p:ph type="title"/>
          </p:nvPr>
        </p:nvSpPr>
        <p:spPr/>
        <p:txBody>
          <a:bodyPr/>
          <a:lstStyle/>
          <a:p>
            <a:r>
              <a:rPr lang="en-US" b="1" dirty="0"/>
              <a:t>Setting Passwords </a:t>
            </a:r>
          </a:p>
        </p:txBody>
      </p:sp>
      <p:pic>
        <p:nvPicPr>
          <p:cNvPr id="4" name="Picture 3">
            <a:extLst>
              <a:ext uri="{FF2B5EF4-FFF2-40B4-BE49-F238E27FC236}">
                <a16:creationId xmlns:a16="http://schemas.microsoft.com/office/drawing/2014/main" id="{F18CA356-D79A-B345-A594-F28C8994698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0EFB265-AAF7-8548-BCA1-C8E0018E3E19}"/>
              </a:ext>
            </a:extLst>
          </p:cNvPr>
          <p:cNvPicPr>
            <a:picLocks noChangeAspect="1"/>
          </p:cNvPicPr>
          <p:nvPr/>
        </p:nvPicPr>
        <p:blipFill>
          <a:blip r:embed="rId3"/>
          <a:stretch>
            <a:fillRect/>
          </a:stretch>
        </p:blipFill>
        <p:spPr>
          <a:xfrm>
            <a:off x="7874000" y="80167"/>
            <a:ext cx="3009900" cy="635000"/>
          </a:xfrm>
          <a:prstGeom prst="rect">
            <a:avLst/>
          </a:prstGeom>
        </p:spPr>
      </p:pic>
      <p:sp>
        <p:nvSpPr>
          <p:cNvPr id="10" name="Content Placeholder 9">
            <a:extLst>
              <a:ext uri="{FF2B5EF4-FFF2-40B4-BE49-F238E27FC236}">
                <a16:creationId xmlns:a16="http://schemas.microsoft.com/office/drawing/2014/main" id="{C66395CC-940F-F344-BA7D-E8CE25E7BAD0}"/>
              </a:ext>
            </a:extLst>
          </p:cNvPr>
          <p:cNvSpPr>
            <a:spLocks noGrp="1"/>
          </p:cNvSpPr>
          <p:nvPr>
            <p:ph idx="1"/>
          </p:nvPr>
        </p:nvSpPr>
        <p:spPr>
          <a:xfrm>
            <a:off x="838200" y="1511300"/>
            <a:ext cx="10515600" cy="4665663"/>
          </a:xfrm>
        </p:spPr>
        <p:txBody>
          <a:bodyPr/>
          <a:lstStyle/>
          <a:p>
            <a:pPr marL="0" indent="0">
              <a:buNone/>
            </a:pPr>
            <a:r>
              <a:rPr lang="en-US" b="1" dirty="0"/>
              <a:t>Enable Passwords</a:t>
            </a:r>
            <a:endParaRPr lang="en-US" dirty="0"/>
          </a:p>
        </p:txBody>
      </p:sp>
      <p:pic>
        <p:nvPicPr>
          <p:cNvPr id="6" name="Picture 5">
            <a:extLst>
              <a:ext uri="{FF2B5EF4-FFF2-40B4-BE49-F238E27FC236}">
                <a16:creationId xmlns:a16="http://schemas.microsoft.com/office/drawing/2014/main" id="{8B3F020F-A7ED-534B-931C-3D3824DBAC18}"/>
              </a:ext>
            </a:extLst>
          </p:cNvPr>
          <p:cNvPicPr>
            <a:picLocks noChangeAspect="1"/>
          </p:cNvPicPr>
          <p:nvPr/>
        </p:nvPicPr>
        <p:blipFill>
          <a:blip r:embed="rId4"/>
          <a:stretch>
            <a:fillRect/>
          </a:stretch>
        </p:blipFill>
        <p:spPr>
          <a:xfrm>
            <a:off x="838199" y="1975646"/>
            <a:ext cx="5483789" cy="1453354"/>
          </a:xfrm>
          <a:prstGeom prst="rect">
            <a:avLst/>
          </a:prstGeom>
        </p:spPr>
      </p:pic>
      <p:pic>
        <p:nvPicPr>
          <p:cNvPr id="11" name="Picture 10">
            <a:extLst>
              <a:ext uri="{FF2B5EF4-FFF2-40B4-BE49-F238E27FC236}">
                <a16:creationId xmlns:a16="http://schemas.microsoft.com/office/drawing/2014/main" id="{054DD6AA-BEF9-6046-8488-08810D089D9D}"/>
              </a:ext>
            </a:extLst>
          </p:cNvPr>
          <p:cNvPicPr>
            <a:picLocks noChangeAspect="1"/>
          </p:cNvPicPr>
          <p:nvPr/>
        </p:nvPicPr>
        <p:blipFill>
          <a:blip r:embed="rId5"/>
          <a:stretch>
            <a:fillRect/>
          </a:stretch>
        </p:blipFill>
        <p:spPr>
          <a:xfrm>
            <a:off x="838200" y="4725140"/>
            <a:ext cx="4254500" cy="1063625"/>
          </a:xfrm>
          <a:prstGeom prst="rect">
            <a:avLst/>
          </a:prstGeom>
        </p:spPr>
      </p:pic>
      <p:pic>
        <p:nvPicPr>
          <p:cNvPr id="13" name="Picture 12">
            <a:extLst>
              <a:ext uri="{FF2B5EF4-FFF2-40B4-BE49-F238E27FC236}">
                <a16:creationId xmlns:a16="http://schemas.microsoft.com/office/drawing/2014/main" id="{A6B50C6D-C2CA-1747-85FD-8C25616963ED}"/>
              </a:ext>
            </a:extLst>
          </p:cNvPr>
          <p:cNvPicPr>
            <a:picLocks noChangeAspect="1"/>
          </p:cNvPicPr>
          <p:nvPr/>
        </p:nvPicPr>
        <p:blipFill>
          <a:blip r:embed="rId6"/>
          <a:stretch>
            <a:fillRect/>
          </a:stretch>
        </p:blipFill>
        <p:spPr>
          <a:xfrm>
            <a:off x="6554582" y="4634651"/>
            <a:ext cx="4858443" cy="1154113"/>
          </a:xfrm>
          <a:prstGeom prst="rect">
            <a:avLst/>
          </a:prstGeom>
        </p:spPr>
      </p:pic>
      <p:pic>
        <p:nvPicPr>
          <p:cNvPr id="15" name="Picture 14">
            <a:extLst>
              <a:ext uri="{FF2B5EF4-FFF2-40B4-BE49-F238E27FC236}">
                <a16:creationId xmlns:a16="http://schemas.microsoft.com/office/drawing/2014/main" id="{631A3B75-193E-9D4F-811B-6C369B859A14}"/>
              </a:ext>
            </a:extLst>
          </p:cNvPr>
          <p:cNvPicPr>
            <a:picLocks noChangeAspect="1"/>
          </p:cNvPicPr>
          <p:nvPr/>
        </p:nvPicPr>
        <p:blipFill>
          <a:blip r:embed="rId7"/>
          <a:stretch>
            <a:fillRect/>
          </a:stretch>
        </p:blipFill>
        <p:spPr>
          <a:xfrm>
            <a:off x="6560933" y="2224935"/>
            <a:ext cx="5510205" cy="1106063"/>
          </a:xfrm>
          <a:prstGeom prst="rect">
            <a:avLst/>
          </a:prstGeom>
        </p:spPr>
      </p:pic>
      <p:sp>
        <p:nvSpPr>
          <p:cNvPr id="16" name="TextBox 15">
            <a:extLst>
              <a:ext uri="{FF2B5EF4-FFF2-40B4-BE49-F238E27FC236}">
                <a16:creationId xmlns:a16="http://schemas.microsoft.com/office/drawing/2014/main" id="{32014061-0A68-9346-A6E9-B8FF6D6E0EE3}"/>
              </a:ext>
            </a:extLst>
          </p:cNvPr>
          <p:cNvSpPr txBox="1"/>
          <p:nvPr/>
        </p:nvSpPr>
        <p:spPr>
          <a:xfrm>
            <a:off x="6699819" y="1511300"/>
            <a:ext cx="2679131" cy="800219"/>
          </a:xfrm>
          <a:prstGeom prst="rect">
            <a:avLst/>
          </a:prstGeom>
          <a:noFill/>
        </p:spPr>
        <p:txBody>
          <a:bodyPr wrap="none" rtlCol="0">
            <a:spAutoFit/>
          </a:bodyPr>
          <a:lstStyle/>
          <a:p>
            <a:r>
              <a:rPr lang="en-US" sz="2800" b="1" dirty="0"/>
              <a:t>Telnet Password </a:t>
            </a:r>
            <a:endParaRPr lang="en-US" sz="2800" dirty="0"/>
          </a:p>
          <a:p>
            <a:endParaRPr lang="en-US" dirty="0"/>
          </a:p>
        </p:txBody>
      </p:sp>
      <p:sp>
        <p:nvSpPr>
          <p:cNvPr id="17" name="TextBox 16">
            <a:extLst>
              <a:ext uri="{FF2B5EF4-FFF2-40B4-BE49-F238E27FC236}">
                <a16:creationId xmlns:a16="http://schemas.microsoft.com/office/drawing/2014/main" id="{9E63EA91-45BE-B14E-AC09-72059831230A}"/>
              </a:ext>
            </a:extLst>
          </p:cNvPr>
          <p:cNvSpPr txBox="1"/>
          <p:nvPr/>
        </p:nvSpPr>
        <p:spPr>
          <a:xfrm>
            <a:off x="838199" y="3890104"/>
            <a:ext cx="3084499" cy="954107"/>
          </a:xfrm>
          <a:prstGeom prst="rect">
            <a:avLst/>
          </a:prstGeom>
          <a:noFill/>
        </p:spPr>
        <p:txBody>
          <a:bodyPr wrap="none" rtlCol="0">
            <a:spAutoFit/>
          </a:bodyPr>
          <a:lstStyle/>
          <a:p>
            <a:r>
              <a:rPr lang="en-US" sz="2800" b="1" dirty="0"/>
              <a:t>Auxiliary Password </a:t>
            </a:r>
            <a:endParaRPr lang="en-US" sz="2800" dirty="0"/>
          </a:p>
          <a:p>
            <a:endParaRPr lang="en-US" sz="2800" dirty="0"/>
          </a:p>
        </p:txBody>
      </p:sp>
      <p:sp>
        <p:nvSpPr>
          <p:cNvPr id="19" name="Rectangle 18">
            <a:extLst>
              <a:ext uri="{FF2B5EF4-FFF2-40B4-BE49-F238E27FC236}">
                <a16:creationId xmlns:a16="http://schemas.microsoft.com/office/drawing/2014/main" id="{66B0D435-3A70-9145-A58C-07C8C426523E}"/>
              </a:ext>
            </a:extLst>
          </p:cNvPr>
          <p:cNvSpPr/>
          <p:nvPr/>
        </p:nvSpPr>
        <p:spPr>
          <a:xfrm>
            <a:off x="6566064" y="3843937"/>
            <a:ext cx="2946640" cy="523220"/>
          </a:xfrm>
          <a:prstGeom prst="rect">
            <a:avLst/>
          </a:prstGeom>
        </p:spPr>
        <p:txBody>
          <a:bodyPr wrap="none">
            <a:spAutoFit/>
          </a:bodyPr>
          <a:lstStyle/>
          <a:p>
            <a:r>
              <a:rPr lang="en-US" sz="2800" b="1" dirty="0"/>
              <a:t>Console Password </a:t>
            </a:r>
            <a:endParaRPr lang="en-US" sz="2800" dirty="0"/>
          </a:p>
        </p:txBody>
      </p:sp>
    </p:spTree>
    <p:extLst>
      <p:ext uri="{BB962C8B-B14F-4D97-AF65-F5344CB8AC3E}">
        <p14:creationId xmlns:p14="http://schemas.microsoft.com/office/powerpoint/2010/main" val="1633351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B04F-3CCF-1D49-A200-1FCB10B1D8FD}"/>
              </a:ext>
            </a:extLst>
          </p:cNvPr>
          <p:cNvSpPr>
            <a:spLocks noGrp="1"/>
          </p:cNvSpPr>
          <p:nvPr>
            <p:ph type="title"/>
          </p:nvPr>
        </p:nvSpPr>
        <p:spPr/>
        <p:txBody>
          <a:bodyPr/>
          <a:lstStyle/>
          <a:p>
            <a:r>
              <a:rPr lang="en-US" b="1" dirty="0"/>
              <a:t>Router Interfaces </a:t>
            </a:r>
          </a:p>
        </p:txBody>
      </p:sp>
      <p:pic>
        <p:nvPicPr>
          <p:cNvPr id="4" name="Picture 3">
            <a:extLst>
              <a:ext uri="{FF2B5EF4-FFF2-40B4-BE49-F238E27FC236}">
                <a16:creationId xmlns:a16="http://schemas.microsoft.com/office/drawing/2014/main" id="{F18CA356-D79A-B345-A594-F28C8994698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0EFB265-AAF7-8548-BCA1-C8E0018E3E19}"/>
              </a:ext>
            </a:extLst>
          </p:cNvPr>
          <p:cNvPicPr>
            <a:picLocks noChangeAspect="1"/>
          </p:cNvPicPr>
          <p:nvPr/>
        </p:nvPicPr>
        <p:blipFill>
          <a:blip r:embed="rId3"/>
          <a:stretch>
            <a:fillRect/>
          </a:stretch>
        </p:blipFill>
        <p:spPr>
          <a:xfrm>
            <a:off x="7874000" y="80167"/>
            <a:ext cx="3009900" cy="635000"/>
          </a:xfrm>
          <a:prstGeom prst="rect">
            <a:avLst/>
          </a:prstGeom>
        </p:spPr>
      </p:pic>
      <p:sp>
        <p:nvSpPr>
          <p:cNvPr id="10" name="Content Placeholder 9">
            <a:extLst>
              <a:ext uri="{FF2B5EF4-FFF2-40B4-BE49-F238E27FC236}">
                <a16:creationId xmlns:a16="http://schemas.microsoft.com/office/drawing/2014/main" id="{C66395CC-940F-F344-BA7D-E8CE25E7BAD0}"/>
              </a:ext>
            </a:extLst>
          </p:cNvPr>
          <p:cNvSpPr>
            <a:spLocks noGrp="1"/>
          </p:cNvSpPr>
          <p:nvPr>
            <p:ph idx="1"/>
          </p:nvPr>
        </p:nvSpPr>
        <p:spPr>
          <a:xfrm>
            <a:off x="838200" y="1485900"/>
            <a:ext cx="10515600" cy="4691063"/>
          </a:xfrm>
        </p:spPr>
        <p:txBody>
          <a:bodyPr/>
          <a:lstStyle/>
          <a:p>
            <a:pPr marL="0" indent="0">
              <a:buNone/>
            </a:pPr>
            <a:r>
              <a:rPr lang="en-US" b="1" dirty="0"/>
              <a:t>Configuring an IP Address on an Interface </a:t>
            </a:r>
            <a:endParaRPr lang="en-US" dirty="0"/>
          </a:p>
          <a:p>
            <a:endParaRPr lang="en-US" dirty="0"/>
          </a:p>
        </p:txBody>
      </p:sp>
      <p:pic>
        <p:nvPicPr>
          <p:cNvPr id="6" name="Picture 5">
            <a:extLst>
              <a:ext uri="{FF2B5EF4-FFF2-40B4-BE49-F238E27FC236}">
                <a16:creationId xmlns:a16="http://schemas.microsoft.com/office/drawing/2014/main" id="{B9ECE70B-FE3C-0844-8D6B-6F5D279B18CB}"/>
              </a:ext>
            </a:extLst>
          </p:cNvPr>
          <p:cNvPicPr>
            <a:picLocks noChangeAspect="1"/>
          </p:cNvPicPr>
          <p:nvPr/>
        </p:nvPicPr>
        <p:blipFill>
          <a:blip r:embed="rId4"/>
          <a:stretch>
            <a:fillRect/>
          </a:stretch>
        </p:blipFill>
        <p:spPr>
          <a:xfrm>
            <a:off x="1016000" y="2101853"/>
            <a:ext cx="4826000" cy="478252"/>
          </a:xfrm>
          <a:prstGeom prst="rect">
            <a:avLst/>
          </a:prstGeom>
        </p:spPr>
      </p:pic>
      <p:pic>
        <p:nvPicPr>
          <p:cNvPr id="8" name="Picture 7">
            <a:extLst>
              <a:ext uri="{FF2B5EF4-FFF2-40B4-BE49-F238E27FC236}">
                <a16:creationId xmlns:a16="http://schemas.microsoft.com/office/drawing/2014/main" id="{7824C0F1-BB29-E143-A285-6A3AD3DEA762}"/>
              </a:ext>
            </a:extLst>
          </p:cNvPr>
          <p:cNvPicPr>
            <a:picLocks noChangeAspect="1"/>
          </p:cNvPicPr>
          <p:nvPr/>
        </p:nvPicPr>
        <p:blipFill>
          <a:blip r:embed="rId5"/>
          <a:stretch>
            <a:fillRect/>
          </a:stretch>
        </p:blipFill>
        <p:spPr>
          <a:xfrm>
            <a:off x="1041400" y="2608263"/>
            <a:ext cx="7918450" cy="736600"/>
          </a:xfrm>
          <a:prstGeom prst="rect">
            <a:avLst/>
          </a:prstGeom>
        </p:spPr>
      </p:pic>
      <p:sp>
        <p:nvSpPr>
          <p:cNvPr id="9" name="TextBox 8">
            <a:extLst>
              <a:ext uri="{FF2B5EF4-FFF2-40B4-BE49-F238E27FC236}">
                <a16:creationId xmlns:a16="http://schemas.microsoft.com/office/drawing/2014/main" id="{72BCDFCB-6DDD-C249-9BA2-3BC98061AB34}"/>
              </a:ext>
            </a:extLst>
          </p:cNvPr>
          <p:cNvSpPr txBox="1"/>
          <p:nvPr/>
        </p:nvSpPr>
        <p:spPr>
          <a:xfrm>
            <a:off x="838200" y="3391696"/>
            <a:ext cx="4268476" cy="954107"/>
          </a:xfrm>
          <a:prstGeom prst="rect">
            <a:avLst/>
          </a:prstGeom>
          <a:noFill/>
        </p:spPr>
        <p:txBody>
          <a:bodyPr wrap="none" rtlCol="0">
            <a:spAutoFit/>
          </a:bodyPr>
          <a:lstStyle/>
          <a:p>
            <a:r>
              <a:rPr lang="en-US" sz="2800" b="1" dirty="0"/>
              <a:t>Serial Interface Commands </a:t>
            </a:r>
            <a:endParaRPr lang="en-US" sz="2800" dirty="0"/>
          </a:p>
          <a:p>
            <a:endParaRPr lang="en-US" sz="2800" dirty="0"/>
          </a:p>
        </p:txBody>
      </p:sp>
      <p:pic>
        <p:nvPicPr>
          <p:cNvPr id="12" name="Picture 11">
            <a:extLst>
              <a:ext uri="{FF2B5EF4-FFF2-40B4-BE49-F238E27FC236}">
                <a16:creationId xmlns:a16="http://schemas.microsoft.com/office/drawing/2014/main" id="{FDE97958-BCE3-1840-8D8D-508459E8DAF2}"/>
              </a:ext>
            </a:extLst>
          </p:cNvPr>
          <p:cNvPicPr>
            <a:picLocks noChangeAspect="1"/>
          </p:cNvPicPr>
          <p:nvPr/>
        </p:nvPicPr>
        <p:blipFill>
          <a:blip r:embed="rId6"/>
          <a:stretch>
            <a:fillRect/>
          </a:stretch>
        </p:blipFill>
        <p:spPr>
          <a:xfrm>
            <a:off x="971550" y="4076904"/>
            <a:ext cx="7209470" cy="1080489"/>
          </a:xfrm>
          <a:prstGeom prst="rect">
            <a:avLst/>
          </a:prstGeom>
        </p:spPr>
      </p:pic>
      <p:pic>
        <p:nvPicPr>
          <p:cNvPr id="14" name="Picture 13">
            <a:extLst>
              <a:ext uri="{FF2B5EF4-FFF2-40B4-BE49-F238E27FC236}">
                <a16:creationId xmlns:a16="http://schemas.microsoft.com/office/drawing/2014/main" id="{C220E8D3-7AF9-394A-8BD6-C5E30C088795}"/>
              </a:ext>
            </a:extLst>
          </p:cNvPr>
          <p:cNvPicPr>
            <a:picLocks noChangeAspect="1"/>
          </p:cNvPicPr>
          <p:nvPr/>
        </p:nvPicPr>
        <p:blipFill rotWithShape="1">
          <a:blip r:embed="rId7"/>
          <a:srcRect t="23556"/>
          <a:stretch/>
        </p:blipFill>
        <p:spPr>
          <a:xfrm>
            <a:off x="1041401" y="5290397"/>
            <a:ext cx="4800600" cy="424602"/>
          </a:xfrm>
          <a:prstGeom prst="rect">
            <a:avLst/>
          </a:prstGeom>
        </p:spPr>
      </p:pic>
    </p:spTree>
    <p:extLst>
      <p:ext uri="{BB962C8B-B14F-4D97-AF65-F5344CB8AC3E}">
        <p14:creationId xmlns:p14="http://schemas.microsoft.com/office/powerpoint/2010/main" val="3841432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B04F-3CCF-1D49-A200-1FCB10B1D8FD}"/>
              </a:ext>
            </a:extLst>
          </p:cNvPr>
          <p:cNvSpPr>
            <a:spLocks noGrp="1"/>
          </p:cNvSpPr>
          <p:nvPr>
            <p:ph type="title"/>
          </p:nvPr>
        </p:nvSpPr>
        <p:spPr/>
        <p:txBody>
          <a:bodyPr/>
          <a:lstStyle/>
          <a:p>
            <a:r>
              <a:rPr lang="en-GB" b="1" dirty="0"/>
              <a:t>Introduction To Routing </a:t>
            </a:r>
            <a:endParaRPr lang="en-US" dirty="0"/>
          </a:p>
        </p:txBody>
      </p:sp>
      <p:pic>
        <p:nvPicPr>
          <p:cNvPr id="4" name="Picture 3">
            <a:extLst>
              <a:ext uri="{FF2B5EF4-FFF2-40B4-BE49-F238E27FC236}">
                <a16:creationId xmlns:a16="http://schemas.microsoft.com/office/drawing/2014/main" id="{F18CA356-D79A-B345-A594-F28C8994698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0EFB265-AAF7-8548-BCA1-C8E0018E3E19}"/>
              </a:ext>
            </a:extLst>
          </p:cNvPr>
          <p:cNvPicPr>
            <a:picLocks noChangeAspect="1"/>
          </p:cNvPicPr>
          <p:nvPr/>
        </p:nvPicPr>
        <p:blipFill>
          <a:blip r:embed="rId3"/>
          <a:stretch>
            <a:fillRect/>
          </a:stretch>
        </p:blipFill>
        <p:spPr>
          <a:xfrm>
            <a:off x="7874000" y="80167"/>
            <a:ext cx="3009900" cy="635000"/>
          </a:xfrm>
          <a:prstGeom prst="rect">
            <a:avLst/>
          </a:prstGeom>
        </p:spPr>
      </p:pic>
      <p:sp>
        <p:nvSpPr>
          <p:cNvPr id="10" name="Content Placeholder 9">
            <a:extLst>
              <a:ext uri="{FF2B5EF4-FFF2-40B4-BE49-F238E27FC236}">
                <a16:creationId xmlns:a16="http://schemas.microsoft.com/office/drawing/2014/main" id="{C66395CC-940F-F344-BA7D-E8CE25E7BAD0}"/>
              </a:ext>
            </a:extLst>
          </p:cNvPr>
          <p:cNvSpPr>
            <a:spLocks noGrp="1"/>
          </p:cNvSpPr>
          <p:nvPr>
            <p:ph idx="1"/>
          </p:nvPr>
        </p:nvSpPr>
        <p:spPr/>
        <p:txBody>
          <a:bodyPr/>
          <a:lstStyle/>
          <a:p>
            <a:pPr marL="0" indent="0">
              <a:buNone/>
            </a:pPr>
            <a:r>
              <a:rPr lang="en-US" dirty="0"/>
              <a:t>What happens when a router receives a packet for a network that isn’t listed in the routing table? It doesn’t send a broadcast looking for the remote network—the router just discards it. </a:t>
            </a:r>
          </a:p>
          <a:p>
            <a:pPr marL="0" indent="0">
              <a:buNone/>
            </a:pPr>
            <a:endParaRPr lang="en-US" dirty="0"/>
          </a:p>
          <a:p>
            <a:r>
              <a:rPr lang="en-US" dirty="0"/>
              <a:t>Static routing</a:t>
            </a:r>
          </a:p>
          <a:p>
            <a:r>
              <a:rPr lang="en-US" dirty="0"/>
              <a:t>Default routing</a:t>
            </a:r>
          </a:p>
          <a:p>
            <a:r>
              <a:rPr lang="en-US" dirty="0"/>
              <a:t>Dynamic routing </a:t>
            </a:r>
          </a:p>
          <a:p>
            <a:endParaRPr lang="en-US" dirty="0"/>
          </a:p>
        </p:txBody>
      </p:sp>
    </p:spTree>
    <p:extLst>
      <p:ext uri="{BB962C8B-B14F-4D97-AF65-F5344CB8AC3E}">
        <p14:creationId xmlns:p14="http://schemas.microsoft.com/office/powerpoint/2010/main" val="4070762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Static Routing</a:t>
            </a:r>
          </a:p>
        </p:txBody>
      </p:sp>
      <p:sp>
        <p:nvSpPr>
          <p:cNvPr id="3" name="Content Placeholder 2"/>
          <p:cNvSpPr>
            <a:spLocks noGrp="1"/>
          </p:cNvSpPr>
          <p:nvPr>
            <p:ph idx="1"/>
          </p:nvPr>
        </p:nvSpPr>
        <p:spPr>
          <a:xfrm>
            <a:off x="838200" y="1690688"/>
            <a:ext cx="10515600" cy="4486275"/>
          </a:xfrm>
        </p:spPr>
        <p:txBody>
          <a:bodyPr>
            <a:normAutofit/>
          </a:bodyPr>
          <a:lstStyle/>
          <a:p>
            <a:pPr marL="0" indent="0">
              <a:buNone/>
            </a:pPr>
            <a:endParaRPr lang="en-US" dirty="0"/>
          </a:p>
          <a:p>
            <a:pPr lvl="1"/>
            <a:r>
              <a:rPr lang="en-US" sz="2800" dirty="0"/>
              <a:t>Manually configured routes are placed into routers routing table.</a:t>
            </a:r>
          </a:p>
          <a:p>
            <a:pPr marL="457200" lvl="1" indent="0">
              <a:buNone/>
            </a:pPr>
            <a:endParaRPr lang="en-US" sz="2800" dirty="0"/>
          </a:p>
          <a:p>
            <a:pPr lvl="1"/>
            <a:r>
              <a:rPr lang="en-US" sz="2800" dirty="0"/>
              <a:t>Suitable for smaller networks.</a:t>
            </a:r>
          </a:p>
          <a:p>
            <a:pPr marL="457200" lvl="1" indent="0">
              <a:buNone/>
            </a:pPr>
            <a:endParaRPr lang="en-US" sz="2800" dirty="0"/>
          </a:p>
          <a:p>
            <a:pPr lvl="1"/>
            <a:r>
              <a:rPr lang="en-US" sz="2800" dirty="0"/>
              <a:t>A network administrator, with knowledge of the internetwork topology, manually builds and updates the routing table, programming all routes in the routing table.</a:t>
            </a:r>
          </a:p>
          <a:p>
            <a:pPr marL="457200" lvl="1" indent="0">
              <a:buNone/>
            </a:pPr>
            <a:endParaRPr lang="en-US" dirty="0"/>
          </a:p>
          <a:p>
            <a:endParaRPr lang="en-US" dirty="0"/>
          </a:p>
        </p:txBody>
      </p:sp>
      <p:pic>
        <p:nvPicPr>
          <p:cNvPr id="4" name="Picture 3">
            <a:extLst>
              <a:ext uri="{FF2B5EF4-FFF2-40B4-BE49-F238E27FC236}">
                <a16:creationId xmlns:a16="http://schemas.microsoft.com/office/drawing/2014/main" id="{4933FD7C-A03F-CF42-9E1D-C5E12D6FAE95}"/>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236D2873-CF6D-5C40-8DFC-3BE3ED273CE1}"/>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203883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B04F-3CCF-1D49-A200-1FCB10B1D8FD}"/>
              </a:ext>
            </a:extLst>
          </p:cNvPr>
          <p:cNvSpPr>
            <a:spLocks noGrp="1"/>
          </p:cNvSpPr>
          <p:nvPr>
            <p:ph type="title"/>
          </p:nvPr>
        </p:nvSpPr>
        <p:spPr/>
        <p:txBody>
          <a:bodyPr/>
          <a:lstStyle/>
          <a:p>
            <a:r>
              <a:rPr lang="en-US" b="1" dirty="0"/>
              <a:t>Static Routing</a:t>
            </a:r>
            <a:endParaRPr lang="en-US" dirty="0"/>
          </a:p>
        </p:txBody>
      </p:sp>
      <p:pic>
        <p:nvPicPr>
          <p:cNvPr id="4" name="Picture 3">
            <a:extLst>
              <a:ext uri="{FF2B5EF4-FFF2-40B4-BE49-F238E27FC236}">
                <a16:creationId xmlns:a16="http://schemas.microsoft.com/office/drawing/2014/main" id="{F18CA356-D79A-B345-A594-F28C8994698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0EFB265-AAF7-8548-BCA1-C8E0018E3E19}"/>
              </a:ext>
            </a:extLst>
          </p:cNvPr>
          <p:cNvPicPr>
            <a:picLocks noChangeAspect="1"/>
          </p:cNvPicPr>
          <p:nvPr/>
        </p:nvPicPr>
        <p:blipFill>
          <a:blip r:embed="rId3"/>
          <a:stretch>
            <a:fillRect/>
          </a:stretch>
        </p:blipFill>
        <p:spPr>
          <a:xfrm>
            <a:off x="7874000" y="80167"/>
            <a:ext cx="3009900" cy="635000"/>
          </a:xfrm>
          <a:prstGeom prst="rect">
            <a:avLst/>
          </a:prstGeom>
        </p:spPr>
      </p:pic>
      <p:sp>
        <p:nvSpPr>
          <p:cNvPr id="10" name="Content Placeholder 9">
            <a:extLst>
              <a:ext uri="{FF2B5EF4-FFF2-40B4-BE49-F238E27FC236}">
                <a16:creationId xmlns:a16="http://schemas.microsoft.com/office/drawing/2014/main" id="{C66395CC-940F-F344-BA7D-E8CE25E7BAD0}"/>
              </a:ext>
            </a:extLst>
          </p:cNvPr>
          <p:cNvSpPr>
            <a:spLocks noGrp="1"/>
          </p:cNvSpPr>
          <p:nvPr>
            <p:ph idx="1"/>
          </p:nvPr>
        </p:nvSpPr>
        <p:spPr/>
        <p:txBody>
          <a:bodyPr/>
          <a:lstStyle/>
          <a:p>
            <a:pPr marL="0" indent="0">
              <a:buNone/>
            </a:pPr>
            <a:r>
              <a:rPr lang="en-US" b="1" dirty="0" err="1"/>
              <a:t>ip</a:t>
            </a:r>
            <a:r>
              <a:rPr lang="en-US" b="1" dirty="0"/>
              <a:t> route [</a:t>
            </a:r>
            <a:r>
              <a:rPr lang="en-US" i="1" dirty="0" err="1"/>
              <a:t>destination_network</a:t>
            </a:r>
            <a:r>
              <a:rPr lang="en-US" dirty="0"/>
              <a:t>] [</a:t>
            </a:r>
            <a:r>
              <a:rPr lang="en-US" i="1" dirty="0"/>
              <a:t>mask</a:t>
            </a:r>
            <a:r>
              <a:rPr lang="en-US" dirty="0"/>
              <a:t>] [</a:t>
            </a:r>
            <a:r>
              <a:rPr lang="en-US" i="1" dirty="0"/>
              <a:t>next-</a:t>
            </a:r>
            <a:r>
              <a:rPr lang="en-US" i="1" dirty="0" err="1"/>
              <a:t>hop_address</a:t>
            </a:r>
            <a:r>
              <a:rPr lang="en-US" i="1" dirty="0"/>
              <a:t> or </a:t>
            </a:r>
            <a:r>
              <a:rPr lang="en-US" i="1" dirty="0" err="1"/>
              <a:t>exitinterface</a:t>
            </a:r>
            <a:r>
              <a:rPr lang="en-US" dirty="0"/>
              <a:t>] [</a:t>
            </a:r>
            <a:r>
              <a:rPr lang="en-US" i="1" dirty="0" err="1"/>
              <a:t>administrative_distance</a:t>
            </a:r>
            <a:r>
              <a:rPr lang="en-US" dirty="0"/>
              <a:t>] [permanent] </a:t>
            </a:r>
          </a:p>
          <a:p>
            <a:pPr marL="0" indent="0">
              <a:buNone/>
            </a:pPr>
            <a:endParaRPr lang="en-US" dirty="0"/>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19170B22-F1EC-2C49-BB9E-8EF4A2B28011}"/>
              </a:ext>
            </a:extLst>
          </p:cNvPr>
          <p:cNvPicPr>
            <a:picLocks noChangeAspect="1"/>
          </p:cNvPicPr>
          <p:nvPr/>
        </p:nvPicPr>
        <p:blipFill>
          <a:blip r:embed="rId4"/>
          <a:stretch>
            <a:fillRect/>
          </a:stretch>
        </p:blipFill>
        <p:spPr>
          <a:xfrm>
            <a:off x="660401" y="2877345"/>
            <a:ext cx="7924799" cy="2003972"/>
          </a:xfrm>
          <a:prstGeom prst="rect">
            <a:avLst/>
          </a:prstGeom>
        </p:spPr>
      </p:pic>
      <p:sp>
        <p:nvSpPr>
          <p:cNvPr id="7" name="TextBox 6">
            <a:extLst>
              <a:ext uri="{FF2B5EF4-FFF2-40B4-BE49-F238E27FC236}">
                <a16:creationId xmlns:a16="http://schemas.microsoft.com/office/drawing/2014/main" id="{9E34D526-2113-AF4C-A3FE-C6C78D9F0981}"/>
              </a:ext>
            </a:extLst>
          </p:cNvPr>
          <p:cNvSpPr txBox="1"/>
          <p:nvPr/>
        </p:nvSpPr>
        <p:spPr>
          <a:xfrm>
            <a:off x="1257300" y="5295900"/>
            <a:ext cx="3845220" cy="830997"/>
          </a:xfrm>
          <a:prstGeom prst="rect">
            <a:avLst/>
          </a:prstGeom>
          <a:noFill/>
        </p:spPr>
        <p:txBody>
          <a:bodyPr wrap="none" rtlCol="0">
            <a:spAutoFit/>
          </a:bodyPr>
          <a:lstStyle/>
          <a:p>
            <a:r>
              <a:rPr lang="en-US" sz="2400" b="1" dirty="0"/>
              <a:t>Verifying Your Configuration </a:t>
            </a:r>
            <a:endParaRPr lang="en-US" sz="2400" dirty="0"/>
          </a:p>
          <a:p>
            <a:endParaRPr lang="en-US" sz="2400" dirty="0"/>
          </a:p>
        </p:txBody>
      </p:sp>
      <p:pic>
        <p:nvPicPr>
          <p:cNvPr id="9" name="Picture 8">
            <a:extLst>
              <a:ext uri="{FF2B5EF4-FFF2-40B4-BE49-F238E27FC236}">
                <a16:creationId xmlns:a16="http://schemas.microsoft.com/office/drawing/2014/main" id="{6FD78408-721D-124D-A914-A7953844F909}"/>
              </a:ext>
            </a:extLst>
          </p:cNvPr>
          <p:cNvPicPr>
            <a:picLocks noChangeAspect="1"/>
          </p:cNvPicPr>
          <p:nvPr/>
        </p:nvPicPr>
        <p:blipFill>
          <a:blip r:embed="rId5"/>
          <a:stretch>
            <a:fillRect/>
          </a:stretch>
        </p:blipFill>
        <p:spPr>
          <a:xfrm>
            <a:off x="5085355" y="4966861"/>
            <a:ext cx="6446244" cy="1527128"/>
          </a:xfrm>
          <a:prstGeom prst="rect">
            <a:avLst/>
          </a:prstGeom>
        </p:spPr>
      </p:pic>
    </p:spTree>
    <p:extLst>
      <p:ext uri="{BB962C8B-B14F-4D97-AF65-F5344CB8AC3E}">
        <p14:creationId xmlns:p14="http://schemas.microsoft.com/office/powerpoint/2010/main" val="160292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B04F-3CCF-1D49-A200-1FCB10B1D8FD}"/>
              </a:ext>
            </a:extLst>
          </p:cNvPr>
          <p:cNvSpPr>
            <a:spLocks noGrp="1"/>
          </p:cNvSpPr>
          <p:nvPr>
            <p:ph type="title"/>
          </p:nvPr>
        </p:nvSpPr>
        <p:spPr/>
        <p:txBody>
          <a:bodyPr/>
          <a:lstStyle/>
          <a:p>
            <a:r>
              <a:rPr lang="en-US" b="1" dirty="0"/>
              <a:t>Default Routing</a:t>
            </a:r>
            <a:endParaRPr lang="en-US" dirty="0"/>
          </a:p>
        </p:txBody>
      </p:sp>
      <p:pic>
        <p:nvPicPr>
          <p:cNvPr id="4" name="Picture 3">
            <a:extLst>
              <a:ext uri="{FF2B5EF4-FFF2-40B4-BE49-F238E27FC236}">
                <a16:creationId xmlns:a16="http://schemas.microsoft.com/office/drawing/2014/main" id="{F18CA356-D79A-B345-A594-F28C8994698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0EFB265-AAF7-8548-BCA1-C8E0018E3E19}"/>
              </a:ext>
            </a:extLst>
          </p:cNvPr>
          <p:cNvPicPr>
            <a:picLocks noChangeAspect="1"/>
          </p:cNvPicPr>
          <p:nvPr/>
        </p:nvPicPr>
        <p:blipFill>
          <a:blip r:embed="rId3"/>
          <a:stretch>
            <a:fillRect/>
          </a:stretch>
        </p:blipFill>
        <p:spPr>
          <a:xfrm>
            <a:off x="7874000" y="80167"/>
            <a:ext cx="3009900" cy="635000"/>
          </a:xfrm>
          <a:prstGeom prst="rect">
            <a:avLst/>
          </a:prstGeom>
        </p:spPr>
      </p:pic>
      <p:sp>
        <p:nvSpPr>
          <p:cNvPr id="10" name="Content Placeholder 9">
            <a:extLst>
              <a:ext uri="{FF2B5EF4-FFF2-40B4-BE49-F238E27FC236}">
                <a16:creationId xmlns:a16="http://schemas.microsoft.com/office/drawing/2014/main" id="{C66395CC-940F-F344-BA7D-E8CE25E7BAD0}"/>
              </a:ext>
            </a:extLst>
          </p:cNvPr>
          <p:cNvSpPr>
            <a:spLocks noGrp="1"/>
          </p:cNvSpPr>
          <p:nvPr>
            <p:ph idx="1"/>
          </p:nvPr>
        </p:nvSpPr>
        <p:spPr/>
        <p:txBody>
          <a:bodyPr>
            <a:normAutofit/>
          </a:bodyPr>
          <a:lstStyle/>
          <a:p>
            <a:r>
              <a:rPr lang="en-US" dirty="0"/>
              <a:t>default routing is used to send packets with a remote destination network not in the routing table to the next-hop router. </a:t>
            </a:r>
          </a:p>
          <a:p>
            <a:endParaRPr lang="en-US" dirty="0"/>
          </a:p>
          <a:p>
            <a:r>
              <a:rPr lang="en-US" dirty="0"/>
              <a:t>default routing can be used only on stub networks—those with only one exit path out of the network. </a:t>
            </a:r>
          </a:p>
          <a:p>
            <a:endParaRPr lang="en-US" dirty="0"/>
          </a:p>
          <a:p>
            <a:r>
              <a:rPr lang="en-US" dirty="0"/>
              <a:t>to configure a default route, you use wildcards in the network address and mask locations of a static route. </a:t>
            </a:r>
          </a:p>
        </p:txBody>
      </p:sp>
    </p:spTree>
    <p:extLst>
      <p:ext uri="{BB962C8B-B14F-4D97-AF65-F5344CB8AC3E}">
        <p14:creationId xmlns:p14="http://schemas.microsoft.com/office/powerpoint/2010/main" val="615577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B04F-3CCF-1D49-A200-1FCB10B1D8FD}"/>
              </a:ext>
            </a:extLst>
          </p:cNvPr>
          <p:cNvSpPr>
            <a:spLocks noGrp="1"/>
          </p:cNvSpPr>
          <p:nvPr>
            <p:ph type="title"/>
          </p:nvPr>
        </p:nvSpPr>
        <p:spPr/>
        <p:txBody>
          <a:bodyPr/>
          <a:lstStyle/>
          <a:p>
            <a:r>
              <a:rPr lang="en-US" b="1" dirty="0"/>
              <a:t>Default Routing</a:t>
            </a:r>
            <a:endParaRPr lang="en-US" dirty="0"/>
          </a:p>
        </p:txBody>
      </p:sp>
      <p:pic>
        <p:nvPicPr>
          <p:cNvPr id="4" name="Picture 3">
            <a:extLst>
              <a:ext uri="{FF2B5EF4-FFF2-40B4-BE49-F238E27FC236}">
                <a16:creationId xmlns:a16="http://schemas.microsoft.com/office/drawing/2014/main" id="{F18CA356-D79A-B345-A594-F28C8994698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0EFB265-AAF7-8548-BCA1-C8E0018E3E19}"/>
              </a:ext>
            </a:extLst>
          </p:cNvPr>
          <p:cNvPicPr>
            <a:picLocks noChangeAspect="1"/>
          </p:cNvPicPr>
          <p:nvPr/>
        </p:nvPicPr>
        <p:blipFill>
          <a:blip r:embed="rId3"/>
          <a:stretch>
            <a:fillRect/>
          </a:stretch>
        </p:blipFill>
        <p:spPr>
          <a:xfrm>
            <a:off x="7874000" y="80167"/>
            <a:ext cx="3009900" cy="635000"/>
          </a:xfrm>
          <a:prstGeom prst="rect">
            <a:avLst/>
          </a:prstGeom>
        </p:spPr>
      </p:pic>
      <p:pic>
        <p:nvPicPr>
          <p:cNvPr id="6" name="Content Placeholder 5">
            <a:extLst>
              <a:ext uri="{FF2B5EF4-FFF2-40B4-BE49-F238E27FC236}">
                <a16:creationId xmlns:a16="http://schemas.microsoft.com/office/drawing/2014/main" id="{3C8FBE74-658F-9A46-AD95-996DBCC7C5E4}"/>
              </a:ext>
            </a:extLst>
          </p:cNvPr>
          <p:cNvPicPr>
            <a:picLocks noGrp="1" noChangeAspect="1"/>
          </p:cNvPicPr>
          <p:nvPr>
            <p:ph idx="1"/>
          </p:nvPr>
        </p:nvPicPr>
        <p:blipFill>
          <a:blip r:embed="rId4"/>
          <a:stretch>
            <a:fillRect/>
          </a:stretch>
        </p:blipFill>
        <p:spPr>
          <a:xfrm>
            <a:off x="1828801" y="2100740"/>
            <a:ext cx="8496300" cy="2803566"/>
          </a:xfrm>
        </p:spPr>
      </p:pic>
    </p:spTree>
    <p:extLst>
      <p:ext uri="{BB962C8B-B14F-4D97-AF65-F5344CB8AC3E}">
        <p14:creationId xmlns:p14="http://schemas.microsoft.com/office/powerpoint/2010/main" val="4425823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Dynamic Routing </a:t>
            </a:r>
          </a:p>
        </p:txBody>
      </p:sp>
      <p:sp>
        <p:nvSpPr>
          <p:cNvPr id="3" name="Content Placeholder 2"/>
          <p:cNvSpPr>
            <a:spLocks noGrp="1"/>
          </p:cNvSpPr>
          <p:nvPr>
            <p:ph idx="1"/>
          </p:nvPr>
        </p:nvSpPr>
        <p:spPr>
          <a:xfrm>
            <a:off x="838200" y="1511300"/>
            <a:ext cx="10515600" cy="4665663"/>
          </a:xfrm>
        </p:spPr>
        <p:txBody>
          <a:bodyPr>
            <a:normAutofit lnSpcReduction="10000"/>
          </a:bodyPr>
          <a:lstStyle/>
          <a:p>
            <a:pPr marL="0" indent="0">
              <a:buNone/>
            </a:pPr>
            <a:endParaRPr lang="en-US" b="1" dirty="0"/>
          </a:p>
          <a:p>
            <a:pPr lvl="1"/>
            <a:r>
              <a:rPr lang="en-US" sz="2800" dirty="0"/>
              <a:t>Routing table on a router is maintained with the help of routing protocols. </a:t>
            </a:r>
          </a:p>
          <a:p>
            <a:pPr lvl="1"/>
            <a:endParaRPr lang="en-US" sz="2800" dirty="0"/>
          </a:p>
          <a:p>
            <a:pPr lvl="1"/>
            <a:r>
              <a:rPr lang="en-US" sz="2800" dirty="0"/>
              <a:t>Routing protocols automatically communicates with each router and update routing table automatically.</a:t>
            </a:r>
          </a:p>
          <a:p>
            <a:pPr lvl="1"/>
            <a:endParaRPr lang="en-US" sz="2800" dirty="0"/>
          </a:p>
          <a:p>
            <a:pPr lvl="1"/>
            <a:r>
              <a:rPr lang="en-US" sz="2800" dirty="0"/>
              <a:t> Types of Routing Protocols</a:t>
            </a:r>
          </a:p>
          <a:p>
            <a:pPr lvl="1"/>
            <a:endParaRPr lang="en-US" sz="2800" dirty="0"/>
          </a:p>
          <a:p>
            <a:pPr lvl="2">
              <a:buFont typeface="Wingdings" pitchFamily="2" charset="2"/>
              <a:buChar char="Ø"/>
            </a:pPr>
            <a:r>
              <a:rPr lang="en-US" sz="2400" dirty="0"/>
              <a:t>Interior Gateway Protocol (IGP)</a:t>
            </a:r>
          </a:p>
          <a:p>
            <a:pPr lvl="2">
              <a:buFont typeface="Wingdings" pitchFamily="2" charset="2"/>
              <a:buChar char="Ø"/>
            </a:pPr>
            <a:r>
              <a:rPr lang="en-US" sz="2400" dirty="0"/>
              <a:t>Exterior Gateway Protocol (EGP)</a:t>
            </a:r>
          </a:p>
          <a:p>
            <a:pPr lvl="1">
              <a:buFont typeface="Wingdings" pitchFamily="2" charset="2"/>
              <a:buChar char="Ø"/>
            </a:pPr>
            <a:endParaRPr lang="en-US" dirty="0"/>
          </a:p>
          <a:p>
            <a:pPr lvl="1"/>
            <a:endParaRPr lang="en-US" dirty="0"/>
          </a:p>
          <a:p>
            <a:endParaRPr lang="en-US" dirty="0"/>
          </a:p>
        </p:txBody>
      </p:sp>
      <p:pic>
        <p:nvPicPr>
          <p:cNvPr id="4" name="Picture 3">
            <a:extLst>
              <a:ext uri="{FF2B5EF4-FFF2-40B4-BE49-F238E27FC236}">
                <a16:creationId xmlns:a16="http://schemas.microsoft.com/office/drawing/2014/main" id="{5AB9B517-A050-4A49-8040-34833565069B}"/>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46CFF139-AD83-B347-A61E-B2112F36AE25}"/>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1676931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Interior Gateway Protocol (IGP)</a:t>
            </a:r>
          </a:p>
        </p:txBody>
      </p:sp>
      <p:sp>
        <p:nvSpPr>
          <p:cNvPr id="3" name="Content Placeholder 2"/>
          <p:cNvSpPr>
            <a:spLocks noGrp="1"/>
          </p:cNvSpPr>
          <p:nvPr>
            <p:ph idx="1"/>
          </p:nvPr>
        </p:nvSpPr>
        <p:spPr/>
        <p:txBody>
          <a:bodyPr>
            <a:normAutofit/>
          </a:bodyPr>
          <a:lstStyle/>
          <a:p>
            <a:r>
              <a:rPr lang="en-US" sz="3200" dirty="0"/>
              <a:t>Routing table on a router is maintained with the help of routing protocols. </a:t>
            </a:r>
          </a:p>
          <a:p>
            <a:r>
              <a:rPr lang="en-US" sz="3200" dirty="0"/>
              <a:t>Within an Autonomous System</a:t>
            </a:r>
          </a:p>
          <a:p>
            <a:pPr lvl="1"/>
            <a:r>
              <a:rPr lang="en-US" sz="2800" dirty="0"/>
              <a:t>Autonomous system is collection of networks with same routing policy </a:t>
            </a:r>
          </a:p>
          <a:p>
            <a:r>
              <a:rPr lang="en-US" sz="3200" dirty="0"/>
              <a:t>Carries information about internal infrastructure prefixes</a:t>
            </a:r>
          </a:p>
          <a:p>
            <a:r>
              <a:rPr lang="en-US" sz="3200" dirty="0"/>
              <a:t>Example: RIP,OSPF, ISIS</a:t>
            </a:r>
            <a:r>
              <a:rPr lang="en-US" sz="3600" dirty="0"/>
              <a:t>, EIGRP</a:t>
            </a:r>
          </a:p>
          <a:p>
            <a:pPr marL="228600" lvl="1" indent="0">
              <a:buNone/>
            </a:pPr>
            <a:endParaRPr lang="en-US" sz="3200" dirty="0"/>
          </a:p>
          <a:p>
            <a:pPr lvl="1"/>
            <a:endParaRPr lang="en-US" dirty="0"/>
          </a:p>
          <a:p>
            <a:endParaRPr lang="en-US" dirty="0"/>
          </a:p>
        </p:txBody>
      </p:sp>
      <p:pic>
        <p:nvPicPr>
          <p:cNvPr id="4" name="Picture 3">
            <a:extLst>
              <a:ext uri="{FF2B5EF4-FFF2-40B4-BE49-F238E27FC236}">
                <a16:creationId xmlns:a16="http://schemas.microsoft.com/office/drawing/2014/main" id="{BBA2018C-00AF-3742-AD51-4A09AEDB8FDB}"/>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67E3FB67-0331-5F44-ACF5-0EDB741FEC67}"/>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2767326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30225"/>
            <a:ext cx="10515600" cy="1325563"/>
          </a:xfrm>
        </p:spPr>
        <p:txBody>
          <a:bodyPr/>
          <a:lstStyle/>
          <a:p>
            <a:pPr lvl="0">
              <a:buClr>
                <a:srgbClr val="663366"/>
              </a:buClr>
            </a:pPr>
            <a:r>
              <a:rPr lang="en-US" b="1" dirty="0"/>
              <a:t>Exterior Gateway Protocol (EGP)</a:t>
            </a:r>
          </a:p>
        </p:txBody>
      </p:sp>
      <p:sp>
        <p:nvSpPr>
          <p:cNvPr id="3" name="Content Placeholder 2"/>
          <p:cNvSpPr>
            <a:spLocks noGrp="1"/>
          </p:cNvSpPr>
          <p:nvPr>
            <p:ph idx="1"/>
          </p:nvPr>
        </p:nvSpPr>
        <p:spPr>
          <a:xfrm>
            <a:off x="838200" y="2222499"/>
            <a:ext cx="10515600" cy="3954463"/>
          </a:xfrm>
        </p:spPr>
        <p:txBody>
          <a:bodyPr>
            <a:normAutofit/>
          </a:bodyPr>
          <a:lstStyle/>
          <a:p>
            <a:r>
              <a:rPr lang="en-US" dirty="0"/>
              <a:t>Used to convey routing information between Autonomous Systems.</a:t>
            </a:r>
          </a:p>
          <a:p>
            <a:endParaRPr lang="en-US" dirty="0"/>
          </a:p>
          <a:p>
            <a:r>
              <a:rPr lang="en-US" dirty="0"/>
              <a:t>Example: BGP</a:t>
            </a:r>
          </a:p>
          <a:p>
            <a:pPr marL="228600" lvl="1" indent="0">
              <a:buNone/>
            </a:pPr>
            <a:endParaRPr lang="en-US" sz="2800" dirty="0"/>
          </a:p>
          <a:p>
            <a:pPr lvl="1"/>
            <a:endParaRPr lang="en-US" sz="2800" dirty="0"/>
          </a:p>
          <a:p>
            <a:endParaRPr lang="en-US" dirty="0"/>
          </a:p>
        </p:txBody>
      </p:sp>
      <p:pic>
        <p:nvPicPr>
          <p:cNvPr id="4" name="Picture 3">
            <a:extLst>
              <a:ext uri="{FF2B5EF4-FFF2-40B4-BE49-F238E27FC236}">
                <a16:creationId xmlns:a16="http://schemas.microsoft.com/office/drawing/2014/main" id="{BBA2018C-00AF-3742-AD51-4A09AEDB8FDB}"/>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67E3FB67-0331-5F44-ACF5-0EDB741FEC67}"/>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352920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r>
              <a:rPr lang="en-US" sz="4400" b="1" dirty="0">
                <a:solidFill>
                  <a:schemeClr val="tx1"/>
                </a:solidFill>
                <a:latin typeface="+mj-lt"/>
              </a:rPr>
              <a:t>Distance vector routing protocol (RIP, IGRP)</a:t>
            </a:r>
          </a:p>
        </p:txBody>
      </p:sp>
      <p:sp>
        <p:nvSpPr>
          <p:cNvPr id="3" name="Content Placeholder 2"/>
          <p:cNvSpPr>
            <a:spLocks noGrp="1"/>
          </p:cNvSpPr>
          <p:nvPr>
            <p:ph idx="1"/>
          </p:nvPr>
        </p:nvSpPr>
        <p:spPr>
          <a:xfrm>
            <a:off x="368300" y="1616076"/>
            <a:ext cx="10515600" cy="4351338"/>
          </a:xfrm>
        </p:spPr>
        <p:txBody>
          <a:bodyPr>
            <a:normAutofit/>
          </a:bodyPr>
          <a:lstStyle/>
          <a:p>
            <a:pPr lvl="1"/>
            <a:endParaRPr lang="en-US" sz="3200" dirty="0"/>
          </a:p>
          <a:p>
            <a:pPr lvl="1"/>
            <a:r>
              <a:rPr lang="en-US" sz="2800" dirty="0"/>
              <a:t>Distance vector algorithms do not allow a router to know the exact topology of an internetwork.</a:t>
            </a:r>
          </a:p>
          <a:p>
            <a:pPr lvl="1"/>
            <a:endParaRPr lang="en-US" sz="2800" dirty="0"/>
          </a:p>
          <a:p>
            <a:pPr lvl="1"/>
            <a:r>
              <a:rPr lang="en-US" sz="2800" dirty="0"/>
              <a:t>All routers just broadcast their entire routing table out all active interfaces on periodic time intervals.</a:t>
            </a:r>
          </a:p>
          <a:p>
            <a:pPr lvl="1"/>
            <a:endParaRPr lang="en-US" sz="2000" dirty="0"/>
          </a:p>
          <a:p>
            <a:endParaRPr lang="en-US" sz="2400" dirty="0"/>
          </a:p>
          <a:p>
            <a:endParaRPr lang="en-US" dirty="0"/>
          </a:p>
        </p:txBody>
      </p:sp>
      <p:pic>
        <p:nvPicPr>
          <p:cNvPr id="4" name="Picture 3">
            <a:extLst>
              <a:ext uri="{FF2B5EF4-FFF2-40B4-BE49-F238E27FC236}">
                <a16:creationId xmlns:a16="http://schemas.microsoft.com/office/drawing/2014/main" id="{CA8CF8B1-B122-834A-9D72-E782E0EF544D}"/>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538FA7FD-A70D-A843-B816-DBEAE8A86196}"/>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1729022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 Information Protocol (RIP)</a:t>
            </a:r>
          </a:p>
        </p:txBody>
      </p:sp>
      <p:sp>
        <p:nvSpPr>
          <p:cNvPr id="3" name="Content Placeholder 2"/>
          <p:cNvSpPr>
            <a:spLocks noGrp="1"/>
          </p:cNvSpPr>
          <p:nvPr>
            <p:ph idx="1"/>
          </p:nvPr>
        </p:nvSpPr>
        <p:spPr/>
        <p:txBody>
          <a:bodyPr>
            <a:normAutofit/>
          </a:bodyPr>
          <a:lstStyle/>
          <a:p>
            <a:pPr lvl="1"/>
            <a:r>
              <a:rPr lang="en-US" dirty="0"/>
              <a:t>Hop count metric selects the path, 16 is unreachable</a:t>
            </a:r>
          </a:p>
          <a:p>
            <a:pPr lvl="1"/>
            <a:endParaRPr lang="en-US" dirty="0"/>
          </a:p>
          <a:p>
            <a:pPr lvl="1"/>
            <a:r>
              <a:rPr lang="en-US" dirty="0"/>
              <a:t>Full route table broadcast every 30 seconds</a:t>
            </a:r>
          </a:p>
          <a:p>
            <a:pPr lvl="1"/>
            <a:endParaRPr lang="en-US" dirty="0"/>
          </a:p>
          <a:p>
            <a:pPr lvl="1"/>
            <a:r>
              <a:rPr lang="en-US" dirty="0"/>
              <a:t>Load balance maximum of 6 equal cost paths (default = 4)</a:t>
            </a:r>
          </a:p>
          <a:p>
            <a:pPr lvl="1"/>
            <a:endParaRPr lang="en-US" dirty="0"/>
          </a:p>
          <a:p>
            <a:pPr lvl="1"/>
            <a:r>
              <a:rPr lang="en-US" dirty="0"/>
              <a:t>Uses Bellman Ford algorithm for path selection </a:t>
            </a:r>
          </a:p>
          <a:p>
            <a:pPr lvl="1"/>
            <a:endParaRPr lang="en-US" dirty="0"/>
          </a:p>
          <a:p>
            <a:pPr lvl="1"/>
            <a:r>
              <a:rPr lang="en-US" dirty="0"/>
              <a:t>RIPv1 uses broadcast for routing table update</a:t>
            </a:r>
          </a:p>
          <a:p>
            <a:pPr lvl="2"/>
            <a:endParaRPr lang="en-US" dirty="0"/>
          </a:p>
          <a:p>
            <a:pPr lvl="1"/>
            <a:endParaRPr lang="en-US" dirty="0"/>
          </a:p>
          <a:p>
            <a:endParaRPr lang="en-US" dirty="0"/>
          </a:p>
        </p:txBody>
      </p:sp>
      <p:pic>
        <p:nvPicPr>
          <p:cNvPr id="4" name="Picture 3">
            <a:extLst>
              <a:ext uri="{FF2B5EF4-FFF2-40B4-BE49-F238E27FC236}">
                <a16:creationId xmlns:a16="http://schemas.microsoft.com/office/drawing/2014/main" id="{BDB91AA5-C525-F046-92CD-C11C93407C45}"/>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8E3DB605-FFD7-C04B-BD44-6F534D1ED380}"/>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706097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b="1" dirty="0"/>
              <a:t>Routing Information Protocol (RIP)</a:t>
            </a:r>
          </a:p>
        </p:txBody>
      </p:sp>
      <p:sp>
        <p:nvSpPr>
          <p:cNvPr id="3" name="Content Placeholder 2"/>
          <p:cNvSpPr>
            <a:spLocks noGrp="1"/>
          </p:cNvSpPr>
          <p:nvPr>
            <p:ph idx="1"/>
          </p:nvPr>
        </p:nvSpPr>
        <p:spPr/>
        <p:txBody>
          <a:bodyPr>
            <a:normAutofit/>
          </a:bodyPr>
          <a:lstStyle/>
          <a:p>
            <a:r>
              <a:rPr lang="en-US" dirty="0"/>
              <a:t>Routing Information Protocol</a:t>
            </a:r>
          </a:p>
          <a:p>
            <a:endParaRPr lang="en-US" dirty="0"/>
          </a:p>
          <a:p>
            <a:pPr marL="457200" lvl="2" indent="0">
              <a:buNone/>
            </a:pPr>
            <a:r>
              <a:rPr lang="en-US" sz="2400" b="1" dirty="0"/>
              <a:t>RIPv1                                                      	 RIPv2</a:t>
            </a:r>
          </a:p>
          <a:p>
            <a:pPr marL="457200" lvl="2" indent="0">
              <a:buNone/>
            </a:pPr>
            <a:r>
              <a:rPr lang="en-US" sz="2400" dirty="0"/>
              <a:t>Classful 			          		 Classless</a:t>
            </a:r>
          </a:p>
          <a:p>
            <a:pPr marL="457200" lvl="2" indent="0">
              <a:buNone/>
            </a:pPr>
            <a:r>
              <a:rPr lang="en-US" sz="2400" dirty="0"/>
              <a:t>Broadcast for updates		         	 Multicast for updates</a:t>
            </a:r>
          </a:p>
          <a:p>
            <a:pPr marL="457200" lvl="2" indent="0">
              <a:buNone/>
            </a:pPr>
            <a:r>
              <a:rPr lang="en-US" sz="2400" dirty="0"/>
              <a:t>Does not supports authentication      	 Supports authentication</a:t>
            </a:r>
          </a:p>
          <a:p>
            <a:pPr marL="457200" lvl="2" indent="0">
              <a:buNone/>
            </a:pPr>
            <a:endParaRPr lang="en-US" dirty="0"/>
          </a:p>
          <a:p>
            <a:pPr lvl="1"/>
            <a:endParaRPr lang="en-US" dirty="0"/>
          </a:p>
          <a:p>
            <a:endParaRPr lang="en-US" dirty="0"/>
          </a:p>
        </p:txBody>
      </p:sp>
      <p:pic>
        <p:nvPicPr>
          <p:cNvPr id="4" name="Picture 3">
            <a:extLst>
              <a:ext uri="{FF2B5EF4-FFF2-40B4-BE49-F238E27FC236}">
                <a16:creationId xmlns:a16="http://schemas.microsoft.com/office/drawing/2014/main" id="{2F1F8448-8BB9-3843-9F38-025B99809FE5}"/>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DA021BB7-D561-9D4E-8D4A-B67A8393E76B}"/>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531848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316" y="396780"/>
            <a:ext cx="7556313" cy="576856"/>
          </a:xfrm>
        </p:spPr>
        <p:txBody>
          <a:bodyPr>
            <a:noAutofit/>
          </a:bodyPr>
          <a:lstStyle/>
          <a:p>
            <a:pPr lvl="0"/>
            <a:r>
              <a:rPr lang="en-US" b="1" dirty="0"/>
              <a:t>Sample RIP Configuration </a:t>
            </a:r>
          </a:p>
        </p:txBody>
      </p:sp>
      <p:sp>
        <p:nvSpPr>
          <p:cNvPr id="3" name="Content Placeholder 2"/>
          <p:cNvSpPr>
            <a:spLocks noGrp="1"/>
          </p:cNvSpPr>
          <p:nvPr>
            <p:ph idx="1"/>
          </p:nvPr>
        </p:nvSpPr>
        <p:spPr>
          <a:xfrm>
            <a:off x="-355600" y="1825625"/>
            <a:ext cx="7556313" cy="4311652"/>
          </a:xfrm>
        </p:spPr>
        <p:txBody>
          <a:bodyPr>
            <a:normAutofit/>
          </a:bodyPr>
          <a:lstStyle/>
          <a:p>
            <a:pPr marL="457200" lvl="2" indent="0">
              <a:buNone/>
            </a:pPr>
            <a:endParaRPr lang="en-US" dirty="0"/>
          </a:p>
          <a:p>
            <a:pPr lvl="1"/>
            <a:endParaRPr lang="en-US" dirty="0"/>
          </a:p>
          <a:p>
            <a:endParaRPr lang="en-US" dirty="0"/>
          </a:p>
        </p:txBody>
      </p:sp>
      <p:sp>
        <p:nvSpPr>
          <p:cNvPr id="4" name="Rectangle 2"/>
          <p:cNvSpPr>
            <a:spLocks noChangeArrowheads="1"/>
          </p:cNvSpPr>
          <p:nvPr/>
        </p:nvSpPr>
        <p:spPr bwMode="auto">
          <a:xfrm>
            <a:off x="1310920" y="1836739"/>
            <a:ext cx="4953356" cy="542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21431" tIns="30362" rIns="21431" bIns="30362"/>
          <a:lstStyle/>
          <a:p>
            <a:pPr defTabSz="1028700">
              <a:lnSpc>
                <a:spcPts val="3150"/>
              </a:lnSpc>
              <a:tabLst>
                <a:tab pos="514350" algn="l"/>
                <a:tab pos="1028700" algn="l"/>
                <a:tab pos="1543050" algn="l"/>
              </a:tabLst>
            </a:pPr>
            <a:r>
              <a:rPr lang="en-US" sz="2000" dirty="0">
                <a:latin typeface="Garamond" charset="0"/>
              </a:rPr>
              <a:t>Router(</a:t>
            </a:r>
            <a:r>
              <a:rPr lang="en-US" sz="2000" dirty="0" err="1">
                <a:latin typeface="Garamond" charset="0"/>
              </a:rPr>
              <a:t>config</a:t>
            </a:r>
            <a:r>
              <a:rPr lang="en-US" sz="2000" dirty="0">
                <a:latin typeface="Garamond" charset="0"/>
              </a:rPr>
              <a:t>)#</a:t>
            </a:r>
            <a:r>
              <a:rPr lang="en-US" sz="2000" b="1" dirty="0">
                <a:latin typeface="Garamond" charset="0"/>
              </a:rPr>
              <a:t>router rip</a:t>
            </a:r>
            <a:r>
              <a:rPr lang="en-US" sz="2300" b="1" dirty="0">
                <a:solidFill>
                  <a:srgbClr val="009999"/>
                </a:solidFill>
                <a:latin typeface="Garamond" charset="0"/>
              </a:rPr>
              <a:t> </a:t>
            </a:r>
          </a:p>
        </p:txBody>
      </p:sp>
      <p:sp>
        <p:nvSpPr>
          <p:cNvPr id="5" name="Rectangle 3"/>
          <p:cNvSpPr>
            <a:spLocks noChangeArrowheads="1"/>
          </p:cNvSpPr>
          <p:nvPr/>
        </p:nvSpPr>
        <p:spPr bwMode="auto">
          <a:xfrm>
            <a:off x="1310921" y="2371726"/>
            <a:ext cx="4839285" cy="542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21431" tIns="30362" rIns="21431" bIns="30362"/>
          <a:lstStyle/>
          <a:p>
            <a:pPr defTabSz="1028700">
              <a:lnSpc>
                <a:spcPts val="3150"/>
              </a:lnSpc>
              <a:tabLst>
                <a:tab pos="514350" algn="l"/>
                <a:tab pos="1028700" algn="l"/>
                <a:tab pos="1543050" algn="l"/>
              </a:tabLst>
            </a:pPr>
            <a:r>
              <a:rPr lang="en-US" sz="2000" dirty="0">
                <a:latin typeface="Garamond" charset="0"/>
              </a:rPr>
              <a:t>Router(</a:t>
            </a:r>
            <a:r>
              <a:rPr lang="en-US" sz="2000" dirty="0" err="1">
                <a:latin typeface="Garamond" charset="0"/>
              </a:rPr>
              <a:t>config</a:t>
            </a:r>
            <a:r>
              <a:rPr lang="en-US" sz="2000" dirty="0">
                <a:latin typeface="Garamond" charset="0"/>
              </a:rPr>
              <a:t>-router)#</a:t>
            </a:r>
            <a:r>
              <a:rPr lang="en-US" sz="2000" b="1" dirty="0">
                <a:latin typeface="Garamond" charset="0"/>
              </a:rPr>
              <a:t>network </a:t>
            </a:r>
            <a:r>
              <a:rPr lang="en-US" sz="2000" b="1" i="1" dirty="0">
                <a:latin typeface="Garamond" charset="0"/>
              </a:rPr>
              <a:t>network-number*</a:t>
            </a:r>
          </a:p>
        </p:txBody>
      </p:sp>
      <p:grpSp>
        <p:nvGrpSpPr>
          <p:cNvPr id="6" name="Group 5"/>
          <p:cNvGrpSpPr>
            <a:grpSpLocks/>
          </p:cNvGrpSpPr>
          <p:nvPr/>
        </p:nvGrpSpPr>
        <p:grpSpPr bwMode="auto">
          <a:xfrm>
            <a:off x="5276850" y="4316407"/>
            <a:ext cx="3108324" cy="874711"/>
            <a:chOff x="740" y="3411"/>
            <a:chExt cx="1958" cy="551"/>
          </a:xfrm>
        </p:grpSpPr>
        <p:sp>
          <p:nvSpPr>
            <p:cNvPr id="7" name="Rectangle 6"/>
            <p:cNvSpPr>
              <a:spLocks noChangeArrowheads="1"/>
            </p:cNvSpPr>
            <p:nvPr/>
          </p:nvSpPr>
          <p:spPr bwMode="auto">
            <a:xfrm>
              <a:off x="745" y="3602"/>
              <a:ext cx="1953" cy="3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21431" tIns="30362" rIns="21431" bIns="30362"/>
            <a:lstStyle/>
            <a:p>
              <a:pPr defTabSz="1028700">
                <a:lnSpc>
                  <a:spcPts val="2700"/>
                </a:lnSpc>
                <a:tabLst>
                  <a:tab pos="514350" algn="l"/>
                  <a:tab pos="1028700" algn="l"/>
                  <a:tab pos="1543050" algn="l"/>
                </a:tabLst>
              </a:pPr>
              <a:r>
                <a:rPr lang="en-US" sz="2000" b="1" dirty="0"/>
                <a:t>network 172.16.0.0</a:t>
              </a:r>
            </a:p>
            <a:p>
              <a:pPr defTabSz="1028700">
                <a:lnSpc>
                  <a:spcPts val="2700"/>
                </a:lnSpc>
                <a:tabLst>
                  <a:tab pos="514350" algn="l"/>
                  <a:tab pos="1028700" algn="l"/>
                  <a:tab pos="1543050" algn="l"/>
                </a:tabLst>
              </a:pPr>
              <a:r>
                <a:rPr lang="en-US" sz="2000" b="1" dirty="0"/>
                <a:t>network 192.168.10.0</a:t>
              </a:r>
              <a:endParaRPr lang="en-US" sz="2300" b="1" dirty="0"/>
            </a:p>
            <a:p>
              <a:pPr defTabSz="1028700">
                <a:lnSpc>
                  <a:spcPts val="2700"/>
                </a:lnSpc>
                <a:tabLst>
                  <a:tab pos="514350" algn="l"/>
                  <a:tab pos="1028700" algn="l"/>
                  <a:tab pos="1543050" algn="l"/>
                </a:tabLst>
              </a:pPr>
              <a:endParaRPr lang="en-US" sz="2000" b="1" dirty="0"/>
            </a:p>
            <a:p>
              <a:pPr defTabSz="1028700">
                <a:lnSpc>
                  <a:spcPts val="2700"/>
                </a:lnSpc>
                <a:tabLst>
                  <a:tab pos="514350" algn="l"/>
                  <a:tab pos="1028700" algn="l"/>
                  <a:tab pos="1543050" algn="l"/>
                </a:tabLst>
              </a:pPr>
              <a:endParaRPr lang="en-US" sz="2300" b="1" dirty="0"/>
            </a:p>
          </p:txBody>
        </p:sp>
        <p:sp>
          <p:nvSpPr>
            <p:cNvPr id="8" name="Rectangle 7"/>
            <p:cNvSpPr>
              <a:spLocks noChangeArrowheads="1"/>
            </p:cNvSpPr>
            <p:nvPr/>
          </p:nvSpPr>
          <p:spPr bwMode="auto">
            <a:xfrm>
              <a:off x="740" y="3411"/>
              <a:ext cx="832" cy="3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21431" tIns="30362" rIns="21431" bIns="30362"/>
            <a:lstStyle/>
            <a:p>
              <a:pPr defTabSz="1028700">
                <a:lnSpc>
                  <a:spcPts val="2138"/>
                </a:lnSpc>
                <a:tabLst>
                  <a:tab pos="514350" algn="l"/>
                  <a:tab pos="1028700" algn="l"/>
                  <a:tab pos="1543050" algn="l"/>
                </a:tabLst>
              </a:pPr>
              <a:r>
                <a:rPr lang="en-US" b="1" dirty="0"/>
                <a:t>router RIP</a:t>
              </a:r>
            </a:p>
          </p:txBody>
        </p:sp>
      </p:grpSp>
      <p:sp>
        <p:nvSpPr>
          <p:cNvPr id="9" name="Line 8"/>
          <p:cNvSpPr>
            <a:spLocks noChangeShapeType="1"/>
          </p:cNvSpPr>
          <p:nvPr/>
        </p:nvSpPr>
        <p:spPr bwMode="auto">
          <a:xfrm flipH="1" flipV="1">
            <a:off x="4450230" y="3246438"/>
            <a:ext cx="3175" cy="927100"/>
          </a:xfrm>
          <a:prstGeom prst="line">
            <a:avLst/>
          </a:prstGeom>
          <a:noFill/>
          <a:ln w="50800">
            <a:solidFill>
              <a:srgbClr val="000000"/>
            </a:solidFill>
            <a:round/>
            <a:headEnd type="none" w="sm" len="sm"/>
            <a:tailEnd type="none" w="sm" len="sm"/>
          </a:ln>
          <a:effectLst>
            <a:outerShdw dist="35921" dir="2700000" algn="ctr" rotWithShape="0">
              <a:schemeClr val="bg2"/>
            </a:outerShdw>
          </a:effectLst>
        </p:spPr>
        <p:txBody>
          <a:bodyPr wrap="none" anchor="ctr"/>
          <a:lstStyle/>
          <a:p>
            <a:pPr>
              <a:defRPr/>
            </a:pPr>
            <a:endParaRPr lang="en-US"/>
          </a:p>
        </p:txBody>
      </p:sp>
      <p:sp>
        <p:nvSpPr>
          <p:cNvPr id="10" name="Line 9"/>
          <p:cNvSpPr>
            <a:spLocks noChangeShapeType="1"/>
          </p:cNvSpPr>
          <p:nvPr/>
        </p:nvSpPr>
        <p:spPr bwMode="auto">
          <a:xfrm flipH="1">
            <a:off x="7502992" y="3248025"/>
            <a:ext cx="4763" cy="838200"/>
          </a:xfrm>
          <a:prstGeom prst="line">
            <a:avLst/>
          </a:prstGeom>
          <a:noFill/>
          <a:ln w="50800">
            <a:solidFill>
              <a:srgbClr val="000000"/>
            </a:solidFill>
            <a:round/>
            <a:headEnd type="none" w="sm" len="sm"/>
            <a:tailEnd type="none" w="sm" len="sm"/>
          </a:ln>
          <a:effectLst>
            <a:outerShdw dist="35921" dir="2700000" algn="ctr" rotWithShape="0">
              <a:schemeClr val="bg2"/>
            </a:outerShdw>
          </a:effectLst>
        </p:spPr>
        <p:txBody>
          <a:bodyPr wrap="none" anchor="ctr"/>
          <a:lstStyle/>
          <a:p>
            <a:pPr>
              <a:defRPr/>
            </a:pPr>
            <a:endParaRPr lang="en-US"/>
          </a:p>
        </p:txBody>
      </p:sp>
      <p:sp>
        <p:nvSpPr>
          <p:cNvPr id="11" name="Line 10"/>
          <p:cNvSpPr>
            <a:spLocks noChangeShapeType="1"/>
          </p:cNvSpPr>
          <p:nvPr/>
        </p:nvSpPr>
        <p:spPr bwMode="auto">
          <a:xfrm>
            <a:off x="1881654" y="3243264"/>
            <a:ext cx="5651500" cy="7937"/>
          </a:xfrm>
          <a:prstGeom prst="line">
            <a:avLst/>
          </a:prstGeom>
          <a:noFill/>
          <a:ln w="50800">
            <a:solidFill>
              <a:srgbClr val="000000"/>
            </a:solidFill>
            <a:round/>
            <a:headEnd type="none" w="sm" len="sm"/>
            <a:tailEnd type="none" w="sm" len="sm"/>
          </a:ln>
          <a:effectLst>
            <a:outerShdw dist="35921" dir="2700000" algn="ctr" rotWithShape="0">
              <a:schemeClr val="bg2"/>
            </a:outerShdw>
          </a:effectLst>
        </p:spPr>
        <p:txBody>
          <a:bodyPr wrap="none" anchor="ctr"/>
          <a:lstStyle/>
          <a:p>
            <a:pPr>
              <a:defRPr/>
            </a:pPr>
            <a:endParaRPr lang="en-US"/>
          </a:p>
        </p:txBody>
      </p:sp>
      <p:pic>
        <p:nvPicPr>
          <p:cNvPr id="12" name="Picture 11"/>
          <p:cNvPicPr>
            <a:picLocks noChangeArrowheads="1"/>
          </p:cNvPicPr>
          <p:nvPr/>
        </p:nvPicPr>
        <p:blipFill>
          <a:blip r:embed="rId3">
            <a:grayscl/>
            <a:extLst>
              <a:ext uri="{28A0092B-C50C-407E-A947-70E740481C1C}">
                <a14:useLocalDpi xmlns:a14="http://schemas.microsoft.com/office/drawing/2010/main"/>
              </a:ext>
            </a:extLst>
          </a:blip>
          <a:srcRect/>
          <a:stretch>
            <a:fillRect/>
          </a:stretch>
        </p:blipFill>
        <p:spPr bwMode="auto">
          <a:xfrm>
            <a:off x="5453530" y="3060700"/>
            <a:ext cx="879475" cy="4905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3" name="Picture 12"/>
          <p:cNvPicPr>
            <a:picLocks noChangeArrowheads="1"/>
          </p:cNvPicPr>
          <p:nvPr/>
        </p:nvPicPr>
        <p:blipFill>
          <a:blip r:embed="rId4">
            <a:grayscl/>
            <a:extLst>
              <a:ext uri="{28A0092B-C50C-407E-A947-70E740481C1C}">
                <a14:useLocalDpi xmlns:a14="http://schemas.microsoft.com/office/drawing/2010/main"/>
              </a:ext>
            </a:extLst>
          </a:blip>
          <a:srcRect/>
          <a:stretch>
            <a:fillRect/>
          </a:stretch>
        </p:blipFill>
        <p:spPr bwMode="auto">
          <a:xfrm>
            <a:off x="7161679" y="3655424"/>
            <a:ext cx="742950" cy="739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4" name="Picture 13"/>
          <p:cNvPicPr>
            <a:picLocks noChangeArrowheads="1"/>
          </p:cNvPicPr>
          <p:nvPr/>
        </p:nvPicPr>
        <p:blipFill>
          <a:blip r:embed="rId4">
            <a:grayscl/>
            <a:extLst>
              <a:ext uri="{28A0092B-C50C-407E-A947-70E740481C1C}">
                <a14:useLocalDpi xmlns:a14="http://schemas.microsoft.com/office/drawing/2010/main"/>
              </a:ext>
            </a:extLst>
          </a:blip>
          <a:srcRect/>
          <a:stretch>
            <a:fillRect/>
          </a:stretch>
        </p:blipFill>
        <p:spPr bwMode="auto">
          <a:xfrm>
            <a:off x="4042241" y="3619501"/>
            <a:ext cx="742950" cy="739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 name="Line 14"/>
          <p:cNvSpPr>
            <a:spLocks noChangeShapeType="1"/>
          </p:cNvSpPr>
          <p:nvPr/>
        </p:nvSpPr>
        <p:spPr bwMode="auto">
          <a:xfrm flipH="1" flipV="1">
            <a:off x="1892767" y="3282950"/>
            <a:ext cx="3175" cy="825500"/>
          </a:xfrm>
          <a:prstGeom prst="line">
            <a:avLst/>
          </a:prstGeom>
          <a:noFill/>
          <a:ln w="50800">
            <a:solidFill>
              <a:srgbClr val="000000"/>
            </a:solidFill>
            <a:round/>
            <a:headEnd type="none" w="sm" len="sm"/>
            <a:tailEnd type="none" w="sm" len="sm"/>
          </a:ln>
          <a:effectLst>
            <a:outerShdw dist="35921" dir="2700000" algn="ctr" rotWithShape="0">
              <a:schemeClr val="bg2"/>
            </a:outerShdw>
          </a:effectLst>
        </p:spPr>
        <p:txBody>
          <a:bodyPr wrap="none" anchor="ctr"/>
          <a:lstStyle/>
          <a:p>
            <a:pPr>
              <a:defRPr/>
            </a:pPr>
            <a:endParaRPr lang="en-US"/>
          </a:p>
        </p:txBody>
      </p:sp>
      <p:pic>
        <p:nvPicPr>
          <p:cNvPr id="16" name="Picture 15"/>
          <p:cNvPicPr>
            <a:picLocks noChangeArrowheads="1"/>
          </p:cNvPicPr>
          <p:nvPr/>
        </p:nvPicPr>
        <p:blipFill>
          <a:blip r:embed="rId4">
            <a:grayscl/>
            <a:extLst>
              <a:ext uri="{28A0092B-C50C-407E-A947-70E740481C1C}">
                <a14:useLocalDpi xmlns:a14="http://schemas.microsoft.com/office/drawing/2010/main"/>
              </a:ext>
            </a:extLst>
          </a:blip>
          <a:srcRect/>
          <a:stretch>
            <a:fillRect/>
          </a:stretch>
        </p:blipFill>
        <p:spPr bwMode="auto">
          <a:xfrm>
            <a:off x="1486366" y="3597276"/>
            <a:ext cx="742950" cy="739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7" name="Picture 16"/>
          <p:cNvPicPr>
            <a:picLocks noChangeArrowheads="1"/>
          </p:cNvPicPr>
          <p:nvPr/>
        </p:nvPicPr>
        <p:blipFill>
          <a:blip r:embed="rId3">
            <a:grayscl/>
            <a:extLst>
              <a:ext uri="{28A0092B-C50C-407E-A947-70E740481C1C}">
                <a14:useLocalDpi xmlns:a14="http://schemas.microsoft.com/office/drawing/2010/main"/>
              </a:ext>
            </a:extLst>
          </a:blip>
          <a:srcRect/>
          <a:stretch>
            <a:fillRect/>
          </a:stretch>
        </p:blipFill>
        <p:spPr bwMode="auto">
          <a:xfrm>
            <a:off x="2616667" y="3081339"/>
            <a:ext cx="879475" cy="4905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18" name="Group 17"/>
          <p:cNvGrpSpPr>
            <a:grpSpLocks/>
          </p:cNvGrpSpPr>
          <p:nvPr/>
        </p:nvGrpSpPr>
        <p:grpSpPr bwMode="auto">
          <a:xfrm>
            <a:off x="2086441" y="4308474"/>
            <a:ext cx="3100388" cy="892174"/>
            <a:chOff x="1623" y="3402"/>
            <a:chExt cx="1953" cy="562"/>
          </a:xfrm>
        </p:grpSpPr>
        <p:sp>
          <p:nvSpPr>
            <p:cNvPr id="19" name="Rectangle 18"/>
            <p:cNvSpPr>
              <a:spLocks noChangeArrowheads="1"/>
            </p:cNvSpPr>
            <p:nvPr/>
          </p:nvSpPr>
          <p:spPr bwMode="auto">
            <a:xfrm>
              <a:off x="1623" y="3604"/>
              <a:ext cx="1953" cy="3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21431" tIns="30362" rIns="21431" bIns="30362"/>
            <a:lstStyle/>
            <a:p>
              <a:pPr defTabSz="1028700">
                <a:lnSpc>
                  <a:spcPts val="2700"/>
                </a:lnSpc>
                <a:tabLst>
                  <a:tab pos="514350" algn="l"/>
                  <a:tab pos="1028700" algn="l"/>
                  <a:tab pos="1543050" algn="l"/>
                </a:tabLst>
              </a:pPr>
              <a:r>
                <a:rPr lang="en-US" sz="2000" b="1" dirty="0"/>
                <a:t>network 172.16.0.0</a:t>
              </a:r>
            </a:p>
            <a:p>
              <a:pPr defTabSz="1028700">
                <a:lnSpc>
                  <a:spcPts val="2700"/>
                </a:lnSpc>
                <a:tabLst>
                  <a:tab pos="514350" algn="l"/>
                  <a:tab pos="1028700" algn="l"/>
                  <a:tab pos="1543050" algn="l"/>
                </a:tabLst>
              </a:pPr>
              <a:r>
                <a:rPr lang="en-US" sz="2000" b="1" dirty="0"/>
                <a:t>network 10.0.0.0</a:t>
              </a:r>
              <a:endParaRPr lang="en-US" sz="2300" b="1" dirty="0"/>
            </a:p>
            <a:p>
              <a:pPr defTabSz="1028700">
                <a:lnSpc>
                  <a:spcPts val="2700"/>
                </a:lnSpc>
                <a:tabLst>
                  <a:tab pos="514350" algn="l"/>
                  <a:tab pos="1028700" algn="l"/>
                  <a:tab pos="1543050" algn="l"/>
                </a:tabLst>
              </a:pPr>
              <a:endParaRPr lang="en-US" sz="2300" b="1" dirty="0"/>
            </a:p>
          </p:txBody>
        </p:sp>
        <p:sp>
          <p:nvSpPr>
            <p:cNvPr id="20" name="Rectangle 19"/>
            <p:cNvSpPr>
              <a:spLocks noChangeArrowheads="1"/>
            </p:cNvSpPr>
            <p:nvPr/>
          </p:nvSpPr>
          <p:spPr bwMode="auto">
            <a:xfrm>
              <a:off x="1641" y="3402"/>
              <a:ext cx="879" cy="3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21431" tIns="30362" rIns="21431" bIns="30362"/>
            <a:lstStyle/>
            <a:p>
              <a:pPr defTabSz="1028700">
                <a:lnSpc>
                  <a:spcPts val="2138"/>
                </a:lnSpc>
                <a:tabLst>
                  <a:tab pos="514350" algn="l"/>
                  <a:tab pos="1028700" algn="l"/>
                  <a:tab pos="1543050" algn="l"/>
                </a:tabLst>
              </a:pPr>
              <a:r>
                <a:rPr lang="en-US" b="1" dirty="0"/>
                <a:t>router RIP</a:t>
              </a:r>
            </a:p>
          </p:txBody>
        </p:sp>
      </p:grpSp>
      <p:sp>
        <p:nvSpPr>
          <p:cNvPr id="21" name="Line 20"/>
          <p:cNvSpPr>
            <a:spLocks noChangeShapeType="1"/>
          </p:cNvSpPr>
          <p:nvPr/>
        </p:nvSpPr>
        <p:spPr bwMode="auto">
          <a:xfrm flipV="1">
            <a:off x="5937716" y="3608389"/>
            <a:ext cx="0" cy="719137"/>
          </a:xfrm>
          <a:prstGeom prst="line">
            <a:avLst/>
          </a:prstGeom>
          <a:noFill/>
          <a:ln w="50800">
            <a:solidFill>
              <a:schemeClr val="tx1"/>
            </a:solidFill>
            <a:round/>
            <a:headEnd type="none" w="sm" len="sm"/>
            <a:tailEnd type="triangle" w="med" len="med"/>
          </a:ln>
          <a:extLst>
            <a:ext uri="{909E8E84-426E-40dd-AFC4-6F175D3DCCD1}">
              <a14:hiddenFill xmlns="" xmlns:a14="http://schemas.microsoft.com/office/drawing/2010/main">
                <a:noFill/>
              </a14:hiddenFill>
            </a:ext>
          </a:extLst>
        </p:spPr>
        <p:txBody>
          <a:bodyPr wrap="none" lIns="103584" tIns="51793" rIns="103584" bIns="51793" anchor="ctr"/>
          <a:lstStyle/>
          <a:p>
            <a:endParaRPr lang="en-US"/>
          </a:p>
        </p:txBody>
      </p:sp>
      <p:sp>
        <p:nvSpPr>
          <p:cNvPr id="22" name="Line 21"/>
          <p:cNvSpPr>
            <a:spLocks noChangeShapeType="1"/>
          </p:cNvSpPr>
          <p:nvPr/>
        </p:nvSpPr>
        <p:spPr bwMode="auto">
          <a:xfrm flipV="1">
            <a:off x="3056404" y="3602039"/>
            <a:ext cx="0" cy="727075"/>
          </a:xfrm>
          <a:prstGeom prst="line">
            <a:avLst/>
          </a:prstGeom>
          <a:noFill/>
          <a:ln w="50800">
            <a:solidFill>
              <a:schemeClr val="tx1"/>
            </a:solidFill>
            <a:round/>
            <a:headEnd type="none" w="sm" len="sm"/>
            <a:tailEnd type="triangle" w="med" len="med"/>
          </a:ln>
          <a:extLst>
            <a:ext uri="{909E8E84-426E-40dd-AFC4-6F175D3DCCD1}">
              <a14:hiddenFill xmlns="" xmlns:a14="http://schemas.microsoft.com/office/drawing/2010/main">
                <a:noFill/>
              </a14:hiddenFill>
            </a:ext>
          </a:extLst>
        </p:spPr>
        <p:txBody>
          <a:bodyPr wrap="none" lIns="103584" tIns="51793" rIns="103584" bIns="51793" anchor="ctr"/>
          <a:lstStyle/>
          <a:p>
            <a:endParaRPr lang="en-US"/>
          </a:p>
        </p:txBody>
      </p:sp>
      <p:sp>
        <p:nvSpPr>
          <p:cNvPr id="23" name="Rectangle 22"/>
          <p:cNvSpPr>
            <a:spLocks noChangeArrowheads="1"/>
          </p:cNvSpPr>
          <p:nvPr/>
        </p:nvSpPr>
        <p:spPr bwMode="auto">
          <a:xfrm>
            <a:off x="1670517" y="5486401"/>
            <a:ext cx="6037263" cy="542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21431" tIns="30362" rIns="21431" bIns="30362"/>
          <a:lstStyle/>
          <a:p>
            <a:pPr defTabSz="1028700">
              <a:lnSpc>
                <a:spcPts val="3150"/>
              </a:lnSpc>
              <a:tabLst>
                <a:tab pos="514350" algn="l"/>
                <a:tab pos="1028700" algn="l"/>
                <a:tab pos="1543050" algn="l"/>
              </a:tabLst>
            </a:pPr>
            <a:endParaRPr lang="en-US" sz="2300" b="1" dirty="0">
              <a:latin typeface="Garamond" charset="0"/>
            </a:endParaRPr>
          </a:p>
        </p:txBody>
      </p:sp>
      <p:sp>
        <p:nvSpPr>
          <p:cNvPr id="24" name="Rectangle 23"/>
          <p:cNvSpPr>
            <a:spLocks noChangeArrowheads="1"/>
          </p:cNvSpPr>
          <p:nvPr/>
        </p:nvSpPr>
        <p:spPr bwMode="auto">
          <a:xfrm>
            <a:off x="3933974" y="2962275"/>
            <a:ext cx="1181734"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sz="1600" b="1"/>
              <a:t>172.16.10.0</a:t>
            </a:r>
          </a:p>
        </p:txBody>
      </p:sp>
      <p:sp>
        <p:nvSpPr>
          <p:cNvPr id="25" name="Rectangle 24"/>
          <p:cNvSpPr>
            <a:spLocks noChangeArrowheads="1"/>
          </p:cNvSpPr>
          <p:nvPr/>
        </p:nvSpPr>
        <p:spPr bwMode="auto">
          <a:xfrm>
            <a:off x="6275034" y="2873376"/>
            <a:ext cx="1285929" cy="4062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none">
            <a:spAutoFit/>
          </a:bodyPr>
          <a:lstStyle/>
          <a:p>
            <a:pPr>
              <a:lnSpc>
                <a:spcPts val="2700"/>
              </a:lnSpc>
            </a:pPr>
            <a:r>
              <a:rPr lang="en-US" sz="1600" b="1"/>
              <a:t>192.168.10.0</a:t>
            </a:r>
          </a:p>
        </p:txBody>
      </p:sp>
      <p:sp>
        <p:nvSpPr>
          <p:cNvPr id="26" name="Rectangle 25"/>
          <p:cNvSpPr>
            <a:spLocks noChangeArrowheads="1"/>
          </p:cNvSpPr>
          <p:nvPr/>
        </p:nvSpPr>
        <p:spPr bwMode="auto">
          <a:xfrm>
            <a:off x="1746324" y="2947988"/>
            <a:ext cx="869149"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sq">
                <a:solidFill>
                  <a:srgbClr val="000000"/>
                </a:solidFill>
                <a:miter lim="800000"/>
                <a:headEnd type="none" w="sm" len="sm"/>
                <a:tailEnd type="none" w="sm" len="sm"/>
              </a14:hiddenLine>
            </a:ext>
          </a:extLst>
        </p:spPr>
        <p:txBody>
          <a:bodyPr wrap="none">
            <a:spAutoFit/>
          </a:bodyPr>
          <a:lstStyle/>
          <a:p>
            <a:r>
              <a:rPr lang="en-US" sz="1600" b="1"/>
              <a:t>10.3.5.0</a:t>
            </a:r>
          </a:p>
        </p:txBody>
      </p:sp>
      <p:pic>
        <p:nvPicPr>
          <p:cNvPr id="27" name="Picture 26">
            <a:extLst>
              <a:ext uri="{FF2B5EF4-FFF2-40B4-BE49-F238E27FC236}">
                <a16:creationId xmlns:a16="http://schemas.microsoft.com/office/drawing/2014/main" id="{26DB152C-90CE-B04D-81A2-0966E6344A5E}"/>
              </a:ext>
            </a:extLst>
          </p:cNvPr>
          <p:cNvPicPr>
            <a:picLocks noChangeAspect="1"/>
          </p:cNvPicPr>
          <p:nvPr/>
        </p:nvPicPr>
        <p:blipFill rotWithShape="1">
          <a:blip r:embed="rId5">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28" name="Picture 27">
            <a:extLst>
              <a:ext uri="{FF2B5EF4-FFF2-40B4-BE49-F238E27FC236}">
                <a16:creationId xmlns:a16="http://schemas.microsoft.com/office/drawing/2014/main" id="{60FD6600-9F13-CD48-97E1-BDDEA9C65267}"/>
              </a:ext>
            </a:extLst>
          </p:cNvPr>
          <p:cNvPicPr>
            <a:picLocks noChangeAspect="1"/>
          </p:cNvPicPr>
          <p:nvPr/>
        </p:nvPicPr>
        <p:blipFill>
          <a:blip r:embed="rId6"/>
          <a:stretch>
            <a:fillRect/>
          </a:stretch>
        </p:blipFill>
        <p:spPr>
          <a:xfrm>
            <a:off x="7796065" y="80167"/>
            <a:ext cx="3009900" cy="635000"/>
          </a:xfrm>
          <a:prstGeom prst="rect">
            <a:avLst/>
          </a:prstGeom>
        </p:spPr>
      </p:pic>
      <p:pic>
        <p:nvPicPr>
          <p:cNvPr id="30" name="Picture 29">
            <a:extLst>
              <a:ext uri="{FF2B5EF4-FFF2-40B4-BE49-F238E27FC236}">
                <a16:creationId xmlns:a16="http://schemas.microsoft.com/office/drawing/2014/main" id="{D5ACB040-C164-B245-A6C2-C1E682579C3B}"/>
              </a:ext>
            </a:extLst>
          </p:cNvPr>
          <p:cNvPicPr>
            <a:picLocks noChangeAspect="1"/>
          </p:cNvPicPr>
          <p:nvPr/>
        </p:nvPicPr>
        <p:blipFill>
          <a:blip r:embed="rId7"/>
          <a:stretch>
            <a:fillRect/>
          </a:stretch>
        </p:blipFill>
        <p:spPr>
          <a:xfrm>
            <a:off x="5893267" y="1276848"/>
            <a:ext cx="6093356" cy="999232"/>
          </a:xfrm>
          <a:prstGeom prst="rect">
            <a:avLst/>
          </a:prstGeom>
        </p:spPr>
      </p:pic>
    </p:spTree>
    <p:extLst>
      <p:ext uri="{BB962C8B-B14F-4D97-AF65-F5344CB8AC3E}">
        <p14:creationId xmlns:p14="http://schemas.microsoft.com/office/powerpoint/2010/main" val="2701949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B04F-3CCF-1D49-A200-1FCB10B1D8FD}"/>
              </a:ext>
            </a:extLst>
          </p:cNvPr>
          <p:cNvSpPr>
            <a:spLocks noGrp="1"/>
          </p:cNvSpPr>
          <p:nvPr>
            <p:ph type="title"/>
          </p:nvPr>
        </p:nvSpPr>
        <p:spPr/>
        <p:txBody>
          <a:bodyPr/>
          <a:lstStyle/>
          <a:p>
            <a:r>
              <a:rPr lang="en-US" b="1" dirty="0"/>
              <a:t>Interior Gateway Routing Protocol (IGRP) </a:t>
            </a:r>
          </a:p>
        </p:txBody>
      </p:sp>
      <p:pic>
        <p:nvPicPr>
          <p:cNvPr id="4" name="Picture 3">
            <a:extLst>
              <a:ext uri="{FF2B5EF4-FFF2-40B4-BE49-F238E27FC236}">
                <a16:creationId xmlns:a16="http://schemas.microsoft.com/office/drawing/2014/main" id="{F18CA356-D79A-B345-A594-F28C8994698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0EFB265-AAF7-8548-BCA1-C8E0018E3E19}"/>
              </a:ext>
            </a:extLst>
          </p:cNvPr>
          <p:cNvPicPr>
            <a:picLocks noChangeAspect="1"/>
          </p:cNvPicPr>
          <p:nvPr/>
        </p:nvPicPr>
        <p:blipFill>
          <a:blip r:embed="rId3"/>
          <a:stretch>
            <a:fillRect/>
          </a:stretch>
        </p:blipFill>
        <p:spPr>
          <a:xfrm>
            <a:off x="7874000" y="80167"/>
            <a:ext cx="3009900" cy="635000"/>
          </a:xfrm>
          <a:prstGeom prst="rect">
            <a:avLst/>
          </a:prstGeom>
        </p:spPr>
      </p:pic>
      <p:sp>
        <p:nvSpPr>
          <p:cNvPr id="10" name="Content Placeholder 9">
            <a:extLst>
              <a:ext uri="{FF2B5EF4-FFF2-40B4-BE49-F238E27FC236}">
                <a16:creationId xmlns:a16="http://schemas.microsoft.com/office/drawing/2014/main" id="{C66395CC-940F-F344-BA7D-E8CE25E7BAD0}"/>
              </a:ext>
            </a:extLst>
          </p:cNvPr>
          <p:cNvSpPr>
            <a:spLocks noGrp="1"/>
          </p:cNvSpPr>
          <p:nvPr>
            <p:ph idx="1"/>
          </p:nvPr>
        </p:nvSpPr>
        <p:spPr>
          <a:xfrm>
            <a:off x="838200" y="1825625"/>
            <a:ext cx="10515600" cy="4667250"/>
          </a:xfrm>
        </p:spPr>
        <p:txBody>
          <a:bodyPr>
            <a:normAutofit/>
          </a:bodyPr>
          <a:lstStyle/>
          <a:p>
            <a:r>
              <a:rPr lang="en-US" dirty="0"/>
              <a:t>Works only on Cisco routers. Cisco created this routing protocol to overcome the problems associated with RIP. </a:t>
            </a:r>
          </a:p>
          <a:p>
            <a:r>
              <a:rPr lang="en-US" dirty="0"/>
              <a:t>IGRP has a maximum hop count of 255 with a default of 100. This is helpful in larger networks and solves the problem of 15 hops being the maximum possible in a RIP network. </a:t>
            </a:r>
          </a:p>
          <a:p>
            <a:r>
              <a:rPr lang="en-US" dirty="0"/>
              <a:t>IGRP uses bandwidth and delay of the line by default as a metric for determining the best route to an internetwork. This is called a </a:t>
            </a:r>
            <a:r>
              <a:rPr lang="en-US" i="1" dirty="0"/>
              <a:t>composite metric</a:t>
            </a:r>
            <a:r>
              <a:rPr lang="en-US" dirty="0"/>
              <a:t>. </a:t>
            </a:r>
          </a:p>
          <a:p>
            <a:r>
              <a:rPr lang="en-US" dirty="0"/>
              <a:t>uses an autonomous system (AS) number.</a:t>
            </a:r>
          </a:p>
        </p:txBody>
      </p:sp>
    </p:spTree>
    <p:extLst>
      <p:ext uri="{BB962C8B-B14F-4D97-AF65-F5344CB8AC3E}">
        <p14:creationId xmlns:p14="http://schemas.microsoft.com/office/powerpoint/2010/main" val="425359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FB04F-3CCF-1D49-A200-1FCB10B1D8FD}"/>
              </a:ext>
            </a:extLst>
          </p:cNvPr>
          <p:cNvSpPr>
            <a:spLocks noGrp="1"/>
          </p:cNvSpPr>
          <p:nvPr>
            <p:ph type="title"/>
          </p:nvPr>
        </p:nvSpPr>
        <p:spPr/>
        <p:txBody>
          <a:bodyPr/>
          <a:lstStyle/>
          <a:p>
            <a:r>
              <a:rPr lang="en-US" b="1" dirty="0"/>
              <a:t>Sample IGRP Configuration </a:t>
            </a:r>
            <a:endParaRPr lang="en-US" dirty="0"/>
          </a:p>
        </p:txBody>
      </p:sp>
      <p:pic>
        <p:nvPicPr>
          <p:cNvPr id="4" name="Picture 3">
            <a:extLst>
              <a:ext uri="{FF2B5EF4-FFF2-40B4-BE49-F238E27FC236}">
                <a16:creationId xmlns:a16="http://schemas.microsoft.com/office/drawing/2014/main" id="{F18CA356-D79A-B345-A594-F28C8994698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E0EFB265-AAF7-8548-BCA1-C8E0018E3E19}"/>
              </a:ext>
            </a:extLst>
          </p:cNvPr>
          <p:cNvPicPr>
            <a:picLocks noChangeAspect="1"/>
          </p:cNvPicPr>
          <p:nvPr/>
        </p:nvPicPr>
        <p:blipFill>
          <a:blip r:embed="rId3"/>
          <a:stretch>
            <a:fillRect/>
          </a:stretch>
        </p:blipFill>
        <p:spPr>
          <a:xfrm>
            <a:off x="7874000" y="80167"/>
            <a:ext cx="3009900" cy="635000"/>
          </a:xfrm>
          <a:prstGeom prst="rect">
            <a:avLst/>
          </a:prstGeom>
        </p:spPr>
      </p:pic>
      <p:pic>
        <p:nvPicPr>
          <p:cNvPr id="6" name="Content Placeholder 5">
            <a:extLst>
              <a:ext uri="{FF2B5EF4-FFF2-40B4-BE49-F238E27FC236}">
                <a16:creationId xmlns:a16="http://schemas.microsoft.com/office/drawing/2014/main" id="{A5225017-3D59-2B4D-A4AA-94C867D30353}"/>
              </a:ext>
            </a:extLst>
          </p:cNvPr>
          <p:cNvPicPr>
            <a:picLocks noGrp="1" noChangeAspect="1"/>
          </p:cNvPicPr>
          <p:nvPr>
            <p:ph idx="1"/>
          </p:nvPr>
        </p:nvPicPr>
        <p:blipFill>
          <a:blip r:embed="rId4"/>
          <a:stretch>
            <a:fillRect/>
          </a:stretch>
        </p:blipFill>
        <p:spPr>
          <a:xfrm>
            <a:off x="1809322" y="3296444"/>
            <a:ext cx="6902878" cy="1859756"/>
          </a:xfrm>
        </p:spPr>
      </p:pic>
      <p:sp>
        <p:nvSpPr>
          <p:cNvPr id="8" name="Rectangle 2">
            <a:extLst>
              <a:ext uri="{FF2B5EF4-FFF2-40B4-BE49-F238E27FC236}">
                <a16:creationId xmlns:a16="http://schemas.microsoft.com/office/drawing/2014/main" id="{FDDB0412-5FA1-E042-97E8-2159AF1D892B}"/>
              </a:ext>
            </a:extLst>
          </p:cNvPr>
          <p:cNvSpPr>
            <a:spLocks noChangeArrowheads="1"/>
          </p:cNvSpPr>
          <p:nvPr/>
        </p:nvSpPr>
        <p:spPr bwMode="auto">
          <a:xfrm>
            <a:off x="1310920" y="1836739"/>
            <a:ext cx="4953356" cy="542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21431" tIns="30362" rIns="21431" bIns="30362"/>
          <a:lstStyle/>
          <a:p>
            <a:pPr defTabSz="1028700">
              <a:lnSpc>
                <a:spcPts val="3150"/>
              </a:lnSpc>
              <a:tabLst>
                <a:tab pos="514350" algn="l"/>
                <a:tab pos="1028700" algn="l"/>
                <a:tab pos="1543050" algn="l"/>
              </a:tabLst>
            </a:pPr>
            <a:r>
              <a:rPr lang="en-US" sz="2000" dirty="0">
                <a:latin typeface="Garamond" charset="0"/>
              </a:rPr>
              <a:t>Router(config)#</a:t>
            </a:r>
            <a:r>
              <a:rPr lang="en-US" sz="2000" b="1" dirty="0">
                <a:latin typeface="Garamond" charset="0"/>
              </a:rPr>
              <a:t>router </a:t>
            </a:r>
            <a:r>
              <a:rPr lang="en-US" sz="2000" b="1" dirty="0" err="1">
                <a:latin typeface="Garamond" charset="0"/>
              </a:rPr>
              <a:t>igrp</a:t>
            </a:r>
            <a:r>
              <a:rPr lang="en-US" sz="2000" b="1" dirty="0">
                <a:latin typeface="Garamond" charset="0"/>
              </a:rPr>
              <a:t> &lt;</a:t>
            </a:r>
            <a:r>
              <a:rPr lang="en-US" dirty="0"/>
              <a:t>autonomous system (AS) number &gt; </a:t>
            </a:r>
            <a:endParaRPr lang="en-US" sz="2400" dirty="0"/>
          </a:p>
          <a:p>
            <a:pPr defTabSz="1028700">
              <a:lnSpc>
                <a:spcPts val="3150"/>
              </a:lnSpc>
              <a:tabLst>
                <a:tab pos="514350" algn="l"/>
                <a:tab pos="1028700" algn="l"/>
                <a:tab pos="1543050" algn="l"/>
              </a:tabLst>
            </a:pPr>
            <a:endParaRPr lang="en-US" sz="2300" b="1" dirty="0">
              <a:solidFill>
                <a:srgbClr val="009999"/>
              </a:solidFill>
              <a:latin typeface="Garamond" charset="0"/>
            </a:endParaRPr>
          </a:p>
        </p:txBody>
      </p:sp>
      <p:sp>
        <p:nvSpPr>
          <p:cNvPr id="9" name="Rectangle 3">
            <a:extLst>
              <a:ext uri="{FF2B5EF4-FFF2-40B4-BE49-F238E27FC236}">
                <a16:creationId xmlns:a16="http://schemas.microsoft.com/office/drawing/2014/main" id="{7847C2B5-9244-1647-8C14-C824EC8E85DB}"/>
              </a:ext>
            </a:extLst>
          </p:cNvPr>
          <p:cNvSpPr>
            <a:spLocks noChangeArrowheads="1"/>
          </p:cNvSpPr>
          <p:nvPr/>
        </p:nvSpPr>
        <p:spPr bwMode="auto">
          <a:xfrm>
            <a:off x="1310921" y="2371726"/>
            <a:ext cx="4839285" cy="542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21431" tIns="30362" rIns="21431" bIns="30362"/>
          <a:lstStyle/>
          <a:p>
            <a:pPr defTabSz="1028700">
              <a:lnSpc>
                <a:spcPts val="3150"/>
              </a:lnSpc>
              <a:tabLst>
                <a:tab pos="514350" algn="l"/>
                <a:tab pos="1028700" algn="l"/>
                <a:tab pos="1543050" algn="l"/>
              </a:tabLst>
            </a:pPr>
            <a:r>
              <a:rPr lang="en-US" sz="2000" dirty="0">
                <a:latin typeface="Garamond" charset="0"/>
              </a:rPr>
              <a:t>Router(</a:t>
            </a:r>
            <a:r>
              <a:rPr lang="en-US" sz="2000" dirty="0" err="1">
                <a:latin typeface="Garamond" charset="0"/>
              </a:rPr>
              <a:t>config</a:t>
            </a:r>
            <a:r>
              <a:rPr lang="en-US" sz="2000" dirty="0">
                <a:latin typeface="Garamond" charset="0"/>
              </a:rPr>
              <a:t>-router)#</a:t>
            </a:r>
            <a:r>
              <a:rPr lang="en-US" sz="2000" b="1" dirty="0">
                <a:latin typeface="Garamond" charset="0"/>
              </a:rPr>
              <a:t>network </a:t>
            </a:r>
            <a:r>
              <a:rPr lang="en-US" sz="2000" b="1" i="1" dirty="0">
                <a:latin typeface="Garamond" charset="0"/>
              </a:rPr>
              <a:t>network-number*</a:t>
            </a:r>
          </a:p>
        </p:txBody>
      </p:sp>
    </p:spTree>
    <p:extLst>
      <p:ext uri="{BB962C8B-B14F-4D97-AF65-F5344CB8AC3E}">
        <p14:creationId xmlns:p14="http://schemas.microsoft.com/office/powerpoint/2010/main" val="350082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r>
              <a:rPr lang="en-US" sz="4400" b="1" dirty="0">
                <a:solidFill>
                  <a:schemeClr val="tx1"/>
                </a:solidFill>
                <a:latin typeface="+mj-lt"/>
              </a:rPr>
              <a:t>Link State routing protocol (OSPF)</a:t>
            </a:r>
          </a:p>
        </p:txBody>
      </p:sp>
      <p:sp>
        <p:nvSpPr>
          <p:cNvPr id="3" name="Content Placeholder 2"/>
          <p:cNvSpPr>
            <a:spLocks noGrp="1"/>
          </p:cNvSpPr>
          <p:nvPr>
            <p:ph idx="1"/>
          </p:nvPr>
        </p:nvSpPr>
        <p:spPr>
          <a:xfrm>
            <a:off x="266700" y="1508125"/>
            <a:ext cx="10515600" cy="4351338"/>
          </a:xfrm>
        </p:spPr>
        <p:txBody>
          <a:bodyPr>
            <a:normAutofit/>
          </a:bodyPr>
          <a:lstStyle/>
          <a:p>
            <a:pPr marL="457200" lvl="1" indent="0">
              <a:buNone/>
            </a:pPr>
            <a:endParaRPr lang="en-US" sz="2800" dirty="0"/>
          </a:p>
          <a:p>
            <a:pPr lvl="1" algn="just"/>
            <a:r>
              <a:rPr lang="en-US" sz="2800" dirty="0"/>
              <a:t>Link-state protocols, also called shortest-path-first protocols</a:t>
            </a:r>
          </a:p>
          <a:p>
            <a:pPr lvl="1" algn="just"/>
            <a:endParaRPr lang="en-US" sz="2800" dirty="0"/>
          </a:p>
          <a:p>
            <a:pPr lvl="1" algn="just"/>
            <a:r>
              <a:rPr lang="en-US" sz="2800" dirty="0"/>
              <a:t>Each router creates three separate tables. One of these tables keeps track of directly attached neighbors, one determines the topology of the entire internetwork, and one is used as the routing table</a:t>
            </a:r>
          </a:p>
          <a:p>
            <a:pPr marL="457200" lvl="1" indent="0" algn="just">
              <a:buNone/>
            </a:pPr>
            <a:endParaRPr lang="en-US" sz="2800" dirty="0"/>
          </a:p>
          <a:p>
            <a:pPr lvl="1" algn="just"/>
            <a:r>
              <a:rPr lang="en-US" sz="2800" dirty="0"/>
              <a:t>Link-state routers know more about the internetwork than any distance-vector routing protocol ever could.</a:t>
            </a:r>
          </a:p>
          <a:p>
            <a:pPr lvl="2"/>
            <a:endParaRPr lang="en-US" sz="2800" dirty="0"/>
          </a:p>
          <a:p>
            <a:pPr lvl="1"/>
            <a:endParaRPr lang="en-US" sz="2800" dirty="0"/>
          </a:p>
          <a:p>
            <a:endParaRPr lang="en-US" dirty="0"/>
          </a:p>
        </p:txBody>
      </p:sp>
      <p:pic>
        <p:nvPicPr>
          <p:cNvPr id="4" name="Picture 3">
            <a:extLst>
              <a:ext uri="{FF2B5EF4-FFF2-40B4-BE49-F238E27FC236}">
                <a16:creationId xmlns:a16="http://schemas.microsoft.com/office/drawing/2014/main" id="{5E9E601C-A80E-9448-A4AB-F594A5F6AE76}"/>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0E5191DC-2240-0047-93DC-D81C481C5349}"/>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961263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Configuring OSPF </a:t>
            </a:r>
          </a:p>
        </p:txBody>
      </p:sp>
      <p:pic>
        <p:nvPicPr>
          <p:cNvPr id="5" name="Content Placeholder 4">
            <a:extLst>
              <a:ext uri="{FF2B5EF4-FFF2-40B4-BE49-F238E27FC236}">
                <a16:creationId xmlns:a16="http://schemas.microsoft.com/office/drawing/2014/main" id="{8751FAAF-55CC-E249-B470-C49C92BCB01E}"/>
              </a:ext>
            </a:extLst>
          </p:cNvPr>
          <p:cNvPicPr>
            <a:picLocks noGrp="1" noChangeAspect="1"/>
          </p:cNvPicPr>
          <p:nvPr>
            <p:ph idx="1"/>
          </p:nvPr>
        </p:nvPicPr>
        <p:blipFill>
          <a:blip r:embed="rId2"/>
          <a:stretch>
            <a:fillRect/>
          </a:stretch>
        </p:blipFill>
        <p:spPr>
          <a:xfrm>
            <a:off x="330199" y="2591593"/>
            <a:ext cx="5610339" cy="1218407"/>
          </a:xfrm>
        </p:spPr>
      </p:pic>
      <p:pic>
        <p:nvPicPr>
          <p:cNvPr id="6" name="Picture 5">
            <a:extLst>
              <a:ext uri="{FF2B5EF4-FFF2-40B4-BE49-F238E27FC236}">
                <a16:creationId xmlns:a16="http://schemas.microsoft.com/office/drawing/2014/main" id="{56854645-6956-6D49-9B3E-93F4599D5C5D}"/>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7" name="Picture 6">
            <a:extLst>
              <a:ext uri="{FF2B5EF4-FFF2-40B4-BE49-F238E27FC236}">
                <a16:creationId xmlns:a16="http://schemas.microsoft.com/office/drawing/2014/main" id="{637073F7-EEC6-F14B-842C-7DA235BC4B69}"/>
              </a:ext>
            </a:extLst>
          </p:cNvPr>
          <p:cNvPicPr>
            <a:picLocks noChangeAspect="1"/>
          </p:cNvPicPr>
          <p:nvPr/>
        </p:nvPicPr>
        <p:blipFill>
          <a:blip r:embed="rId4"/>
          <a:stretch>
            <a:fillRect/>
          </a:stretch>
        </p:blipFill>
        <p:spPr>
          <a:xfrm>
            <a:off x="7874000" y="80167"/>
            <a:ext cx="3009900" cy="635000"/>
          </a:xfrm>
          <a:prstGeom prst="rect">
            <a:avLst/>
          </a:prstGeom>
        </p:spPr>
      </p:pic>
      <p:pic>
        <p:nvPicPr>
          <p:cNvPr id="9" name="Picture 8">
            <a:extLst>
              <a:ext uri="{FF2B5EF4-FFF2-40B4-BE49-F238E27FC236}">
                <a16:creationId xmlns:a16="http://schemas.microsoft.com/office/drawing/2014/main" id="{3A2C6EBF-042B-D74F-9A02-A8BE25941789}"/>
              </a:ext>
            </a:extLst>
          </p:cNvPr>
          <p:cNvPicPr>
            <a:picLocks noChangeAspect="1"/>
          </p:cNvPicPr>
          <p:nvPr/>
        </p:nvPicPr>
        <p:blipFill rotWithShape="1">
          <a:blip r:embed="rId5"/>
          <a:srcRect r="8364"/>
          <a:stretch/>
        </p:blipFill>
        <p:spPr>
          <a:xfrm>
            <a:off x="5670252" y="1583531"/>
            <a:ext cx="6420148" cy="4909344"/>
          </a:xfrm>
          <a:prstGeom prst="rect">
            <a:avLst/>
          </a:prstGeom>
        </p:spPr>
      </p:pic>
    </p:spTree>
    <p:extLst>
      <p:ext uri="{BB962C8B-B14F-4D97-AF65-F5344CB8AC3E}">
        <p14:creationId xmlns:p14="http://schemas.microsoft.com/office/powerpoint/2010/main" val="246134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r>
              <a:rPr lang="en-US" sz="4400" b="1" dirty="0">
                <a:solidFill>
                  <a:schemeClr val="tx1"/>
                </a:solidFill>
                <a:latin typeface="+mj-lt"/>
              </a:rPr>
              <a:t>Hybrid routing protocol (EIGRP)</a:t>
            </a:r>
          </a:p>
        </p:txBody>
      </p:sp>
      <p:sp>
        <p:nvSpPr>
          <p:cNvPr id="3" name="Content Placeholder 2"/>
          <p:cNvSpPr>
            <a:spLocks noGrp="1"/>
          </p:cNvSpPr>
          <p:nvPr>
            <p:ph idx="1"/>
          </p:nvPr>
        </p:nvSpPr>
        <p:spPr>
          <a:xfrm>
            <a:off x="508000" y="1851025"/>
            <a:ext cx="10515600" cy="4351338"/>
          </a:xfrm>
        </p:spPr>
        <p:txBody>
          <a:bodyPr>
            <a:normAutofit/>
          </a:bodyPr>
          <a:lstStyle/>
          <a:p>
            <a:pPr marL="457200" lvl="1" indent="0">
              <a:buNone/>
            </a:pPr>
            <a:endParaRPr lang="en-US" sz="2800" dirty="0"/>
          </a:p>
          <a:p>
            <a:r>
              <a:rPr lang="en-US" dirty="0"/>
              <a:t>Hybrid protocols use aspects of both distance-vector and link-state protocols</a:t>
            </a:r>
          </a:p>
          <a:p>
            <a:endParaRPr lang="en-US" dirty="0"/>
          </a:p>
          <a:p>
            <a:r>
              <a:rPr lang="en-US" dirty="0"/>
              <a:t>EIGRP is the hybrid routing protocol </a:t>
            </a:r>
            <a:br>
              <a:rPr lang="en-US" dirty="0"/>
            </a:br>
            <a:endParaRPr lang="en-US" dirty="0"/>
          </a:p>
          <a:p>
            <a:r>
              <a:rPr lang="en-US" dirty="0"/>
              <a:t>EIGRP is Cisco proprietary </a:t>
            </a:r>
          </a:p>
          <a:p>
            <a:pPr lvl="2"/>
            <a:endParaRPr lang="en-US" sz="2800" dirty="0"/>
          </a:p>
          <a:p>
            <a:pPr lvl="2"/>
            <a:endParaRPr lang="en-US" sz="2800" dirty="0"/>
          </a:p>
          <a:p>
            <a:pPr lvl="1"/>
            <a:endParaRPr lang="en-US" sz="2800" dirty="0"/>
          </a:p>
          <a:p>
            <a:endParaRPr lang="en-US" dirty="0"/>
          </a:p>
        </p:txBody>
      </p:sp>
      <p:pic>
        <p:nvPicPr>
          <p:cNvPr id="4" name="Picture 3">
            <a:extLst>
              <a:ext uri="{FF2B5EF4-FFF2-40B4-BE49-F238E27FC236}">
                <a16:creationId xmlns:a16="http://schemas.microsoft.com/office/drawing/2014/main" id="{311DAC94-59F7-8E46-8BFC-C060144DD29C}"/>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7F721E49-93AB-AD43-90D9-D6D343CFD176}"/>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3273118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Configuring EIGRP </a:t>
            </a:r>
          </a:p>
        </p:txBody>
      </p:sp>
      <p:pic>
        <p:nvPicPr>
          <p:cNvPr id="5" name="Content Placeholder 4">
            <a:extLst>
              <a:ext uri="{FF2B5EF4-FFF2-40B4-BE49-F238E27FC236}">
                <a16:creationId xmlns:a16="http://schemas.microsoft.com/office/drawing/2014/main" id="{8E62A4F9-B247-844C-9E59-75371338CD79}"/>
              </a:ext>
            </a:extLst>
          </p:cNvPr>
          <p:cNvPicPr>
            <a:picLocks noGrp="1" noChangeAspect="1"/>
          </p:cNvPicPr>
          <p:nvPr>
            <p:ph idx="1"/>
          </p:nvPr>
        </p:nvPicPr>
        <p:blipFill>
          <a:blip r:embed="rId2"/>
          <a:stretch>
            <a:fillRect/>
          </a:stretch>
        </p:blipFill>
        <p:spPr>
          <a:xfrm>
            <a:off x="838199" y="2439193"/>
            <a:ext cx="5233583" cy="1459707"/>
          </a:xfrm>
        </p:spPr>
      </p:pic>
      <p:pic>
        <p:nvPicPr>
          <p:cNvPr id="6" name="Picture 5">
            <a:extLst>
              <a:ext uri="{FF2B5EF4-FFF2-40B4-BE49-F238E27FC236}">
                <a16:creationId xmlns:a16="http://schemas.microsoft.com/office/drawing/2014/main" id="{56854645-6956-6D49-9B3E-93F4599D5C5D}"/>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7" name="Picture 6">
            <a:extLst>
              <a:ext uri="{FF2B5EF4-FFF2-40B4-BE49-F238E27FC236}">
                <a16:creationId xmlns:a16="http://schemas.microsoft.com/office/drawing/2014/main" id="{637073F7-EEC6-F14B-842C-7DA235BC4B69}"/>
              </a:ext>
            </a:extLst>
          </p:cNvPr>
          <p:cNvPicPr>
            <a:picLocks noChangeAspect="1"/>
          </p:cNvPicPr>
          <p:nvPr/>
        </p:nvPicPr>
        <p:blipFill>
          <a:blip r:embed="rId4"/>
          <a:stretch>
            <a:fillRect/>
          </a:stretch>
        </p:blipFill>
        <p:spPr>
          <a:xfrm>
            <a:off x="7874000" y="80167"/>
            <a:ext cx="3009900" cy="635000"/>
          </a:xfrm>
          <a:prstGeom prst="rect">
            <a:avLst/>
          </a:prstGeom>
        </p:spPr>
      </p:pic>
      <p:pic>
        <p:nvPicPr>
          <p:cNvPr id="9" name="Picture 8">
            <a:extLst>
              <a:ext uri="{FF2B5EF4-FFF2-40B4-BE49-F238E27FC236}">
                <a16:creationId xmlns:a16="http://schemas.microsoft.com/office/drawing/2014/main" id="{E2BBADFC-6DB8-2B4F-88C0-5E01DB56CD9D}"/>
              </a:ext>
            </a:extLst>
          </p:cNvPr>
          <p:cNvPicPr>
            <a:picLocks noChangeAspect="1"/>
          </p:cNvPicPr>
          <p:nvPr/>
        </p:nvPicPr>
        <p:blipFill>
          <a:blip r:embed="rId5"/>
          <a:stretch>
            <a:fillRect/>
          </a:stretch>
        </p:blipFill>
        <p:spPr>
          <a:xfrm>
            <a:off x="5461000" y="1873250"/>
            <a:ext cx="6584950" cy="3778250"/>
          </a:xfrm>
          <a:prstGeom prst="rect">
            <a:avLst/>
          </a:prstGeom>
        </p:spPr>
      </p:pic>
    </p:spTree>
    <p:extLst>
      <p:ext uri="{BB962C8B-B14F-4D97-AF65-F5344CB8AC3E}">
        <p14:creationId xmlns:p14="http://schemas.microsoft.com/office/powerpoint/2010/main" val="2941715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Static vs Dynamic Routing </a:t>
            </a:r>
          </a:p>
        </p:txBody>
      </p:sp>
      <p:sp>
        <p:nvSpPr>
          <p:cNvPr id="3" name="Content Placeholder 2"/>
          <p:cNvSpPr>
            <a:spLocks noGrp="1"/>
          </p:cNvSpPr>
          <p:nvPr>
            <p:ph idx="1"/>
          </p:nvPr>
        </p:nvSpPr>
        <p:spPr>
          <a:xfrm>
            <a:off x="495300" y="1690688"/>
            <a:ext cx="10515600" cy="4351338"/>
          </a:xfrm>
        </p:spPr>
        <p:txBody>
          <a:bodyPr>
            <a:normAutofit/>
          </a:bodyPr>
          <a:lstStyle/>
          <a:p>
            <a:pPr lvl="1"/>
            <a:r>
              <a:rPr lang="en-US" sz="2800" dirty="0"/>
              <a:t>There is no overhead on the router CPU on static routing as compared to dynamic routing </a:t>
            </a:r>
          </a:p>
          <a:p>
            <a:pPr lvl="3"/>
            <a:endParaRPr lang="en-US" sz="2800" dirty="0"/>
          </a:p>
          <a:p>
            <a:pPr lvl="1"/>
            <a:r>
              <a:rPr lang="en-US" sz="2800" dirty="0"/>
              <a:t>It adds security because you, the administrator, can be very exclusive and choose to allow routing access to certain networks only. Dynamic routing is more automatic </a:t>
            </a:r>
          </a:p>
          <a:p>
            <a:pPr lvl="3"/>
            <a:endParaRPr lang="en-US" sz="2800" dirty="0"/>
          </a:p>
          <a:p>
            <a:pPr lvl="1"/>
            <a:r>
              <a:rPr lang="en-US" sz="2800" dirty="0"/>
              <a:t>There is no bandwidth usage between routers, saving you money on WAN links. Dynamic routing need to update routing table </a:t>
            </a:r>
          </a:p>
          <a:p>
            <a:pPr lvl="3"/>
            <a:endParaRPr lang="en-US" sz="2800" dirty="0"/>
          </a:p>
          <a:p>
            <a:pPr lvl="2"/>
            <a:endParaRPr lang="en-US" sz="2800" dirty="0"/>
          </a:p>
          <a:p>
            <a:pPr lvl="1"/>
            <a:endParaRPr lang="en-US" sz="2800" dirty="0"/>
          </a:p>
        </p:txBody>
      </p:sp>
      <p:pic>
        <p:nvPicPr>
          <p:cNvPr id="4" name="Picture 3">
            <a:extLst>
              <a:ext uri="{FF2B5EF4-FFF2-40B4-BE49-F238E27FC236}">
                <a16:creationId xmlns:a16="http://schemas.microsoft.com/office/drawing/2014/main" id="{C05945D2-BF06-2648-9914-CFCAA14FB4C2}"/>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7CADA30B-0A55-FD4A-8EEF-8BCC38999858}"/>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639462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Static vs Dynamic Routing </a:t>
            </a:r>
          </a:p>
        </p:txBody>
      </p:sp>
      <p:sp>
        <p:nvSpPr>
          <p:cNvPr id="3" name="Content Placeholder 2"/>
          <p:cNvSpPr>
            <a:spLocks noGrp="1"/>
          </p:cNvSpPr>
          <p:nvPr>
            <p:ph idx="1"/>
          </p:nvPr>
        </p:nvSpPr>
        <p:spPr/>
        <p:txBody>
          <a:bodyPr>
            <a:normAutofit/>
          </a:bodyPr>
          <a:lstStyle/>
          <a:p>
            <a:endParaRPr lang="en-US" dirty="0"/>
          </a:p>
          <a:p>
            <a:r>
              <a:rPr lang="en-US" dirty="0"/>
              <a:t>Dynamic routing is scalable in large network but not static routing</a:t>
            </a:r>
          </a:p>
          <a:p>
            <a:endParaRPr lang="en-US" dirty="0"/>
          </a:p>
          <a:p>
            <a:r>
              <a:rPr lang="en-US" dirty="0"/>
              <a:t>Whoever the administrator,  is must have a vault-tight knowledge of the internetwork in static routing, so difficult to maintain</a:t>
            </a:r>
          </a:p>
          <a:p>
            <a:endParaRPr lang="en-US" dirty="0"/>
          </a:p>
          <a:p>
            <a:pPr marL="457200" lvl="2" indent="0">
              <a:buNone/>
            </a:pPr>
            <a:endParaRPr lang="en-US" dirty="0"/>
          </a:p>
          <a:p>
            <a:pPr lvl="1"/>
            <a:endParaRPr lang="en-US" dirty="0"/>
          </a:p>
          <a:p>
            <a:endParaRPr lang="en-US" dirty="0"/>
          </a:p>
        </p:txBody>
      </p:sp>
      <p:pic>
        <p:nvPicPr>
          <p:cNvPr id="4" name="Picture 3">
            <a:extLst>
              <a:ext uri="{FF2B5EF4-FFF2-40B4-BE49-F238E27FC236}">
                <a16:creationId xmlns:a16="http://schemas.microsoft.com/office/drawing/2014/main" id="{23AA8CB6-C22F-5F4E-8E4B-C28B55602641}"/>
              </a:ext>
            </a:extLst>
          </p:cNvPr>
          <p:cNvPicPr>
            <a:picLocks noChangeAspect="1"/>
          </p:cNvPicPr>
          <p:nvPr/>
        </p:nvPicPr>
        <p:blipFill rotWithShape="1">
          <a:blip r:embed="rId3">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5" name="Picture 4">
            <a:extLst>
              <a:ext uri="{FF2B5EF4-FFF2-40B4-BE49-F238E27FC236}">
                <a16:creationId xmlns:a16="http://schemas.microsoft.com/office/drawing/2014/main" id="{1CAF4306-D195-854E-A5A6-DA78D901D318}"/>
              </a:ext>
            </a:extLst>
          </p:cNvPr>
          <p:cNvPicPr>
            <a:picLocks noChangeAspect="1"/>
          </p:cNvPicPr>
          <p:nvPr/>
        </p:nvPicPr>
        <p:blipFill>
          <a:blip r:embed="rId4"/>
          <a:stretch>
            <a:fillRect/>
          </a:stretch>
        </p:blipFill>
        <p:spPr>
          <a:xfrm>
            <a:off x="7874000" y="80167"/>
            <a:ext cx="3009900" cy="635000"/>
          </a:xfrm>
          <a:prstGeom prst="rect">
            <a:avLst/>
          </a:prstGeom>
        </p:spPr>
      </p:pic>
    </p:spTree>
    <p:extLst>
      <p:ext uri="{BB962C8B-B14F-4D97-AF65-F5344CB8AC3E}">
        <p14:creationId xmlns:p14="http://schemas.microsoft.com/office/powerpoint/2010/main" val="526431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Summary</a:t>
            </a:r>
          </a:p>
        </p:txBody>
      </p:sp>
      <p:sp>
        <p:nvSpPr>
          <p:cNvPr id="3" name="Content Placeholder 2"/>
          <p:cNvSpPr>
            <a:spLocks noGrp="1"/>
          </p:cNvSpPr>
          <p:nvPr>
            <p:ph idx="1"/>
          </p:nvPr>
        </p:nvSpPr>
        <p:spPr/>
        <p:txBody>
          <a:bodyPr>
            <a:normAutofit/>
          </a:bodyPr>
          <a:lstStyle/>
          <a:p>
            <a:pPr lvl="0"/>
            <a:r>
              <a:rPr lang="en-US" dirty="0"/>
              <a:t>Routing configuration</a:t>
            </a:r>
          </a:p>
          <a:p>
            <a:pPr lvl="0"/>
            <a:r>
              <a:rPr lang="en-US" dirty="0"/>
              <a:t>Command line configuration</a:t>
            </a:r>
          </a:p>
          <a:p>
            <a:pPr lvl="0"/>
            <a:r>
              <a:rPr lang="en-US" dirty="0"/>
              <a:t>Static routing</a:t>
            </a:r>
          </a:p>
          <a:p>
            <a:pPr lvl="0"/>
            <a:r>
              <a:rPr lang="en-US" dirty="0"/>
              <a:t>Default routing</a:t>
            </a:r>
          </a:p>
          <a:p>
            <a:pPr lvl="0"/>
            <a:r>
              <a:rPr lang="en-US" dirty="0"/>
              <a:t>Dynamic routing</a:t>
            </a:r>
          </a:p>
        </p:txBody>
      </p:sp>
      <p:pic>
        <p:nvPicPr>
          <p:cNvPr id="6" name="Picture 5">
            <a:extLst>
              <a:ext uri="{FF2B5EF4-FFF2-40B4-BE49-F238E27FC236}">
                <a16:creationId xmlns:a16="http://schemas.microsoft.com/office/drawing/2014/main" id="{56854645-6956-6D49-9B3E-93F4599D5C5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7" name="Picture 6">
            <a:extLst>
              <a:ext uri="{FF2B5EF4-FFF2-40B4-BE49-F238E27FC236}">
                <a16:creationId xmlns:a16="http://schemas.microsoft.com/office/drawing/2014/main" id="{637073F7-EEC6-F14B-842C-7DA235BC4B69}"/>
              </a:ext>
            </a:extLst>
          </p:cNvPr>
          <p:cNvPicPr>
            <a:picLocks noChangeAspect="1"/>
          </p:cNvPicPr>
          <p:nvPr/>
        </p:nvPicPr>
        <p:blipFill>
          <a:blip r:embed="rId3"/>
          <a:stretch>
            <a:fillRect/>
          </a:stretch>
        </p:blipFill>
        <p:spPr>
          <a:xfrm>
            <a:off x="7874000" y="80167"/>
            <a:ext cx="3009900" cy="635000"/>
          </a:xfrm>
          <a:prstGeom prst="rect">
            <a:avLst/>
          </a:prstGeom>
        </p:spPr>
      </p:pic>
    </p:spTree>
    <p:extLst>
      <p:ext uri="{BB962C8B-B14F-4D97-AF65-F5344CB8AC3E}">
        <p14:creationId xmlns:p14="http://schemas.microsoft.com/office/powerpoint/2010/main" val="1158621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lvl="0" indent="0" algn="ctr">
              <a:buNone/>
            </a:pPr>
            <a:r>
              <a:rPr lang="en-US" sz="11500" dirty="0"/>
              <a:t>ANY QUESTION??</a:t>
            </a:r>
          </a:p>
        </p:txBody>
      </p:sp>
      <p:pic>
        <p:nvPicPr>
          <p:cNvPr id="6" name="Picture 5">
            <a:extLst>
              <a:ext uri="{FF2B5EF4-FFF2-40B4-BE49-F238E27FC236}">
                <a16:creationId xmlns:a16="http://schemas.microsoft.com/office/drawing/2014/main" id="{56854645-6956-6D49-9B3E-93F4599D5C5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7" name="Picture 6">
            <a:extLst>
              <a:ext uri="{FF2B5EF4-FFF2-40B4-BE49-F238E27FC236}">
                <a16:creationId xmlns:a16="http://schemas.microsoft.com/office/drawing/2014/main" id="{637073F7-EEC6-F14B-842C-7DA235BC4B69}"/>
              </a:ext>
            </a:extLst>
          </p:cNvPr>
          <p:cNvPicPr>
            <a:picLocks noChangeAspect="1"/>
          </p:cNvPicPr>
          <p:nvPr/>
        </p:nvPicPr>
        <p:blipFill>
          <a:blip r:embed="rId3"/>
          <a:stretch>
            <a:fillRect/>
          </a:stretch>
        </p:blipFill>
        <p:spPr>
          <a:xfrm>
            <a:off x="7874000" y="80167"/>
            <a:ext cx="3009900" cy="635000"/>
          </a:xfrm>
          <a:prstGeom prst="rect">
            <a:avLst/>
          </a:prstGeom>
        </p:spPr>
      </p:pic>
    </p:spTree>
    <p:extLst>
      <p:ext uri="{BB962C8B-B14F-4D97-AF65-F5344CB8AC3E}">
        <p14:creationId xmlns:p14="http://schemas.microsoft.com/office/powerpoint/2010/main" val="17360177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838200" y="2539999"/>
            <a:ext cx="10515600" cy="3636963"/>
          </a:xfrm>
        </p:spPr>
        <p:txBody>
          <a:bodyPr>
            <a:normAutofit/>
          </a:bodyPr>
          <a:lstStyle/>
          <a:p>
            <a:pPr marL="0" lvl="0" indent="0" algn="ctr">
              <a:buNone/>
            </a:pPr>
            <a:r>
              <a:rPr lang="en-US" sz="15300" dirty="0"/>
              <a:t>THANK YOU</a:t>
            </a:r>
          </a:p>
        </p:txBody>
      </p:sp>
      <p:pic>
        <p:nvPicPr>
          <p:cNvPr id="6" name="Picture 5">
            <a:extLst>
              <a:ext uri="{FF2B5EF4-FFF2-40B4-BE49-F238E27FC236}">
                <a16:creationId xmlns:a16="http://schemas.microsoft.com/office/drawing/2014/main" id="{56854645-6956-6D49-9B3E-93F4599D5C5D}"/>
              </a:ext>
            </a:extLst>
          </p:cNvPr>
          <p:cNvPicPr>
            <a:picLocks noChangeAspect="1"/>
          </p:cNvPicPr>
          <p:nvPr/>
        </p:nvPicPr>
        <p:blipFill rotWithShape="1">
          <a:blip r:embed="rId2">
            <a:extLst>
              <a:ext uri="{28A0092B-C50C-407E-A947-70E740481C1C}">
                <a14:useLocalDpi xmlns:a14="http://schemas.microsoft.com/office/drawing/2010/main"/>
              </a:ext>
            </a:extLst>
          </a:blip>
          <a:srcRect l="-4854" t="17234" r="4854" b="21966"/>
          <a:stretch/>
        </p:blipFill>
        <p:spPr>
          <a:xfrm>
            <a:off x="10883900" y="0"/>
            <a:ext cx="1308100" cy="795335"/>
          </a:xfrm>
          <a:prstGeom prst="rect">
            <a:avLst/>
          </a:prstGeom>
        </p:spPr>
      </p:pic>
      <p:pic>
        <p:nvPicPr>
          <p:cNvPr id="7" name="Picture 6">
            <a:extLst>
              <a:ext uri="{FF2B5EF4-FFF2-40B4-BE49-F238E27FC236}">
                <a16:creationId xmlns:a16="http://schemas.microsoft.com/office/drawing/2014/main" id="{637073F7-EEC6-F14B-842C-7DA235BC4B69}"/>
              </a:ext>
            </a:extLst>
          </p:cNvPr>
          <p:cNvPicPr>
            <a:picLocks noChangeAspect="1"/>
          </p:cNvPicPr>
          <p:nvPr/>
        </p:nvPicPr>
        <p:blipFill>
          <a:blip r:embed="rId3"/>
          <a:stretch>
            <a:fillRect/>
          </a:stretch>
        </p:blipFill>
        <p:spPr>
          <a:xfrm>
            <a:off x="7874000" y="80167"/>
            <a:ext cx="3009900" cy="635000"/>
          </a:xfrm>
          <a:prstGeom prst="rect">
            <a:avLst/>
          </a:prstGeom>
        </p:spPr>
      </p:pic>
    </p:spTree>
    <p:extLst>
      <p:ext uri="{BB962C8B-B14F-4D97-AF65-F5344CB8AC3E}">
        <p14:creationId xmlns:p14="http://schemas.microsoft.com/office/powerpoint/2010/main" val="2505230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ek 4" id="{477EC9BD-5AAF-7E44-B0AE-AC2077CC491E}" vid="{79F26A03-72FE-4140-A416-68A60082DA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140</TotalTime>
  <Words>951</Words>
  <Application>Microsoft Macintosh PowerPoint</Application>
  <PresentationFormat>Widescreen</PresentationFormat>
  <Paragraphs>188</Paragraphs>
  <Slides>34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Calibri</vt:lpstr>
      <vt:lpstr>Calibri Light</vt:lpstr>
      <vt:lpstr>Garamond</vt:lpstr>
      <vt:lpstr>Univers</vt:lpstr>
      <vt:lpstr>Wingdings</vt:lpstr>
      <vt:lpstr>Office Theme</vt:lpstr>
      <vt:lpstr>Introductory Computer Networking and IT Security </vt:lpstr>
      <vt:lpstr>Agenda</vt:lpstr>
      <vt:lpstr>Introduction To Routing </vt:lpstr>
      <vt:lpstr>To route a router need to know: </vt:lpstr>
      <vt:lpstr>Introduction To Routing </vt:lpstr>
      <vt:lpstr>Command-Line Interface  </vt:lpstr>
      <vt:lpstr>Overview of Router Modes  </vt:lpstr>
      <vt:lpstr>Sub interfaces  </vt:lpstr>
      <vt:lpstr>Router and Switch Administrative Functions </vt:lpstr>
      <vt:lpstr>Setting Passwords </vt:lpstr>
      <vt:lpstr>Router Interfaces </vt:lpstr>
      <vt:lpstr>Introduction To Routing </vt:lpstr>
      <vt:lpstr>Static Routing</vt:lpstr>
      <vt:lpstr>Static Routing</vt:lpstr>
      <vt:lpstr>Default Routing</vt:lpstr>
      <vt:lpstr>Default Routing</vt:lpstr>
      <vt:lpstr>Dynamic Routing </vt:lpstr>
      <vt:lpstr>Interior Gateway Protocol (IGP)</vt:lpstr>
      <vt:lpstr>Exterior Gateway Protocol (EGP)</vt:lpstr>
      <vt:lpstr>Distance vector routing protocol (RIP, IGRP)</vt:lpstr>
      <vt:lpstr>Routing Information Protocol (RIP)</vt:lpstr>
      <vt:lpstr>Routing Information Protocol (RIP)</vt:lpstr>
      <vt:lpstr>Sample RIP Configuration </vt:lpstr>
      <vt:lpstr>Interior Gateway Routing Protocol (IGRP) </vt:lpstr>
      <vt:lpstr>Sample IGRP Configuration </vt:lpstr>
      <vt:lpstr>Link State routing protocol (OSPF)</vt:lpstr>
      <vt:lpstr>Configuring OSPF </vt:lpstr>
      <vt:lpstr>Hybrid routing protocol (EIGRP)</vt:lpstr>
      <vt:lpstr>Configuring EIGRP </vt:lpstr>
      <vt:lpstr>Static vs Dynamic Routing </vt:lpstr>
      <vt:lpstr>Static vs Dynamic Routing </vt:lpstr>
      <vt:lpstr>Summary</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Introductory Computer Networking and IT Security </dc:title>
  <dc:creator>Krittika Tuladhar</dc:creator>
  <cp:lastModifiedBy>Krittika Tuladhar</cp:lastModifiedBy>
  <cp:revision>15</cp:revision>
  <dcterms:created xsi:type="dcterms:W3CDTF">2019-11-13T15:12:52Z</dcterms:created>
  <dcterms:modified xsi:type="dcterms:W3CDTF">2019-11-13T17:33:33Z</dcterms:modified>
</cp:coreProperties>
</file>