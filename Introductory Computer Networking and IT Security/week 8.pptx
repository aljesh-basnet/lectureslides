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7" r:id="rId2"/>
    <p:sldId id="294" r:id="rId3"/>
    <p:sldId id="268" r:id="rId4"/>
    <p:sldId id="295" r:id="rId5"/>
    <p:sldId id="296" r:id="rId6"/>
    <p:sldId id="312" r:id="rId7"/>
    <p:sldId id="297" r:id="rId8"/>
    <p:sldId id="300" r:id="rId9"/>
    <p:sldId id="298" r:id="rId10"/>
    <p:sldId id="303" r:id="rId11"/>
    <p:sldId id="299" r:id="rId12"/>
    <p:sldId id="302" r:id="rId13"/>
    <p:sldId id="301" r:id="rId14"/>
    <p:sldId id="304" r:id="rId15"/>
    <p:sldId id="305" r:id="rId16"/>
    <p:sldId id="308" r:id="rId17"/>
    <p:sldId id="306" r:id="rId18"/>
    <p:sldId id="309" r:id="rId19"/>
    <p:sldId id="310" r:id="rId20"/>
    <p:sldId id="307" r:id="rId21"/>
    <p:sldId id="320" r:id="rId22"/>
    <p:sldId id="311" r:id="rId23"/>
    <p:sldId id="313" r:id="rId24"/>
    <p:sldId id="315" r:id="rId25"/>
    <p:sldId id="31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2"/>
    <p:restoredTop sz="95470"/>
  </p:normalViewPr>
  <p:slideViewPr>
    <p:cSldViewPr snapToGrid="0" snapToObjects="1">
      <p:cViewPr varScale="1">
        <p:scale>
          <a:sx n="72" d="100"/>
          <a:sy n="72" d="100"/>
        </p:scale>
        <p:origin x="208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3CC87-2113-7147-9E11-DED44B3D60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894E9-0493-5B48-9F48-8024D235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09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86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88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16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60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91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69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2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76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79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30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25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88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31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97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48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62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82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16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775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95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224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41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6E20-5ABC-084D-92CF-B9AA5A49A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8D9A2-AEF1-CA4D-93C8-8A8337363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E9102-148F-3043-AEA5-88D3CD104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C1940-8CDF-ED4A-B423-BAF1FA66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264DE-0B9C-8D4E-A3B3-EE227676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3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DCAA-5513-F54D-BDD1-70D50ABA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639F-B1C9-5345-8A27-A0FCF9D71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3445A-E8A9-AD4F-A5A4-57002D9F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4404-9877-5D43-9AA4-B35D22DC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A5DE1-E389-A94E-BA99-FCF054CF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24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FFF9-135E-1643-AA08-1906BB1F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C54F9-79BC-4D4E-8280-8C59DD487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C7743-B8D2-2045-8DC5-2733B9F4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DC750-0A1D-6740-BD43-D21D20B0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18E16-9A33-D347-92B9-AD9A0974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0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E781-8345-6B45-B1A5-79EBC194F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BF114-AC7D-524D-AFE3-0AE52850C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FE0F0-0609-6F43-A59D-274A597FE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2165A-2D4A-564F-821D-0C78C492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0E520-1998-A645-984A-6294DDA1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319D1-7277-2943-80E2-5EFF7D29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6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33DD-D815-7B49-B06A-A2158A18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8DA07-9087-BF44-9D35-5F2187023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858D6-9DB2-5E47-B0B5-6104B527E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712C2-5E68-714D-B851-92809EACB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29617-3777-1646-BAB5-1FCAECB78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B02A64-D2A9-CC4B-9B84-ECEFBE01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7C9D6-431B-FF4B-AC36-4B1918F3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FFDC3-B9E9-A141-BE7F-C8757170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C061-90BF-D848-9C8E-B16E4837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A6FCC-CDF7-3240-8D6B-6761F6F4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4562E-86F4-9C4F-98CF-BC1316FC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1A0A9-8B4D-0343-9EC9-85AAF285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4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49B17-28F0-9B43-9701-FCE3D115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533E47-885D-FF46-AF18-4B9AC535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E428C-4F74-FC4F-9E25-4D2C6099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6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17BA-2DFA-BB4D-B145-1492592E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F49F5-267F-0F40-A0A5-3FDB553F1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9B9B6-5BB3-9F42-88DE-37B5CA584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0E64D-B79F-4F4E-81A0-97BF8B45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CBF4-B87A-EE4B-A726-9FC66A3F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DEA9D-52C5-6D4C-A7AA-8840F6D7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8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5226-F184-4041-89B0-792752DB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73EFE-5866-C54C-9D1B-3B5813014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A9AE6-E89C-6442-8A62-00B37DE51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1939F-C870-8846-946C-EE03FC3E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71689-012C-574E-9B62-F4E3CD9F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24966-10CA-C94C-8EDD-823702FB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3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F284-4827-FF4F-BE96-7B13B523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3B817-C8EB-A34E-8D2A-4E8D0012C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CCC10-CB69-7A48-AEC8-58B6CCBA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10C54-3CA4-9249-89A8-93C7004C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42F6F-A0D5-0346-9D8B-7F48F854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3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935AE-F5D9-BB47-B4FE-3AD755807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D3B37-AF35-254C-91AE-CCC2D14AB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0BCC1-3D54-D44B-B609-D92FA43D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6CC8A-0AB8-EF42-9548-AE3751D1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42748-832D-2F44-BAA0-1090B8F0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8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7A597-797B-5745-BE47-71D6434C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2306C-69BD-7E47-AFA1-85FA17CB9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E854-BAC3-2F45-B5E6-F04F7D4E0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5E7D8-5DCF-664D-BF13-E2042D635AE5}" type="datetimeFigureOut">
              <a:rPr lang="en-US" smtClean="0"/>
              <a:t>12/28/19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9C1D9-4CF5-3F41-BA65-F07701256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A4583-5FA5-FB4A-ABBD-61CBCF569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2C46C-F5AE-4940-867E-43F189A93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8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2374-B174-F34F-8AFF-FE8833813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Introductory Computer Networking and IT Security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BA501-51A5-C948-B97B-2246F8216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7798"/>
            <a:ext cx="9144000" cy="1270001"/>
          </a:xfrm>
        </p:spPr>
        <p:txBody>
          <a:bodyPr/>
          <a:lstStyle/>
          <a:p>
            <a:r>
              <a:rPr lang="en-US" dirty="0"/>
              <a:t>Week 8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BD8D6-0482-B348-8E52-88F13AFCEE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566B64-800D-7343-9B97-B4BCEFCA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8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Introduction to WAN</a:t>
            </a:r>
            <a:endParaRPr lang="en-US" dirty="0"/>
          </a:p>
          <a:p>
            <a:pPr lvl="0"/>
            <a:r>
              <a:rPr lang="en-GB" dirty="0"/>
              <a:t>HDLC (High level data link control protocol)</a:t>
            </a:r>
            <a:endParaRPr lang="en-US" dirty="0"/>
          </a:p>
          <a:p>
            <a:pPr lvl="0"/>
            <a:r>
              <a:rPr lang="en-GB" dirty="0"/>
              <a:t>PPP (Point-to-Point Protocol)</a:t>
            </a:r>
            <a:endParaRPr lang="en-US" dirty="0"/>
          </a:p>
          <a:p>
            <a:r>
              <a:rPr lang="en-GB" dirty="0"/>
              <a:t>Introduction to Frame relay technology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6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90688"/>
            <a:ext cx="4000500" cy="4554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wide area network is a telecommunications network that extends over a large geographical area for the primary purpose of computer networking. Wide area networks are often established with leased telecommunication circuits.</a:t>
            </a:r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7EAD0F-1F02-E64E-B683-0EA05B343C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68" t="11670" r="20811"/>
          <a:stretch/>
        </p:blipFill>
        <p:spPr>
          <a:xfrm>
            <a:off x="4838700" y="2055813"/>
            <a:ext cx="7027679" cy="355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WAN Connection Types </a:t>
            </a: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E9F729-F9BA-1447-B303-F3E090BF9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0250" y="2323707"/>
            <a:ext cx="6070600" cy="10033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1E8A7A-6D00-C547-8977-053FCF23D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7200" y="3469480"/>
            <a:ext cx="6381750" cy="175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03C95-E3B7-2046-8653-C6EFC86CCA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0250" y="5114133"/>
            <a:ext cx="61087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4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WAN Connection Types </a:t>
            </a: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37C025-F691-564D-B766-045507C9D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8868" y="1428792"/>
            <a:ext cx="8876371" cy="520949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0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Dedicated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023" y="1690688"/>
            <a:ext cx="11797991" cy="4802187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A dedicated line is a communications medium or other facility dedicated to a specific application, in contrast with a shared resource such as the telephone network or the Internet is called dedicated connection.</a:t>
            </a:r>
          </a:p>
          <a:p>
            <a:pPr fontAlgn="base"/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1.Leased Lines:</a:t>
            </a:r>
          </a:p>
          <a:p>
            <a:pPr marL="0" indent="0" fontAlgn="base">
              <a:buNone/>
            </a:pPr>
            <a:br>
              <a:rPr lang="en-US" dirty="0"/>
            </a:br>
            <a:r>
              <a:rPr lang="en-US" dirty="0"/>
              <a:t>It is a dedicated point to point connection which provides pre-establish WAN communication path through ISP to remote destination is called as leased line. It provide very high speed data transmission up to 64Gbps.It is very expensive.</a:t>
            </a:r>
            <a:br>
              <a:rPr lang="en-US" dirty="0"/>
            </a:br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Dedicated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024" y="1690688"/>
            <a:ext cx="11321276" cy="4802187"/>
          </a:xfrm>
        </p:spPr>
        <p:txBody>
          <a:bodyPr>
            <a:normAutofit fontScale="92500"/>
          </a:bodyPr>
          <a:lstStyle/>
          <a:p>
            <a:pPr marL="0" indent="0" fontAlgn="base">
              <a:buNone/>
            </a:pPr>
            <a:br>
              <a:rPr lang="en-US" dirty="0"/>
            </a:br>
            <a:r>
              <a:rPr lang="en-US" b="1" dirty="0"/>
              <a:t>2.Digital Subscriber Line (DSL):</a:t>
            </a:r>
          </a:p>
          <a:p>
            <a:pPr fontAlgn="base"/>
            <a:r>
              <a:rPr lang="en-US" dirty="0"/>
              <a:t>It is a provide connection between ISP to a customer through telephone line.</a:t>
            </a:r>
          </a:p>
          <a:p>
            <a:pPr fontAlgn="base"/>
            <a:r>
              <a:rPr lang="en-US" dirty="0"/>
              <a:t>It is a broadband technique which provides same upstream and downstream.</a:t>
            </a:r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3. Asymmetric Digital Subscriber Line (ADSL): </a:t>
            </a:r>
          </a:p>
          <a:p>
            <a:pPr fontAlgn="base"/>
            <a:r>
              <a:rPr lang="en-US" dirty="0"/>
              <a:t>Asymmetric digital subscriber line is type of digital subscriber line technology a data communication technology that enables faster data transmission over the copper telephone line rather than conventional voice modem used. </a:t>
            </a:r>
          </a:p>
          <a:p>
            <a:pPr fontAlgn="base"/>
            <a:r>
              <a:rPr lang="en-US" dirty="0"/>
              <a:t>It is some like as digital subscriber line but only difference is that upstream</a:t>
            </a:r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7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Switched Connections</a:t>
            </a:r>
            <a:br>
              <a:rPr lang="en-US" b="1" dirty="0"/>
            </a:b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66725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There are three types of switched connection are as follows:</a:t>
            </a:r>
          </a:p>
          <a:p>
            <a:pPr marL="0" indent="0" fontAlgn="base">
              <a:buNone/>
            </a:pP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b="1" dirty="0"/>
              <a:t>Circuit Switched Network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b="1" dirty="0"/>
              <a:t>Packet Switched Network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b="1" dirty="0"/>
              <a:t>Cell Switched Network</a:t>
            </a:r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8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Circuit switching </a:t>
            </a:r>
            <a:br>
              <a:rPr lang="en-US" dirty="0"/>
            </a:b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74878"/>
            <a:ext cx="10706100" cy="466725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In circuit switches network, every time before transferring data over the WAN, new connection get establish after data transfer over the connection get closed.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In this technique generally data is transferred through single connection or single route.</a:t>
            </a:r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0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86451F9-54D5-1E45-AA1A-B69B3C283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7851" y="1382709"/>
            <a:ext cx="9607112" cy="511016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7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Packet switching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66725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In packet switched network, uses virtual connection for transferring data, it for transferring data create connection on first data transmission and used it as a permanent connection.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It is faster than circuit switched network.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It is used for multi path communication.</a:t>
            </a:r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8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C89625-CE5E-734A-AE6D-FAFF5F17D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9877" y="958146"/>
            <a:ext cx="7654148" cy="524193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16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Cell Switched Network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1537"/>
            <a:ext cx="10706100" cy="504133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In this type of network data transfer in fixed size cell that is 53 bytes.</a:t>
            </a:r>
          </a:p>
          <a:p>
            <a:pPr fontAlgn="base"/>
            <a:r>
              <a:rPr lang="en-US" dirty="0"/>
              <a:t>Its example as ATM.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67703-70F3-B14D-8454-1C92CB274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419" y="1880876"/>
            <a:ext cx="6133481" cy="493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WAN Support </a:t>
            </a:r>
            <a:br>
              <a:rPr lang="en-US" dirty="0"/>
            </a:b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36AD72-294F-0244-B105-4422ABEEE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4439" y="1534569"/>
            <a:ext cx="7159224" cy="480218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8A1EBA-9314-1C47-95BE-397800C6D1CD}"/>
              </a:ext>
            </a:extLst>
          </p:cNvPr>
          <p:cNvSpPr/>
          <p:nvPr/>
        </p:nvSpPr>
        <p:spPr>
          <a:xfrm>
            <a:off x="258337" y="2397534"/>
            <a:ext cx="583766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3200" dirty="0"/>
              <a:t>HDLC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3200" dirty="0"/>
              <a:t>PPP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3200" dirty="0"/>
              <a:t>Frame relay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3200" dirty="0"/>
              <a:t>ATM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1117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Data-Link Control (HDLC) Protocol 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667250"/>
          </a:xfrm>
        </p:spPr>
        <p:txBody>
          <a:bodyPr>
            <a:normAutofit/>
          </a:bodyPr>
          <a:lstStyle/>
          <a:p>
            <a:r>
              <a:rPr lang="en-US" sz="3200" dirty="0"/>
              <a:t>HDLC protocol is a popular ISO-standard, bit-oriented Data Link layer protocol. </a:t>
            </a:r>
          </a:p>
          <a:p>
            <a:r>
              <a:rPr lang="en-US" sz="3200" dirty="0"/>
              <a:t>It specifies an encapsulation method for data on synchronous serial data links using frame characters and checksums. </a:t>
            </a:r>
          </a:p>
          <a:p>
            <a:r>
              <a:rPr lang="en-US" sz="3200" dirty="0"/>
              <a:t>HDLC is a point-to-point protocol used on leased lines. </a:t>
            </a:r>
          </a:p>
          <a:p>
            <a:r>
              <a:rPr lang="en-US" sz="3200" dirty="0"/>
              <a:t>No authentication can be used with HDLC. </a:t>
            </a:r>
          </a:p>
          <a:p>
            <a:r>
              <a:rPr lang="en-US" sz="3200" dirty="0"/>
              <a:t>HDLC is the default serial encapsulation on Cisco serial links </a:t>
            </a:r>
          </a:p>
          <a:p>
            <a:pPr marL="0" indent="0">
              <a:buNone/>
            </a:pPr>
            <a:endParaRPr lang="en-US" sz="3200" dirty="0"/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1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948833-6035-2943-9657-E8BD5BF64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9517" y="1000125"/>
            <a:ext cx="8892965" cy="518001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41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22269"/>
            <a:ext cx="10515600" cy="1325563"/>
          </a:xfrm>
        </p:spPr>
        <p:txBody>
          <a:bodyPr/>
          <a:lstStyle/>
          <a:p>
            <a:r>
              <a:rPr lang="en-US" dirty="0"/>
              <a:t>Point-to-Point Protocol (PPP) 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668" y="1467664"/>
            <a:ext cx="11552663" cy="4802187"/>
          </a:xfrm>
        </p:spPr>
        <p:txBody>
          <a:bodyPr>
            <a:noAutofit/>
          </a:bodyPr>
          <a:lstStyle/>
          <a:p>
            <a:r>
              <a:rPr lang="en-US" sz="3200" dirty="0"/>
              <a:t>PPP is a Data Link layer protocol that can be used over either asynchronous serial (dial-up) or synchronous serial (ISDN) media. </a:t>
            </a:r>
          </a:p>
          <a:p>
            <a:r>
              <a:rPr lang="en-US" sz="3200" dirty="0"/>
              <a:t>It uses the LCP (Link Control Protocol) to build and maintain data-link connections. </a:t>
            </a:r>
          </a:p>
          <a:p>
            <a:r>
              <a:rPr lang="en-US" sz="3200" dirty="0"/>
              <a:t>Network Control Protocol (NCP) is used to allow multiple Network layer protocols (routed protocols) to be used on a point-to- point connection. </a:t>
            </a:r>
          </a:p>
          <a:p>
            <a:r>
              <a:rPr lang="en-US" sz="3200" dirty="0"/>
              <a:t>The basic purpose of PPP is to transport layer 3 packets across a Data Link layer point-to-point link. </a:t>
            </a:r>
          </a:p>
          <a:p>
            <a:r>
              <a:rPr lang="en-US" sz="3200" dirty="0"/>
              <a:t>It is non-proprietary, which means that if you don’t have all Cisco routers.</a:t>
            </a:r>
          </a:p>
          <a:p>
            <a:endParaRPr lang="en-US" sz="3200" dirty="0"/>
          </a:p>
          <a:p>
            <a:endParaRPr lang="en-US" sz="320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4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65FD3D-A002-9945-BBAB-557CB4F25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7433" y="1293541"/>
            <a:ext cx="6809793" cy="497344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09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Configuring PPP on Cisco Routers </a:t>
            </a: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5ECC01-F808-1A47-82A7-0DAB824DF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818393"/>
            <a:ext cx="5905500" cy="27051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675876-289E-FE4E-9697-1882BB45AA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727" y="1973220"/>
            <a:ext cx="6169878" cy="18256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627315-9925-E240-9AB0-53CCD72965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1726" y="4569744"/>
            <a:ext cx="6457487" cy="206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6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5642"/>
            <a:ext cx="10515600" cy="1325563"/>
          </a:xfrm>
        </p:spPr>
        <p:txBody>
          <a:bodyPr/>
          <a:lstStyle/>
          <a:p>
            <a:r>
              <a:rPr lang="en-US" dirty="0"/>
              <a:t>Frame Relay 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629" y="1382751"/>
            <a:ext cx="11276671" cy="5110124"/>
          </a:xfrm>
        </p:spPr>
        <p:txBody>
          <a:bodyPr>
            <a:noAutofit/>
          </a:bodyPr>
          <a:lstStyle/>
          <a:p>
            <a:r>
              <a:rPr lang="en-US" sz="3200" dirty="0"/>
              <a:t>Frame Relay, by default, is classified as a non-broadcast multi-access (NBMA) network, which means that it does not send any broadcasts, such as RIP updates, across the network by default. 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It can be significantly more complex and versatile, which is why it’s often represented as a “cloud” in networking graphics. 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Frame Relay provides a packet-switched network to many different customers at the same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6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5642"/>
            <a:ext cx="10515600" cy="1325563"/>
          </a:xfrm>
        </p:spPr>
        <p:txBody>
          <a:bodyPr/>
          <a:lstStyle/>
          <a:p>
            <a:r>
              <a:rPr lang="en-US" dirty="0"/>
              <a:t>Frame Relay 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629" y="1382751"/>
            <a:ext cx="11276671" cy="5110124"/>
          </a:xfrm>
        </p:spPr>
        <p:txBody>
          <a:bodyPr>
            <a:noAutofit/>
          </a:bodyPr>
          <a:lstStyle/>
          <a:p>
            <a:r>
              <a:rPr lang="en-US" sz="3200" b="1" dirty="0"/>
              <a:t>CIR </a:t>
            </a:r>
            <a:r>
              <a:rPr lang="en-US" sz="3200" dirty="0"/>
              <a:t>The maximum bandwidth of data guaranteed to be delivered. However, in reality, this is the average amount that the service provider will allow you to transmit. </a:t>
            </a:r>
          </a:p>
          <a:p>
            <a:endParaRPr lang="en-US" sz="3200" dirty="0"/>
          </a:p>
          <a:p>
            <a:r>
              <a:rPr lang="en-US" sz="3200" b="1" dirty="0"/>
              <a:t>Access rate </a:t>
            </a:r>
            <a:r>
              <a:rPr lang="en-US" sz="3200" dirty="0"/>
              <a:t>The maximum speed at which the Frame Relay interface can transmit.</a:t>
            </a:r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1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667250"/>
          </a:xfrm>
        </p:spPr>
        <p:txBody>
          <a:bodyPr>
            <a:normAutofit/>
          </a:bodyPr>
          <a:lstStyle/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54533D-0DD6-B445-ADC0-CCDA3CA89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441502"/>
            <a:ext cx="5466576" cy="4290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66773C-164A-8D43-859B-368E68841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775" y="1482760"/>
            <a:ext cx="5230313" cy="429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6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Frame Relay Technology</a:t>
            </a:r>
            <a:endParaRPr lang="en-GB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6B7E9A-3B27-974C-A28F-170F61F64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40628" y="1380017"/>
            <a:ext cx="9513172" cy="539781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8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Frame Relay Implementation and Monitoring </a:t>
            </a: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F10A5B-F2AF-F048-A7C9-8561E8FE1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2295" y="2055813"/>
            <a:ext cx="6093832" cy="271415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271543-4B09-544A-BF32-841DC33AB6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374" y="2007772"/>
            <a:ext cx="5861626" cy="27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8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6672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3800" dirty="0">
                <a:effectLst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83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546</Words>
  <Application>Microsoft Macintosh PowerPoint</Application>
  <PresentationFormat>Widescreen</PresentationFormat>
  <Paragraphs>97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Introductory Computer Networking and IT Security </vt:lpstr>
      <vt:lpstr>Agenda</vt:lpstr>
      <vt:lpstr>WAN</vt:lpstr>
      <vt:lpstr>WAN Connection Types </vt:lpstr>
      <vt:lpstr>WAN Connection Types </vt:lpstr>
      <vt:lpstr>Dedicated Connections</vt:lpstr>
      <vt:lpstr>Dedicated Connections</vt:lpstr>
      <vt:lpstr>Switched Connections </vt:lpstr>
      <vt:lpstr>Circuit switching  </vt:lpstr>
      <vt:lpstr>PowerPoint Presentation</vt:lpstr>
      <vt:lpstr>Packet switching</vt:lpstr>
      <vt:lpstr>PowerPoint Presentation</vt:lpstr>
      <vt:lpstr>Cell Switched Network</vt:lpstr>
      <vt:lpstr>WAN Support  </vt:lpstr>
      <vt:lpstr>High-Level Data-Link Control (HDLC) Protocol </vt:lpstr>
      <vt:lpstr>PowerPoint Presentation</vt:lpstr>
      <vt:lpstr>Point-to-Point Protocol (PPP) </vt:lpstr>
      <vt:lpstr>PowerPoint Presentation</vt:lpstr>
      <vt:lpstr>Configuring PPP on Cisco Routers </vt:lpstr>
      <vt:lpstr>Frame Relay </vt:lpstr>
      <vt:lpstr>Frame Relay </vt:lpstr>
      <vt:lpstr>PowerPoint Presentation</vt:lpstr>
      <vt:lpstr>Frame Relay Technology</vt:lpstr>
      <vt:lpstr>Frame Relay Implementation and Monitoring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Computer Networking and IT Security </dc:title>
  <dc:creator>Krittika Tuladhar</dc:creator>
  <cp:lastModifiedBy>Krittika Tuladhar</cp:lastModifiedBy>
  <cp:revision>9</cp:revision>
  <dcterms:created xsi:type="dcterms:W3CDTF">2019-12-22T15:33:53Z</dcterms:created>
  <dcterms:modified xsi:type="dcterms:W3CDTF">2019-12-28T15:45:48Z</dcterms:modified>
</cp:coreProperties>
</file>