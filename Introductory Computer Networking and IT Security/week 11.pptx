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7" r:id="rId2"/>
    <p:sldId id="294"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96" r:id="rId22"/>
    <p:sldId id="2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82"/>
    <p:restoredTop sz="95470"/>
  </p:normalViewPr>
  <p:slideViewPr>
    <p:cSldViewPr snapToGrid="0" snapToObjects="1">
      <p:cViewPr varScale="1">
        <p:scale>
          <a:sx n="72" d="100"/>
          <a:sy n="72" d="100"/>
        </p:scale>
        <p:origin x="208" y="8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C24EE-E151-1D46-B2F3-743FB5726C7A}" type="datetimeFigureOut">
              <a:rPr lang="en-US" smtClean="0"/>
              <a:t>1/8/20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2AFBE6-19FC-0142-9A4F-B16182A54067}" type="slidenum">
              <a:rPr lang="en-US" smtClean="0"/>
              <a:t>‹#›</a:t>
            </a:fld>
            <a:endParaRPr lang="en-US"/>
          </a:p>
        </p:txBody>
      </p:sp>
    </p:spTree>
    <p:extLst>
      <p:ext uri="{BB962C8B-B14F-4D97-AF65-F5344CB8AC3E}">
        <p14:creationId xmlns:p14="http://schemas.microsoft.com/office/powerpoint/2010/main" val="4022220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a:t>
            </a:fld>
            <a:endParaRPr lang="en-US"/>
          </a:p>
        </p:txBody>
      </p:sp>
    </p:spTree>
    <p:extLst>
      <p:ext uri="{BB962C8B-B14F-4D97-AF65-F5344CB8AC3E}">
        <p14:creationId xmlns:p14="http://schemas.microsoft.com/office/powerpoint/2010/main" val="1851382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4</a:t>
            </a:fld>
            <a:endParaRPr lang="en-US"/>
          </a:p>
        </p:txBody>
      </p:sp>
    </p:spTree>
    <p:extLst>
      <p:ext uri="{BB962C8B-B14F-4D97-AF65-F5344CB8AC3E}">
        <p14:creationId xmlns:p14="http://schemas.microsoft.com/office/powerpoint/2010/main" val="1507073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5</a:t>
            </a:fld>
            <a:endParaRPr lang="en-US"/>
          </a:p>
        </p:txBody>
      </p:sp>
    </p:spTree>
    <p:extLst>
      <p:ext uri="{BB962C8B-B14F-4D97-AF65-F5344CB8AC3E}">
        <p14:creationId xmlns:p14="http://schemas.microsoft.com/office/powerpoint/2010/main" val="280311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6</a:t>
            </a:fld>
            <a:endParaRPr lang="en-US"/>
          </a:p>
        </p:txBody>
      </p:sp>
    </p:spTree>
    <p:extLst>
      <p:ext uri="{BB962C8B-B14F-4D97-AF65-F5344CB8AC3E}">
        <p14:creationId xmlns:p14="http://schemas.microsoft.com/office/powerpoint/2010/main" val="1808973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7</a:t>
            </a:fld>
            <a:endParaRPr lang="en-US"/>
          </a:p>
        </p:txBody>
      </p:sp>
    </p:spTree>
    <p:extLst>
      <p:ext uri="{BB962C8B-B14F-4D97-AF65-F5344CB8AC3E}">
        <p14:creationId xmlns:p14="http://schemas.microsoft.com/office/powerpoint/2010/main" val="855996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8</a:t>
            </a:fld>
            <a:endParaRPr lang="en-US"/>
          </a:p>
        </p:txBody>
      </p:sp>
    </p:spTree>
    <p:extLst>
      <p:ext uri="{BB962C8B-B14F-4D97-AF65-F5344CB8AC3E}">
        <p14:creationId xmlns:p14="http://schemas.microsoft.com/office/powerpoint/2010/main" val="1170185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9</a:t>
            </a:fld>
            <a:endParaRPr lang="en-US"/>
          </a:p>
        </p:txBody>
      </p:sp>
    </p:spTree>
    <p:extLst>
      <p:ext uri="{BB962C8B-B14F-4D97-AF65-F5344CB8AC3E}">
        <p14:creationId xmlns:p14="http://schemas.microsoft.com/office/powerpoint/2010/main" val="3258517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10</a:t>
            </a:fld>
            <a:endParaRPr lang="en-US"/>
          </a:p>
        </p:txBody>
      </p:sp>
    </p:spTree>
    <p:extLst>
      <p:ext uri="{BB962C8B-B14F-4D97-AF65-F5344CB8AC3E}">
        <p14:creationId xmlns:p14="http://schemas.microsoft.com/office/powerpoint/2010/main" val="2663332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11</a:t>
            </a:fld>
            <a:endParaRPr lang="en-US"/>
          </a:p>
        </p:txBody>
      </p:sp>
    </p:spTree>
    <p:extLst>
      <p:ext uri="{BB962C8B-B14F-4D97-AF65-F5344CB8AC3E}">
        <p14:creationId xmlns:p14="http://schemas.microsoft.com/office/powerpoint/2010/main" val="930840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Indemnify-penalty</a:t>
            </a:r>
          </a:p>
        </p:txBody>
      </p:sp>
      <p:sp>
        <p:nvSpPr>
          <p:cNvPr id="4" name="Slide Number Placeholder 3"/>
          <p:cNvSpPr>
            <a:spLocks noGrp="1"/>
          </p:cNvSpPr>
          <p:nvPr>
            <p:ph type="sldNum" sz="quarter" idx="10"/>
          </p:nvPr>
        </p:nvSpPr>
        <p:spPr/>
        <p:txBody>
          <a:bodyPr/>
          <a:lstStyle/>
          <a:p>
            <a:fld id="{C1C20F7C-D8D7-EA47-B168-F6FBBA42C463}" type="slidenum">
              <a:rPr lang="en-US" smtClean="0"/>
              <a:t>12</a:t>
            </a:fld>
            <a:endParaRPr lang="en-US"/>
          </a:p>
        </p:txBody>
      </p:sp>
    </p:spTree>
    <p:extLst>
      <p:ext uri="{BB962C8B-B14F-4D97-AF65-F5344CB8AC3E}">
        <p14:creationId xmlns:p14="http://schemas.microsoft.com/office/powerpoint/2010/main" val="1244791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13</a:t>
            </a:fld>
            <a:endParaRPr lang="en-US"/>
          </a:p>
        </p:txBody>
      </p:sp>
    </p:spTree>
    <p:extLst>
      <p:ext uri="{BB962C8B-B14F-4D97-AF65-F5344CB8AC3E}">
        <p14:creationId xmlns:p14="http://schemas.microsoft.com/office/powerpoint/2010/main" val="3754604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14</a:t>
            </a:fld>
            <a:endParaRPr lang="en-US"/>
          </a:p>
        </p:txBody>
      </p:sp>
    </p:spTree>
    <p:extLst>
      <p:ext uri="{BB962C8B-B14F-4D97-AF65-F5344CB8AC3E}">
        <p14:creationId xmlns:p14="http://schemas.microsoft.com/office/powerpoint/2010/main" val="1967956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15</a:t>
            </a:fld>
            <a:endParaRPr lang="en-US"/>
          </a:p>
        </p:txBody>
      </p:sp>
    </p:spTree>
    <p:extLst>
      <p:ext uri="{BB962C8B-B14F-4D97-AF65-F5344CB8AC3E}">
        <p14:creationId xmlns:p14="http://schemas.microsoft.com/office/powerpoint/2010/main" val="2784963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16</a:t>
            </a:fld>
            <a:endParaRPr lang="en-US"/>
          </a:p>
        </p:txBody>
      </p:sp>
    </p:spTree>
    <p:extLst>
      <p:ext uri="{BB962C8B-B14F-4D97-AF65-F5344CB8AC3E}">
        <p14:creationId xmlns:p14="http://schemas.microsoft.com/office/powerpoint/2010/main" val="679159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17</a:t>
            </a:fld>
            <a:endParaRPr lang="en-US"/>
          </a:p>
        </p:txBody>
      </p:sp>
    </p:spTree>
    <p:extLst>
      <p:ext uri="{BB962C8B-B14F-4D97-AF65-F5344CB8AC3E}">
        <p14:creationId xmlns:p14="http://schemas.microsoft.com/office/powerpoint/2010/main" val="1739278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18</a:t>
            </a:fld>
            <a:endParaRPr lang="en-US"/>
          </a:p>
        </p:txBody>
      </p:sp>
    </p:spTree>
    <p:extLst>
      <p:ext uri="{BB962C8B-B14F-4D97-AF65-F5344CB8AC3E}">
        <p14:creationId xmlns:p14="http://schemas.microsoft.com/office/powerpoint/2010/main" val="573460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19</a:t>
            </a:fld>
            <a:endParaRPr lang="en-US"/>
          </a:p>
        </p:txBody>
      </p:sp>
    </p:spTree>
    <p:extLst>
      <p:ext uri="{BB962C8B-B14F-4D97-AF65-F5344CB8AC3E}">
        <p14:creationId xmlns:p14="http://schemas.microsoft.com/office/powerpoint/2010/main" val="32309798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perpetuate –conserve , preserve      adherence-attachment or commitment to a person , cause, or belief</a:t>
            </a:r>
          </a:p>
        </p:txBody>
      </p:sp>
      <p:sp>
        <p:nvSpPr>
          <p:cNvPr id="4" name="Slide Number Placeholder 3"/>
          <p:cNvSpPr>
            <a:spLocks noGrp="1"/>
          </p:cNvSpPr>
          <p:nvPr>
            <p:ph type="sldNum" sz="quarter" idx="10"/>
          </p:nvPr>
        </p:nvSpPr>
        <p:spPr/>
        <p:txBody>
          <a:bodyPr/>
          <a:lstStyle/>
          <a:p>
            <a:fld id="{C1C20F7C-D8D7-EA47-B168-F6FBBA42C463}" type="slidenum">
              <a:rPr lang="en-US" smtClean="0"/>
              <a:t>20</a:t>
            </a:fld>
            <a:endParaRPr lang="en-US"/>
          </a:p>
        </p:txBody>
      </p:sp>
    </p:spTree>
    <p:extLst>
      <p:ext uri="{BB962C8B-B14F-4D97-AF65-F5344CB8AC3E}">
        <p14:creationId xmlns:p14="http://schemas.microsoft.com/office/powerpoint/2010/main" val="375057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09B20-CF9F-714E-A79F-7E0151371E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19DE40-4C76-D141-90A0-910B99978E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1DB2AF-4655-9249-8F5B-53B99560177D}"/>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5" name="Footer Placeholder 4">
            <a:extLst>
              <a:ext uri="{FF2B5EF4-FFF2-40B4-BE49-F238E27FC236}">
                <a16:creationId xmlns:a16="http://schemas.microsoft.com/office/drawing/2014/main" id="{5D2A493F-0337-E442-8C58-AC3E5007DB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1BE9F0-EC58-3B42-A2F0-A158F6257BA4}"/>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229525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3A8C8-E97D-1647-A3C1-64D200A918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9DEAA4-EA73-2F4F-BEA7-832CC2A988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19C38-56CE-3249-8579-AD9EC304B5D6}"/>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5" name="Footer Placeholder 4">
            <a:extLst>
              <a:ext uri="{FF2B5EF4-FFF2-40B4-BE49-F238E27FC236}">
                <a16:creationId xmlns:a16="http://schemas.microsoft.com/office/drawing/2014/main" id="{FD001A6B-42FB-ED43-9007-D48A7F3AE6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3D8BF4-63AB-B14B-A2EB-49720FDE1F3D}"/>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1171603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59FFA-7002-AD4F-81F7-C9AF248E4B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FC9431-1217-E546-A0A9-209D6A8ED8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431BE7-BF19-894C-AA38-1A2ACB83C9A9}"/>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5" name="Footer Placeholder 4">
            <a:extLst>
              <a:ext uri="{FF2B5EF4-FFF2-40B4-BE49-F238E27FC236}">
                <a16:creationId xmlns:a16="http://schemas.microsoft.com/office/drawing/2014/main" id="{351BA1FC-7361-C241-8EAD-FA09FFDC4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4BABE-34BC-E24A-A920-649DC3E9A531}"/>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1511464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BCC26-8EFD-824A-A60E-29056B65FC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7ADF88-8D36-8645-B588-B83A622A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376FB2-78AD-5E42-86F1-06C9388EDE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434762-FE5E-8F4C-A129-3905FB148CDA}"/>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6" name="Footer Placeholder 5">
            <a:extLst>
              <a:ext uri="{FF2B5EF4-FFF2-40B4-BE49-F238E27FC236}">
                <a16:creationId xmlns:a16="http://schemas.microsoft.com/office/drawing/2014/main" id="{A0FB6C9B-2CC9-AB45-9203-AFA482EB5F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990334-E44E-834A-A738-D6B1CF359276}"/>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94791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E80E3-6A73-E344-A4B1-3A37E948F2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5FD90E-83E4-7844-A4C4-E40684AC13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43F4B0-3E2B-D34E-95F6-B19FBC5780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3D2886-89F3-734D-827E-554246094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8DE24B-D2D1-9E40-9B56-B952915693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9B5AA5-67FF-BD48-A750-EAECC03C29EB}"/>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8" name="Footer Placeholder 7">
            <a:extLst>
              <a:ext uri="{FF2B5EF4-FFF2-40B4-BE49-F238E27FC236}">
                <a16:creationId xmlns:a16="http://schemas.microsoft.com/office/drawing/2014/main" id="{01F98420-5D74-5141-9AE9-69E83AC4D1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4D36B5-8F5B-B045-AA21-F3E0F3C17E7D}"/>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2666075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42AC3-D5FB-0C48-B61D-9BB1123166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0A8095-6D0A-5249-969D-F1DEC01EAF53}"/>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4" name="Footer Placeholder 3">
            <a:extLst>
              <a:ext uri="{FF2B5EF4-FFF2-40B4-BE49-F238E27FC236}">
                <a16:creationId xmlns:a16="http://schemas.microsoft.com/office/drawing/2014/main" id="{BEEFE49F-274C-944D-8713-E8C542B8D4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36B777-0216-B04F-9965-76C455D45036}"/>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1283070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4AE049-C44A-DF45-B103-9305807AABF7}"/>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3" name="Footer Placeholder 2">
            <a:extLst>
              <a:ext uri="{FF2B5EF4-FFF2-40B4-BE49-F238E27FC236}">
                <a16:creationId xmlns:a16="http://schemas.microsoft.com/office/drawing/2014/main" id="{1FD2C6D9-FE8D-8A44-B4F2-B98EDD0055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70C70D-9E42-E44B-AE49-C56739430FA8}"/>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65922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C7DCA-7238-914A-82E8-5564368D5E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D50449-05D8-A04C-8DCF-44E110DFF9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EB8EB6-6716-B741-BE9D-27DC0C0680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A873B3-FC1C-344F-8AA9-02BC5A498DF5}"/>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6" name="Footer Placeholder 5">
            <a:extLst>
              <a:ext uri="{FF2B5EF4-FFF2-40B4-BE49-F238E27FC236}">
                <a16:creationId xmlns:a16="http://schemas.microsoft.com/office/drawing/2014/main" id="{B93E3628-6F38-D146-AF8A-F35356DF0E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27CB7F-DC03-CC46-B175-84A43AE098F2}"/>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1017864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0C6E8-BA86-0041-967B-5D98C02F1F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C6E207-A0D6-6E4A-A772-28C57135C7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102B61-B1F7-784A-BBF5-186252AEF1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4ABB79-22E6-C34D-A043-5FFC8DA36908}"/>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6" name="Footer Placeholder 5">
            <a:extLst>
              <a:ext uri="{FF2B5EF4-FFF2-40B4-BE49-F238E27FC236}">
                <a16:creationId xmlns:a16="http://schemas.microsoft.com/office/drawing/2014/main" id="{FD4F9356-584F-CD42-A0FA-56FAA6779E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606A3E-8CE4-5344-B2E1-E1A5960D7CE0}"/>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3526266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7B285-4F97-164B-BD41-F539F84F16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17ED4A-DAB9-244B-8528-A7A15DD8F0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543222-EE27-D144-9E10-202F2AAF598C}"/>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5" name="Footer Placeholder 4">
            <a:extLst>
              <a:ext uri="{FF2B5EF4-FFF2-40B4-BE49-F238E27FC236}">
                <a16:creationId xmlns:a16="http://schemas.microsoft.com/office/drawing/2014/main" id="{22A2B34C-77AE-6A4C-85C0-F7790A21B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5553C-3BC3-2C4E-8A75-85E36041AD1F}"/>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2180584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E7A3DD-FF3E-E347-AAE4-C6E3008C25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C4E2B6-785B-9748-B784-FD2D2B9622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5E83E-E9D9-E44F-A4C9-652685D6BC57}"/>
              </a:ext>
            </a:extLst>
          </p:cNvPr>
          <p:cNvSpPr>
            <a:spLocks noGrp="1"/>
          </p:cNvSpPr>
          <p:nvPr>
            <p:ph type="dt" sz="half" idx="10"/>
          </p:nvPr>
        </p:nvSpPr>
        <p:spPr/>
        <p:txBody>
          <a:bodyPr/>
          <a:lstStyle/>
          <a:p>
            <a:fld id="{B1FCA685-19B4-9A4C-825C-8758D5A7DFE1}" type="datetimeFigureOut">
              <a:rPr lang="en-US" smtClean="0"/>
              <a:t>1/8/20</a:t>
            </a:fld>
            <a:endParaRPr lang="en-US"/>
          </a:p>
        </p:txBody>
      </p:sp>
      <p:sp>
        <p:nvSpPr>
          <p:cNvPr id="5" name="Footer Placeholder 4">
            <a:extLst>
              <a:ext uri="{FF2B5EF4-FFF2-40B4-BE49-F238E27FC236}">
                <a16:creationId xmlns:a16="http://schemas.microsoft.com/office/drawing/2014/main" id="{9DE019B6-A217-0143-B8FA-0B2C1B1201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06128-65B3-8C4A-8099-E0934AABF37A}"/>
              </a:ext>
            </a:extLst>
          </p:cNvPr>
          <p:cNvSpPr>
            <a:spLocks noGrp="1"/>
          </p:cNvSpPr>
          <p:nvPr>
            <p:ph type="sldNum" sz="quarter" idx="12"/>
          </p:nvPr>
        </p:nvSpPr>
        <p:spPr/>
        <p:txBody>
          <a:bodyPr/>
          <a:lstStyle/>
          <a:p>
            <a:fld id="{3EC8FF26-FA7B-A24F-AA4B-10374C33A424}" type="slidenum">
              <a:rPr lang="en-US" smtClean="0"/>
              <a:t>‹#›</a:t>
            </a:fld>
            <a:endParaRPr lang="en-US"/>
          </a:p>
        </p:txBody>
      </p:sp>
    </p:spTree>
    <p:extLst>
      <p:ext uri="{BB962C8B-B14F-4D97-AF65-F5344CB8AC3E}">
        <p14:creationId xmlns:p14="http://schemas.microsoft.com/office/powerpoint/2010/main" val="3107209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46509E-086F-8041-97D4-9918D8DD7F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A4D1CA-8746-DD41-823A-E5D5D5CB42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DFDA45-8FFD-AE4C-8152-2C7678AB7F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FCA685-19B4-9A4C-825C-8758D5A7DFE1}" type="datetimeFigureOut">
              <a:rPr lang="en-US" smtClean="0"/>
              <a:t>1/8/20</a:t>
            </a:fld>
            <a:endParaRPr lang="en-US"/>
          </a:p>
        </p:txBody>
      </p:sp>
      <p:sp>
        <p:nvSpPr>
          <p:cNvPr id="5" name="Footer Placeholder 4">
            <a:extLst>
              <a:ext uri="{FF2B5EF4-FFF2-40B4-BE49-F238E27FC236}">
                <a16:creationId xmlns:a16="http://schemas.microsoft.com/office/drawing/2014/main" id="{6C191622-711B-4646-A54F-BEFF61F024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BEA111-369D-3048-A651-A184ABBBA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C8FF26-FA7B-A24F-AA4B-10374C33A424}" type="slidenum">
              <a:rPr lang="en-US" smtClean="0"/>
              <a:t>‹#›</a:t>
            </a:fld>
            <a:endParaRPr lang="en-US"/>
          </a:p>
        </p:txBody>
      </p:sp>
      <p:pic>
        <p:nvPicPr>
          <p:cNvPr id="7" name="Picture 6">
            <a:extLst>
              <a:ext uri="{FF2B5EF4-FFF2-40B4-BE49-F238E27FC236}">
                <a16:creationId xmlns:a16="http://schemas.microsoft.com/office/drawing/2014/main" id="{BF7DF450-2A3E-9E4B-8F8C-1EB676904815}"/>
              </a:ext>
            </a:extLst>
          </p:cNvPr>
          <p:cNvPicPr>
            <a:picLocks noChangeAspect="1"/>
          </p:cNvPicPr>
          <p:nvPr userDrawn="1"/>
        </p:nvPicPr>
        <p:blipFill>
          <a:blip r:embed="rId13"/>
          <a:stretch>
            <a:fillRect/>
          </a:stretch>
        </p:blipFill>
        <p:spPr>
          <a:xfrm>
            <a:off x="7562272" y="80167"/>
            <a:ext cx="3009900" cy="635000"/>
          </a:xfrm>
          <a:prstGeom prst="rect">
            <a:avLst/>
          </a:prstGeom>
        </p:spPr>
      </p:pic>
      <p:pic>
        <p:nvPicPr>
          <p:cNvPr id="8" name="Picture 7">
            <a:extLst>
              <a:ext uri="{FF2B5EF4-FFF2-40B4-BE49-F238E27FC236}">
                <a16:creationId xmlns:a16="http://schemas.microsoft.com/office/drawing/2014/main" id="{9B4C3FAE-4D0D-BF44-A992-FBEE34109F6E}"/>
              </a:ext>
            </a:extLst>
          </p:cNvPr>
          <p:cNvPicPr>
            <a:picLocks noChangeAspect="1"/>
          </p:cNvPicPr>
          <p:nvPr userDrawn="1"/>
        </p:nvPicPr>
        <p:blipFill>
          <a:blip r:embed="rId1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652600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tiff"/></Relationships>
</file>

<file path=ppt/slides/_rels/slide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F2374-B174-F34F-8AFF-FE883381322E}"/>
              </a:ext>
            </a:extLst>
          </p:cNvPr>
          <p:cNvSpPr>
            <a:spLocks noGrp="1"/>
          </p:cNvSpPr>
          <p:nvPr>
            <p:ph type="ctrTitle"/>
          </p:nvPr>
        </p:nvSpPr>
        <p:spPr/>
        <p:txBody>
          <a:bodyPr>
            <a:normAutofit/>
          </a:bodyPr>
          <a:lstStyle/>
          <a:p>
            <a:r>
              <a:rPr lang="en-GB" dirty="0"/>
              <a:t>Introductory Computer Networking and IT Security </a:t>
            </a:r>
            <a:endParaRPr lang="en-US" dirty="0"/>
          </a:p>
        </p:txBody>
      </p:sp>
      <p:sp>
        <p:nvSpPr>
          <p:cNvPr id="3" name="Subtitle 2">
            <a:extLst>
              <a:ext uri="{FF2B5EF4-FFF2-40B4-BE49-F238E27FC236}">
                <a16:creationId xmlns:a16="http://schemas.microsoft.com/office/drawing/2014/main" id="{0F0BA501-51A5-C948-B97B-2246F8216B5F}"/>
              </a:ext>
            </a:extLst>
          </p:cNvPr>
          <p:cNvSpPr>
            <a:spLocks noGrp="1"/>
          </p:cNvSpPr>
          <p:nvPr>
            <p:ph type="subTitle" idx="1"/>
          </p:nvPr>
        </p:nvSpPr>
        <p:spPr>
          <a:xfrm>
            <a:off x="1524000" y="3987798"/>
            <a:ext cx="9144000" cy="1270001"/>
          </a:xfrm>
        </p:spPr>
        <p:txBody>
          <a:bodyPr/>
          <a:lstStyle/>
          <a:p>
            <a:r>
              <a:rPr lang="en-US" dirty="0"/>
              <a:t>Week 11</a:t>
            </a:r>
          </a:p>
          <a:p>
            <a:endParaRPr lang="en-US" dirty="0"/>
          </a:p>
        </p:txBody>
      </p:sp>
      <p:pic>
        <p:nvPicPr>
          <p:cNvPr id="4" name="Picture 3">
            <a:extLst>
              <a:ext uri="{FF2B5EF4-FFF2-40B4-BE49-F238E27FC236}">
                <a16:creationId xmlns:a16="http://schemas.microsoft.com/office/drawing/2014/main" id="{D9566B64-800D-7343-9B97-B4BCEFCA1F0E}"/>
              </a:ext>
            </a:extLst>
          </p:cNvPr>
          <p:cNvPicPr>
            <a:picLocks noChangeAspect="1"/>
          </p:cNvPicPr>
          <p:nvPr/>
        </p:nvPicPr>
        <p:blipFill>
          <a:blip r:embed="rId2"/>
          <a:stretch>
            <a:fillRect/>
          </a:stretch>
        </p:blipFill>
        <p:spPr>
          <a:xfrm>
            <a:off x="7562272" y="80167"/>
            <a:ext cx="3009900" cy="635000"/>
          </a:xfrm>
          <a:prstGeom prst="rect">
            <a:avLst/>
          </a:prstGeom>
        </p:spPr>
      </p:pic>
      <p:pic>
        <p:nvPicPr>
          <p:cNvPr id="6" name="Picture 5">
            <a:extLst>
              <a:ext uri="{FF2B5EF4-FFF2-40B4-BE49-F238E27FC236}">
                <a16:creationId xmlns:a16="http://schemas.microsoft.com/office/drawing/2014/main" id="{C2886331-9860-4848-AB00-F89CA48B935F}"/>
              </a:ext>
            </a:extLst>
          </p:cNvPr>
          <p:cNvPicPr>
            <a:picLocks noChangeAspect="1"/>
          </p:cNvPicPr>
          <p:nvPr/>
        </p:nvPicPr>
        <p:blipFill>
          <a:blip r:embed="rId3"/>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977566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Agenda</a:t>
            </a:r>
          </a:p>
        </p:txBody>
      </p:sp>
      <p:sp>
        <p:nvSpPr>
          <p:cNvPr id="3" name="Content Placeholder 2"/>
          <p:cNvSpPr>
            <a:spLocks noGrp="1"/>
          </p:cNvSpPr>
          <p:nvPr>
            <p:ph idx="1"/>
          </p:nvPr>
        </p:nvSpPr>
        <p:spPr/>
        <p:txBody>
          <a:bodyPr>
            <a:normAutofit/>
          </a:bodyPr>
          <a:lstStyle/>
          <a:p>
            <a:pPr lvl="0"/>
            <a:r>
              <a:rPr lang="en-GB" dirty="0"/>
              <a:t>Introductions to security policies and standards</a:t>
            </a:r>
            <a:endParaRPr lang="en-US" dirty="0"/>
          </a:p>
          <a:p>
            <a:r>
              <a:rPr lang="en-GB" dirty="0"/>
              <a:t>Enterprise information security policy</a:t>
            </a:r>
          </a:p>
          <a:p>
            <a:r>
              <a:rPr lang="en-GB" dirty="0"/>
              <a:t>Issue-specific security policy</a:t>
            </a:r>
          </a:p>
          <a:p>
            <a:r>
              <a:rPr lang="en-GB" dirty="0"/>
              <a:t>System-specific policy </a:t>
            </a:r>
          </a:p>
          <a:p>
            <a:r>
              <a:rPr lang="en-US" dirty="0"/>
              <a:t>Frameworks and Industry Standards </a:t>
            </a:r>
          </a:p>
          <a:p>
            <a:pPr marL="0" indent="0">
              <a:buNone/>
            </a:pPr>
            <a:endParaRPr lang="en-US" dirty="0"/>
          </a:p>
          <a:p>
            <a:pPr marL="0" indent="0">
              <a:buNone/>
            </a:pPr>
            <a:endParaRPr lang="en-GB" dirty="0"/>
          </a:p>
        </p:txBody>
      </p:sp>
      <p:pic>
        <p:nvPicPr>
          <p:cNvPr id="8" name="Picture 7">
            <a:extLst>
              <a:ext uri="{FF2B5EF4-FFF2-40B4-BE49-F238E27FC236}">
                <a16:creationId xmlns:a16="http://schemas.microsoft.com/office/drawing/2014/main" id="{DF787604-B1EE-F446-916E-EC4791F800CB}"/>
              </a:ext>
            </a:extLst>
          </p:cNvPr>
          <p:cNvPicPr>
            <a:picLocks noChangeAspect="1"/>
          </p:cNvPicPr>
          <p:nvPr/>
        </p:nvPicPr>
        <p:blipFill>
          <a:blip r:embed="rId2"/>
          <a:stretch>
            <a:fillRect/>
          </a:stretch>
        </p:blipFill>
        <p:spPr>
          <a:xfrm>
            <a:off x="7562272" y="80167"/>
            <a:ext cx="3009900" cy="635000"/>
          </a:xfrm>
          <a:prstGeom prst="rect">
            <a:avLst/>
          </a:prstGeom>
        </p:spPr>
      </p:pic>
      <p:pic>
        <p:nvPicPr>
          <p:cNvPr id="9" name="Picture 8">
            <a:extLst>
              <a:ext uri="{FF2B5EF4-FFF2-40B4-BE49-F238E27FC236}">
                <a16:creationId xmlns:a16="http://schemas.microsoft.com/office/drawing/2014/main" id="{076D4FB9-3B2E-7A4E-A6C5-6FB0536CEC47}"/>
              </a:ext>
            </a:extLst>
          </p:cNvPr>
          <p:cNvPicPr>
            <a:picLocks noChangeAspect="1"/>
          </p:cNvPicPr>
          <p:nvPr/>
        </p:nvPicPr>
        <p:blipFill>
          <a:blip r:embed="rId3"/>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931529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Security policies and standards</a:t>
            </a:r>
          </a:p>
        </p:txBody>
      </p:sp>
      <p:sp>
        <p:nvSpPr>
          <p:cNvPr id="3" name="Content Placeholder 2"/>
          <p:cNvSpPr>
            <a:spLocks noGrp="1"/>
          </p:cNvSpPr>
          <p:nvPr>
            <p:ph idx="1"/>
          </p:nvPr>
        </p:nvSpPr>
        <p:spPr>
          <a:xfrm>
            <a:off x="838199" y="1825625"/>
            <a:ext cx="10949609" cy="4952208"/>
          </a:xfrm>
        </p:spPr>
        <p:txBody>
          <a:bodyPr>
            <a:normAutofit/>
          </a:bodyPr>
          <a:lstStyle/>
          <a:p>
            <a:pPr lvl="1" algn="just"/>
            <a:r>
              <a:rPr lang="en-US" dirty="0"/>
              <a:t>Policy is the essential foundation of an effective information security program. “The success of an information resources protection program depends on the policy generated, and on the attitude of management toward securing information on automated systems.</a:t>
            </a:r>
          </a:p>
          <a:p>
            <a:pPr lvl="1" algn="just"/>
            <a:r>
              <a:rPr lang="en-US" dirty="0"/>
              <a:t>You, the policy maker, set the tone and the emphasis on how important a role information security will have within your agency.</a:t>
            </a:r>
          </a:p>
          <a:p>
            <a:pPr lvl="1" algn="just"/>
            <a:r>
              <a:rPr lang="en-US" dirty="0"/>
              <a:t>Your primary responsibility is to set the information resource security policy for the organization with the objectives of reduced risk, compliance with laws and regulations and assurance of operational continuity, information integrity, and confidentiality.”</a:t>
            </a:r>
          </a:p>
        </p:txBody>
      </p:sp>
      <p:pic>
        <p:nvPicPr>
          <p:cNvPr id="4" name="Picture 3">
            <a:extLst>
              <a:ext uri="{FF2B5EF4-FFF2-40B4-BE49-F238E27FC236}">
                <a16:creationId xmlns:a16="http://schemas.microsoft.com/office/drawing/2014/main" id="{15716AF8-4631-794B-A843-A6FBB9F5938A}"/>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8BE07295-A5FC-C647-8319-80B60663EA70}"/>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311657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Security policies and standards</a:t>
            </a:r>
          </a:p>
        </p:txBody>
      </p:sp>
      <p:sp>
        <p:nvSpPr>
          <p:cNvPr id="3" name="Content Placeholder 2"/>
          <p:cNvSpPr>
            <a:spLocks noGrp="1"/>
          </p:cNvSpPr>
          <p:nvPr>
            <p:ph idx="1"/>
          </p:nvPr>
        </p:nvSpPr>
        <p:spPr/>
        <p:txBody>
          <a:bodyPr>
            <a:normAutofit/>
          </a:bodyPr>
          <a:lstStyle/>
          <a:p>
            <a:r>
              <a:rPr lang="en-US" sz="2100" dirty="0"/>
              <a:t>Why security policy ?</a:t>
            </a:r>
          </a:p>
          <a:p>
            <a:pPr lvl="1"/>
            <a:r>
              <a:rPr lang="en-US" dirty="0"/>
              <a:t>A quality </a:t>
            </a:r>
            <a:r>
              <a:rPr lang="en-US" i="1" dirty="0"/>
              <a:t>information security program </a:t>
            </a:r>
            <a:r>
              <a:rPr lang="en-US" dirty="0"/>
              <a:t>begins and ends with policy. </a:t>
            </a:r>
          </a:p>
          <a:p>
            <a:pPr lvl="1"/>
            <a:r>
              <a:rPr lang="en-US" dirty="0"/>
              <a:t>Policies are the least </a:t>
            </a:r>
            <a:r>
              <a:rPr lang="en-US" sz="1900" dirty="0"/>
              <a:t>expensive</a:t>
            </a:r>
            <a:r>
              <a:rPr lang="en-US" dirty="0"/>
              <a:t> means of control and often the most difficult to implement. </a:t>
            </a:r>
          </a:p>
          <a:p>
            <a:pPr lvl="1"/>
            <a:r>
              <a:rPr lang="en-US" dirty="0"/>
              <a:t>Some basic rules must be followed when shaping a policy: </a:t>
            </a:r>
          </a:p>
          <a:p>
            <a:pPr lvl="2"/>
            <a:r>
              <a:rPr lang="en-US" dirty="0"/>
              <a:t>Never conflict with law. </a:t>
            </a:r>
          </a:p>
          <a:p>
            <a:pPr lvl="2"/>
            <a:r>
              <a:rPr lang="en-US" dirty="0"/>
              <a:t>Stand up in court. </a:t>
            </a:r>
          </a:p>
          <a:p>
            <a:pPr lvl="2"/>
            <a:r>
              <a:rPr lang="en-US" dirty="0"/>
              <a:t>Properly supported and administered. </a:t>
            </a:r>
          </a:p>
          <a:p>
            <a:pPr lvl="2"/>
            <a:r>
              <a:rPr lang="en-US" dirty="0"/>
              <a:t>Contribute to the success of the organization. </a:t>
            </a:r>
          </a:p>
          <a:p>
            <a:pPr lvl="2"/>
            <a:r>
              <a:rPr lang="en-US" dirty="0"/>
              <a:t>Involve end users of information systems. </a:t>
            </a:r>
          </a:p>
        </p:txBody>
      </p:sp>
      <p:pic>
        <p:nvPicPr>
          <p:cNvPr id="4" name="Picture 3">
            <a:extLst>
              <a:ext uri="{FF2B5EF4-FFF2-40B4-BE49-F238E27FC236}">
                <a16:creationId xmlns:a16="http://schemas.microsoft.com/office/drawing/2014/main" id="{41D697B4-ADCB-B44E-8F74-CBA6BEE735D5}"/>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5F50A3AD-C931-E745-841F-C88740C49321}"/>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852919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Security policies and standards</a:t>
            </a:r>
          </a:p>
        </p:txBody>
      </p:sp>
      <p:sp>
        <p:nvSpPr>
          <p:cNvPr id="3" name="Content Placeholder 2"/>
          <p:cNvSpPr>
            <a:spLocks noGrp="1"/>
          </p:cNvSpPr>
          <p:nvPr>
            <p:ph idx="1"/>
          </p:nvPr>
        </p:nvSpPr>
        <p:spPr/>
        <p:txBody>
          <a:bodyPr>
            <a:normAutofit/>
          </a:bodyPr>
          <a:lstStyle/>
          <a:p>
            <a:r>
              <a:rPr lang="en-US" sz="2100" dirty="0"/>
              <a:t>The Bull’s eye model </a:t>
            </a:r>
          </a:p>
          <a:p>
            <a:pPr lvl="1"/>
            <a:endParaRPr lang="en-US" sz="1900" dirty="0"/>
          </a:p>
        </p:txBody>
      </p:sp>
      <p:pic>
        <p:nvPicPr>
          <p:cNvPr id="4" name="Picture 3" descr="Bulls ey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4173" y="1975646"/>
            <a:ext cx="4431652" cy="3825272"/>
          </a:xfrm>
          <a:prstGeom prst="rect">
            <a:avLst/>
          </a:prstGeom>
        </p:spPr>
      </p:pic>
      <p:pic>
        <p:nvPicPr>
          <p:cNvPr id="5" name="Picture 4">
            <a:extLst>
              <a:ext uri="{FF2B5EF4-FFF2-40B4-BE49-F238E27FC236}">
                <a16:creationId xmlns:a16="http://schemas.microsoft.com/office/drawing/2014/main" id="{04663003-D057-F24B-8EBD-7C5E7B34F91A}"/>
              </a:ext>
            </a:extLst>
          </p:cNvPr>
          <p:cNvPicPr>
            <a:picLocks noChangeAspect="1"/>
          </p:cNvPicPr>
          <p:nvPr/>
        </p:nvPicPr>
        <p:blipFill>
          <a:blip r:embed="rId4"/>
          <a:stretch>
            <a:fillRect/>
          </a:stretch>
        </p:blipFill>
        <p:spPr>
          <a:xfrm>
            <a:off x="7562272" y="80167"/>
            <a:ext cx="3009900" cy="635000"/>
          </a:xfrm>
          <a:prstGeom prst="rect">
            <a:avLst/>
          </a:prstGeom>
        </p:spPr>
      </p:pic>
      <p:pic>
        <p:nvPicPr>
          <p:cNvPr id="6" name="Picture 5">
            <a:extLst>
              <a:ext uri="{FF2B5EF4-FFF2-40B4-BE49-F238E27FC236}">
                <a16:creationId xmlns:a16="http://schemas.microsoft.com/office/drawing/2014/main" id="{BBC7C257-744F-EB4A-B8D6-EDF60F0D5467}"/>
              </a:ext>
            </a:extLst>
          </p:cNvPr>
          <p:cNvPicPr>
            <a:picLocks noChangeAspect="1"/>
          </p:cNvPicPr>
          <p:nvPr/>
        </p:nvPicPr>
        <p:blipFill>
          <a:blip r:embed="rId5"/>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826024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Security policies and standards</a:t>
            </a:r>
          </a:p>
        </p:txBody>
      </p:sp>
      <p:sp>
        <p:nvSpPr>
          <p:cNvPr id="3" name="Content Placeholder 2"/>
          <p:cNvSpPr>
            <a:spLocks noGrp="1"/>
          </p:cNvSpPr>
          <p:nvPr>
            <p:ph idx="1"/>
          </p:nvPr>
        </p:nvSpPr>
        <p:spPr>
          <a:xfrm>
            <a:off x="838200" y="1690688"/>
            <a:ext cx="10641496" cy="4486275"/>
          </a:xfrm>
        </p:spPr>
        <p:txBody>
          <a:bodyPr>
            <a:normAutofit/>
          </a:bodyPr>
          <a:lstStyle/>
          <a:p>
            <a:r>
              <a:rPr lang="tr-TR" dirty="0" err="1"/>
              <a:t>Bulls-eye</a:t>
            </a:r>
            <a:r>
              <a:rPr lang="tr-TR" dirty="0"/>
              <a:t> model </a:t>
            </a:r>
            <a:r>
              <a:rPr lang="tr-TR" dirty="0" err="1"/>
              <a:t>layers</a:t>
            </a:r>
            <a:r>
              <a:rPr lang="tr-TR" dirty="0"/>
              <a:t> </a:t>
            </a:r>
          </a:p>
          <a:p>
            <a:pPr lvl="1"/>
            <a:r>
              <a:rPr lang="en-US" dirty="0"/>
              <a:t>Policies — first layer of defense </a:t>
            </a:r>
          </a:p>
          <a:p>
            <a:pPr lvl="1"/>
            <a:r>
              <a:rPr lang="en-US" dirty="0"/>
              <a:t>Networks — threats first meet the organization’s network. </a:t>
            </a:r>
          </a:p>
          <a:p>
            <a:pPr lvl="1"/>
            <a:r>
              <a:rPr lang="en-US" dirty="0"/>
              <a:t>Systems — computers and manufacturing systems </a:t>
            </a:r>
          </a:p>
          <a:p>
            <a:pPr lvl="1"/>
            <a:r>
              <a:rPr lang="en-US" dirty="0"/>
              <a:t>Applications — all applications systems </a:t>
            </a:r>
          </a:p>
          <a:p>
            <a:pPr marL="457200" lvl="1" indent="0">
              <a:buNone/>
            </a:pPr>
            <a:endParaRPr lang="en-US" dirty="0"/>
          </a:p>
          <a:p>
            <a:pPr algn="just"/>
            <a:r>
              <a:rPr lang="en-US" dirty="0"/>
              <a:t>Policies are important reference documents for internal audits and for the resolution of legal disputes about management's due diligence, and policy documents can act as a clear statement of management's intent. </a:t>
            </a:r>
          </a:p>
          <a:p>
            <a:endParaRPr lang="en-US" sz="2100" dirty="0"/>
          </a:p>
          <a:p>
            <a:pPr lvl="1"/>
            <a:endParaRPr lang="en-US" sz="1900" dirty="0"/>
          </a:p>
        </p:txBody>
      </p:sp>
      <p:pic>
        <p:nvPicPr>
          <p:cNvPr id="4" name="Picture 3">
            <a:extLst>
              <a:ext uri="{FF2B5EF4-FFF2-40B4-BE49-F238E27FC236}">
                <a16:creationId xmlns:a16="http://schemas.microsoft.com/office/drawing/2014/main" id="{B1AE452C-B63F-6949-9BDD-0C63613E1CF6}"/>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BD5C9F09-3D57-EC49-8672-B6FEB2C5C5C8}"/>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336954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Policy, Standards, and Practices </a:t>
            </a:r>
          </a:p>
        </p:txBody>
      </p:sp>
      <p:sp>
        <p:nvSpPr>
          <p:cNvPr id="3" name="Content Placeholder 2"/>
          <p:cNvSpPr>
            <a:spLocks noGrp="1"/>
          </p:cNvSpPr>
          <p:nvPr>
            <p:ph idx="1"/>
          </p:nvPr>
        </p:nvSpPr>
        <p:spPr>
          <a:xfrm>
            <a:off x="685800" y="1600199"/>
            <a:ext cx="11320671" cy="5177633"/>
          </a:xfrm>
        </p:spPr>
        <p:txBody>
          <a:bodyPr>
            <a:normAutofit/>
          </a:bodyPr>
          <a:lstStyle/>
          <a:p>
            <a:pPr lvl="1"/>
            <a:r>
              <a:rPr lang="en-US" dirty="0"/>
              <a:t>Policy is a plan or course of action that influences and determine decisions. </a:t>
            </a:r>
          </a:p>
          <a:p>
            <a:pPr marL="228600" lvl="1" indent="0">
              <a:buNone/>
            </a:pPr>
            <a:r>
              <a:rPr lang="en-US" dirty="0">
                <a:solidFill>
                  <a:srgbClr val="FF0000"/>
                </a:solidFill>
              </a:rPr>
              <a:t>  </a:t>
            </a:r>
            <a:r>
              <a:rPr lang="en-US" dirty="0"/>
              <a:t>-</a:t>
            </a:r>
            <a:r>
              <a:rPr lang="en-US" dirty="0" err="1"/>
              <a:t>Eg.</a:t>
            </a:r>
            <a:r>
              <a:rPr lang="en-US" dirty="0"/>
              <a:t> All email communication must be strongly encrypted</a:t>
            </a:r>
          </a:p>
          <a:p>
            <a:pPr marL="228600" lvl="1" indent="0">
              <a:buNone/>
            </a:pPr>
            <a:endParaRPr lang="en-US" dirty="0"/>
          </a:p>
          <a:p>
            <a:pPr marL="571500" lvl="1" indent="-342900"/>
            <a:r>
              <a:rPr lang="en-US" dirty="0"/>
              <a:t>Standards are a more detailed statement of what must be done to comply(act accordingly) with Policy Practices. </a:t>
            </a:r>
          </a:p>
          <a:p>
            <a:pPr marL="228600" lvl="1" indent="0">
              <a:buNone/>
            </a:pPr>
            <a:r>
              <a:rPr lang="en-US" dirty="0"/>
              <a:t>-</a:t>
            </a:r>
            <a:r>
              <a:rPr lang="en-US" dirty="0" err="1"/>
              <a:t>Eg.</a:t>
            </a:r>
            <a:r>
              <a:rPr lang="en-US" dirty="0"/>
              <a:t> Use an encryption that is not yet proven to be breakable in less than 30 minutes.</a:t>
            </a:r>
          </a:p>
          <a:p>
            <a:pPr marL="228600" lvl="1" indent="0">
              <a:buNone/>
            </a:pPr>
            <a:endParaRPr lang="en-US" dirty="0"/>
          </a:p>
          <a:p>
            <a:pPr marL="571500" lvl="1" indent="-342900"/>
            <a:r>
              <a:rPr lang="en-US" dirty="0"/>
              <a:t>Procedures and Guidelines explain how employees will comply with policy. </a:t>
            </a:r>
          </a:p>
          <a:p>
            <a:pPr marL="228600" lvl="1" indent="0">
              <a:buNone/>
            </a:pPr>
            <a:r>
              <a:rPr lang="en-US" dirty="0"/>
              <a:t>   -</a:t>
            </a:r>
            <a:r>
              <a:rPr lang="en-US" dirty="0" err="1"/>
              <a:t>Eg.</a:t>
            </a:r>
            <a:r>
              <a:rPr lang="en-US" dirty="0"/>
              <a:t> Provide </a:t>
            </a:r>
            <a:r>
              <a:rPr lang="en-US" dirty="0" err="1"/>
              <a:t>WiFi</a:t>
            </a:r>
            <a:r>
              <a:rPr lang="en-US" dirty="0"/>
              <a:t> router with AES Encryption connected to a manageable switch.</a:t>
            </a:r>
          </a:p>
          <a:p>
            <a:pPr marL="228600" lvl="1" indent="0">
              <a:buNone/>
            </a:pPr>
            <a:endParaRPr lang="en-US" dirty="0"/>
          </a:p>
          <a:p>
            <a:pPr marL="228600" lvl="1" indent="0">
              <a:buNone/>
            </a:pPr>
            <a:r>
              <a:rPr lang="en-US" dirty="0"/>
              <a:t>For policies to be effective, they must be: </a:t>
            </a:r>
          </a:p>
          <a:p>
            <a:pPr lvl="2"/>
            <a:r>
              <a:rPr lang="en-US" dirty="0"/>
              <a:t>Properly disseminated, read, understood, and agreed-to </a:t>
            </a:r>
          </a:p>
          <a:p>
            <a:pPr lvl="2"/>
            <a:r>
              <a:rPr lang="en-US" dirty="0"/>
              <a:t>Policies require constant modification and maintenance. </a:t>
            </a:r>
          </a:p>
          <a:p>
            <a:pPr lvl="2"/>
            <a:endParaRPr lang="en-US" dirty="0"/>
          </a:p>
          <a:p>
            <a:endParaRPr lang="en-US" sz="2100" dirty="0"/>
          </a:p>
          <a:p>
            <a:pPr lvl="1"/>
            <a:endParaRPr lang="en-US" sz="1900" dirty="0"/>
          </a:p>
        </p:txBody>
      </p:sp>
      <p:pic>
        <p:nvPicPr>
          <p:cNvPr id="4" name="Picture 3">
            <a:extLst>
              <a:ext uri="{FF2B5EF4-FFF2-40B4-BE49-F238E27FC236}">
                <a16:creationId xmlns:a16="http://schemas.microsoft.com/office/drawing/2014/main" id="{83C345E7-11A3-0842-95AA-A90E10BEA9CD}"/>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C17067B9-9401-FA42-8CFF-06094BEF30B4}"/>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59946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Types of Security Policies </a:t>
            </a:r>
          </a:p>
        </p:txBody>
      </p:sp>
      <p:sp>
        <p:nvSpPr>
          <p:cNvPr id="3" name="Content Placeholder 2"/>
          <p:cNvSpPr>
            <a:spLocks noGrp="1"/>
          </p:cNvSpPr>
          <p:nvPr>
            <p:ph idx="1"/>
          </p:nvPr>
        </p:nvSpPr>
        <p:spPr>
          <a:xfrm>
            <a:off x="944217" y="1779104"/>
            <a:ext cx="10167731" cy="4713770"/>
          </a:xfrm>
        </p:spPr>
        <p:txBody>
          <a:bodyPr>
            <a:normAutofit/>
          </a:bodyPr>
          <a:lstStyle/>
          <a:p>
            <a:endParaRPr lang="en-US" sz="900" dirty="0">
              <a:solidFill>
                <a:srgbClr val="000000"/>
              </a:solidFill>
              <a:latin typeface="Trebuchet MS"/>
            </a:endParaRPr>
          </a:p>
          <a:p>
            <a:pPr marL="0" indent="0">
              <a:buNone/>
            </a:pPr>
            <a:endParaRPr lang="en-US" dirty="0"/>
          </a:p>
          <a:p>
            <a:pPr lvl="1"/>
            <a:r>
              <a:rPr lang="en-US" dirty="0"/>
              <a:t>Enterprise Information Security Policy </a:t>
            </a:r>
          </a:p>
          <a:p>
            <a:pPr lvl="1"/>
            <a:endParaRPr lang="en-US" dirty="0"/>
          </a:p>
          <a:p>
            <a:pPr lvl="1"/>
            <a:r>
              <a:rPr lang="en-US" dirty="0"/>
              <a:t>Issue-Specific Information Security Policies </a:t>
            </a:r>
          </a:p>
          <a:p>
            <a:pPr lvl="1"/>
            <a:endParaRPr lang="en-US" dirty="0"/>
          </a:p>
          <a:p>
            <a:pPr lvl="1"/>
            <a:r>
              <a:rPr lang="en-US" dirty="0"/>
              <a:t>Systems-Specific Information Security Policies </a:t>
            </a:r>
          </a:p>
          <a:p>
            <a:pPr marL="0" indent="0">
              <a:buNone/>
            </a:pPr>
            <a:endParaRPr lang="en-US" sz="2100" dirty="0"/>
          </a:p>
          <a:p>
            <a:pPr lvl="1"/>
            <a:endParaRPr lang="en-US" sz="1900" dirty="0"/>
          </a:p>
        </p:txBody>
      </p:sp>
      <p:pic>
        <p:nvPicPr>
          <p:cNvPr id="4" name="Picture 3">
            <a:extLst>
              <a:ext uri="{FF2B5EF4-FFF2-40B4-BE49-F238E27FC236}">
                <a16:creationId xmlns:a16="http://schemas.microsoft.com/office/drawing/2014/main" id="{DAFAAEBD-8AA1-FC46-B587-1B5BB599FECB}"/>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A71430DE-B059-B041-B7BD-30D80C1A13BF}"/>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615760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Enterprise Information Security Policy (EISP) </a:t>
            </a:r>
          </a:p>
        </p:txBody>
      </p:sp>
      <p:sp>
        <p:nvSpPr>
          <p:cNvPr id="3" name="Content Placeholder 2"/>
          <p:cNvSpPr>
            <a:spLocks noGrp="1"/>
          </p:cNvSpPr>
          <p:nvPr>
            <p:ph idx="1"/>
          </p:nvPr>
        </p:nvSpPr>
        <p:spPr>
          <a:xfrm>
            <a:off x="838200" y="1690688"/>
            <a:ext cx="11118573" cy="4802186"/>
          </a:xfrm>
        </p:spPr>
        <p:txBody>
          <a:bodyPr>
            <a:normAutofit/>
          </a:bodyPr>
          <a:lstStyle/>
          <a:p>
            <a:pPr marL="228600" lvl="1">
              <a:spcBef>
                <a:spcPts val="2000"/>
              </a:spcBef>
              <a:buClr>
                <a:srgbClr val="663366"/>
              </a:buClr>
            </a:pPr>
            <a:endParaRPr lang="en-US" dirty="0"/>
          </a:p>
          <a:p>
            <a:pPr lvl="1"/>
            <a:r>
              <a:rPr lang="en-US" dirty="0"/>
              <a:t>Sets strategic direction, scope, and tone for organization’s security efforts. </a:t>
            </a:r>
          </a:p>
          <a:p>
            <a:pPr lvl="1"/>
            <a:endParaRPr lang="en-US" dirty="0"/>
          </a:p>
          <a:p>
            <a:pPr lvl="1"/>
            <a:r>
              <a:rPr lang="en-US" dirty="0"/>
              <a:t>Assigns responsibilities for various areas of information security. </a:t>
            </a:r>
          </a:p>
          <a:p>
            <a:pPr lvl="1"/>
            <a:endParaRPr lang="en-US" dirty="0"/>
          </a:p>
          <a:p>
            <a:pPr lvl="1"/>
            <a:r>
              <a:rPr lang="en-US" dirty="0"/>
              <a:t>Guides development, implementation, and management requirements of information security program. </a:t>
            </a:r>
          </a:p>
          <a:p>
            <a:pPr lvl="2"/>
            <a:endParaRPr lang="en-US" dirty="0"/>
          </a:p>
          <a:p>
            <a:endParaRPr lang="en-US" sz="2100" dirty="0"/>
          </a:p>
          <a:p>
            <a:pPr lvl="1"/>
            <a:endParaRPr lang="en-US" sz="1900" dirty="0"/>
          </a:p>
        </p:txBody>
      </p:sp>
      <p:pic>
        <p:nvPicPr>
          <p:cNvPr id="4" name="Picture 3">
            <a:extLst>
              <a:ext uri="{FF2B5EF4-FFF2-40B4-BE49-F238E27FC236}">
                <a16:creationId xmlns:a16="http://schemas.microsoft.com/office/drawing/2014/main" id="{255AFDDC-B752-AE4E-B58C-BB2148DD402A}"/>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6D311685-A501-E746-9C19-DF4D9137C718}"/>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452632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Enterprise Information Security Policy (EISP) </a:t>
            </a:r>
          </a:p>
        </p:txBody>
      </p:sp>
      <p:sp>
        <p:nvSpPr>
          <p:cNvPr id="3" name="Content Placeholder 2"/>
          <p:cNvSpPr>
            <a:spLocks noGrp="1"/>
          </p:cNvSpPr>
          <p:nvPr>
            <p:ph idx="1"/>
          </p:nvPr>
        </p:nvSpPr>
        <p:spPr>
          <a:xfrm>
            <a:off x="974035" y="1975645"/>
            <a:ext cx="11217965" cy="4802187"/>
          </a:xfrm>
        </p:spPr>
        <p:txBody>
          <a:bodyPr>
            <a:normAutofit/>
          </a:bodyPr>
          <a:lstStyle/>
          <a:p>
            <a:pPr marL="457200" lvl="1" indent="0">
              <a:buNone/>
            </a:pPr>
            <a:r>
              <a:rPr lang="en-US" sz="3200" dirty="0"/>
              <a:t>EISP documents should provide : </a:t>
            </a:r>
          </a:p>
          <a:p>
            <a:pPr lvl="1"/>
            <a:endParaRPr lang="en-US" sz="3200" dirty="0"/>
          </a:p>
          <a:p>
            <a:pPr lvl="2"/>
            <a:r>
              <a:rPr lang="en-US" sz="2800" dirty="0"/>
              <a:t>An overview of the corporate philosophy on security </a:t>
            </a:r>
          </a:p>
          <a:p>
            <a:pPr lvl="2"/>
            <a:endParaRPr lang="en-US" sz="2800" dirty="0"/>
          </a:p>
          <a:p>
            <a:pPr lvl="2"/>
            <a:r>
              <a:rPr lang="en-US" sz="2800" dirty="0"/>
              <a:t>Information on the information security organization and information security roles </a:t>
            </a:r>
          </a:p>
          <a:p>
            <a:pPr lvl="2"/>
            <a:endParaRPr lang="en-US" sz="2800" dirty="0"/>
          </a:p>
          <a:p>
            <a:pPr lvl="3"/>
            <a:r>
              <a:rPr lang="en-US" sz="2400" dirty="0"/>
              <a:t>Responsibilities for security that are shared by all members of the organization </a:t>
            </a:r>
          </a:p>
          <a:p>
            <a:pPr lvl="3"/>
            <a:r>
              <a:rPr lang="en-US" sz="2400" dirty="0"/>
              <a:t>Responsibilities for security that are unique to each role within the organization </a:t>
            </a:r>
          </a:p>
          <a:p>
            <a:pPr lvl="2"/>
            <a:endParaRPr lang="en-US" sz="2800" dirty="0"/>
          </a:p>
          <a:p>
            <a:endParaRPr lang="en-US" dirty="0"/>
          </a:p>
          <a:p>
            <a:pPr lvl="1"/>
            <a:endParaRPr lang="en-US" dirty="0"/>
          </a:p>
        </p:txBody>
      </p:sp>
      <p:pic>
        <p:nvPicPr>
          <p:cNvPr id="4" name="Picture 3">
            <a:extLst>
              <a:ext uri="{FF2B5EF4-FFF2-40B4-BE49-F238E27FC236}">
                <a16:creationId xmlns:a16="http://schemas.microsoft.com/office/drawing/2014/main" id="{F6B979BA-1F9C-8C46-83BA-8BB5B9D2FBB0}"/>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47021603-385F-2743-B967-624E8EF0F1B0}"/>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455074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Enterprise Information Security Policy (EISP) </a:t>
            </a:r>
          </a:p>
        </p:txBody>
      </p:sp>
      <p:sp>
        <p:nvSpPr>
          <p:cNvPr id="3" name="Content Placeholder 2"/>
          <p:cNvSpPr>
            <a:spLocks noGrp="1"/>
          </p:cNvSpPr>
          <p:nvPr>
            <p:ph idx="1"/>
          </p:nvPr>
        </p:nvSpPr>
        <p:spPr>
          <a:xfrm>
            <a:off x="2022475" y="2028221"/>
            <a:ext cx="8016047" cy="4342761"/>
          </a:xfrm>
        </p:spPr>
        <p:txBody>
          <a:bodyPr>
            <a:normAutofit/>
          </a:bodyPr>
          <a:lstStyle/>
          <a:p>
            <a:pPr marL="228600" lvl="1">
              <a:spcBef>
                <a:spcPts val="2000"/>
              </a:spcBef>
              <a:buClr>
                <a:srgbClr val="663366"/>
              </a:buClr>
            </a:pPr>
            <a:endParaRPr lang="en-US" dirty="0"/>
          </a:p>
          <a:p>
            <a:pPr lvl="1"/>
            <a:r>
              <a:rPr lang="en-US" sz="3200" dirty="0"/>
              <a:t>EISP examples </a:t>
            </a:r>
          </a:p>
          <a:p>
            <a:pPr lvl="1"/>
            <a:endParaRPr lang="en-US" dirty="0">
              <a:latin typeface="Georgia"/>
            </a:endParaRPr>
          </a:p>
          <a:p>
            <a:pPr lvl="2"/>
            <a:r>
              <a:rPr lang="en-US" sz="2800" dirty="0"/>
              <a:t>Protection of Information</a:t>
            </a:r>
          </a:p>
          <a:p>
            <a:pPr lvl="2"/>
            <a:r>
              <a:rPr lang="en-US" sz="2800" dirty="0"/>
              <a:t>Use of information </a:t>
            </a:r>
          </a:p>
          <a:p>
            <a:pPr lvl="2"/>
            <a:r>
              <a:rPr lang="en-US" sz="2800" dirty="0"/>
              <a:t>Information handling </a:t>
            </a:r>
          </a:p>
          <a:p>
            <a:pPr lvl="2"/>
            <a:r>
              <a:rPr lang="en-US" sz="2800" dirty="0"/>
              <a:t>Violation of law</a:t>
            </a:r>
          </a:p>
          <a:p>
            <a:pPr lvl="2"/>
            <a:r>
              <a:rPr lang="en-US" sz="2800" dirty="0"/>
              <a:t>Exceptions to Policies</a:t>
            </a:r>
          </a:p>
          <a:p>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pic>
        <p:nvPicPr>
          <p:cNvPr id="4" name="Picture 3">
            <a:extLst>
              <a:ext uri="{FF2B5EF4-FFF2-40B4-BE49-F238E27FC236}">
                <a16:creationId xmlns:a16="http://schemas.microsoft.com/office/drawing/2014/main" id="{27DF2879-9072-E845-A6B9-0A8FD966827D}"/>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1A1CB996-2503-B64F-A95C-2A3EFCCE995F}"/>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725717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Issue-Specific Security Policy (ISSP) </a:t>
            </a:r>
          </a:p>
        </p:txBody>
      </p:sp>
      <p:sp>
        <p:nvSpPr>
          <p:cNvPr id="3" name="Content Placeholder 2"/>
          <p:cNvSpPr>
            <a:spLocks noGrp="1"/>
          </p:cNvSpPr>
          <p:nvPr>
            <p:ph idx="1"/>
          </p:nvPr>
        </p:nvSpPr>
        <p:spPr>
          <a:xfrm>
            <a:off x="1013791" y="1690688"/>
            <a:ext cx="10893287" cy="4968528"/>
          </a:xfrm>
        </p:spPr>
        <p:txBody>
          <a:bodyPr>
            <a:normAutofit/>
          </a:bodyPr>
          <a:lstStyle/>
          <a:p>
            <a:endParaRPr lang="en-US" dirty="0"/>
          </a:p>
          <a:p>
            <a:pPr lvl="1" algn="just"/>
            <a:r>
              <a:rPr lang="en-US" dirty="0"/>
              <a:t>Provides detailed, targeted guidance to instruct the organization in secure use of technology systems, and begins with introduction to fundamental technological philosophy of the organization.</a:t>
            </a:r>
          </a:p>
          <a:p>
            <a:pPr lvl="1" algn="just"/>
            <a:endParaRPr lang="en-US" dirty="0"/>
          </a:p>
          <a:p>
            <a:pPr lvl="1" algn="just"/>
            <a:r>
              <a:rPr lang="en-US" dirty="0"/>
              <a:t>Serves to protect employee and organization from inefficiency and ambiguity; documents how the technology-based system is controlled; and identifies the processes and authorities that provide this control.</a:t>
            </a:r>
          </a:p>
          <a:p>
            <a:pPr lvl="1" algn="just"/>
            <a:endParaRPr lang="en-US" dirty="0"/>
          </a:p>
          <a:p>
            <a:pPr lvl="1" algn="just"/>
            <a:r>
              <a:rPr lang="en-US" dirty="0"/>
              <a:t>Serves to indemnify(compensate (someone) for harm or loss.) the organization against liability for an employee’s inappropriate or illegal system use.</a:t>
            </a:r>
          </a:p>
          <a:p>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pic>
        <p:nvPicPr>
          <p:cNvPr id="4" name="Picture 3">
            <a:extLst>
              <a:ext uri="{FF2B5EF4-FFF2-40B4-BE49-F238E27FC236}">
                <a16:creationId xmlns:a16="http://schemas.microsoft.com/office/drawing/2014/main" id="{B7AE02DA-69A0-8B41-B0FA-245517BD92EC}"/>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39DBC30E-D878-5344-AC7A-BA3C089E9DD9}"/>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568127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Issue-Specific Security Policy (ISSP) </a:t>
            </a:r>
          </a:p>
        </p:txBody>
      </p:sp>
      <p:sp>
        <p:nvSpPr>
          <p:cNvPr id="3" name="Content Placeholder 2"/>
          <p:cNvSpPr>
            <a:spLocks noGrp="1"/>
          </p:cNvSpPr>
          <p:nvPr>
            <p:ph idx="1"/>
          </p:nvPr>
        </p:nvSpPr>
        <p:spPr>
          <a:xfrm>
            <a:off x="1073426" y="1690687"/>
            <a:ext cx="10515599" cy="5087145"/>
          </a:xfrm>
        </p:spPr>
        <p:txBody>
          <a:bodyPr>
            <a:normAutofit/>
          </a:bodyPr>
          <a:lstStyle/>
          <a:p>
            <a:r>
              <a:rPr lang="en-US" dirty="0"/>
              <a:t>ISSP topics could include: </a:t>
            </a:r>
          </a:p>
          <a:p>
            <a:endParaRPr lang="en-US" dirty="0"/>
          </a:p>
          <a:p>
            <a:pPr lvl="1"/>
            <a:r>
              <a:rPr lang="en-US" dirty="0"/>
              <a:t>Electronic mail </a:t>
            </a:r>
          </a:p>
          <a:p>
            <a:pPr lvl="1"/>
            <a:r>
              <a:rPr lang="en-US" dirty="0"/>
              <a:t>Use of the Internet and the World Wide Web </a:t>
            </a:r>
          </a:p>
          <a:p>
            <a:pPr lvl="1"/>
            <a:r>
              <a:rPr lang="en-US" dirty="0"/>
              <a:t>Specific minimum configurations of computers to defend against worms and viruses </a:t>
            </a:r>
          </a:p>
          <a:p>
            <a:pPr lvl="1"/>
            <a:r>
              <a:rPr lang="en-US" dirty="0"/>
              <a:t>Prohibitions against hacking or testing organization security controls </a:t>
            </a:r>
          </a:p>
          <a:p>
            <a:pPr lvl="1"/>
            <a:r>
              <a:rPr lang="en-US" dirty="0"/>
              <a:t>Home use of company-owned computer equipment </a:t>
            </a:r>
          </a:p>
          <a:p>
            <a:pPr lvl="1"/>
            <a:r>
              <a:rPr lang="en-US" dirty="0"/>
              <a:t>Use of personal equipment on company networks </a:t>
            </a:r>
          </a:p>
          <a:p>
            <a:pPr lvl="1"/>
            <a:r>
              <a:rPr lang="en-US" dirty="0"/>
              <a:t>Use of telecommunications technologies, and use of photocopy equipment </a:t>
            </a:r>
          </a:p>
          <a:p>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pic>
        <p:nvPicPr>
          <p:cNvPr id="4" name="Picture 3">
            <a:extLst>
              <a:ext uri="{FF2B5EF4-FFF2-40B4-BE49-F238E27FC236}">
                <a16:creationId xmlns:a16="http://schemas.microsoft.com/office/drawing/2014/main" id="{4AFE0058-65BC-5B4C-88DA-999C6C364915}"/>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56A21FB7-C05A-024E-ABAF-6CD9FEA1E40F}"/>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979500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the ISSP </a:t>
            </a:r>
          </a:p>
        </p:txBody>
      </p:sp>
      <p:sp>
        <p:nvSpPr>
          <p:cNvPr id="3" name="Content Placeholder 2"/>
          <p:cNvSpPr>
            <a:spLocks noGrp="1"/>
          </p:cNvSpPr>
          <p:nvPr>
            <p:ph idx="1"/>
          </p:nvPr>
        </p:nvSpPr>
        <p:spPr>
          <a:xfrm>
            <a:off x="964097" y="1975646"/>
            <a:ext cx="10624930" cy="4802186"/>
          </a:xfrm>
        </p:spPr>
        <p:txBody>
          <a:bodyPr>
            <a:normAutofit/>
          </a:bodyPr>
          <a:lstStyle/>
          <a:p>
            <a:pPr lvl="1"/>
            <a:r>
              <a:rPr lang="en-US" dirty="0"/>
              <a:t>Statement of Purpose </a:t>
            </a:r>
          </a:p>
          <a:p>
            <a:pPr lvl="1"/>
            <a:endParaRPr lang="en-US" dirty="0"/>
          </a:p>
          <a:p>
            <a:pPr lvl="2"/>
            <a:r>
              <a:rPr lang="en-US" dirty="0"/>
              <a:t>Scope and applicability </a:t>
            </a:r>
          </a:p>
          <a:p>
            <a:pPr lvl="2"/>
            <a:r>
              <a:rPr lang="en-US" dirty="0"/>
              <a:t>Definition of technology addressed </a:t>
            </a:r>
          </a:p>
          <a:p>
            <a:pPr lvl="2"/>
            <a:r>
              <a:rPr lang="en-US" dirty="0"/>
              <a:t>Responsibilities</a:t>
            </a:r>
          </a:p>
          <a:p>
            <a:pPr lvl="2"/>
            <a:endParaRPr lang="en-US" dirty="0"/>
          </a:p>
          <a:p>
            <a:pPr lvl="1"/>
            <a:r>
              <a:rPr lang="en-US" dirty="0"/>
              <a:t>Authorized Access and Usage of Equipment </a:t>
            </a:r>
          </a:p>
          <a:p>
            <a:pPr lvl="1"/>
            <a:endParaRPr lang="en-US" dirty="0"/>
          </a:p>
          <a:p>
            <a:pPr lvl="2"/>
            <a:r>
              <a:rPr lang="en-US" dirty="0"/>
              <a:t>User access </a:t>
            </a:r>
          </a:p>
          <a:p>
            <a:pPr lvl="2"/>
            <a:r>
              <a:rPr lang="en-US" dirty="0"/>
              <a:t>Fair and responsible use </a:t>
            </a:r>
          </a:p>
          <a:p>
            <a:pPr lvl="2"/>
            <a:r>
              <a:rPr lang="en-US" dirty="0"/>
              <a:t>Protection of privacy </a:t>
            </a:r>
          </a:p>
          <a:p>
            <a:pPr marL="228600" lvl="1" indent="0">
              <a:buNone/>
            </a:pPr>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pic>
        <p:nvPicPr>
          <p:cNvPr id="4" name="Picture 3">
            <a:extLst>
              <a:ext uri="{FF2B5EF4-FFF2-40B4-BE49-F238E27FC236}">
                <a16:creationId xmlns:a16="http://schemas.microsoft.com/office/drawing/2014/main" id="{484F039B-6FA7-C044-954D-2482631DA304}"/>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D511DD81-6858-9541-B3E6-E3E6A5331DEA}"/>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205937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the ISSP </a:t>
            </a:r>
          </a:p>
        </p:txBody>
      </p:sp>
      <p:sp>
        <p:nvSpPr>
          <p:cNvPr id="3" name="Content Placeholder 2"/>
          <p:cNvSpPr>
            <a:spLocks noGrp="1"/>
          </p:cNvSpPr>
          <p:nvPr>
            <p:ph idx="1"/>
          </p:nvPr>
        </p:nvSpPr>
        <p:spPr>
          <a:xfrm>
            <a:off x="1371601" y="1590261"/>
            <a:ext cx="10515600" cy="5187572"/>
          </a:xfrm>
        </p:spPr>
        <p:txBody>
          <a:bodyPr>
            <a:normAutofit/>
          </a:bodyPr>
          <a:lstStyle/>
          <a:p>
            <a:pPr lvl="1"/>
            <a:r>
              <a:rPr lang="en-US" dirty="0"/>
              <a:t>Prohibited Usage of Equipment </a:t>
            </a:r>
          </a:p>
          <a:p>
            <a:pPr lvl="2"/>
            <a:r>
              <a:rPr lang="en-US" dirty="0"/>
              <a:t>Disruptive use or misuse </a:t>
            </a:r>
          </a:p>
          <a:p>
            <a:pPr lvl="2"/>
            <a:r>
              <a:rPr lang="en-US" dirty="0"/>
              <a:t>Criminal use </a:t>
            </a:r>
          </a:p>
          <a:p>
            <a:pPr lvl="2"/>
            <a:r>
              <a:rPr lang="en-US" dirty="0"/>
              <a:t>Offensive or harassing materials </a:t>
            </a:r>
          </a:p>
          <a:p>
            <a:pPr lvl="2"/>
            <a:r>
              <a:rPr lang="en-US" dirty="0"/>
              <a:t>Copyrighted, licensed, or other intellectual property </a:t>
            </a:r>
          </a:p>
          <a:p>
            <a:pPr lvl="2"/>
            <a:r>
              <a:rPr lang="en-US" dirty="0"/>
              <a:t>Other restrictions </a:t>
            </a:r>
          </a:p>
          <a:p>
            <a:pPr marL="914400" lvl="2" indent="0">
              <a:buNone/>
            </a:pPr>
            <a:endParaRPr lang="en-US" dirty="0"/>
          </a:p>
          <a:p>
            <a:pPr lvl="1"/>
            <a:r>
              <a:rPr lang="en-US" dirty="0"/>
              <a:t>Systems Management </a:t>
            </a:r>
          </a:p>
          <a:p>
            <a:pPr lvl="2"/>
            <a:r>
              <a:rPr lang="en-US" dirty="0"/>
              <a:t>Management of stored materials </a:t>
            </a:r>
          </a:p>
          <a:p>
            <a:pPr lvl="2"/>
            <a:r>
              <a:rPr lang="en-US" dirty="0"/>
              <a:t>Employer monitoring </a:t>
            </a:r>
          </a:p>
          <a:p>
            <a:pPr lvl="2"/>
            <a:r>
              <a:rPr lang="en-US" dirty="0"/>
              <a:t>Virus protection </a:t>
            </a:r>
          </a:p>
          <a:p>
            <a:pPr lvl="2"/>
            <a:r>
              <a:rPr lang="en-US" dirty="0"/>
              <a:t>Physical security </a:t>
            </a:r>
          </a:p>
          <a:p>
            <a:pPr lvl="2"/>
            <a:r>
              <a:rPr lang="en-US" dirty="0"/>
              <a:t>Encryption </a:t>
            </a:r>
          </a:p>
          <a:p>
            <a:pPr lvl="2"/>
            <a:endParaRPr lang="en-US" dirty="0"/>
          </a:p>
          <a:p>
            <a:pPr marL="228600" lvl="1" indent="0">
              <a:buNone/>
            </a:pPr>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pic>
        <p:nvPicPr>
          <p:cNvPr id="4" name="Picture 3">
            <a:extLst>
              <a:ext uri="{FF2B5EF4-FFF2-40B4-BE49-F238E27FC236}">
                <a16:creationId xmlns:a16="http://schemas.microsoft.com/office/drawing/2014/main" id="{E47FF142-FF99-7645-84FA-CDC0329CB7C9}"/>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8CAAA0C9-E089-D746-A4B0-8AED592E52E1}"/>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150217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the ISSP </a:t>
            </a:r>
          </a:p>
        </p:txBody>
      </p:sp>
      <p:sp>
        <p:nvSpPr>
          <p:cNvPr id="3" name="Content Placeholder 2"/>
          <p:cNvSpPr>
            <a:spLocks noGrp="1"/>
          </p:cNvSpPr>
          <p:nvPr>
            <p:ph idx="1"/>
          </p:nvPr>
        </p:nvSpPr>
        <p:spPr>
          <a:xfrm>
            <a:off x="2022475" y="1350301"/>
            <a:ext cx="9874664" cy="5428185"/>
          </a:xfrm>
        </p:spPr>
        <p:txBody>
          <a:bodyPr>
            <a:normAutofit/>
          </a:bodyPr>
          <a:lstStyle/>
          <a:p>
            <a:pPr marL="0" indent="0">
              <a:buNone/>
            </a:pPr>
            <a:endParaRPr lang="en-US" dirty="0"/>
          </a:p>
          <a:p>
            <a:pPr lvl="1"/>
            <a:r>
              <a:rPr lang="en-US" dirty="0"/>
              <a:t>Violations of policy </a:t>
            </a:r>
          </a:p>
          <a:p>
            <a:pPr lvl="2"/>
            <a:r>
              <a:rPr lang="en-US" dirty="0"/>
              <a:t>Procedures for reporting violations </a:t>
            </a:r>
          </a:p>
          <a:p>
            <a:pPr lvl="2"/>
            <a:r>
              <a:rPr lang="en-US" dirty="0"/>
              <a:t>Penalties for violations </a:t>
            </a:r>
          </a:p>
          <a:p>
            <a:pPr lvl="2"/>
            <a:endParaRPr lang="en-US" dirty="0"/>
          </a:p>
          <a:p>
            <a:pPr lvl="1"/>
            <a:r>
              <a:rPr lang="en-US" dirty="0"/>
              <a:t>Policy review and modification </a:t>
            </a:r>
          </a:p>
          <a:p>
            <a:pPr lvl="2"/>
            <a:r>
              <a:rPr lang="en-US" dirty="0"/>
              <a:t>Scheduled review of policy and procedures for modification </a:t>
            </a:r>
          </a:p>
          <a:p>
            <a:pPr lvl="2"/>
            <a:endParaRPr lang="en-US" dirty="0"/>
          </a:p>
          <a:p>
            <a:pPr lvl="1"/>
            <a:r>
              <a:rPr lang="en-US" dirty="0"/>
              <a:t>Limitations of liability </a:t>
            </a:r>
          </a:p>
          <a:p>
            <a:pPr lvl="2"/>
            <a:r>
              <a:rPr lang="en-US" dirty="0"/>
              <a:t>Statements of liability or disclaimers </a:t>
            </a:r>
          </a:p>
          <a:p>
            <a:pPr lvl="2"/>
            <a:endParaRPr lang="en-US" dirty="0"/>
          </a:p>
          <a:p>
            <a:pPr marL="228600" lvl="1" indent="0">
              <a:buNone/>
            </a:pPr>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spTree>
    <p:extLst>
      <p:ext uri="{BB962C8B-B14F-4D97-AF65-F5344CB8AC3E}">
        <p14:creationId xmlns:p14="http://schemas.microsoft.com/office/powerpoint/2010/main" val="2455315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Systems-Specific Policy (</a:t>
            </a:r>
            <a:r>
              <a:rPr lang="en-US" dirty="0" err="1"/>
              <a:t>SysSP</a:t>
            </a:r>
            <a:r>
              <a:rPr lang="en-US" dirty="0"/>
              <a:t>) </a:t>
            </a:r>
          </a:p>
        </p:txBody>
      </p:sp>
      <p:sp>
        <p:nvSpPr>
          <p:cNvPr id="3" name="Content Placeholder 2"/>
          <p:cNvSpPr>
            <a:spLocks noGrp="1"/>
          </p:cNvSpPr>
          <p:nvPr>
            <p:ph idx="1"/>
          </p:nvPr>
        </p:nvSpPr>
        <p:spPr>
          <a:xfrm>
            <a:off x="944217" y="1690687"/>
            <a:ext cx="10634870" cy="5018225"/>
          </a:xfrm>
        </p:spPr>
        <p:txBody>
          <a:bodyPr>
            <a:normAutofit/>
          </a:bodyPr>
          <a:lstStyle/>
          <a:p>
            <a:endParaRPr lang="en-US" dirty="0"/>
          </a:p>
          <a:p>
            <a:pPr lvl="1"/>
            <a:r>
              <a:rPr lang="en-US" sz="2800" dirty="0"/>
              <a:t>Systems-Specific Policies (</a:t>
            </a:r>
            <a:r>
              <a:rPr lang="en-US" sz="2800" dirty="0" err="1"/>
              <a:t>SysSPs</a:t>
            </a:r>
            <a:r>
              <a:rPr lang="en-US" sz="2800" dirty="0"/>
              <a:t>) frequently do not look like other types of policy. </a:t>
            </a:r>
          </a:p>
          <a:p>
            <a:pPr lvl="1"/>
            <a:endParaRPr lang="en-US" sz="2800" dirty="0"/>
          </a:p>
          <a:p>
            <a:pPr lvl="1"/>
            <a:r>
              <a:rPr lang="en-US" sz="2800" dirty="0"/>
              <a:t>They may often be created to function as standards or procedures to be used when configuring or maintaining systems. </a:t>
            </a:r>
          </a:p>
          <a:p>
            <a:pPr lvl="1"/>
            <a:endParaRPr lang="en-US" sz="2800" dirty="0"/>
          </a:p>
          <a:p>
            <a:pPr lvl="1"/>
            <a:r>
              <a:rPr lang="en-US" sz="2800" dirty="0" err="1"/>
              <a:t>SysSPs</a:t>
            </a:r>
            <a:r>
              <a:rPr lang="en-US" sz="2800" dirty="0"/>
              <a:t> can be separated into: </a:t>
            </a:r>
          </a:p>
          <a:p>
            <a:pPr lvl="2"/>
            <a:r>
              <a:rPr lang="fr-FR" sz="2400" dirty="0"/>
              <a:t>Management guidance </a:t>
            </a:r>
          </a:p>
          <a:p>
            <a:pPr lvl="2"/>
            <a:r>
              <a:rPr lang="en-US" sz="2400" dirty="0"/>
              <a:t>Technical specifications </a:t>
            </a:r>
          </a:p>
          <a:p>
            <a:pPr lvl="2"/>
            <a:r>
              <a:rPr lang="en-US" sz="2400" dirty="0"/>
              <a:t>Combined in a single policy document </a:t>
            </a:r>
          </a:p>
          <a:p>
            <a:pPr lvl="2"/>
            <a:endParaRPr lang="en-US" dirty="0"/>
          </a:p>
          <a:p>
            <a:pPr marL="228600" lvl="1" indent="0">
              <a:buNone/>
            </a:pPr>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spTree>
    <p:extLst>
      <p:ext uri="{BB962C8B-B14F-4D97-AF65-F5344CB8AC3E}">
        <p14:creationId xmlns:p14="http://schemas.microsoft.com/office/powerpoint/2010/main" val="3442160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Systems-Specific Policy (</a:t>
            </a:r>
            <a:r>
              <a:rPr lang="en-US" dirty="0" err="1"/>
              <a:t>SysSP</a:t>
            </a:r>
            <a:r>
              <a:rPr lang="en-US" dirty="0"/>
              <a:t>) </a:t>
            </a:r>
          </a:p>
        </p:txBody>
      </p:sp>
      <p:sp>
        <p:nvSpPr>
          <p:cNvPr id="3" name="Content Placeholder 2"/>
          <p:cNvSpPr>
            <a:spLocks noGrp="1"/>
          </p:cNvSpPr>
          <p:nvPr>
            <p:ph idx="1"/>
          </p:nvPr>
        </p:nvSpPr>
        <p:spPr>
          <a:xfrm>
            <a:off x="725557" y="1550504"/>
            <a:ext cx="11241156" cy="5198166"/>
          </a:xfrm>
        </p:spPr>
        <p:txBody>
          <a:bodyPr>
            <a:normAutofit/>
          </a:bodyPr>
          <a:lstStyle/>
          <a:p>
            <a:pPr marL="0" indent="0">
              <a:buNone/>
            </a:pPr>
            <a:endParaRPr lang="en-US" sz="3200" dirty="0"/>
          </a:p>
          <a:p>
            <a:pPr lvl="1"/>
            <a:r>
              <a:rPr lang="en-US" sz="2800" dirty="0"/>
              <a:t>Management Guidance </a:t>
            </a:r>
            <a:r>
              <a:rPr lang="en-US" sz="2800" dirty="0" err="1"/>
              <a:t>SysSPs</a:t>
            </a:r>
            <a:endParaRPr lang="en-US" sz="2800" dirty="0"/>
          </a:p>
          <a:p>
            <a:pPr lvl="1"/>
            <a:endParaRPr lang="en-US" sz="2800" dirty="0"/>
          </a:p>
          <a:p>
            <a:pPr lvl="2"/>
            <a:r>
              <a:rPr lang="en-US" sz="2400" dirty="0"/>
              <a:t>Created by management to guide the implementation and configuration of technology.</a:t>
            </a:r>
          </a:p>
          <a:p>
            <a:pPr lvl="2"/>
            <a:endParaRPr lang="en-US" sz="2400" dirty="0"/>
          </a:p>
          <a:p>
            <a:pPr lvl="1"/>
            <a:r>
              <a:rPr lang="en-US" sz="2800" dirty="0"/>
              <a:t>Applies to any technology that affects the confidentiality, integrity or availability of information.</a:t>
            </a:r>
          </a:p>
          <a:p>
            <a:pPr lvl="1"/>
            <a:endParaRPr lang="en-US" sz="2800" dirty="0"/>
          </a:p>
          <a:p>
            <a:pPr lvl="1"/>
            <a:r>
              <a:rPr lang="en-US" sz="2800" dirty="0"/>
              <a:t>Informs technologists of management’s intent.</a:t>
            </a:r>
          </a:p>
          <a:p>
            <a:pPr marL="228600" lvl="1" indent="0">
              <a:buNone/>
            </a:pPr>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spTree>
    <p:extLst>
      <p:ext uri="{BB962C8B-B14F-4D97-AF65-F5344CB8AC3E}">
        <p14:creationId xmlns:p14="http://schemas.microsoft.com/office/powerpoint/2010/main" val="1473937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Systems-Specific Policy (</a:t>
            </a:r>
            <a:r>
              <a:rPr lang="en-US" dirty="0" err="1"/>
              <a:t>SysSP</a:t>
            </a:r>
            <a:r>
              <a:rPr lang="en-US" dirty="0"/>
              <a:t>) </a:t>
            </a:r>
          </a:p>
        </p:txBody>
      </p:sp>
      <p:sp>
        <p:nvSpPr>
          <p:cNvPr id="3" name="Content Placeholder 2"/>
          <p:cNvSpPr>
            <a:spLocks noGrp="1"/>
          </p:cNvSpPr>
          <p:nvPr>
            <p:ph idx="1"/>
          </p:nvPr>
        </p:nvSpPr>
        <p:spPr>
          <a:xfrm>
            <a:off x="765313" y="1520687"/>
            <a:ext cx="11280913" cy="5257799"/>
          </a:xfrm>
        </p:spPr>
        <p:txBody>
          <a:bodyPr>
            <a:normAutofit/>
          </a:bodyPr>
          <a:lstStyle/>
          <a:p>
            <a:endParaRPr lang="en-US" dirty="0"/>
          </a:p>
          <a:p>
            <a:pPr lvl="1"/>
            <a:r>
              <a:rPr lang="en-US" sz="2800" dirty="0"/>
              <a:t>Technical Specifications </a:t>
            </a:r>
            <a:r>
              <a:rPr lang="en-US" sz="2800" dirty="0" err="1"/>
              <a:t>SysSPs</a:t>
            </a:r>
            <a:r>
              <a:rPr lang="en-US" sz="2800" dirty="0"/>
              <a:t> </a:t>
            </a:r>
          </a:p>
          <a:p>
            <a:pPr lvl="2"/>
            <a:r>
              <a:rPr lang="en-US" sz="2400" dirty="0"/>
              <a:t>System administrator’s directions on implementing managerial policy </a:t>
            </a:r>
          </a:p>
          <a:p>
            <a:pPr lvl="1"/>
            <a:r>
              <a:rPr lang="en-US" sz="2800" dirty="0"/>
              <a:t>Each type of equipment has its own type of policies. </a:t>
            </a:r>
          </a:p>
          <a:p>
            <a:pPr lvl="1"/>
            <a:endParaRPr lang="en-US" sz="2800" dirty="0"/>
          </a:p>
          <a:p>
            <a:pPr lvl="1"/>
            <a:r>
              <a:rPr lang="en-US" sz="2800" dirty="0"/>
              <a:t>There are two general methods of implementing such technical controls: </a:t>
            </a:r>
          </a:p>
          <a:p>
            <a:pPr lvl="2"/>
            <a:r>
              <a:rPr lang="en-US" sz="2400" dirty="0"/>
              <a:t>Access Control Lists </a:t>
            </a:r>
          </a:p>
          <a:p>
            <a:pPr lvl="2"/>
            <a:r>
              <a:rPr lang="fr-FR" sz="2400" dirty="0"/>
              <a:t>Configuration </a:t>
            </a:r>
            <a:r>
              <a:rPr lang="fr-FR" sz="2400" dirty="0" err="1"/>
              <a:t>Rules</a:t>
            </a:r>
            <a:r>
              <a:rPr lang="fr-FR" sz="2400" dirty="0"/>
              <a:t> </a:t>
            </a:r>
          </a:p>
          <a:p>
            <a:pPr marL="228600" lvl="1" indent="0">
              <a:buNone/>
            </a:pPr>
            <a:endParaRPr lang="en-US" dirty="0">
              <a:solidFill>
                <a:srgbClr val="000000"/>
              </a:solidFill>
              <a:latin typeface="Georgia"/>
            </a:endParaRPr>
          </a:p>
          <a:p>
            <a:endParaRPr lang="en-US" dirty="0">
              <a:latin typeface="Georgia"/>
            </a:endParaRPr>
          </a:p>
          <a:p>
            <a:pPr lvl="2"/>
            <a:endParaRPr lang="en-US" dirty="0"/>
          </a:p>
          <a:p>
            <a:pPr lvl="2"/>
            <a:endParaRPr lang="en-US" dirty="0"/>
          </a:p>
          <a:p>
            <a:pPr lvl="2"/>
            <a:endParaRPr lang="en-US" dirty="0"/>
          </a:p>
          <a:p>
            <a:endParaRPr lang="en-US" sz="2100" dirty="0"/>
          </a:p>
          <a:p>
            <a:pPr lvl="1"/>
            <a:endParaRPr lang="en-US" sz="1900" dirty="0"/>
          </a:p>
        </p:txBody>
      </p:sp>
    </p:spTree>
    <p:extLst>
      <p:ext uri="{BB962C8B-B14F-4D97-AF65-F5344CB8AC3E}">
        <p14:creationId xmlns:p14="http://schemas.microsoft.com/office/powerpoint/2010/main" val="8426109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 for policy development </a:t>
            </a:r>
          </a:p>
        </p:txBody>
      </p:sp>
      <p:sp>
        <p:nvSpPr>
          <p:cNvPr id="3" name="Content Placeholder 2"/>
          <p:cNvSpPr>
            <a:spLocks noGrp="1"/>
          </p:cNvSpPr>
          <p:nvPr>
            <p:ph idx="1"/>
          </p:nvPr>
        </p:nvSpPr>
        <p:spPr>
          <a:xfrm>
            <a:off x="974035" y="1928190"/>
            <a:ext cx="10982739" cy="4750905"/>
          </a:xfrm>
        </p:spPr>
        <p:txBody>
          <a:bodyPr>
            <a:normAutofit/>
          </a:bodyPr>
          <a:lstStyle/>
          <a:p>
            <a:pPr lvl="1"/>
            <a:r>
              <a:rPr lang="en-US" sz="2800" dirty="0"/>
              <a:t>It is often useful to view policy development as a two-part project </a:t>
            </a:r>
          </a:p>
          <a:p>
            <a:pPr lvl="1"/>
            <a:endParaRPr lang="en-US" sz="2800" dirty="0"/>
          </a:p>
          <a:p>
            <a:pPr lvl="2"/>
            <a:r>
              <a:rPr lang="en-US" sz="2400" dirty="0"/>
              <a:t>First designs and develops the policy (or redesigns and rewrites an outdated policy) </a:t>
            </a:r>
          </a:p>
          <a:p>
            <a:pPr lvl="2"/>
            <a:r>
              <a:rPr lang="en-US" sz="2400" dirty="0"/>
              <a:t>Second establishes management processes to perpetuate the policy within the organization </a:t>
            </a:r>
          </a:p>
          <a:p>
            <a:pPr lvl="2"/>
            <a:endParaRPr lang="en-US" sz="2400" dirty="0"/>
          </a:p>
          <a:p>
            <a:pPr marL="914400" lvl="2" indent="0">
              <a:buNone/>
            </a:pPr>
            <a:endParaRPr lang="en-US" sz="2400" dirty="0"/>
          </a:p>
          <a:p>
            <a:pPr lvl="1"/>
            <a:r>
              <a:rPr lang="en-US" sz="2800" dirty="0"/>
              <a:t>The former is an exercise in project management, while the latter requires adherence to good business practices. </a:t>
            </a:r>
          </a:p>
          <a:p>
            <a:pPr marL="228600" lvl="1" indent="0">
              <a:buNone/>
            </a:pPr>
            <a:endParaRPr lang="en-US" sz="2800" dirty="0">
              <a:solidFill>
                <a:srgbClr val="000000"/>
              </a:solidFill>
              <a:latin typeface="Georgia"/>
            </a:endParaRPr>
          </a:p>
          <a:p>
            <a:endParaRPr lang="en-US" sz="3200" dirty="0">
              <a:latin typeface="Georgia"/>
            </a:endParaRPr>
          </a:p>
          <a:p>
            <a:pPr lvl="2"/>
            <a:endParaRPr lang="en-US" sz="2400" dirty="0"/>
          </a:p>
          <a:p>
            <a:pPr lvl="2"/>
            <a:endParaRPr lang="en-US" sz="2400" dirty="0"/>
          </a:p>
          <a:p>
            <a:pPr lvl="2"/>
            <a:endParaRPr lang="en-US" sz="2400" dirty="0"/>
          </a:p>
          <a:p>
            <a:endParaRPr lang="en-US" sz="2400" dirty="0"/>
          </a:p>
          <a:p>
            <a:pPr lvl="1"/>
            <a:endParaRPr lang="en-US" sz="2000" dirty="0"/>
          </a:p>
        </p:txBody>
      </p:sp>
    </p:spTree>
    <p:extLst>
      <p:ext uri="{BB962C8B-B14F-4D97-AF65-F5344CB8AC3E}">
        <p14:creationId xmlns:p14="http://schemas.microsoft.com/office/powerpoint/2010/main" val="1912097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C8331-3F79-8548-B48C-62E832843B95}"/>
              </a:ext>
            </a:extLst>
          </p:cNvPr>
          <p:cNvSpPr>
            <a:spLocks noGrp="1"/>
          </p:cNvSpPr>
          <p:nvPr>
            <p:ph type="title"/>
          </p:nvPr>
        </p:nvSpPr>
        <p:spPr>
          <a:xfrm>
            <a:off x="5259591" y="1242391"/>
            <a:ext cx="6771861" cy="607323"/>
          </a:xfrm>
        </p:spPr>
        <p:txBody>
          <a:bodyPr>
            <a:normAutofit fontScale="90000"/>
          </a:bodyPr>
          <a:lstStyle/>
          <a:p>
            <a:r>
              <a:rPr lang="en-US" dirty="0"/>
              <a:t>Frameworks and Industry Standards </a:t>
            </a:r>
          </a:p>
        </p:txBody>
      </p:sp>
      <p:sp>
        <p:nvSpPr>
          <p:cNvPr id="3" name="Content Placeholder 2">
            <a:extLst>
              <a:ext uri="{FF2B5EF4-FFF2-40B4-BE49-F238E27FC236}">
                <a16:creationId xmlns:a16="http://schemas.microsoft.com/office/drawing/2014/main" id="{0DAF461C-0DD6-534A-BB36-C86640E99C61}"/>
              </a:ext>
            </a:extLst>
          </p:cNvPr>
          <p:cNvSpPr>
            <a:spLocks noGrp="1"/>
          </p:cNvSpPr>
          <p:nvPr>
            <p:ph idx="1"/>
          </p:nvPr>
        </p:nvSpPr>
        <p:spPr>
          <a:xfrm>
            <a:off x="6694004" y="2365247"/>
            <a:ext cx="4659795" cy="3811715"/>
          </a:xfrm>
        </p:spPr>
        <p:txBody>
          <a:bodyPr/>
          <a:lstStyle/>
          <a:p>
            <a:r>
              <a:rPr lang="en-US" dirty="0"/>
              <a:t>The ISO 27000 Series </a:t>
            </a:r>
          </a:p>
          <a:p>
            <a:endParaRPr lang="en-US" dirty="0"/>
          </a:p>
        </p:txBody>
      </p:sp>
      <p:pic>
        <p:nvPicPr>
          <p:cNvPr id="5" name="Picture 4">
            <a:extLst>
              <a:ext uri="{FF2B5EF4-FFF2-40B4-BE49-F238E27FC236}">
                <a16:creationId xmlns:a16="http://schemas.microsoft.com/office/drawing/2014/main" id="{20EF678C-9674-D441-A716-C6B3BD7F11AA}"/>
              </a:ext>
            </a:extLst>
          </p:cNvPr>
          <p:cNvPicPr>
            <a:picLocks noChangeAspect="1"/>
          </p:cNvPicPr>
          <p:nvPr/>
        </p:nvPicPr>
        <p:blipFill rotWithShape="1">
          <a:blip r:embed="rId2"/>
          <a:srcRect t="3846"/>
          <a:stretch/>
        </p:blipFill>
        <p:spPr>
          <a:xfrm>
            <a:off x="160548" y="220455"/>
            <a:ext cx="4659795" cy="6417090"/>
          </a:xfrm>
          <a:prstGeom prst="rect">
            <a:avLst/>
          </a:prstGeom>
        </p:spPr>
      </p:pic>
      <p:pic>
        <p:nvPicPr>
          <p:cNvPr id="7" name="Picture 6">
            <a:extLst>
              <a:ext uri="{FF2B5EF4-FFF2-40B4-BE49-F238E27FC236}">
                <a16:creationId xmlns:a16="http://schemas.microsoft.com/office/drawing/2014/main" id="{70772AD9-E0FF-3C4D-951F-3B320BDEC442}"/>
              </a:ext>
            </a:extLst>
          </p:cNvPr>
          <p:cNvPicPr>
            <a:picLocks noChangeAspect="1"/>
          </p:cNvPicPr>
          <p:nvPr/>
        </p:nvPicPr>
        <p:blipFill>
          <a:blip r:embed="rId3"/>
          <a:stretch>
            <a:fillRect/>
          </a:stretch>
        </p:blipFill>
        <p:spPr>
          <a:xfrm>
            <a:off x="5259591" y="3258102"/>
            <a:ext cx="6451600" cy="3263900"/>
          </a:xfrm>
          <a:prstGeom prst="rect">
            <a:avLst/>
          </a:prstGeom>
        </p:spPr>
      </p:pic>
    </p:spTree>
    <p:extLst>
      <p:ext uri="{BB962C8B-B14F-4D97-AF65-F5344CB8AC3E}">
        <p14:creationId xmlns:p14="http://schemas.microsoft.com/office/powerpoint/2010/main" val="1210441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3EA2A7-74FD-8344-B434-DBC0F2F96B0E}"/>
              </a:ext>
            </a:extLst>
          </p:cNvPr>
          <p:cNvSpPr>
            <a:spLocks noGrp="1"/>
          </p:cNvSpPr>
          <p:nvPr>
            <p:ph idx="1"/>
          </p:nvPr>
        </p:nvSpPr>
        <p:spPr/>
        <p:txBody>
          <a:bodyPr>
            <a:normAutofit/>
          </a:bodyPr>
          <a:lstStyle/>
          <a:p>
            <a:pPr marL="0" indent="0" algn="ctr">
              <a:buNone/>
            </a:pPr>
            <a:r>
              <a:rPr lang="en-US" sz="13800" dirty="0"/>
              <a:t>Thank You</a:t>
            </a:r>
          </a:p>
        </p:txBody>
      </p:sp>
    </p:spTree>
    <p:extLst>
      <p:ext uri="{BB962C8B-B14F-4D97-AF65-F5344CB8AC3E}">
        <p14:creationId xmlns:p14="http://schemas.microsoft.com/office/powerpoint/2010/main" val="3958470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TotalTime>
  <Words>1049</Words>
  <Application>Microsoft Macintosh PowerPoint</Application>
  <PresentationFormat>Widescreen</PresentationFormat>
  <Paragraphs>247</Paragraphs>
  <Slides>22</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Georgia</vt:lpstr>
      <vt:lpstr>Trebuchet MS</vt:lpstr>
      <vt:lpstr>Office Theme</vt:lpstr>
      <vt:lpstr>Introductory Computer Networking and IT Security </vt:lpstr>
      <vt:lpstr>Agenda</vt:lpstr>
      <vt:lpstr>Security policies and standards</vt:lpstr>
      <vt:lpstr>Security policies and standards</vt:lpstr>
      <vt:lpstr>Security policies and standards</vt:lpstr>
      <vt:lpstr>Security policies and standards</vt:lpstr>
      <vt:lpstr>Policy, Standards, and Practices </vt:lpstr>
      <vt:lpstr>Types of Security Policies </vt:lpstr>
      <vt:lpstr>Enterprise Information Security Policy (EISP) </vt:lpstr>
      <vt:lpstr>Enterprise Information Security Policy (EISP) </vt:lpstr>
      <vt:lpstr>Enterprise Information Security Policy (EISP) </vt:lpstr>
      <vt:lpstr>Issue-Specific Security Policy (ISSP) </vt:lpstr>
      <vt:lpstr>Issue-Specific Security Policy (ISSP) </vt:lpstr>
      <vt:lpstr>Components of the ISSP </vt:lpstr>
      <vt:lpstr>Components of the ISSP </vt:lpstr>
      <vt:lpstr>Components of the ISSP </vt:lpstr>
      <vt:lpstr>Systems-Specific Policy (SysSP) </vt:lpstr>
      <vt:lpstr>Systems-Specific Policy (SysSP) </vt:lpstr>
      <vt:lpstr>Systems-Specific Policy (SysSP) </vt:lpstr>
      <vt:lpstr>Guidelines for policy development </vt:lpstr>
      <vt:lpstr>Frameworks and Industry Standards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Computer Networking and IT Security </dc:title>
  <dc:creator>Krittika Tuladhar</dc:creator>
  <cp:lastModifiedBy>Krittika Tuladhar</cp:lastModifiedBy>
  <cp:revision>8</cp:revision>
  <dcterms:created xsi:type="dcterms:W3CDTF">2020-01-05T11:28:18Z</dcterms:created>
  <dcterms:modified xsi:type="dcterms:W3CDTF">2020-01-08T16:53:28Z</dcterms:modified>
</cp:coreProperties>
</file>