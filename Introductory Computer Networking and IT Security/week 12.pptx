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7" r:id="rId2"/>
    <p:sldId id="294" r:id="rId3"/>
    <p:sldId id="268" r:id="rId4"/>
    <p:sldId id="269"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97" r:id="rId21"/>
    <p:sldId id="298" r:id="rId22"/>
    <p:sldId id="286" r:id="rId23"/>
    <p:sldId id="287" r:id="rId24"/>
    <p:sldId id="288" r:id="rId25"/>
    <p:sldId id="289" r:id="rId26"/>
    <p:sldId id="290" r:id="rId27"/>
    <p:sldId id="30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858"/>
    <p:restoredTop sz="96341"/>
  </p:normalViewPr>
  <p:slideViewPr>
    <p:cSldViewPr snapToGrid="0" snapToObjects="1">
      <p:cViewPr varScale="1">
        <p:scale>
          <a:sx n="105" d="100"/>
          <a:sy n="105" d="100"/>
        </p:scale>
        <p:origin x="200" y="7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06186-97AA-E14E-9795-5B9D6979FEF8}" type="datetimeFigureOut">
              <a:rPr lang="en-US" smtClean="0"/>
              <a:t>1/8/20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124EF-1BFF-4840-AF5A-3F0EE4535B5F}" type="slidenum">
              <a:rPr lang="en-US" smtClean="0"/>
              <a:t>‹#›</a:t>
            </a:fld>
            <a:endParaRPr lang="en-US"/>
          </a:p>
        </p:txBody>
      </p:sp>
    </p:spTree>
    <p:extLst>
      <p:ext uri="{BB962C8B-B14F-4D97-AF65-F5344CB8AC3E}">
        <p14:creationId xmlns:p14="http://schemas.microsoft.com/office/powerpoint/2010/main" val="333393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a:t>
            </a:fld>
            <a:endParaRPr lang="en-US"/>
          </a:p>
        </p:txBody>
      </p:sp>
    </p:spTree>
    <p:extLst>
      <p:ext uri="{BB962C8B-B14F-4D97-AF65-F5344CB8AC3E}">
        <p14:creationId xmlns:p14="http://schemas.microsoft.com/office/powerpoint/2010/main" val="408271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4</a:t>
            </a:fld>
            <a:endParaRPr lang="en-US"/>
          </a:p>
        </p:txBody>
      </p:sp>
    </p:spTree>
    <p:extLst>
      <p:ext uri="{BB962C8B-B14F-4D97-AF65-F5344CB8AC3E}">
        <p14:creationId xmlns:p14="http://schemas.microsoft.com/office/powerpoint/2010/main" val="17789952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5</a:t>
            </a:fld>
            <a:endParaRPr lang="en-US"/>
          </a:p>
        </p:txBody>
      </p:sp>
    </p:spTree>
    <p:extLst>
      <p:ext uri="{BB962C8B-B14F-4D97-AF65-F5344CB8AC3E}">
        <p14:creationId xmlns:p14="http://schemas.microsoft.com/office/powerpoint/2010/main" val="3413845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6</a:t>
            </a:fld>
            <a:endParaRPr lang="en-US"/>
          </a:p>
        </p:txBody>
      </p:sp>
    </p:spTree>
    <p:extLst>
      <p:ext uri="{BB962C8B-B14F-4D97-AF65-F5344CB8AC3E}">
        <p14:creationId xmlns:p14="http://schemas.microsoft.com/office/powerpoint/2010/main" val="3524143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7</a:t>
            </a:fld>
            <a:endParaRPr lang="en-US"/>
          </a:p>
        </p:txBody>
      </p:sp>
    </p:spTree>
    <p:extLst>
      <p:ext uri="{BB962C8B-B14F-4D97-AF65-F5344CB8AC3E}">
        <p14:creationId xmlns:p14="http://schemas.microsoft.com/office/powerpoint/2010/main" val="1402013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8</a:t>
            </a:fld>
            <a:endParaRPr lang="en-US"/>
          </a:p>
        </p:txBody>
      </p:sp>
    </p:spTree>
    <p:extLst>
      <p:ext uri="{BB962C8B-B14F-4D97-AF65-F5344CB8AC3E}">
        <p14:creationId xmlns:p14="http://schemas.microsoft.com/office/powerpoint/2010/main" val="30952650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9</a:t>
            </a:fld>
            <a:endParaRPr lang="en-US"/>
          </a:p>
        </p:txBody>
      </p:sp>
    </p:spTree>
    <p:extLst>
      <p:ext uri="{BB962C8B-B14F-4D97-AF65-F5344CB8AC3E}">
        <p14:creationId xmlns:p14="http://schemas.microsoft.com/office/powerpoint/2010/main" val="4285350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10</a:t>
            </a:fld>
            <a:endParaRPr lang="en-US"/>
          </a:p>
        </p:txBody>
      </p:sp>
    </p:spTree>
    <p:extLst>
      <p:ext uri="{BB962C8B-B14F-4D97-AF65-F5344CB8AC3E}">
        <p14:creationId xmlns:p14="http://schemas.microsoft.com/office/powerpoint/2010/main" val="14832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11</a:t>
            </a:fld>
            <a:endParaRPr lang="en-US"/>
          </a:p>
        </p:txBody>
      </p:sp>
    </p:spTree>
    <p:extLst>
      <p:ext uri="{BB962C8B-B14F-4D97-AF65-F5344CB8AC3E}">
        <p14:creationId xmlns:p14="http://schemas.microsoft.com/office/powerpoint/2010/main" val="3698436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12</a:t>
            </a:fld>
            <a:endParaRPr lang="en-US"/>
          </a:p>
        </p:txBody>
      </p:sp>
    </p:spTree>
    <p:extLst>
      <p:ext uri="{BB962C8B-B14F-4D97-AF65-F5344CB8AC3E}">
        <p14:creationId xmlns:p14="http://schemas.microsoft.com/office/powerpoint/2010/main" val="13609217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13</a:t>
            </a:fld>
            <a:endParaRPr lang="en-US"/>
          </a:p>
        </p:txBody>
      </p:sp>
    </p:spTree>
    <p:extLst>
      <p:ext uri="{BB962C8B-B14F-4D97-AF65-F5344CB8AC3E}">
        <p14:creationId xmlns:p14="http://schemas.microsoft.com/office/powerpoint/2010/main" val="366056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14</a:t>
            </a:fld>
            <a:endParaRPr lang="en-US"/>
          </a:p>
        </p:txBody>
      </p:sp>
    </p:spTree>
    <p:extLst>
      <p:ext uri="{BB962C8B-B14F-4D97-AF65-F5344CB8AC3E}">
        <p14:creationId xmlns:p14="http://schemas.microsoft.com/office/powerpoint/2010/main" val="1336053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15</a:t>
            </a:fld>
            <a:endParaRPr lang="en-US"/>
          </a:p>
        </p:txBody>
      </p:sp>
    </p:spTree>
    <p:extLst>
      <p:ext uri="{BB962C8B-B14F-4D97-AF65-F5344CB8AC3E}">
        <p14:creationId xmlns:p14="http://schemas.microsoft.com/office/powerpoint/2010/main" val="1105704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16</a:t>
            </a:fld>
            <a:endParaRPr lang="en-US"/>
          </a:p>
        </p:txBody>
      </p:sp>
    </p:spTree>
    <p:extLst>
      <p:ext uri="{BB962C8B-B14F-4D97-AF65-F5344CB8AC3E}">
        <p14:creationId xmlns:p14="http://schemas.microsoft.com/office/powerpoint/2010/main" val="518547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17</a:t>
            </a:fld>
            <a:endParaRPr lang="en-US"/>
          </a:p>
        </p:txBody>
      </p:sp>
    </p:spTree>
    <p:extLst>
      <p:ext uri="{BB962C8B-B14F-4D97-AF65-F5344CB8AC3E}">
        <p14:creationId xmlns:p14="http://schemas.microsoft.com/office/powerpoint/2010/main" val="4002609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18</a:t>
            </a:fld>
            <a:endParaRPr lang="en-US"/>
          </a:p>
        </p:txBody>
      </p:sp>
    </p:spTree>
    <p:extLst>
      <p:ext uri="{BB962C8B-B14F-4D97-AF65-F5344CB8AC3E}">
        <p14:creationId xmlns:p14="http://schemas.microsoft.com/office/powerpoint/2010/main" val="4876650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19</a:t>
            </a:fld>
            <a:endParaRPr lang="en-US"/>
          </a:p>
        </p:txBody>
      </p:sp>
    </p:spTree>
    <p:extLst>
      <p:ext uri="{BB962C8B-B14F-4D97-AF65-F5344CB8AC3E}">
        <p14:creationId xmlns:p14="http://schemas.microsoft.com/office/powerpoint/2010/main" val="40983708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22</a:t>
            </a:fld>
            <a:endParaRPr lang="en-US"/>
          </a:p>
        </p:txBody>
      </p:sp>
    </p:spTree>
    <p:extLst>
      <p:ext uri="{BB962C8B-B14F-4D97-AF65-F5344CB8AC3E}">
        <p14:creationId xmlns:p14="http://schemas.microsoft.com/office/powerpoint/2010/main" val="4141101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23</a:t>
            </a:fld>
            <a:endParaRPr lang="en-US"/>
          </a:p>
        </p:txBody>
      </p:sp>
    </p:spTree>
    <p:extLst>
      <p:ext uri="{BB962C8B-B14F-4D97-AF65-F5344CB8AC3E}">
        <p14:creationId xmlns:p14="http://schemas.microsoft.com/office/powerpoint/2010/main" val="571865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24</a:t>
            </a:fld>
            <a:endParaRPr lang="en-US"/>
          </a:p>
        </p:txBody>
      </p:sp>
    </p:spTree>
    <p:extLst>
      <p:ext uri="{BB962C8B-B14F-4D97-AF65-F5344CB8AC3E}">
        <p14:creationId xmlns:p14="http://schemas.microsoft.com/office/powerpoint/2010/main" val="711964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25</a:t>
            </a:fld>
            <a:endParaRPr lang="en-US"/>
          </a:p>
        </p:txBody>
      </p:sp>
    </p:spTree>
    <p:extLst>
      <p:ext uri="{BB962C8B-B14F-4D97-AF65-F5344CB8AC3E}">
        <p14:creationId xmlns:p14="http://schemas.microsoft.com/office/powerpoint/2010/main" val="1319842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26</a:t>
            </a:fld>
            <a:endParaRPr lang="en-US"/>
          </a:p>
        </p:txBody>
      </p:sp>
    </p:spTree>
    <p:extLst>
      <p:ext uri="{BB962C8B-B14F-4D97-AF65-F5344CB8AC3E}">
        <p14:creationId xmlns:p14="http://schemas.microsoft.com/office/powerpoint/2010/main" val="2415509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8BDD6-21F9-F846-A7B2-AC201B5CEF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FDD940-6058-F345-B188-8762A6BEFF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E02217-FB13-224D-966F-5C9FFB4816AF}"/>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5" name="Footer Placeholder 4">
            <a:extLst>
              <a:ext uri="{FF2B5EF4-FFF2-40B4-BE49-F238E27FC236}">
                <a16:creationId xmlns:a16="http://schemas.microsoft.com/office/drawing/2014/main" id="{FC8804D7-2E0E-F340-8FC9-96005D5C19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AE47D-41FA-6842-B150-1AD788C37F1C}"/>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707092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79A80-2D39-E249-B2D3-62378DEA3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0FF11B-5EAE-E94C-A108-9622420933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5DFAA4-8562-0048-AABE-1A071235B3AA}"/>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5" name="Footer Placeholder 4">
            <a:extLst>
              <a:ext uri="{FF2B5EF4-FFF2-40B4-BE49-F238E27FC236}">
                <a16:creationId xmlns:a16="http://schemas.microsoft.com/office/drawing/2014/main" id="{8EB4A039-689D-394D-9D5C-07962BD40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5AB537-825C-F744-B912-A8FCAF24F1CA}"/>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3477040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3B6D0-81C6-C345-AFD7-1A2CB0E923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54ACD0-2467-7F47-BAE6-AB17E515FF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8388F9-CA03-4541-AAC8-83A43AA2E566}"/>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5" name="Footer Placeholder 4">
            <a:extLst>
              <a:ext uri="{FF2B5EF4-FFF2-40B4-BE49-F238E27FC236}">
                <a16:creationId xmlns:a16="http://schemas.microsoft.com/office/drawing/2014/main" id="{C5F1FCA3-49B3-9E4F-98D6-9FD910330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B92CCD-136D-AC40-8DA0-A7FC15A56E73}"/>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3203851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1326A-72F6-1F46-BF36-374897D140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EC0917-148D-964B-8146-2012E35122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524786-742E-2848-B7B4-5040A282B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4C320A-FF63-3C4D-B09B-27617CC5AEC4}"/>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6" name="Footer Placeholder 5">
            <a:extLst>
              <a:ext uri="{FF2B5EF4-FFF2-40B4-BE49-F238E27FC236}">
                <a16:creationId xmlns:a16="http://schemas.microsoft.com/office/drawing/2014/main" id="{144D223A-0FD2-8B45-8771-4633439E52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7DA248-C902-7243-8FDB-B7E913B95ABD}"/>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1880282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62066-35D0-C944-A4F5-9C28EB4861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B7F45B-BD5D-2C44-8277-7E74F43ED9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17E311-4A91-5B45-B17C-0D8F3280F7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2E8C9-5F68-C64D-8A68-1221CC2EDA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ECA6C4-646A-9E4A-9D31-F0DB222F4E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480B55-7332-1F44-BE15-88AE1E9092E1}"/>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8" name="Footer Placeholder 7">
            <a:extLst>
              <a:ext uri="{FF2B5EF4-FFF2-40B4-BE49-F238E27FC236}">
                <a16:creationId xmlns:a16="http://schemas.microsoft.com/office/drawing/2014/main" id="{C98F3096-E36D-5C40-85B3-5068A46603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941409-8B64-FF4A-9308-0E087AF82E8B}"/>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262338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4F706-8AB0-9544-8E5C-BD1947B7BF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2E07B6-2141-8949-8F8C-D463C9782874}"/>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4" name="Footer Placeholder 3">
            <a:extLst>
              <a:ext uri="{FF2B5EF4-FFF2-40B4-BE49-F238E27FC236}">
                <a16:creationId xmlns:a16="http://schemas.microsoft.com/office/drawing/2014/main" id="{0EE40E9B-DD0E-B84B-89C7-627DDFF176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AA298A4-07DD-3A4B-B4B0-42E0915A4C85}"/>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1105024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9D5AE4-9A14-EA46-8901-42F1ACF3C7AC}"/>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3" name="Footer Placeholder 2">
            <a:extLst>
              <a:ext uri="{FF2B5EF4-FFF2-40B4-BE49-F238E27FC236}">
                <a16:creationId xmlns:a16="http://schemas.microsoft.com/office/drawing/2014/main" id="{24DA2DAB-E1C6-AE49-8A1C-F5C17AD566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787270-0A6A-A741-BB80-8BF816ADCA74}"/>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2976263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339E1-EA85-CE43-8FB6-6542FA852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557E61-AB5E-CF48-8335-14682CF0ED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D3065C-63C6-314B-8AF6-622B1F94EB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B8E0E2-1E9C-7142-923E-1B527D2E3836}"/>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6" name="Footer Placeholder 5">
            <a:extLst>
              <a:ext uri="{FF2B5EF4-FFF2-40B4-BE49-F238E27FC236}">
                <a16:creationId xmlns:a16="http://schemas.microsoft.com/office/drawing/2014/main" id="{3153989A-F478-E043-8A57-62945D1129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D3CE8E-9431-A24F-85E6-90BCE51788B6}"/>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2542284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6C5CF-EF5B-C14B-977B-66B001B02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F10E88-CD38-F144-AC34-14AC56F94C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151786-5A6C-0A4D-B997-6A9A25330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F72FA2-FBC5-F941-A22E-03767D634937}"/>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6" name="Footer Placeholder 5">
            <a:extLst>
              <a:ext uri="{FF2B5EF4-FFF2-40B4-BE49-F238E27FC236}">
                <a16:creationId xmlns:a16="http://schemas.microsoft.com/office/drawing/2014/main" id="{2E81B9BF-64C9-3347-B67F-1CA4CB9567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DBC408-5319-D34E-84F9-269EC5F26987}"/>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2220588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B31CF-A6FD-504D-89F5-88E5EBA6A0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BBDC45-B76F-AD48-BEA0-C019D6C5AA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0A4573-B0D6-BF46-9669-022D83588856}"/>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5" name="Footer Placeholder 4">
            <a:extLst>
              <a:ext uri="{FF2B5EF4-FFF2-40B4-BE49-F238E27FC236}">
                <a16:creationId xmlns:a16="http://schemas.microsoft.com/office/drawing/2014/main" id="{69B83DF5-552C-E647-8C29-9433985434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365241-B4A9-AE48-9655-F4AC583E643F}"/>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731894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293923-89B6-2D49-A6CA-F0D19F0866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13CA93-DE85-614E-B1F2-4741FDCCFB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21CE5C-5DD0-F54D-B00B-54AA686DDE6A}"/>
              </a:ext>
            </a:extLst>
          </p:cNvPr>
          <p:cNvSpPr>
            <a:spLocks noGrp="1"/>
          </p:cNvSpPr>
          <p:nvPr>
            <p:ph type="dt" sz="half" idx="10"/>
          </p:nvPr>
        </p:nvSpPr>
        <p:spPr/>
        <p:txBody>
          <a:bodyPr/>
          <a:lstStyle/>
          <a:p>
            <a:fld id="{6FE42812-EB26-4B47-93C2-0372BEE8D843}" type="datetimeFigureOut">
              <a:rPr lang="en-US" smtClean="0"/>
              <a:t>1/8/20</a:t>
            </a:fld>
            <a:endParaRPr lang="en-US"/>
          </a:p>
        </p:txBody>
      </p:sp>
      <p:sp>
        <p:nvSpPr>
          <p:cNvPr id="5" name="Footer Placeholder 4">
            <a:extLst>
              <a:ext uri="{FF2B5EF4-FFF2-40B4-BE49-F238E27FC236}">
                <a16:creationId xmlns:a16="http://schemas.microsoft.com/office/drawing/2014/main" id="{B51A5C06-28D5-5946-85EA-0A48E0C2C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DCF529-2361-964A-A884-6C52A127425C}"/>
              </a:ext>
            </a:extLst>
          </p:cNvPr>
          <p:cNvSpPr>
            <a:spLocks noGrp="1"/>
          </p:cNvSpPr>
          <p:nvPr>
            <p:ph type="sldNum" sz="quarter" idx="12"/>
          </p:nvPr>
        </p:nvSpPr>
        <p:spPr/>
        <p:txBody>
          <a:bodyPr/>
          <a:lstStyle/>
          <a:p>
            <a:fld id="{A1B37434-99E4-5D4B-924D-A5EE762B7053}" type="slidenum">
              <a:rPr lang="en-US" smtClean="0"/>
              <a:t>‹#›</a:t>
            </a:fld>
            <a:endParaRPr lang="en-US"/>
          </a:p>
        </p:txBody>
      </p:sp>
    </p:spTree>
    <p:extLst>
      <p:ext uri="{BB962C8B-B14F-4D97-AF65-F5344CB8AC3E}">
        <p14:creationId xmlns:p14="http://schemas.microsoft.com/office/powerpoint/2010/main" val="4122642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9607AE-99EE-4440-BA23-1DDE05EC0F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BD24BD-315C-3A41-A4E2-B9B58B5CE8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1CA2E-9A02-EF41-A35B-017B8DEF4F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E42812-EB26-4B47-93C2-0372BEE8D843}" type="datetimeFigureOut">
              <a:rPr lang="en-US" smtClean="0"/>
              <a:t>1/8/20</a:t>
            </a:fld>
            <a:endParaRPr lang="en-US"/>
          </a:p>
        </p:txBody>
      </p:sp>
      <p:sp>
        <p:nvSpPr>
          <p:cNvPr id="5" name="Footer Placeholder 4">
            <a:extLst>
              <a:ext uri="{FF2B5EF4-FFF2-40B4-BE49-F238E27FC236}">
                <a16:creationId xmlns:a16="http://schemas.microsoft.com/office/drawing/2014/main" id="{7724D477-6C33-8A4E-8104-D99CFCB744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602CED2-17A0-CB4F-BC08-3FD4120AF8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B37434-99E4-5D4B-924D-A5EE762B7053}" type="slidenum">
              <a:rPr lang="en-US" smtClean="0"/>
              <a:t>‹#›</a:t>
            </a:fld>
            <a:endParaRPr lang="en-US"/>
          </a:p>
        </p:txBody>
      </p:sp>
    </p:spTree>
    <p:extLst>
      <p:ext uri="{BB962C8B-B14F-4D97-AF65-F5344CB8AC3E}">
        <p14:creationId xmlns:p14="http://schemas.microsoft.com/office/powerpoint/2010/main" val="2013206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F2374-B174-F34F-8AFF-FE883381322E}"/>
              </a:ext>
            </a:extLst>
          </p:cNvPr>
          <p:cNvSpPr>
            <a:spLocks noGrp="1"/>
          </p:cNvSpPr>
          <p:nvPr>
            <p:ph type="ctrTitle"/>
          </p:nvPr>
        </p:nvSpPr>
        <p:spPr/>
        <p:txBody>
          <a:bodyPr>
            <a:normAutofit/>
          </a:bodyPr>
          <a:lstStyle/>
          <a:p>
            <a:r>
              <a:rPr lang="en-GB" dirty="0"/>
              <a:t>Introductory Computer Networking and IT Security </a:t>
            </a:r>
            <a:endParaRPr lang="en-US" dirty="0"/>
          </a:p>
        </p:txBody>
      </p:sp>
      <p:sp>
        <p:nvSpPr>
          <p:cNvPr id="3" name="Subtitle 2">
            <a:extLst>
              <a:ext uri="{FF2B5EF4-FFF2-40B4-BE49-F238E27FC236}">
                <a16:creationId xmlns:a16="http://schemas.microsoft.com/office/drawing/2014/main" id="{0F0BA501-51A5-C948-B97B-2246F8216B5F}"/>
              </a:ext>
            </a:extLst>
          </p:cNvPr>
          <p:cNvSpPr>
            <a:spLocks noGrp="1"/>
          </p:cNvSpPr>
          <p:nvPr>
            <p:ph type="subTitle" idx="1"/>
          </p:nvPr>
        </p:nvSpPr>
        <p:spPr>
          <a:xfrm>
            <a:off x="1524000" y="3987798"/>
            <a:ext cx="9144000" cy="1270001"/>
          </a:xfrm>
        </p:spPr>
        <p:txBody>
          <a:bodyPr/>
          <a:lstStyle/>
          <a:p>
            <a:r>
              <a:rPr lang="en-US" dirty="0"/>
              <a:t>Week 12</a:t>
            </a:r>
          </a:p>
          <a:p>
            <a:endParaRPr lang="en-US" dirty="0"/>
          </a:p>
        </p:txBody>
      </p:sp>
      <p:pic>
        <p:nvPicPr>
          <p:cNvPr id="4" name="Picture 3">
            <a:extLst>
              <a:ext uri="{FF2B5EF4-FFF2-40B4-BE49-F238E27FC236}">
                <a16:creationId xmlns:a16="http://schemas.microsoft.com/office/drawing/2014/main" id="{D9566B64-800D-7343-9B97-B4BCEFCA1F0E}"/>
              </a:ext>
            </a:extLst>
          </p:cNvPr>
          <p:cNvPicPr>
            <a:picLocks noChangeAspect="1"/>
          </p:cNvPicPr>
          <p:nvPr/>
        </p:nvPicPr>
        <p:blipFill>
          <a:blip r:embed="rId2"/>
          <a:stretch>
            <a:fillRect/>
          </a:stretch>
        </p:blipFill>
        <p:spPr>
          <a:xfrm>
            <a:off x="7562272" y="80167"/>
            <a:ext cx="3009900" cy="635000"/>
          </a:xfrm>
          <a:prstGeom prst="rect">
            <a:avLst/>
          </a:prstGeom>
        </p:spPr>
      </p:pic>
      <p:pic>
        <p:nvPicPr>
          <p:cNvPr id="6" name="Picture 5">
            <a:extLst>
              <a:ext uri="{FF2B5EF4-FFF2-40B4-BE49-F238E27FC236}">
                <a16:creationId xmlns:a16="http://schemas.microsoft.com/office/drawing/2014/main" id="{C2886331-9860-4848-AB00-F89CA48B935F}"/>
              </a:ext>
            </a:extLst>
          </p:cNvPr>
          <p:cNvPicPr>
            <a:picLocks noChangeAspect="1"/>
          </p:cNvPicPr>
          <p:nvPr/>
        </p:nvPicPr>
        <p:blipFill>
          <a:blip r:embed="rId3"/>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720560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Agenda</a:t>
            </a:r>
          </a:p>
        </p:txBody>
      </p:sp>
      <p:sp>
        <p:nvSpPr>
          <p:cNvPr id="3" name="Content Placeholder 2"/>
          <p:cNvSpPr>
            <a:spLocks noGrp="1"/>
          </p:cNvSpPr>
          <p:nvPr>
            <p:ph idx="1"/>
          </p:nvPr>
        </p:nvSpPr>
        <p:spPr/>
        <p:txBody>
          <a:bodyPr>
            <a:normAutofit/>
          </a:bodyPr>
          <a:lstStyle/>
          <a:p>
            <a:pPr lvl="0"/>
            <a:r>
              <a:rPr lang="en-GB" dirty="0"/>
              <a:t>Risk Management (Assessing Risks, Treating Risks)</a:t>
            </a:r>
            <a:endParaRPr lang="en-US" dirty="0"/>
          </a:p>
          <a:p>
            <a:pPr lvl="0"/>
            <a:r>
              <a:rPr lang="en-GB" dirty="0"/>
              <a:t>CBA</a:t>
            </a:r>
            <a:endParaRPr lang="en-US" dirty="0"/>
          </a:p>
          <a:p>
            <a:r>
              <a:rPr lang="en-GB" dirty="0"/>
              <a:t>Planning for contingencies</a:t>
            </a:r>
            <a:r>
              <a:rPr lang="en-US" dirty="0"/>
              <a:t> </a:t>
            </a:r>
            <a:endParaRPr lang="en-GB" dirty="0"/>
          </a:p>
        </p:txBody>
      </p:sp>
      <p:pic>
        <p:nvPicPr>
          <p:cNvPr id="8" name="Picture 7">
            <a:extLst>
              <a:ext uri="{FF2B5EF4-FFF2-40B4-BE49-F238E27FC236}">
                <a16:creationId xmlns:a16="http://schemas.microsoft.com/office/drawing/2014/main" id="{DF787604-B1EE-F446-916E-EC4791F800CB}"/>
              </a:ext>
            </a:extLst>
          </p:cNvPr>
          <p:cNvPicPr>
            <a:picLocks noChangeAspect="1"/>
          </p:cNvPicPr>
          <p:nvPr/>
        </p:nvPicPr>
        <p:blipFill>
          <a:blip r:embed="rId2"/>
          <a:stretch>
            <a:fillRect/>
          </a:stretch>
        </p:blipFill>
        <p:spPr>
          <a:xfrm>
            <a:off x="7562272" y="80167"/>
            <a:ext cx="3009900" cy="635000"/>
          </a:xfrm>
          <a:prstGeom prst="rect">
            <a:avLst/>
          </a:prstGeom>
        </p:spPr>
      </p:pic>
      <p:pic>
        <p:nvPicPr>
          <p:cNvPr id="9" name="Picture 8">
            <a:extLst>
              <a:ext uri="{FF2B5EF4-FFF2-40B4-BE49-F238E27FC236}">
                <a16:creationId xmlns:a16="http://schemas.microsoft.com/office/drawing/2014/main" id="{076D4FB9-3B2E-7A4E-A6C5-6FB0536CEC47}"/>
              </a:ext>
            </a:extLst>
          </p:cNvPr>
          <p:cNvPicPr>
            <a:picLocks noChangeAspect="1"/>
          </p:cNvPicPr>
          <p:nvPr/>
        </p:nvPicPr>
        <p:blipFill>
          <a:blip r:embed="rId3"/>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160291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Introductions to IT risk management </a:t>
            </a:r>
          </a:p>
        </p:txBody>
      </p:sp>
      <p:sp>
        <p:nvSpPr>
          <p:cNvPr id="3" name="Content Placeholder 2"/>
          <p:cNvSpPr>
            <a:spLocks noGrp="1"/>
          </p:cNvSpPr>
          <p:nvPr>
            <p:ph idx="1"/>
          </p:nvPr>
        </p:nvSpPr>
        <p:spPr/>
        <p:txBody>
          <a:bodyPr>
            <a:normAutofit/>
          </a:bodyPr>
          <a:lstStyle/>
          <a:p>
            <a:r>
              <a:rPr lang="en-US" dirty="0"/>
              <a:t>Information security departments are created primarily to manage IT risk</a:t>
            </a:r>
          </a:p>
          <a:p>
            <a:r>
              <a:rPr lang="en-US" dirty="0"/>
              <a:t>Managing risk is one of the key responsibilities of every manager within the organization</a:t>
            </a:r>
          </a:p>
          <a:p>
            <a:r>
              <a:rPr lang="en-US" dirty="0"/>
              <a:t>In any well-developed risk management program, two formal processes are at work:</a:t>
            </a:r>
          </a:p>
          <a:p>
            <a:pPr marL="0" indent="0">
              <a:buNone/>
            </a:pPr>
            <a:endParaRPr lang="en-US" dirty="0"/>
          </a:p>
          <a:p>
            <a:pPr lvl="1"/>
            <a:r>
              <a:rPr lang="en-US" dirty="0"/>
              <a:t>	Risk Identification and Assessment</a:t>
            </a:r>
          </a:p>
          <a:p>
            <a:pPr lvl="1"/>
            <a:r>
              <a:rPr lang="en-US" dirty="0"/>
              <a:t>	Risk Control</a:t>
            </a:r>
          </a:p>
        </p:txBody>
      </p:sp>
      <p:pic>
        <p:nvPicPr>
          <p:cNvPr id="4" name="Picture 3">
            <a:extLst>
              <a:ext uri="{FF2B5EF4-FFF2-40B4-BE49-F238E27FC236}">
                <a16:creationId xmlns:a16="http://schemas.microsoft.com/office/drawing/2014/main" id="{4F203ECB-24B7-174D-AD26-E11F1675F625}"/>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9846D058-7BF5-C241-9300-ACA76587AA64}"/>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21140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Introductions to IT risk management </a:t>
            </a:r>
          </a:p>
        </p:txBody>
      </p:sp>
      <p:sp>
        <p:nvSpPr>
          <p:cNvPr id="3" name="Content Placeholder 2"/>
          <p:cNvSpPr>
            <a:spLocks noGrp="1"/>
          </p:cNvSpPr>
          <p:nvPr>
            <p:ph idx="1"/>
          </p:nvPr>
        </p:nvSpPr>
        <p:spPr/>
        <p:txBody>
          <a:bodyPr>
            <a:normAutofit/>
          </a:bodyPr>
          <a:lstStyle/>
          <a:p>
            <a:r>
              <a:rPr lang="en-US" dirty="0"/>
              <a:t>Knowing Ourselves</a:t>
            </a:r>
          </a:p>
          <a:p>
            <a:pPr lvl="1"/>
            <a:r>
              <a:rPr lang="en-US" dirty="0"/>
              <a:t>Identifying, examining, and understanding the information and how it is processed, stored, and transmitted. </a:t>
            </a:r>
          </a:p>
          <a:p>
            <a:pPr lvl="1"/>
            <a:endParaRPr lang="en-US" dirty="0"/>
          </a:p>
          <a:p>
            <a:pPr lvl="1"/>
            <a:r>
              <a:rPr lang="en-US" dirty="0"/>
              <a:t>Armed with this knowledge, initiate an in-depth risk management program. </a:t>
            </a:r>
          </a:p>
          <a:p>
            <a:pPr lvl="1"/>
            <a:endParaRPr lang="en-US" dirty="0"/>
          </a:p>
          <a:p>
            <a:pPr lvl="1"/>
            <a:r>
              <a:rPr lang="en-US" dirty="0"/>
              <a:t>Risk management is a process of creating the safeguards and controls which are not installed-and-forgot. </a:t>
            </a:r>
          </a:p>
          <a:p>
            <a:pPr lvl="1"/>
            <a:endParaRPr lang="en-US" dirty="0"/>
          </a:p>
          <a:p>
            <a:pPr lvl="1"/>
            <a:r>
              <a:rPr lang="en-US" dirty="0"/>
              <a:t>Risk management is devised and implemented in your organization. </a:t>
            </a:r>
          </a:p>
        </p:txBody>
      </p:sp>
      <p:pic>
        <p:nvPicPr>
          <p:cNvPr id="4" name="Picture 3">
            <a:extLst>
              <a:ext uri="{FF2B5EF4-FFF2-40B4-BE49-F238E27FC236}">
                <a16:creationId xmlns:a16="http://schemas.microsoft.com/office/drawing/2014/main" id="{1178D633-930D-DE46-AF31-39B8ACD996DE}"/>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DB6054AA-349D-3343-80CA-4B234D6E9602}"/>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736939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Introductions to IT risk management </a:t>
            </a:r>
          </a:p>
        </p:txBody>
      </p:sp>
      <p:sp>
        <p:nvSpPr>
          <p:cNvPr id="3" name="Content Placeholder 2"/>
          <p:cNvSpPr>
            <a:spLocks noGrp="1"/>
          </p:cNvSpPr>
          <p:nvPr>
            <p:ph idx="1"/>
          </p:nvPr>
        </p:nvSpPr>
        <p:spPr/>
        <p:txBody>
          <a:bodyPr>
            <a:normAutofit/>
          </a:bodyPr>
          <a:lstStyle/>
          <a:p>
            <a:r>
              <a:rPr lang="en-US" dirty="0"/>
              <a:t>Knowing the Enemy</a:t>
            </a:r>
          </a:p>
          <a:p>
            <a:pPr marL="0" indent="0">
              <a:buNone/>
            </a:pPr>
            <a:r>
              <a:rPr lang="en-US" dirty="0"/>
              <a:t> </a:t>
            </a:r>
          </a:p>
          <a:p>
            <a:pPr lvl="1"/>
            <a:r>
              <a:rPr lang="en-US" dirty="0"/>
              <a:t>Identifying, examining, and understanding the threats facing the organization’s information assets </a:t>
            </a:r>
          </a:p>
          <a:p>
            <a:pPr lvl="1"/>
            <a:endParaRPr lang="en-US" dirty="0"/>
          </a:p>
          <a:p>
            <a:pPr lvl="1"/>
            <a:r>
              <a:rPr lang="en-US" dirty="0"/>
              <a:t>Managers must be prepared to fully identify those threats that pose risks to the organization and the security of its information assets. </a:t>
            </a:r>
          </a:p>
          <a:p>
            <a:pPr lvl="1"/>
            <a:endParaRPr lang="en-US" dirty="0"/>
          </a:p>
          <a:p>
            <a:pPr lvl="1"/>
            <a:r>
              <a:rPr lang="en-US" dirty="0"/>
              <a:t>Risk management is the process of assessing the risks to an organization’s information assets and determining how those risks can be controlled or mitigated. </a:t>
            </a:r>
          </a:p>
        </p:txBody>
      </p:sp>
      <p:pic>
        <p:nvPicPr>
          <p:cNvPr id="4" name="Picture 3">
            <a:extLst>
              <a:ext uri="{FF2B5EF4-FFF2-40B4-BE49-F238E27FC236}">
                <a16:creationId xmlns:a16="http://schemas.microsoft.com/office/drawing/2014/main" id="{259B4836-0A53-934C-9ABF-75FCF42DE3BC}"/>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48766118-6C55-2347-9D5D-CFEE6CA20424}"/>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98172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Identification </a:t>
            </a:r>
          </a:p>
        </p:txBody>
      </p:sp>
      <p:sp>
        <p:nvSpPr>
          <p:cNvPr id="3" name="Content Placeholder 2"/>
          <p:cNvSpPr>
            <a:spLocks noGrp="1"/>
          </p:cNvSpPr>
          <p:nvPr>
            <p:ph idx="1"/>
          </p:nvPr>
        </p:nvSpPr>
        <p:spPr/>
        <p:txBody>
          <a:bodyPr>
            <a:normAutofit/>
          </a:bodyPr>
          <a:lstStyle/>
          <a:p>
            <a:endParaRPr lang="en-US" sz="3200" dirty="0"/>
          </a:p>
          <a:p>
            <a:pPr lvl="1" algn="just"/>
            <a:r>
              <a:rPr lang="en-US" sz="2800" dirty="0"/>
              <a:t>Risk identification begins with the process of self-examination. </a:t>
            </a:r>
          </a:p>
          <a:p>
            <a:pPr lvl="1" algn="just"/>
            <a:endParaRPr lang="en-US" sz="2800" dirty="0"/>
          </a:p>
          <a:p>
            <a:pPr lvl="1" algn="just"/>
            <a:r>
              <a:rPr lang="en-US" sz="2800" dirty="0"/>
              <a:t>Managers identify the organization’s information assets, classify them into useful groups, and prioritize them by their overall importance. </a:t>
            </a:r>
          </a:p>
        </p:txBody>
      </p:sp>
      <p:pic>
        <p:nvPicPr>
          <p:cNvPr id="4" name="Picture 3">
            <a:extLst>
              <a:ext uri="{FF2B5EF4-FFF2-40B4-BE49-F238E27FC236}">
                <a16:creationId xmlns:a16="http://schemas.microsoft.com/office/drawing/2014/main" id="{AEA76498-28DB-C141-872E-887BCE624764}"/>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87CACA99-18BF-6E42-A365-DB23A25C5AC5}"/>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83709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Creating an Inventory of Information Assets </a:t>
            </a:r>
          </a:p>
        </p:txBody>
      </p:sp>
      <p:sp>
        <p:nvSpPr>
          <p:cNvPr id="3" name="Content Placeholder 2"/>
          <p:cNvSpPr>
            <a:spLocks noGrp="1"/>
          </p:cNvSpPr>
          <p:nvPr>
            <p:ph idx="1"/>
          </p:nvPr>
        </p:nvSpPr>
        <p:spPr>
          <a:xfrm>
            <a:off x="838199" y="1825625"/>
            <a:ext cx="10880035" cy="4667250"/>
          </a:xfrm>
        </p:spPr>
        <p:txBody>
          <a:bodyPr>
            <a:normAutofit/>
          </a:bodyPr>
          <a:lstStyle/>
          <a:p>
            <a:pPr marL="0" indent="0">
              <a:buNone/>
            </a:pPr>
            <a:endParaRPr lang="en-US" dirty="0"/>
          </a:p>
          <a:p>
            <a:pPr lvl="1"/>
            <a:r>
              <a:rPr lang="en-US" dirty="0"/>
              <a:t>Identify information assets, including people, procedures, data and information, software, hardware, and networking elements. </a:t>
            </a:r>
          </a:p>
          <a:p>
            <a:pPr lvl="1"/>
            <a:endParaRPr lang="en-US" dirty="0"/>
          </a:p>
          <a:p>
            <a:pPr lvl="1"/>
            <a:r>
              <a:rPr lang="en-US" dirty="0"/>
              <a:t>This step should be done without pre-judging the value of each asset. </a:t>
            </a:r>
          </a:p>
          <a:p>
            <a:pPr lvl="1"/>
            <a:endParaRPr lang="en-US" dirty="0"/>
          </a:p>
          <a:p>
            <a:pPr lvl="1"/>
            <a:r>
              <a:rPr lang="en-US" dirty="0"/>
              <a:t>Asset values will be assigned later in the process.</a:t>
            </a:r>
          </a:p>
        </p:txBody>
      </p:sp>
      <p:pic>
        <p:nvPicPr>
          <p:cNvPr id="4" name="Picture 3">
            <a:extLst>
              <a:ext uri="{FF2B5EF4-FFF2-40B4-BE49-F238E27FC236}">
                <a16:creationId xmlns:a16="http://schemas.microsoft.com/office/drawing/2014/main" id="{DDD7B8DE-A85B-3A44-A352-2FAD4E7A286E}"/>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089181C7-046D-224E-9852-C41F5D0F401E}"/>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590296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Classifying and Categorizing Assets </a:t>
            </a:r>
            <a:endParaRPr lang="en-US" dirty="0">
              <a:latin typeface="Georgia"/>
            </a:endParaRPr>
          </a:p>
        </p:txBody>
      </p:sp>
      <p:sp>
        <p:nvSpPr>
          <p:cNvPr id="3" name="Content Placeholder 2"/>
          <p:cNvSpPr>
            <a:spLocks noGrp="1"/>
          </p:cNvSpPr>
          <p:nvPr>
            <p:ph idx="1"/>
          </p:nvPr>
        </p:nvSpPr>
        <p:spPr>
          <a:xfrm>
            <a:off x="838200" y="1524000"/>
            <a:ext cx="11000232" cy="4968875"/>
          </a:xfrm>
        </p:spPr>
        <p:txBody>
          <a:bodyPr>
            <a:normAutofit/>
          </a:bodyPr>
          <a:lstStyle/>
          <a:p>
            <a:pPr lvl="1"/>
            <a:r>
              <a:rPr lang="en-US" dirty="0">
                <a:latin typeface="Georgia"/>
              </a:rPr>
              <a:t>Once the initial inventory is assembled, determine whether its asset categories are meaningful. </a:t>
            </a:r>
          </a:p>
          <a:p>
            <a:pPr lvl="1"/>
            <a:r>
              <a:rPr lang="en-US" dirty="0">
                <a:latin typeface="Georgia"/>
              </a:rPr>
              <a:t>Inventory should also reflect sensitivity and security priority assigned to each information asset. </a:t>
            </a:r>
          </a:p>
          <a:p>
            <a:pPr lvl="1"/>
            <a:r>
              <a:rPr lang="en-US" dirty="0">
                <a:latin typeface="Georgia"/>
              </a:rPr>
              <a:t>A classification scheme categorizes these information assets based on their sensitivity and security needs. </a:t>
            </a:r>
            <a:endParaRPr lang="en-US" dirty="0"/>
          </a:p>
          <a:p>
            <a:pPr lvl="1"/>
            <a:r>
              <a:rPr lang="en-US" dirty="0"/>
              <a:t>Each of these categories designates the level of protection needed for a particular information asset. </a:t>
            </a:r>
          </a:p>
          <a:p>
            <a:pPr lvl="1"/>
            <a:r>
              <a:rPr lang="en-US" dirty="0"/>
              <a:t>Some asset types, such as personnel, may require an alternative classification scheme that would identify the clearance needed to use the asset type. </a:t>
            </a:r>
          </a:p>
          <a:p>
            <a:pPr lvl="1"/>
            <a:r>
              <a:rPr lang="en-US" dirty="0"/>
              <a:t>Classification categories must be comprehensive and mutually exclusive. </a:t>
            </a:r>
          </a:p>
          <a:p>
            <a:pPr lvl="1"/>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79DFF464-E329-8742-9632-0C5F45D6EF11}"/>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6E0E1405-A292-1A4F-A8FA-5DEE2481FDDC}"/>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37290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 Values for Information Assets  </a:t>
            </a:r>
          </a:p>
        </p:txBody>
      </p:sp>
      <p:sp>
        <p:nvSpPr>
          <p:cNvPr id="3" name="Content Placeholder 2"/>
          <p:cNvSpPr>
            <a:spLocks noGrp="1"/>
          </p:cNvSpPr>
          <p:nvPr>
            <p:ph idx="1"/>
          </p:nvPr>
        </p:nvSpPr>
        <p:spPr>
          <a:xfrm>
            <a:off x="838200" y="1825625"/>
            <a:ext cx="11049000" cy="4667250"/>
          </a:xfrm>
        </p:spPr>
        <p:txBody>
          <a:bodyPr>
            <a:normAutofit/>
          </a:bodyPr>
          <a:lstStyle/>
          <a:p>
            <a:pPr lvl="1"/>
            <a:r>
              <a:rPr lang="en-US" sz="2800" dirty="0"/>
              <a:t>As each information asset is identified, categorized, and classified, assign a relative value. </a:t>
            </a:r>
          </a:p>
          <a:p>
            <a:pPr marL="457200" lvl="1" indent="0">
              <a:buNone/>
            </a:pPr>
            <a:endParaRPr lang="en-US" sz="2800" dirty="0"/>
          </a:p>
          <a:p>
            <a:pPr lvl="1"/>
            <a:r>
              <a:rPr lang="en-US" sz="2800" dirty="0"/>
              <a:t>Relative values are comparative judgments made to ensure that the most valuable information assets are given the highest priority, for example: </a:t>
            </a:r>
          </a:p>
          <a:p>
            <a:pPr lvl="2"/>
            <a:r>
              <a:rPr lang="en-US" sz="2400" dirty="0"/>
              <a:t>Which information asset is the most critical to the success of the organization? </a:t>
            </a:r>
          </a:p>
          <a:p>
            <a:pPr lvl="2"/>
            <a:r>
              <a:rPr lang="en-US" sz="2400" dirty="0"/>
              <a:t>Which information asset generates the most revenue? </a:t>
            </a:r>
          </a:p>
          <a:p>
            <a:pPr lvl="2"/>
            <a:r>
              <a:rPr lang="en-US" sz="2400" dirty="0"/>
              <a:t>Which information asset generates the highest profitability? </a:t>
            </a:r>
          </a:p>
          <a:p>
            <a:pPr lvl="2"/>
            <a:r>
              <a:rPr lang="en-US" sz="2400" dirty="0"/>
              <a:t>Which information asset is the most expensive to replace? </a:t>
            </a:r>
          </a:p>
          <a:p>
            <a:pPr lvl="2"/>
            <a:r>
              <a:rPr lang="en-US" sz="2400" dirty="0"/>
              <a:t>Which information asset is the most expensive to protect? </a:t>
            </a:r>
          </a:p>
          <a:p>
            <a:pPr lvl="1"/>
            <a:endParaRPr lang="en-US" sz="2800" dirty="0">
              <a:latin typeface="Georgia"/>
            </a:endParaRPr>
          </a:p>
          <a:p>
            <a:pPr lvl="1"/>
            <a:endParaRPr lang="en-US" sz="2800" dirty="0"/>
          </a:p>
        </p:txBody>
      </p:sp>
      <p:pic>
        <p:nvPicPr>
          <p:cNvPr id="4" name="Picture 3">
            <a:extLst>
              <a:ext uri="{FF2B5EF4-FFF2-40B4-BE49-F238E27FC236}">
                <a16:creationId xmlns:a16="http://schemas.microsoft.com/office/drawing/2014/main" id="{64515EAD-CD01-974B-A909-1E630265567E}"/>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9EAA9954-707E-854F-B4A0-520E2AFA080C}"/>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27889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Listing Assets in Order of Importance </a:t>
            </a:r>
          </a:p>
        </p:txBody>
      </p:sp>
      <p:sp>
        <p:nvSpPr>
          <p:cNvPr id="3" name="Content Placeholder 2"/>
          <p:cNvSpPr>
            <a:spLocks noGrp="1"/>
          </p:cNvSpPr>
          <p:nvPr>
            <p:ph idx="1"/>
          </p:nvPr>
        </p:nvSpPr>
        <p:spPr/>
        <p:txBody>
          <a:bodyPr>
            <a:normAutofit/>
          </a:bodyPr>
          <a:lstStyle/>
          <a:p>
            <a:pPr marL="0" indent="0">
              <a:buNone/>
            </a:pPr>
            <a:endParaRPr lang="en-US" dirty="0"/>
          </a:p>
          <a:p>
            <a:pPr lvl="1"/>
            <a:r>
              <a:rPr lang="en-US" dirty="0"/>
              <a:t>The final step in the risk identification process is to list the assets in order of importance. </a:t>
            </a:r>
          </a:p>
          <a:p>
            <a:pPr lvl="1"/>
            <a:endParaRPr lang="en-US" dirty="0"/>
          </a:p>
          <a:p>
            <a:pPr lvl="1"/>
            <a:r>
              <a:rPr lang="en-US" dirty="0"/>
              <a:t>This goal can be achieved by using a weighted factor analysis worksheet. </a:t>
            </a:r>
          </a:p>
          <a:p>
            <a:pPr lvl="1"/>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BD65809E-576C-7D4F-9762-DA8A4E9615D4}"/>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D25B6AA9-FF22-D14C-A94A-8DCFA9438AF0}"/>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56088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Threat Identification </a:t>
            </a:r>
          </a:p>
        </p:txBody>
      </p:sp>
      <p:sp>
        <p:nvSpPr>
          <p:cNvPr id="3" name="Content Placeholder 2"/>
          <p:cNvSpPr>
            <a:spLocks noGrp="1"/>
          </p:cNvSpPr>
          <p:nvPr>
            <p:ph idx="1"/>
          </p:nvPr>
        </p:nvSpPr>
        <p:spPr/>
        <p:txBody>
          <a:bodyPr>
            <a:normAutofit/>
          </a:bodyPr>
          <a:lstStyle/>
          <a:p>
            <a:pPr lvl="1"/>
            <a:r>
              <a:rPr lang="en-US" dirty="0"/>
              <a:t>Any organization typically faces a wide variety of threats. </a:t>
            </a:r>
          </a:p>
          <a:p>
            <a:pPr lvl="1"/>
            <a:endParaRPr lang="en-US" dirty="0"/>
          </a:p>
          <a:p>
            <a:pPr lvl="1"/>
            <a:r>
              <a:rPr lang="en-US" dirty="0"/>
              <a:t>If you assume that every threat can and will attack every information asset, then the project scope becomes too complex. </a:t>
            </a:r>
          </a:p>
          <a:p>
            <a:pPr lvl="1"/>
            <a:endParaRPr lang="en-US" dirty="0"/>
          </a:p>
          <a:p>
            <a:pPr lvl="1"/>
            <a:r>
              <a:rPr lang="en-US" dirty="0"/>
              <a:t>To make the process less cumbersome, each step in the threat identification and vulnerability identification process is managed separately and then coordinated at the end. </a:t>
            </a:r>
          </a:p>
          <a:p>
            <a:pPr marL="228600" lvl="1" indent="0">
              <a:buNone/>
            </a:pPr>
            <a:r>
              <a:rPr lang="en-US" dirty="0"/>
              <a:t>. </a:t>
            </a:r>
          </a:p>
          <a:p>
            <a:pPr lvl="1"/>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DD0BB565-BF6E-9A4F-B539-6113F71DAC39}"/>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43CDFF0B-34F1-2C4F-AA80-0E3D8DA5D2D5}"/>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019116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Identify and Prioritize Threats and Threat Agents </a:t>
            </a:r>
          </a:p>
        </p:txBody>
      </p:sp>
      <p:sp>
        <p:nvSpPr>
          <p:cNvPr id="3" name="Content Placeholder 2"/>
          <p:cNvSpPr>
            <a:spLocks noGrp="1"/>
          </p:cNvSpPr>
          <p:nvPr>
            <p:ph idx="1"/>
          </p:nvPr>
        </p:nvSpPr>
        <p:spPr/>
        <p:txBody>
          <a:bodyPr>
            <a:normAutofit/>
          </a:bodyPr>
          <a:lstStyle/>
          <a:p>
            <a:pPr lvl="1"/>
            <a:r>
              <a:rPr lang="en-US" dirty="0"/>
              <a:t>Each threat presents an unique challenge to information security and must be handled with specific controls that directly address the particular threat and the threat agent’s attack strategy. </a:t>
            </a:r>
          </a:p>
          <a:p>
            <a:pPr lvl="1"/>
            <a:endParaRPr lang="en-US" dirty="0"/>
          </a:p>
          <a:p>
            <a:pPr lvl="1"/>
            <a:r>
              <a:rPr lang="en-US" dirty="0"/>
              <a:t>Before threats can be assessed in the risk identification process, however, each threat must be further examined to determine its potential to affect the targeted information asset . </a:t>
            </a:r>
          </a:p>
          <a:p>
            <a:pPr lvl="1"/>
            <a:endParaRPr lang="en-US" dirty="0"/>
          </a:p>
          <a:p>
            <a:pPr lvl="1"/>
            <a:r>
              <a:rPr lang="en-US" dirty="0"/>
              <a:t>In general, this process is referred to as a </a:t>
            </a:r>
            <a:r>
              <a:rPr lang="en-US" b="1" dirty="0"/>
              <a:t>threat assessment</a:t>
            </a:r>
            <a:r>
              <a:rPr lang="en-US" dirty="0"/>
              <a:t>. </a:t>
            </a:r>
          </a:p>
          <a:p>
            <a:endParaRPr lang="en-US" dirty="0"/>
          </a:p>
          <a:p>
            <a:pPr marL="228600" lvl="1" indent="0">
              <a:buNone/>
            </a:pPr>
            <a:r>
              <a:rPr lang="en-US" dirty="0"/>
              <a:t>. </a:t>
            </a:r>
          </a:p>
          <a:p>
            <a:pPr lvl="1"/>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8A7C03FD-F12C-B141-8184-92F067ABC19C}"/>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8F4E5B8F-AE51-8942-BB8B-867D150044FE}"/>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48094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Vulnerability Assessment </a:t>
            </a:r>
          </a:p>
        </p:txBody>
      </p:sp>
      <p:sp>
        <p:nvSpPr>
          <p:cNvPr id="3" name="Content Placeholder 2"/>
          <p:cNvSpPr>
            <a:spLocks noGrp="1"/>
          </p:cNvSpPr>
          <p:nvPr>
            <p:ph idx="1"/>
          </p:nvPr>
        </p:nvSpPr>
        <p:spPr>
          <a:xfrm>
            <a:off x="682753" y="1690688"/>
            <a:ext cx="11283960" cy="5087145"/>
          </a:xfrm>
        </p:spPr>
        <p:txBody>
          <a:bodyPr>
            <a:normAutofit/>
          </a:bodyPr>
          <a:lstStyle/>
          <a:p>
            <a:endParaRPr lang="en-US" dirty="0"/>
          </a:p>
          <a:p>
            <a:pPr lvl="1"/>
            <a:r>
              <a:rPr lang="en-US" dirty="0"/>
              <a:t>Once you have identified the information assets of the organization and documented some threat assessment criteria, you can begin to review every information asset for each threat. </a:t>
            </a:r>
          </a:p>
          <a:p>
            <a:pPr lvl="1"/>
            <a:r>
              <a:rPr lang="en-US" dirty="0"/>
              <a:t>This review leads to the creation of a list of vulnerabilities that remain potential risks to the organization. </a:t>
            </a:r>
          </a:p>
          <a:p>
            <a:pPr lvl="1"/>
            <a:r>
              <a:rPr lang="en-US" dirty="0"/>
              <a:t>Vulnerabilities are specific avenues that threat agents can exploit to attack an information asset. </a:t>
            </a:r>
          </a:p>
          <a:p>
            <a:pPr lvl="1"/>
            <a:r>
              <a:rPr lang="en-US" dirty="0"/>
              <a:t>At the end of the risk identification process, a list of assets and their vulnerabilities has been developed. </a:t>
            </a:r>
          </a:p>
          <a:p>
            <a:pPr lvl="1"/>
            <a:r>
              <a:rPr lang="en-US" dirty="0"/>
              <a:t>This list serves as the starting point for the next step in the risk management process: </a:t>
            </a:r>
            <a:r>
              <a:rPr lang="en-US" b="1" dirty="0"/>
              <a:t>risk assessment</a:t>
            </a:r>
            <a:r>
              <a:rPr lang="en-US" dirty="0"/>
              <a:t>. </a:t>
            </a:r>
          </a:p>
          <a:p>
            <a:pPr marL="228600" lvl="1" indent="0">
              <a:buNone/>
            </a:pPr>
            <a:r>
              <a:rPr lang="en-US" dirty="0"/>
              <a:t>. </a:t>
            </a:r>
          </a:p>
          <a:p>
            <a:pPr lvl="1"/>
            <a:endParaRPr lang="en-US" sz="2000" dirty="0">
              <a:latin typeface="Georgia"/>
            </a:endParaRPr>
          </a:p>
          <a:p>
            <a:pPr lvl="1"/>
            <a:endParaRPr lang="en-US" sz="2000" dirty="0"/>
          </a:p>
        </p:txBody>
      </p:sp>
      <p:pic>
        <p:nvPicPr>
          <p:cNvPr id="4" name="Picture 3">
            <a:extLst>
              <a:ext uri="{FF2B5EF4-FFF2-40B4-BE49-F238E27FC236}">
                <a16:creationId xmlns:a16="http://schemas.microsoft.com/office/drawing/2014/main" id="{95EFE20C-0CF4-454C-A44F-0F062C331637}"/>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F1314876-6C70-2445-9B5A-C4D84ED47400}"/>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940418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a:t>
            </a:r>
          </a:p>
        </p:txBody>
      </p:sp>
      <p:sp>
        <p:nvSpPr>
          <p:cNvPr id="3" name="Content Placeholder 2"/>
          <p:cNvSpPr>
            <a:spLocks noGrp="1"/>
          </p:cNvSpPr>
          <p:nvPr>
            <p:ph idx="1"/>
          </p:nvPr>
        </p:nvSpPr>
        <p:spPr>
          <a:xfrm>
            <a:off x="838199" y="1470991"/>
            <a:ext cx="10949609" cy="4705972"/>
          </a:xfrm>
        </p:spPr>
        <p:txBody>
          <a:bodyPr>
            <a:normAutofit/>
          </a:bodyPr>
          <a:lstStyle/>
          <a:p>
            <a:pPr lvl="1" algn="just"/>
            <a:r>
              <a:rPr lang="en-US" sz="2800" dirty="0"/>
              <a:t>Risk is the likelihood of the occurrence of a vulnerability multiplied by the value of the information asset minus the percentage of risk mitigated by current controls plus the uncertainty of current knowledge of the vulnerability.</a:t>
            </a:r>
          </a:p>
          <a:p>
            <a:pPr lvl="1" algn="just"/>
            <a:endParaRPr lang="en-US" sz="2800" dirty="0">
              <a:latin typeface="Georgia"/>
            </a:endParaRPr>
          </a:p>
          <a:p>
            <a:pPr lvl="1" algn="just"/>
            <a:r>
              <a:rPr lang="en-US" sz="2800" dirty="0">
                <a:latin typeface="Georgia"/>
              </a:rPr>
              <a:t>Asset A has a value of 50 and one vulnerability, which has a likelihood of 1.0 with no current controls. Your assumptions and data are 90% accurate. </a:t>
            </a:r>
          </a:p>
          <a:p>
            <a:pPr marL="457200" lvl="2" indent="0" algn="just">
              <a:buNone/>
            </a:pPr>
            <a:endParaRPr lang="en-US" sz="2400" dirty="0">
              <a:latin typeface="Georgia"/>
            </a:endParaRPr>
          </a:p>
          <a:p>
            <a:pPr marL="914400" lvl="2" indent="0" algn="just">
              <a:buNone/>
            </a:pPr>
            <a:r>
              <a:rPr lang="en-US" sz="2400" dirty="0">
                <a:latin typeface="Georgia"/>
              </a:rPr>
              <a:t>Vulnerability 1 rated as 55 = (50 . 1.0) – 0% + 10% </a:t>
            </a:r>
          </a:p>
          <a:p>
            <a:pPr lvl="2" algn="just"/>
            <a:endParaRPr lang="en-US" sz="2400" dirty="0">
              <a:latin typeface="Georgia"/>
            </a:endParaRPr>
          </a:p>
          <a:p>
            <a:pPr lvl="1"/>
            <a:endParaRPr lang="en-US" sz="2800" dirty="0">
              <a:latin typeface="Georgia"/>
            </a:endParaRPr>
          </a:p>
          <a:p>
            <a:pPr lvl="1"/>
            <a:endParaRPr lang="en-US" sz="2800" dirty="0"/>
          </a:p>
        </p:txBody>
      </p:sp>
      <p:pic>
        <p:nvPicPr>
          <p:cNvPr id="4" name="Picture 3">
            <a:extLst>
              <a:ext uri="{FF2B5EF4-FFF2-40B4-BE49-F238E27FC236}">
                <a16:creationId xmlns:a16="http://schemas.microsoft.com/office/drawing/2014/main" id="{13F79DDD-F089-F74E-87FE-06E910F642E9}"/>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0B187F92-C425-1549-82C8-0969D1AE6FDF}"/>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416079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Risk Control Strategies </a:t>
            </a:r>
          </a:p>
        </p:txBody>
      </p:sp>
      <p:sp>
        <p:nvSpPr>
          <p:cNvPr id="3" name="Content Placeholder 2"/>
          <p:cNvSpPr>
            <a:spLocks noGrp="1"/>
          </p:cNvSpPr>
          <p:nvPr>
            <p:ph idx="1"/>
          </p:nvPr>
        </p:nvSpPr>
        <p:spPr/>
        <p:txBody>
          <a:bodyPr>
            <a:normAutofit/>
          </a:bodyPr>
          <a:lstStyle/>
          <a:p>
            <a:pPr marL="514350" indent="-514350">
              <a:buFont typeface="+mj-lt"/>
              <a:buAutoNum type="arabicPeriod"/>
            </a:pPr>
            <a:endParaRPr lang="en-US" dirty="0"/>
          </a:p>
          <a:p>
            <a:pPr marL="514350" indent="-514350">
              <a:buFont typeface="+mj-lt"/>
              <a:buAutoNum type="arabicPeriod"/>
            </a:pPr>
            <a:r>
              <a:rPr lang="en-US" dirty="0"/>
              <a:t>Avoidance</a:t>
            </a:r>
          </a:p>
          <a:p>
            <a:pPr marL="514350" indent="-514350">
              <a:buFont typeface="+mj-lt"/>
              <a:buAutoNum type="arabicPeriod"/>
            </a:pPr>
            <a:r>
              <a:rPr lang="en-US" dirty="0"/>
              <a:t>Transference</a:t>
            </a:r>
          </a:p>
          <a:p>
            <a:pPr marL="514350" indent="-514350">
              <a:buFont typeface="+mj-lt"/>
              <a:buAutoNum type="arabicPeriod"/>
            </a:pPr>
            <a:r>
              <a:rPr lang="en-US" dirty="0"/>
              <a:t>Mitigation</a:t>
            </a:r>
          </a:p>
          <a:p>
            <a:pPr marL="514350" indent="-514350">
              <a:buFont typeface="+mj-lt"/>
              <a:buAutoNum type="arabicPeriod"/>
            </a:pPr>
            <a:r>
              <a:rPr lang="en-US" dirty="0"/>
              <a:t>Acceptance</a:t>
            </a:r>
            <a:endParaRPr lang="en-US" dirty="0">
              <a:latin typeface="Georgia"/>
            </a:endParaRPr>
          </a:p>
          <a:p>
            <a:pPr marL="914400" lvl="1" indent="-457200">
              <a:buFont typeface="+mj-lt"/>
              <a:buAutoNum type="arabicPeriod"/>
            </a:pPr>
            <a:endParaRPr lang="en-US" dirty="0">
              <a:latin typeface="Georgia"/>
            </a:endParaRPr>
          </a:p>
          <a:p>
            <a:pPr marL="914400" lvl="1" indent="-457200">
              <a:buFont typeface="+mj-lt"/>
              <a:buAutoNum type="arabicPeriod"/>
            </a:pPr>
            <a:endParaRPr lang="en-US" dirty="0"/>
          </a:p>
        </p:txBody>
      </p:sp>
      <p:pic>
        <p:nvPicPr>
          <p:cNvPr id="4" name="Picture 3">
            <a:extLst>
              <a:ext uri="{FF2B5EF4-FFF2-40B4-BE49-F238E27FC236}">
                <a16:creationId xmlns:a16="http://schemas.microsoft.com/office/drawing/2014/main" id="{EEF85AF5-0A8D-3B4B-8FE4-DB9E146E9DA5}"/>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2C264EB1-E7F4-244C-B610-4C0120FA8BE9}"/>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322581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buClr>
                <a:srgbClr val="663366"/>
              </a:buClr>
            </a:pPr>
            <a:r>
              <a:rPr lang="en-US" dirty="0"/>
              <a:t>Avoidance</a:t>
            </a:r>
          </a:p>
        </p:txBody>
      </p:sp>
      <p:sp>
        <p:nvSpPr>
          <p:cNvPr id="3" name="Content Placeholder 2"/>
          <p:cNvSpPr>
            <a:spLocks noGrp="1"/>
          </p:cNvSpPr>
          <p:nvPr>
            <p:ph idx="1"/>
          </p:nvPr>
        </p:nvSpPr>
        <p:spPr>
          <a:xfrm>
            <a:off x="838199" y="1825625"/>
            <a:ext cx="11217965" cy="4667250"/>
          </a:xfrm>
        </p:spPr>
        <p:txBody>
          <a:bodyPr>
            <a:normAutofit/>
          </a:bodyPr>
          <a:lstStyle/>
          <a:p>
            <a:pPr lvl="1"/>
            <a:r>
              <a:rPr lang="en-US" sz="2800" dirty="0"/>
              <a:t>Avoidance is the risk control strategy that attempts to prevent the exploitation of the vulnerability. </a:t>
            </a:r>
          </a:p>
          <a:p>
            <a:pPr lvl="1"/>
            <a:endParaRPr lang="en-US" sz="2800" dirty="0"/>
          </a:p>
          <a:p>
            <a:pPr lvl="1"/>
            <a:r>
              <a:rPr lang="en-US" sz="2800" dirty="0"/>
              <a:t>Avoidance is accomplished through: </a:t>
            </a:r>
          </a:p>
          <a:p>
            <a:pPr lvl="2"/>
            <a:r>
              <a:rPr lang="en-US" sz="2400" dirty="0"/>
              <a:t>Application of policy </a:t>
            </a:r>
          </a:p>
          <a:p>
            <a:pPr lvl="2"/>
            <a:r>
              <a:rPr lang="en-US" sz="2400" dirty="0"/>
              <a:t>Application of training and education </a:t>
            </a:r>
          </a:p>
          <a:p>
            <a:pPr lvl="2"/>
            <a:r>
              <a:rPr lang="en-US" sz="2400" dirty="0"/>
              <a:t>Countering threats </a:t>
            </a:r>
          </a:p>
          <a:p>
            <a:pPr lvl="2"/>
            <a:r>
              <a:rPr lang="en-US" sz="2400" dirty="0"/>
              <a:t>Implementation of technical security controls and safeguards </a:t>
            </a:r>
          </a:p>
          <a:p>
            <a:pPr marL="228600" lvl="1" indent="0">
              <a:buNone/>
            </a:pPr>
            <a:endParaRPr lang="en-US" sz="2800" dirty="0">
              <a:latin typeface="Georgia"/>
            </a:endParaRPr>
          </a:p>
          <a:p>
            <a:pPr lvl="1"/>
            <a:endParaRPr lang="en-US" sz="2800" dirty="0"/>
          </a:p>
        </p:txBody>
      </p:sp>
      <p:pic>
        <p:nvPicPr>
          <p:cNvPr id="4" name="Picture 3">
            <a:extLst>
              <a:ext uri="{FF2B5EF4-FFF2-40B4-BE49-F238E27FC236}">
                <a16:creationId xmlns:a16="http://schemas.microsoft.com/office/drawing/2014/main" id="{DAC3873B-F5C4-394A-98DC-540FD3037B23}"/>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B19C1C1E-ADE2-2444-B8A1-457EC2F8C2D6}"/>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614589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Transference</a:t>
            </a:r>
          </a:p>
        </p:txBody>
      </p:sp>
      <p:sp>
        <p:nvSpPr>
          <p:cNvPr id="3" name="Content Placeholder 2"/>
          <p:cNvSpPr>
            <a:spLocks noGrp="1"/>
          </p:cNvSpPr>
          <p:nvPr>
            <p:ph idx="1"/>
          </p:nvPr>
        </p:nvSpPr>
        <p:spPr>
          <a:xfrm>
            <a:off x="838199" y="1825625"/>
            <a:ext cx="11009243" cy="4515540"/>
          </a:xfrm>
        </p:spPr>
        <p:txBody>
          <a:bodyPr>
            <a:normAutofit/>
          </a:bodyPr>
          <a:lstStyle/>
          <a:p>
            <a:pPr marL="0" lvl="0" indent="0">
              <a:buClr>
                <a:srgbClr val="663366"/>
              </a:buClr>
              <a:buNone/>
            </a:pPr>
            <a:endParaRPr lang="en-US" sz="3200" dirty="0"/>
          </a:p>
          <a:p>
            <a:pPr lvl="1" algn="just"/>
            <a:r>
              <a:rPr lang="en-US" sz="2800" dirty="0"/>
              <a:t>Transference is the control approach that attempts to shift the risk to other assets, other processes, or other organizations. </a:t>
            </a:r>
          </a:p>
          <a:p>
            <a:pPr lvl="1" algn="just"/>
            <a:endParaRPr lang="en-US" sz="2800" dirty="0"/>
          </a:p>
          <a:p>
            <a:pPr lvl="1" algn="just"/>
            <a:r>
              <a:rPr lang="en-US" sz="2800" dirty="0"/>
              <a:t>This may be accomplished by rethinking how services are offered, revising deployment models, outsourcing to other organizations, purchasing insurance, or by implementing service contracts with providers. </a:t>
            </a:r>
          </a:p>
          <a:p>
            <a:pPr marL="228600" lvl="1" indent="0">
              <a:buNone/>
            </a:pPr>
            <a:endParaRPr lang="en-US" sz="2800" dirty="0">
              <a:latin typeface="Georgia"/>
            </a:endParaRPr>
          </a:p>
          <a:p>
            <a:pPr lvl="1"/>
            <a:endParaRPr lang="en-US" sz="2800" dirty="0"/>
          </a:p>
        </p:txBody>
      </p:sp>
      <p:pic>
        <p:nvPicPr>
          <p:cNvPr id="4" name="Picture 3">
            <a:extLst>
              <a:ext uri="{FF2B5EF4-FFF2-40B4-BE49-F238E27FC236}">
                <a16:creationId xmlns:a16="http://schemas.microsoft.com/office/drawing/2014/main" id="{DA64DDEA-4205-C346-A6EF-EB95F7927EBB}"/>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C09F5593-EB36-DE48-815F-E6052FCEFC05}"/>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83783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Mitigation </a:t>
            </a:r>
          </a:p>
        </p:txBody>
      </p:sp>
      <p:sp>
        <p:nvSpPr>
          <p:cNvPr id="3" name="Content Placeholder 2"/>
          <p:cNvSpPr>
            <a:spLocks noGrp="1"/>
          </p:cNvSpPr>
          <p:nvPr>
            <p:ph idx="1"/>
          </p:nvPr>
        </p:nvSpPr>
        <p:spPr/>
        <p:txBody>
          <a:bodyPr>
            <a:normAutofit/>
          </a:bodyPr>
          <a:lstStyle/>
          <a:p>
            <a:endParaRPr lang="en-US" sz="1800" dirty="0"/>
          </a:p>
          <a:p>
            <a:pPr lvl="1"/>
            <a:r>
              <a:rPr lang="en-US" dirty="0"/>
              <a:t>Mitigation is the control approach that attempts to reduce, by means of planning and preparation, the damage caused by the exploitation of vulnerability. </a:t>
            </a:r>
          </a:p>
          <a:p>
            <a:pPr lvl="1"/>
            <a:r>
              <a:rPr lang="en-US" dirty="0"/>
              <a:t>This approach includes three types of plans: </a:t>
            </a:r>
          </a:p>
          <a:p>
            <a:pPr lvl="2"/>
            <a:r>
              <a:rPr lang="fr-FR" dirty="0"/>
              <a:t>Incident </a:t>
            </a:r>
            <a:r>
              <a:rPr lang="fr-FR" dirty="0" err="1"/>
              <a:t>Response</a:t>
            </a:r>
            <a:r>
              <a:rPr lang="fr-FR" dirty="0"/>
              <a:t> Plan (IRP) </a:t>
            </a:r>
          </a:p>
          <a:p>
            <a:pPr lvl="2"/>
            <a:r>
              <a:rPr lang="en-US" dirty="0"/>
              <a:t>Disaster Recovery Plan (DRP) </a:t>
            </a:r>
          </a:p>
          <a:p>
            <a:pPr lvl="2"/>
            <a:r>
              <a:rPr lang="en-US" dirty="0"/>
              <a:t>Business Continuity Plan (BCP) </a:t>
            </a:r>
          </a:p>
          <a:p>
            <a:pPr lvl="1"/>
            <a:r>
              <a:rPr lang="en-US" dirty="0"/>
              <a:t>Mitigation depends upon the ability to detect and respond to an attack as quickly as possible</a:t>
            </a:r>
            <a:r>
              <a:rPr lang="en-US" sz="2200" dirty="0">
                <a:solidFill>
                  <a:prstClr val="black">
                    <a:lumMod val="65000"/>
                    <a:lumOff val="35000"/>
                  </a:prstClr>
                </a:solidFill>
              </a:rPr>
              <a:t>. </a:t>
            </a:r>
          </a:p>
          <a:p>
            <a:pPr marL="228600" lvl="1" indent="0">
              <a:buNone/>
            </a:pPr>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4A8562F4-C6AB-C843-B685-E183D21504FC}"/>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F43FF7A9-A3FA-8742-9127-223138AB9902}"/>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75287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Acceptance</a:t>
            </a:r>
            <a:r>
              <a:rPr lang="en-US" dirty="0">
                <a:latin typeface="Georgia"/>
              </a:rPr>
              <a:t> </a:t>
            </a:r>
          </a:p>
        </p:txBody>
      </p:sp>
      <p:sp>
        <p:nvSpPr>
          <p:cNvPr id="3" name="Content Placeholder 2"/>
          <p:cNvSpPr>
            <a:spLocks noGrp="1"/>
          </p:cNvSpPr>
          <p:nvPr>
            <p:ph idx="1"/>
          </p:nvPr>
        </p:nvSpPr>
        <p:spPr/>
        <p:txBody>
          <a:bodyPr>
            <a:normAutofit/>
          </a:bodyPr>
          <a:lstStyle/>
          <a:p>
            <a:endParaRPr lang="en-US" dirty="0">
              <a:latin typeface="Georgia"/>
            </a:endParaRPr>
          </a:p>
          <a:p>
            <a:pPr lvl="1" algn="just"/>
            <a:r>
              <a:rPr lang="en-US" dirty="0">
                <a:latin typeface="Georgia"/>
              </a:rPr>
              <a:t>The choice to do nothing to protect an information asset and to accept the loss when it occurs </a:t>
            </a:r>
          </a:p>
          <a:p>
            <a:pPr lvl="1" algn="just"/>
            <a:endParaRPr lang="en-US" dirty="0">
              <a:latin typeface="Georgia"/>
            </a:endParaRPr>
          </a:p>
          <a:p>
            <a:pPr lvl="1" algn="just"/>
            <a:r>
              <a:rPr lang="en-US" dirty="0">
                <a:latin typeface="Georgia"/>
              </a:rPr>
              <a:t>This control, or lack of control, assumes that it may be a prudent business decision to examine the alternatives and conclude that the cost of protecting an asset does not justify the security expenditure. </a:t>
            </a:r>
          </a:p>
          <a:p>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9829701B-9547-534B-9876-EB904B49AE85}"/>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9AC39938-8B48-1241-B76B-9174F9B9E157}"/>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122503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BB6D1-2ED9-E542-AB38-F80093E5E7DE}"/>
              </a:ext>
            </a:extLst>
          </p:cNvPr>
          <p:cNvSpPr>
            <a:spLocks noGrp="1"/>
          </p:cNvSpPr>
          <p:nvPr>
            <p:ph type="title"/>
          </p:nvPr>
        </p:nvSpPr>
        <p:spPr/>
        <p:txBody>
          <a:bodyPr/>
          <a:lstStyle/>
          <a:p>
            <a:r>
              <a:rPr lang="en-US" dirty="0"/>
              <a:t>Continuity Strategies </a:t>
            </a:r>
          </a:p>
        </p:txBody>
      </p:sp>
      <p:pic>
        <p:nvPicPr>
          <p:cNvPr id="5" name="Content Placeholder 4">
            <a:extLst>
              <a:ext uri="{FF2B5EF4-FFF2-40B4-BE49-F238E27FC236}">
                <a16:creationId xmlns:a16="http://schemas.microsoft.com/office/drawing/2014/main" id="{9CBE7C8F-18A2-CC4C-95DC-D0E44C01C923}"/>
              </a:ext>
            </a:extLst>
          </p:cNvPr>
          <p:cNvPicPr>
            <a:picLocks noGrp="1" noChangeAspect="1"/>
          </p:cNvPicPr>
          <p:nvPr>
            <p:ph idx="1"/>
          </p:nvPr>
        </p:nvPicPr>
        <p:blipFill>
          <a:blip r:embed="rId2"/>
          <a:stretch>
            <a:fillRect/>
          </a:stretch>
        </p:blipFill>
        <p:spPr>
          <a:xfrm>
            <a:off x="274982" y="1982782"/>
            <a:ext cx="5827101" cy="3255139"/>
          </a:xfrm>
        </p:spPr>
      </p:pic>
      <p:sp>
        <p:nvSpPr>
          <p:cNvPr id="6" name="Rectangle 5">
            <a:extLst>
              <a:ext uri="{FF2B5EF4-FFF2-40B4-BE49-F238E27FC236}">
                <a16:creationId xmlns:a16="http://schemas.microsoft.com/office/drawing/2014/main" id="{30309C5F-7473-9B43-850A-49134FB10155}"/>
              </a:ext>
            </a:extLst>
          </p:cNvPr>
          <p:cNvSpPr/>
          <p:nvPr/>
        </p:nvSpPr>
        <p:spPr>
          <a:xfrm>
            <a:off x="5814390" y="1326726"/>
            <a:ext cx="6231835" cy="4370427"/>
          </a:xfrm>
          <a:prstGeom prst="rect">
            <a:avLst/>
          </a:prstGeom>
        </p:spPr>
        <p:txBody>
          <a:bodyPr wrap="square">
            <a:spAutoFit/>
          </a:bodyPr>
          <a:lstStyle/>
          <a:p>
            <a:r>
              <a:rPr lang="en-US" sz="2000" dirty="0">
                <a:latin typeface="AdvOTbc475f09"/>
              </a:rPr>
              <a:t>The IR (Incident Response)plan focuses on immediate response, but if the attack escalates or is disastrous (e.g., fire, flood, earthquake, or total blackout), the process moves on to the DR plan and BC plan. </a:t>
            </a:r>
          </a:p>
          <a:p>
            <a:pPr>
              <a:buFont typeface="Arial" panose="020B0604020202020204" pitchFamily="34" charset="0"/>
              <a:buChar char="•"/>
            </a:pPr>
            <a:endParaRPr lang="en-US" sz="2000" dirty="0"/>
          </a:p>
          <a:p>
            <a:r>
              <a:rPr lang="en-US" sz="2000" dirty="0">
                <a:latin typeface="AdvOTbc475f09"/>
              </a:rPr>
              <a:t>The DR (Disaster Recovery)plan typically focuses on restoring systems at the original site after disasters occur, and it is therefore closely associated with the BC plan. </a:t>
            </a:r>
            <a:endParaRPr lang="en-US" sz="2000" dirty="0"/>
          </a:p>
          <a:p>
            <a:endParaRPr lang="en-US" sz="900" dirty="0">
              <a:latin typeface="AdvOT526a88f1+25"/>
            </a:endParaRPr>
          </a:p>
          <a:p>
            <a:endParaRPr lang="en-US" sz="900" dirty="0">
              <a:latin typeface="AdvOT526a88f1+25"/>
            </a:endParaRPr>
          </a:p>
          <a:p>
            <a:r>
              <a:rPr lang="en-US" sz="2000" dirty="0">
                <a:latin typeface="AdvOTbc475f09"/>
              </a:rPr>
              <a:t>The BC (Business Continuity) plan occurs concurrently with the DR plan when the damage is major or long term, requiring more than simple restoration of information and information resources. The BC plan establishes critical business functions at an alternate site. </a:t>
            </a:r>
            <a:endParaRPr lang="en-US" sz="2000" dirty="0">
              <a:effectLst/>
            </a:endParaRPr>
          </a:p>
        </p:txBody>
      </p:sp>
    </p:spTree>
    <p:extLst>
      <p:ext uri="{BB962C8B-B14F-4D97-AF65-F5344CB8AC3E}">
        <p14:creationId xmlns:p14="http://schemas.microsoft.com/office/powerpoint/2010/main" val="821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31CCA-7E63-CC4C-B08F-0DE7B1FF4324}"/>
              </a:ext>
            </a:extLst>
          </p:cNvPr>
          <p:cNvSpPr>
            <a:spLocks noGrp="1"/>
          </p:cNvSpPr>
          <p:nvPr>
            <p:ph type="title"/>
          </p:nvPr>
        </p:nvSpPr>
        <p:spPr/>
        <p:txBody>
          <a:bodyPr>
            <a:normAutofit/>
          </a:bodyPr>
          <a:lstStyle/>
          <a:p>
            <a:r>
              <a:rPr lang="en-US" dirty="0"/>
              <a:t> Major Steps in Contingency Planning </a:t>
            </a:r>
          </a:p>
        </p:txBody>
      </p:sp>
      <p:pic>
        <p:nvPicPr>
          <p:cNvPr id="5" name="Content Placeholder 4">
            <a:extLst>
              <a:ext uri="{FF2B5EF4-FFF2-40B4-BE49-F238E27FC236}">
                <a16:creationId xmlns:a16="http://schemas.microsoft.com/office/drawing/2014/main" id="{4B5CA5E8-B752-BE42-B712-635D338D6F4E}"/>
              </a:ext>
            </a:extLst>
          </p:cNvPr>
          <p:cNvPicPr>
            <a:picLocks noGrp="1" noChangeAspect="1"/>
          </p:cNvPicPr>
          <p:nvPr>
            <p:ph idx="1"/>
          </p:nvPr>
        </p:nvPicPr>
        <p:blipFill>
          <a:blip r:embed="rId2"/>
          <a:stretch>
            <a:fillRect/>
          </a:stretch>
        </p:blipFill>
        <p:spPr>
          <a:xfrm>
            <a:off x="2186884" y="1861156"/>
            <a:ext cx="7623037" cy="4631719"/>
          </a:xfrm>
        </p:spPr>
      </p:pic>
    </p:spTree>
    <p:extLst>
      <p:ext uri="{BB962C8B-B14F-4D97-AF65-F5344CB8AC3E}">
        <p14:creationId xmlns:p14="http://schemas.microsoft.com/office/powerpoint/2010/main" val="1926842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Cost Benefit Analysis </a:t>
            </a:r>
          </a:p>
        </p:txBody>
      </p:sp>
      <p:sp>
        <p:nvSpPr>
          <p:cNvPr id="3" name="Content Placeholder 2"/>
          <p:cNvSpPr>
            <a:spLocks noGrp="1"/>
          </p:cNvSpPr>
          <p:nvPr>
            <p:ph idx="1"/>
          </p:nvPr>
        </p:nvSpPr>
        <p:spPr/>
        <p:txBody>
          <a:bodyPr anchor="ctr">
            <a:normAutofit/>
          </a:bodyPr>
          <a:lstStyle/>
          <a:p>
            <a:pPr marL="0" indent="0">
              <a:buNone/>
            </a:pPr>
            <a:endParaRPr lang="en-US" dirty="0">
              <a:latin typeface="Georgia"/>
            </a:endParaRPr>
          </a:p>
          <a:p>
            <a:pPr lvl="1" algn="just"/>
            <a:r>
              <a:rPr lang="en-US" dirty="0">
                <a:latin typeface="Georgia"/>
              </a:rPr>
              <a:t>The criterion most commonly used when evaluating a project that implements information security controls and safeguards is Economic Feasibility. </a:t>
            </a:r>
          </a:p>
          <a:p>
            <a:pPr lvl="1" algn="just"/>
            <a:endParaRPr lang="en-US" dirty="0">
              <a:latin typeface="Georgia"/>
            </a:endParaRPr>
          </a:p>
          <a:p>
            <a:pPr lvl="1" algn="just"/>
            <a:r>
              <a:rPr lang="en-US" dirty="0">
                <a:latin typeface="Georgia"/>
              </a:rPr>
              <a:t>Organizations are urged to begin a cost benefit analysis by evaluating the worth of the information assets to be protected and the loss in value if those information assets are compromised. </a:t>
            </a:r>
          </a:p>
          <a:p>
            <a:pPr lvl="1" algn="just"/>
            <a:endParaRPr lang="en-US" dirty="0">
              <a:latin typeface="Georgia"/>
            </a:endParaRPr>
          </a:p>
          <a:p>
            <a:pPr lvl="1" algn="just"/>
            <a:r>
              <a:rPr lang="en-US" dirty="0">
                <a:latin typeface="Georgia"/>
              </a:rPr>
              <a:t>This decision-making process is called a Cost Benefit Analysis/Economic Feasibility Study.  </a:t>
            </a:r>
          </a:p>
          <a:p>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B0AF5D1C-7F92-1243-AD90-4736F088A5F0}"/>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6B03F03D-B78C-614D-9792-335D1A170382}"/>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42311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Cost Benefit Analysis </a:t>
            </a:r>
          </a:p>
        </p:txBody>
      </p:sp>
      <p:sp>
        <p:nvSpPr>
          <p:cNvPr id="3" name="Content Placeholder 2"/>
          <p:cNvSpPr>
            <a:spLocks noGrp="1"/>
          </p:cNvSpPr>
          <p:nvPr>
            <p:ph idx="1"/>
          </p:nvPr>
        </p:nvSpPr>
        <p:spPr>
          <a:xfrm>
            <a:off x="987553" y="1690689"/>
            <a:ext cx="10741152" cy="5087144"/>
          </a:xfrm>
        </p:spPr>
        <p:txBody>
          <a:bodyPr anchor="ctr">
            <a:normAutofit/>
          </a:bodyPr>
          <a:lstStyle/>
          <a:p>
            <a:pPr marL="0" indent="0">
              <a:buNone/>
            </a:pPr>
            <a:r>
              <a:rPr lang="en-US" b="1" dirty="0"/>
              <a:t>Cost</a:t>
            </a:r>
            <a:r>
              <a:rPr lang="en-US" dirty="0"/>
              <a:t> </a:t>
            </a:r>
          </a:p>
          <a:p>
            <a:pPr marL="0" indent="0">
              <a:buNone/>
            </a:pPr>
            <a:endParaRPr lang="en-US" dirty="0"/>
          </a:p>
          <a:p>
            <a:pPr lvl="1"/>
            <a:r>
              <a:rPr lang="en-US" dirty="0"/>
              <a:t>Just as it is difficult to determine the value of information, it is difficult to determine the cost of safeguarding it. </a:t>
            </a:r>
          </a:p>
          <a:p>
            <a:pPr lvl="1"/>
            <a:r>
              <a:rPr lang="en-US" dirty="0"/>
              <a:t>Some of the items that affect the cost of a control or safeguard include: </a:t>
            </a:r>
          </a:p>
          <a:p>
            <a:pPr lvl="1"/>
            <a:r>
              <a:rPr lang="en-US" dirty="0"/>
              <a:t>Cost of development or acquisition of hardware, software, and services </a:t>
            </a:r>
          </a:p>
          <a:p>
            <a:pPr lvl="2"/>
            <a:r>
              <a:rPr lang="en-US" dirty="0"/>
              <a:t>Training fees </a:t>
            </a:r>
          </a:p>
          <a:p>
            <a:pPr lvl="2"/>
            <a:r>
              <a:rPr lang="en-US" dirty="0"/>
              <a:t>Cost of implementation </a:t>
            </a:r>
          </a:p>
          <a:p>
            <a:pPr lvl="2"/>
            <a:r>
              <a:rPr lang="it-IT" dirty="0"/>
              <a:t>Service </a:t>
            </a:r>
            <a:r>
              <a:rPr lang="it-IT" dirty="0" err="1"/>
              <a:t>costs</a:t>
            </a:r>
            <a:r>
              <a:rPr lang="it-IT" dirty="0"/>
              <a:t> </a:t>
            </a:r>
          </a:p>
          <a:p>
            <a:pPr lvl="2"/>
            <a:r>
              <a:rPr lang="en-US" dirty="0"/>
              <a:t>Cost of maintenance </a:t>
            </a:r>
          </a:p>
          <a:p>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2EC45232-34E8-0648-829A-4865580B5A97}"/>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450BE51B-4195-C64C-93CA-5E1EB2C1F9A2}"/>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821377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Cost Benefit Analysis </a:t>
            </a:r>
          </a:p>
        </p:txBody>
      </p:sp>
      <p:sp>
        <p:nvSpPr>
          <p:cNvPr id="3" name="Content Placeholder 2"/>
          <p:cNvSpPr>
            <a:spLocks noGrp="1"/>
          </p:cNvSpPr>
          <p:nvPr>
            <p:ph idx="1"/>
          </p:nvPr>
        </p:nvSpPr>
        <p:spPr>
          <a:xfrm>
            <a:off x="2022475" y="1832551"/>
            <a:ext cx="9331325" cy="4660323"/>
          </a:xfrm>
        </p:spPr>
        <p:txBody>
          <a:bodyPr anchor="ctr">
            <a:normAutofit/>
          </a:bodyPr>
          <a:lstStyle/>
          <a:p>
            <a:pPr marL="0" lvl="0" indent="0">
              <a:buClr>
                <a:srgbClr val="663366"/>
              </a:buClr>
              <a:buNone/>
            </a:pPr>
            <a:r>
              <a:rPr lang="en-US" b="1" dirty="0">
                <a:solidFill>
                  <a:prstClr val="black">
                    <a:lumMod val="65000"/>
                    <a:lumOff val="35000"/>
                  </a:prstClr>
                </a:solidFill>
              </a:rPr>
              <a:t>Benefit </a:t>
            </a:r>
          </a:p>
          <a:p>
            <a:pPr lvl="0">
              <a:buClr>
                <a:srgbClr val="663366"/>
              </a:buClr>
            </a:pPr>
            <a:endParaRPr lang="en-US" dirty="0"/>
          </a:p>
          <a:p>
            <a:pPr lvl="1"/>
            <a:r>
              <a:rPr lang="en-US" dirty="0"/>
              <a:t>Benefit is the value to the organization of using controls to prevent losses associated with a specific vulnerability. </a:t>
            </a:r>
          </a:p>
          <a:p>
            <a:pPr lvl="1"/>
            <a:endParaRPr lang="en-US" dirty="0"/>
          </a:p>
          <a:p>
            <a:pPr lvl="1"/>
            <a:r>
              <a:rPr lang="en-US" dirty="0"/>
              <a:t>The benefit is usually determined by valuing the information asset exposed by the vulnerability and then determining how much of that value is at risk, i.e. how much risk there is for the asset. </a:t>
            </a:r>
          </a:p>
          <a:p>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87AE0F73-C8C3-1540-AC4A-49E7467917E4}"/>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27F02D22-81CF-3245-A435-A05223E870A7}"/>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2238906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Cost Benefit Analysis </a:t>
            </a:r>
          </a:p>
        </p:txBody>
      </p:sp>
      <p:sp>
        <p:nvSpPr>
          <p:cNvPr id="3" name="Content Placeholder 2"/>
          <p:cNvSpPr>
            <a:spLocks noGrp="1"/>
          </p:cNvSpPr>
          <p:nvPr>
            <p:ph idx="1"/>
          </p:nvPr>
        </p:nvSpPr>
        <p:spPr>
          <a:xfrm>
            <a:off x="1033670" y="1690688"/>
            <a:ext cx="11072191" cy="5139720"/>
          </a:xfrm>
        </p:spPr>
        <p:txBody>
          <a:bodyPr anchor="ctr">
            <a:normAutofit/>
          </a:bodyPr>
          <a:lstStyle/>
          <a:p>
            <a:pPr marL="0" lvl="0" indent="0">
              <a:buClr>
                <a:srgbClr val="663366"/>
              </a:buClr>
              <a:buNone/>
            </a:pPr>
            <a:r>
              <a:rPr lang="en-US" b="1" dirty="0">
                <a:solidFill>
                  <a:prstClr val="black">
                    <a:lumMod val="65000"/>
                    <a:lumOff val="35000"/>
                  </a:prstClr>
                </a:solidFill>
              </a:rPr>
              <a:t>Asset Valuation </a:t>
            </a:r>
          </a:p>
          <a:p>
            <a:pPr marL="0" lvl="0" indent="0">
              <a:buClr>
                <a:srgbClr val="663366"/>
              </a:buClr>
              <a:buNone/>
            </a:pPr>
            <a:endParaRPr lang="en-US" b="1" dirty="0"/>
          </a:p>
          <a:p>
            <a:pPr lvl="1"/>
            <a:r>
              <a:rPr lang="en-US" dirty="0"/>
              <a:t>A </a:t>
            </a:r>
            <a:r>
              <a:rPr lang="en-US" b="1" dirty="0"/>
              <a:t>S</a:t>
            </a:r>
            <a:r>
              <a:rPr lang="en-US" dirty="0"/>
              <a:t>ingle </a:t>
            </a:r>
            <a:r>
              <a:rPr lang="en-US" b="1" dirty="0"/>
              <a:t>L</a:t>
            </a:r>
            <a:r>
              <a:rPr lang="en-US" dirty="0"/>
              <a:t>oss </a:t>
            </a:r>
            <a:r>
              <a:rPr lang="en-US" b="1" dirty="0"/>
              <a:t>E</a:t>
            </a:r>
            <a:r>
              <a:rPr lang="en-US" dirty="0"/>
              <a:t>xpectancy (</a:t>
            </a:r>
            <a:r>
              <a:rPr lang="en-US" b="1" dirty="0"/>
              <a:t>SLE</a:t>
            </a:r>
            <a:r>
              <a:rPr lang="en-US" dirty="0"/>
              <a:t>), is the calculation of the value associated with the most likely loss from an attack. </a:t>
            </a:r>
          </a:p>
          <a:p>
            <a:pPr lvl="1"/>
            <a:endParaRPr lang="en-US" dirty="0"/>
          </a:p>
          <a:p>
            <a:pPr lvl="1"/>
            <a:r>
              <a:rPr lang="en-US" dirty="0"/>
              <a:t>The SLE is a calculation based on the value of the asset and the expected percentage of loss that would occur from a particular attack: </a:t>
            </a:r>
          </a:p>
          <a:p>
            <a:pPr lvl="2"/>
            <a:r>
              <a:rPr lang="fi-FI" dirty="0"/>
              <a:t>SLE = </a:t>
            </a:r>
            <a:r>
              <a:rPr lang="fi-FI" dirty="0" err="1"/>
              <a:t>asset</a:t>
            </a:r>
            <a:r>
              <a:rPr lang="fi-FI" dirty="0"/>
              <a:t> </a:t>
            </a:r>
            <a:r>
              <a:rPr lang="fi-FI" dirty="0" err="1"/>
              <a:t>value</a:t>
            </a:r>
            <a:r>
              <a:rPr lang="fi-FI" dirty="0"/>
              <a:t> (AV) x </a:t>
            </a:r>
            <a:r>
              <a:rPr lang="fi-FI" dirty="0" err="1"/>
              <a:t>exposure</a:t>
            </a:r>
            <a:r>
              <a:rPr lang="fi-FI" dirty="0"/>
              <a:t> </a:t>
            </a:r>
            <a:r>
              <a:rPr lang="fi-FI" dirty="0" err="1"/>
              <a:t>factor</a:t>
            </a:r>
            <a:r>
              <a:rPr lang="fi-FI" dirty="0"/>
              <a:t> (EF) </a:t>
            </a:r>
          </a:p>
          <a:p>
            <a:pPr lvl="3"/>
            <a:r>
              <a:rPr lang="en-US" i="1" dirty="0"/>
              <a:t>Where EF = the percentage loss that would occur from a given vulnerability being exploited </a:t>
            </a:r>
            <a:endParaRPr lang="en-US" dirty="0"/>
          </a:p>
          <a:p>
            <a:pPr lvl="1"/>
            <a:r>
              <a:rPr lang="en-US" dirty="0"/>
              <a:t>This information is usually estimated. </a:t>
            </a:r>
          </a:p>
          <a:p>
            <a:endParaRPr lang="en-US" dirty="0">
              <a:latin typeface="Georgia"/>
            </a:endParaRPr>
          </a:p>
          <a:p>
            <a:pPr lvl="1"/>
            <a:endParaRPr lang="en-US" dirty="0"/>
          </a:p>
        </p:txBody>
      </p:sp>
      <p:pic>
        <p:nvPicPr>
          <p:cNvPr id="4" name="Picture 3">
            <a:extLst>
              <a:ext uri="{FF2B5EF4-FFF2-40B4-BE49-F238E27FC236}">
                <a16:creationId xmlns:a16="http://schemas.microsoft.com/office/drawing/2014/main" id="{65DCAD18-62E7-B24F-9F08-9E78681A2AC7}"/>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FB547178-1654-FE42-B725-9D06CE2B41AD}"/>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3779613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Cost Benefit Analysis </a:t>
            </a:r>
          </a:p>
        </p:txBody>
      </p:sp>
      <p:sp>
        <p:nvSpPr>
          <p:cNvPr id="3" name="Content Placeholder 2"/>
          <p:cNvSpPr>
            <a:spLocks noGrp="1"/>
          </p:cNvSpPr>
          <p:nvPr>
            <p:ph idx="1"/>
          </p:nvPr>
        </p:nvSpPr>
        <p:spPr>
          <a:xfrm>
            <a:off x="758688" y="1690688"/>
            <a:ext cx="11068878" cy="4402381"/>
          </a:xfrm>
        </p:spPr>
        <p:txBody>
          <a:bodyPr anchor="ctr">
            <a:normAutofit/>
          </a:bodyPr>
          <a:lstStyle/>
          <a:p>
            <a:pPr marL="0" lvl="0" indent="0">
              <a:buNone/>
            </a:pPr>
            <a:r>
              <a:rPr lang="en-US" b="1" dirty="0"/>
              <a:t>Asset Valuation </a:t>
            </a:r>
          </a:p>
          <a:p>
            <a:pPr marL="0" lvl="0" indent="0">
              <a:buNone/>
            </a:pPr>
            <a:endParaRPr lang="en-US" dirty="0"/>
          </a:p>
          <a:p>
            <a:pPr lvl="1"/>
            <a:r>
              <a:rPr lang="en-US" dirty="0"/>
              <a:t>In most cases, the probability of a threat occurring is the probability of loss from an attack within a given time frame. </a:t>
            </a:r>
          </a:p>
          <a:p>
            <a:pPr lvl="1"/>
            <a:r>
              <a:rPr lang="en-US" dirty="0"/>
              <a:t>This value is commonly referred to as the Annualized Rate of Occurrence (ARO) </a:t>
            </a:r>
          </a:p>
          <a:p>
            <a:pPr lvl="2"/>
            <a:r>
              <a:rPr lang="pt-BR" dirty="0"/>
              <a:t>ALE = SLE * ARO </a:t>
            </a:r>
            <a:endParaRPr lang="en-US" dirty="0"/>
          </a:p>
          <a:p>
            <a:pPr lvl="1"/>
            <a:endParaRPr lang="en-US" dirty="0"/>
          </a:p>
        </p:txBody>
      </p:sp>
      <p:pic>
        <p:nvPicPr>
          <p:cNvPr id="4" name="Picture 3">
            <a:extLst>
              <a:ext uri="{FF2B5EF4-FFF2-40B4-BE49-F238E27FC236}">
                <a16:creationId xmlns:a16="http://schemas.microsoft.com/office/drawing/2014/main" id="{87782118-84FE-8A4D-ABC2-2DBBB24CF6A1}"/>
              </a:ext>
            </a:extLst>
          </p:cNvPr>
          <p:cNvPicPr>
            <a:picLocks noChangeAspect="1"/>
          </p:cNvPicPr>
          <p:nvPr/>
        </p:nvPicPr>
        <p:blipFill>
          <a:blip r:embed="rId3"/>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6A6F59D8-45F0-004D-A917-F1F410CCD28F}"/>
              </a:ext>
            </a:extLst>
          </p:cNvPr>
          <p:cNvPicPr>
            <a:picLocks noChangeAspect="1"/>
          </p:cNvPicPr>
          <p:nvPr/>
        </p:nvPicPr>
        <p:blipFill>
          <a:blip r:embed="rId4"/>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472682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58ACCC-A0C7-9C4A-A9C1-0CFCADE585E9}"/>
              </a:ext>
            </a:extLst>
          </p:cNvPr>
          <p:cNvSpPr>
            <a:spLocks noGrp="1"/>
          </p:cNvSpPr>
          <p:nvPr>
            <p:ph idx="1"/>
          </p:nvPr>
        </p:nvSpPr>
        <p:spPr>
          <a:xfrm>
            <a:off x="838200" y="2322582"/>
            <a:ext cx="10515600" cy="4351338"/>
          </a:xfrm>
        </p:spPr>
        <p:txBody>
          <a:bodyPr>
            <a:normAutofit/>
          </a:bodyPr>
          <a:lstStyle/>
          <a:p>
            <a:pPr marL="0" indent="0" algn="ctr">
              <a:buNone/>
            </a:pPr>
            <a:r>
              <a:rPr lang="en-US" sz="13800" dirty="0"/>
              <a:t>Thank You</a:t>
            </a:r>
          </a:p>
        </p:txBody>
      </p:sp>
      <p:pic>
        <p:nvPicPr>
          <p:cNvPr id="4" name="Picture 3">
            <a:extLst>
              <a:ext uri="{FF2B5EF4-FFF2-40B4-BE49-F238E27FC236}">
                <a16:creationId xmlns:a16="http://schemas.microsoft.com/office/drawing/2014/main" id="{77B6400E-073F-BD49-9410-887BD90DBA40}"/>
              </a:ext>
            </a:extLst>
          </p:cNvPr>
          <p:cNvPicPr>
            <a:picLocks noChangeAspect="1"/>
          </p:cNvPicPr>
          <p:nvPr/>
        </p:nvPicPr>
        <p:blipFill>
          <a:blip r:embed="rId2"/>
          <a:stretch>
            <a:fillRect/>
          </a:stretch>
        </p:blipFill>
        <p:spPr>
          <a:xfrm>
            <a:off x="7562272" y="80167"/>
            <a:ext cx="3009900" cy="635000"/>
          </a:xfrm>
          <a:prstGeom prst="rect">
            <a:avLst/>
          </a:prstGeom>
        </p:spPr>
      </p:pic>
      <p:pic>
        <p:nvPicPr>
          <p:cNvPr id="5" name="Picture 4">
            <a:extLst>
              <a:ext uri="{FF2B5EF4-FFF2-40B4-BE49-F238E27FC236}">
                <a16:creationId xmlns:a16="http://schemas.microsoft.com/office/drawing/2014/main" id="{84B210F3-ADC8-6146-B678-2D9CF67DD119}"/>
              </a:ext>
            </a:extLst>
          </p:cNvPr>
          <p:cNvPicPr>
            <a:picLocks noChangeAspect="1"/>
          </p:cNvPicPr>
          <p:nvPr/>
        </p:nvPicPr>
        <p:blipFill>
          <a:blip r:embed="rId3"/>
          <a:stretch>
            <a:fillRect/>
          </a:stretch>
        </p:blipFill>
        <p:spPr>
          <a:xfrm>
            <a:off x="10572172" y="27592"/>
            <a:ext cx="1619828" cy="687575"/>
          </a:xfrm>
          <a:prstGeom prst="rect">
            <a:avLst/>
          </a:prstGeom>
        </p:spPr>
      </p:pic>
    </p:spTree>
    <p:extLst>
      <p:ext uri="{BB962C8B-B14F-4D97-AF65-F5344CB8AC3E}">
        <p14:creationId xmlns:p14="http://schemas.microsoft.com/office/powerpoint/2010/main" val="500036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1554</Words>
  <Application>Microsoft Macintosh PowerPoint</Application>
  <PresentationFormat>Widescreen</PresentationFormat>
  <Paragraphs>194</Paragraphs>
  <Slides>27</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AdvOT526a88f1+25</vt:lpstr>
      <vt:lpstr>AdvOTbc475f09</vt:lpstr>
      <vt:lpstr>Arial</vt:lpstr>
      <vt:lpstr>Calibri</vt:lpstr>
      <vt:lpstr>Calibri Light</vt:lpstr>
      <vt:lpstr>Georgia</vt:lpstr>
      <vt:lpstr>Office Theme</vt:lpstr>
      <vt:lpstr>Introductory Computer Networking and IT Security </vt:lpstr>
      <vt:lpstr>Agenda</vt:lpstr>
      <vt:lpstr>Introductions to IT risk management </vt:lpstr>
      <vt:lpstr>Introductions to IT risk management </vt:lpstr>
      <vt:lpstr>Introductions to IT risk management </vt:lpstr>
      <vt:lpstr>Risk Identification </vt:lpstr>
      <vt:lpstr> Creating an Inventory of Information Assets </vt:lpstr>
      <vt:lpstr> Classifying and Categorizing Assets </vt:lpstr>
      <vt:lpstr>Assessing Values for Information Assets  </vt:lpstr>
      <vt:lpstr>Listing Assets in Order of Importance </vt:lpstr>
      <vt:lpstr>Threat Identification </vt:lpstr>
      <vt:lpstr> Identify and Prioritize Threats and Threat Agents </vt:lpstr>
      <vt:lpstr>Vulnerability Assessment </vt:lpstr>
      <vt:lpstr>Risk</vt:lpstr>
      <vt:lpstr>Risk Control Strategies </vt:lpstr>
      <vt:lpstr>Avoidance</vt:lpstr>
      <vt:lpstr>Transference</vt:lpstr>
      <vt:lpstr>Mitigation </vt:lpstr>
      <vt:lpstr>Acceptance </vt:lpstr>
      <vt:lpstr>Continuity Strategies </vt:lpstr>
      <vt:lpstr> Major Steps in Contingency Planning </vt:lpstr>
      <vt:lpstr>Cost Benefit Analysis </vt:lpstr>
      <vt:lpstr>Cost Benefit Analysis </vt:lpstr>
      <vt:lpstr>Cost Benefit Analysis </vt:lpstr>
      <vt:lpstr>Cost Benefit Analysis </vt:lpstr>
      <vt:lpstr>Cost Benefit Analysis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 Computer Networking and IT Security </dc:title>
  <dc:creator>Krittika Tuladhar</dc:creator>
  <cp:lastModifiedBy>Krittika Tuladhar</cp:lastModifiedBy>
  <cp:revision>9</cp:revision>
  <dcterms:created xsi:type="dcterms:W3CDTF">2020-01-05T11:30:21Z</dcterms:created>
  <dcterms:modified xsi:type="dcterms:W3CDTF">2020-01-08T17:06:05Z</dcterms:modified>
</cp:coreProperties>
</file>