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5"/>
  </p:notesMasterIdLst>
  <p:sldIdLst>
    <p:sldId id="614" r:id="rId2"/>
    <p:sldId id="726" r:id="rId3"/>
    <p:sldId id="760" r:id="rId4"/>
    <p:sldId id="935" r:id="rId5"/>
    <p:sldId id="954" r:id="rId6"/>
    <p:sldId id="936" r:id="rId7"/>
    <p:sldId id="937" r:id="rId8"/>
    <p:sldId id="955" r:id="rId9"/>
    <p:sldId id="938" r:id="rId10"/>
    <p:sldId id="939" r:id="rId11"/>
    <p:sldId id="956" r:id="rId12"/>
    <p:sldId id="940" r:id="rId13"/>
    <p:sldId id="963" r:id="rId14"/>
    <p:sldId id="941" r:id="rId15"/>
    <p:sldId id="942" r:id="rId16"/>
    <p:sldId id="957" r:id="rId17"/>
    <p:sldId id="943" r:id="rId18"/>
    <p:sldId id="958" r:id="rId19"/>
    <p:sldId id="944" r:id="rId20"/>
    <p:sldId id="945" r:id="rId21"/>
    <p:sldId id="962" r:id="rId22"/>
    <p:sldId id="946" r:id="rId23"/>
    <p:sldId id="947" r:id="rId24"/>
    <p:sldId id="948" r:id="rId25"/>
    <p:sldId id="949" r:id="rId26"/>
    <p:sldId id="959" r:id="rId27"/>
    <p:sldId id="951" r:id="rId28"/>
    <p:sldId id="952" r:id="rId29"/>
    <p:sldId id="953" r:id="rId30"/>
    <p:sldId id="960" r:id="rId31"/>
    <p:sldId id="794" r:id="rId32"/>
    <p:sldId id="741" r:id="rId33"/>
    <p:sldId id="687" r:id="rId34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  <a:srgbClr val="663300"/>
    <a:srgbClr val="FF99FF"/>
    <a:srgbClr val="9999FF"/>
    <a:srgbClr val="0033CC"/>
    <a:srgbClr val="FF66FF"/>
    <a:srgbClr val="9966FF"/>
    <a:srgbClr val="CC0099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2819" autoAdjust="0"/>
  </p:normalViewPr>
  <p:slideViewPr>
    <p:cSldViewPr>
      <p:cViewPr varScale="1">
        <p:scale>
          <a:sx n="57" d="100"/>
          <a:sy n="57" d="100"/>
        </p:scale>
        <p:origin x="1200" y="16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636" y="24993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6" name="AutoShape 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7" name="AutoShape 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8" name="AutoShape 1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9" name="AutoShape 1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0" name="AutoShape 1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2" name="AutoShape 1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3" name="AutoShape 1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4" name="AutoShape 1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6" name="AutoShape 1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7" name="AutoShape 1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8" name="AutoShape 2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9" name="AutoShape 2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0" name="AutoShape 2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1" name="AutoShape 2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2" name="AutoShape 2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3" name="AutoShape 2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79899" name="Rectangle 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58612" cy="12452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75" name="Rectangle 27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4091558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08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46713" cy="4076700"/>
          </a:xfrm>
          <a:noFill/>
          <a:ln/>
        </p:spPr>
        <p:txBody>
          <a:bodyPr wrap="none" anchor="ctr"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467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03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3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39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part in [ ] means,</a:t>
            </a:r>
            <a:r>
              <a:rPr lang="en-GB" baseline="0" dirty="0" smtClean="0"/>
              <a:t> it is optional.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2BFB39D-C0DE-41AE-B5BA-0495A989E69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39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0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33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2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E7AE-D891-4742-9343-5EF205D83184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41C6D-44DB-4C04-9CB5-747DFD8034D5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F2F3-A1D1-4097-8ADA-9467C774BAB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214438"/>
            <a:ext cx="4189413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563" y="1214438"/>
            <a:ext cx="4189412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D06B8-A366-4D7D-8D93-3C162260D047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B8C4F-FE3E-4394-B2DA-E4A48F0D5700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21365-AAB7-44E9-AE25-AC26CB6D31C9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5F4C4-4802-406A-9566-DC0441A9D6F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5B006-943A-426A-9B1D-39C221084F8A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C1328-7526-46D0-AF05-B470211DDA7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82277-77C8-4CBD-9C20-1D2B71F7204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4963" y="268288"/>
            <a:ext cx="2132012" cy="5816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0" y="268288"/>
            <a:ext cx="6246813" cy="5816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A60C3-6C5C-4A94-BC8E-5932D08D3DDD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85750" y="268288"/>
            <a:ext cx="8531225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0" y="1214438"/>
            <a:ext cx="8531225" cy="4870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the outline text format</a:t>
            </a:r>
          </a:p>
          <a:p>
            <a:pPr lvl="1"/>
            <a:r>
              <a:rPr lang="en-GB" dirty="0" smtClean="0"/>
              <a:t>Second Outline Level</a:t>
            </a:r>
          </a:p>
          <a:p>
            <a:pPr lvl="2"/>
            <a:r>
              <a:rPr lang="en-GB" dirty="0" smtClean="0"/>
              <a:t>Third Outline Level</a:t>
            </a:r>
          </a:p>
          <a:p>
            <a:pPr lvl="3"/>
            <a:r>
              <a:rPr lang="en-GB" dirty="0" smtClean="0"/>
              <a:t>Fourth Outline Level</a:t>
            </a:r>
          </a:p>
          <a:p>
            <a:pPr lvl="4"/>
            <a:r>
              <a:rPr lang="en-GB" dirty="0" smtClean="0"/>
              <a:t>Fifth Outline Level</a:t>
            </a:r>
          </a:p>
          <a:p>
            <a:pPr lvl="4"/>
            <a:r>
              <a:rPr lang="en-GB" dirty="0" smtClean="0"/>
              <a:t>Sixth Outline Level</a:t>
            </a:r>
          </a:p>
          <a:p>
            <a:pPr lvl="4"/>
            <a:r>
              <a:rPr lang="en-GB" dirty="0" smtClean="0"/>
              <a:t>Seventh Outline Level</a:t>
            </a:r>
          </a:p>
          <a:p>
            <a:pPr lvl="4"/>
            <a:r>
              <a:rPr lang="en-GB" dirty="0" smtClean="0"/>
              <a:t>Eighth Outline Level</a:t>
            </a:r>
          </a:p>
          <a:p>
            <a:pPr lvl="4"/>
            <a:r>
              <a:rPr lang="en-GB" dirty="0" smtClean="0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3175"/>
            <a:ext cx="2092325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354763"/>
            <a:ext cx="2895600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3175"/>
            <a:ext cx="2092325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605CA8D-3D6C-42DF-9A5B-66FCBCC600DC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214313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r>
              <a:rPr lang="en-SG" sz="1800" dirty="0" err="1" smtClean="0"/>
              <a:t>iAcademy</a:t>
            </a:r>
            <a:endParaRPr lang="en-SG" sz="1800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0" y="-1"/>
            <a:ext cx="7929586" cy="45719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-32" y="6643711"/>
            <a:ext cx="9144000" cy="214313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SG" sz="1800" dirty="0" err="1" smtClean="0"/>
              <a:t>iAcademy</a:t>
            </a:r>
            <a:endParaRPr lang="en-SG" sz="1800" dirty="0" smtClean="0"/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 flipV="1">
            <a:off x="1214414" y="6786584"/>
            <a:ext cx="7929554" cy="71415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宋体" pitchFamily="2" charset="-122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9pPr>
    </p:titleStyle>
    <p:bodyStyle>
      <a:lvl1pPr marL="342900" indent="-34290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3200">
          <a:solidFill>
            <a:srgbClr val="000000"/>
          </a:solidFill>
          <a:latin typeface="+mn-lt"/>
          <a:ea typeface="宋体" pitchFamily="2" charset="-122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–"/>
        <a:defRPr sz="2800">
          <a:solidFill>
            <a:srgbClr val="000000"/>
          </a:solidFill>
          <a:latin typeface="+mn-lt"/>
          <a:ea typeface="宋体" pitchFamily="2" charset="-122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400">
          <a:solidFill>
            <a:srgbClr val="000000"/>
          </a:solidFill>
          <a:latin typeface="+mn-lt"/>
          <a:ea typeface="宋体" pitchFamily="2" charset="-122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–"/>
        <a:defRPr sz="2000">
          <a:solidFill>
            <a:srgbClr val="000000"/>
          </a:solidFill>
          <a:latin typeface="+mn-lt"/>
          <a:ea typeface="宋体" pitchFamily="2" charset="-122"/>
        </a:defRPr>
      </a:lvl4pPr>
      <a:lvl5pPr marL="20574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1600">
          <a:solidFill>
            <a:srgbClr val="000000"/>
          </a:solidFill>
          <a:latin typeface="+mn-lt"/>
          <a:ea typeface="宋体" pitchFamily="2" charset="-122"/>
        </a:defRPr>
      </a:lvl5pPr>
      <a:lvl6pPr marL="25146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785794"/>
            <a:ext cx="7772400" cy="1470025"/>
          </a:xfrm>
        </p:spPr>
        <p:txBody>
          <a:bodyPr/>
          <a:lstStyle/>
          <a:p>
            <a:pPr algn="ctr"/>
            <a:r>
              <a:rPr lang="en-US" dirty="0" smtClean="0"/>
              <a:t>Decision Making Statements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7158" y="2684444"/>
            <a:ext cx="8358246" cy="2387629"/>
          </a:xfrm>
        </p:spPr>
        <p:txBody>
          <a:bodyPr/>
          <a:lstStyle/>
          <a:p>
            <a:r>
              <a:rPr lang="en-US" sz="2800" dirty="0" smtClean="0"/>
              <a:t>Introduction to Programming I</a:t>
            </a:r>
          </a:p>
          <a:p>
            <a:r>
              <a:rPr lang="en-US" sz="2800" smtClean="0"/>
              <a:t>Lecture </a:t>
            </a:r>
            <a:r>
              <a:rPr lang="en-US" sz="2800" smtClean="0"/>
              <a:t>6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400" i="1" dirty="0" smtClean="0"/>
              <a:t>Introduction to Decision Making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42844" y="5214950"/>
            <a:ext cx="8786874" cy="128588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</a:pPr>
            <a:r>
              <a:rPr lang="en-GB" sz="1400" dirty="0">
                <a:solidFill>
                  <a:schemeClr val="tx1"/>
                </a:solidFill>
              </a:rPr>
              <a:t>This lecture and its associated materials have been produced </a:t>
            </a:r>
            <a:r>
              <a:rPr lang="en-GB" sz="1400" dirty="0" smtClean="0">
                <a:solidFill>
                  <a:schemeClr val="tx1"/>
                </a:solidFill>
              </a:rPr>
              <a:t>by Mr. Abhinav Dahal (M.Sc., </a:t>
            </a:r>
            <a:r>
              <a:rPr lang="en-GB" sz="1400" smtClean="0">
                <a:solidFill>
                  <a:schemeClr val="tx1"/>
                </a:solidFill>
              </a:rPr>
              <a:t>Linnaeus University) </a:t>
            </a:r>
            <a:r>
              <a:rPr lang="en-GB" sz="1400" dirty="0" smtClean="0">
                <a:solidFill>
                  <a:schemeClr val="tx1"/>
                </a:solidFill>
              </a:rPr>
              <a:t>of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 for </a:t>
            </a:r>
            <a:r>
              <a:rPr lang="en-GB" sz="1400" dirty="0">
                <a:solidFill>
                  <a:schemeClr val="tx1"/>
                </a:solidFill>
              </a:rPr>
              <a:t>the purposes of lecturing on the </a:t>
            </a:r>
            <a:r>
              <a:rPr lang="en-GB" sz="1400" dirty="0" smtClean="0">
                <a:solidFill>
                  <a:schemeClr val="tx1"/>
                </a:solidFill>
              </a:rPr>
              <a:t>above described subject </a:t>
            </a:r>
            <a:r>
              <a:rPr lang="en-GB" sz="1400" dirty="0">
                <a:solidFill>
                  <a:schemeClr val="tx1"/>
                </a:solidFill>
              </a:rPr>
              <a:t>and the material should be viewed in this context. The work does not constitute professional advice and no warranties are made regarding the information presented. The </a:t>
            </a:r>
            <a:r>
              <a:rPr lang="en-GB" sz="1400" dirty="0" smtClean="0">
                <a:solidFill>
                  <a:schemeClr val="tx1"/>
                </a:solidFill>
              </a:rPr>
              <a:t>Author and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 do </a:t>
            </a:r>
            <a:r>
              <a:rPr lang="en-GB" sz="1400" dirty="0">
                <a:solidFill>
                  <a:schemeClr val="tx1"/>
                </a:solidFill>
              </a:rPr>
              <a:t>not accept any liability for the consequences of any action taken as a result of the work or any recommendations made or inferred</a:t>
            </a:r>
            <a:r>
              <a:rPr lang="en-GB" sz="1400" dirty="0" smtClean="0">
                <a:solidFill>
                  <a:schemeClr val="tx1"/>
                </a:solidFill>
              </a:rPr>
              <a:t>. Permission to use any of these materials must be first granted by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980728"/>
            <a:ext cx="8531225" cy="5643562"/>
          </a:xfrm>
        </p:spPr>
        <p:txBody>
          <a:bodyPr/>
          <a:lstStyle/>
          <a:p>
            <a:r>
              <a:rPr lang="en-US" dirty="0" smtClean="0"/>
              <a:t>Week 6 Lecture Coverage</a:t>
            </a:r>
          </a:p>
          <a:p>
            <a:pPr lvl="1"/>
            <a:r>
              <a:rPr lang="en-US" dirty="0" smtClean="0"/>
              <a:t>Introduction to Decision Making</a:t>
            </a:r>
          </a:p>
          <a:p>
            <a:pPr lvl="1"/>
            <a:r>
              <a:rPr lang="en-GB" dirty="0"/>
              <a:t>Programming Construct - Sequence </a:t>
            </a:r>
            <a:endParaRPr lang="en-GB" dirty="0" smtClean="0"/>
          </a:p>
          <a:p>
            <a:pPr lvl="1"/>
            <a:r>
              <a:rPr lang="en-GB" dirty="0"/>
              <a:t>Programming Construct - Selection</a:t>
            </a:r>
            <a:endParaRPr lang="en-US" dirty="0" smtClean="0"/>
          </a:p>
          <a:p>
            <a:pPr lvl="1"/>
            <a:r>
              <a:rPr lang="en-GB" dirty="0"/>
              <a:t>Programming Construct - Iteration</a:t>
            </a:r>
            <a:endParaRPr lang="en-US" dirty="0" smtClean="0"/>
          </a:p>
          <a:p>
            <a:pPr lvl="1"/>
            <a:r>
              <a:rPr lang="en-GB" dirty="0"/>
              <a:t>Selection Statements – if Statement</a:t>
            </a:r>
            <a:endParaRPr lang="en-US" dirty="0" smtClean="0"/>
          </a:p>
          <a:p>
            <a:pPr lvl="1"/>
            <a:r>
              <a:rPr lang="en-GB" dirty="0"/>
              <a:t>Selection Statements – if-else Statement </a:t>
            </a:r>
            <a:endParaRPr lang="en-GB" dirty="0" smtClean="0"/>
          </a:p>
          <a:p>
            <a:pPr lvl="1"/>
            <a:r>
              <a:rPr lang="en-GB" dirty="0"/>
              <a:t>Nested </a:t>
            </a:r>
            <a:r>
              <a:rPr lang="en-GB" dirty="0" smtClean="0"/>
              <a:t>ifs</a:t>
            </a:r>
          </a:p>
          <a:p>
            <a:pPr lvl="1"/>
            <a:r>
              <a:rPr lang="en-GB" dirty="0"/>
              <a:t>The </a:t>
            </a:r>
            <a:r>
              <a:rPr lang="en-GB" dirty="0" smtClean="0"/>
              <a:t>Dangling-Else</a:t>
            </a:r>
          </a:p>
          <a:p>
            <a:pPr lvl="1"/>
            <a:r>
              <a:rPr lang="en-GB" dirty="0"/>
              <a:t>The Alternative to </a:t>
            </a:r>
            <a:r>
              <a:rPr lang="en-GB" dirty="0" smtClean="0"/>
              <a:t>if</a:t>
            </a:r>
          </a:p>
          <a:p>
            <a:pPr lvl="1"/>
            <a:r>
              <a:rPr lang="en-GB" dirty="0"/>
              <a:t>The switch Statement</a:t>
            </a:r>
            <a:endParaRPr lang="en-GB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Let’s get started with Lecture 6</a:t>
            </a:r>
            <a:endParaRPr lang="en-US" dirty="0"/>
          </a:p>
        </p:txBody>
      </p:sp>
      <p:pic>
        <p:nvPicPr>
          <p:cNvPr id="66562" name="Picture 2" descr="https://encrypted-tbn2.gstatic.com/images?q=tbn:ANd9GcTG9-t7yYcO4VMW-C9vrEobs1rMthfcAMAzxj2Ff9f53LjyAoU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1402332"/>
            <a:ext cx="5857916" cy="3884056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0" y="5643578"/>
            <a:ext cx="914397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An Introduction to </a:t>
            </a: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Decision Making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宋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Introduction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229600" cy="5257800"/>
          </a:xfrm>
        </p:spPr>
        <p:txBody>
          <a:bodyPr>
            <a:noAutofit/>
          </a:bodyPr>
          <a:lstStyle/>
          <a:p>
            <a:r>
              <a:rPr lang="en-GB" dirty="0" smtClean="0"/>
              <a:t>Generally a program executes its statements from beginning to end.</a:t>
            </a:r>
          </a:p>
          <a:p>
            <a:r>
              <a:rPr lang="en-GB" dirty="0" smtClean="0"/>
              <a:t>But not many programs execute all their statements in strict order from beginning to end.</a:t>
            </a:r>
          </a:p>
          <a:p>
            <a:r>
              <a:rPr lang="en-GB" dirty="0" smtClean="0"/>
              <a:t>Most programs decide what to do in response to changing circumstances. </a:t>
            </a:r>
          </a:p>
          <a:p>
            <a:r>
              <a:rPr lang="en-GB" dirty="0" smtClean="0"/>
              <a:t>These programs not only store data but also manipulate data in terms of consolidation, rearranging and modifying data.</a:t>
            </a:r>
          </a:p>
        </p:txBody>
      </p:sp>
    </p:spTree>
    <p:extLst>
      <p:ext uri="{BB962C8B-B14F-4D97-AF65-F5344CB8AC3E}">
        <p14:creationId xmlns:p14="http://schemas.microsoft.com/office/powerpoint/2010/main" val="29244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perform their manipulative actions, programs need tools for performing repetitive actions and for making decisions.</a:t>
            </a:r>
          </a:p>
          <a:p>
            <a:r>
              <a:rPr lang="en-GB" dirty="0"/>
              <a:t>Java of course provides such tools by providing statements to attain so.</a:t>
            </a:r>
          </a:p>
          <a:p>
            <a:r>
              <a:rPr lang="en-GB" dirty="0"/>
              <a:t>Such statements are called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program control statements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4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Programming Constructs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44488"/>
            <a:ext cx="8229600" cy="4876800"/>
          </a:xfrm>
        </p:spPr>
        <p:txBody>
          <a:bodyPr>
            <a:normAutofit/>
          </a:bodyPr>
          <a:lstStyle/>
          <a:p>
            <a:r>
              <a:rPr lang="en-GB" dirty="0" smtClean="0"/>
              <a:t>In a program, statements may be executed </a:t>
            </a:r>
            <a:r>
              <a:rPr lang="en-GB" i="1" dirty="0" smtClean="0"/>
              <a:t>sequentially</a:t>
            </a:r>
            <a:r>
              <a:rPr lang="en-GB" dirty="0" smtClean="0"/>
              <a:t>, </a:t>
            </a:r>
            <a:r>
              <a:rPr lang="en-GB" i="1" dirty="0" smtClean="0"/>
              <a:t>selectively</a:t>
            </a:r>
            <a:r>
              <a:rPr lang="en-GB" dirty="0" smtClean="0"/>
              <a:t> or </a:t>
            </a:r>
            <a:r>
              <a:rPr lang="en-GB" i="1" dirty="0" smtClean="0"/>
              <a:t>iteratively</a:t>
            </a:r>
            <a:r>
              <a:rPr lang="en-GB" dirty="0" smtClean="0"/>
              <a:t>.</a:t>
            </a:r>
          </a:p>
          <a:p>
            <a:r>
              <a:rPr lang="en-GB" dirty="0" smtClean="0"/>
              <a:t>Every programming language provides constructs to support sequence, selection or iteration.</a:t>
            </a:r>
          </a:p>
          <a:p>
            <a:pPr>
              <a:buNone/>
            </a:pPr>
            <a:r>
              <a:rPr lang="en-GB" b="1" dirty="0" smtClean="0"/>
              <a:t>Sequence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i="1" dirty="0" smtClean="0"/>
              <a:t>sequence construct </a:t>
            </a:r>
            <a:r>
              <a:rPr lang="en-GB" dirty="0" smtClean="0"/>
              <a:t>means the statements are being executed sequentially. This represents the default flow of statements.</a:t>
            </a:r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7732712" y="3356992"/>
            <a:ext cx="1447800" cy="1828800"/>
            <a:chOff x="3581400" y="4800600"/>
            <a:chExt cx="1447800" cy="1828800"/>
          </a:xfrm>
        </p:grpSpPr>
        <p:sp>
          <p:nvSpPr>
            <p:cNvPr id="4" name="Rectangle 3"/>
            <p:cNvSpPr/>
            <p:nvPr/>
          </p:nvSpPr>
          <p:spPr>
            <a:xfrm>
              <a:off x="3581400" y="48006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Statement1</a:t>
              </a:r>
              <a:endParaRPr lang="en-GB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581400" y="55626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Statement1</a:t>
              </a:r>
              <a:endParaRPr lang="en-GB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581400" y="62484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Statement1</a:t>
              </a:r>
              <a:endParaRPr lang="en-GB" dirty="0"/>
            </a:p>
          </p:txBody>
        </p:sp>
        <p:cxnSp>
          <p:nvCxnSpPr>
            <p:cNvPr id="8" name="Straight Arrow Connector 7"/>
            <p:cNvCxnSpPr>
              <a:stCxn id="4" idx="2"/>
              <a:endCxn id="5" idx="0"/>
            </p:cNvCxnSpPr>
            <p:nvPr/>
          </p:nvCxnSpPr>
          <p:spPr>
            <a:xfrm>
              <a:off x="4305300" y="5181600"/>
              <a:ext cx="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5" idx="2"/>
              <a:endCxn id="6" idx="0"/>
            </p:cNvCxnSpPr>
            <p:nvPr/>
          </p:nvCxnSpPr>
          <p:spPr>
            <a:xfrm>
              <a:off x="4305300" y="5943600"/>
              <a:ext cx="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127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Programming Construct - Sequence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4724400"/>
          </a:xfrm>
        </p:spPr>
        <p:txBody>
          <a:bodyPr>
            <a:noAutofit/>
          </a:bodyPr>
          <a:lstStyle/>
          <a:p>
            <a:r>
              <a:rPr lang="en-GB" dirty="0" smtClean="0"/>
              <a:t>Every Java function execution begins with its first statement. </a:t>
            </a:r>
          </a:p>
          <a:p>
            <a:r>
              <a:rPr lang="en-GB" dirty="0" smtClean="0"/>
              <a:t>Each statement in turn is executed.</a:t>
            </a:r>
          </a:p>
          <a:p>
            <a:r>
              <a:rPr lang="en-GB" dirty="0" smtClean="0"/>
              <a:t>When the final statement of the function is executed, the function is done.</a:t>
            </a:r>
          </a:p>
          <a:p>
            <a:r>
              <a:rPr lang="en-GB" dirty="0" smtClean="0"/>
              <a:t>This construct specifies the normal flow of control in a program and is the simplest one.</a:t>
            </a:r>
          </a:p>
        </p:txBody>
      </p:sp>
    </p:spTree>
    <p:extLst>
      <p:ext uri="{BB962C8B-B14F-4D97-AF65-F5344CB8AC3E}">
        <p14:creationId xmlns:p14="http://schemas.microsoft.com/office/powerpoint/2010/main" val="51795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Construct - </a:t>
            </a:r>
            <a:r>
              <a:rPr lang="en-GB" dirty="0" smtClean="0"/>
              <a:t>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i="1" dirty="0"/>
              <a:t>selection construct</a:t>
            </a:r>
            <a:r>
              <a:rPr lang="en-GB" dirty="0"/>
              <a:t> means the execution of statement(s) depending upon a </a:t>
            </a:r>
            <a:r>
              <a:rPr lang="en-GB" i="1" dirty="0"/>
              <a:t>condition-test</a:t>
            </a:r>
            <a:r>
              <a:rPr lang="en-GB" dirty="0"/>
              <a:t>.</a:t>
            </a:r>
          </a:p>
          <a:p>
            <a:r>
              <a:rPr lang="en-GB" dirty="0"/>
              <a:t>If a condition evaluates to </a:t>
            </a:r>
            <a:r>
              <a:rPr lang="en-GB" i="1" dirty="0"/>
              <a:t>true, </a:t>
            </a:r>
            <a:r>
              <a:rPr lang="en-GB" dirty="0"/>
              <a:t> a course-of-action (a set of statements) is followed otherwise another course-of-action (a different set of statements) is followed.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Programming Construct - Selection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This construct is also called </a:t>
            </a:r>
            <a:r>
              <a:rPr lang="en-GB" i="1" dirty="0" smtClean="0">
                <a:solidFill>
                  <a:schemeClr val="accent2">
                    <a:lumMod val="75000"/>
                  </a:schemeClr>
                </a:solidFill>
              </a:rPr>
              <a:t>decision construct</a:t>
            </a:r>
            <a:r>
              <a:rPr lang="en-GB" dirty="0" smtClean="0"/>
              <a:t> because it helps in making decision about which set-of-statements is to be executed.</a:t>
            </a:r>
          </a:p>
          <a:p>
            <a:pPr>
              <a:buNone/>
            </a:pPr>
            <a:r>
              <a:rPr lang="en-GB" dirty="0" smtClean="0"/>
              <a:t>	</a:t>
            </a:r>
            <a:endParaRPr lang="en-GB" dirty="0"/>
          </a:p>
        </p:txBody>
      </p:sp>
      <p:cxnSp>
        <p:nvCxnSpPr>
          <p:cNvPr id="20" name="Straight Arrow Connector 19"/>
          <p:cNvCxnSpPr>
            <a:stCxn id="5" idx="2"/>
            <a:endCxn id="6" idx="0"/>
          </p:cNvCxnSpPr>
          <p:nvPr/>
        </p:nvCxnSpPr>
        <p:spPr>
          <a:xfrm>
            <a:off x="3086100" y="5418584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8" idx="1"/>
          </p:cNvCxnSpPr>
          <p:nvPr/>
        </p:nvCxnSpPr>
        <p:spPr>
          <a:xfrm flipV="1">
            <a:off x="6324600" y="3690016"/>
            <a:ext cx="381000" cy="14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8" idx="3"/>
          </p:cNvCxnSpPr>
          <p:nvPr/>
        </p:nvCxnSpPr>
        <p:spPr>
          <a:xfrm flipV="1">
            <a:off x="8305800" y="3665984"/>
            <a:ext cx="228600" cy="2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528248" y="3667729"/>
            <a:ext cx="7620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828800" y="2564904"/>
            <a:ext cx="6781800" cy="4149080"/>
            <a:chOff x="1828800" y="2708920"/>
            <a:chExt cx="6781800" cy="4149080"/>
          </a:xfrm>
        </p:grpSpPr>
        <p:sp>
          <p:nvSpPr>
            <p:cNvPr id="4" name="Diamond 3"/>
            <p:cNvSpPr/>
            <p:nvPr/>
          </p:nvSpPr>
          <p:spPr>
            <a:xfrm>
              <a:off x="1828800" y="3048000"/>
              <a:ext cx="2514600" cy="16002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Condition?</a:t>
              </a:r>
              <a:endParaRPr lang="en-GB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286000" y="5029200"/>
              <a:ext cx="16002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 1</a:t>
              </a:r>
              <a:endParaRPr lang="en-GB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286000" y="5943600"/>
              <a:ext cx="16002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 2</a:t>
              </a:r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724400" y="3581400"/>
              <a:ext cx="16002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 3</a:t>
              </a:r>
              <a:endParaRPr lang="en-GB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05600" y="3567332"/>
              <a:ext cx="16002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Statement 4</a:t>
              </a:r>
              <a:endParaRPr lang="en-GB" dirty="0"/>
            </a:p>
          </p:txBody>
        </p:sp>
        <p:cxnSp>
          <p:nvCxnSpPr>
            <p:cNvPr id="13" name="Straight Arrow Connector 12"/>
            <p:cNvCxnSpPr>
              <a:endCxn id="4" idx="0"/>
            </p:cNvCxnSpPr>
            <p:nvPr/>
          </p:nvCxnSpPr>
          <p:spPr>
            <a:xfrm>
              <a:off x="3086100" y="2708920"/>
              <a:ext cx="0" cy="3390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4" idx="2"/>
              <a:endCxn id="5" idx="0"/>
            </p:cNvCxnSpPr>
            <p:nvPr/>
          </p:nvCxnSpPr>
          <p:spPr>
            <a:xfrm>
              <a:off x="3086100" y="4648200"/>
              <a:ext cx="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4" idx="3"/>
              <a:endCxn id="7" idx="1"/>
            </p:cNvCxnSpPr>
            <p:nvPr/>
          </p:nvCxnSpPr>
          <p:spPr>
            <a:xfrm>
              <a:off x="4343400" y="3848100"/>
              <a:ext cx="381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6" idx="2"/>
            </p:cNvCxnSpPr>
            <p:nvPr/>
          </p:nvCxnSpPr>
          <p:spPr>
            <a:xfrm>
              <a:off x="3086100" y="6477000"/>
              <a:ext cx="381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3124200" y="6629400"/>
              <a:ext cx="548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4139952" y="3356992"/>
            <a:ext cx="685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True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374032" y="4509120"/>
            <a:ext cx="685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False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56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Programming Construct - Iteration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i="1" dirty="0" smtClean="0"/>
              <a:t>iteration</a:t>
            </a:r>
            <a:r>
              <a:rPr lang="en-GB" dirty="0" smtClean="0"/>
              <a:t> construct means </a:t>
            </a:r>
            <a:r>
              <a:rPr lang="en-GB" i="1" dirty="0" smtClean="0"/>
              <a:t>repetition of a set-of-statements</a:t>
            </a:r>
            <a:r>
              <a:rPr lang="en-GB" dirty="0" smtClean="0"/>
              <a:t> depending upon a </a:t>
            </a:r>
            <a:r>
              <a:rPr lang="en-GB" i="1" dirty="0" smtClean="0"/>
              <a:t>condition-test</a:t>
            </a:r>
            <a:r>
              <a:rPr lang="en-GB" dirty="0" smtClean="0"/>
              <a:t>.</a:t>
            </a:r>
          </a:p>
          <a:p>
            <a:r>
              <a:rPr lang="en-GB" dirty="0" smtClean="0"/>
              <a:t>Until the time a condition is true (or false depending upon the loop), a set-of-statements are repeated again and again.</a:t>
            </a:r>
          </a:p>
          <a:p>
            <a:r>
              <a:rPr lang="en-GB" dirty="0" smtClean="0"/>
              <a:t>As soon as the condition becomes false (or true), the repetition stops.</a:t>
            </a:r>
          </a:p>
        </p:txBody>
      </p:sp>
    </p:spTree>
    <p:extLst>
      <p:ext uri="{BB962C8B-B14F-4D97-AF65-F5344CB8AC3E}">
        <p14:creationId xmlns:p14="http://schemas.microsoft.com/office/powerpoint/2010/main" val="2353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Construct - 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iteration construct is also called </a:t>
            </a:r>
            <a:r>
              <a:rPr lang="en-GB" i="1" dirty="0"/>
              <a:t>looping construct.</a:t>
            </a:r>
          </a:p>
          <a:p>
            <a:r>
              <a:rPr lang="en-GB" dirty="0"/>
              <a:t>The set-of-statements that are repeated again and again is called the </a:t>
            </a:r>
            <a:r>
              <a:rPr lang="en-GB" b="1" dirty="0"/>
              <a:t>body of the loop</a:t>
            </a:r>
            <a:r>
              <a:rPr lang="en-GB" dirty="0"/>
              <a:t>.</a:t>
            </a:r>
          </a:p>
          <a:p>
            <a:r>
              <a:rPr lang="en-GB" dirty="0"/>
              <a:t>The condition of on which the </a:t>
            </a:r>
            <a:r>
              <a:rPr lang="en-GB" i="1" dirty="0"/>
              <a:t>execution </a:t>
            </a:r>
            <a:r>
              <a:rPr lang="en-GB" dirty="0"/>
              <a:t>or </a:t>
            </a:r>
            <a:r>
              <a:rPr lang="en-GB" i="1" dirty="0"/>
              <a:t>exit </a:t>
            </a:r>
            <a:r>
              <a:rPr lang="en-GB" dirty="0"/>
              <a:t> of the loop depends is called the </a:t>
            </a:r>
            <a:r>
              <a:rPr lang="en-GB" b="1" dirty="0"/>
              <a:t>exit condition </a:t>
            </a:r>
            <a:r>
              <a:rPr lang="en-GB" dirty="0"/>
              <a:t>or </a:t>
            </a:r>
            <a:r>
              <a:rPr lang="en-GB" b="1" dirty="0"/>
              <a:t>test-condition</a:t>
            </a:r>
            <a:r>
              <a:rPr lang="en-GB" b="1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848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Programming Construct - Iteration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mond 3"/>
          <p:cNvSpPr/>
          <p:nvPr/>
        </p:nvSpPr>
        <p:spPr>
          <a:xfrm>
            <a:off x="3048000" y="2286000"/>
            <a:ext cx="2514600" cy="16002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Condition?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3505200" y="4267200"/>
            <a:ext cx="1600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Statement 1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505200" y="5181600"/>
            <a:ext cx="1600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Statement 2</a:t>
            </a:r>
            <a:endParaRPr lang="en-GB" dirty="0"/>
          </a:p>
        </p:txBody>
      </p:sp>
      <p:cxnSp>
        <p:nvCxnSpPr>
          <p:cNvPr id="7" name="Straight Arrow Connector 6"/>
          <p:cNvCxnSpPr>
            <a:endCxn id="4" idx="0"/>
          </p:cNvCxnSpPr>
          <p:nvPr/>
        </p:nvCxnSpPr>
        <p:spPr>
          <a:xfrm>
            <a:off x="4267200" y="1676400"/>
            <a:ext cx="381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2"/>
            <a:endCxn id="5" idx="0"/>
          </p:cNvCxnSpPr>
          <p:nvPr/>
        </p:nvCxnSpPr>
        <p:spPr>
          <a:xfrm>
            <a:off x="4305300" y="3886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  <a:endCxn id="6" idx="0"/>
          </p:cNvCxnSpPr>
          <p:nvPr/>
        </p:nvCxnSpPr>
        <p:spPr>
          <a:xfrm>
            <a:off x="4305300" y="48006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10200" y="2514600"/>
            <a:ext cx="914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False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4" idx="3"/>
          </p:cNvCxnSpPr>
          <p:nvPr/>
        </p:nvCxnSpPr>
        <p:spPr>
          <a:xfrm>
            <a:off x="5562600" y="3086100"/>
            <a:ext cx="1676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3429000"/>
            <a:ext cx="1371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The exit condition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638800" y="3276600"/>
            <a:ext cx="990600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67200" y="3810000"/>
            <a:ext cx="914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True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6" idx="2"/>
          </p:cNvCxnSpPr>
          <p:nvPr/>
        </p:nvCxnSpPr>
        <p:spPr>
          <a:xfrm>
            <a:off x="4305300" y="5715000"/>
            <a:ext cx="381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819400" y="6172200"/>
            <a:ext cx="1524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2743200" y="3124200"/>
            <a:ext cx="76200" cy="3048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4" idx="1"/>
          </p:cNvCxnSpPr>
          <p:nvPr/>
        </p:nvCxnSpPr>
        <p:spPr>
          <a:xfrm flipV="1">
            <a:off x="2743200" y="3086100"/>
            <a:ext cx="304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/>
          <p:cNvSpPr/>
          <p:nvPr/>
        </p:nvSpPr>
        <p:spPr>
          <a:xfrm>
            <a:off x="5638800" y="4114800"/>
            <a:ext cx="685800" cy="18288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6400800" y="4800600"/>
            <a:ext cx="1600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The loop body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6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Any Questions?</a:t>
            </a:r>
            <a:endParaRPr lang="en-US" dirty="0"/>
          </a:p>
        </p:txBody>
      </p:sp>
      <p:pic>
        <p:nvPicPr>
          <p:cNvPr id="3" name="Picture 2" descr="any questions 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05" y="1317444"/>
            <a:ext cx="7379803" cy="49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Selection Statements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14438"/>
            <a:ext cx="8531225" cy="516689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The selection statements allow to choose the set-of-instructions for execution depending upon an expression’s truth value (i.e. a test condition).</a:t>
            </a:r>
          </a:p>
          <a:p>
            <a:r>
              <a:rPr lang="en-GB" dirty="0" smtClean="0"/>
              <a:t>Java provides </a:t>
            </a:r>
            <a:r>
              <a:rPr lang="en-GB" i="1" dirty="0" smtClean="0"/>
              <a:t>two</a:t>
            </a:r>
            <a:r>
              <a:rPr lang="en-GB" dirty="0" smtClean="0"/>
              <a:t> types of selection statements: </a:t>
            </a:r>
            <a:r>
              <a:rPr lang="en-GB" b="1" dirty="0" smtClean="0"/>
              <a:t>if</a:t>
            </a:r>
            <a:r>
              <a:rPr lang="en-GB" dirty="0" smtClean="0"/>
              <a:t> and </a:t>
            </a:r>
            <a:r>
              <a:rPr lang="en-GB" b="1" dirty="0" smtClean="0"/>
              <a:t>switch</a:t>
            </a:r>
            <a:r>
              <a:rPr lang="en-GB" dirty="0" smtClean="0"/>
              <a:t>.</a:t>
            </a:r>
          </a:p>
          <a:p>
            <a:r>
              <a:rPr lang="en-GB" dirty="0" smtClean="0"/>
              <a:t>In addition, in certain circumstances </a:t>
            </a:r>
            <a:r>
              <a:rPr lang="en-GB" b="1" dirty="0" smtClean="0"/>
              <a:t>?</a:t>
            </a:r>
            <a:r>
              <a:rPr lang="en-GB" dirty="0" smtClean="0"/>
              <a:t> operator can be used  as an alternative to </a:t>
            </a:r>
            <a:r>
              <a:rPr lang="en-GB" b="1" dirty="0" smtClean="0"/>
              <a:t>if</a:t>
            </a:r>
            <a:r>
              <a:rPr lang="en-GB" dirty="0" smtClean="0"/>
              <a:t> statement.</a:t>
            </a:r>
          </a:p>
          <a:p>
            <a:r>
              <a:rPr lang="en-GB" dirty="0" smtClean="0"/>
              <a:t>The selection statements are also called </a:t>
            </a:r>
            <a:r>
              <a:rPr lang="en-GB" i="1" dirty="0" smtClean="0"/>
              <a:t>conditional statements </a:t>
            </a:r>
            <a:r>
              <a:rPr lang="en-GB" dirty="0" smtClean="0"/>
              <a:t>or</a:t>
            </a:r>
            <a:r>
              <a:rPr lang="en-GB" i="1" dirty="0" smtClean="0"/>
              <a:t> decision statements.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8961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Selection Statements – if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5029200"/>
          </a:xfrm>
        </p:spPr>
        <p:txBody>
          <a:bodyPr>
            <a:noAutofit/>
          </a:bodyPr>
          <a:lstStyle/>
          <a:p>
            <a:r>
              <a:rPr lang="en-GB" dirty="0" smtClean="0"/>
              <a:t>An </a:t>
            </a:r>
            <a:r>
              <a:rPr lang="en-GB" b="1" dirty="0" smtClean="0"/>
              <a:t>if</a:t>
            </a:r>
            <a:r>
              <a:rPr lang="en-GB" dirty="0" smtClean="0"/>
              <a:t> statement tests a particular condition; if the condition evaluates to true, a course-of-action is followed i.e. a statement or set-of-statements is executed.</a:t>
            </a:r>
          </a:p>
          <a:p>
            <a:r>
              <a:rPr lang="en-GB" dirty="0" smtClean="0"/>
              <a:t>Otherwise (if the condition evaluates to false), the course-of-action is ignored.</a:t>
            </a:r>
          </a:p>
          <a:p>
            <a:r>
              <a:rPr lang="en-GB" dirty="0" smtClean="0"/>
              <a:t>The syntax of the </a:t>
            </a:r>
            <a:r>
              <a:rPr lang="en-GB" b="1" dirty="0" smtClean="0"/>
              <a:t>if </a:t>
            </a:r>
            <a:r>
              <a:rPr lang="en-GB" dirty="0" smtClean="0"/>
              <a:t>statement is shown below:</a:t>
            </a:r>
          </a:p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27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 Statements –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if(expression</a:t>
            </a:r>
            <a:r>
              <a:rPr lang="en-GB" dirty="0">
                <a:solidFill>
                  <a:srgbClr val="0070C0"/>
                </a:solidFill>
              </a:rPr>
              <a:t>)</a:t>
            </a:r>
          </a:p>
          <a:p>
            <a:pPr>
              <a:buNone/>
            </a:pPr>
            <a:r>
              <a:rPr lang="en-GB" dirty="0">
                <a:solidFill>
                  <a:srgbClr val="0070C0"/>
                </a:solidFill>
              </a:rPr>
              <a:t>		</a:t>
            </a:r>
            <a:r>
              <a:rPr lang="en-GB" dirty="0" smtClean="0">
                <a:solidFill>
                  <a:srgbClr val="0070C0"/>
                </a:solidFill>
              </a:rPr>
              <a:t>	statement</a:t>
            </a:r>
            <a:r>
              <a:rPr lang="en-GB" dirty="0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r>
              <a:rPr lang="en-GB" dirty="0"/>
              <a:t>	where a statement may consist of a single statement, a compound statement or nothing (in case of empty statement).</a:t>
            </a:r>
          </a:p>
          <a:p>
            <a:r>
              <a:rPr lang="en-GB" dirty="0"/>
              <a:t>The expression must be enclosed </a:t>
            </a:r>
            <a:r>
              <a:rPr lang="en-GB" dirty="0" smtClean="0"/>
              <a:t>in parentheses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4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Selection Statements – if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124744"/>
            <a:ext cx="8531225" cy="4870450"/>
          </a:xfrm>
        </p:spPr>
        <p:txBody>
          <a:bodyPr>
            <a:noAutofit/>
          </a:bodyPr>
          <a:lstStyle/>
          <a:p>
            <a:r>
              <a:rPr lang="en-GB" dirty="0" smtClean="0"/>
              <a:t>If the expression evaluates to </a:t>
            </a:r>
            <a:r>
              <a:rPr lang="en-GB" i="1" dirty="0" smtClean="0"/>
              <a:t>true, </a:t>
            </a:r>
            <a:r>
              <a:rPr lang="en-GB" dirty="0" smtClean="0"/>
              <a:t>the statement is executed, otherwise ignored.</a:t>
            </a:r>
          </a:p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if(</a:t>
            </a:r>
            <a:r>
              <a:rPr lang="en-GB" dirty="0" err="1" smtClean="0">
                <a:solidFill>
                  <a:srgbClr val="0070C0"/>
                </a:solidFill>
              </a:rPr>
              <a:t>val</a:t>
            </a:r>
            <a:r>
              <a:rPr lang="en-GB" dirty="0" smtClean="0">
                <a:solidFill>
                  <a:srgbClr val="0070C0"/>
                </a:solidFill>
              </a:rPr>
              <a:t>=‘ ’)</a:t>
            </a:r>
          </a:p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	spaces ++;</a:t>
            </a:r>
          </a:p>
          <a:p>
            <a:pPr>
              <a:buNone/>
            </a:pPr>
            <a:r>
              <a:rPr lang="en-GB" dirty="0" smtClean="0"/>
              <a:t>	checks whether the character variable </a:t>
            </a:r>
            <a:r>
              <a:rPr lang="en-GB" i="1" dirty="0" err="1" smtClean="0"/>
              <a:t>val</a:t>
            </a:r>
            <a:r>
              <a:rPr lang="en-GB" dirty="0" smtClean="0"/>
              <a:t> stores a space or not; if it does, the number of spaces are incremented by 1.</a:t>
            </a:r>
          </a:p>
        </p:txBody>
      </p:sp>
    </p:spTree>
    <p:extLst>
      <p:ext uri="{BB962C8B-B14F-4D97-AF65-F5344CB8AC3E}">
        <p14:creationId xmlns:p14="http://schemas.microsoft.com/office/powerpoint/2010/main" val="213589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 Statements –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another form of </a:t>
            </a:r>
            <a:r>
              <a:rPr lang="en-GB" b="1" dirty="0"/>
              <a:t>if</a:t>
            </a:r>
            <a:r>
              <a:rPr lang="en-GB" dirty="0"/>
              <a:t> that allows for another course of action to be followed if the expression evaluates to false, by providing an </a:t>
            </a:r>
            <a:r>
              <a:rPr lang="en-GB" b="1" dirty="0"/>
              <a:t>else </a:t>
            </a:r>
            <a:r>
              <a:rPr lang="en-GB" dirty="0"/>
              <a:t>clause.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0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34752"/>
            <a:ext cx="8606730" cy="762000"/>
          </a:xfrm>
        </p:spPr>
        <p:txBody>
          <a:bodyPr>
            <a:noAutofit/>
          </a:bodyPr>
          <a:lstStyle/>
          <a:p>
            <a:pPr algn="l"/>
            <a:r>
              <a:rPr lang="en-GB" dirty="0" smtClean="0"/>
              <a:t>Selection Statements – if-else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38870"/>
            <a:ext cx="8531225" cy="4870450"/>
          </a:xfrm>
        </p:spPr>
        <p:txBody>
          <a:bodyPr>
            <a:noAutofit/>
          </a:bodyPr>
          <a:lstStyle/>
          <a:p>
            <a:r>
              <a:rPr lang="en-GB" sz="3000" dirty="0" smtClean="0"/>
              <a:t>The syntax of the </a:t>
            </a:r>
            <a:r>
              <a:rPr lang="en-GB" sz="3000" b="1" dirty="0" smtClean="0"/>
              <a:t>if-else</a:t>
            </a:r>
            <a:r>
              <a:rPr lang="en-GB" sz="3000" dirty="0" smtClean="0"/>
              <a:t> is:</a:t>
            </a:r>
          </a:p>
          <a:p>
            <a:pPr>
              <a:buNone/>
            </a:pPr>
            <a:r>
              <a:rPr lang="en-GB" sz="3000" dirty="0" smtClean="0">
                <a:solidFill>
                  <a:srgbClr val="0070C0"/>
                </a:solidFill>
              </a:rPr>
              <a:t>	if(expression)</a:t>
            </a:r>
          </a:p>
          <a:p>
            <a:pPr>
              <a:buNone/>
            </a:pPr>
            <a:r>
              <a:rPr lang="en-GB" sz="3000" dirty="0" smtClean="0">
                <a:solidFill>
                  <a:srgbClr val="0070C0"/>
                </a:solidFill>
              </a:rPr>
              <a:t>		statement 1;</a:t>
            </a:r>
          </a:p>
          <a:p>
            <a:pPr>
              <a:buNone/>
            </a:pPr>
            <a:r>
              <a:rPr lang="en-GB" sz="3000" dirty="0" smtClean="0">
                <a:solidFill>
                  <a:srgbClr val="0070C0"/>
                </a:solidFill>
              </a:rPr>
              <a:t>	else</a:t>
            </a:r>
          </a:p>
          <a:p>
            <a:pPr>
              <a:buNone/>
            </a:pPr>
            <a:r>
              <a:rPr lang="en-GB" sz="3000" dirty="0" smtClean="0">
                <a:solidFill>
                  <a:srgbClr val="0070C0"/>
                </a:solidFill>
              </a:rPr>
              <a:t>		statement 2;</a:t>
            </a:r>
          </a:p>
          <a:p>
            <a:r>
              <a:rPr lang="en-GB" sz="3000" dirty="0" smtClean="0"/>
              <a:t>If the </a:t>
            </a:r>
            <a:r>
              <a:rPr lang="en-GB" sz="3000" i="1" dirty="0" smtClean="0"/>
              <a:t>expression </a:t>
            </a:r>
            <a:r>
              <a:rPr lang="en-GB" sz="3000" dirty="0" smtClean="0"/>
              <a:t>evaluates to </a:t>
            </a:r>
            <a:r>
              <a:rPr lang="en-GB" sz="3000" i="1" dirty="0" smtClean="0"/>
              <a:t>true</a:t>
            </a:r>
            <a:r>
              <a:rPr lang="en-GB" sz="3000" dirty="0" smtClean="0"/>
              <a:t>, </a:t>
            </a:r>
            <a:r>
              <a:rPr lang="en-GB" sz="3000" i="1" dirty="0" smtClean="0"/>
              <a:t>statement 1</a:t>
            </a:r>
            <a:r>
              <a:rPr lang="en-GB" sz="3000" dirty="0" smtClean="0"/>
              <a:t> is executed, otherwise, </a:t>
            </a:r>
            <a:r>
              <a:rPr lang="en-GB" sz="3000" i="1" dirty="0" smtClean="0"/>
              <a:t>statement 2</a:t>
            </a:r>
            <a:r>
              <a:rPr lang="en-GB" sz="3000" dirty="0" smtClean="0"/>
              <a:t> is executed.</a:t>
            </a:r>
          </a:p>
          <a:p>
            <a:r>
              <a:rPr lang="en-GB" sz="3000" i="1" dirty="0" smtClean="0"/>
              <a:t>statement 1</a:t>
            </a:r>
            <a:r>
              <a:rPr lang="en-GB" sz="3000" dirty="0" smtClean="0"/>
              <a:t> and </a:t>
            </a:r>
            <a:r>
              <a:rPr lang="en-GB" sz="3000" i="1" dirty="0" smtClean="0"/>
              <a:t>statement 2</a:t>
            </a:r>
            <a:r>
              <a:rPr lang="en-GB" sz="3000" dirty="0" smtClean="0"/>
              <a:t> can be a single statement, or a compound statement, or a null statement.</a:t>
            </a:r>
            <a:endParaRPr lang="en-GB" sz="3000" i="1" dirty="0" smtClean="0"/>
          </a:p>
        </p:txBody>
      </p:sp>
    </p:spTree>
    <p:extLst>
      <p:ext uri="{BB962C8B-B14F-4D97-AF65-F5344CB8AC3E}">
        <p14:creationId xmlns:p14="http://schemas.microsoft.com/office/powerpoint/2010/main" val="63120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Nested ifs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5181600"/>
          </a:xfrm>
        </p:spPr>
        <p:txBody>
          <a:bodyPr>
            <a:noAutofit/>
          </a:bodyPr>
          <a:lstStyle/>
          <a:p>
            <a:r>
              <a:rPr lang="en-GB" dirty="0" smtClean="0"/>
              <a:t>A </a:t>
            </a:r>
            <a:r>
              <a:rPr lang="en-GB" i="1" dirty="0" smtClean="0"/>
              <a:t>nested </a:t>
            </a:r>
            <a:r>
              <a:rPr lang="en-GB" b="1" dirty="0" smtClean="0"/>
              <a:t>if</a:t>
            </a:r>
            <a:r>
              <a:rPr lang="en-GB" dirty="0" smtClean="0"/>
              <a:t> is an if that has another </a:t>
            </a:r>
            <a:r>
              <a:rPr lang="en-GB" b="1" dirty="0" smtClean="0"/>
              <a:t>if</a:t>
            </a:r>
            <a:r>
              <a:rPr lang="en-GB" dirty="0" smtClean="0"/>
              <a:t> in its body or in its else’s body.</a:t>
            </a:r>
          </a:p>
          <a:p>
            <a:r>
              <a:rPr lang="en-GB" dirty="0" smtClean="0"/>
              <a:t>The nested </a:t>
            </a:r>
            <a:r>
              <a:rPr lang="en-GB" b="1" dirty="0" smtClean="0"/>
              <a:t>if</a:t>
            </a:r>
            <a:r>
              <a:rPr lang="en-GB" dirty="0" smtClean="0"/>
              <a:t> can have one of the three forms: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If nested inside if-part</a:t>
            </a:r>
          </a:p>
          <a:p>
            <a:pPr marL="457200" indent="-457200">
              <a:buNone/>
            </a:pPr>
            <a:r>
              <a:rPr lang="en-GB" b="1" dirty="0" smtClean="0"/>
              <a:t>	</a:t>
            </a:r>
            <a:r>
              <a:rPr lang="en-GB" sz="2000" dirty="0" smtClean="0">
                <a:solidFill>
                  <a:srgbClr val="0070C0"/>
                </a:solidFill>
              </a:rPr>
              <a:t>if (expression1){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if(expression2)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	statement 1;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[ else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	statement 2; ]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}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else</a:t>
            </a:r>
          </a:p>
          <a:p>
            <a:pPr marL="457200" indent="-457200">
              <a:buNone/>
            </a:pPr>
            <a:r>
              <a:rPr lang="en-GB" sz="2000" dirty="0" smtClean="0">
                <a:solidFill>
                  <a:srgbClr val="0070C0"/>
                </a:solidFill>
              </a:rPr>
              <a:t>		body-of-else;</a:t>
            </a:r>
            <a:endParaRPr lang="en-GB" dirty="0" smtClean="0">
              <a:solidFill>
                <a:srgbClr val="0070C0"/>
              </a:solidFill>
            </a:endParaRPr>
          </a:p>
          <a:p>
            <a:pPr marL="457200" indent="-457200">
              <a:buNone/>
            </a:pPr>
            <a:r>
              <a:rPr lang="en-GB" dirty="0" smtClean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58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 descr="any questions 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0728"/>
            <a:ext cx="8759958" cy="492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2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Nested ifs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AutoNum type="arabicPeriod" startAt="2"/>
            </a:pPr>
            <a:r>
              <a:rPr lang="en-GB" dirty="0" smtClean="0"/>
              <a:t>If nested inside else-part</a:t>
            </a:r>
          </a:p>
          <a:p>
            <a:pPr marL="514350" indent="-514350">
              <a:buNone/>
            </a:pPr>
            <a:r>
              <a:rPr lang="en-GB" b="1" dirty="0" smtClean="0">
                <a:solidFill>
                  <a:srgbClr val="0070C0"/>
                </a:solidFill>
              </a:rPr>
              <a:t>	</a:t>
            </a:r>
            <a:r>
              <a:rPr lang="en-GB" dirty="0" smtClean="0">
                <a:solidFill>
                  <a:srgbClr val="0070C0"/>
                </a:solidFill>
              </a:rPr>
              <a:t>if (expression1)</a:t>
            </a:r>
          </a:p>
          <a:p>
            <a:pPr marL="514350" indent="-514350">
              <a:buNone/>
            </a:pPr>
            <a:r>
              <a:rPr lang="en-GB" b="1" dirty="0" smtClean="0">
                <a:solidFill>
                  <a:srgbClr val="0070C0"/>
                </a:solidFill>
              </a:rPr>
              <a:t>		</a:t>
            </a:r>
            <a:r>
              <a:rPr lang="en-GB" dirty="0" smtClean="0">
                <a:solidFill>
                  <a:srgbClr val="0070C0"/>
                </a:solidFill>
              </a:rPr>
              <a:t>body-of-if;</a:t>
            </a:r>
          </a:p>
          <a:p>
            <a:pPr marL="514350" indent="-514350">
              <a:buNone/>
            </a:pPr>
            <a:r>
              <a:rPr lang="en-GB" dirty="0" smtClean="0">
                <a:solidFill>
                  <a:srgbClr val="0070C0"/>
                </a:solidFill>
              </a:rPr>
              <a:t>	else{</a:t>
            </a:r>
          </a:p>
          <a:p>
            <a:pPr marL="514350" indent="-514350">
              <a:buNone/>
            </a:pPr>
            <a:r>
              <a:rPr lang="en-GB" dirty="0" smtClean="0">
                <a:solidFill>
                  <a:srgbClr val="0070C0"/>
                </a:solidFill>
              </a:rPr>
              <a:t>		if(expression2)</a:t>
            </a:r>
          </a:p>
          <a:p>
            <a:pPr marL="514350" indent="-514350">
              <a:buNone/>
            </a:pPr>
            <a:r>
              <a:rPr lang="en-GB" dirty="0" smtClean="0">
                <a:solidFill>
                  <a:srgbClr val="0070C0"/>
                </a:solidFill>
              </a:rPr>
              <a:t>			statement 1;</a:t>
            </a:r>
          </a:p>
          <a:p>
            <a:pPr marL="514350" indent="-514350">
              <a:buNone/>
            </a:pPr>
            <a:r>
              <a:rPr lang="en-GB" dirty="0" smtClean="0">
                <a:solidFill>
                  <a:srgbClr val="0070C0"/>
                </a:solidFill>
              </a:rPr>
              <a:t>		[ else</a:t>
            </a:r>
          </a:p>
          <a:p>
            <a:pPr marL="514350" indent="-514350">
              <a:buNone/>
            </a:pPr>
            <a:r>
              <a:rPr lang="en-GB" dirty="0" smtClean="0">
                <a:solidFill>
                  <a:srgbClr val="0070C0"/>
                </a:solidFill>
              </a:rPr>
              <a:t>			statement 2; ]</a:t>
            </a:r>
          </a:p>
          <a:p>
            <a:pPr marL="514350" indent="-514350">
              <a:buNone/>
            </a:pPr>
            <a:r>
              <a:rPr lang="en-GB" dirty="0" smtClean="0">
                <a:solidFill>
                  <a:srgbClr val="0070C0"/>
                </a:solidFill>
              </a:rPr>
              <a:t>	}</a:t>
            </a:r>
          </a:p>
          <a:p>
            <a:pPr marL="514350" indent="-514350">
              <a:buNone/>
            </a:pPr>
            <a:r>
              <a:rPr lang="en-GB" dirty="0" smtClean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305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Nested ifs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531225" cy="487045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 startAt="3"/>
            </a:pPr>
            <a:r>
              <a:rPr lang="en-GB" sz="4600" dirty="0" smtClean="0"/>
              <a:t>If nested inside both if-part and else-part</a:t>
            </a:r>
          </a:p>
          <a:p>
            <a:pPr marL="514350" indent="-514350">
              <a:buNone/>
            </a:pPr>
            <a:r>
              <a:rPr lang="en-GB" sz="3600" b="1" dirty="0" smtClean="0"/>
              <a:t>	</a:t>
            </a:r>
            <a:r>
              <a:rPr lang="en-GB" sz="3100" dirty="0" smtClean="0">
                <a:solidFill>
                  <a:srgbClr val="0070C0"/>
                </a:solidFill>
              </a:rPr>
              <a:t>if (expression1){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if(expression2)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	statement 1;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[ else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	statement 2;]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}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else{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if(expression3)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	statement 3;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	[ else statement 4;]</a:t>
            </a:r>
          </a:p>
          <a:p>
            <a:pPr marL="514350" indent="-514350">
              <a:buNone/>
            </a:pPr>
            <a:r>
              <a:rPr lang="en-GB" sz="3100" dirty="0" smtClean="0">
                <a:solidFill>
                  <a:srgbClr val="0070C0"/>
                </a:solidFill>
              </a:rPr>
              <a:t>	}</a:t>
            </a:r>
          </a:p>
          <a:p>
            <a:pPr marL="514350" indent="-51435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430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Dangling-Else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544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dirty="0" smtClean="0"/>
              <a:t>The Alternative to if - ?: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078830"/>
            <a:ext cx="8531225" cy="4870450"/>
          </a:xfrm>
        </p:spPr>
        <p:txBody>
          <a:bodyPr>
            <a:noAutofit/>
          </a:bodyPr>
          <a:lstStyle/>
          <a:p>
            <a:r>
              <a:rPr lang="en-GB" dirty="0" smtClean="0"/>
              <a:t>Java has an operator that can be used as an alternative to </a:t>
            </a:r>
            <a:r>
              <a:rPr lang="en-GB" b="1" dirty="0" smtClean="0"/>
              <a:t>if</a:t>
            </a:r>
            <a:r>
              <a:rPr lang="en-GB" dirty="0" smtClean="0"/>
              <a:t> statement, the conditional operator </a:t>
            </a:r>
            <a:r>
              <a:rPr lang="en-GB" b="1" dirty="0" smtClean="0"/>
              <a:t>?:</a:t>
            </a:r>
            <a:endParaRPr lang="en-GB" dirty="0" smtClean="0"/>
          </a:p>
          <a:p>
            <a:r>
              <a:rPr lang="en-GB" dirty="0" smtClean="0"/>
              <a:t>This operator can be used to replace </a:t>
            </a:r>
            <a:r>
              <a:rPr lang="en-GB" b="1" dirty="0" smtClean="0"/>
              <a:t>if-else</a:t>
            </a:r>
            <a:r>
              <a:rPr lang="en-GB" dirty="0" smtClean="0"/>
              <a:t> statements of the general form:</a:t>
            </a:r>
          </a:p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</a:t>
            </a:r>
            <a:r>
              <a:rPr lang="en-GB" sz="2800" dirty="0" smtClean="0">
                <a:solidFill>
                  <a:srgbClr val="0070C0"/>
                </a:solidFill>
              </a:rPr>
              <a:t>if(expression1)</a:t>
            </a:r>
          </a:p>
          <a:p>
            <a:pPr>
              <a:buNone/>
            </a:pPr>
            <a:r>
              <a:rPr lang="en-GB" sz="2800" dirty="0" smtClean="0">
                <a:solidFill>
                  <a:srgbClr val="0070C0"/>
                </a:solidFill>
              </a:rPr>
              <a:t>		expression2;</a:t>
            </a:r>
          </a:p>
          <a:p>
            <a:pPr>
              <a:buNone/>
            </a:pPr>
            <a:r>
              <a:rPr lang="en-GB" sz="2800" dirty="0" smtClean="0">
                <a:solidFill>
                  <a:srgbClr val="0070C0"/>
                </a:solidFill>
              </a:rPr>
              <a:t>	else</a:t>
            </a:r>
          </a:p>
          <a:p>
            <a:pPr>
              <a:buNone/>
            </a:pPr>
            <a:r>
              <a:rPr lang="en-GB" sz="2800" dirty="0" smtClean="0">
                <a:solidFill>
                  <a:srgbClr val="0070C0"/>
                </a:solidFill>
              </a:rPr>
              <a:t>		expression3;</a:t>
            </a:r>
          </a:p>
        </p:txBody>
      </p:sp>
    </p:spTree>
    <p:extLst>
      <p:ext uri="{BB962C8B-B14F-4D97-AF65-F5344CB8AC3E}">
        <p14:creationId xmlns:p14="http://schemas.microsoft.com/office/powerpoint/2010/main" val="45721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Alternative to if - ?: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above form of </a:t>
            </a:r>
            <a:r>
              <a:rPr lang="en-GB" b="1" dirty="0"/>
              <a:t>if</a:t>
            </a:r>
            <a:r>
              <a:rPr lang="en-GB" dirty="0"/>
              <a:t> can be alternatively written using </a:t>
            </a:r>
            <a:r>
              <a:rPr lang="en-GB" b="1" dirty="0"/>
              <a:t>?:</a:t>
            </a:r>
            <a:r>
              <a:rPr lang="en-GB" dirty="0"/>
              <a:t> as follows:</a:t>
            </a:r>
          </a:p>
          <a:p>
            <a:pPr>
              <a:buNone/>
            </a:pPr>
            <a:r>
              <a:rPr lang="en-GB" dirty="0">
                <a:solidFill>
                  <a:srgbClr val="0070C0"/>
                </a:solidFill>
              </a:rPr>
              <a:t>	expression1 ? expression2 : expression3</a:t>
            </a:r>
            <a:r>
              <a:rPr lang="en-GB" dirty="0" smtClean="0">
                <a:solidFill>
                  <a:srgbClr val="0070C0"/>
                </a:solidFill>
              </a:rPr>
              <a:t>;</a:t>
            </a:r>
          </a:p>
          <a:p>
            <a:r>
              <a:rPr lang="en-GB" dirty="0"/>
              <a:t>It works in the same way as an </a:t>
            </a:r>
            <a:r>
              <a:rPr lang="en-GB" b="1" dirty="0"/>
              <a:t>if </a:t>
            </a:r>
            <a:r>
              <a:rPr lang="en-GB" dirty="0"/>
              <a:t>does, i.e. </a:t>
            </a:r>
            <a:r>
              <a:rPr lang="en-GB" i="1" dirty="0"/>
              <a:t>expression1</a:t>
            </a:r>
            <a:r>
              <a:rPr lang="en-GB" dirty="0"/>
              <a:t> is evaluated, if it is true, </a:t>
            </a:r>
            <a:r>
              <a:rPr lang="en-GB" i="1" dirty="0"/>
              <a:t>expression2</a:t>
            </a:r>
            <a:r>
              <a:rPr lang="en-GB" dirty="0"/>
              <a:t> gets executed otherwise </a:t>
            </a:r>
            <a:r>
              <a:rPr lang="en-GB" i="1" dirty="0"/>
              <a:t>expression3</a:t>
            </a:r>
            <a:r>
              <a:rPr lang="en-GB" dirty="0"/>
              <a:t> gets executed.</a:t>
            </a:r>
            <a:endParaRPr lang="en-GB" i="1" dirty="0"/>
          </a:p>
          <a:p>
            <a:pPr>
              <a:buNone/>
            </a:pPr>
            <a:endParaRPr lang="en-GB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4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switch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Java provides a multiple-branch selection statement known as </a:t>
            </a:r>
            <a:r>
              <a:rPr lang="en-GB" sz="2800" b="1" dirty="0" smtClean="0"/>
              <a:t>switch</a:t>
            </a:r>
            <a:r>
              <a:rPr lang="en-GB" sz="2800" dirty="0" smtClean="0"/>
              <a:t>.</a:t>
            </a:r>
          </a:p>
          <a:p>
            <a:r>
              <a:rPr lang="en-GB" sz="2800" dirty="0" smtClean="0"/>
              <a:t>This selection statement successively tests the value of an expression against a list of integer  or character constants, for equality.</a:t>
            </a:r>
          </a:p>
          <a:p>
            <a:r>
              <a:rPr lang="en-GB" sz="2800" dirty="0" smtClean="0"/>
              <a:t>When a match is found, the statements associated with that constant are executed.</a:t>
            </a:r>
          </a:p>
          <a:p>
            <a:r>
              <a:rPr lang="en-GB" sz="2800" dirty="0" smtClean="0"/>
              <a:t>The syntax of </a:t>
            </a:r>
            <a:r>
              <a:rPr lang="en-GB" sz="2800" b="1" dirty="0" smtClean="0"/>
              <a:t>switch</a:t>
            </a:r>
            <a:r>
              <a:rPr lang="en-GB" sz="2800" dirty="0" smtClean="0"/>
              <a:t> statement is:</a:t>
            </a:r>
          </a:p>
          <a:p>
            <a:pPr>
              <a:buNone/>
            </a:pPr>
            <a:r>
              <a:rPr lang="en-GB" sz="2800" dirty="0" smtClean="0"/>
              <a:t>	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724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switch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rgbClr val="0070C0"/>
                </a:solidFill>
              </a:rPr>
              <a:t>switch(expression){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case constant1: statement-sequence1;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		break;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case constant2: statement-sequence2;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		break;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	...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case constant n-1: statement-sequence n-1;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		break;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[ default: 	      statement-sequence n]; 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}</a:t>
            </a:r>
            <a:endParaRPr lang="en-GB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4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switch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i="1" dirty="0" smtClean="0"/>
              <a:t>expression </a:t>
            </a:r>
            <a:r>
              <a:rPr lang="en-GB" dirty="0" smtClean="0"/>
              <a:t>is evaluated and its values are matched against the values of the constants specified in the </a:t>
            </a:r>
            <a:r>
              <a:rPr lang="en-GB" b="1" dirty="0" smtClean="0"/>
              <a:t>case</a:t>
            </a:r>
            <a:r>
              <a:rPr lang="en-GB" dirty="0" smtClean="0"/>
              <a:t> statements.</a:t>
            </a:r>
          </a:p>
          <a:p>
            <a:r>
              <a:rPr lang="en-GB" dirty="0" smtClean="0"/>
              <a:t>When a match is found, the </a:t>
            </a:r>
            <a:r>
              <a:rPr lang="en-GB" i="1" dirty="0" smtClean="0"/>
              <a:t>statement sequence </a:t>
            </a:r>
            <a:r>
              <a:rPr lang="en-GB" dirty="0" smtClean="0"/>
              <a:t>associated with that case is executed until the </a:t>
            </a:r>
            <a:r>
              <a:rPr lang="en-GB" b="1" dirty="0" smtClean="0"/>
              <a:t>break</a:t>
            </a:r>
            <a:r>
              <a:rPr lang="en-GB" dirty="0" smtClean="0"/>
              <a:t> statement or the end of </a:t>
            </a:r>
            <a:r>
              <a:rPr lang="en-GB" b="1" dirty="0" smtClean="0"/>
              <a:t>switch</a:t>
            </a:r>
            <a:r>
              <a:rPr lang="en-GB" dirty="0" smtClean="0"/>
              <a:t> statement is reached.</a:t>
            </a:r>
          </a:p>
          <a:p>
            <a:r>
              <a:rPr lang="en-GB" dirty="0" smtClean="0"/>
              <a:t>The </a:t>
            </a:r>
            <a:r>
              <a:rPr lang="en-GB" b="1" dirty="0" smtClean="0"/>
              <a:t>default</a:t>
            </a:r>
            <a:r>
              <a:rPr lang="en-GB" dirty="0" smtClean="0"/>
              <a:t> statement gets executed when no match is found.</a:t>
            </a:r>
          </a:p>
        </p:txBody>
      </p:sp>
    </p:spTree>
    <p:extLst>
      <p:ext uri="{BB962C8B-B14F-4D97-AF65-F5344CB8AC3E}">
        <p14:creationId xmlns:p14="http://schemas.microsoft.com/office/powerpoint/2010/main" val="183675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switch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 control flows to the next case below the matching case, in the absence of </a:t>
            </a:r>
            <a:r>
              <a:rPr lang="en-GB" b="1" dirty="0"/>
              <a:t>break, </a:t>
            </a:r>
            <a:r>
              <a:rPr lang="en-GB" dirty="0"/>
              <a:t>this is call </a:t>
            </a:r>
            <a:r>
              <a:rPr lang="en-GB" b="1" dirty="0"/>
              <a:t>fall through</a:t>
            </a:r>
            <a:r>
              <a:rPr lang="en-GB" dirty="0"/>
              <a:t>.</a:t>
            </a:r>
          </a:p>
          <a:p>
            <a:r>
              <a:rPr lang="en-GB" dirty="0"/>
              <a:t>The </a:t>
            </a:r>
            <a:r>
              <a:rPr lang="en-GB" b="1" dirty="0"/>
              <a:t>default</a:t>
            </a:r>
            <a:r>
              <a:rPr lang="en-GB" dirty="0"/>
              <a:t> statement is optional and, if it is missing, no action takes place if all matches fail.</a:t>
            </a:r>
          </a:p>
          <a:p>
            <a:r>
              <a:rPr lang="en-GB" dirty="0"/>
              <a:t>A case statement cannot exist by itself, outside of a switch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80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85728"/>
            <a:ext cx="8858250" cy="762000"/>
          </a:xfrm>
        </p:spPr>
        <p:txBody>
          <a:bodyPr/>
          <a:lstStyle/>
          <a:p>
            <a:r>
              <a:rPr lang="en-US" dirty="0" smtClean="0"/>
              <a:t>Summary: Week 6 Lecture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5750" y="1052736"/>
            <a:ext cx="8531225" cy="5357834"/>
          </a:xfrm>
        </p:spPr>
        <p:txBody>
          <a:bodyPr/>
          <a:lstStyle/>
          <a:p>
            <a:r>
              <a:rPr lang="en-US" sz="3100" dirty="0"/>
              <a:t>Introduction to Decision Making</a:t>
            </a:r>
          </a:p>
          <a:p>
            <a:r>
              <a:rPr lang="en-GB" sz="3100" dirty="0"/>
              <a:t>Programming Construct - Sequence </a:t>
            </a:r>
          </a:p>
          <a:p>
            <a:r>
              <a:rPr lang="en-GB" sz="3100" dirty="0"/>
              <a:t>Programming Construct - Selection</a:t>
            </a:r>
            <a:endParaRPr lang="en-US" sz="3100" dirty="0"/>
          </a:p>
          <a:p>
            <a:r>
              <a:rPr lang="en-GB" sz="3100" dirty="0"/>
              <a:t>Programming Construct - Iteration</a:t>
            </a:r>
            <a:endParaRPr lang="en-US" sz="3100" dirty="0"/>
          </a:p>
          <a:p>
            <a:r>
              <a:rPr lang="en-GB" sz="3100" dirty="0"/>
              <a:t>Selection Statements – if Statement</a:t>
            </a:r>
            <a:endParaRPr lang="en-US" sz="3100" dirty="0"/>
          </a:p>
          <a:p>
            <a:r>
              <a:rPr lang="en-GB" sz="3100" dirty="0"/>
              <a:t>Selection Statements – if-else Statement </a:t>
            </a:r>
          </a:p>
          <a:p>
            <a:r>
              <a:rPr lang="en-GB" sz="3100" dirty="0"/>
              <a:t>Nested ifs</a:t>
            </a:r>
          </a:p>
          <a:p>
            <a:r>
              <a:rPr lang="en-GB" sz="3100" dirty="0"/>
              <a:t>The Dangling-Else</a:t>
            </a:r>
          </a:p>
          <a:p>
            <a:r>
              <a:rPr lang="en-GB" sz="3100" dirty="0"/>
              <a:t>The Alternative to if</a:t>
            </a:r>
          </a:p>
          <a:p>
            <a:r>
              <a:rPr lang="en-GB" sz="3100" dirty="0"/>
              <a:t>The switch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What to Expect: Week 6 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14438"/>
            <a:ext cx="8531225" cy="5643562"/>
          </a:xfrm>
        </p:spPr>
        <p:txBody>
          <a:bodyPr/>
          <a:lstStyle/>
          <a:p>
            <a:pPr lvl="0"/>
            <a:r>
              <a:rPr lang="en-GB" dirty="0" smtClean="0"/>
              <a:t>Discussion </a:t>
            </a:r>
            <a:r>
              <a:rPr lang="en-GB" dirty="0"/>
              <a:t>about the topics covered in the lecture.</a:t>
            </a:r>
            <a:endParaRPr lang="en-US" dirty="0"/>
          </a:p>
          <a:p>
            <a:r>
              <a:rPr lang="en-GB" dirty="0"/>
              <a:t>Provide practical questions based on </a:t>
            </a:r>
            <a:r>
              <a:rPr lang="en-US" dirty="0" smtClean="0"/>
              <a:t>constructor so it is vital that you go through the lecture slide!!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556792"/>
            <a:ext cx="4327525" cy="397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  <a:ea typeface="SimSun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12709</TotalTime>
  <Words>1164</Words>
  <Application>Microsoft Macintosh PowerPoint</Application>
  <PresentationFormat>On-screen Show (4:3)</PresentationFormat>
  <Paragraphs>192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Calibri</vt:lpstr>
      <vt:lpstr>SimSun</vt:lpstr>
      <vt:lpstr>Times New Roman</vt:lpstr>
      <vt:lpstr>宋体</vt:lpstr>
      <vt:lpstr>Office Theme</vt:lpstr>
      <vt:lpstr>Decision Making Statements</vt:lpstr>
      <vt:lpstr>Agenda</vt:lpstr>
      <vt:lpstr>Let’s get started with Lecture 6</vt:lpstr>
      <vt:lpstr>Introduction </vt:lpstr>
      <vt:lpstr>Introduction</vt:lpstr>
      <vt:lpstr>Programming Constructs</vt:lpstr>
      <vt:lpstr>Programming Construct - Sequence</vt:lpstr>
      <vt:lpstr>Programming Construct - Selection</vt:lpstr>
      <vt:lpstr>Programming Construct - Selection</vt:lpstr>
      <vt:lpstr>Programming Construct - Iteration</vt:lpstr>
      <vt:lpstr>Programming Construct - Iteration</vt:lpstr>
      <vt:lpstr>Programming Construct - Iteration</vt:lpstr>
      <vt:lpstr>Any Questions?</vt:lpstr>
      <vt:lpstr>Selection Statements</vt:lpstr>
      <vt:lpstr>Selection Statements – if Statement</vt:lpstr>
      <vt:lpstr>Selection Statements – if Statement</vt:lpstr>
      <vt:lpstr>Selection Statements – if Statement</vt:lpstr>
      <vt:lpstr>Selection Statements – if Statement</vt:lpstr>
      <vt:lpstr>Selection Statements – if-else Statement</vt:lpstr>
      <vt:lpstr>Nested ifs</vt:lpstr>
      <vt:lpstr>PowerPoint Presentation</vt:lpstr>
      <vt:lpstr>Nested ifs</vt:lpstr>
      <vt:lpstr>Nested ifs</vt:lpstr>
      <vt:lpstr>The Dangling-Else</vt:lpstr>
      <vt:lpstr>The Alternative to if - ?:</vt:lpstr>
      <vt:lpstr>The Alternative to if - ?:</vt:lpstr>
      <vt:lpstr>The switch Statement</vt:lpstr>
      <vt:lpstr>The switch Statement</vt:lpstr>
      <vt:lpstr>The switch Statement</vt:lpstr>
      <vt:lpstr>The switch Statement</vt:lpstr>
      <vt:lpstr>Summary: Week 6 Lecture</vt:lpstr>
      <vt:lpstr>What to Expect: Week 6 Lab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Corporate Edition</dc:creator>
  <cp:lastModifiedBy>Microsoft Office User</cp:lastModifiedBy>
  <cp:revision>1791</cp:revision>
  <cp:lastPrinted>1601-01-01T00:00:00Z</cp:lastPrinted>
  <dcterms:created xsi:type="dcterms:W3CDTF">2010-08-24T06:31:40Z</dcterms:created>
  <dcterms:modified xsi:type="dcterms:W3CDTF">2016-09-28T04:12:19Z</dcterms:modified>
</cp:coreProperties>
</file>