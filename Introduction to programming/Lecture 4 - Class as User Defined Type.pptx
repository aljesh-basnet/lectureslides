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6"/>
  </p:notesMasterIdLst>
  <p:sldIdLst>
    <p:sldId id="614" r:id="rId2"/>
    <p:sldId id="726" r:id="rId3"/>
    <p:sldId id="962" r:id="rId4"/>
    <p:sldId id="760" r:id="rId5"/>
    <p:sldId id="935" r:id="rId6"/>
    <p:sldId id="951" r:id="rId7"/>
    <p:sldId id="936" r:id="rId8"/>
    <p:sldId id="952" r:id="rId9"/>
    <p:sldId id="937" r:id="rId10"/>
    <p:sldId id="938" r:id="rId11"/>
    <p:sldId id="939" r:id="rId12"/>
    <p:sldId id="940" r:id="rId13"/>
    <p:sldId id="960" r:id="rId14"/>
    <p:sldId id="941" r:id="rId15"/>
    <p:sldId id="953" r:id="rId16"/>
    <p:sldId id="942" r:id="rId17"/>
    <p:sldId id="954" r:id="rId18"/>
    <p:sldId id="943" r:id="rId19"/>
    <p:sldId id="944" r:id="rId20"/>
    <p:sldId id="945" r:id="rId21"/>
    <p:sldId id="955" r:id="rId22"/>
    <p:sldId id="946" r:id="rId23"/>
    <p:sldId id="956" r:id="rId24"/>
    <p:sldId id="947" r:id="rId25"/>
    <p:sldId id="961" r:id="rId26"/>
    <p:sldId id="948" r:id="rId27"/>
    <p:sldId id="957" r:id="rId28"/>
    <p:sldId id="949" r:id="rId29"/>
    <p:sldId id="958" r:id="rId30"/>
    <p:sldId id="959" r:id="rId31"/>
    <p:sldId id="950" r:id="rId32"/>
    <p:sldId id="794" r:id="rId33"/>
    <p:sldId id="741" r:id="rId34"/>
    <p:sldId id="687" r:id="rId35"/>
  </p:sldIdLst>
  <p:sldSz cx="9144000" cy="6858000" type="screen4x3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6600"/>
    <a:srgbClr val="663300"/>
    <a:srgbClr val="FF99FF"/>
    <a:srgbClr val="9999FF"/>
    <a:srgbClr val="0033CC"/>
    <a:srgbClr val="FF66FF"/>
    <a:srgbClr val="9966FF"/>
    <a:srgbClr val="CC0099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80" autoAdjust="0"/>
    <p:restoredTop sz="93096" autoAdjust="0"/>
  </p:normalViewPr>
  <p:slideViewPr>
    <p:cSldViewPr>
      <p:cViewPr varScale="1">
        <p:scale>
          <a:sx n="105" d="100"/>
          <a:sy n="105" d="100"/>
        </p:scale>
        <p:origin x="2208" y="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636" y="24993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0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1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6" name="AutoShape 8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7" name="AutoShape 9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8" name="AutoShape 10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59" name="AutoShape 1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0" name="AutoShape 1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2" name="AutoShape 1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3" name="AutoShape 1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4" name="AutoShape 1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6" name="AutoShape 18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7" name="AutoShape 19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8" name="AutoShape 20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69" name="AutoShape 2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0" name="AutoShape 2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1" name="AutoShape 2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2" name="AutoShape 2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2073" name="AutoShape 2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79899" name="Rectangle 2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11798300" y="-11796713"/>
            <a:ext cx="11758612" cy="124523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2075" name="Rectangle 27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4091558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08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46713" cy="4076700"/>
          </a:xfrm>
          <a:noFill/>
          <a:ln/>
        </p:spPr>
        <p:txBody>
          <a:bodyPr wrap="none" anchor="ctr"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34674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03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39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241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284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33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219238" y="-11796713"/>
            <a:ext cx="16600488" cy="12452351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42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E7AE-D891-4742-9343-5EF205D83184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41C6D-44DB-4C04-9CB5-747DFD8034D5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AF2F3-A1D1-4097-8ADA-9467C774BAB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214438"/>
            <a:ext cx="4189413" cy="487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563" y="1214438"/>
            <a:ext cx="4189412" cy="487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D06B8-A366-4D7D-8D93-3C162260D047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DB8C4F-FE3E-4394-B2DA-E4A48F0D5700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21365-AAB7-44E9-AE25-AC26CB6D31C9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5F4C4-4802-406A-9566-DC0441A9D6F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5B006-943A-426A-9B1D-39C221084F8A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C1328-7526-46D0-AF05-B470211DDA7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82277-77C8-4CBD-9C20-1D2B71F7204F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4963" y="268288"/>
            <a:ext cx="2132012" cy="5816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5750" y="268288"/>
            <a:ext cx="6246813" cy="5816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A60C3-6C5C-4A94-BC8E-5932D08D3DDD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85750" y="268288"/>
            <a:ext cx="8531225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5750" y="1214438"/>
            <a:ext cx="8531225" cy="4870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the outline text format</a:t>
            </a:r>
          </a:p>
          <a:p>
            <a:pPr lvl="1"/>
            <a:r>
              <a:rPr lang="en-GB" dirty="0" smtClean="0"/>
              <a:t>Second Outline Level</a:t>
            </a:r>
          </a:p>
          <a:p>
            <a:pPr lvl="2"/>
            <a:r>
              <a:rPr lang="en-GB" dirty="0" smtClean="0"/>
              <a:t>Third Outline Level</a:t>
            </a:r>
          </a:p>
          <a:p>
            <a:pPr lvl="3"/>
            <a:r>
              <a:rPr lang="en-GB" dirty="0" smtClean="0"/>
              <a:t>Fourth Outline Level</a:t>
            </a:r>
          </a:p>
          <a:p>
            <a:pPr lvl="4"/>
            <a:r>
              <a:rPr lang="en-GB" dirty="0" smtClean="0"/>
              <a:t>Fifth Outline Level</a:t>
            </a:r>
          </a:p>
          <a:p>
            <a:pPr lvl="4"/>
            <a:r>
              <a:rPr lang="en-GB" dirty="0" smtClean="0"/>
              <a:t>Sixth Outline Level</a:t>
            </a:r>
          </a:p>
          <a:p>
            <a:pPr lvl="4"/>
            <a:r>
              <a:rPr lang="en-GB" dirty="0" smtClean="0"/>
              <a:t>Seventh Outline Level</a:t>
            </a:r>
          </a:p>
          <a:p>
            <a:pPr lvl="4"/>
            <a:r>
              <a:rPr lang="en-GB" dirty="0" smtClean="0"/>
              <a:t>Eighth Outline Level</a:t>
            </a:r>
          </a:p>
          <a:p>
            <a:pPr lvl="4"/>
            <a:r>
              <a:rPr lang="en-GB" dirty="0" smtClean="0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3175"/>
            <a:ext cx="2092325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124200" y="6354763"/>
            <a:ext cx="2895600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3175"/>
            <a:ext cx="2092325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D605CA8D-3D6C-42DF-9A5B-66FCBCC600DC}" type="slidenum">
              <a:rPr lang="en-SG"/>
              <a:pPr>
                <a:defRPr/>
              </a:pPr>
              <a:t>‹#›</a:t>
            </a:fld>
            <a:endParaRPr lang="en-SG" dirty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214313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r">
              <a:defRPr/>
            </a:pPr>
            <a:r>
              <a:rPr lang="en-SG" sz="1800" dirty="0" err="1" smtClean="0"/>
              <a:t>iAcademy</a:t>
            </a:r>
            <a:endParaRPr lang="en-SG" sz="1800" dirty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 flipV="1">
            <a:off x="0" y="-1"/>
            <a:ext cx="7929586" cy="45719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-32" y="6643711"/>
            <a:ext cx="9144000" cy="214313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SG" sz="1800" dirty="0" err="1" smtClean="0"/>
              <a:t>iAcademy</a:t>
            </a:r>
            <a:endParaRPr lang="en-SG" sz="1800" dirty="0" smtClean="0"/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auto">
          <a:xfrm flipV="1">
            <a:off x="1214414" y="6786584"/>
            <a:ext cx="7929554" cy="71415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S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宋体" pitchFamily="2" charset="-122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宋体" pitchFamily="2" charset="-122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pitchFamily="32" charset="0"/>
          <a:ea typeface="SimSun" charset="-122"/>
        </a:defRPr>
      </a:lvl9pPr>
    </p:titleStyle>
    <p:bodyStyle>
      <a:lvl1pPr marL="342900" indent="-34290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3200">
          <a:solidFill>
            <a:srgbClr val="000000"/>
          </a:solidFill>
          <a:latin typeface="+mn-lt"/>
          <a:ea typeface="宋体" pitchFamily="2" charset="-122"/>
          <a:cs typeface="+mn-cs"/>
        </a:defRPr>
      </a:lvl1pPr>
      <a:lvl2pPr marL="742950" indent="-28575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–"/>
        <a:defRPr sz="2800">
          <a:solidFill>
            <a:srgbClr val="000000"/>
          </a:solidFill>
          <a:latin typeface="+mn-lt"/>
          <a:ea typeface="宋体" pitchFamily="2" charset="-122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2400">
          <a:solidFill>
            <a:srgbClr val="000000"/>
          </a:solidFill>
          <a:latin typeface="+mn-lt"/>
          <a:ea typeface="宋体" pitchFamily="2" charset="-122"/>
        </a:defRPr>
      </a:lvl3pPr>
      <a:lvl4pPr marL="1600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–"/>
        <a:defRPr sz="2000">
          <a:solidFill>
            <a:srgbClr val="000000"/>
          </a:solidFill>
          <a:latin typeface="+mn-lt"/>
          <a:ea typeface="宋体" pitchFamily="2" charset="-122"/>
        </a:defRPr>
      </a:lvl4pPr>
      <a:lvl5pPr marL="2057400" indent="-228600" algn="l" defTabSz="449263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»"/>
        <a:defRPr sz="1600">
          <a:solidFill>
            <a:srgbClr val="000000"/>
          </a:solidFill>
          <a:latin typeface="+mn-lt"/>
          <a:ea typeface="宋体" pitchFamily="2" charset="-122"/>
        </a:defRPr>
      </a:lvl5pPr>
      <a:lvl6pPr marL="25146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785794"/>
            <a:ext cx="7772400" cy="1470025"/>
          </a:xfrm>
        </p:spPr>
        <p:txBody>
          <a:bodyPr/>
          <a:lstStyle/>
          <a:p>
            <a:pPr algn="ctr"/>
            <a:r>
              <a:rPr lang="en-US" dirty="0" smtClean="0"/>
              <a:t>Class as User Defined Type</a:t>
            </a:r>
            <a:endParaRPr lang="en-GB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57158" y="2684444"/>
            <a:ext cx="8358246" cy="2387629"/>
          </a:xfrm>
        </p:spPr>
        <p:txBody>
          <a:bodyPr/>
          <a:lstStyle/>
          <a:p>
            <a:r>
              <a:rPr lang="en-US" sz="2800" dirty="0" smtClean="0"/>
              <a:t>Introduction to Programming I</a:t>
            </a:r>
          </a:p>
          <a:p>
            <a:r>
              <a:rPr lang="en-US" sz="2800" dirty="0" smtClean="0"/>
              <a:t>Lecture 4</a:t>
            </a:r>
          </a:p>
          <a:p>
            <a:endParaRPr lang="en-US" sz="2800" dirty="0" smtClean="0"/>
          </a:p>
          <a:p>
            <a:r>
              <a:rPr lang="en-US" sz="2400" i="1" dirty="0" smtClean="0"/>
              <a:t>Class as User Defined Type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42844" y="5214950"/>
            <a:ext cx="8786874" cy="128588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algn="just">
              <a:spcBef>
                <a:spcPct val="20000"/>
              </a:spcBef>
            </a:pPr>
            <a:r>
              <a:rPr lang="en-GB" sz="1400" dirty="0">
                <a:solidFill>
                  <a:schemeClr val="tx1"/>
                </a:solidFill>
              </a:rPr>
              <a:t>This lecture and its associated materials have been produced </a:t>
            </a:r>
            <a:r>
              <a:rPr lang="en-GB" sz="1400" dirty="0" smtClean="0">
                <a:solidFill>
                  <a:schemeClr val="tx1"/>
                </a:solidFill>
              </a:rPr>
              <a:t>by Mr. Abhinav Dahal (M.Sc., </a:t>
            </a:r>
            <a:r>
              <a:rPr lang="en-GB" sz="1400" smtClean="0">
                <a:solidFill>
                  <a:schemeClr val="tx1"/>
                </a:solidFill>
              </a:rPr>
              <a:t>Linnaeus University) </a:t>
            </a:r>
            <a:r>
              <a:rPr lang="en-GB" sz="1400" dirty="0" smtClean="0">
                <a:solidFill>
                  <a:schemeClr val="tx1"/>
                </a:solidFill>
              </a:rPr>
              <a:t>of </a:t>
            </a:r>
            <a:r>
              <a:rPr lang="en-GB" sz="1400" dirty="0" err="1" smtClean="0">
                <a:solidFill>
                  <a:schemeClr val="tx1"/>
                </a:solidFill>
              </a:rPr>
              <a:t>iAcademy</a:t>
            </a:r>
            <a:r>
              <a:rPr lang="en-GB" sz="1400" dirty="0" smtClean="0">
                <a:solidFill>
                  <a:schemeClr val="tx1"/>
                </a:solidFill>
              </a:rPr>
              <a:t> for </a:t>
            </a:r>
            <a:r>
              <a:rPr lang="en-GB" sz="1400" dirty="0">
                <a:solidFill>
                  <a:schemeClr val="tx1"/>
                </a:solidFill>
              </a:rPr>
              <a:t>the purposes of lecturing on the </a:t>
            </a:r>
            <a:r>
              <a:rPr lang="en-GB" sz="1400" dirty="0" smtClean="0">
                <a:solidFill>
                  <a:schemeClr val="tx1"/>
                </a:solidFill>
              </a:rPr>
              <a:t>above described subject </a:t>
            </a:r>
            <a:r>
              <a:rPr lang="en-GB" sz="1400" dirty="0">
                <a:solidFill>
                  <a:schemeClr val="tx1"/>
                </a:solidFill>
              </a:rPr>
              <a:t>and the material should be viewed in this context. The work does not constitute professional advice and no warranties are made regarding the information presented. The </a:t>
            </a:r>
            <a:r>
              <a:rPr lang="en-GB" sz="1400" dirty="0" smtClean="0">
                <a:solidFill>
                  <a:schemeClr val="tx1"/>
                </a:solidFill>
              </a:rPr>
              <a:t>Author and </a:t>
            </a:r>
            <a:r>
              <a:rPr lang="en-GB" sz="1400" dirty="0" err="1" smtClean="0">
                <a:solidFill>
                  <a:schemeClr val="tx1"/>
                </a:solidFill>
              </a:rPr>
              <a:t>iAcademy</a:t>
            </a:r>
            <a:r>
              <a:rPr lang="en-GB" sz="1400" dirty="0" smtClean="0">
                <a:solidFill>
                  <a:schemeClr val="tx1"/>
                </a:solidFill>
              </a:rPr>
              <a:t> do </a:t>
            </a:r>
            <a:r>
              <a:rPr lang="en-GB" sz="1400" dirty="0">
                <a:solidFill>
                  <a:schemeClr val="tx1"/>
                </a:solidFill>
              </a:rPr>
              <a:t>not accept any liability for the consequences of any action taken as a result of the work or any recommendations made or inferred</a:t>
            </a:r>
            <a:r>
              <a:rPr lang="en-GB" sz="1400" dirty="0" smtClean="0">
                <a:solidFill>
                  <a:schemeClr val="tx1"/>
                </a:solidFill>
              </a:rPr>
              <a:t>. Permission to use any of these materials must be first granted by </a:t>
            </a:r>
            <a:r>
              <a:rPr lang="en-GB" sz="1400" dirty="0" err="1" smtClean="0">
                <a:solidFill>
                  <a:schemeClr val="tx1"/>
                </a:solidFill>
              </a:rPr>
              <a:t>iAcademy</a:t>
            </a:r>
            <a:r>
              <a:rPr lang="en-GB" sz="1400" dirty="0" smtClean="0">
                <a:solidFill>
                  <a:schemeClr val="tx1"/>
                </a:solidFill>
              </a:rPr>
              <a:t>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052736"/>
            <a:ext cx="8531225" cy="5643562"/>
          </a:xfrm>
        </p:spPr>
        <p:txBody>
          <a:bodyPr/>
          <a:lstStyle/>
          <a:p>
            <a:r>
              <a:rPr lang="en-US" dirty="0" smtClean="0"/>
              <a:t>Week 4 Lecture Coverage</a:t>
            </a:r>
          </a:p>
          <a:p>
            <a:pPr lvl="1"/>
            <a:r>
              <a:rPr lang="en-US" dirty="0" smtClean="0"/>
              <a:t>Introduction to Class as User Defined Type</a:t>
            </a:r>
          </a:p>
          <a:p>
            <a:pPr lvl="1"/>
            <a:r>
              <a:rPr lang="en-US" dirty="0" smtClean="0"/>
              <a:t>Class as Composite Type</a:t>
            </a:r>
          </a:p>
          <a:p>
            <a:pPr lvl="1"/>
            <a:r>
              <a:rPr lang="en-US" dirty="0" smtClean="0"/>
              <a:t>Class as User Defined Data Type</a:t>
            </a:r>
          </a:p>
          <a:p>
            <a:pPr lvl="1"/>
            <a:r>
              <a:rPr lang="en-US" dirty="0" smtClean="0"/>
              <a:t>Private Datatype Vs User-defined Datatype</a:t>
            </a:r>
          </a:p>
          <a:p>
            <a:pPr lvl="1"/>
            <a:r>
              <a:rPr lang="en-US" dirty="0" smtClean="0"/>
              <a:t>Creating and Using Objects</a:t>
            </a:r>
          </a:p>
          <a:p>
            <a:pPr lvl="1"/>
            <a:r>
              <a:rPr lang="en-US" dirty="0" smtClean="0"/>
              <a:t>Referencing an Object’s Variables</a:t>
            </a:r>
          </a:p>
          <a:p>
            <a:pPr lvl="1"/>
            <a:r>
              <a:rPr lang="en-US" dirty="0" smtClean="0"/>
              <a:t>Access Specifiers</a:t>
            </a:r>
          </a:p>
          <a:p>
            <a:pPr lvl="1"/>
            <a:r>
              <a:rPr lang="en-US" dirty="0" smtClean="0"/>
              <a:t>Getter and Setter 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88640"/>
            <a:ext cx="8531225" cy="762000"/>
          </a:xfrm>
        </p:spPr>
        <p:txBody>
          <a:bodyPr/>
          <a:lstStyle/>
          <a:p>
            <a:r>
              <a:rPr lang="en-US" dirty="0" smtClean="0"/>
              <a:t>Review of Previous Week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980728"/>
            <a:ext cx="8531225" cy="4870450"/>
          </a:xfrm>
        </p:spPr>
        <p:txBody>
          <a:bodyPr/>
          <a:lstStyle/>
          <a:p>
            <a:r>
              <a:rPr lang="en-US" sz="3100" dirty="0"/>
              <a:t>Introduction to Methods</a:t>
            </a:r>
          </a:p>
          <a:p>
            <a:r>
              <a:rPr lang="en-US" sz="3100" dirty="0"/>
              <a:t>Why Use Methods?</a:t>
            </a:r>
          </a:p>
          <a:p>
            <a:r>
              <a:rPr lang="en-US" sz="3100" dirty="0"/>
              <a:t>Method Definition</a:t>
            </a:r>
          </a:p>
          <a:p>
            <a:r>
              <a:rPr lang="en-US" sz="3100" dirty="0"/>
              <a:t>Accessing a Method</a:t>
            </a:r>
          </a:p>
          <a:p>
            <a:r>
              <a:rPr lang="en-US" sz="3100" dirty="0"/>
              <a:t>Pass by value</a:t>
            </a:r>
          </a:p>
          <a:p>
            <a:r>
              <a:rPr lang="en-US" sz="3100" dirty="0"/>
              <a:t>Pass by reference</a:t>
            </a:r>
          </a:p>
          <a:p>
            <a:r>
              <a:rPr lang="en-US" sz="3100" dirty="0"/>
              <a:t>Arguments to Main Method</a:t>
            </a:r>
          </a:p>
          <a:p>
            <a:r>
              <a:rPr lang="en-US" sz="3100" dirty="0"/>
              <a:t>Returning from a Method</a:t>
            </a:r>
          </a:p>
          <a:p>
            <a:r>
              <a:rPr lang="en-US" sz="3100" dirty="0"/>
              <a:t>Pure and Impure Methods</a:t>
            </a:r>
          </a:p>
          <a:p>
            <a:r>
              <a:rPr lang="en-US" sz="3100" dirty="0"/>
              <a:t>Method Overloading</a:t>
            </a:r>
          </a:p>
        </p:txBody>
      </p:sp>
    </p:spTree>
    <p:extLst>
      <p:ext uri="{BB962C8B-B14F-4D97-AF65-F5344CB8AC3E}">
        <p14:creationId xmlns:p14="http://schemas.microsoft.com/office/powerpoint/2010/main" val="189589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Let’s get started with Lecture 4</a:t>
            </a:r>
            <a:endParaRPr lang="en-US" dirty="0"/>
          </a:p>
        </p:txBody>
      </p:sp>
      <p:pic>
        <p:nvPicPr>
          <p:cNvPr id="66562" name="Picture 2" descr="https://encrypted-tbn2.gstatic.com/images?q=tbn:ANd9GcTG9-t7yYcO4VMW-C9vrEobs1rMthfcAMAzxj2Ff9f53LjyAoU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04" y="1402332"/>
            <a:ext cx="5857916" cy="3884056"/>
          </a:xfrm>
          <a:prstGeom prst="rect">
            <a:avLst/>
          </a:prstGeom>
          <a:noFill/>
        </p:spPr>
      </p:pic>
      <p:sp>
        <p:nvSpPr>
          <p:cNvPr id="6" name="Title 1"/>
          <p:cNvSpPr txBox="1">
            <a:spLocks/>
          </p:cNvSpPr>
          <p:nvPr/>
        </p:nvSpPr>
        <p:spPr bwMode="auto">
          <a:xfrm>
            <a:off x="0" y="5643578"/>
            <a:ext cx="9143970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US" sz="4400" kern="0" dirty="0" smtClean="0">
                <a:solidFill>
                  <a:srgbClr val="000000"/>
                </a:solidFill>
                <a:latin typeface="+mj-lt"/>
                <a:cs typeface="+mj-cs"/>
              </a:rPr>
              <a:t>Class as User Defined Type </a:t>
            </a:r>
            <a:endParaRPr kumimoji="0" lang="en-US" sz="5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宋体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404664"/>
            <a:ext cx="8531225" cy="762000"/>
          </a:xfrm>
        </p:spPr>
        <p:txBody>
          <a:bodyPr/>
          <a:lstStyle/>
          <a:p>
            <a:pPr algn="l"/>
            <a:r>
              <a:rPr lang="en-GB" dirty="0" smtClean="0"/>
              <a:t>Introduction-Class as User Defined Type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10878"/>
            <a:ext cx="8531225" cy="4870450"/>
          </a:xfrm>
        </p:spPr>
        <p:txBody>
          <a:bodyPr>
            <a:noAutofit/>
          </a:bodyPr>
          <a:lstStyle/>
          <a:p>
            <a:r>
              <a:rPr lang="en-GB" dirty="0" smtClean="0"/>
              <a:t>As we know Java provides many built-in </a:t>
            </a:r>
            <a:r>
              <a:rPr lang="en-GB" dirty="0" smtClean="0"/>
              <a:t>data types </a:t>
            </a:r>
            <a:r>
              <a:rPr lang="en-GB" dirty="0" smtClean="0"/>
              <a:t>– the primitive </a:t>
            </a:r>
            <a:r>
              <a:rPr lang="en-GB" dirty="0" smtClean="0"/>
              <a:t>data types</a:t>
            </a:r>
            <a:r>
              <a:rPr lang="en-GB" dirty="0" smtClean="0"/>
              <a:t>.</a:t>
            </a:r>
          </a:p>
          <a:p>
            <a:r>
              <a:rPr lang="en-GB" dirty="0" smtClean="0"/>
              <a:t>There are only eight primitive data types viz., </a:t>
            </a:r>
            <a:r>
              <a:rPr lang="en-GB" i="1" dirty="0" smtClean="0"/>
              <a:t>byte, short, int, long, float, double, char </a:t>
            </a:r>
            <a:r>
              <a:rPr lang="en-GB" dirty="0" smtClean="0"/>
              <a:t>and</a:t>
            </a:r>
            <a:r>
              <a:rPr lang="en-GB" i="1" dirty="0" smtClean="0"/>
              <a:t> </a:t>
            </a:r>
            <a:r>
              <a:rPr lang="en-GB" i="1" dirty="0" err="1" smtClean="0"/>
              <a:t>boolean</a:t>
            </a:r>
            <a:r>
              <a:rPr lang="en-GB" i="1" dirty="0" smtClean="0"/>
              <a:t>.</a:t>
            </a:r>
          </a:p>
          <a:p>
            <a:r>
              <a:rPr lang="en-GB" dirty="0" smtClean="0"/>
              <a:t>Java allows you to even create your own </a:t>
            </a:r>
            <a:r>
              <a:rPr lang="en-GB" dirty="0" smtClean="0"/>
              <a:t>data types</a:t>
            </a:r>
            <a:r>
              <a:rPr lang="en-GB" dirty="0" smtClean="0"/>
              <a:t>.</a:t>
            </a:r>
          </a:p>
          <a:p>
            <a:r>
              <a:rPr lang="en-GB" dirty="0" smtClean="0"/>
              <a:t>Such datatypes are based on primitive datatypes (also known as </a:t>
            </a:r>
            <a:r>
              <a:rPr lang="en-GB" i="1" dirty="0" smtClean="0">
                <a:solidFill>
                  <a:schemeClr val="accent2">
                    <a:lumMod val="75000"/>
                  </a:schemeClr>
                </a:solidFill>
              </a:rPr>
              <a:t>Composite datatypes</a:t>
            </a:r>
            <a:r>
              <a:rPr lang="en-GB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524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434752"/>
            <a:ext cx="8531225" cy="762000"/>
          </a:xfrm>
        </p:spPr>
        <p:txBody>
          <a:bodyPr/>
          <a:lstStyle/>
          <a:p>
            <a:r>
              <a:rPr lang="en-GB"/>
              <a:t>Introduction-Class as User Defined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438870"/>
            <a:ext cx="8531225" cy="4870450"/>
          </a:xfrm>
        </p:spPr>
        <p:txBody>
          <a:bodyPr/>
          <a:lstStyle/>
          <a:p>
            <a:r>
              <a:rPr lang="en-GB" dirty="0"/>
              <a:t>Since these datatypes are defined by user, these are also referred to as </a:t>
            </a:r>
            <a:r>
              <a:rPr lang="en-GB" i="1" dirty="0"/>
              <a:t>user-defined datatypes.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27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Class As Composite Type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24744"/>
            <a:ext cx="8610600" cy="5181600"/>
          </a:xfrm>
        </p:spPr>
        <p:txBody>
          <a:bodyPr>
            <a:normAutofit/>
          </a:bodyPr>
          <a:lstStyle/>
          <a:p>
            <a:r>
              <a:rPr lang="en-GB" dirty="0" smtClean="0"/>
              <a:t>As mentioned before, a composite type is the one that is based on primitive </a:t>
            </a:r>
            <a:r>
              <a:rPr lang="en-GB" dirty="0" err="1" smtClean="0"/>
              <a:t>datatypes</a:t>
            </a:r>
            <a:r>
              <a:rPr lang="en-GB" dirty="0" smtClean="0"/>
              <a:t>.</a:t>
            </a:r>
          </a:p>
          <a:p>
            <a:r>
              <a:rPr lang="en-GB" dirty="0" smtClean="0"/>
              <a:t>A class is a good example of composite </a:t>
            </a:r>
            <a:r>
              <a:rPr lang="en-GB" dirty="0" err="1" smtClean="0"/>
              <a:t>datatype</a:t>
            </a:r>
            <a:r>
              <a:rPr lang="en-GB" dirty="0" smtClean="0"/>
              <a:t>.</a:t>
            </a:r>
          </a:p>
          <a:p>
            <a:r>
              <a:rPr lang="en-GB" dirty="0" smtClean="0"/>
              <a:t>Consider the following example, </a:t>
            </a:r>
          </a:p>
          <a:p>
            <a:pPr>
              <a:buNone/>
            </a:pPr>
            <a:r>
              <a:rPr lang="en-GB" dirty="0" smtClean="0"/>
              <a:t>	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936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As Composite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sz="2400" dirty="0">
                <a:solidFill>
                  <a:srgbClr val="0070C0"/>
                </a:solidFill>
              </a:rPr>
              <a:t>class Demo{</a:t>
            </a:r>
          </a:p>
          <a:p>
            <a:pPr>
              <a:buNone/>
            </a:pPr>
            <a:r>
              <a:rPr lang="en-GB" sz="2400" dirty="0">
                <a:solidFill>
                  <a:srgbClr val="0070C0"/>
                </a:solidFill>
              </a:rPr>
              <a:t>		</a:t>
            </a:r>
            <a:r>
              <a:rPr lang="en-GB" sz="2400" dirty="0" err="1">
                <a:solidFill>
                  <a:srgbClr val="0070C0"/>
                </a:solidFill>
              </a:rPr>
              <a:t>int</a:t>
            </a:r>
            <a:r>
              <a:rPr lang="en-GB" sz="2400" dirty="0">
                <a:solidFill>
                  <a:srgbClr val="0070C0"/>
                </a:solidFill>
              </a:rPr>
              <a:t> a;</a:t>
            </a:r>
          </a:p>
          <a:p>
            <a:pPr>
              <a:buNone/>
            </a:pPr>
            <a:r>
              <a:rPr lang="en-GB" sz="2400" dirty="0">
                <a:solidFill>
                  <a:srgbClr val="0070C0"/>
                </a:solidFill>
              </a:rPr>
              <a:t>		float b;</a:t>
            </a:r>
          </a:p>
          <a:p>
            <a:pPr>
              <a:buNone/>
            </a:pPr>
            <a:r>
              <a:rPr lang="en-GB" sz="2400" dirty="0">
                <a:solidFill>
                  <a:srgbClr val="0070C0"/>
                </a:solidFill>
              </a:rPr>
              <a:t>		char c;</a:t>
            </a:r>
          </a:p>
          <a:p>
            <a:pPr>
              <a:buNone/>
            </a:pPr>
            <a:r>
              <a:rPr lang="en-GB" sz="2400" dirty="0">
                <a:solidFill>
                  <a:srgbClr val="0070C0"/>
                </a:solidFill>
              </a:rPr>
              <a:t>		public void </a:t>
            </a:r>
            <a:r>
              <a:rPr lang="en-GB" sz="2400" dirty="0" err="1">
                <a:solidFill>
                  <a:srgbClr val="0070C0"/>
                </a:solidFill>
              </a:rPr>
              <a:t>getData</a:t>
            </a:r>
            <a:r>
              <a:rPr lang="en-GB" sz="2400" dirty="0">
                <a:solidFill>
                  <a:srgbClr val="0070C0"/>
                </a:solidFill>
              </a:rPr>
              <a:t>(){</a:t>
            </a:r>
          </a:p>
          <a:p>
            <a:pPr>
              <a:buNone/>
            </a:pPr>
            <a:r>
              <a:rPr lang="en-GB" sz="2400" dirty="0">
                <a:solidFill>
                  <a:srgbClr val="0070C0"/>
                </a:solidFill>
              </a:rPr>
              <a:t>			...</a:t>
            </a:r>
          </a:p>
          <a:p>
            <a:pPr>
              <a:buNone/>
            </a:pPr>
            <a:r>
              <a:rPr lang="en-GB" sz="2400" dirty="0">
                <a:solidFill>
                  <a:srgbClr val="0070C0"/>
                </a:solidFill>
              </a:rPr>
              <a:t>		}</a:t>
            </a:r>
          </a:p>
          <a:p>
            <a:pPr>
              <a:buNone/>
            </a:pPr>
            <a:r>
              <a:rPr lang="en-GB" sz="2400" dirty="0">
                <a:solidFill>
                  <a:srgbClr val="0070C0"/>
                </a:solidFill>
              </a:rPr>
              <a:t>		public void display(){</a:t>
            </a:r>
          </a:p>
          <a:p>
            <a:pPr>
              <a:buNone/>
            </a:pPr>
            <a:r>
              <a:rPr lang="en-GB" sz="2400" dirty="0">
                <a:solidFill>
                  <a:srgbClr val="0070C0"/>
                </a:solidFill>
              </a:rPr>
              <a:t>			...</a:t>
            </a:r>
          </a:p>
          <a:p>
            <a:pPr>
              <a:buNone/>
            </a:pPr>
            <a:r>
              <a:rPr lang="en-GB" sz="2400" dirty="0">
                <a:solidFill>
                  <a:srgbClr val="0070C0"/>
                </a:solidFill>
              </a:rPr>
              <a:t>		} 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}</a:t>
            </a:r>
            <a:endParaRPr lang="en-GB" sz="2400" dirty="0">
              <a:solidFill>
                <a:srgbClr val="0070C0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407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Class As Composite Type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Once a class is declared, variables of this class type can be declared e.g.</a:t>
            </a:r>
          </a:p>
          <a:p>
            <a:pPr>
              <a:buNone/>
            </a:pPr>
            <a:r>
              <a:rPr lang="en-GB" dirty="0" smtClean="0">
                <a:solidFill>
                  <a:srgbClr val="0070C0"/>
                </a:solidFill>
              </a:rPr>
              <a:t>	</a:t>
            </a:r>
            <a:r>
              <a:rPr lang="en-GB" sz="2800" dirty="0" smtClean="0">
                <a:solidFill>
                  <a:srgbClr val="0070C0"/>
                </a:solidFill>
              </a:rPr>
              <a:t>Demo </a:t>
            </a:r>
            <a:r>
              <a:rPr lang="en-GB" sz="2800" dirty="0" err="1" smtClean="0">
                <a:solidFill>
                  <a:srgbClr val="0070C0"/>
                </a:solidFill>
              </a:rPr>
              <a:t>objDemo</a:t>
            </a:r>
            <a:r>
              <a:rPr lang="en-GB" sz="2800" dirty="0" smtClean="0">
                <a:solidFill>
                  <a:srgbClr val="0070C0"/>
                </a:solidFill>
              </a:rPr>
              <a:t> = new Demo();</a:t>
            </a:r>
          </a:p>
          <a:p>
            <a:r>
              <a:rPr lang="en-GB" dirty="0" smtClean="0"/>
              <a:t>As we already know that variables of a class type are known as objects.</a:t>
            </a:r>
          </a:p>
          <a:p>
            <a:r>
              <a:rPr lang="en-GB" dirty="0" smtClean="0"/>
              <a:t>Hence a class satisfies the condition of becoming a composite </a:t>
            </a:r>
            <a:r>
              <a:rPr lang="en-GB" dirty="0" err="1" smtClean="0"/>
              <a:t>datatype</a:t>
            </a:r>
            <a:r>
              <a:rPr lang="en-GB" dirty="0" smtClean="0"/>
              <a:t>.</a:t>
            </a:r>
          </a:p>
          <a:p>
            <a:r>
              <a:rPr lang="en-GB" dirty="0" smtClean="0"/>
              <a:t>if you want to define your own </a:t>
            </a:r>
            <a:r>
              <a:rPr lang="en-GB" dirty="0" err="1" smtClean="0"/>
              <a:t>datatype</a:t>
            </a:r>
            <a:r>
              <a:rPr lang="en-GB" dirty="0" smtClean="0"/>
              <a:t>, you can do so by defining them through classes.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0106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Class As User-defined </a:t>
            </a:r>
            <a:r>
              <a:rPr lang="en-GB" dirty="0" err="1" smtClean="0"/>
              <a:t>Datatype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In Java, you can define one or more user-defined </a:t>
            </a:r>
            <a:r>
              <a:rPr lang="en-GB" dirty="0" err="1" smtClean="0"/>
              <a:t>datatypes</a:t>
            </a:r>
            <a:r>
              <a:rPr lang="en-GB" dirty="0" smtClean="0"/>
              <a:t> via the class construct.</a:t>
            </a:r>
          </a:p>
          <a:p>
            <a:r>
              <a:rPr lang="en-GB" dirty="0" smtClean="0"/>
              <a:t>For example, to create a program that behaves like a dog, you can define a class that minimally represents a dog:</a:t>
            </a:r>
            <a:endParaRPr lang="en-GB" sz="2400" dirty="0" smtClean="0"/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class Dog{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  void bark(){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	</a:t>
            </a:r>
            <a:r>
              <a:rPr lang="en-GB" sz="2400" dirty="0" err="1" smtClean="0">
                <a:solidFill>
                  <a:srgbClr val="0070C0"/>
                </a:solidFill>
              </a:rPr>
              <a:t>System.out.println</a:t>
            </a:r>
            <a:r>
              <a:rPr lang="en-GB" sz="2400" dirty="0" smtClean="0">
                <a:solidFill>
                  <a:srgbClr val="0070C0"/>
                </a:solidFill>
              </a:rPr>
              <a:t>(“woof!!”);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  }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467572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Class As User-defined </a:t>
            </a:r>
            <a:r>
              <a:rPr lang="en-GB" dirty="0" err="1" smtClean="0"/>
              <a:t>Datatype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This user-defined </a:t>
            </a:r>
            <a:r>
              <a:rPr lang="en-GB" dirty="0" err="1" smtClean="0"/>
              <a:t>datatype</a:t>
            </a:r>
            <a:r>
              <a:rPr lang="en-GB" dirty="0" smtClean="0"/>
              <a:t> begins with the keyword </a:t>
            </a:r>
            <a:r>
              <a:rPr lang="en-GB" b="1" dirty="0" smtClean="0"/>
              <a:t>class</a:t>
            </a:r>
            <a:r>
              <a:rPr lang="en-GB" dirty="0" smtClean="0"/>
              <a:t>, followed by the name for the </a:t>
            </a:r>
            <a:r>
              <a:rPr lang="en-GB" dirty="0" err="1" smtClean="0"/>
              <a:t>datatype</a:t>
            </a:r>
            <a:r>
              <a:rPr lang="en-GB" dirty="0" smtClean="0"/>
              <a:t> , in this case </a:t>
            </a:r>
            <a:r>
              <a:rPr lang="en-GB" b="1" dirty="0" smtClean="0"/>
              <a:t>Dog</a:t>
            </a:r>
            <a:r>
              <a:rPr lang="en-GB" dirty="0" smtClean="0"/>
              <a:t>, followed by the specification of what it is to be a dog between the opening and closing curly brackets.</a:t>
            </a:r>
          </a:p>
          <a:p>
            <a:r>
              <a:rPr lang="en-GB" dirty="0" smtClean="0"/>
              <a:t>This simple example provides no data fields, only a single </a:t>
            </a:r>
            <a:r>
              <a:rPr lang="en-GB" dirty="0" err="1" smtClean="0"/>
              <a:t>behavior</a:t>
            </a:r>
            <a:r>
              <a:rPr lang="en-GB" dirty="0" smtClean="0"/>
              <a:t> of barking, as represented by the method </a:t>
            </a:r>
            <a:r>
              <a:rPr lang="en-GB" i="1" dirty="0" smtClean="0"/>
              <a:t>bark.</a:t>
            </a:r>
          </a:p>
        </p:txBody>
      </p:sp>
    </p:spTree>
    <p:extLst>
      <p:ext uri="{BB962C8B-B14F-4D97-AF65-F5344CB8AC3E}">
        <p14:creationId xmlns:p14="http://schemas.microsoft.com/office/powerpoint/2010/main" val="1633220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404664"/>
            <a:ext cx="8531225" cy="762000"/>
          </a:xfrm>
        </p:spPr>
        <p:txBody>
          <a:bodyPr>
            <a:noAutofit/>
          </a:bodyPr>
          <a:lstStyle/>
          <a:p>
            <a:r>
              <a:rPr lang="en-GB" dirty="0" smtClean="0"/>
              <a:t>Difference Between Primitive </a:t>
            </a:r>
            <a:r>
              <a:rPr lang="en-GB" dirty="0" smtClean="0"/>
              <a:t>Data type </a:t>
            </a:r>
            <a:r>
              <a:rPr lang="en-GB" dirty="0" smtClean="0"/>
              <a:t>&amp; User-defined </a:t>
            </a:r>
            <a:r>
              <a:rPr lang="en-GB" dirty="0" smtClean="0"/>
              <a:t>Data type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1600200"/>
          <a:ext cx="8382000" cy="4343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/>
                <a:gridCol w="4191000"/>
              </a:tblGrid>
              <a:tr h="705527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Primitive </a:t>
                      </a:r>
                      <a:r>
                        <a:rPr lang="en-GB" sz="2400" dirty="0" err="1" smtClean="0"/>
                        <a:t>Datatype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User-defined </a:t>
                      </a:r>
                      <a:r>
                        <a:rPr lang="en-GB" sz="2400" dirty="0" err="1" smtClean="0"/>
                        <a:t>Datatype</a:t>
                      </a:r>
                      <a:endParaRPr lang="en-GB" sz="2400" dirty="0"/>
                    </a:p>
                  </a:txBody>
                  <a:tcPr/>
                </a:tc>
              </a:tr>
              <a:tr h="1212624">
                <a:tc>
                  <a:txBody>
                    <a:bodyPr/>
                    <a:lstStyle/>
                    <a:p>
                      <a:r>
                        <a:rPr lang="en-GB" dirty="0" smtClean="0"/>
                        <a:t>These</a:t>
                      </a:r>
                      <a:r>
                        <a:rPr lang="en-GB" baseline="0" dirty="0" smtClean="0"/>
                        <a:t> are built-in data types. Java provides these </a:t>
                      </a:r>
                      <a:r>
                        <a:rPr lang="en-GB" baseline="0" dirty="0" err="1" smtClean="0"/>
                        <a:t>datatypes</a:t>
                      </a:r>
                      <a:r>
                        <a:rPr lang="en-GB" baseline="0" dirty="0" smtClean="0"/>
                        <a:t>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These are created by the users.</a:t>
                      </a:r>
                      <a:endParaRPr lang="en-GB" dirty="0"/>
                    </a:p>
                  </a:txBody>
                  <a:tcPr/>
                </a:tc>
              </a:tr>
              <a:tr h="1212624">
                <a:tc>
                  <a:txBody>
                    <a:bodyPr/>
                    <a:lstStyle/>
                    <a:p>
                      <a:r>
                        <a:rPr lang="en-GB" dirty="0" smtClean="0"/>
                        <a:t>The size of these </a:t>
                      </a:r>
                      <a:r>
                        <a:rPr lang="en-GB" dirty="0" err="1" smtClean="0"/>
                        <a:t>datatypes</a:t>
                      </a:r>
                      <a:r>
                        <a:rPr lang="en-GB" dirty="0" smtClean="0"/>
                        <a:t> are fixed.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The sizes of these </a:t>
                      </a:r>
                      <a:r>
                        <a:rPr lang="en-GB" dirty="0" err="1" smtClean="0"/>
                        <a:t>datatypes</a:t>
                      </a:r>
                      <a:r>
                        <a:rPr lang="en-GB" dirty="0" smtClean="0"/>
                        <a:t> are variable as their sizes depend upon their constituent members.</a:t>
                      </a:r>
                      <a:endParaRPr lang="en-GB" dirty="0"/>
                    </a:p>
                  </a:txBody>
                  <a:tcPr/>
                </a:tc>
              </a:tr>
              <a:tr h="1212624">
                <a:tc>
                  <a:txBody>
                    <a:bodyPr/>
                    <a:lstStyle/>
                    <a:p>
                      <a:r>
                        <a:rPr lang="en-GB" dirty="0" smtClean="0"/>
                        <a:t>These </a:t>
                      </a:r>
                      <a:r>
                        <a:rPr lang="en-GB" dirty="0" err="1" smtClean="0"/>
                        <a:t>datatypes</a:t>
                      </a:r>
                      <a:r>
                        <a:rPr lang="en-GB" dirty="0" smtClean="0"/>
                        <a:t> are available in all parts of a Java program.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The availability of these </a:t>
                      </a:r>
                      <a:r>
                        <a:rPr lang="en-GB" dirty="0" err="1" smtClean="0"/>
                        <a:t>datatypes</a:t>
                      </a:r>
                      <a:r>
                        <a:rPr lang="en-GB" dirty="0" smtClean="0"/>
                        <a:t> depends upon</a:t>
                      </a:r>
                      <a:r>
                        <a:rPr lang="en-GB" baseline="0" dirty="0" smtClean="0"/>
                        <a:t> their scope.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849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Any Questions?</a:t>
            </a:r>
            <a:endParaRPr lang="en-US" dirty="0"/>
          </a:p>
        </p:txBody>
      </p:sp>
      <p:pic>
        <p:nvPicPr>
          <p:cNvPr id="3" name="Picture 2" descr="any questions 2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05" y="1317444"/>
            <a:ext cx="7379803" cy="491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Creating and Using Objects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8229600" cy="5181600"/>
          </a:xfrm>
        </p:spPr>
        <p:txBody>
          <a:bodyPr>
            <a:normAutofit/>
          </a:bodyPr>
          <a:lstStyle/>
          <a:p>
            <a:r>
              <a:rPr lang="en-GB" sz="2400" dirty="0" smtClean="0"/>
              <a:t>We know that a class provides a blueprint for objects.</a:t>
            </a:r>
          </a:p>
          <a:p>
            <a:r>
              <a:rPr lang="en-GB" sz="2400" dirty="0" smtClean="0"/>
              <a:t>From this blueprint, objects are created using the </a:t>
            </a:r>
            <a:r>
              <a:rPr lang="en-GB" sz="2400" b="1" dirty="0" smtClean="0"/>
              <a:t>new</a:t>
            </a:r>
            <a:r>
              <a:rPr lang="en-GB" sz="2400" dirty="0" smtClean="0"/>
              <a:t> operator along with the class constructor e.g., following statement creates an object of </a:t>
            </a:r>
            <a:r>
              <a:rPr lang="en-GB" sz="2400" i="1" dirty="0" smtClean="0"/>
              <a:t>Point</a:t>
            </a:r>
            <a:r>
              <a:rPr lang="en-GB" sz="2400" dirty="0" smtClean="0"/>
              <a:t> type.</a:t>
            </a:r>
          </a:p>
          <a:p>
            <a:pPr>
              <a:buNone/>
            </a:pPr>
            <a:r>
              <a:rPr lang="en-GB" sz="2400" dirty="0" smtClean="0"/>
              <a:t>	</a:t>
            </a:r>
            <a:r>
              <a:rPr lang="en-GB" sz="2400" dirty="0" smtClean="0">
                <a:solidFill>
                  <a:schemeClr val="accent2"/>
                </a:solidFill>
              </a:rPr>
              <a:t>Point      </a:t>
            </a:r>
            <a:r>
              <a:rPr lang="en-GB" sz="2400" dirty="0" err="1" smtClean="0">
                <a:solidFill>
                  <a:schemeClr val="accent2"/>
                </a:solidFill>
              </a:rPr>
              <a:t>objPoint</a:t>
            </a:r>
            <a:r>
              <a:rPr lang="en-GB" sz="2400" dirty="0" smtClean="0">
                <a:solidFill>
                  <a:schemeClr val="accent2"/>
                </a:solidFill>
              </a:rPr>
              <a:t>  =  new     Point(5, 10);</a:t>
            </a:r>
          </a:p>
          <a:p>
            <a:pPr>
              <a:buNone/>
            </a:pPr>
            <a:endParaRPr lang="en-GB" sz="2400" dirty="0" smtClean="0"/>
          </a:p>
          <a:p>
            <a:pPr>
              <a:buNone/>
            </a:pPr>
            <a:endParaRPr lang="en-GB" sz="2400" dirty="0" smtClean="0"/>
          </a:p>
          <a:p>
            <a:pPr>
              <a:buNone/>
            </a:pPr>
            <a:endParaRPr lang="en-GB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104056" y="3593976"/>
            <a:ext cx="13716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Class name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47800" y="4199384"/>
            <a:ext cx="14478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Object name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90800" y="3593976"/>
            <a:ext cx="15240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new operator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80520" y="3970784"/>
            <a:ext cx="13716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Constructor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40896" y="3480048"/>
            <a:ext cx="26670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Arguments to constructor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4" idx="0"/>
          </p:cNvCxnSpPr>
          <p:nvPr/>
        </p:nvCxnSpPr>
        <p:spPr>
          <a:xfrm flipV="1">
            <a:off x="789856" y="3212976"/>
            <a:ext cx="152400" cy="381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0"/>
          </p:cNvCxnSpPr>
          <p:nvPr/>
        </p:nvCxnSpPr>
        <p:spPr>
          <a:xfrm flipV="1">
            <a:off x="2171700" y="3284984"/>
            <a:ext cx="38100" cy="914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0"/>
          </p:cNvCxnSpPr>
          <p:nvPr/>
        </p:nvCxnSpPr>
        <p:spPr>
          <a:xfrm flipV="1">
            <a:off x="3352800" y="3212976"/>
            <a:ext cx="152400" cy="381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0"/>
          </p:cNvCxnSpPr>
          <p:nvPr/>
        </p:nvCxnSpPr>
        <p:spPr>
          <a:xfrm flipH="1" flipV="1">
            <a:off x="5436096" y="3175248"/>
            <a:ext cx="1638300" cy="3048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Bracket 17"/>
          <p:cNvSpPr/>
          <p:nvPr/>
        </p:nvSpPr>
        <p:spPr>
          <a:xfrm rot="5400000">
            <a:off x="4852020" y="2789684"/>
            <a:ext cx="228600" cy="1219200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Arrow Connector 19"/>
          <p:cNvCxnSpPr>
            <a:stCxn id="7" idx="0"/>
            <a:endCxn id="18" idx="2"/>
          </p:cNvCxnSpPr>
          <p:nvPr/>
        </p:nvCxnSpPr>
        <p:spPr>
          <a:xfrm flipV="1">
            <a:off x="4966320" y="3513584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134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</a:t>
            </a:r>
            <a:r>
              <a:rPr lang="en-GB" dirty="0" smtClean="0"/>
              <a:t>and </a:t>
            </a:r>
            <a:r>
              <a:rPr lang="en-GB" dirty="0"/>
              <a:t>Using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the following two examples of creating objects:</a:t>
            </a:r>
          </a:p>
          <a:p>
            <a:pPr>
              <a:buNone/>
            </a:pPr>
            <a:r>
              <a:rPr lang="en-GB" dirty="0"/>
              <a:t>	</a:t>
            </a:r>
            <a:r>
              <a:rPr lang="en-GB" sz="2800" dirty="0" smtClean="0">
                <a:solidFill>
                  <a:schemeClr val="accent2"/>
                </a:solidFill>
              </a:rPr>
              <a:t>Rectangle rect_1 = new Rectangle(50, 100);</a:t>
            </a:r>
          </a:p>
          <a:p>
            <a:pPr>
              <a:buNone/>
            </a:pPr>
            <a:r>
              <a:rPr lang="en-GB" sz="2800" dirty="0" smtClean="0">
                <a:solidFill>
                  <a:schemeClr val="accent2"/>
                </a:solidFill>
              </a:rPr>
              <a:t>	Rectangle rect_2 = new Rectangle (point, 50, 100);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139952" y="3789040"/>
            <a:ext cx="403244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Here, an argument is an object of point type created earlier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6084168" y="3284984"/>
            <a:ext cx="0" cy="4446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129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Creating And Using Objects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2480"/>
            <a:ext cx="8229600" cy="4876800"/>
          </a:xfrm>
        </p:spPr>
        <p:txBody>
          <a:bodyPr>
            <a:noAutofit/>
          </a:bodyPr>
          <a:lstStyle/>
          <a:p>
            <a:r>
              <a:rPr lang="en-GB" dirty="0" smtClean="0"/>
              <a:t>Each object declaration statement given in previous example has three parts: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Declaration: the code on the left of assignment operator =, in all the given statements are all variable declarations that associate a name with a type. </a:t>
            </a:r>
          </a:p>
          <a:p>
            <a:pPr marL="514350" indent="-514350">
              <a:buNone/>
            </a:pPr>
            <a:r>
              <a:rPr lang="en-GB" dirty="0" smtClean="0"/>
              <a:t>	when you create an object, you do not have to declare a variable to refer to it. However, a variable declaration often appears on the same line as the code to create an object.</a:t>
            </a:r>
          </a:p>
        </p:txBody>
      </p:sp>
    </p:spTree>
    <p:extLst>
      <p:ext uri="{BB962C8B-B14F-4D97-AF65-F5344CB8AC3E}">
        <p14:creationId xmlns:p14="http://schemas.microsoft.com/office/powerpoint/2010/main" val="142348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And Using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 startAt="2"/>
            </a:pPr>
            <a:r>
              <a:rPr lang="en-GB" dirty="0"/>
              <a:t>Instantiation: </a:t>
            </a:r>
            <a:r>
              <a:rPr lang="en-GB" b="1" dirty="0"/>
              <a:t>new</a:t>
            </a:r>
            <a:r>
              <a:rPr lang="en-GB" dirty="0"/>
              <a:t> is a Java operator that creates the new object, allocating space for it.</a:t>
            </a:r>
          </a:p>
          <a:p>
            <a:pPr marL="514350" indent="-514350">
              <a:buAutoNum type="arabicPeriod" startAt="2"/>
            </a:pPr>
            <a:r>
              <a:rPr lang="en-GB" dirty="0"/>
              <a:t>Initialization: the </a:t>
            </a:r>
            <a:r>
              <a:rPr lang="en-GB" i="1" dirty="0"/>
              <a:t>new </a:t>
            </a:r>
            <a:r>
              <a:rPr lang="en-GB" dirty="0"/>
              <a:t>operator is followed by a call to a constructor. E.g. </a:t>
            </a:r>
            <a:r>
              <a:rPr lang="en-GB" b="1" dirty="0"/>
              <a:t>Point(5, 10)</a:t>
            </a:r>
            <a:r>
              <a:rPr lang="en-GB" dirty="0"/>
              <a:t> is a call to Point’s constructor. The constructor initializes the new object.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388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Using Objects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Once you’ve created an object, you probably want to use it for something.</a:t>
            </a:r>
          </a:p>
          <a:p>
            <a:r>
              <a:rPr lang="en-GB" dirty="0" smtClean="0"/>
              <a:t>You may need information from it, want to change its state, or have it perform some action. </a:t>
            </a:r>
          </a:p>
          <a:p>
            <a:r>
              <a:rPr lang="en-GB" dirty="0" smtClean="0"/>
              <a:t>An object gives you two ways to manipulate its state: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/>
              <a:t>By referencing its variable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/>
              <a:t>By calling its methods.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4668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GB" dirty="0" smtClean="0"/>
              <a:t>Referencing an Object’s Variables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2400" i="1" dirty="0" smtClean="0"/>
              <a:t>	</a:t>
            </a:r>
            <a:r>
              <a:rPr lang="en-GB" sz="2400" i="1" dirty="0" err="1" smtClean="0">
                <a:solidFill>
                  <a:schemeClr val="accent2"/>
                </a:solidFill>
              </a:rPr>
              <a:t>objectReference.variableName</a:t>
            </a:r>
            <a:endParaRPr lang="en-GB" sz="2400" i="1" dirty="0" smtClean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en-GB" sz="2400" i="1" dirty="0" smtClean="0"/>
              <a:t>	</a:t>
            </a:r>
            <a:r>
              <a:rPr lang="en-GB" sz="2400" dirty="0" smtClean="0"/>
              <a:t>e.g.  </a:t>
            </a:r>
            <a:r>
              <a:rPr lang="en-GB" sz="2400" dirty="0" err="1" smtClean="0"/>
              <a:t>objPoint.x</a:t>
            </a:r>
            <a:r>
              <a:rPr lang="en-GB" sz="2400" dirty="0" smtClean="0"/>
              <a:t>;</a:t>
            </a:r>
          </a:p>
          <a:p>
            <a:pPr>
              <a:buNone/>
            </a:pPr>
            <a:r>
              <a:rPr lang="en-GB" sz="2400" dirty="0" smtClean="0"/>
              <a:t>	refers to data member </a:t>
            </a:r>
            <a:r>
              <a:rPr lang="en-GB" sz="2400" b="1" dirty="0" smtClean="0"/>
              <a:t>x</a:t>
            </a:r>
            <a:r>
              <a:rPr lang="en-GB" sz="2400" dirty="0" smtClean="0"/>
              <a:t> of object </a:t>
            </a:r>
            <a:r>
              <a:rPr lang="en-GB" sz="2400" b="1" dirty="0" err="1" smtClean="0"/>
              <a:t>objPoint</a:t>
            </a:r>
            <a:r>
              <a:rPr lang="en-GB" sz="2400" dirty="0" smtClean="0"/>
              <a:t>. Similarly, </a:t>
            </a:r>
          </a:p>
          <a:p>
            <a:pPr>
              <a:buNone/>
            </a:pPr>
            <a:r>
              <a:rPr lang="en-GB" sz="2400" dirty="0" smtClean="0"/>
              <a:t>	</a:t>
            </a:r>
            <a:r>
              <a:rPr lang="en-GB" sz="2400" dirty="0" smtClean="0">
                <a:solidFill>
                  <a:schemeClr val="accent2"/>
                </a:solidFill>
              </a:rPr>
              <a:t>rect1.width;</a:t>
            </a:r>
          </a:p>
          <a:p>
            <a:pPr>
              <a:buNone/>
            </a:pPr>
            <a:r>
              <a:rPr lang="en-GB" sz="2400" dirty="0" smtClean="0">
                <a:solidFill>
                  <a:schemeClr val="accent2"/>
                </a:solidFill>
              </a:rPr>
              <a:t>	rect1.length;</a:t>
            </a:r>
          </a:p>
          <a:p>
            <a:pPr>
              <a:buNone/>
            </a:pPr>
            <a:r>
              <a:rPr lang="en-GB" sz="2400" dirty="0" smtClean="0"/>
              <a:t>	refers to </a:t>
            </a:r>
            <a:r>
              <a:rPr lang="en-GB" sz="2400" b="1" dirty="0" smtClean="0"/>
              <a:t>width</a:t>
            </a:r>
            <a:r>
              <a:rPr lang="en-GB" sz="2400" dirty="0" smtClean="0"/>
              <a:t> and </a:t>
            </a:r>
            <a:r>
              <a:rPr lang="en-GB" sz="2400" b="1" dirty="0" smtClean="0"/>
              <a:t>length</a:t>
            </a:r>
            <a:r>
              <a:rPr lang="en-GB" sz="2400" dirty="0" smtClean="0"/>
              <a:t> data members of object </a:t>
            </a:r>
            <a:r>
              <a:rPr lang="en-GB" sz="2400" b="1" dirty="0" smtClean="0"/>
              <a:t>rect1</a:t>
            </a:r>
            <a:r>
              <a:rPr lang="en-GB" sz="2400" dirty="0" smtClean="0"/>
              <a:t> respectively.</a:t>
            </a:r>
          </a:p>
          <a:p>
            <a:r>
              <a:rPr lang="en-GB" sz="2400" dirty="0" smtClean="0"/>
              <a:t>The dot operator is used to refer to members of an object as in </a:t>
            </a:r>
            <a:r>
              <a:rPr lang="en-GB" sz="2400" i="1" dirty="0" err="1" smtClean="0">
                <a:solidFill>
                  <a:srgbClr val="0070C0"/>
                </a:solidFill>
              </a:rPr>
              <a:t>objectreference.membername</a:t>
            </a:r>
            <a:endParaRPr lang="en-GB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816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Access </a:t>
            </a:r>
            <a:r>
              <a:rPr lang="en-GB" dirty="0" err="1" smtClean="0"/>
              <a:t>Specifiers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124744"/>
            <a:ext cx="8531225" cy="4870450"/>
          </a:xfrm>
        </p:spPr>
        <p:txBody>
          <a:bodyPr>
            <a:normAutofit/>
          </a:bodyPr>
          <a:lstStyle/>
          <a:p>
            <a:r>
              <a:rPr lang="en-GB" dirty="0" smtClean="0"/>
              <a:t>Accessing a member of a class depends on </a:t>
            </a:r>
            <a:r>
              <a:rPr lang="en-GB" b="1" dirty="0" smtClean="0"/>
              <a:t>access level </a:t>
            </a:r>
            <a:r>
              <a:rPr lang="en-GB" dirty="0" smtClean="0"/>
              <a:t>or </a:t>
            </a:r>
            <a:r>
              <a:rPr lang="en-GB" b="1" dirty="0" smtClean="0"/>
              <a:t>access </a:t>
            </a:r>
            <a:r>
              <a:rPr lang="en-GB" b="1" dirty="0" err="1" smtClean="0"/>
              <a:t>specifier</a:t>
            </a:r>
            <a:r>
              <a:rPr lang="en-GB" b="1" dirty="0" smtClean="0"/>
              <a:t>.</a:t>
            </a:r>
          </a:p>
          <a:p>
            <a:r>
              <a:rPr lang="en-GB" i="1" dirty="0" smtClean="0"/>
              <a:t>Access </a:t>
            </a:r>
            <a:r>
              <a:rPr lang="en-GB" i="1" dirty="0" err="1" smtClean="0"/>
              <a:t>specifiers</a:t>
            </a:r>
            <a:r>
              <a:rPr lang="en-GB" dirty="0" smtClean="0"/>
              <a:t> control access to members of a class from within a Java program.</a:t>
            </a:r>
          </a:p>
          <a:p>
            <a:r>
              <a:rPr lang="en-GB" dirty="0" smtClean="0"/>
              <a:t>The access levels supported by Java are: </a:t>
            </a:r>
            <a:r>
              <a:rPr lang="en-GB" b="1" dirty="0" smtClean="0"/>
              <a:t>private, protected, public </a:t>
            </a:r>
            <a:r>
              <a:rPr lang="en-GB" dirty="0" smtClean="0"/>
              <a:t>and </a:t>
            </a:r>
            <a:r>
              <a:rPr lang="en-GB" b="1" dirty="0" smtClean="0"/>
              <a:t>default.</a:t>
            </a:r>
          </a:p>
        </p:txBody>
      </p:sp>
    </p:spTree>
    <p:extLst>
      <p:ext uri="{BB962C8B-B14F-4D97-AF65-F5344CB8AC3E}">
        <p14:creationId xmlns:p14="http://schemas.microsoft.com/office/powerpoint/2010/main" val="760056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 Specifiers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Depending upon the access level of a member of-a-class, access to it is denied or </a:t>
            </a:r>
            <a:r>
              <a:rPr lang="en-GB" dirty="0" smtClean="0"/>
              <a:t>allowed.</a:t>
            </a:r>
            <a:endParaRPr lang="en-GB" dirty="0"/>
          </a:p>
          <a:p>
            <a:pPr lvl="1"/>
            <a:r>
              <a:rPr lang="en-GB" b="1" dirty="0"/>
              <a:t>private</a:t>
            </a:r>
            <a:r>
              <a:rPr lang="en-GB" dirty="0"/>
              <a:t> access specifier denotes a variable or method as being private to the class and may not be accessed outside the class.</a:t>
            </a:r>
            <a:r>
              <a:rPr lang="en-GB" b="1" dirty="0"/>
              <a:t> </a:t>
            </a:r>
            <a:r>
              <a:rPr lang="en-GB" dirty="0"/>
              <a:t>Accessing will be done through calling one of the </a:t>
            </a:r>
            <a:r>
              <a:rPr lang="en-GB" i="1" dirty="0"/>
              <a:t>public class methods.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280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Access </a:t>
            </a:r>
            <a:r>
              <a:rPr lang="en-GB" dirty="0" err="1" smtClean="0"/>
              <a:t>Specifiers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832" y="1124744"/>
            <a:ext cx="8229600" cy="4876800"/>
          </a:xfrm>
        </p:spPr>
        <p:txBody>
          <a:bodyPr>
            <a:noAutofit/>
          </a:bodyPr>
          <a:lstStyle/>
          <a:p>
            <a:pPr lvl="1"/>
            <a:r>
              <a:rPr lang="en-GB" b="1" dirty="0" smtClean="0"/>
              <a:t>protected </a:t>
            </a:r>
            <a:r>
              <a:rPr lang="en-GB" dirty="0" err="1" smtClean="0"/>
              <a:t>specifier</a:t>
            </a:r>
            <a:r>
              <a:rPr lang="en-GB" dirty="0" smtClean="0"/>
              <a:t> denotes a variable or method as being </a:t>
            </a:r>
            <a:r>
              <a:rPr lang="en-GB" b="1" dirty="0" smtClean="0"/>
              <a:t>public</a:t>
            </a:r>
            <a:r>
              <a:rPr lang="en-GB" dirty="0" smtClean="0"/>
              <a:t> to subclasses of this class but </a:t>
            </a:r>
            <a:r>
              <a:rPr lang="en-GB" b="1" dirty="0" smtClean="0"/>
              <a:t>private </a:t>
            </a:r>
            <a:r>
              <a:rPr lang="en-GB" dirty="0" smtClean="0"/>
              <a:t> to all other classes outside the current package. So, derived classes have the ability to access protected variables of its parent.</a:t>
            </a:r>
          </a:p>
          <a:p>
            <a:pPr lvl="1"/>
            <a:r>
              <a:rPr lang="en-GB" dirty="0" smtClean="0"/>
              <a:t>All classes within the same package have access to protected variables regardless of whether they are subclasses.</a:t>
            </a:r>
          </a:p>
          <a:p>
            <a:pPr lvl="1"/>
            <a:r>
              <a:rPr lang="en-GB" b="1" dirty="0" smtClean="0"/>
              <a:t>public</a:t>
            </a:r>
            <a:r>
              <a:rPr lang="en-GB" dirty="0" smtClean="0"/>
              <a:t> specifier denotes a variable or method as being directly accessible from all other classes.</a:t>
            </a:r>
          </a:p>
        </p:txBody>
      </p:sp>
    </p:spTree>
    <p:extLst>
      <p:ext uri="{BB962C8B-B14F-4D97-AF65-F5344CB8AC3E}">
        <p14:creationId xmlns:p14="http://schemas.microsoft.com/office/powerpoint/2010/main" val="1038174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 Specifiers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dirty="0"/>
              <a:t>If no access specifier is used, then the class member has </a:t>
            </a:r>
            <a:r>
              <a:rPr lang="en-GB" b="1" dirty="0"/>
              <a:t>default </a:t>
            </a:r>
            <a:r>
              <a:rPr lang="en-GB" dirty="0"/>
              <a:t>access known as </a:t>
            </a:r>
            <a:r>
              <a:rPr lang="en-GB" b="1" i="1" dirty="0"/>
              <a:t>friendly </a:t>
            </a:r>
            <a:r>
              <a:rPr lang="en-GB" dirty="0"/>
              <a:t>or </a:t>
            </a:r>
            <a:r>
              <a:rPr lang="en-GB" b="1" i="1" dirty="0"/>
              <a:t>package</a:t>
            </a:r>
            <a:r>
              <a:rPr lang="en-GB" dirty="0"/>
              <a:t>.</a:t>
            </a:r>
          </a:p>
          <a:p>
            <a:r>
              <a:rPr lang="en-GB" dirty="0"/>
              <a:t>A package is a logical group of related classes.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79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Accessibility of Access </a:t>
            </a:r>
            <a:r>
              <a:rPr lang="en-GB" dirty="0" err="1" smtClean="0"/>
              <a:t>Specifiers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9712650"/>
              </p:ext>
            </p:extLst>
          </p:nvPr>
        </p:nvGraphicFramePr>
        <p:xfrm>
          <a:off x="457200" y="1208504"/>
          <a:ext cx="8229600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/>
                    <a:lstStyle/>
                    <a:p>
                      <a:r>
                        <a:rPr lang="en-GB" dirty="0" smtClean="0"/>
                        <a:t>Access </a:t>
                      </a:r>
                      <a:r>
                        <a:rPr lang="en-GB" dirty="0" err="1" smtClean="0"/>
                        <a:t>specifier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Accessible by classes in the same package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Accessible by classes in other packages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Accessible by subclasses in the same package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Accessible by subclasses in other packages</a:t>
                      </a:r>
                      <a:endParaRPr lang="en-GB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GB" dirty="0" smtClean="0"/>
                        <a:t>public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Yes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Yes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Yes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Yes</a:t>
                      </a:r>
                      <a:endParaRPr lang="en-GB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GB" dirty="0" smtClean="0"/>
                        <a:t>protected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Yes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Yes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Yes </a:t>
                      </a:r>
                      <a:endParaRPr lang="en-GB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GB" dirty="0" smtClean="0"/>
                        <a:t>package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GB" dirty="0" smtClean="0"/>
                        <a:t>default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Yes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Yes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 </a:t>
                      </a:r>
                      <a:endParaRPr lang="en-GB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GB" dirty="0" smtClean="0"/>
                        <a:t>private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23528" y="5733256"/>
            <a:ext cx="8305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All these access </a:t>
            </a:r>
            <a:r>
              <a:rPr lang="en-GB" dirty="0" err="1" smtClean="0">
                <a:solidFill>
                  <a:schemeClr val="tx1"/>
                </a:solidFill>
              </a:rPr>
              <a:t>specifiers</a:t>
            </a:r>
            <a:r>
              <a:rPr lang="en-GB" dirty="0" smtClean="0">
                <a:solidFill>
                  <a:schemeClr val="tx1"/>
                </a:solidFill>
              </a:rPr>
              <a:t> are applicable to both the </a:t>
            </a:r>
            <a:r>
              <a:rPr lang="en-GB" b="1" dirty="0" smtClean="0">
                <a:solidFill>
                  <a:schemeClr val="tx1"/>
                </a:solidFill>
              </a:rPr>
              <a:t>class variables(static variables)</a:t>
            </a:r>
            <a:r>
              <a:rPr lang="en-GB" dirty="0" smtClean="0">
                <a:solidFill>
                  <a:schemeClr val="tx1"/>
                </a:solidFill>
              </a:rPr>
              <a:t> and instance variables and also to class methods(static methods) and other methods.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98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 descr="any questions 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80728"/>
            <a:ext cx="8759958" cy="492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7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434752"/>
            <a:ext cx="8531225" cy="762000"/>
          </a:xfrm>
        </p:spPr>
        <p:txBody>
          <a:bodyPr>
            <a:noAutofit/>
          </a:bodyPr>
          <a:lstStyle/>
          <a:p>
            <a:r>
              <a:rPr lang="en-GB" dirty="0" smtClean="0"/>
              <a:t>Getters and Setters (</a:t>
            </a:r>
            <a:r>
              <a:rPr lang="en-GB" dirty="0" err="1" smtClean="0"/>
              <a:t>Mutator</a:t>
            </a:r>
            <a:r>
              <a:rPr lang="en-GB" dirty="0" smtClean="0"/>
              <a:t>) Methods in Classes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582886"/>
            <a:ext cx="8531225" cy="4870450"/>
          </a:xfrm>
        </p:spPr>
        <p:txBody>
          <a:bodyPr>
            <a:normAutofit/>
          </a:bodyPr>
          <a:lstStyle/>
          <a:p>
            <a:r>
              <a:rPr lang="en-GB" dirty="0" smtClean="0"/>
              <a:t>When writing new classes, issue of access control should be dealt with care.</a:t>
            </a:r>
          </a:p>
          <a:p>
            <a:r>
              <a:rPr lang="en-GB" dirty="0" smtClean="0"/>
              <a:t>Recall that making a member of a class </a:t>
            </a:r>
            <a:r>
              <a:rPr lang="en-GB" b="1" dirty="0" smtClean="0"/>
              <a:t>public</a:t>
            </a:r>
            <a:r>
              <a:rPr lang="en-GB" dirty="0" smtClean="0"/>
              <a:t> makes it accessible from anywhere, including from other classes. </a:t>
            </a:r>
          </a:p>
          <a:p>
            <a:r>
              <a:rPr lang="en-GB" dirty="0" smtClean="0"/>
              <a:t>On the other hand, a </a:t>
            </a:r>
            <a:r>
              <a:rPr lang="en-GB" b="1" dirty="0" smtClean="0"/>
              <a:t>private</a:t>
            </a:r>
            <a:r>
              <a:rPr lang="en-GB" dirty="0" smtClean="0"/>
              <a:t> member can only be used in the class where it is defined.</a:t>
            </a:r>
          </a:p>
        </p:txBody>
      </p:sp>
    </p:spTree>
    <p:extLst>
      <p:ext uri="{BB962C8B-B14F-4D97-AF65-F5344CB8AC3E}">
        <p14:creationId xmlns:p14="http://schemas.microsoft.com/office/powerpoint/2010/main" val="1086936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404664"/>
            <a:ext cx="8531225" cy="762000"/>
          </a:xfrm>
        </p:spPr>
        <p:txBody>
          <a:bodyPr/>
          <a:lstStyle/>
          <a:p>
            <a:r>
              <a:rPr lang="en-GB" dirty="0"/>
              <a:t>Getters and Setters (</a:t>
            </a:r>
            <a:r>
              <a:rPr lang="en-GB" dirty="0" err="1"/>
              <a:t>Mutator</a:t>
            </a:r>
            <a:r>
              <a:rPr lang="en-GB" dirty="0"/>
              <a:t>) Methods in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510878"/>
            <a:ext cx="8531225" cy="4870450"/>
          </a:xfrm>
        </p:spPr>
        <p:txBody>
          <a:bodyPr/>
          <a:lstStyle/>
          <a:p>
            <a:r>
              <a:rPr lang="en-GB" dirty="0"/>
              <a:t>Many programmers think that all member variables should be declared </a:t>
            </a:r>
            <a:r>
              <a:rPr lang="en-GB" b="1" dirty="0"/>
              <a:t>private,</a:t>
            </a:r>
            <a:r>
              <a:rPr lang="en-GB" dirty="0"/>
              <a:t> as this gives complete control over what can be done with the variable.</a:t>
            </a:r>
          </a:p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Even if the variable itself is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private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, you can allow other classes to find out what its value is by providing a public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accessor method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that returns the value of the variable.</a:t>
            </a:r>
            <a:r>
              <a:rPr lang="en-GB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24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404664"/>
            <a:ext cx="8531225" cy="762000"/>
          </a:xfrm>
        </p:spPr>
        <p:txBody>
          <a:bodyPr>
            <a:noAutofit/>
          </a:bodyPr>
          <a:lstStyle/>
          <a:p>
            <a:r>
              <a:rPr lang="en-GB" dirty="0" smtClean="0"/>
              <a:t>Getters and Setters (</a:t>
            </a:r>
            <a:r>
              <a:rPr lang="en-GB" dirty="0" err="1" smtClean="0"/>
              <a:t>Mutator</a:t>
            </a:r>
            <a:r>
              <a:rPr lang="en-GB" dirty="0" smtClean="0"/>
              <a:t>) Methods in Classes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510878"/>
            <a:ext cx="8531225" cy="4870450"/>
          </a:xfrm>
        </p:spPr>
        <p:txBody>
          <a:bodyPr>
            <a:normAutofit/>
          </a:bodyPr>
          <a:lstStyle/>
          <a:p>
            <a:r>
              <a:rPr lang="en-GB" dirty="0" smtClean="0"/>
              <a:t>For example, if your class contains a </a:t>
            </a:r>
            <a:r>
              <a:rPr lang="en-GB" b="1" dirty="0" smtClean="0"/>
              <a:t>private</a:t>
            </a:r>
            <a:r>
              <a:rPr lang="en-GB" dirty="0" smtClean="0"/>
              <a:t> member variable, </a:t>
            </a:r>
            <a:r>
              <a:rPr lang="en-GB" i="1" dirty="0" smtClean="0"/>
              <a:t>marks</a:t>
            </a:r>
            <a:r>
              <a:rPr lang="en-GB" dirty="0" smtClean="0"/>
              <a:t>, of type </a:t>
            </a:r>
            <a:r>
              <a:rPr lang="en-GB" i="1" dirty="0" smtClean="0"/>
              <a:t>double, </a:t>
            </a:r>
            <a:r>
              <a:rPr lang="en-GB" dirty="0" smtClean="0"/>
              <a:t>you can provide a method that gives access to the value of the variable:</a:t>
            </a:r>
          </a:p>
          <a:p>
            <a:pPr>
              <a:buNone/>
            </a:pPr>
            <a:r>
              <a:rPr lang="en-GB" sz="2400" dirty="0" smtClean="0"/>
              <a:t>	</a:t>
            </a:r>
            <a:r>
              <a:rPr lang="en-GB" sz="2400" dirty="0" smtClean="0">
                <a:solidFill>
                  <a:srgbClr val="0070C0"/>
                </a:solidFill>
              </a:rPr>
              <a:t>public double </a:t>
            </a:r>
            <a:r>
              <a:rPr lang="en-GB" sz="2400" dirty="0" err="1" smtClean="0">
                <a:solidFill>
                  <a:srgbClr val="0070C0"/>
                </a:solidFill>
              </a:rPr>
              <a:t>getMarks</a:t>
            </a:r>
            <a:r>
              <a:rPr lang="en-GB" sz="2400" dirty="0" smtClean="0">
                <a:solidFill>
                  <a:srgbClr val="0070C0"/>
                </a:solidFill>
              </a:rPr>
              <a:t>(){</a:t>
            </a: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	return marks;</a:t>
            </a:r>
            <a:r>
              <a:rPr lang="en-GB" sz="2000" dirty="0" smtClean="0">
                <a:solidFill>
                  <a:srgbClr val="0070C0"/>
                </a:solidFill>
              </a:rPr>
              <a:t>//returns the value of marks</a:t>
            </a:r>
            <a:endParaRPr lang="en-GB" sz="2400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	}</a:t>
            </a:r>
          </a:p>
          <a:p>
            <a:endParaRPr lang="en-GB" sz="2400" dirty="0"/>
          </a:p>
        </p:txBody>
      </p:sp>
      <p:sp>
        <p:nvSpPr>
          <p:cNvPr id="4" name="Right Brace 3"/>
          <p:cNvSpPr/>
          <p:nvPr/>
        </p:nvSpPr>
        <p:spPr>
          <a:xfrm>
            <a:off x="5508104" y="3586336"/>
            <a:ext cx="304800" cy="10668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5868144" y="3789040"/>
            <a:ext cx="2514600" cy="685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Getter method for private variable </a:t>
            </a:r>
            <a:r>
              <a:rPr lang="en-GB" i="1" dirty="0" smtClean="0">
                <a:solidFill>
                  <a:schemeClr val="tx1"/>
                </a:solidFill>
              </a:rPr>
              <a:t>marks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83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434752"/>
            <a:ext cx="8531225" cy="762000"/>
          </a:xfrm>
        </p:spPr>
        <p:txBody>
          <a:bodyPr/>
          <a:lstStyle/>
          <a:p>
            <a:r>
              <a:rPr lang="en-GB" dirty="0"/>
              <a:t>Getters and Setters (</a:t>
            </a:r>
            <a:r>
              <a:rPr lang="en-GB" dirty="0" err="1"/>
              <a:t>Mutator</a:t>
            </a:r>
            <a:r>
              <a:rPr lang="en-GB" dirty="0"/>
              <a:t>) Methods in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510878"/>
            <a:ext cx="8531225" cy="4870450"/>
          </a:xfrm>
        </p:spPr>
        <p:txBody>
          <a:bodyPr/>
          <a:lstStyle/>
          <a:p>
            <a:r>
              <a:rPr lang="en-GB" dirty="0"/>
              <a:t>The accessor method in the above example has the same return type as that of the data member whose value it is returning.</a:t>
            </a:r>
          </a:p>
          <a:p>
            <a:r>
              <a:rPr lang="en-GB" dirty="0"/>
              <a:t>Because of the naming convention, accessor methods are more often referred to as </a:t>
            </a:r>
            <a:r>
              <a:rPr lang="en-GB" b="1" dirty="0"/>
              <a:t>getter methods</a:t>
            </a:r>
            <a:r>
              <a:rPr lang="en-GB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867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434752"/>
            <a:ext cx="8531225" cy="762000"/>
          </a:xfrm>
        </p:spPr>
        <p:txBody>
          <a:bodyPr/>
          <a:lstStyle/>
          <a:p>
            <a:r>
              <a:rPr lang="en-GB" dirty="0"/>
              <a:t>Getters and Setters (</a:t>
            </a:r>
            <a:r>
              <a:rPr lang="en-GB" dirty="0" err="1"/>
              <a:t>Mutator</a:t>
            </a:r>
            <a:r>
              <a:rPr lang="en-GB" dirty="0"/>
              <a:t>) Methods in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510878"/>
            <a:ext cx="8531225" cy="4870450"/>
          </a:xfrm>
        </p:spPr>
        <p:txBody>
          <a:bodyPr/>
          <a:lstStyle/>
          <a:p>
            <a:r>
              <a:rPr lang="en-GB" dirty="0"/>
              <a:t>You might want to make it possible for other classes to specify a new value for the variable.</a:t>
            </a:r>
          </a:p>
          <a:p>
            <a:r>
              <a:rPr lang="en-GB" dirty="0"/>
              <a:t>This is done with a </a:t>
            </a:r>
            <a:r>
              <a:rPr lang="en-GB" b="1" dirty="0"/>
              <a:t>setter method</a:t>
            </a:r>
            <a:r>
              <a:rPr lang="en-GB" dirty="0"/>
              <a:t>(also called </a:t>
            </a:r>
            <a:r>
              <a:rPr lang="en-GB" b="1" dirty="0" err="1"/>
              <a:t>mutator</a:t>
            </a:r>
            <a:r>
              <a:rPr lang="en-GB" b="1" dirty="0"/>
              <a:t> method</a:t>
            </a:r>
            <a:r>
              <a:rPr lang="en-GB" dirty="0"/>
              <a:t>).</a:t>
            </a:r>
            <a:r>
              <a:rPr lang="en-GB" b="1" dirty="0"/>
              <a:t> </a:t>
            </a:r>
          </a:p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A setter method is a method that sets/changes the value of a data-member of the class. Mostly setter methods are provided for private members.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804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404664"/>
            <a:ext cx="8531225" cy="762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Getters and Setters (</a:t>
            </a:r>
            <a:r>
              <a:rPr lang="en-GB" dirty="0" err="1" smtClean="0"/>
              <a:t>Mutator</a:t>
            </a:r>
            <a:r>
              <a:rPr lang="en-GB" dirty="0" smtClean="0"/>
              <a:t>) Methods in Classes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/>
              <a:t>	</a:t>
            </a:r>
            <a:r>
              <a:rPr lang="en-GB" sz="2400" dirty="0" smtClean="0">
                <a:solidFill>
                  <a:schemeClr val="accent1">
                    <a:lumMod val="75000"/>
                  </a:schemeClr>
                </a:solidFill>
              </a:rPr>
              <a:t>public void </a:t>
            </a:r>
            <a:r>
              <a:rPr lang="en-GB" sz="2400" dirty="0" err="1" smtClean="0">
                <a:solidFill>
                  <a:schemeClr val="accent1">
                    <a:lumMod val="75000"/>
                  </a:schemeClr>
                </a:solidFill>
              </a:rPr>
              <a:t>setMarks</a:t>
            </a:r>
            <a:r>
              <a:rPr lang="en-GB" sz="2400" dirty="0" smtClean="0">
                <a:solidFill>
                  <a:schemeClr val="accent1">
                    <a:lumMod val="75000"/>
                  </a:schemeClr>
                </a:solidFill>
              </a:rPr>
              <a:t>(double </a:t>
            </a:r>
            <a:r>
              <a:rPr lang="en-GB" sz="2400" dirty="0" err="1" smtClean="0">
                <a:solidFill>
                  <a:schemeClr val="accent1">
                    <a:lumMod val="75000"/>
                  </a:schemeClr>
                </a:solidFill>
              </a:rPr>
              <a:t>newMarks</a:t>
            </a:r>
            <a:r>
              <a:rPr lang="en-GB" sz="2400" dirty="0" smtClean="0">
                <a:solidFill>
                  <a:schemeClr val="accent1">
                    <a:lumMod val="75000"/>
                  </a:schemeClr>
                </a:solidFill>
              </a:rPr>
              <a:t>){</a:t>
            </a:r>
          </a:p>
          <a:p>
            <a:pPr>
              <a:buNone/>
            </a:pPr>
            <a:r>
              <a:rPr lang="en-GB" sz="2400" dirty="0" smtClean="0">
                <a:solidFill>
                  <a:schemeClr val="accent1">
                    <a:lumMod val="75000"/>
                  </a:schemeClr>
                </a:solidFill>
              </a:rPr>
              <a:t>		marks = </a:t>
            </a:r>
            <a:r>
              <a:rPr lang="en-GB" sz="2400" dirty="0" err="1" smtClean="0">
                <a:solidFill>
                  <a:schemeClr val="accent1">
                    <a:lumMod val="75000"/>
                  </a:schemeClr>
                </a:solidFill>
              </a:rPr>
              <a:t>newMarks</a:t>
            </a:r>
            <a:r>
              <a:rPr lang="en-GB" sz="2400" dirty="0" smtClean="0">
                <a:solidFill>
                  <a:schemeClr val="accent1">
                    <a:lumMod val="75000"/>
                  </a:schemeClr>
                </a:solidFill>
              </a:rPr>
              <a:t>;</a:t>
            </a:r>
            <a:r>
              <a:rPr lang="en-GB" sz="2000" dirty="0" smtClean="0">
                <a:solidFill>
                  <a:schemeClr val="accent1">
                    <a:lumMod val="75000"/>
                  </a:schemeClr>
                </a:solidFill>
              </a:rPr>
              <a:t>//sets value for marks</a:t>
            </a:r>
            <a:endParaRPr lang="en-GB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GB" sz="2400" dirty="0" smtClean="0">
                <a:solidFill>
                  <a:schemeClr val="accent1">
                    <a:lumMod val="75000"/>
                  </a:schemeClr>
                </a:solidFill>
              </a:rPr>
              <a:t>	}</a:t>
            </a:r>
          </a:p>
          <a:p>
            <a:r>
              <a:rPr lang="en-GB" dirty="0" smtClean="0"/>
              <a:t>The parameter of a setter method has the same data type as that of the data member whose value it sets.</a:t>
            </a:r>
            <a:endParaRPr lang="en-GB" dirty="0"/>
          </a:p>
        </p:txBody>
      </p:sp>
      <p:sp>
        <p:nvSpPr>
          <p:cNvPr id="4" name="Right Brace 3"/>
          <p:cNvSpPr/>
          <p:nvPr/>
        </p:nvSpPr>
        <p:spPr>
          <a:xfrm>
            <a:off x="6084168" y="1556792"/>
            <a:ext cx="304800" cy="10668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6388968" y="1709192"/>
            <a:ext cx="2514600" cy="685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Setter method for private variable </a:t>
            </a:r>
            <a:r>
              <a:rPr lang="en-GB" i="1" dirty="0" smtClean="0">
                <a:solidFill>
                  <a:schemeClr val="tx1"/>
                </a:solidFill>
              </a:rPr>
              <a:t>marks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86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85728"/>
            <a:ext cx="8858250" cy="762000"/>
          </a:xfrm>
        </p:spPr>
        <p:txBody>
          <a:bodyPr/>
          <a:lstStyle/>
          <a:p>
            <a:r>
              <a:rPr lang="en-US" dirty="0" smtClean="0"/>
              <a:t>Summary: Week 4 Lecture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5750" y="1214438"/>
            <a:ext cx="8531225" cy="5357834"/>
          </a:xfrm>
        </p:spPr>
        <p:txBody>
          <a:bodyPr/>
          <a:lstStyle/>
          <a:p>
            <a:r>
              <a:rPr lang="en-US" dirty="0"/>
              <a:t>Introduction to Class as User Defined Type</a:t>
            </a:r>
          </a:p>
          <a:p>
            <a:r>
              <a:rPr lang="en-US" dirty="0"/>
              <a:t>Class as Composite Type</a:t>
            </a:r>
          </a:p>
          <a:p>
            <a:r>
              <a:rPr lang="en-US" dirty="0"/>
              <a:t>Class as User Defined Data Type</a:t>
            </a:r>
          </a:p>
          <a:p>
            <a:r>
              <a:rPr lang="en-US" dirty="0"/>
              <a:t>Private Datatype Vs User-defined Datatype</a:t>
            </a:r>
          </a:p>
          <a:p>
            <a:r>
              <a:rPr lang="en-US" dirty="0"/>
              <a:t>Creating and Using Objects</a:t>
            </a:r>
          </a:p>
          <a:p>
            <a:r>
              <a:rPr lang="en-US" dirty="0"/>
              <a:t>Referencing an Object’s Variables</a:t>
            </a:r>
          </a:p>
          <a:p>
            <a:r>
              <a:rPr lang="en-US" dirty="0"/>
              <a:t>Access Specifiers</a:t>
            </a:r>
          </a:p>
          <a:p>
            <a:r>
              <a:rPr lang="en-US" dirty="0"/>
              <a:t>Getter and Setter 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68288"/>
            <a:ext cx="8858250" cy="762000"/>
          </a:xfrm>
        </p:spPr>
        <p:txBody>
          <a:bodyPr/>
          <a:lstStyle/>
          <a:p>
            <a:r>
              <a:rPr lang="en-US" dirty="0" smtClean="0"/>
              <a:t>What to Expect: Week 4 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214438"/>
            <a:ext cx="8531225" cy="5643562"/>
          </a:xfrm>
        </p:spPr>
        <p:txBody>
          <a:bodyPr/>
          <a:lstStyle/>
          <a:p>
            <a:pPr lvl="0"/>
            <a:r>
              <a:rPr lang="en-GB" dirty="0" smtClean="0"/>
              <a:t>Discussion </a:t>
            </a:r>
            <a:r>
              <a:rPr lang="en-GB" dirty="0"/>
              <a:t>about the topics covered in the lecture.</a:t>
            </a:r>
            <a:endParaRPr lang="en-US" dirty="0"/>
          </a:p>
          <a:p>
            <a:r>
              <a:rPr lang="en-GB" dirty="0"/>
              <a:t>Provide practical questions based on </a:t>
            </a:r>
            <a:r>
              <a:rPr lang="en-US" dirty="0" smtClean="0"/>
              <a:t>constructor so it is vital that you go through the lecture slide!!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556792"/>
            <a:ext cx="4327525" cy="397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bri" pitchFamily="32" charset="0"/>
            <a:ea typeface="SimSun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bri" pitchFamily="32" charset="0"/>
            <a:ea typeface="SimSun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12793</TotalTime>
  <Words>1469</Words>
  <Application>Microsoft Office PowerPoint</Application>
  <PresentationFormat>On-screen Show (4:3)</PresentationFormat>
  <Paragraphs>196</Paragraphs>
  <Slides>34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SimSun</vt:lpstr>
      <vt:lpstr>SimSun</vt:lpstr>
      <vt:lpstr>Calibri</vt:lpstr>
      <vt:lpstr>Times New Roman</vt:lpstr>
      <vt:lpstr>Office Theme</vt:lpstr>
      <vt:lpstr>Class as User Defined Type</vt:lpstr>
      <vt:lpstr>Agenda</vt:lpstr>
      <vt:lpstr>Review of Previous Week</vt:lpstr>
      <vt:lpstr>Let’s get started with Lecture 4</vt:lpstr>
      <vt:lpstr>Introduction-Class as User Defined Type</vt:lpstr>
      <vt:lpstr>Introduction-Class as User Defined Type</vt:lpstr>
      <vt:lpstr>Class As Composite Type</vt:lpstr>
      <vt:lpstr>Class As Composite Type</vt:lpstr>
      <vt:lpstr>Class As Composite Type</vt:lpstr>
      <vt:lpstr>Class As User-defined Datatype</vt:lpstr>
      <vt:lpstr>Class As User-defined Datatype</vt:lpstr>
      <vt:lpstr>Difference Between Primitive Data type &amp; User-defined Data type</vt:lpstr>
      <vt:lpstr>Any Questions?</vt:lpstr>
      <vt:lpstr>Creating and Using Objects</vt:lpstr>
      <vt:lpstr>Creating and Using Objects</vt:lpstr>
      <vt:lpstr>Creating And Using Objects</vt:lpstr>
      <vt:lpstr>Creating And Using Objects</vt:lpstr>
      <vt:lpstr>Using Objects</vt:lpstr>
      <vt:lpstr>Referencing an Object’s Variables</vt:lpstr>
      <vt:lpstr>Access Specifiers</vt:lpstr>
      <vt:lpstr>Access Specifiers</vt:lpstr>
      <vt:lpstr>Access Specifiers</vt:lpstr>
      <vt:lpstr>Access Specifiers</vt:lpstr>
      <vt:lpstr>Accessibility of Access Specifiers</vt:lpstr>
      <vt:lpstr>PowerPoint Presentation</vt:lpstr>
      <vt:lpstr>Getters and Setters (Mutator) Methods in Classes</vt:lpstr>
      <vt:lpstr>Getters and Setters (Mutator) Methods in Classes</vt:lpstr>
      <vt:lpstr>Getters and Setters (Mutator) Methods in Classes</vt:lpstr>
      <vt:lpstr>Getters and Setters (Mutator) Methods in Classes</vt:lpstr>
      <vt:lpstr>Getters and Setters (Mutator) Methods in Classes</vt:lpstr>
      <vt:lpstr>Getters and Setters (Mutator) Methods in Classes</vt:lpstr>
      <vt:lpstr>Summary: Week 4 Lecture</vt:lpstr>
      <vt:lpstr>What to Expect: Week 4 Lab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Corporate Edition</dc:creator>
  <cp:lastModifiedBy>Krishna Aryal</cp:lastModifiedBy>
  <cp:revision>1799</cp:revision>
  <cp:lastPrinted>1601-01-01T00:00:00Z</cp:lastPrinted>
  <dcterms:created xsi:type="dcterms:W3CDTF">2010-08-24T06:31:40Z</dcterms:created>
  <dcterms:modified xsi:type="dcterms:W3CDTF">2018-12-05T03:55:20Z</dcterms:modified>
</cp:coreProperties>
</file>