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sldIdLst>
    <p:sldId id="614" r:id="rId2"/>
    <p:sldId id="964" r:id="rId3"/>
    <p:sldId id="965" r:id="rId4"/>
    <p:sldId id="760" r:id="rId5"/>
    <p:sldId id="970" r:id="rId6"/>
    <p:sldId id="984" r:id="rId7"/>
    <p:sldId id="971" r:id="rId8"/>
    <p:sldId id="972" r:id="rId9"/>
    <p:sldId id="973" r:id="rId10"/>
    <p:sldId id="974" r:id="rId11"/>
    <p:sldId id="985" r:id="rId12"/>
    <p:sldId id="975" r:id="rId13"/>
    <p:sldId id="976" r:id="rId14"/>
    <p:sldId id="977" r:id="rId15"/>
    <p:sldId id="988" r:id="rId16"/>
    <p:sldId id="978" r:id="rId17"/>
    <p:sldId id="986" r:id="rId18"/>
    <p:sldId id="979" r:id="rId19"/>
    <p:sldId id="980" r:id="rId20"/>
    <p:sldId id="987" r:id="rId21"/>
    <p:sldId id="981" r:id="rId22"/>
    <p:sldId id="982" r:id="rId23"/>
    <p:sldId id="983" r:id="rId24"/>
    <p:sldId id="989" r:id="rId25"/>
    <p:sldId id="794" r:id="rId26"/>
    <p:sldId id="741" r:id="rId27"/>
    <p:sldId id="687" r:id="rId28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663300"/>
    <a:srgbClr val="FF99FF"/>
    <a:srgbClr val="9999FF"/>
    <a:srgbClr val="0033CC"/>
    <a:srgbClr val="FF66FF"/>
    <a:srgbClr val="9966FF"/>
    <a:srgbClr val="CC0099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2790" autoAdjust="0"/>
  </p:normalViewPr>
  <p:slideViewPr>
    <p:cSldViewPr>
      <p:cViewPr varScale="1">
        <p:scale>
          <a:sx n="102" d="100"/>
          <a:sy n="102" d="100"/>
        </p:scale>
        <p:origin x="1840" y="10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636" y="24993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6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7" name="AutoShape 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8" name="AutoShape 1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9" name="AutoShape 1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0" name="AutoShape 1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2" name="AutoShape 1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3" name="AutoShape 1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4" name="AutoShape 1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6" name="AutoShape 1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7" name="AutoShape 1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8" name="AutoShape 2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9" name="AutoShape 2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0" name="AutoShape 2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1" name="AutoShape 2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2" name="AutoShape 2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3" name="AutoShape 2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79899" name="Rectangle 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58612" cy="12452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75" name="Rectangle 27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4091558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08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46713" cy="4076700"/>
          </a:xfrm>
          <a:noFill/>
          <a:ln/>
        </p:spPr>
        <p:txBody>
          <a:bodyPr wrap="none" anchor="ctr"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467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2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3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68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61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33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E7AE-D891-4742-9343-5EF205D83184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41C6D-44DB-4C04-9CB5-747DFD8034D5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F2F3-A1D1-4097-8ADA-9467C774BAB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214438"/>
            <a:ext cx="4189413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563" y="1214438"/>
            <a:ext cx="4189412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06B8-A366-4D7D-8D93-3C162260D047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B8C4F-FE3E-4394-B2DA-E4A48F0D5700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21365-AAB7-44E9-AE25-AC26CB6D31C9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5F4C4-4802-406A-9566-DC0441A9D6F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5B006-943A-426A-9B1D-39C221084F8A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C1328-7526-46D0-AF05-B470211DDA7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82277-77C8-4CBD-9C20-1D2B71F7204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268288"/>
            <a:ext cx="2132012" cy="5816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0" y="268288"/>
            <a:ext cx="6246813" cy="5816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A60C3-6C5C-4A94-BC8E-5932D08D3DDD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268288"/>
            <a:ext cx="8531225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0" y="1214438"/>
            <a:ext cx="8531225" cy="4870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the outline text format</a:t>
            </a:r>
          </a:p>
          <a:p>
            <a:pPr lvl="1"/>
            <a:r>
              <a:rPr lang="en-GB" dirty="0" smtClean="0"/>
              <a:t>Second Outline Level</a:t>
            </a:r>
          </a:p>
          <a:p>
            <a:pPr lvl="2"/>
            <a:r>
              <a:rPr lang="en-GB" dirty="0" smtClean="0"/>
              <a:t>Third Outline Level</a:t>
            </a:r>
          </a:p>
          <a:p>
            <a:pPr lvl="3"/>
            <a:r>
              <a:rPr lang="en-GB" dirty="0" smtClean="0"/>
              <a:t>Fourth Outline Level</a:t>
            </a:r>
          </a:p>
          <a:p>
            <a:pPr lvl="4"/>
            <a:r>
              <a:rPr lang="en-GB" dirty="0" smtClean="0"/>
              <a:t>Fifth Outline Level</a:t>
            </a:r>
          </a:p>
          <a:p>
            <a:pPr lvl="4"/>
            <a:r>
              <a:rPr lang="en-GB" dirty="0" smtClean="0"/>
              <a:t>Sixth Outline Level</a:t>
            </a:r>
          </a:p>
          <a:p>
            <a:pPr lvl="4"/>
            <a:r>
              <a:rPr lang="en-GB" dirty="0" smtClean="0"/>
              <a:t>Seventh Outline Level</a:t>
            </a:r>
          </a:p>
          <a:p>
            <a:pPr lvl="4"/>
            <a:r>
              <a:rPr lang="en-GB" dirty="0" smtClean="0"/>
              <a:t>Eighth Outline Level</a:t>
            </a:r>
          </a:p>
          <a:p>
            <a:pPr lvl="4"/>
            <a:r>
              <a:rPr lang="en-GB" dirty="0" smtClean="0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354763"/>
            <a:ext cx="2895600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605CA8D-3D6C-42DF-9A5B-66FCBCC600DC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r>
              <a:rPr lang="en-SG" sz="1800" dirty="0" err="1" smtClean="0"/>
              <a:t>iAcademy</a:t>
            </a:r>
            <a:endParaRPr lang="en-SG" sz="1800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0" y="-1"/>
            <a:ext cx="7929586" cy="45719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-32" y="6643711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SG" sz="1800" dirty="0" err="1" smtClean="0"/>
              <a:t>iAcademy</a:t>
            </a:r>
            <a:endParaRPr lang="en-SG" sz="1800" dirty="0" smtClean="0"/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 flipV="1">
            <a:off x="1214414" y="6786584"/>
            <a:ext cx="7929554" cy="71415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宋体" pitchFamily="2" charset="-122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3200">
          <a:solidFill>
            <a:srgbClr val="000000"/>
          </a:solidFill>
          <a:latin typeface="+mn-lt"/>
          <a:ea typeface="宋体" pitchFamily="2" charset="-122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800">
          <a:solidFill>
            <a:srgbClr val="000000"/>
          </a:solidFill>
          <a:latin typeface="+mn-lt"/>
          <a:ea typeface="宋体" pitchFamily="2" charset="-122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400">
          <a:solidFill>
            <a:srgbClr val="000000"/>
          </a:solidFill>
          <a:latin typeface="+mn-lt"/>
          <a:ea typeface="宋体" pitchFamily="2" charset="-122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000">
          <a:solidFill>
            <a:srgbClr val="000000"/>
          </a:solidFill>
          <a:latin typeface="+mn-lt"/>
          <a:ea typeface="宋体" pitchFamily="2" charset="-122"/>
        </a:defRPr>
      </a:lvl4pPr>
      <a:lvl5pPr marL="20574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1600">
          <a:solidFill>
            <a:srgbClr val="000000"/>
          </a:solidFill>
          <a:latin typeface="+mn-lt"/>
          <a:ea typeface="宋体" pitchFamily="2" charset="-122"/>
        </a:defRPr>
      </a:lvl5pPr>
      <a:lvl6pPr marL="25146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785794"/>
            <a:ext cx="7772400" cy="1470025"/>
          </a:xfrm>
        </p:spPr>
        <p:txBody>
          <a:bodyPr/>
          <a:lstStyle/>
          <a:p>
            <a:pPr algn="ctr"/>
            <a:r>
              <a:rPr lang="en-US" dirty="0" smtClean="0"/>
              <a:t>Iterations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158" y="2684444"/>
            <a:ext cx="8358246" cy="2387629"/>
          </a:xfrm>
        </p:spPr>
        <p:txBody>
          <a:bodyPr/>
          <a:lstStyle/>
          <a:p>
            <a:r>
              <a:rPr lang="en-US" sz="2800" dirty="0" smtClean="0"/>
              <a:t>Introduction to Programming I</a:t>
            </a:r>
          </a:p>
          <a:p>
            <a:r>
              <a:rPr lang="en-US" sz="2800" dirty="0" smtClean="0"/>
              <a:t>Lecture </a:t>
            </a:r>
            <a:r>
              <a:rPr lang="en-US" sz="2800" dirty="0" smtClean="0"/>
              <a:t>7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400" i="1" dirty="0" smtClean="0"/>
              <a:t>Introduction to </a:t>
            </a:r>
            <a:r>
              <a:rPr lang="en-US" sz="2400" i="1" dirty="0" smtClean="0"/>
              <a:t>Iterations</a:t>
            </a:r>
            <a:endParaRPr lang="en-US" sz="2400" i="1" dirty="0" smtClean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42844" y="5214950"/>
            <a:ext cx="8786874" cy="128588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</a:pPr>
            <a:r>
              <a:rPr lang="en-GB" sz="1400" dirty="0">
                <a:solidFill>
                  <a:schemeClr val="tx1"/>
                </a:solidFill>
              </a:rPr>
              <a:t>This lecture and its associated materials have been produced </a:t>
            </a:r>
            <a:r>
              <a:rPr lang="en-GB" sz="1400" dirty="0" smtClean="0">
                <a:solidFill>
                  <a:schemeClr val="tx1"/>
                </a:solidFill>
              </a:rPr>
              <a:t>by Mr. Abhinav Dahal (M.Sc., </a:t>
            </a:r>
            <a:r>
              <a:rPr lang="en-GB" sz="1400" smtClean="0">
                <a:solidFill>
                  <a:schemeClr val="tx1"/>
                </a:solidFill>
              </a:rPr>
              <a:t>Linnaeus University) </a:t>
            </a:r>
            <a:r>
              <a:rPr lang="en-GB" sz="1400" dirty="0" smtClean="0">
                <a:solidFill>
                  <a:schemeClr val="tx1"/>
                </a:solidFill>
              </a:rPr>
              <a:t>of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for </a:t>
            </a:r>
            <a:r>
              <a:rPr lang="en-GB" sz="1400" dirty="0">
                <a:solidFill>
                  <a:schemeClr val="tx1"/>
                </a:solidFill>
              </a:rPr>
              <a:t>the purposes of lecturing on the </a:t>
            </a:r>
            <a:r>
              <a:rPr lang="en-GB" sz="1400" dirty="0" smtClean="0">
                <a:solidFill>
                  <a:schemeClr val="tx1"/>
                </a:solidFill>
              </a:rPr>
              <a:t>above described subject </a:t>
            </a:r>
            <a:r>
              <a:rPr lang="en-GB" sz="1400" dirty="0">
                <a:solidFill>
                  <a:schemeClr val="tx1"/>
                </a:solidFill>
              </a:rPr>
              <a:t>and the material should be viewed in this context. The work does not constitute professional advice and no warranties are made regarding the information presented. The </a:t>
            </a:r>
            <a:r>
              <a:rPr lang="en-GB" sz="1400" dirty="0" smtClean="0">
                <a:solidFill>
                  <a:schemeClr val="tx1"/>
                </a:solidFill>
              </a:rPr>
              <a:t>Author and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do </a:t>
            </a:r>
            <a:r>
              <a:rPr lang="en-GB" sz="1400" dirty="0">
                <a:solidFill>
                  <a:schemeClr val="tx1"/>
                </a:solidFill>
              </a:rPr>
              <a:t>not accept any liability for the consequences of any action taken as a result of the work or any recommendations made or inferred</a:t>
            </a:r>
            <a:r>
              <a:rPr lang="en-GB" sz="1400" dirty="0" smtClean="0">
                <a:solidFill>
                  <a:schemeClr val="tx1"/>
                </a:solidFill>
              </a:rPr>
              <a:t>. Permission to use any of these materials must be first granted by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80728"/>
            <a:ext cx="8531225" cy="5643562"/>
          </a:xfrm>
        </p:spPr>
        <p:txBody>
          <a:bodyPr/>
          <a:lstStyle/>
          <a:p>
            <a:r>
              <a:rPr lang="en-US" dirty="0" smtClean="0"/>
              <a:t>Week 7 Lecture Coverage</a:t>
            </a:r>
          </a:p>
          <a:p>
            <a:pPr lvl="1"/>
            <a:r>
              <a:rPr lang="en-US" dirty="0" smtClean="0"/>
              <a:t>Introduction to Iterations</a:t>
            </a:r>
          </a:p>
          <a:p>
            <a:pPr lvl="1"/>
            <a:r>
              <a:rPr lang="en-GB" dirty="0"/>
              <a:t>Elements That Control A Loop </a:t>
            </a:r>
            <a:endParaRPr lang="en-GB" dirty="0" smtClean="0"/>
          </a:p>
          <a:p>
            <a:pPr lvl="1"/>
            <a:r>
              <a:rPr lang="en-GB" dirty="0"/>
              <a:t>The for Loop</a:t>
            </a:r>
            <a:endParaRPr lang="en-US" dirty="0" smtClean="0"/>
          </a:p>
          <a:p>
            <a:pPr lvl="1"/>
            <a:r>
              <a:rPr lang="en-US" dirty="0" smtClean="0"/>
              <a:t>The while Loop</a:t>
            </a:r>
          </a:p>
          <a:p>
            <a:pPr lvl="1"/>
            <a:r>
              <a:rPr lang="en-GB" dirty="0" smtClean="0"/>
              <a:t>The do-while Loop</a:t>
            </a:r>
            <a:endParaRPr lang="en-US" dirty="0" smtClean="0"/>
          </a:p>
          <a:p>
            <a:pPr lvl="1"/>
            <a:r>
              <a:rPr lang="en-GB" dirty="0" smtClean="0"/>
              <a:t>Nested Loop</a:t>
            </a:r>
          </a:p>
          <a:p>
            <a:pPr lvl="1"/>
            <a:r>
              <a:rPr lang="en-GB" dirty="0" smtClean="0"/>
              <a:t>Jump Statements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562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8640"/>
            <a:ext cx="8531225" cy="762000"/>
          </a:xfrm>
        </p:spPr>
        <p:txBody>
          <a:bodyPr/>
          <a:lstStyle/>
          <a:p>
            <a:r>
              <a:rPr lang="en-US" dirty="0" smtClean="0"/>
              <a:t>Review of Previous Week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08720"/>
            <a:ext cx="8531225" cy="4870450"/>
          </a:xfrm>
        </p:spPr>
        <p:txBody>
          <a:bodyPr/>
          <a:lstStyle/>
          <a:p>
            <a:r>
              <a:rPr lang="en-US" dirty="0"/>
              <a:t>Introduction to Decision Making</a:t>
            </a:r>
          </a:p>
          <a:p>
            <a:r>
              <a:rPr lang="en-GB" dirty="0"/>
              <a:t>Programming Construct - Sequence </a:t>
            </a:r>
          </a:p>
          <a:p>
            <a:r>
              <a:rPr lang="en-GB" dirty="0"/>
              <a:t>Programming Construct - Selection</a:t>
            </a:r>
            <a:endParaRPr lang="en-US" dirty="0"/>
          </a:p>
          <a:p>
            <a:r>
              <a:rPr lang="en-GB" dirty="0"/>
              <a:t>Programming Construct - Iteration</a:t>
            </a:r>
            <a:endParaRPr lang="en-US" dirty="0"/>
          </a:p>
          <a:p>
            <a:r>
              <a:rPr lang="en-GB" dirty="0"/>
              <a:t>Selection Statements – if Statement</a:t>
            </a:r>
            <a:endParaRPr lang="en-US" dirty="0"/>
          </a:p>
          <a:p>
            <a:r>
              <a:rPr lang="en-GB" dirty="0"/>
              <a:t>Selection Statements – if-else Statement </a:t>
            </a:r>
          </a:p>
          <a:p>
            <a:r>
              <a:rPr lang="en-GB" dirty="0"/>
              <a:t>Nested ifs</a:t>
            </a:r>
          </a:p>
          <a:p>
            <a:r>
              <a:rPr lang="en-GB" dirty="0"/>
              <a:t>The Dangling-Else</a:t>
            </a:r>
          </a:p>
          <a:p>
            <a:r>
              <a:rPr lang="en-GB" dirty="0"/>
              <a:t>The Alternative to if</a:t>
            </a:r>
          </a:p>
          <a:p>
            <a:r>
              <a:rPr lang="en-GB" dirty="0"/>
              <a:t>The switch Statement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13226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Let’s get started with Lecture </a:t>
            </a:r>
            <a:r>
              <a:rPr lang="en-US" dirty="0" smtClean="0"/>
              <a:t>7</a:t>
            </a:r>
            <a:endParaRPr lang="en-US" dirty="0"/>
          </a:p>
        </p:txBody>
      </p:sp>
      <p:pic>
        <p:nvPicPr>
          <p:cNvPr id="66562" name="Picture 2" descr="https://encrypted-tbn2.gstatic.com/images?q=tbn:ANd9GcTG9-t7yYcO4VMW-C9vrEobs1rMthfcAMAzxj2Ff9f53LjyAoU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1402332"/>
            <a:ext cx="5857916" cy="3884056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0" y="5643578"/>
            <a:ext cx="914397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An Introduction to </a:t>
            </a: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Iterations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宋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029200"/>
          </a:xfrm>
        </p:spPr>
        <p:txBody>
          <a:bodyPr>
            <a:noAutofit/>
          </a:bodyPr>
          <a:lstStyle/>
          <a:p>
            <a:r>
              <a:rPr lang="en-GB" dirty="0" smtClean="0"/>
              <a:t>The iteration statements allow a set of instructions to be performed repeatedly until a certain condition is fulfilled.</a:t>
            </a:r>
          </a:p>
          <a:p>
            <a:r>
              <a:rPr lang="en-GB" dirty="0" smtClean="0"/>
              <a:t>The iteration statements are also called </a:t>
            </a:r>
            <a:r>
              <a:rPr lang="en-GB" i="1" dirty="0" smtClean="0"/>
              <a:t>loops</a:t>
            </a:r>
            <a:r>
              <a:rPr lang="en-GB" dirty="0" smtClean="0"/>
              <a:t> or </a:t>
            </a:r>
            <a:r>
              <a:rPr lang="en-GB" i="1" dirty="0" smtClean="0"/>
              <a:t>looping</a:t>
            </a:r>
            <a:r>
              <a:rPr lang="en-GB" dirty="0" smtClean="0"/>
              <a:t> statements.</a:t>
            </a:r>
          </a:p>
          <a:p>
            <a:r>
              <a:rPr lang="en-GB" dirty="0" smtClean="0"/>
              <a:t>Java provides three kinds of loops:</a:t>
            </a:r>
          </a:p>
          <a:p>
            <a:pPr lvl="1"/>
            <a:r>
              <a:rPr lang="en-GB" sz="3200" i="1" dirty="0" smtClean="0"/>
              <a:t>for </a:t>
            </a:r>
            <a:r>
              <a:rPr lang="en-GB" sz="3200" dirty="0" smtClean="0"/>
              <a:t>loop</a:t>
            </a:r>
          </a:p>
          <a:p>
            <a:pPr lvl="1"/>
            <a:r>
              <a:rPr lang="en-GB" sz="3200" i="1" dirty="0" smtClean="0"/>
              <a:t>while</a:t>
            </a:r>
            <a:r>
              <a:rPr lang="en-GB" sz="3200" dirty="0" smtClean="0"/>
              <a:t> loop</a:t>
            </a:r>
          </a:p>
          <a:p>
            <a:pPr lvl="1"/>
            <a:r>
              <a:rPr lang="en-GB" sz="3200" i="1" dirty="0" smtClean="0"/>
              <a:t>do-while </a:t>
            </a:r>
            <a:r>
              <a:rPr lang="en-GB" sz="3200" dirty="0" smtClean="0"/>
              <a:t>loop</a:t>
            </a: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168547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three loop constructs of Java repeat a set of statements as long as a specified condition remains true.</a:t>
            </a:r>
          </a:p>
          <a:p>
            <a:r>
              <a:rPr lang="en-GB" dirty="0"/>
              <a:t>This specified condition is generally referred to as a </a:t>
            </a:r>
            <a:r>
              <a:rPr lang="en-GB" i="1" dirty="0"/>
              <a:t>loop control</a:t>
            </a:r>
            <a:r>
              <a:rPr lang="en-GB" i="1" dirty="0" smtClean="0"/>
              <a:t>.</a:t>
            </a:r>
          </a:p>
          <a:p>
            <a:r>
              <a:rPr lang="en-GB" dirty="0"/>
              <a:t>For all three loop statements, a </a:t>
            </a:r>
            <a:r>
              <a:rPr lang="en-GB" i="1" dirty="0"/>
              <a:t>true</a:t>
            </a:r>
            <a:r>
              <a:rPr lang="en-GB" dirty="0"/>
              <a:t> condition is the one that returns </a:t>
            </a:r>
            <a:r>
              <a:rPr lang="en-GB" dirty="0" err="1"/>
              <a:t>boolean</a:t>
            </a:r>
            <a:r>
              <a:rPr lang="en-GB" dirty="0"/>
              <a:t> </a:t>
            </a:r>
            <a:r>
              <a:rPr lang="en-GB" i="1" dirty="0"/>
              <a:t>true</a:t>
            </a:r>
            <a:r>
              <a:rPr lang="en-GB" dirty="0"/>
              <a:t> value and the false condition is the one that returns </a:t>
            </a:r>
            <a:r>
              <a:rPr lang="en-GB" dirty="0" err="1"/>
              <a:t>boolean</a:t>
            </a:r>
            <a:r>
              <a:rPr lang="en-GB" dirty="0"/>
              <a:t> </a:t>
            </a:r>
            <a:r>
              <a:rPr lang="en-GB" i="1" dirty="0"/>
              <a:t>false</a:t>
            </a:r>
            <a:r>
              <a:rPr lang="en-GB" dirty="0"/>
              <a:t> value</a:t>
            </a:r>
            <a:r>
              <a:rPr lang="en-GB" dirty="0" smtClean="0"/>
              <a:t>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3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loop control, though, may be exercised either before entering into the loop or at the time of exiting from loop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1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Elements That Control A Loop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78830"/>
            <a:ext cx="8531225" cy="4870450"/>
          </a:xfrm>
        </p:spPr>
        <p:txBody>
          <a:bodyPr>
            <a:noAutofit/>
          </a:bodyPr>
          <a:lstStyle/>
          <a:p>
            <a:r>
              <a:rPr lang="en-GB" dirty="0" smtClean="0"/>
              <a:t>Every loop has its elements that control and govern its execution.</a:t>
            </a:r>
          </a:p>
          <a:p>
            <a:r>
              <a:rPr lang="en-GB" dirty="0" smtClean="0"/>
              <a:t>Generally, a loop has </a:t>
            </a:r>
            <a:r>
              <a:rPr lang="en-GB" i="1" dirty="0" smtClean="0"/>
              <a:t>four</a:t>
            </a:r>
            <a:r>
              <a:rPr lang="en-GB" dirty="0" smtClean="0"/>
              <a:t> elements that have different purposes: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Initialization Expression(s)</a:t>
            </a:r>
          </a:p>
          <a:p>
            <a:pPr marL="514350" indent="-514350">
              <a:buNone/>
            </a:pPr>
            <a:r>
              <a:rPr lang="en-GB" dirty="0" smtClean="0"/>
              <a:t>	Before entering in a loop, its control variable(s) must be initialized. The initialization of the control variable(s) takes place under </a:t>
            </a:r>
            <a:r>
              <a:rPr lang="en-GB" i="1" dirty="0" smtClean="0"/>
              <a:t>initialization expression(s)</a:t>
            </a:r>
            <a:r>
              <a:rPr lang="en-GB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993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08174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GB" sz="4000" dirty="0" smtClean="0"/>
              <a:t>Elements That Control A Loop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14400"/>
            <a:ext cx="8229600" cy="5181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dirty="0" smtClean="0"/>
              <a:t>	The </a:t>
            </a:r>
            <a:r>
              <a:rPr lang="en-GB" dirty="0"/>
              <a:t>initialization expression(s) give(s) the loop variable(s) their first value(s). The initialization expression(s) is </a:t>
            </a:r>
            <a:r>
              <a:rPr lang="en-GB" i="1" dirty="0"/>
              <a:t>executed only once,</a:t>
            </a:r>
            <a:r>
              <a:rPr lang="en-GB" dirty="0"/>
              <a:t> in the beginning of the loop.  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2. </a:t>
            </a:r>
            <a:r>
              <a:rPr lang="en-GB" dirty="0" smtClean="0"/>
              <a:t>Test </a:t>
            </a:r>
            <a:r>
              <a:rPr lang="en-GB" dirty="0" smtClean="0"/>
              <a:t>Expression</a:t>
            </a:r>
          </a:p>
          <a:p>
            <a:pPr>
              <a:buNone/>
            </a:pPr>
            <a:r>
              <a:rPr lang="en-GB" dirty="0" smtClean="0"/>
              <a:t>	 The </a:t>
            </a:r>
            <a:r>
              <a:rPr lang="en-GB" i="1" dirty="0" smtClean="0"/>
              <a:t>test expression </a:t>
            </a:r>
            <a:r>
              <a:rPr lang="en-GB" dirty="0" smtClean="0"/>
              <a:t>is an expression whose truth value    decides whether the </a:t>
            </a:r>
            <a:r>
              <a:rPr lang="en-GB" i="1" dirty="0" smtClean="0"/>
              <a:t>loop-body</a:t>
            </a:r>
            <a:r>
              <a:rPr lang="en-GB" dirty="0" smtClean="0"/>
              <a:t> will be executed or not. If the    </a:t>
            </a:r>
            <a:r>
              <a:rPr lang="en-GB" i="1" dirty="0" smtClean="0"/>
              <a:t>test expression</a:t>
            </a:r>
            <a:r>
              <a:rPr lang="en-GB" dirty="0" smtClean="0"/>
              <a:t> evaluates to </a:t>
            </a:r>
            <a:r>
              <a:rPr lang="en-GB" i="1" dirty="0" smtClean="0"/>
              <a:t>true</a:t>
            </a:r>
            <a:r>
              <a:rPr lang="en-GB" dirty="0" smtClean="0"/>
              <a:t> i.e. 1, the </a:t>
            </a:r>
            <a:r>
              <a:rPr lang="en-GB" i="1" dirty="0" smtClean="0"/>
              <a:t>loop-body</a:t>
            </a:r>
            <a:r>
              <a:rPr lang="en-GB" dirty="0" smtClean="0"/>
              <a:t> gets      executed, otherwise the loop is terminated.</a:t>
            </a:r>
          </a:p>
          <a:p>
            <a:pPr>
              <a:buNone/>
            </a:pPr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21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4000" dirty="0" smtClean="0"/>
              <a:t>Elements That Control A Loop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52736"/>
            <a:ext cx="8531225" cy="5310906"/>
          </a:xfrm>
        </p:spPr>
        <p:txBody>
          <a:bodyPr>
            <a:noAutofit/>
          </a:bodyPr>
          <a:lstStyle/>
          <a:p>
            <a:pPr marL="457200" indent="-457200">
              <a:buAutoNum type="arabicPeriod" startAt="3"/>
            </a:pPr>
            <a:r>
              <a:rPr lang="en-GB" dirty="0"/>
              <a:t>Update Expression</a:t>
            </a:r>
          </a:p>
          <a:p>
            <a:pPr marL="457200" indent="-457200">
              <a:buNone/>
            </a:pPr>
            <a:r>
              <a:rPr lang="en-GB" dirty="0"/>
              <a:t>	The update expression(s) change the value(s) of loop variable(s). The update expression(s) is executed; at the end of the loop after the </a:t>
            </a:r>
            <a:r>
              <a:rPr lang="en-GB" i="1" dirty="0"/>
              <a:t>loop-body</a:t>
            </a:r>
            <a:r>
              <a:rPr lang="en-GB" dirty="0"/>
              <a:t> is executed.</a:t>
            </a:r>
          </a:p>
          <a:p>
            <a:pPr marL="457200" indent="-457200">
              <a:buAutoNum type="arabicPeriod" startAt="4"/>
            </a:pPr>
            <a:r>
              <a:rPr lang="en-GB" dirty="0"/>
              <a:t>The Body-of-the-loop</a:t>
            </a:r>
          </a:p>
          <a:p>
            <a:pPr marL="457200" indent="-457200">
              <a:buNone/>
            </a:pPr>
            <a:r>
              <a:rPr lang="en-GB" dirty="0"/>
              <a:t>	The statements that are executed repeatedly (as long as the test-expression is </a:t>
            </a:r>
            <a:r>
              <a:rPr lang="en-GB" i="1" dirty="0"/>
              <a:t>true) </a:t>
            </a:r>
            <a:r>
              <a:rPr lang="en-GB" dirty="0"/>
              <a:t>form </a:t>
            </a:r>
            <a:r>
              <a:rPr lang="en-GB" i="1" dirty="0"/>
              <a:t>the body of the loop</a:t>
            </a:r>
            <a:r>
              <a:rPr lang="en-GB" i="1" dirty="0" smtClean="0"/>
              <a:t>.</a:t>
            </a:r>
            <a:endParaRPr lang="en-GB" dirty="0" smtClean="0"/>
          </a:p>
          <a:p>
            <a:pPr marL="457200" indent="-457200">
              <a:buAutoNum type="arabicPeriod" startAt="4"/>
            </a:pPr>
            <a:endParaRPr lang="en-GB" dirty="0" smtClean="0"/>
          </a:p>
          <a:p>
            <a:pPr marL="457200" indent="-457200">
              <a:buNone/>
            </a:pPr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437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That Control A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GB" dirty="0"/>
              <a:t>The body-of-the-loop (Contd..)</a:t>
            </a:r>
          </a:p>
          <a:p>
            <a:pPr marL="457200" indent="-457200">
              <a:buNone/>
            </a:pPr>
            <a:r>
              <a:rPr lang="en-GB" dirty="0"/>
              <a:t>	 In an </a:t>
            </a:r>
            <a:r>
              <a:rPr lang="en-GB" i="1" dirty="0"/>
              <a:t>entry-controlled </a:t>
            </a:r>
            <a:r>
              <a:rPr lang="en-GB" dirty="0"/>
              <a:t>loop, first the </a:t>
            </a:r>
            <a:r>
              <a:rPr lang="en-GB" i="1" dirty="0"/>
              <a:t>test-expression</a:t>
            </a:r>
            <a:r>
              <a:rPr lang="en-GB" dirty="0"/>
              <a:t> is evaluated and if it is true, the </a:t>
            </a:r>
            <a:r>
              <a:rPr lang="en-GB" i="1" dirty="0"/>
              <a:t>body-of-the-loop</a:t>
            </a:r>
            <a:r>
              <a:rPr lang="en-GB" dirty="0"/>
              <a:t> is executed; if the </a:t>
            </a:r>
            <a:r>
              <a:rPr lang="en-GB" i="1" dirty="0"/>
              <a:t>test-expression</a:t>
            </a:r>
            <a:r>
              <a:rPr lang="en-GB" dirty="0"/>
              <a:t> evaluates to be </a:t>
            </a:r>
            <a:r>
              <a:rPr lang="en-GB" dirty="0" smtClean="0"/>
              <a:t>false</a:t>
            </a:r>
            <a:r>
              <a:rPr lang="en-GB" dirty="0"/>
              <a:t>, the loop is </a:t>
            </a:r>
            <a:r>
              <a:rPr lang="en-GB" dirty="0" smtClean="0"/>
              <a:t>terminated.</a:t>
            </a:r>
          </a:p>
          <a:p>
            <a:pPr marL="457200" indent="-457200">
              <a:buNone/>
            </a:pPr>
            <a:r>
              <a:rPr lang="en-GB" dirty="0"/>
              <a:t>	</a:t>
            </a:r>
            <a:r>
              <a:rPr lang="en-GB" dirty="0" smtClean="0"/>
              <a:t>In </a:t>
            </a:r>
            <a:r>
              <a:rPr lang="en-GB" dirty="0"/>
              <a:t>an </a:t>
            </a:r>
            <a:r>
              <a:rPr lang="en-GB" i="1" dirty="0"/>
              <a:t>exit-controlled </a:t>
            </a:r>
            <a:r>
              <a:rPr lang="en-GB" dirty="0"/>
              <a:t>loop, the </a:t>
            </a:r>
            <a:r>
              <a:rPr lang="en-GB" i="1" dirty="0"/>
              <a:t>body-of-the-loop</a:t>
            </a:r>
            <a:r>
              <a:rPr lang="en-GB" dirty="0"/>
              <a:t> is executed first and then the </a:t>
            </a:r>
            <a:r>
              <a:rPr lang="en-GB" i="1" dirty="0"/>
              <a:t>test-expression</a:t>
            </a:r>
            <a:r>
              <a:rPr lang="en-GB" dirty="0"/>
              <a:t> is evaluated. If it evaluates to be false, the loop is terminated, otherwise repeated.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4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46720"/>
            <a:ext cx="8531225" cy="762000"/>
          </a:xfrm>
        </p:spPr>
        <p:txBody>
          <a:bodyPr>
            <a:normAutofit/>
          </a:bodyPr>
          <a:lstStyle/>
          <a:p>
            <a:r>
              <a:rPr lang="en-GB" sz="3600" dirty="0" smtClean="0"/>
              <a:t>The for Loop – Fixed Number of Iterations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80728"/>
            <a:ext cx="8531225" cy="4870450"/>
          </a:xfrm>
        </p:spPr>
        <p:txBody>
          <a:bodyPr>
            <a:noAutofit/>
          </a:bodyPr>
          <a:lstStyle/>
          <a:p>
            <a:r>
              <a:rPr lang="en-GB" dirty="0" smtClean="0"/>
              <a:t>The </a:t>
            </a:r>
            <a:r>
              <a:rPr lang="en-GB" b="1" dirty="0" smtClean="0"/>
              <a:t>for </a:t>
            </a:r>
            <a:r>
              <a:rPr lang="en-GB" dirty="0" smtClean="0"/>
              <a:t>loop is the easiest to understand of the Java loops. </a:t>
            </a:r>
          </a:p>
          <a:p>
            <a:r>
              <a:rPr lang="en-GB" dirty="0" smtClean="0"/>
              <a:t>All its loop-control elements are gathered in one place (on the top of the loop), while in the other loop construction of Java, they (top-control elements) are scattered about the program.</a:t>
            </a:r>
          </a:p>
          <a:p>
            <a:r>
              <a:rPr lang="en-GB" dirty="0" smtClean="0"/>
              <a:t>The general form of the </a:t>
            </a:r>
            <a:r>
              <a:rPr lang="en-GB" b="1" dirty="0" smtClean="0"/>
              <a:t>for</a:t>
            </a:r>
            <a:r>
              <a:rPr lang="en-GB" dirty="0" smtClean="0"/>
              <a:t> loop statement is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</a:t>
            </a:r>
            <a:r>
              <a:rPr lang="en-GB" sz="3000" dirty="0" smtClean="0">
                <a:solidFill>
                  <a:srgbClr val="0070C0"/>
                </a:solidFill>
              </a:rPr>
              <a:t>for(initialization expression(s); test-expression; update expression(s))</a:t>
            </a:r>
          </a:p>
          <a:p>
            <a:pPr>
              <a:buNone/>
            </a:pPr>
            <a:r>
              <a:rPr lang="en-GB" sz="3000" dirty="0" smtClean="0">
                <a:solidFill>
                  <a:srgbClr val="0070C0"/>
                </a:solidFill>
              </a:rPr>
              <a:t>		body-of-the-loop;</a:t>
            </a:r>
          </a:p>
          <a:p>
            <a:pPr>
              <a:buNone/>
            </a:pP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639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for Loop -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public class Number{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public void </a:t>
            </a:r>
            <a:r>
              <a:rPr lang="en-GB" sz="2000" dirty="0" err="1" smtClean="0">
                <a:solidFill>
                  <a:srgbClr val="0070C0"/>
                </a:solidFill>
              </a:rPr>
              <a:t>printNos</a:t>
            </a:r>
            <a:r>
              <a:rPr lang="en-GB" sz="2000" dirty="0" smtClean="0">
                <a:solidFill>
                  <a:srgbClr val="0070C0"/>
                </a:solidFill>
              </a:rPr>
              <a:t>(){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int </a:t>
            </a:r>
            <a:r>
              <a:rPr lang="en-GB" sz="2000" dirty="0" err="1" smtClean="0">
                <a:solidFill>
                  <a:srgbClr val="0070C0"/>
                </a:solidFill>
              </a:rPr>
              <a:t>i</a:t>
            </a:r>
            <a:r>
              <a:rPr lang="en-GB" sz="2000" dirty="0" smtClean="0">
                <a:solidFill>
                  <a:srgbClr val="0070C0"/>
                </a:solidFill>
              </a:rPr>
              <a:t>=0;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for(</a:t>
            </a:r>
            <a:r>
              <a:rPr lang="en-GB" sz="2000" dirty="0" err="1" smtClean="0">
                <a:solidFill>
                  <a:srgbClr val="0070C0"/>
                </a:solidFill>
              </a:rPr>
              <a:t>i</a:t>
            </a:r>
            <a:r>
              <a:rPr lang="en-GB" sz="2000" dirty="0" smtClean="0">
                <a:solidFill>
                  <a:srgbClr val="0070C0"/>
                </a:solidFill>
              </a:rPr>
              <a:t>=1 ; </a:t>
            </a:r>
            <a:r>
              <a:rPr lang="en-GB" sz="2000" dirty="0" err="1" smtClean="0">
                <a:solidFill>
                  <a:srgbClr val="0070C0"/>
                </a:solidFill>
              </a:rPr>
              <a:t>i</a:t>
            </a:r>
            <a:r>
              <a:rPr lang="en-GB" sz="2000" dirty="0" smtClean="0">
                <a:solidFill>
                  <a:srgbClr val="0070C0"/>
                </a:solidFill>
              </a:rPr>
              <a:t>&lt;=10 ; ++</a:t>
            </a:r>
            <a:r>
              <a:rPr lang="en-GB" sz="2000" dirty="0" err="1" smtClean="0">
                <a:solidFill>
                  <a:srgbClr val="0070C0"/>
                </a:solidFill>
              </a:rPr>
              <a:t>i</a:t>
            </a:r>
            <a:r>
              <a:rPr lang="en-GB" sz="2000" dirty="0" smtClean="0">
                <a:solidFill>
                  <a:srgbClr val="0070C0"/>
                </a:solidFill>
              </a:rPr>
              <a:t>){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	</a:t>
            </a:r>
            <a:r>
              <a:rPr lang="en-GB" sz="2000" dirty="0" err="1" smtClean="0">
                <a:solidFill>
                  <a:srgbClr val="0070C0"/>
                </a:solidFill>
              </a:rPr>
              <a:t>System.out.println</a:t>
            </a:r>
            <a:r>
              <a:rPr lang="en-GB" sz="2000" dirty="0" smtClean="0">
                <a:solidFill>
                  <a:srgbClr val="0070C0"/>
                </a:solidFill>
              </a:rPr>
              <a:t>( </a:t>
            </a:r>
            <a:r>
              <a:rPr lang="en-GB" sz="2000" dirty="0" err="1" smtClean="0">
                <a:solidFill>
                  <a:srgbClr val="0070C0"/>
                </a:solidFill>
              </a:rPr>
              <a:t>i</a:t>
            </a:r>
            <a:r>
              <a:rPr lang="en-GB" sz="2000" dirty="0" smtClean="0">
                <a:solidFill>
                  <a:srgbClr val="0070C0"/>
                </a:solidFill>
              </a:rPr>
              <a:t> );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}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}</a:t>
            </a:r>
          </a:p>
          <a:p>
            <a:pPr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}</a:t>
            </a:r>
          </a:p>
          <a:p>
            <a:r>
              <a:rPr lang="en-GB" sz="2000" dirty="0" smtClean="0"/>
              <a:t>The following lines explain the working of the above given </a:t>
            </a:r>
            <a:r>
              <a:rPr lang="en-GB" sz="2000" b="1" dirty="0" smtClean="0"/>
              <a:t>for</a:t>
            </a:r>
            <a:r>
              <a:rPr lang="en-GB" sz="2000" dirty="0" smtClean="0"/>
              <a:t> loop.</a:t>
            </a:r>
          </a:p>
          <a:p>
            <a:pPr>
              <a:buNone/>
            </a:pPr>
            <a:r>
              <a:rPr lang="en-GB" sz="2400" dirty="0" smtClean="0"/>
              <a:t>	for( </a:t>
            </a:r>
            <a:r>
              <a:rPr lang="en-GB" sz="2400" dirty="0" err="1" smtClean="0"/>
              <a:t>i</a:t>
            </a:r>
            <a:r>
              <a:rPr lang="en-GB" sz="2400" dirty="0" smtClean="0"/>
              <a:t> =1 ;		</a:t>
            </a:r>
            <a:r>
              <a:rPr lang="en-GB" sz="2400" dirty="0" err="1" smtClean="0"/>
              <a:t>i</a:t>
            </a:r>
            <a:r>
              <a:rPr lang="en-GB" sz="2400" dirty="0" smtClean="0"/>
              <a:t> &lt;= 10 ;		++</a:t>
            </a:r>
            <a:r>
              <a:rPr lang="en-GB" sz="2400" dirty="0" err="1" smtClean="0"/>
              <a:t>i</a:t>
            </a:r>
            <a:r>
              <a:rPr lang="en-GB" sz="2400" dirty="0" smtClean="0"/>
              <a:t>)</a:t>
            </a:r>
          </a:p>
          <a:p>
            <a:pPr>
              <a:buNone/>
            </a:pPr>
            <a:r>
              <a:rPr lang="en-GB" sz="2400" dirty="0" smtClean="0"/>
              <a:t>		   { body-of-the-loop;}</a:t>
            </a:r>
            <a:endParaRPr lang="en-GB" sz="2400" dirty="0"/>
          </a:p>
        </p:txBody>
      </p:sp>
      <p:sp>
        <p:nvSpPr>
          <p:cNvPr id="4" name="Right Brace 3"/>
          <p:cNvSpPr/>
          <p:nvPr/>
        </p:nvSpPr>
        <p:spPr>
          <a:xfrm>
            <a:off x="4953000" y="2819400"/>
            <a:ext cx="228600" cy="914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486400" y="2209800"/>
            <a:ext cx="2590800" cy="213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 smtClean="0">
                <a:solidFill>
                  <a:schemeClr val="tx1"/>
                </a:solidFill>
              </a:rPr>
              <a:t>Here, the loop body contains just a single statement. So, here we could have omitted the curly braces of </a:t>
            </a:r>
            <a:r>
              <a:rPr lang="en-GB" i="1" dirty="0" smtClean="0">
                <a:solidFill>
                  <a:schemeClr val="tx1"/>
                </a:solidFill>
              </a:rPr>
              <a:t>for</a:t>
            </a:r>
            <a:r>
              <a:rPr lang="en-GB" dirty="0" smtClean="0">
                <a:solidFill>
                  <a:schemeClr val="tx1"/>
                </a:solidFill>
              </a:rPr>
              <a:t> loop.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5791200"/>
            <a:ext cx="24384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Initialization expression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0" y="58674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Test expression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60032" y="5373216"/>
            <a:ext cx="2133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Update expression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187624" y="5157192"/>
            <a:ext cx="216024" cy="7102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275856" y="5157192"/>
            <a:ext cx="1080120" cy="7102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4716016" y="5229200"/>
            <a:ext cx="1210816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9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Variable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smtClean="0"/>
              <a:t>In Java, a variable can be declared anywhere, provided it is declared before it is used.</a:t>
            </a:r>
          </a:p>
          <a:p>
            <a:r>
              <a:rPr lang="en-GB" i="1" dirty="0" smtClean="0"/>
              <a:t>Variable scope</a:t>
            </a:r>
            <a:r>
              <a:rPr lang="en-GB" dirty="0" smtClean="0"/>
              <a:t> determines the </a:t>
            </a:r>
            <a:r>
              <a:rPr lang="en-GB" b="1" dirty="0" smtClean="0"/>
              <a:t>part</a:t>
            </a:r>
            <a:r>
              <a:rPr lang="en-GB" dirty="0" smtClean="0"/>
              <a:t> of the program within which a variable is accessible.</a:t>
            </a:r>
          </a:p>
          <a:p>
            <a:r>
              <a:rPr lang="en-GB" dirty="0" smtClean="0"/>
              <a:t>A variable scope is the block of code (i.e. the part of code enclosed within { }) where the variable has been declared.</a:t>
            </a:r>
          </a:p>
          <a:p>
            <a:r>
              <a:rPr lang="en-GB" b="1" dirty="0" smtClean="0">
                <a:solidFill>
                  <a:schemeClr val="accent2">
                    <a:lumMod val="75000"/>
                  </a:schemeClr>
                </a:solidFill>
              </a:rPr>
              <a:t>Once a variable is defined, it exists from that point on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 – </a:t>
            </a:r>
            <a:r>
              <a:rPr lang="en-GB" b="1" dirty="0" smtClean="0">
                <a:solidFill>
                  <a:schemeClr val="accent2">
                    <a:lumMod val="75000"/>
                  </a:schemeClr>
                </a:solidFill>
              </a:rPr>
              <a:t>but only within the block where it is defined.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07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  <p:pic>
        <p:nvPicPr>
          <p:cNvPr id="3" name="Picture 2" descr="any questions 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05" y="1317444"/>
            <a:ext cx="7379803" cy="49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while Loop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4876800"/>
          </a:xfrm>
        </p:spPr>
        <p:txBody>
          <a:bodyPr>
            <a:noAutofit/>
          </a:bodyPr>
          <a:lstStyle/>
          <a:p>
            <a:r>
              <a:rPr lang="en-GB" dirty="0" smtClean="0"/>
              <a:t>The second loop available in Java is the </a:t>
            </a:r>
            <a:r>
              <a:rPr lang="en-GB" b="1" dirty="0" smtClean="0"/>
              <a:t>while</a:t>
            </a:r>
            <a:r>
              <a:rPr lang="en-GB" dirty="0" smtClean="0"/>
              <a:t> loop.</a:t>
            </a:r>
          </a:p>
          <a:p>
            <a:r>
              <a:rPr lang="en-GB" dirty="0" smtClean="0"/>
              <a:t>The syntax of a </a:t>
            </a:r>
            <a:r>
              <a:rPr lang="en-GB" b="1" dirty="0" smtClean="0"/>
              <a:t>while </a:t>
            </a:r>
            <a:r>
              <a:rPr lang="en-GB" dirty="0" smtClean="0"/>
              <a:t>loop is</a:t>
            </a:r>
          </a:p>
          <a:p>
            <a:pPr>
              <a:buNone/>
            </a:pPr>
            <a:r>
              <a:rPr lang="en-GB" dirty="0" smtClean="0"/>
              <a:t>	</a:t>
            </a:r>
            <a:r>
              <a:rPr lang="en-GB" i="1" dirty="0" smtClean="0">
                <a:solidFill>
                  <a:srgbClr val="0070C0"/>
                </a:solidFill>
              </a:rPr>
              <a:t>while(expression)</a:t>
            </a:r>
          </a:p>
          <a:p>
            <a:pPr>
              <a:buNone/>
            </a:pPr>
            <a:r>
              <a:rPr lang="en-GB" i="1" dirty="0" smtClean="0">
                <a:solidFill>
                  <a:srgbClr val="0070C0"/>
                </a:solidFill>
              </a:rPr>
              <a:t>		loop-body</a:t>
            </a:r>
          </a:p>
          <a:p>
            <a:pPr>
              <a:buNone/>
            </a:pPr>
            <a:r>
              <a:rPr lang="en-GB" dirty="0" smtClean="0"/>
              <a:t>	where the </a:t>
            </a:r>
            <a:r>
              <a:rPr lang="en-GB" i="1" dirty="0" smtClean="0"/>
              <a:t>loop-body</a:t>
            </a:r>
            <a:r>
              <a:rPr lang="en-GB" dirty="0" smtClean="0"/>
              <a:t> may contain a single statement, a compound statement or an empty statement.</a:t>
            </a:r>
          </a:p>
          <a:p>
            <a:r>
              <a:rPr lang="en-GB" dirty="0" smtClean="0"/>
              <a:t>The loop iterates </a:t>
            </a:r>
            <a:r>
              <a:rPr lang="en-GB" i="1" dirty="0" smtClean="0"/>
              <a:t>while</a:t>
            </a:r>
            <a:r>
              <a:rPr lang="en-GB" dirty="0" smtClean="0"/>
              <a:t> the expression evaluates to true</a:t>
            </a:r>
            <a:r>
              <a:rPr lang="en-GB" dirty="0" smtClean="0"/>
              <a:t>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509027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the </a:t>
            </a:r>
            <a:r>
              <a:rPr lang="en-GB" i="1" dirty="0"/>
              <a:t>expression </a:t>
            </a:r>
            <a:r>
              <a:rPr lang="en-GB" dirty="0"/>
              <a:t> becomes </a:t>
            </a:r>
            <a:r>
              <a:rPr lang="en-GB" i="1" dirty="0"/>
              <a:t>false, </a:t>
            </a:r>
            <a:r>
              <a:rPr lang="en-GB" dirty="0"/>
              <a:t>the program control passes to the line after the loop-body code.</a:t>
            </a:r>
          </a:p>
          <a:p>
            <a:r>
              <a:rPr lang="en-GB" dirty="0"/>
              <a:t>In a </a:t>
            </a:r>
            <a:r>
              <a:rPr lang="en-GB" b="1" dirty="0"/>
              <a:t>while </a:t>
            </a:r>
            <a:r>
              <a:rPr lang="en-GB" dirty="0"/>
              <a:t>loop, a loop control variable should be initialized before the loop begins.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630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while Loop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3000" i="1" dirty="0" smtClean="0"/>
              <a:t>The loop variable should be updated inside the body-of-the-while.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0070C0"/>
                </a:solidFill>
              </a:rPr>
              <a:t>public class Number{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public void factorial(int num){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long 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=0, fact=1;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 = num;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while(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!=0){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    fact = fact * 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    -- 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}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</a:t>
            </a:r>
            <a:r>
              <a:rPr lang="en-GB" sz="2400" dirty="0" err="1" smtClean="0">
                <a:solidFill>
                  <a:srgbClr val="0070C0"/>
                </a:solidFill>
              </a:rPr>
              <a:t>System.out.println</a:t>
            </a:r>
            <a:r>
              <a:rPr lang="en-GB" sz="2400" dirty="0" smtClean="0">
                <a:solidFill>
                  <a:srgbClr val="0070C0"/>
                </a:solidFill>
              </a:rPr>
              <a:t>(“The factorial of ”+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+”is ”+fact);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}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</a:t>
            </a:r>
          </a:p>
          <a:p>
            <a:endParaRPr lang="en-GB" sz="2400" i="1" dirty="0"/>
          </a:p>
        </p:txBody>
      </p:sp>
      <p:sp>
        <p:nvSpPr>
          <p:cNvPr id="4" name="Rectangle 3"/>
          <p:cNvSpPr/>
          <p:nvPr/>
        </p:nvSpPr>
        <p:spPr>
          <a:xfrm>
            <a:off x="6019800" y="2667000"/>
            <a:ext cx="1905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Test condition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53000" y="4191000"/>
            <a:ext cx="39624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chemeClr val="tx1"/>
                </a:solidFill>
              </a:rPr>
              <a:t>Updation</a:t>
            </a:r>
            <a:r>
              <a:rPr lang="en-GB" dirty="0" smtClean="0">
                <a:solidFill>
                  <a:schemeClr val="tx1"/>
                </a:solidFill>
              </a:rPr>
              <a:t> of loop control variable within loop body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411760" y="2895600"/>
            <a:ext cx="3912840" cy="533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2123728" y="4293096"/>
            <a:ext cx="2829272" cy="720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263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do-while Loop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smtClean="0"/>
              <a:t>Unlike the </a:t>
            </a:r>
            <a:r>
              <a:rPr lang="en-GB" b="1" dirty="0" smtClean="0"/>
              <a:t>for</a:t>
            </a:r>
            <a:r>
              <a:rPr lang="en-GB" dirty="0" smtClean="0"/>
              <a:t> and </a:t>
            </a:r>
            <a:r>
              <a:rPr lang="en-GB" b="1" dirty="0" smtClean="0"/>
              <a:t>while </a:t>
            </a:r>
            <a:r>
              <a:rPr lang="en-GB" dirty="0" smtClean="0"/>
              <a:t>loops, the </a:t>
            </a:r>
            <a:r>
              <a:rPr lang="en-GB" b="1" dirty="0" smtClean="0"/>
              <a:t>do-while</a:t>
            </a:r>
            <a:r>
              <a:rPr lang="en-GB" dirty="0" smtClean="0"/>
              <a:t> evaluates its </a:t>
            </a:r>
            <a:r>
              <a:rPr lang="en-GB" i="1" dirty="0" smtClean="0"/>
              <a:t>test-expression </a:t>
            </a:r>
            <a:r>
              <a:rPr lang="en-GB" dirty="0" smtClean="0"/>
              <a:t>at the bottom of the loop after executing its loop-body statements.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This means that a </a:t>
            </a:r>
            <a:r>
              <a:rPr lang="en-GB" b="1" dirty="0" smtClean="0">
                <a:solidFill>
                  <a:schemeClr val="accent2">
                    <a:lumMod val="75000"/>
                  </a:schemeClr>
                </a:solidFill>
              </a:rPr>
              <a:t>do-while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 loop always executes at least once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en-GB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02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do-while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syntax of the </a:t>
            </a:r>
            <a:r>
              <a:rPr lang="en-GB" b="1" dirty="0"/>
              <a:t>do-while</a:t>
            </a:r>
            <a:r>
              <a:rPr lang="en-GB" dirty="0"/>
              <a:t> loop is: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>
                <a:solidFill>
                  <a:srgbClr val="0070C0"/>
                </a:solidFill>
              </a:rPr>
              <a:t>do{</a:t>
            </a:r>
          </a:p>
          <a:p>
            <a:pPr>
              <a:buNone/>
            </a:pPr>
            <a:r>
              <a:rPr lang="en-GB" dirty="0">
                <a:solidFill>
                  <a:srgbClr val="0070C0"/>
                </a:solidFill>
              </a:rPr>
              <a:t>		statement(s);</a:t>
            </a:r>
          </a:p>
          <a:p>
            <a:pPr>
              <a:buNone/>
            </a:pPr>
            <a:r>
              <a:rPr lang="en-GB" dirty="0">
                <a:solidFill>
                  <a:srgbClr val="0070C0"/>
                </a:solidFill>
              </a:rPr>
              <a:t>	}</a:t>
            </a:r>
          </a:p>
          <a:p>
            <a:pPr>
              <a:buNone/>
            </a:pPr>
            <a:r>
              <a:rPr lang="en-GB" dirty="0">
                <a:solidFill>
                  <a:srgbClr val="0070C0"/>
                </a:solidFill>
              </a:rPr>
              <a:t>	while(test-expression);</a:t>
            </a:r>
          </a:p>
          <a:p>
            <a:r>
              <a:rPr lang="en-GB" dirty="0"/>
              <a:t>The braces { } are not necessary when the loop-body contains a single statement.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490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do-while Loop -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23889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char </a:t>
            </a:r>
            <a:r>
              <a:rPr lang="en-GB" sz="2400" dirty="0" err="1" smtClean="0">
                <a:solidFill>
                  <a:srgbClr val="0070C0"/>
                </a:solidFill>
              </a:rPr>
              <a:t>ch</a:t>
            </a:r>
            <a:r>
              <a:rPr lang="en-GB" sz="2400" dirty="0" smtClean="0">
                <a:solidFill>
                  <a:srgbClr val="0070C0"/>
                </a:solidFill>
              </a:rPr>
              <a:t> = ‘A’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do{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</a:t>
            </a:r>
            <a:r>
              <a:rPr lang="en-GB" sz="2400" dirty="0" err="1" smtClean="0">
                <a:solidFill>
                  <a:srgbClr val="0070C0"/>
                </a:solidFill>
              </a:rPr>
              <a:t>System.out.println</a:t>
            </a:r>
            <a:r>
              <a:rPr lang="en-GB" sz="2400" dirty="0" smtClean="0">
                <a:solidFill>
                  <a:srgbClr val="0070C0"/>
                </a:solidFill>
              </a:rPr>
              <a:t>(</a:t>
            </a:r>
            <a:r>
              <a:rPr lang="en-GB" sz="2400" dirty="0" err="1" smtClean="0">
                <a:solidFill>
                  <a:srgbClr val="0070C0"/>
                </a:solidFill>
              </a:rPr>
              <a:t>ch</a:t>
            </a:r>
            <a:r>
              <a:rPr lang="en-GB" sz="2400" dirty="0" smtClean="0">
                <a:solidFill>
                  <a:srgbClr val="0070C0"/>
                </a:solidFill>
              </a:rPr>
              <a:t>);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</a:t>
            </a:r>
            <a:r>
              <a:rPr lang="en-GB" sz="2400" dirty="0" err="1" smtClean="0">
                <a:solidFill>
                  <a:srgbClr val="0070C0"/>
                </a:solidFill>
              </a:rPr>
              <a:t>ch</a:t>
            </a:r>
            <a:r>
              <a:rPr lang="en-GB" sz="2400" dirty="0" smtClean="0">
                <a:solidFill>
                  <a:srgbClr val="0070C0"/>
                </a:solidFill>
              </a:rPr>
              <a:t>++;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 while(</a:t>
            </a:r>
            <a:r>
              <a:rPr lang="en-GB" sz="2400" dirty="0" err="1" smtClean="0">
                <a:solidFill>
                  <a:srgbClr val="0070C0"/>
                </a:solidFill>
              </a:rPr>
              <a:t>ch</a:t>
            </a:r>
            <a:r>
              <a:rPr lang="en-GB" sz="2400" dirty="0" smtClean="0">
                <a:solidFill>
                  <a:srgbClr val="0070C0"/>
                </a:solidFill>
              </a:rPr>
              <a:t> &lt;=‘z’)</a:t>
            </a:r>
          </a:p>
          <a:p>
            <a:r>
              <a:rPr lang="en-GB" sz="3500" dirty="0" smtClean="0"/>
              <a:t>The above code prints characters from ‘A’ to ‘Z’</a:t>
            </a:r>
          </a:p>
          <a:p>
            <a:r>
              <a:rPr lang="en-GB" sz="3500" dirty="0" smtClean="0"/>
              <a:t>The most common use of the </a:t>
            </a:r>
            <a:r>
              <a:rPr lang="en-GB" sz="3500" b="1" dirty="0" smtClean="0"/>
              <a:t>do-while</a:t>
            </a:r>
            <a:r>
              <a:rPr lang="en-GB" sz="3500" dirty="0" smtClean="0"/>
              <a:t> loop is in the menu selection routine, where the menu is flashed at least once.</a:t>
            </a:r>
          </a:p>
          <a:p>
            <a:r>
              <a:rPr lang="en-GB" sz="3500" dirty="0" smtClean="0"/>
              <a:t>Then depending upon the user’s response it is either repeated or terminated.</a:t>
            </a:r>
            <a:endParaRPr lang="en-GB" sz="3500" dirty="0"/>
          </a:p>
        </p:txBody>
      </p:sp>
    </p:spTree>
    <p:extLst>
      <p:ext uri="{BB962C8B-B14F-4D97-AF65-F5344CB8AC3E}">
        <p14:creationId xmlns:p14="http://schemas.microsoft.com/office/powerpoint/2010/main" val="82185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Nested Loops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678738" cy="5310906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A loop may contain another loop in its body.</a:t>
            </a:r>
          </a:p>
          <a:p>
            <a:r>
              <a:rPr lang="en-GB" dirty="0" smtClean="0"/>
              <a:t>This form of a loop is called </a:t>
            </a:r>
            <a:r>
              <a:rPr lang="en-GB" i="1" dirty="0" smtClean="0"/>
              <a:t>nested loop.</a:t>
            </a:r>
          </a:p>
          <a:p>
            <a:r>
              <a:rPr lang="en-GB" dirty="0" smtClean="0"/>
              <a:t>But in a nested loop, the inner loop must terminate before the outer loop.</a:t>
            </a:r>
          </a:p>
          <a:p>
            <a:r>
              <a:rPr lang="en-GB" dirty="0" smtClean="0"/>
              <a:t>Example,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0070C0"/>
                </a:solidFill>
              </a:rPr>
              <a:t>for( 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=1; 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&lt;5; ++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</a:t>
            </a:r>
            <a:r>
              <a:rPr lang="en-GB" sz="2400" dirty="0" smtClean="0">
                <a:solidFill>
                  <a:srgbClr val="0070C0"/>
                </a:solidFill>
              </a:rPr>
              <a:t>  </a:t>
            </a:r>
            <a:r>
              <a:rPr lang="en-GB" sz="2400" dirty="0" err="1" smtClean="0">
                <a:solidFill>
                  <a:srgbClr val="0070C0"/>
                </a:solidFill>
              </a:rPr>
              <a:t>System.out.println</a:t>
            </a:r>
            <a:r>
              <a:rPr lang="en-GB" sz="2400" dirty="0" smtClean="0">
                <a:solidFill>
                  <a:srgbClr val="0070C0"/>
                </a:solidFill>
              </a:rPr>
              <a:t>();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</a:t>
            </a:r>
            <a:r>
              <a:rPr lang="en-GB" sz="2400" dirty="0" smtClean="0">
                <a:solidFill>
                  <a:srgbClr val="0070C0"/>
                </a:solidFill>
              </a:rPr>
              <a:t>  for(j=1</a:t>
            </a:r>
            <a:r>
              <a:rPr lang="en-GB" sz="2400" dirty="0" smtClean="0">
                <a:solidFill>
                  <a:srgbClr val="0070C0"/>
                </a:solidFill>
              </a:rPr>
              <a:t>; j&lt;=</a:t>
            </a:r>
            <a:r>
              <a:rPr lang="en-GB" sz="2400" dirty="0" err="1" smtClean="0">
                <a:solidFill>
                  <a:srgbClr val="0070C0"/>
                </a:solidFill>
              </a:rPr>
              <a:t>i</a:t>
            </a:r>
            <a:r>
              <a:rPr lang="en-GB" sz="2400" dirty="0" smtClean="0">
                <a:solidFill>
                  <a:srgbClr val="0070C0"/>
                </a:solidFill>
              </a:rPr>
              <a:t>; ++j){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    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en-GB" sz="2400" dirty="0" err="1" smtClean="0">
                <a:solidFill>
                  <a:srgbClr val="0070C0"/>
                </a:solidFill>
              </a:rPr>
              <a:t>System.out.print</a:t>
            </a:r>
            <a:r>
              <a:rPr lang="en-GB" sz="2400" dirty="0" smtClean="0">
                <a:solidFill>
                  <a:srgbClr val="0070C0"/>
                </a:solidFill>
              </a:rPr>
              <a:t>(“*”);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</a:t>
            </a:r>
            <a:r>
              <a:rPr lang="en-GB" sz="2400" dirty="0" smtClean="0">
                <a:solidFill>
                  <a:srgbClr val="0070C0"/>
                </a:solidFill>
              </a:rPr>
              <a:t>  }</a:t>
            </a:r>
            <a:endParaRPr lang="en-GB" sz="24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3810000"/>
            <a:ext cx="13716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*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* *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* * *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* * * *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570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Jump Statements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jump statements unconditionally transfer program control within a function.</a:t>
            </a:r>
          </a:p>
          <a:p>
            <a:r>
              <a:rPr lang="en-GB" dirty="0" smtClean="0"/>
              <a:t>Java has three statements that perform an unconditional branch:</a:t>
            </a:r>
          </a:p>
          <a:p>
            <a:pPr lvl="1"/>
            <a:r>
              <a:rPr lang="en-GB" sz="3200" b="1" dirty="0" smtClean="0"/>
              <a:t>return</a:t>
            </a:r>
          </a:p>
          <a:p>
            <a:pPr lvl="1"/>
            <a:r>
              <a:rPr lang="en-GB" sz="3200" b="1" dirty="0" smtClean="0"/>
              <a:t>break</a:t>
            </a:r>
          </a:p>
          <a:p>
            <a:pPr lvl="1"/>
            <a:r>
              <a:rPr lang="en-GB" sz="3200" b="1" dirty="0" smtClean="0"/>
              <a:t>continue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279615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any questions 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8759958" cy="492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2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85728"/>
            <a:ext cx="8858250" cy="762000"/>
          </a:xfrm>
        </p:spPr>
        <p:txBody>
          <a:bodyPr/>
          <a:lstStyle/>
          <a:p>
            <a:r>
              <a:rPr lang="en-US" dirty="0" smtClean="0"/>
              <a:t>Summary: Week </a:t>
            </a:r>
            <a:r>
              <a:rPr lang="en-US" dirty="0" smtClean="0"/>
              <a:t>7 </a:t>
            </a:r>
            <a:r>
              <a:rPr lang="en-US" dirty="0" smtClean="0"/>
              <a:t>Lecture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5750" y="1052736"/>
            <a:ext cx="8531225" cy="5357834"/>
          </a:xfrm>
        </p:spPr>
        <p:txBody>
          <a:bodyPr/>
          <a:lstStyle/>
          <a:p>
            <a:r>
              <a:rPr lang="en-US" dirty="0"/>
              <a:t>Introduction to Iterations</a:t>
            </a:r>
          </a:p>
          <a:p>
            <a:r>
              <a:rPr lang="en-GB" dirty="0"/>
              <a:t>Elements That Control A Loop </a:t>
            </a:r>
          </a:p>
          <a:p>
            <a:r>
              <a:rPr lang="en-GB" dirty="0"/>
              <a:t>The for Loop</a:t>
            </a:r>
            <a:endParaRPr lang="en-US" dirty="0"/>
          </a:p>
          <a:p>
            <a:r>
              <a:rPr lang="en-US" dirty="0"/>
              <a:t>The while Loop</a:t>
            </a:r>
          </a:p>
          <a:p>
            <a:r>
              <a:rPr lang="en-GB" dirty="0"/>
              <a:t>The do-while Loop</a:t>
            </a:r>
            <a:endParaRPr lang="en-US" dirty="0"/>
          </a:p>
          <a:p>
            <a:r>
              <a:rPr lang="en-GB" dirty="0"/>
              <a:t>Nested Loop</a:t>
            </a:r>
          </a:p>
          <a:p>
            <a:r>
              <a:rPr lang="en-GB" dirty="0"/>
              <a:t>Jump Statements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What to Expect: Week </a:t>
            </a:r>
            <a:r>
              <a:rPr lang="en-US" dirty="0" smtClean="0"/>
              <a:t>7 </a:t>
            </a:r>
            <a:r>
              <a:rPr lang="en-US" dirty="0" smtClean="0"/>
              <a:t>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643562"/>
          </a:xfrm>
        </p:spPr>
        <p:txBody>
          <a:bodyPr/>
          <a:lstStyle/>
          <a:p>
            <a:pPr lvl="0"/>
            <a:r>
              <a:rPr lang="en-GB" dirty="0" smtClean="0"/>
              <a:t>Discussion </a:t>
            </a:r>
            <a:r>
              <a:rPr lang="en-GB" dirty="0"/>
              <a:t>about the topics covered in the lecture.</a:t>
            </a:r>
            <a:endParaRPr lang="en-US" dirty="0"/>
          </a:p>
          <a:p>
            <a:r>
              <a:rPr lang="en-GB" dirty="0"/>
              <a:t>Provide practical questions based on </a:t>
            </a:r>
            <a:r>
              <a:rPr lang="en-US" dirty="0" smtClean="0"/>
              <a:t>constructor so it is vital that you go through the lecture slide!!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556792"/>
            <a:ext cx="4327525" cy="397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12748</TotalTime>
  <Words>853</Words>
  <Application>Microsoft Macintosh PowerPoint</Application>
  <PresentationFormat>On-screen Show (4:3)</PresentationFormat>
  <Paragraphs>167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SimSun</vt:lpstr>
      <vt:lpstr>Times New Roman</vt:lpstr>
      <vt:lpstr>宋体</vt:lpstr>
      <vt:lpstr>Office Theme</vt:lpstr>
      <vt:lpstr>Iterations</vt:lpstr>
      <vt:lpstr>Agenda</vt:lpstr>
      <vt:lpstr>Review of Previous Week</vt:lpstr>
      <vt:lpstr>Let’s get started with Lecture 7</vt:lpstr>
      <vt:lpstr>Introduction</vt:lpstr>
      <vt:lpstr>Introduction</vt:lpstr>
      <vt:lpstr>Introduction</vt:lpstr>
      <vt:lpstr>Elements That Control A Loop</vt:lpstr>
      <vt:lpstr>Elements That Control A Loop</vt:lpstr>
      <vt:lpstr>Elements That Control A Loop</vt:lpstr>
      <vt:lpstr>Elements That Control A Loop</vt:lpstr>
      <vt:lpstr>The for Loop – Fixed Number of Iterations</vt:lpstr>
      <vt:lpstr>The for Loop - Example</vt:lpstr>
      <vt:lpstr>Variable Scope</vt:lpstr>
      <vt:lpstr>Any Questions?</vt:lpstr>
      <vt:lpstr>The while Loop</vt:lpstr>
      <vt:lpstr>The while Loop</vt:lpstr>
      <vt:lpstr>The while Loop</vt:lpstr>
      <vt:lpstr>The do-while Loop</vt:lpstr>
      <vt:lpstr>The do-while Loop</vt:lpstr>
      <vt:lpstr>The do-while Loop - Example</vt:lpstr>
      <vt:lpstr>Nested Loops</vt:lpstr>
      <vt:lpstr>Jump Statements</vt:lpstr>
      <vt:lpstr>PowerPoint Presentation</vt:lpstr>
      <vt:lpstr>Summary: Week 7 Lecture</vt:lpstr>
      <vt:lpstr>What to Expect: Week 7 Lab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Corporate Edition</dc:creator>
  <cp:lastModifiedBy>Microsoft Office User</cp:lastModifiedBy>
  <cp:revision>1831</cp:revision>
  <cp:lastPrinted>1601-01-01T00:00:00Z</cp:lastPrinted>
  <dcterms:created xsi:type="dcterms:W3CDTF">2010-08-24T06:31:40Z</dcterms:created>
  <dcterms:modified xsi:type="dcterms:W3CDTF">2016-10-27T10:08:01Z</dcterms:modified>
</cp:coreProperties>
</file>