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393" r:id="rId2"/>
    <p:sldId id="257" r:id="rId3"/>
    <p:sldId id="320" r:id="rId4"/>
    <p:sldId id="331" r:id="rId5"/>
    <p:sldId id="388" r:id="rId6"/>
    <p:sldId id="389" r:id="rId7"/>
    <p:sldId id="390" r:id="rId8"/>
    <p:sldId id="391" r:id="rId9"/>
    <p:sldId id="392" r:id="rId10"/>
    <p:sldId id="360" r:id="rId11"/>
    <p:sldId id="377" r:id="rId12"/>
    <p:sldId id="361" r:id="rId13"/>
    <p:sldId id="363" r:id="rId14"/>
    <p:sldId id="378" r:id="rId15"/>
    <p:sldId id="379" r:id="rId16"/>
    <p:sldId id="380" r:id="rId17"/>
    <p:sldId id="383" r:id="rId18"/>
    <p:sldId id="381" r:id="rId19"/>
    <p:sldId id="382" r:id="rId20"/>
    <p:sldId id="364" r:id="rId21"/>
    <p:sldId id="342" r:id="rId22"/>
    <p:sldId id="385" r:id="rId23"/>
    <p:sldId id="384" r:id="rId24"/>
    <p:sldId id="386" r:id="rId25"/>
    <p:sldId id="387" r:id="rId26"/>
    <p:sldId id="394" r:id="rId27"/>
    <p:sldId id="395" r:id="rId28"/>
    <p:sldId id="396"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129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5B567B-7C43-4857-9253-E76957FA79DC}" type="doc">
      <dgm:prSet loTypeId="urn:microsoft.com/office/officeart/2008/layout/VerticalCurvedList" loCatId="list" qsTypeId="urn:microsoft.com/office/officeart/2005/8/quickstyle/simple1" qsCatId="simple" csTypeId="urn:microsoft.com/office/officeart/2005/8/colors/colorful4" csCatId="colorful" phldr="1"/>
      <dgm:spPr/>
      <dgm:t>
        <a:bodyPr/>
        <a:lstStyle/>
        <a:p>
          <a:endParaRPr lang="en-US"/>
        </a:p>
      </dgm:t>
    </dgm:pt>
    <dgm:pt modelId="{4B6625E1-A03A-4596-8416-77C99BF176A0}">
      <dgm:prSet phldrT="[Text]"/>
      <dgm:spPr/>
      <dgm:t>
        <a:bodyPr/>
        <a:lstStyle/>
        <a:p>
          <a:r>
            <a:rPr lang="en-US" dirty="0" smtClean="0"/>
            <a:t>Textual Analysis</a:t>
          </a:r>
          <a:endParaRPr lang="en-US" dirty="0"/>
        </a:p>
      </dgm:t>
    </dgm:pt>
    <dgm:pt modelId="{F03E95EE-EEF8-4BB8-9D6F-435B73E92B3C}" type="parTrans" cxnId="{6FFB440F-FF54-48C7-9DB9-720C2A4BFFA4}">
      <dgm:prSet/>
      <dgm:spPr/>
      <dgm:t>
        <a:bodyPr/>
        <a:lstStyle/>
        <a:p>
          <a:endParaRPr lang="en-US"/>
        </a:p>
      </dgm:t>
    </dgm:pt>
    <dgm:pt modelId="{15E08006-2011-4685-9684-842273375D41}" type="sibTrans" cxnId="{6FFB440F-FF54-48C7-9DB9-720C2A4BFFA4}">
      <dgm:prSet/>
      <dgm:spPr/>
      <dgm:t>
        <a:bodyPr/>
        <a:lstStyle/>
        <a:p>
          <a:endParaRPr lang="en-US"/>
        </a:p>
      </dgm:t>
    </dgm:pt>
    <dgm:pt modelId="{0E672CD4-76CB-40AD-A855-A820EE68FB55}">
      <dgm:prSet phldrT="[Text]"/>
      <dgm:spPr/>
      <dgm:t>
        <a:bodyPr/>
        <a:lstStyle/>
        <a:p>
          <a:r>
            <a:rPr lang="en-US" dirty="0" smtClean="0"/>
            <a:t>Identification of Entities</a:t>
          </a:r>
          <a:endParaRPr lang="en-US" dirty="0"/>
        </a:p>
      </dgm:t>
    </dgm:pt>
    <dgm:pt modelId="{5E3415A7-2EF4-4EC8-A3F7-EA6BA5CBE751}" type="parTrans" cxnId="{0B54E709-D190-4DBE-B01D-D6704FC05CA7}">
      <dgm:prSet/>
      <dgm:spPr/>
      <dgm:t>
        <a:bodyPr/>
        <a:lstStyle/>
        <a:p>
          <a:endParaRPr lang="en-US"/>
        </a:p>
      </dgm:t>
    </dgm:pt>
    <dgm:pt modelId="{E81248D7-E667-4092-9F09-6E45D05361C5}" type="sibTrans" cxnId="{0B54E709-D190-4DBE-B01D-D6704FC05CA7}">
      <dgm:prSet/>
      <dgm:spPr/>
      <dgm:t>
        <a:bodyPr/>
        <a:lstStyle/>
        <a:p>
          <a:endParaRPr lang="en-US"/>
        </a:p>
      </dgm:t>
    </dgm:pt>
    <dgm:pt modelId="{609A4236-1E74-47FB-BBA9-DA627A8F8BD5}">
      <dgm:prSet phldrT="[Text]"/>
      <dgm:spPr/>
      <dgm:t>
        <a:bodyPr/>
        <a:lstStyle/>
        <a:p>
          <a:r>
            <a:rPr lang="en-US" dirty="0" smtClean="0"/>
            <a:t>Formation of Entity Relationship Diagram</a:t>
          </a:r>
          <a:endParaRPr lang="en-US" dirty="0"/>
        </a:p>
      </dgm:t>
    </dgm:pt>
    <dgm:pt modelId="{9F0F5E85-1102-49C6-8DCA-2062BAE7BD16}" type="parTrans" cxnId="{7F513141-DC5D-437F-8D6F-E256BD347B74}">
      <dgm:prSet/>
      <dgm:spPr/>
      <dgm:t>
        <a:bodyPr/>
        <a:lstStyle/>
        <a:p>
          <a:endParaRPr lang="en-US"/>
        </a:p>
      </dgm:t>
    </dgm:pt>
    <dgm:pt modelId="{9E743034-335C-44D0-B592-3EC43FAE9EA5}" type="sibTrans" cxnId="{7F513141-DC5D-437F-8D6F-E256BD347B74}">
      <dgm:prSet/>
      <dgm:spPr/>
      <dgm:t>
        <a:bodyPr/>
        <a:lstStyle/>
        <a:p>
          <a:endParaRPr lang="en-US"/>
        </a:p>
      </dgm:t>
    </dgm:pt>
    <dgm:pt modelId="{AC115E1D-E7E7-476D-9FDB-BEB71933C475}">
      <dgm:prSet phldrT="[Text]"/>
      <dgm:spPr/>
      <dgm:t>
        <a:bodyPr/>
        <a:lstStyle/>
        <a:p>
          <a:r>
            <a:rPr lang="en-US" dirty="0" smtClean="0"/>
            <a:t>Identification of Relationship and Cardinality</a:t>
          </a:r>
          <a:endParaRPr lang="en-US" dirty="0"/>
        </a:p>
      </dgm:t>
    </dgm:pt>
    <dgm:pt modelId="{53C43C64-CA41-4A9F-996F-844B570AC5B8}" type="parTrans" cxnId="{9AC8D525-C760-4841-971F-5E20812EB8DB}">
      <dgm:prSet/>
      <dgm:spPr/>
      <dgm:t>
        <a:bodyPr/>
        <a:lstStyle/>
        <a:p>
          <a:endParaRPr lang="en-US"/>
        </a:p>
      </dgm:t>
    </dgm:pt>
    <dgm:pt modelId="{32E2C134-EF94-4C30-92EF-869254C205FD}" type="sibTrans" cxnId="{9AC8D525-C760-4841-971F-5E20812EB8DB}">
      <dgm:prSet/>
      <dgm:spPr/>
      <dgm:t>
        <a:bodyPr/>
        <a:lstStyle/>
        <a:p>
          <a:endParaRPr lang="en-US"/>
        </a:p>
      </dgm:t>
    </dgm:pt>
    <dgm:pt modelId="{E8411890-602A-4B22-908C-4019B9FCD1EE}">
      <dgm:prSet phldrT="[Text]"/>
      <dgm:spPr/>
      <dgm:t>
        <a:bodyPr/>
        <a:lstStyle/>
        <a:p>
          <a:r>
            <a:rPr lang="en-US" dirty="0" smtClean="0"/>
            <a:t>Filling of Attributes</a:t>
          </a:r>
          <a:endParaRPr lang="en-US" dirty="0"/>
        </a:p>
      </dgm:t>
    </dgm:pt>
    <dgm:pt modelId="{FB6D482E-56B5-4BB3-91C9-19A39056FB6A}" type="parTrans" cxnId="{0973156D-A534-430C-8A64-2DE252B33CA4}">
      <dgm:prSet/>
      <dgm:spPr/>
      <dgm:t>
        <a:bodyPr/>
        <a:lstStyle/>
        <a:p>
          <a:endParaRPr lang="en-US"/>
        </a:p>
      </dgm:t>
    </dgm:pt>
    <dgm:pt modelId="{D23B1565-6322-4484-B08A-DED866552354}" type="sibTrans" cxnId="{0973156D-A534-430C-8A64-2DE252B33CA4}">
      <dgm:prSet/>
      <dgm:spPr/>
      <dgm:t>
        <a:bodyPr/>
        <a:lstStyle/>
        <a:p>
          <a:endParaRPr lang="en-US"/>
        </a:p>
      </dgm:t>
    </dgm:pt>
    <dgm:pt modelId="{C716F1C7-4586-41A5-A942-BBB8312C06A3}" type="pres">
      <dgm:prSet presAssocID="{A85B567B-7C43-4857-9253-E76957FA79DC}" presName="Name0" presStyleCnt="0">
        <dgm:presLayoutVars>
          <dgm:chMax val="7"/>
          <dgm:chPref val="7"/>
          <dgm:dir/>
        </dgm:presLayoutVars>
      </dgm:prSet>
      <dgm:spPr/>
      <dgm:t>
        <a:bodyPr/>
        <a:lstStyle/>
        <a:p>
          <a:endParaRPr lang="en-US"/>
        </a:p>
      </dgm:t>
    </dgm:pt>
    <dgm:pt modelId="{78EBF6EB-7A69-49E7-A721-B02F395A3C85}" type="pres">
      <dgm:prSet presAssocID="{A85B567B-7C43-4857-9253-E76957FA79DC}" presName="Name1" presStyleCnt="0"/>
      <dgm:spPr/>
    </dgm:pt>
    <dgm:pt modelId="{24CC0BE7-BA5B-4E0A-8256-2C4A9996906F}" type="pres">
      <dgm:prSet presAssocID="{A85B567B-7C43-4857-9253-E76957FA79DC}" presName="cycle" presStyleCnt="0"/>
      <dgm:spPr/>
    </dgm:pt>
    <dgm:pt modelId="{DA5B9F22-B871-4B51-9FA8-19DC6D3D6382}" type="pres">
      <dgm:prSet presAssocID="{A85B567B-7C43-4857-9253-E76957FA79DC}" presName="srcNode" presStyleLbl="node1" presStyleIdx="0" presStyleCnt="5"/>
      <dgm:spPr/>
    </dgm:pt>
    <dgm:pt modelId="{E6A606CC-51C8-4F5C-917B-D17776F3BF86}" type="pres">
      <dgm:prSet presAssocID="{A85B567B-7C43-4857-9253-E76957FA79DC}" presName="conn" presStyleLbl="parChTrans1D2" presStyleIdx="0" presStyleCnt="1"/>
      <dgm:spPr/>
      <dgm:t>
        <a:bodyPr/>
        <a:lstStyle/>
        <a:p>
          <a:endParaRPr lang="en-US"/>
        </a:p>
      </dgm:t>
    </dgm:pt>
    <dgm:pt modelId="{E1C02542-30AE-4493-B71E-6B71C9FEFF4E}" type="pres">
      <dgm:prSet presAssocID="{A85B567B-7C43-4857-9253-E76957FA79DC}" presName="extraNode" presStyleLbl="node1" presStyleIdx="0" presStyleCnt="5"/>
      <dgm:spPr/>
    </dgm:pt>
    <dgm:pt modelId="{D4566E05-903B-4FFA-942A-07B7FC7DEC4E}" type="pres">
      <dgm:prSet presAssocID="{A85B567B-7C43-4857-9253-E76957FA79DC}" presName="dstNode" presStyleLbl="node1" presStyleIdx="0" presStyleCnt="5"/>
      <dgm:spPr/>
    </dgm:pt>
    <dgm:pt modelId="{C932F7E6-3295-4B26-9ADD-AE1489B17DFE}" type="pres">
      <dgm:prSet presAssocID="{4B6625E1-A03A-4596-8416-77C99BF176A0}" presName="text_1" presStyleLbl="node1" presStyleIdx="0" presStyleCnt="5">
        <dgm:presLayoutVars>
          <dgm:bulletEnabled val="1"/>
        </dgm:presLayoutVars>
      </dgm:prSet>
      <dgm:spPr/>
      <dgm:t>
        <a:bodyPr/>
        <a:lstStyle/>
        <a:p>
          <a:endParaRPr lang="en-US"/>
        </a:p>
      </dgm:t>
    </dgm:pt>
    <dgm:pt modelId="{60AAC098-2522-4AF4-BBC6-6E8AA46E1CC3}" type="pres">
      <dgm:prSet presAssocID="{4B6625E1-A03A-4596-8416-77C99BF176A0}" presName="accent_1" presStyleCnt="0"/>
      <dgm:spPr/>
    </dgm:pt>
    <dgm:pt modelId="{34A70E01-5CA2-41DA-BB17-5C9B85F8A89F}" type="pres">
      <dgm:prSet presAssocID="{4B6625E1-A03A-4596-8416-77C99BF176A0}" presName="accentRepeatNode" presStyleLbl="solidFgAcc1" presStyleIdx="0" presStyleCnt="5"/>
      <dgm:spPr/>
    </dgm:pt>
    <dgm:pt modelId="{B33CE9CE-4EB9-4881-B929-6834BDEFB44E}" type="pres">
      <dgm:prSet presAssocID="{0E672CD4-76CB-40AD-A855-A820EE68FB55}" presName="text_2" presStyleLbl="node1" presStyleIdx="1" presStyleCnt="5">
        <dgm:presLayoutVars>
          <dgm:bulletEnabled val="1"/>
        </dgm:presLayoutVars>
      </dgm:prSet>
      <dgm:spPr/>
      <dgm:t>
        <a:bodyPr/>
        <a:lstStyle/>
        <a:p>
          <a:endParaRPr lang="en-US"/>
        </a:p>
      </dgm:t>
    </dgm:pt>
    <dgm:pt modelId="{5CC8D427-FFB9-4EA5-9908-46A912D0E5DE}" type="pres">
      <dgm:prSet presAssocID="{0E672CD4-76CB-40AD-A855-A820EE68FB55}" presName="accent_2" presStyleCnt="0"/>
      <dgm:spPr/>
    </dgm:pt>
    <dgm:pt modelId="{41EECB79-BE1E-452C-9B6A-B7421C3BE4E1}" type="pres">
      <dgm:prSet presAssocID="{0E672CD4-76CB-40AD-A855-A820EE68FB55}" presName="accentRepeatNode" presStyleLbl="solidFgAcc1" presStyleIdx="1" presStyleCnt="5"/>
      <dgm:spPr/>
    </dgm:pt>
    <dgm:pt modelId="{5DF8D0F1-7A2F-4499-86D5-DFF5F89A4D4E}" type="pres">
      <dgm:prSet presAssocID="{AC115E1D-E7E7-476D-9FDB-BEB71933C475}" presName="text_3" presStyleLbl="node1" presStyleIdx="2" presStyleCnt="5">
        <dgm:presLayoutVars>
          <dgm:bulletEnabled val="1"/>
        </dgm:presLayoutVars>
      </dgm:prSet>
      <dgm:spPr/>
      <dgm:t>
        <a:bodyPr/>
        <a:lstStyle/>
        <a:p>
          <a:endParaRPr lang="en-US"/>
        </a:p>
      </dgm:t>
    </dgm:pt>
    <dgm:pt modelId="{1CA61F87-E441-4BF4-9DDE-1E70FA0C7130}" type="pres">
      <dgm:prSet presAssocID="{AC115E1D-E7E7-476D-9FDB-BEB71933C475}" presName="accent_3" presStyleCnt="0"/>
      <dgm:spPr/>
    </dgm:pt>
    <dgm:pt modelId="{60FA93A1-9CAD-4B9B-BA99-13DAC357D032}" type="pres">
      <dgm:prSet presAssocID="{AC115E1D-E7E7-476D-9FDB-BEB71933C475}" presName="accentRepeatNode" presStyleLbl="solidFgAcc1" presStyleIdx="2" presStyleCnt="5"/>
      <dgm:spPr/>
    </dgm:pt>
    <dgm:pt modelId="{5CA27156-B9A9-4CC8-9AE3-4649E2EC1D77}" type="pres">
      <dgm:prSet presAssocID="{E8411890-602A-4B22-908C-4019B9FCD1EE}" presName="text_4" presStyleLbl="node1" presStyleIdx="3" presStyleCnt="5">
        <dgm:presLayoutVars>
          <dgm:bulletEnabled val="1"/>
        </dgm:presLayoutVars>
      </dgm:prSet>
      <dgm:spPr/>
      <dgm:t>
        <a:bodyPr/>
        <a:lstStyle/>
        <a:p>
          <a:endParaRPr lang="en-US"/>
        </a:p>
      </dgm:t>
    </dgm:pt>
    <dgm:pt modelId="{A9E50832-36F8-49CA-BC56-B0B5374AF477}" type="pres">
      <dgm:prSet presAssocID="{E8411890-602A-4B22-908C-4019B9FCD1EE}" presName="accent_4" presStyleCnt="0"/>
      <dgm:spPr/>
    </dgm:pt>
    <dgm:pt modelId="{2C12F670-2DEF-41C6-88AB-08907B276934}" type="pres">
      <dgm:prSet presAssocID="{E8411890-602A-4B22-908C-4019B9FCD1EE}" presName="accentRepeatNode" presStyleLbl="solidFgAcc1" presStyleIdx="3" presStyleCnt="5"/>
      <dgm:spPr/>
    </dgm:pt>
    <dgm:pt modelId="{2BE92239-9C62-4731-96AC-94B704187184}" type="pres">
      <dgm:prSet presAssocID="{609A4236-1E74-47FB-BBA9-DA627A8F8BD5}" presName="text_5" presStyleLbl="node1" presStyleIdx="4" presStyleCnt="5">
        <dgm:presLayoutVars>
          <dgm:bulletEnabled val="1"/>
        </dgm:presLayoutVars>
      </dgm:prSet>
      <dgm:spPr/>
      <dgm:t>
        <a:bodyPr/>
        <a:lstStyle/>
        <a:p>
          <a:endParaRPr lang="en-US"/>
        </a:p>
      </dgm:t>
    </dgm:pt>
    <dgm:pt modelId="{F2B48315-DD83-4CF8-BD9F-93132F82905B}" type="pres">
      <dgm:prSet presAssocID="{609A4236-1E74-47FB-BBA9-DA627A8F8BD5}" presName="accent_5" presStyleCnt="0"/>
      <dgm:spPr/>
    </dgm:pt>
    <dgm:pt modelId="{7009A4F2-7CE9-47E5-996E-06F49983EBEF}" type="pres">
      <dgm:prSet presAssocID="{609A4236-1E74-47FB-BBA9-DA627A8F8BD5}" presName="accentRepeatNode" presStyleLbl="solidFgAcc1" presStyleIdx="4" presStyleCnt="5"/>
      <dgm:spPr/>
    </dgm:pt>
  </dgm:ptLst>
  <dgm:cxnLst>
    <dgm:cxn modelId="{84AFF347-6B62-4D61-AD30-E0666A95FA25}" type="presOf" srcId="{4B6625E1-A03A-4596-8416-77C99BF176A0}" destId="{C932F7E6-3295-4B26-9ADD-AE1489B17DFE}" srcOrd="0" destOrd="0" presId="urn:microsoft.com/office/officeart/2008/layout/VerticalCurvedList"/>
    <dgm:cxn modelId="{7F513141-DC5D-437F-8D6F-E256BD347B74}" srcId="{A85B567B-7C43-4857-9253-E76957FA79DC}" destId="{609A4236-1E74-47FB-BBA9-DA627A8F8BD5}" srcOrd="4" destOrd="0" parTransId="{9F0F5E85-1102-49C6-8DCA-2062BAE7BD16}" sibTransId="{9E743034-335C-44D0-B592-3EC43FAE9EA5}"/>
    <dgm:cxn modelId="{C284FB1D-E58C-4FB5-AFAB-749508624778}" type="presOf" srcId="{E8411890-602A-4B22-908C-4019B9FCD1EE}" destId="{5CA27156-B9A9-4CC8-9AE3-4649E2EC1D77}" srcOrd="0" destOrd="0" presId="urn:microsoft.com/office/officeart/2008/layout/VerticalCurvedList"/>
    <dgm:cxn modelId="{D68E783B-116F-47FE-8D9A-A8C0B52C4ED7}" type="presOf" srcId="{15E08006-2011-4685-9684-842273375D41}" destId="{E6A606CC-51C8-4F5C-917B-D17776F3BF86}" srcOrd="0" destOrd="0" presId="urn:microsoft.com/office/officeart/2008/layout/VerticalCurvedList"/>
    <dgm:cxn modelId="{0B54E709-D190-4DBE-B01D-D6704FC05CA7}" srcId="{A85B567B-7C43-4857-9253-E76957FA79DC}" destId="{0E672CD4-76CB-40AD-A855-A820EE68FB55}" srcOrd="1" destOrd="0" parTransId="{5E3415A7-2EF4-4EC8-A3F7-EA6BA5CBE751}" sibTransId="{E81248D7-E667-4092-9F09-6E45D05361C5}"/>
    <dgm:cxn modelId="{D75C0F11-CAFE-4EE8-9B17-86AC918F5CFA}" type="presOf" srcId="{0E672CD4-76CB-40AD-A855-A820EE68FB55}" destId="{B33CE9CE-4EB9-4881-B929-6834BDEFB44E}" srcOrd="0" destOrd="0" presId="urn:microsoft.com/office/officeart/2008/layout/VerticalCurvedList"/>
    <dgm:cxn modelId="{FAD8E36B-1CA2-4F8B-96E6-0621460865D4}" type="presOf" srcId="{AC115E1D-E7E7-476D-9FDB-BEB71933C475}" destId="{5DF8D0F1-7A2F-4499-86D5-DFF5F89A4D4E}" srcOrd="0" destOrd="0" presId="urn:microsoft.com/office/officeart/2008/layout/VerticalCurvedList"/>
    <dgm:cxn modelId="{0973156D-A534-430C-8A64-2DE252B33CA4}" srcId="{A85B567B-7C43-4857-9253-E76957FA79DC}" destId="{E8411890-602A-4B22-908C-4019B9FCD1EE}" srcOrd="3" destOrd="0" parTransId="{FB6D482E-56B5-4BB3-91C9-19A39056FB6A}" sibTransId="{D23B1565-6322-4484-B08A-DED866552354}"/>
    <dgm:cxn modelId="{1B3C3B4D-215D-4605-849F-0277F786CC97}" type="presOf" srcId="{A85B567B-7C43-4857-9253-E76957FA79DC}" destId="{C716F1C7-4586-41A5-A942-BBB8312C06A3}" srcOrd="0" destOrd="0" presId="urn:microsoft.com/office/officeart/2008/layout/VerticalCurvedList"/>
    <dgm:cxn modelId="{6289C8EA-FBB3-4008-8A35-BF0DD49ECEDC}" type="presOf" srcId="{609A4236-1E74-47FB-BBA9-DA627A8F8BD5}" destId="{2BE92239-9C62-4731-96AC-94B704187184}" srcOrd="0" destOrd="0" presId="urn:microsoft.com/office/officeart/2008/layout/VerticalCurvedList"/>
    <dgm:cxn modelId="{6FFB440F-FF54-48C7-9DB9-720C2A4BFFA4}" srcId="{A85B567B-7C43-4857-9253-E76957FA79DC}" destId="{4B6625E1-A03A-4596-8416-77C99BF176A0}" srcOrd="0" destOrd="0" parTransId="{F03E95EE-EEF8-4BB8-9D6F-435B73E92B3C}" sibTransId="{15E08006-2011-4685-9684-842273375D41}"/>
    <dgm:cxn modelId="{9AC8D525-C760-4841-971F-5E20812EB8DB}" srcId="{A85B567B-7C43-4857-9253-E76957FA79DC}" destId="{AC115E1D-E7E7-476D-9FDB-BEB71933C475}" srcOrd="2" destOrd="0" parTransId="{53C43C64-CA41-4A9F-996F-844B570AC5B8}" sibTransId="{32E2C134-EF94-4C30-92EF-869254C205FD}"/>
    <dgm:cxn modelId="{11FC5F50-3EC1-43E3-AE6B-112415FBEF49}" type="presParOf" srcId="{C716F1C7-4586-41A5-A942-BBB8312C06A3}" destId="{78EBF6EB-7A69-49E7-A721-B02F395A3C85}" srcOrd="0" destOrd="0" presId="urn:microsoft.com/office/officeart/2008/layout/VerticalCurvedList"/>
    <dgm:cxn modelId="{017C5489-2C37-4F96-A019-7B7929CAC3B9}" type="presParOf" srcId="{78EBF6EB-7A69-49E7-A721-B02F395A3C85}" destId="{24CC0BE7-BA5B-4E0A-8256-2C4A9996906F}" srcOrd="0" destOrd="0" presId="urn:microsoft.com/office/officeart/2008/layout/VerticalCurvedList"/>
    <dgm:cxn modelId="{91E953E0-B25D-4A69-B0ED-E20A8D84E5CF}" type="presParOf" srcId="{24CC0BE7-BA5B-4E0A-8256-2C4A9996906F}" destId="{DA5B9F22-B871-4B51-9FA8-19DC6D3D6382}" srcOrd="0" destOrd="0" presId="urn:microsoft.com/office/officeart/2008/layout/VerticalCurvedList"/>
    <dgm:cxn modelId="{BF7F1434-4077-493C-A21D-69F88FA54349}" type="presParOf" srcId="{24CC0BE7-BA5B-4E0A-8256-2C4A9996906F}" destId="{E6A606CC-51C8-4F5C-917B-D17776F3BF86}" srcOrd="1" destOrd="0" presId="urn:microsoft.com/office/officeart/2008/layout/VerticalCurvedList"/>
    <dgm:cxn modelId="{474EA50C-D008-45AB-ADBD-D3EA13CA9E63}" type="presParOf" srcId="{24CC0BE7-BA5B-4E0A-8256-2C4A9996906F}" destId="{E1C02542-30AE-4493-B71E-6B71C9FEFF4E}" srcOrd="2" destOrd="0" presId="urn:microsoft.com/office/officeart/2008/layout/VerticalCurvedList"/>
    <dgm:cxn modelId="{4B467DA6-53D5-4779-AFE3-7AD0B94B5623}" type="presParOf" srcId="{24CC0BE7-BA5B-4E0A-8256-2C4A9996906F}" destId="{D4566E05-903B-4FFA-942A-07B7FC7DEC4E}" srcOrd="3" destOrd="0" presId="urn:microsoft.com/office/officeart/2008/layout/VerticalCurvedList"/>
    <dgm:cxn modelId="{773635C9-0C50-4E18-A13C-1F99A582DDC8}" type="presParOf" srcId="{78EBF6EB-7A69-49E7-A721-B02F395A3C85}" destId="{C932F7E6-3295-4B26-9ADD-AE1489B17DFE}" srcOrd="1" destOrd="0" presId="urn:microsoft.com/office/officeart/2008/layout/VerticalCurvedList"/>
    <dgm:cxn modelId="{D5079DD5-6F9F-4B95-8975-9EE1274B8681}" type="presParOf" srcId="{78EBF6EB-7A69-49E7-A721-B02F395A3C85}" destId="{60AAC098-2522-4AF4-BBC6-6E8AA46E1CC3}" srcOrd="2" destOrd="0" presId="urn:microsoft.com/office/officeart/2008/layout/VerticalCurvedList"/>
    <dgm:cxn modelId="{D6D4700A-4C61-4427-A097-75E70F8043F1}" type="presParOf" srcId="{60AAC098-2522-4AF4-BBC6-6E8AA46E1CC3}" destId="{34A70E01-5CA2-41DA-BB17-5C9B85F8A89F}" srcOrd="0" destOrd="0" presId="urn:microsoft.com/office/officeart/2008/layout/VerticalCurvedList"/>
    <dgm:cxn modelId="{0FA4112E-1A01-40E6-B845-32CA2BAD6D93}" type="presParOf" srcId="{78EBF6EB-7A69-49E7-A721-B02F395A3C85}" destId="{B33CE9CE-4EB9-4881-B929-6834BDEFB44E}" srcOrd="3" destOrd="0" presId="urn:microsoft.com/office/officeart/2008/layout/VerticalCurvedList"/>
    <dgm:cxn modelId="{001F28D5-5952-4726-984B-496D24F5810C}" type="presParOf" srcId="{78EBF6EB-7A69-49E7-A721-B02F395A3C85}" destId="{5CC8D427-FFB9-4EA5-9908-46A912D0E5DE}" srcOrd="4" destOrd="0" presId="urn:microsoft.com/office/officeart/2008/layout/VerticalCurvedList"/>
    <dgm:cxn modelId="{E3E3B133-0035-4FC3-A5A3-6CACF5A3DEED}" type="presParOf" srcId="{5CC8D427-FFB9-4EA5-9908-46A912D0E5DE}" destId="{41EECB79-BE1E-452C-9B6A-B7421C3BE4E1}" srcOrd="0" destOrd="0" presId="urn:microsoft.com/office/officeart/2008/layout/VerticalCurvedList"/>
    <dgm:cxn modelId="{4BBDF30A-F814-43AF-A56E-51BE3592DD4D}" type="presParOf" srcId="{78EBF6EB-7A69-49E7-A721-B02F395A3C85}" destId="{5DF8D0F1-7A2F-4499-86D5-DFF5F89A4D4E}" srcOrd="5" destOrd="0" presId="urn:microsoft.com/office/officeart/2008/layout/VerticalCurvedList"/>
    <dgm:cxn modelId="{F25EF056-F96A-4D1E-9825-A1B52CEDFE6E}" type="presParOf" srcId="{78EBF6EB-7A69-49E7-A721-B02F395A3C85}" destId="{1CA61F87-E441-4BF4-9DDE-1E70FA0C7130}" srcOrd="6" destOrd="0" presId="urn:microsoft.com/office/officeart/2008/layout/VerticalCurvedList"/>
    <dgm:cxn modelId="{D312C9AD-E81A-48AB-A62A-D0FFCC26CFE3}" type="presParOf" srcId="{1CA61F87-E441-4BF4-9DDE-1E70FA0C7130}" destId="{60FA93A1-9CAD-4B9B-BA99-13DAC357D032}" srcOrd="0" destOrd="0" presId="urn:microsoft.com/office/officeart/2008/layout/VerticalCurvedList"/>
    <dgm:cxn modelId="{A2A88296-49F3-4BAE-B4F6-9E6A8343F36D}" type="presParOf" srcId="{78EBF6EB-7A69-49E7-A721-B02F395A3C85}" destId="{5CA27156-B9A9-4CC8-9AE3-4649E2EC1D77}" srcOrd="7" destOrd="0" presId="urn:microsoft.com/office/officeart/2008/layout/VerticalCurvedList"/>
    <dgm:cxn modelId="{263727E6-95DE-4434-B713-B844D4CA371A}" type="presParOf" srcId="{78EBF6EB-7A69-49E7-A721-B02F395A3C85}" destId="{A9E50832-36F8-49CA-BC56-B0B5374AF477}" srcOrd="8" destOrd="0" presId="urn:microsoft.com/office/officeart/2008/layout/VerticalCurvedList"/>
    <dgm:cxn modelId="{4217915E-899B-4E4F-B7AD-E2E380516D5F}" type="presParOf" srcId="{A9E50832-36F8-49CA-BC56-B0B5374AF477}" destId="{2C12F670-2DEF-41C6-88AB-08907B276934}" srcOrd="0" destOrd="0" presId="urn:microsoft.com/office/officeart/2008/layout/VerticalCurvedList"/>
    <dgm:cxn modelId="{6406ACFE-1111-4CFB-9EE9-648CA1FD2657}" type="presParOf" srcId="{78EBF6EB-7A69-49E7-A721-B02F395A3C85}" destId="{2BE92239-9C62-4731-96AC-94B704187184}" srcOrd="9" destOrd="0" presId="urn:microsoft.com/office/officeart/2008/layout/VerticalCurvedList"/>
    <dgm:cxn modelId="{7F80FB43-9997-4A37-BBDA-01D947329662}" type="presParOf" srcId="{78EBF6EB-7A69-49E7-A721-B02F395A3C85}" destId="{F2B48315-DD83-4CF8-BD9F-93132F82905B}" srcOrd="10" destOrd="0" presId="urn:microsoft.com/office/officeart/2008/layout/VerticalCurvedList"/>
    <dgm:cxn modelId="{516F085F-25C1-4663-9940-801E8E697C0F}" type="presParOf" srcId="{F2B48315-DD83-4CF8-BD9F-93132F82905B}" destId="{7009A4F2-7CE9-47E5-996E-06F49983EBEF}"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EFC826-E8A3-43AB-8229-62D0BB500CE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DA9B726-3B35-4175-BFC0-9CF73487F5C0}">
      <dgm:prSet phldrT="[Text]"/>
      <dgm:spPr/>
      <dgm:t>
        <a:bodyPr/>
        <a:lstStyle/>
        <a:p>
          <a:r>
            <a:rPr lang="en-US" dirty="0" smtClean="0"/>
            <a:t>Aggregate Function</a:t>
          </a:r>
          <a:endParaRPr lang="en-US" dirty="0"/>
        </a:p>
      </dgm:t>
    </dgm:pt>
    <dgm:pt modelId="{C466E3BC-0148-44D5-9CFC-03871FF2E66D}" type="parTrans" cxnId="{94C4AFAC-A77B-4F20-A091-BBEA92C7F8FF}">
      <dgm:prSet/>
      <dgm:spPr/>
      <dgm:t>
        <a:bodyPr/>
        <a:lstStyle/>
        <a:p>
          <a:endParaRPr lang="en-US"/>
        </a:p>
      </dgm:t>
    </dgm:pt>
    <dgm:pt modelId="{C2DE93C7-AC91-4CFE-932A-ED8C29708C70}" type="sibTrans" cxnId="{94C4AFAC-A77B-4F20-A091-BBEA92C7F8FF}">
      <dgm:prSet/>
      <dgm:spPr/>
      <dgm:t>
        <a:bodyPr/>
        <a:lstStyle/>
        <a:p>
          <a:endParaRPr lang="en-US"/>
        </a:p>
      </dgm:t>
    </dgm:pt>
    <dgm:pt modelId="{8D1F86C7-9D68-4DB3-AE43-A38B07C36FA5}">
      <dgm:prSet phldrT="[Text]"/>
      <dgm:spPr/>
      <dgm:t>
        <a:bodyPr/>
        <a:lstStyle/>
        <a:p>
          <a:r>
            <a:rPr lang="en-US" dirty="0" smtClean="0"/>
            <a:t>Uses multiple rows as input and returns single row as output</a:t>
          </a:r>
          <a:endParaRPr lang="en-US" dirty="0"/>
        </a:p>
      </dgm:t>
    </dgm:pt>
    <dgm:pt modelId="{4A57C7A8-F2D0-47CF-B3F7-FA6979576192}" type="parTrans" cxnId="{A570C559-4C5E-4AEB-A1AD-5F1860E3D836}">
      <dgm:prSet/>
      <dgm:spPr/>
      <dgm:t>
        <a:bodyPr/>
        <a:lstStyle/>
        <a:p>
          <a:endParaRPr lang="en-US"/>
        </a:p>
      </dgm:t>
    </dgm:pt>
    <dgm:pt modelId="{7EB2AE9B-23FF-4D90-923E-AFBBED5DC25F}" type="sibTrans" cxnId="{A570C559-4C5E-4AEB-A1AD-5F1860E3D836}">
      <dgm:prSet/>
      <dgm:spPr/>
      <dgm:t>
        <a:bodyPr/>
        <a:lstStyle/>
        <a:p>
          <a:endParaRPr lang="en-US"/>
        </a:p>
      </dgm:t>
    </dgm:pt>
    <dgm:pt modelId="{8D408558-BD17-413F-AE44-AB0E64CD531C}">
      <dgm:prSet phldrT="[Text]"/>
      <dgm:spPr/>
      <dgm:t>
        <a:bodyPr/>
        <a:lstStyle/>
        <a:p>
          <a:r>
            <a:rPr lang="en-US" dirty="0" smtClean="0"/>
            <a:t>Grouping</a:t>
          </a:r>
          <a:endParaRPr lang="en-US" dirty="0"/>
        </a:p>
      </dgm:t>
    </dgm:pt>
    <dgm:pt modelId="{E8F5F3BD-CDAA-43EA-9CF3-7B07CCF8A01E}" type="parTrans" cxnId="{989319F3-D595-4A45-9E8A-90EC5B7E99C7}">
      <dgm:prSet/>
      <dgm:spPr/>
      <dgm:t>
        <a:bodyPr/>
        <a:lstStyle/>
        <a:p>
          <a:endParaRPr lang="en-US"/>
        </a:p>
      </dgm:t>
    </dgm:pt>
    <dgm:pt modelId="{0F3C1CE8-44B1-4573-9928-6600A9F317B7}" type="sibTrans" cxnId="{989319F3-D595-4A45-9E8A-90EC5B7E99C7}">
      <dgm:prSet/>
      <dgm:spPr/>
      <dgm:t>
        <a:bodyPr/>
        <a:lstStyle/>
        <a:p>
          <a:endParaRPr lang="en-US"/>
        </a:p>
      </dgm:t>
    </dgm:pt>
    <dgm:pt modelId="{B8BA71DC-73E9-42EC-A73E-D246679C4C60}">
      <dgm:prSet phldrT="[Text]"/>
      <dgm:spPr/>
      <dgm:t>
        <a:bodyPr/>
        <a:lstStyle/>
        <a:p>
          <a:r>
            <a:rPr lang="en-US" dirty="0" smtClean="0"/>
            <a:t>Used to group the columns with similar values</a:t>
          </a:r>
          <a:endParaRPr lang="en-US" dirty="0"/>
        </a:p>
      </dgm:t>
    </dgm:pt>
    <dgm:pt modelId="{694868D7-7DF1-4AC6-A6CE-34E2ACAAE61F}" type="parTrans" cxnId="{7537D0F1-8491-4FB9-9F9A-5CC39E7D5426}">
      <dgm:prSet/>
      <dgm:spPr/>
      <dgm:t>
        <a:bodyPr/>
        <a:lstStyle/>
        <a:p>
          <a:endParaRPr lang="en-US"/>
        </a:p>
      </dgm:t>
    </dgm:pt>
    <dgm:pt modelId="{4F8D0F13-4186-4CA7-9C5A-3E1A5DB59632}" type="sibTrans" cxnId="{7537D0F1-8491-4FB9-9F9A-5CC39E7D5426}">
      <dgm:prSet/>
      <dgm:spPr/>
      <dgm:t>
        <a:bodyPr/>
        <a:lstStyle/>
        <a:p>
          <a:endParaRPr lang="en-US"/>
        </a:p>
      </dgm:t>
    </dgm:pt>
    <dgm:pt modelId="{F696B9E6-F64C-4F2A-8256-1C832EBB714E}" type="pres">
      <dgm:prSet presAssocID="{38EFC826-E8A3-43AB-8229-62D0BB500CE0}" presName="linear" presStyleCnt="0">
        <dgm:presLayoutVars>
          <dgm:animLvl val="lvl"/>
          <dgm:resizeHandles val="exact"/>
        </dgm:presLayoutVars>
      </dgm:prSet>
      <dgm:spPr/>
      <dgm:t>
        <a:bodyPr/>
        <a:lstStyle/>
        <a:p>
          <a:endParaRPr lang="en-US"/>
        </a:p>
      </dgm:t>
    </dgm:pt>
    <dgm:pt modelId="{689299CB-6BDF-4CF6-847F-0C254355DB00}" type="pres">
      <dgm:prSet presAssocID="{BDA9B726-3B35-4175-BFC0-9CF73487F5C0}" presName="parentText" presStyleLbl="node1" presStyleIdx="0" presStyleCnt="2">
        <dgm:presLayoutVars>
          <dgm:chMax val="0"/>
          <dgm:bulletEnabled val="1"/>
        </dgm:presLayoutVars>
      </dgm:prSet>
      <dgm:spPr/>
      <dgm:t>
        <a:bodyPr/>
        <a:lstStyle/>
        <a:p>
          <a:endParaRPr lang="en-US"/>
        </a:p>
      </dgm:t>
    </dgm:pt>
    <dgm:pt modelId="{6B09CE9C-C249-47E4-AA35-3FD2CCFFD318}" type="pres">
      <dgm:prSet presAssocID="{BDA9B726-3B35-4175-BFC0-9CF73487F5C0}" presName="childText" presStyleLbl="revTx" presStyleIdx="0" presStyleCnt="2">
        <dgm:presLayoutVars>
          <dgm:bulletEnabled val="1"/>
        </dgm:presLayoutVars>
      </dgm:prSet>
      <dgm:spPr/>
      <dgm:t>
        <a:bodyPr/>
        <a:lstStyle/>
        <a:p>
          <a:endParaRPr lang="en-US"/>
        </a:p>
      </dgm:t>
    </dgm:pt>
    <dgm:pt modelId="{B7D0E3E1-BC55-4088-9576-D6A9288010B0}" type="pres">
      <dgm:prSet presAssocID="{8D408558-BD17-413F-AE44-AB0E64CD531C}" presName="parentText" presStyleLbl="node1" presStyleIdx="1" presStyleCnt="2">
        <dgm:presLayoutVars>
          <dgm:chMax val="0"/>
          <dgm:bulletEnabled val="1"/>
        </dgm:presLayoutVars>
      </dgm:prSet>
      <dgm:spPr/>
      <dgm:t>
        <a:bodyPr/>
        <a:lstStyle/>
        <a:p>
          <a:endParaRPr lang="en-US"/>
        </a:p>
      </dgm:t>
    </dgm:pt>
    <dgm:pt modelId="{A9B4453D-2EAD-49B2-BE9E-F82F53B9D85F}" type="pres">
      <dgm:prSet presAssocID="{8D408558-BD17-413F-AE44-AB0E64CD531C}" presName="childText" presStyleLbl="revTx" presStyleIdx="1" presStyleCnt="2">
        <dgm:presLayoutVars>
          <dgm:bulletEnabled val="1"/>
        </dgm:presLayoutVars>
      </dgm:prSet>
      <dgm:spPr/>
      <dgm:t>
        <a:bodyPr/>
        <a:lstStyle/>
        <a:p>
          <a:endParaRPr lang="en-US"/>
        </a:p>
      </dgm:t>
    </dgm:pt>
  </dgm:ptLst>
  <dgm:cxnLst>
    <dgm:cxn modelId="{36BDCBAB-CBD5-4EB2-BC6E-688FB4B9849E}" type="presOf" srcId="{B8BA71DC-73E9-42EC-A73E-D246679C4C60}" destId="{A9B4453D-2EAD-49B2-BE9E-F82F53B9D85F}" srcOrd="0" destOrd="0" presId="urn:microsoft.com/office/officeart/2005/8/layout/vList2"/>
    <dgm:cxn modelId="{A570C559-4C5E-4AEB-A1AD-5F1860E3D836}" srcId="{BDA9B726-3B35-4175-BFC0-9CF73487F5C0}" destId="{8D1F86C7-9D68-4DB3-AE43-A38B07C36FA5}" srcOrd="0" destOrd="0" parTransId="{4A57C7A8-F2D0-47CF-B3F7-FA6979576192}" sibTransId="{7EB2AE9B-23FF-4D90-923E-AFBBED5DC25F}"/>
    <dgm:cxn modelId="{47B85771-9CBA-4239-96BB-CC11A9AA8A46}" type="presOf" srcId="{38EFC826-E8A3-43AB-8229-62D0BB500CE0}" destId="{F696B9E6-F64C-4F2A-8256-1C832EBB714E}" srcOrd="0" destOrd="0" presId="urn:microsoft.com/office/officeart/2005/8/layout/vList2"/>
    <dgm:cxn modelId="{57E4F5D2-C8D5-4EB7-8DF0-1DCFDD392A03}" type="presOf" srcId="{BDA9B726-3B35-4175-BFC0-9CF73487F5C0}" destId="{689299CB-6BDF-4CF6-847F-0C254355DB00}" srcOrd="0" destOrd="0" presId="urn:microsoft.com/office/officeart/2005/8/layout/vList2"/>
    <dgm:cxn modelId="{7537D0F1-8491-4FB9-9F9A-5CC39E7D5426}" srcId="{8D408558-BD17-413F-AE44-AB0E64CD531C}" destId="{B8BA71DC-73E9-42EC-A73E-D246679C4C60}" srcOrd="0" destOrd="0" parTransId="{694868D7-7DF1-4AC6-A6CE-34E2ACAAE61F}" sibTransId="{4F8D0F13-4186-4CA7-9C5A-3E1A5DB59632}"/>
    <dgm:cxn modelId="{989319F3-D595-4A45-9E8A-90EC5B7E99C7}" srcId="{38EFC826-E8A3-43AB-8229-62D0BB500CE0}" destId="{8D408558-BD17-413F-AE44-AB0E64CD531C}" srcOrd="1" destOrd="0" parTransId="{E8F5F3BD-CDAA-43EA-9CF3-7B07CCF8A01E}" sibTransId="{0F3C1CE8-44B1-4573-9928-6600A9F317B7}"/>
    <dgm:cxn modelId="{8347C7F7-028D-4884-87DE-4730EE1171DC}" type="presOf" srcId="{8D408558-BD17-413F-AE44-AB0E64CD531C}" destId="{B7D0E3E1-BC55-4088-9576-D6A9288010B0}" srcOrd="0" destOrd="0" presId="urn:microsoft.com/office/officeart/2005/8/layout/vList2"/>
    <dgm:cxn modelId="{94C4AFAC-A77B-4F20-A091-BBEA92C7F8FF}" srcId="{38EFC826-E8A3-43AB-8229-62D0BB500CE0}" destId="{BDA9B726-3B35-4175-BFC0-9CF73487F5C0}" srcOrd="0" destOrd="0" parTransId="{C466E3BC-0148-44D5-9CFC-03871FF2E66D}" sibTransId="{C2DE93C7-AC91-4CFE-932A-ED8C29708C70}"/>
    <dgm:cxn modelId="{ED61F19C-ECA1-4954-AF35-8AFB529D9E3A}" type="presOf" srcId="{8D1F86C7-9D68-4DB3-AE43-A38B07C36FA5}" destId="{6B09CE9C-C249-47E4-AA35-3FD2CCFFD318}" srcOrd="0" destOrd="0" presId="urn:microsoft.com/office/officeart/2005/8/layout/vList2"/>
    <dgm:cxn modelId="{D8CBA9EB-E2A6-4CFC-8F74-CD1825FFD7AF}" type="presParOf" srcId="{F696B9E6-F64C-4F2A-8256-1C832EBB714E}" destId="{689299CB-6BDF-4CF6-847F-0C254355DB00}" srcOrd="0" destOrd="0" presId="urn:microsoft.com/office/officeart/2005/8/layout/vList2"/>
    <dgm:cxn modelId="{780795FB-D756-4137-8B5E-2D7FA5C15298}" type="presParOf" srcId="{F696B9E6-F64C-4F2A-8256-1C832EBB714E}" destId="{6B09CE9C-C249-47E4-AA35-3FD2CCFFD318}" srcOrd="1" destOrd="0" presId="urn:microsoft.com/office/officeart/2005/8/layout/vList2"/>
    <dgm:cxn modelId="{EE593698-0371-4C5E-BCC7-3392107FFAE2}" type="presParOf" srcId="{F696B9E6-F64C-4F2A-8256-1C832EBB714E}" destId="{B7D0E3E1-BC55-4088-9576-D6A9288010B0}" srcOrd="2" destOrd="0" presId="urn:microsoft.com/office/officeart/2005/8/layout/vList2"/>
    <dgm:cxn modelId="{11D74D97-3071-4366-A51E-6B12B80A56D4}" type="presParOf" srcId="{F696B9E6-F64C-4F2A-8256-1C832EBB714E}" destId="{A9B4453D-2EAD-49B2-BE9E-F82F53B9D85F}"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A606CC-51C8-4F5C-917B-D17776F3BF86}">
      <dsp:nvSpPr>
        <dsp:cNvPr id="0" name=""/>
        <dsp:cNvSpPr/>
      </dsp:nvSpPr>
      <dsp:spPr>
        <a:xfrm>
          <a:off x="-3688669" y="-566722"/>
          <a:ext cx="4396949" cy="4396949"/>
        </a:xfrm>
        <a:prstGeom prst="blockArc">
          <a:avLst>
            <a:gd name="adj1" fmla="val 18900000"/>
            <a:gd name="adj2" fmla="val 2700000"/>
            <a:gd name="adj3" fmla="val 491"/>
          </a:avLst>
        </a:pr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932F7E6-3295-4B26-9ADD-AE1489B17DFE}">
      <dsp:nvSpPr>
        <dsp:cNvPr id="0" name=""/>
        <dsp:cNvSpPr/>
      </dsp:nvSpPr>
      <dsp:spPr>
        <a:xfrm>
          <a:off x="310567" y="203903"/>
          <a:ext cx="7533588" cy="408068"/>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904" tIns="53340" rIns="53340" bIns="53340" numCol="1" spcCol="1270" anchor="ctr" anchorCtr="0">
          <a:noAutofit/>
        </a:bodyPr>
        <a:lstStyle/>
        <a:p>
          <a:pPr lvl="0" algn="l" defTabSz="933450">
            <a:lnSpc>
              <a:spcPct val="90000"/>
            </a:lnSpc>
            <a:spcBef>
              <a:spcPct val="0"/>
            </a:spcBef>
            <a:spcAft>
              <a:spcPct val="35000"/>
            </a:spcAft>
          </a:pPr>
          <a:r>
            <a:rPr lang="en-US" sz="2100" kern="1200" dirty="0" smtClean="0"/>
            <a:t>Textual Analysis</a:t>
          </a:r>
          <a:endParaRPr lang="en-US" sz="2100" kern="1200" dirty="0"/>
        </a:p>
      </dsp:txBody>
      <dsp:txXfrm>
        <a:off x="310567" y="203903"/>
        <a:ext cx="7533588" cy="408068"/>
      </dsp:txXfrm>
    </dsp:sp>
    <dsp:sp modelId="{34A70E01-5CA2-41DA-BB17-5C9B85F8A89F}">
      <dsp:nvSpPr>
        <dsp:cNvPr id="0" name=""/>
        <dsp:cNvSpPr/>
      </dsp:nvSpPr>
      <dsp:spPr>
        <a:xfrm>
          <a:off x="55524" y="152895"/>
          <a:ext cx="510085" cy="510085"/>
        </a:xfrm>
        <a:prstGeom prst="ellipse">
          <a:avLst/>
        </a:prstGeom>
        <a:solidFill>
          <a:schemeClr val="lt1">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33CE9CE-4EB9-4881-B929-6834BDEFB44E}">
      <dsp:nvSpPr>
        <dsp:cNvPr id="0" name=""/>
        <dsp:cNvSpPr/>
      </dsp:nvSpPr>
      <dsp:spPr>
        <a:xfrm>
          <a:off x="602977" y="815810"/>
          <a:ext cx="7241178" cy="408068"/>
        </a:xfrm>
        <a:prstGeom prst="rect">
          <a:avLst/>
        </a:prstGeom>
        <a:solidFill>
          <a:schemeClr val="accent4">
            <a:hueOff val="2598923"/>
            <a:satOff val="-11992"/>
            <a:lumOff val="4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904" tIns="53340" rIns="53340" bIns="53340" numCol="1" spcCol="1270" anchor="ctr" anchorCtr="0">
          <a:noAutofit/>
        </a:bodyPr>
        <a:lstStyle/>
        <a:p>
          <a:pPr lvl="0" algn="l" defTabSz="933450">
            <a:lnSpc>
              <a:spcPct val="90000"/>
            </a:lnSpc>
            <a:spcBef>
              <a:spcPct val="0"/>
            </a:spcBef>
            <a:spcAft>
              <a:spcPct val="35000"/>
            </a:spcAft>
          </a:pPr>
          <a:r>
            <a:rPr lang="en-US" sz="2100" kern="1200" dirty="0" smtClean="0"/>
            <a:t>Identification of Entities</a:t>
          </a:r>
          <a:endParaRPr lang="en-US" sz="2100" kern="1200" dirty="0"/>
        </a:p>
      </dsp:txBody>
      <dsp:txXfrm>
        <a:off x="602977" y="815810"/>
        <a:ext cx="7241178" cy="408068"/>
      </dsp:txXfrm>
    </dsp:sp>
    <dsp:sp modelId="{41EECB79-BE1E-452C-9B6A-B7421C3BE4E1}">
      <dsp:nvSpPr>
        <dsp:cNvPr id="0" name=""/>
        <dsp:cNvSpPr/>
      </dsp:nvSpPr>
      <dsp:spPr>
        <a:xfrm>
          <a:off x="347934" y="764802"/>
          <a:ext cx="510085" cy="510085"/>
        </a:xfrm>
        <a:prstGeom prst="ellipse">
          <a:avLst/>
        </a:prstGeom>
        <a:solidFill>
          <a:schemeClr val="lt1">
            <a:hueOff val="0"/>
            <a:satOff val="0"/>
            <a:lumOff val="0"/>
            <a:alphaOff val="0"/>
          </a:schemeClr>
        </a:solidFill>
        <a:ln w="12700" cap="flat" cmpd="sng" algn="ctr">
          <a:solidFill>
            <a:schemeClr val="accent4">
              <a:hueOff val="2598923"/>
              <a:satOff val="-11992"/>
              <a:lumOff val="441"/>
              <a:alphaOff val="0"/>
            </a:schemeClr>
          </a:solidFill>
          <a:prstDash val="solid"/>
          <a:miter lim="800000"/>
        </a:ln>
        <a:effectLst/>
      </dsp:spPr>
      <dsp:style>
        <a:lnRef idx="2">
          <a:scrgbClr r="0" g="0" b="0"/>
        </a:lnRef>
        <a:fillRef idx="1">
          <a:scrgbClr r="0" g="0" b="0"/>
        </a:fillRef>
        <a:effectRef idx="0">
          <a:scrgbClr r="0" g="0" b="0"/>
        </a:effectRef>
        <a:fontRef idx="minor"/>
      </dsp:style>
    </dsp:sp>
    <dsp:sp modelId="{5DF8D0F1-7A2F-4499-86D5-DFF5F89A4D4E}">
      <dsp:nvSpPr>
        <dsp:cNvPr id="0" name=""/>
        <dsp:cNvSpPr/>
      </dsp:nvSpPr>
      <dsp:spPr>
        <a:xfrm>
          <a:off x="692723" y="1427717"/>
          <a:ext cx="7151432" cy="408068"/>
        </a:xfrm>
        <a:prstGeom prst="rect">
          <a:avLst/>
        </a:prstGeom>
        <a:solidFill>
          <a:schemeClr val="accent4">
            <a:hueOff val="5197846"/>
            <a:satOff val="-23984"/>
            <a:lumOff val="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904" tIns="53340" rIns="53340" bIns="53340" numCol="1" spcCol="1270" anchor="ctr" anchorCtr="0">
          <a:noAutofit/>
        </a:bodyPr>
        <a:lstStyle/>
        <a:p>
          <a:pPr lvl="0" algn="l" defTabSz="933450">
            <a:lnSpc>
              <a:spcPct val="90000"/>
            </a:lnSpc>
            <a:spcBef>
              <a:spcPct val="0"/>
            </a:spcBef>
            <a:spcAft>
              <a:spcPct val="35000"/>
            </a:spcAft>
          </a:pPr>
          <a:r>
            <a:rPr lang="en-US" sz="2100" kern="1200" dirty="0" smtClean="0"/>
            <a:t>Identification of Relationship and Cardinality</a:t>
          </a:r>
          <a:endParaRPr lang="en-US" sz="2100" kern="1200" dirty="0"/>
        </a:p>
      </dsp:txBody>
      <dsp:txXfrm>
        <a:off x="692723" y="1427717"/>
        <a:ext cx="7151432" cy="408068"/>
      </dsp:txXfrm>
    </dsp:sp>
    <dsp:sp modelId="{60FA93A1-9CAD-4B9B-BA99-13DAC357D032}">
      <dsp:nvSpPr>
        <dsp:cNvPr id="0" name=""/>
        <dsp:cNvSpPr/>
      </dsp:nvSpPr>
      <dsp:spPr>
        <a:xfrm>
          <a:off x="437681" y="1376709"/>
          <a:ext cx="510085" cy="510085"/>
        </a:xfrm>
        <a:prstGeom prst="ellipse">
          <a:avLst/>
        </a:prstGeom>
        <a:solidFill>
          <a:schemeClr val="lt1">
            <a:hueOff val="0"/>
            <a:satOff val="0"/>
            <a:lumOff val="0"/>
            <a:alphaOff val="0"/>
          </a:schemeClr>
        </a:solidFill>
        <a:ln w="12700" cap="flat" cmpd="sng" algn="ctr">
          <a:solidFill>
            <a:schemeClr val="accent4">
              <a:hueOff val="5197846"/>
              <a:satOff val="-23984"/>
              <a:lumOff val="883"/>
              <a:alphaOff val="0"/>
            </a:schemeClr>
          </a:solidFill>
          <a:prstDash val="solid"/>
          <a:miter lim="800000"/>
        </a:ln>
        <a:effectLst/>
      </dsp:spPr>
      <dsp:style>
        <a:lnRef idx="2">
          <a:scrgbClr r="0" g="0" b="0"/>
        </a:lnRef>
        <a:fillRef idx="1">
          <a:scrgbClr r="0" g="0" b="0"/>
        </a:fillRef>
        <a:effectRef idx="0">
          <a:scrgbClr r="0" g="0" b="0"/>
        </a:effectRef>
        <a:fontRef idx="minor"/>
      </dsp:style>
    </dsp:sp>
    <dsp:sp modelId="{5CA27156-B9A9-4CC8-9AE3-4649E2EC1D77}">
      <dsp:nvSpPr>
        <dsp:cNvPr id="0" name=""/>
        <dsp:cNvSpPr/>
      </dsp:nvSpPr>
      <dsp:spPr>
        <a:xfrm>
          <a:off x="602977" y="2039624"/>
          <a:ext cx="7241178" cy="408068"/>
        </a:xfrm>
        <a:prstGeom prst="rect">
          <a:avLst/>
        </a:prstGeom>
        <a:solidFill>
          <a:schemeClr val="accent4">
            <a:hueOff val="7796769"/>
            <a:satOff val="-35976"/>
            <a:lumOff val="132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904" tIns="53340" rIns="53340" bIns="53340" numCol="1" spcCol="1270" anchor="ctr" anchorCtr="0">
          <a:noAutofit/>
        </a:bodyPr>
        <a:lstStyle/>
        <a:p>
          <a:pPr lvl="0" algn="l" defTabSz="933450">
            <a:lnSpc>
              <a:spcPct val="90000"/>
            </a:lnSpc>
            <a:spcBef>
              <a:spcPct val="0"/>
            </a:spcBef>
            <a:spcAft>
              <a:spcPct val="35000"/>
            </a:spcAft>
          </a:pPr>
          <a:r>
            <a:rPr lang="en-US" sz="2100" kern="1200" dirty="0" smtClean="0"/>
            <a:t>Filling of Attributes</a:t>
          </a:r>
          <a:endParaRPr lang="en-US" sz="2100" kern="1200" dirty="0"/>
        </a:p>
      </dsp:txBody>
      <dsp:txXfrm>
        <a:off x="602977" y="2039624"/>
        <a:ext cx="7241178" cy="408068"/>
      </dsp:txXfrm>
    </dsp:sp>
    <dsp:sp modelId="{2C12F670-2DEF-41C6-88AB-08907B276934}">
      <dsp:nvSpPr>
        <dsp:cNvPr id="0" name=""/>
        <dsp:cNvSpPr/>
      </dsp:nvSpPr>
      <dsp:spPr>
        <a:xfrm>
          <a:off x="347934" y="1988616"/>
          <a:ext cx="510085" cy="510085"/>
        </a:xfrm>
        <a:prstGeom prst="ellipse">
          <a:avLst/>
        </a:prstGeom>
        <a:solidFill>
          <a:schemeClr val="lt1">
            <a:hueOff val="0"/>
            <a:satOff val="0"/>
            <a:lumOff val="0"/>
            <a:alphaOff val="0"/>
          </a:schemeClr>
        </a:solidFill>
        <a:ln w="12700" cap="flat" cmpd="sng" algn="ctr">
          <a:solidFill>
            <a:schemeClr val="accent4">
              <a:hueOff val="7796769"/>
              <a:satOff val="-35976"/>
              <a:lumOff val="1324"/>
              <a:alphaOff val="0"/>
            </a:schemeClr>
          </a:solidFill>
          <a:prstDash val="solid"/>
          <a:miter lim="800000"/>
        </a:ln>
        <a:effectLst/>
      </dsp:spPr>
      <dsp:style>
        <a:lnRef idx="2">
          <a:scrgbClr r="0" g="0" b="0"/>
        </a:lnRef>
        <a:fillRef idx="1">
          <a:scrgbClr r="0" g="0" b="0"/>
        </a:fillRef>
        <a:effectRef idx="0">
          <a:scrgbClr r="0" g="0" b="0"/>
        </a:effectRef>
        <a:fontRef idx="minor"/>
      </dsp:style>
    </dsp:sp>
    <dsp:sp modelId="{2BE92239-9C62-4731-96AC-94B704187184}">
      <dsp:nvSpPr>
        <dsp:cNvPr id="0" name=""/>
        <dsp:cNvSpPr/>
      </dsp:nvSpPr>
      <dsp:spPr>
        <a:xfrm>
          <a:off x="310567" y="2651531"/>
          <a:ext cx="7533588" cy="408068"/>
        </a:xfrm>
        <a:prstGeom prst="rect">
          <a:avLst/>
        </a:prstGeom>
        <a:solidFill>
          <a:schemeClr val="accent4">
            <a:hueOff val="10395692"/>
            <a:satOff val="-47968"/>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904" tIns="53340" rIns="53340" bIns="53340" numCol="1" spcCol="1270" anchor="ctr" anchorCtr="0">
          <a:noAutofit/>
        </a:bodyPr>
        <a:lstStyle/>
        <a:p>
          <a:pPr lvl="0" algn="l" defTabSz="933450">
            <a:lnSpc>
              <a:spcPct val="90000"/>
            </a:lnSpc>
            <a:spcBef>
              <a:spcPct val="0"/>
            </a:spcBef>
            <a:spcAft>
              <a:spcPct val="35000"/>
            </a:spcAft>
          </a:pPr>
          <a:r>
            <a:rPr lang="en-US" sz="2100" kern="1200" dirty="0" smtClean="0"/>
            <a:t>Formation of Entity Relationship Diagram</a:t>
          </a:r>
          <a:endParaRPr lang="en-US" sz="2100" kern="1200" dirty="0"/>
        </a:p>
      </dsp:txBody>
      <dsp:txXfrm>
        <a:off x="310567" y="2651531"/>
        <a:ext cx="7533588" cy="408068"/>
      </dsp:txXfrm>
    </dsp:sp>
    <dsp:sp modelId="{7009A4F2-7CE9-47E5-996E-06F49983EBEF}">
      <dsp:nvSpPr>
        <dsp:cNvPr id="0" name=""/>
        <dsp:cNvSpPr/>
      </dsp:nvSpPr>
      <dsp:spPr>
        <a:xfrm>
          <a:off x="55524" y="2600523"/>
          <a:ext cx="510085" cy="510085"/>
        </a:xfrm>
        <a:prstGeom prst="ellipse">
          <a:avLst/>
        </a:prstGeom>
        <a:solidFill>
          <a:schemeClr val="lt1">
            <a:hueOff val="0"/>
            <a:satOff val="0"/>
            <a:lumOff val="0"/>
            <a:alphaOff val="0"/>
          </a:schemeClr>
        </a:solidFill>
        <a:ln w="12700" cap="flat" cmpd="sng" algn="ctr">
          <a:solidFill>
            <a:schemeClr val="accent4">
              <a:hueOff val="10395692"/>
              <a:satOff val="-47968"/>
              <a:lumOff val="1765"/>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9299CB-6BDF-4CF6-847F-0C254355DB00}">
      <dsp:nvSpPr>
        <dsp:cNvPr id="0" name=""/>
        <dsp:cNvSpPr/>
      </dsp:nvSpPr>
      <dsp:spPr>
        <a:xfrm>
          <a:off x="0" y="7403"/>
          <a:ext cx="6782873" cy="8634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l" defTabSz="1600200">
            <a:lnSpc>
              <a:spcPct val="90000"/>
            </a:lnSpc>
            <a:spcBef>
              <a:spcPct val="0"/>
            </a:spcBef>
            <a:spcAft>
              <a:spcPct val="35000"/>
            </a:spcAft>
          </a:pPr>
          <a:r>
            <a:rPr lang="en-US" sz="3600" kern="1200" dirty="0" smtClean="0"/>
            <a:t>Aggregate Function</a:t>
          </a:r>
          <a:endParaRPr lang="en-US" sz="3600" kern="1200" dirty="0"/>
        </a:p>
      </dsp:txBody>
      <dsp:txXfrm>
        <a:off x="42151" y="49554"/>
        <a:ext cx="6698571" cy="779158"/>
      </dsp:txXfrm>
    </dsp:sp>
    <dsp:sp modelId="{6B09CE9C-C249-47E4-AA35-3FD2CCFFD318}">
      <dsp:nvSpPr>
        <dsp:cNvPr id="0" name=""/>
        <dsp:cNvSpPr/>
      </dsp:nvSpPr>
      <dsp:spPr>
        <a:xfrm>
          <a:off x="0" y="870863"/>
          <a:ext cx="6782873" cy="875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356" tIns="45720" rIns="256032" bIns="45720" numCol="1" spcCol="1270" anchor="t" anchorCtr="0">
          <a:noAutofit/>
        </a:bodyPr>
        <a:lstStyle/>
        <a:p>
          <a:pPr marL="285750" lvl="1" indent="-285750" algn="l" defTabSz="1244600">
            <a:lnSpc>
              <a:spcPct val="90000"/>
            </a:lnSpc>
            <a:spcBef>
              <a:spcPct val="0"/>
            </a:spcBef>
            <a:spcAft>
              <a:spcPct val="20000"/>
            </a:spcAft>
            <a:buChar char="••"/>
          </a:pPr>
          <a:r>
            <a:rPr lang="en-US" sz="2800" kern="1200" dirty="0" smtClean="0"/>
            <a:t>Uses multiple rows as input and returns single row as output</a:t>
          </a:r>
          <a:endParaRPr lang="en-US" sz="2800" kern="1200" dirty="0"/>
        </a:p>
      </dsp:txBody>
      <dsp:txXfrm>
        <a:off x="0" y="870863"/>
        <a:ext cx="6782873" cy="875610"/>
      </dsp:txXfrm>
    </dsp:sp>
    <dsp:sp modelId="{B7D0E3E1-BC55-4088-9576-D6A9288010B0}">
      <dsp:nvSpPr>
        <dsp:cNvPr id="0" name=""/>
        <dsp:cNvSpPr/>
      </dsp:nvSpPr>
      <dsp:spPr>
        <a:xfrm>
          <a:off x="0" y="1746473"/>
          <a:ext cx="6782873" cy="8634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l" defTabSz="1600200">
            <a:lnSpc>
              <a:spcPct val="90000"/>
            </a:lnSpc>
            <a:spcBef>
              <a:spcPct val="0"/>
            </a:spcBef>
            <a:spcAft>
              <a:spcPct val="35000"/>
            </a:spcAft>
          </a:pPr>
          <a:r>
            <a:rPr lang="en-US" sz="3600" kern="1200" dirty="0" smtClean="0"/>
            <a:t>Grouping</a:t>
          </a:r>
          <a:endParaRPr lang="en-US" sz="3600" kern="1200" dirty="0"/>
        </a:p>
      </dsp:txBody>
      <dsp:txXfrm>
        <a:off x="42151" y="1788624"/>
        <a:ext cx="6698571" cy="779158"/>
      </dsp:txXfrm>
    </dsp:sp>
    <dsp:sp modelId="{A9B4453D-2EAD-49B2-BE9E-F82F53B9D85F}">
      <dsp:nvSpPr>
        <dsp:cNvPr id="0" name=""/>
        <dsp:cNvSpPr/>
      </dsp:nvSpPr>
      <dsp:spPr>
        <a:xfrm>
          <a:off x="0" y="2609933"/>
          <a:ext cx="6782873" cy="875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356" tIns="45720" rIns="256032" bIns="45720" numCol="1" spcCol="1270" anchor="t" anchorCtr="0">
          <a:noAutofit/>
        </a:bodyPr>
        <a:lstStyle/>
        <a:p>
          <a:pPr marL="285750" lvl="1" indent="-285750" algn="l" defTabSz="1244600">
            <a:lnSpc>
              <a:spcPct val="90000"/>
            </a:lnSpc>
            <a:spcBef>
              <a:spcPct val="0"/>
            </a:spcBef>
            <a:spcAft>
              <a:spcPct val="20000"/>
            </a:spcAft>
            <a:buChar char="••"/>
          </a:pPr>
          <a:r>
            <a:rPr lang="en-US" sz="2800" kern="1200" dirty="0" smtClean="0"/>
            <a:t>Used to group the columns with similar values</a:t>
          </a:r>
          <a:endParaRPr lang="en-US" sz="2800" kern="1200" dirty="0"/>
        </a:p>
      </dsp:txBody>
      <dsp:txXfrm>
        <a:off x="0" y="2609933"/>
        <a:ext cx="6782873" cy="875610"/>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2CA1C-82D6-4987-8272-09D44CFC9AAB}" type="datetimeFigureOut">
              <a:rPr lang="en-US" smtClean="0"/>
              <a:t>7/2/2016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6FA548-67E9-478F-A114-2BC23F15EB1B}" type="slidenum">
              <a:rPr lang="en-US" smtClean="0"/>
              <a:t>‹#›</a:t>
            </a:fld>
            <a:endParaRPr lang="en-US"/>
          </a:p>
        </p:txBody>
      </p:sp>
    </p:spTree>
    <p:extLst>
      <p:ext uri="{BB962C8B-B14F-4D97-AF65-F5344CB8AC3E}">
        <p14:creationId xmlns:p14="http://schemas.microsoft.com/office/powerpoint/2010/main" val="449978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8"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80899" name="Rectangle 2"/>
          <p:cNvSpPr>
            <a:spLocks noGrp="1" noChangeArrowheads="1"/>
          </p:cNvSpPr>
          <p:nvPr>
            <p:ph type="body" idx="1"/>
          </p:nvPr>
        </p:nvSpPr>
        <p:spPr>
          <a:xfrm>
            <a:off x="685800" y="4343400"/>
            <a:ext cx="5446713" cy="4076700"/>
          </a:xfrm>
          <a:noFill/>
          <a:ln/>
        </p:spPr>
        <p:txBody>
          <a:bodyPr wrap="none" anchor="ctr"/>
          <a:lstStyle/>
          <a:p>
            <a:endParaRPr lang="en-US" dirty="0" smtClean="0"/>
          </a:p>
        </p:txBody>
      </p:sp>
    </p:spTree>
    <p:extLst>
      <p:ext uri="{BB962C8B-B14F-4D97-AF65-F5344CB8AC3E}">
        <p14:creationId xmlns:p14="http://schemas.microsoft.com/office/powerpoint/2010/main" val="37417581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7/2/2016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2917373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7/2/2016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1052487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F98010B-FC5E-4C27-B43B-137998F61C16}" type="datetimeFigureOut">
              <a:rPr lang="en-US" smtClean="0"/>
              <a:t>7/2/2016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1547862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F98010B-FC5E-4C27-B43B-137998F61C16}" type="datetimeFigureOut">
              <a:rPr lang="en-US" smtClean="0"/>
              <a:t>7/2/2016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34056661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F98010B-FC5E-4C27-B43B-137998F61C16}" type="datetimeFigureOut">
              <a:rPr lang="en-US" smtClean="0"/>
              <a:t>7/2/2016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1754732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F98010B-FC5E-4C27-B43B-137998F61C16}" type="datetimeFigureOut">
              <a:rPr lang="en-US" smtClean="0"/>
              <a:t>7/2/2016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2350784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98010B-FC5E-4C27-B43B-137998F61C16}" type="datetimeFigureOut">
              <a:rPr lang="en-US" smtClean="0"/>
              <a:t>7/2/2016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10040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F98010B-FC5E-4C27-B43B-137998F61C16}" type="datetimeFigureOut">
              <a:rPr lang="en-US" smtClean="0"/>
              <a:t>7/2/2016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13005494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F98010B-FC5E-4C27-B43B-137998F61C16}" type="datetimeFigureOut">
              <a:rPr lang="en-US" smtClean="0"/>
              <a:t>7/2/2016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7327774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7/2/2016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2533077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7/2/2016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113932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98010B-FC5E-4C27-B43B-137998F61C16}" type="datetimeFigureOut">
              <a:rPr lang="en-US" smtClean="0"/>
              <a:t>7/2/2016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954BEE-865D-433D-8F00-28C0A03EDA7A}" type="slidenum">
              <a:rPr lang="en-US" smtClean="0"/>
              <a:t>‹#›</a:t>
            </a:fld>
            <a:endParaRPr lang="en-US"/>
          </a:p>
        </p:txBody>
      </p:sp>
      <p:sp>
        <p:nvSpPr>
          <p:cNvPr id="7" name="Rectangle 6"/>
          <p:cNvSpPr>
            <a:spLocks noChangeArrowheads="1"/>
          </p:cNvSpPr>
          <p:nvPr userDrawn="1"/>
        </p:nvSpPr>
        <p:spPr bwMode="auto">
          <a:xfrm>
            <a:off x="0" y="1"/>
            <a:ext cx="9144000" cy="188586"/>
          </a:xfrm>
          <a:prstGeom prst="rect">
            <a:avLst/>
          </a:prstGeom>
          <a:solidFill>
            <a:srgbClr val="C00000"/>
          </a:solidFill>
          <a:ln w="9525">
            <a:noFill/>
            <a:round/>
            <a:headEnd/>
            <a:tailEnd/>
          </a:ln>
          <a:effectLst/>
        </p:spPr>
        <p:txBody>
          <a:bodyPr wrap="none" anchor="ctr"/>
          <a:lstStyle/>
          <a:p>
            <a:pPr algn="r">
              <a:defRPr/>
            </a:pPr>
            <a:r>
              <a:rPr lang="en-SG" sz="1350" dirty="0" err="1" smtClean="0">
                <a:solidFill>
                  <a:schemeClr val="bg1"/>
                </a:solidFill>
              </a:rPr>
              <a:t>iAcademy</a:t>
            </a:r>
            <a:endParaRPr lang="en-SG" sz="1350" dirty="0">
              <a:solidFill>
                <a:schemeClr val="bg1"/>
              </a:solidFill>
            </a:endParaRPr>
          </a:p>
        </p:txBody>
      </p:sp>
      <p:sp>
        <p:nvSpPr>
          <p:cNvPr id="8" name="Rectangle 6"/>
          <p:cNvSpPr>
            <a:spLocks noChangeArrowheads="1"/>
          </p:cNvSpPr>
          <p:nvPr userDrawn="1"/>
        </p:nvSpPr>
        <p:spPr bwMode="auto">
          <a:xfrm>
            <a:off x="-24" y="6654800"/>
            <a:ext cx="9144024" cy="203200"/>
          </a:xfrm>
          <a:prstGeom prst="rect">
            <a:avLst/>
          </a:prstGeom>
          <a:solidFill>
            <a:srgbClr val="C00000"/>
          </a:solidFill>
          <a:ln w="9525">
            <a:noFill/>
            <a:round/>
            <a:headEnd/>
            <a:tailEnd/>
          </a:ln>
          <a:effectLst/>
        </p:spPr>
        <p:txBody>
          <a:bodyPr wrap="none" anchor="ctr"/>
          <a:lstStyle/>
          <a:p>
            <a:pPr marL="0" marR="0" indent="0" algn="l" defTabSz="336947"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r>
              <a:rPr lang="en-SG" sz="1350" dirty="0" err="1" smtClean="0">
                <a:solidFill>
                  <a:schemeClr val="bg1"/>
                </a:solidFill>
              </a:rPr>
              <a:t>iAcademy</a:t>
            </a:r>
            <a:endParaRPr lang="en-SG" sz="1350" dirty="0" smtClean="0">
              <a:solidFill>
                <a:schemeClr val="bg1"/>
              </a:solidFill>
            </a:endParaRPr>
          </a:p>
        </p:txBody>
      </p:sp>
      <p:sp>
        <p:nvSpPr>
          <p:cNvPr id="9" name="Rectangle 7"/>
          <p:cNvSpPr>
            <a:spLocks noChangeArrowheads="1"/>
          </p:cNvSpPr>
          <p:nvPr userDrawn="1"/>
        </p:nvSpPr>
        <p:spPr bwMode="auto">
          <a:xfrm flipV="1">
            <a:off x="1" y="-3"/>
            <a:ext cx="8261252" cy="45719"/>
          </a:xfrm>
          <a:prstGeom prst="rect">
            <a:avLst/>
          </a:prstGeom>
          <a:solidFill>
            <a:srgbClr val="FFC000"/>
          </a:solidFill>
          <a:ln w="9525">
            <a:noFill/>
            <a:round/>
            <a:headEnd/>
            <a:tailEnd/>
          </a:ln>
          <a:effectLst/>
        </p:spPr>
        <p:txBody>
          <a:bodyPr wrap="none" anchor="ctr"/>
          <a:lstStyle/>
          <a:p>
            <a:pPr>
              <a:defRPr/>
            </a:pPr>
            <a:endParaRPr lang="en-SG" sz="1350" dirty="0"/>
          </a:p>
        </p:txBody>
      </p:sp>
      <p:sp>
        <p:nvSpPr>
          <p:cNvPr id="10" name="Rectangle 7"/>
          <p:cNvSpPr>
            <a:spLocks noChangeArrowheads="1"/>
          </p:cNvSpPr>
          <p:nvPr userDrawn="1"/>
        </p:nvSpPr>
        <p:spPr bwMode="auto">
          <a:xfrm flipV="1">
            <a:off x="910810" y="6786583"/>
            <a:ext cx="8233190" cy="71416"/>
          </a:xfrm>
          <a:prstGeom prst="rect">
            <a:avLst/>
          </a:prstGeom>
          <a:solidFill>
            <a:srgbClr val="FFC000"/>
          </a:solidFill>
          <a:ln w="9525">
            <a:noFill/>
            <a:round/>
            <a:headEnd/>
            <a:tailEnd/>
          </a:ln>
          <a:effectLst/>
        </p:spPr>
        <p:txBody>
          <a:bodyPr wrap="none" anchor="ctr"/>
          <a:lstStyle/>
          <a:p>
            <a:pPr>
              <a:defRPr/>
            </a:pPr>
            <a:endParaRPr lang="en-SG" sz="1350" dirty="0"/>
          </a:p>
        </p:txBody>
      </p:sp>
    </p:spTree>
    <p:extLst>
      <p:ext uri="{BB962C8B-B14F-4D97-AF65-F5344CB8AC3E}">
        <p14:creationId xmlns:p14="http://schemas.microsoft.com/office/powerpoint/2010/main" val="21525974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11480" y="982923"/>
            <a:ext cx="8366759" cy="1102519"/>
          </a:xfrm>
        </p:spPr>
        <p:txBody>
          <a:bodyPr>
            <a:normAutofit fontScale="90000"/>
          </a:bodyPr>
          <a:lstStyle/>
          <a:p>
            <a:pPr algn="ctr"/>
            <a:r>
              <a:rPr lang="en-US" dirty="0" smtClean="0"/>
              <a:t>An Introduction to Database</a:t>
            </a:r>
            <a:endParaRPr lang="en-GB" dirty="0"/>
          </a:p>
        </p:txBody>
      </p:sp>
      <p:sp>
        <p:nvSpPr>
          <p:cNvPr id="6" name="Subtitle 5"/>
          <p:cNvSpPr>
            <a:spLocks noGrp="1"/>
          </p:cNvSpPr>
          <p:nvPr>
            <p:ph type="subTitle" idx="1"/>
          </p:nvPr>
        </p:nvSpPr>
        <p:spPr>
          <a:xfrm>
            <a:off x="1410868" y="2870583"/>
            <a:ext cx="6303577" cy="2126420"/>
          </a:xfrm>
        </p:spPr>
        <p:txBody>
          <a:bodyPr>
            <a:normAutofit/>
          </a:bodyPr>
          <a:lstStyle/>
          <a:p>
            <a:r>
              <a:rPr lang="en-US" sz="2100" dirty="0"/>
              <a:t>Introduction to Database for Undergraduate Study</a:t>
            </a:r>
          </a:p>
          <a:p>
            <a:r>
              <a:rPr lang="en-US" sz="2100" dirty="0"/>
              <a:t>Lecture </a:t>
            </a:r>
            <a:r>
              <a:rPr lang="en-US" sz="2100" dirty="0" smtClean="0"/>
              <a:t>10</a:t>
            </a:r>
            <a:endParaRPr lang="en-US" sz="2100" dirty="0"/>
          </a:p>
          <a:p>
            <a:endParaRPr lang="en-US" sz="2100" dirty="0"/>
          </a:p>
          <a:p>
            <a:r>
              <a:rPr lang="en-US" i="1" dirty="0"/>
              <a:t>Example – Work Out</a:t>
            </a:r>
          </a:p>
          <a:p>
            <a:endParaRPr lang="en-US" i="1" dirty="0"/>
          </a:p>
        </p:txBody>
      </p:sp>
      <p:sp>
        <p:nvSpPr>
          <p:cNvPr id="7" name="TextBox 3"/>
          <p:cNvSpPr txBox="1">
            <a:spLocks noChangeArrowheads="1"/>
          </p:cNvSpPr>
          <p:nvPr/>
        </p:nvSpPr>
        <p:spPr bwMode="auto">
          <a:xfrm>
            <a:off x="411480" y="5129071"/>
            <a:ext cx="8366760" cy="964413"/>
          </a:xfrm>
          <a:prstGeom prst="rect">
            <a:avLst/>
          </a:prstGeom>
          <a:ln w="9525"/>
        </p:spPr>
        <p:style>
          <a:lnRef idx="2">
            <a:schemeClr val="dk1"/>
          </a:lnRef>
          <a:fillRef idx="1">
            <a:schemeClr val="lt1"/>
          </a:fillRef>
          <a:effectRef idx="0">
            <a:schemeClr val="dk1"/>
          </a:effectRef>
          <a:fontRef idx="minor">
            <a:schemeClr val="dk1"/>
          </a:fontRef>
        </p:style>
        <p:txBody>
          <a:bodyPr vert="horz" lIns="68580" tIns="34290" rIns="68580" bIns="34290" rtlCol="0">
            <a:noAutofit/>
          </a:bodyPr>
          <a:lstStyle/>
          <a:p>
            <a:pPr algn="just">
              <a:spcBef>
                <a:spcPct val="20000"/>
              </a:spcBef>
            </a:pPr>
            <a:r>
              <a:rPr lang="en-GB" sz="1050" dirty="0">
                <a:solidFill>
                  <a:schemeClr val="tx1"/>
                </a:solidFill>
              </a:rPr>
              <a:t>This lecture and its associated materials have been produced by </a:t>
            </a:r>
            <a:r>
              <a:rPr lang="en-GB" sz="1050" dirty="0" err="1">
                <a:solidFill>
                  <a:schemeClr val="tx1"/>
                </a:solidFill>
              </a:rPr>
              <a:t>Mr.</a:t>
            </a:r>
            <a:r>
              <a:rPr lang="en-GB" sz="1050" dirty="0">
                <a:solidFill>
                  <a:schemeClr val="tx1"/>
                </a:solidFill>
              </a:rPr>
              <a:t> Rohit Panday (M.Sc. IT, 10+ Years of Industry/Academic Experience) of </a:t>
            </a:r>
            <a:r>
              <a:rPr lang="en-GB" sz="1050" dirty="0" err="1">
                <a:solidFill>
                  <a:schemeClr val="tx1"/>
                </a:solidFill>
              </a:rPr>
              <a:t>iAcademy</a:t>
            </a:r>
            <a:r>
              <a:rPr lang="en-GB" sz="1050" dirty="0">
                <a:solidFill>
                  <a:schemeClr val="tx1"/>
                </a:solidFill>
              </a:rPr>
              <a:t> for the purposes of lecturing on the above described subject and the material should be viewed in this context. The work does not constitute professional advice and no warranties are made regarding the information presented. The Author and </a:t>
            </a:r>
            <a:r>
              <a:rPr lang="en-GB" sz="1050" dirty="0" err="1">
                <a:solidFill>
                  <a:schemeClr val="tx1"/>
                </a:solidFill>
              </a:rPr>
              <a:t>iAcademy</a:t>
            </a:r>
            <a:r>
              <a:rPr lang="en-GB" sz="1050" dirty="0">
                <a:solidFill>
                  <a:schemeClr val="tx1"/>
                </a:solidFill>
              </a:rPr>
              <a:t> do not accept any liability for the consequences of any action taken as a result of the work or any recommendations made or inferred. Permission to use any of these materials must be first granted by </a:t>
            </a:r>
            <a:r>
              <a:rPr lang="en-GB" sz="1050" dirty="0" err="1">
                <a:solidFill>
                  <a:schemeClr val="tx1"/>
                </a:solidFill>
              </a:rPr>
              <a:t>iAcademy</a:t>
            </a:r>
            <a:r>
              <a:rPr lang="en-GB" sz="1050" dirty="0">
                <a:solidFill>
                  <a:schemeClr val="tx1"/>
                </a:solidFill>
              </a:rPr>
              <a:t>.</a:t>
            </a:r>
            <a:endParaRPr lang="en-US" sz="1050" dirty="0">
              <a:solidFill>
                <a:schemeClr val="tx1"/>
              </a:solidFill>
            </a:endParaRPr>
          </a:p>
        </p:txBody>
      </p:sp>
    </p:spTree>
    <p:extLst>
      <p:ext uri="{BB962C8B-B14F-4D97-AF65-F5344CB8AC3E}">
        <p14:creationId xmlns:p14="http://schemas.microsoft.com/office/powerpoint/2010/main" val="301391030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 Design</a:t>
            </a:r>
            <a:endParaRPr lang="en-US" dirty="0"/>
          </a:p>
        </p:txBody>
      </p:sp>
      <p:sp>
        <p:nvSpPr>
          <p:cNvPr id="4" name="TextBox 3"/>
          <p:cNvSpPr txBox="1"/>
          <p:nvPr/>
        </p:nvSpPr>
        <p:spPr>
          <a:xfrm flipH="1">
            <a:off x="5990436" y="2438575"/>
            <a:ext cx="2219846" cy="2585323"/>
          </a:xfrm>
          <a:prstGeom prst="rect">
            <a:avLst/>
          </a:prstGeom>
          <a:solidFill>
            <a:schemeClr val="accent2"/>
          </a:solidFill>
        </p:spPr>
        <p:txBody>
          <a:bodyPr wrap="square" rtlCol="0">
            <a:spAutoFit/>
          </a:bodyPr>
          <a:lstStyle/>
          <a:p>
            <a:r>
              <a:rPr lang="en-US" dirty="0">
                <a:solidFill>
                  <a:schemeClr val="bg1"/>
                </a:solidFill>
              </a:rPr>
              <a:t>Database Design is a very crucial and important process of System Design and Development.</a:t>
            </a:r>
          </a:p>
          <a:p>
            <a:endParaRPr lang="en-US" dirty="0">
              <a:solidFill>
                <a:schemeClr val="bg1"/>
              </a:solidFill>
            </a:endParaRPr>
          </a:p>
          <a:p>
            <a:r>
              <a:rPr lang="en-US" dirty="0">
                <a:solidFill>
                  <a:schemeClr val="bg1"/>
                </a:solidFill>
              </a:rPr>
              <a:t>Usually requires experience to excel in database design</a:t>
            </a:r>
            <a:endParaRPr lang="en-US" dirty="0">
              <a:solidFill>
                <a:schemeClr val="bg1"/>
              </a:solidFill>
            </a:endParaRPr>
          </a:p>
        </p:txBody>
      </p:sp>
      <p:pic>
        <p:nvPicPr>
          <p:cNvPr id="1026" name="Picture 2" descr="http://www.aps.bm/media/1098/database-developmen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650" y="2125266"/>
            <a:ext cx="4442406" cy="3173147"/>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3710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 Process (Relational Model)</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771023574"/>
              </p:ext>
            </p:extLst>
          </p:nvPr>
        </p:nvGraphicFramePr>
        <p:xfrm>
          <a:off x="628650" y="2226469"/>
          <a:ext cx="788670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44038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5" name="TextBox 4"/>
          <p:cNvSpPr txBox="1"/>
          <p:nvPr/>
        </p:nvSpPr>
        <p:spPr>
          <a:xfrm flipH="1">
            <a:off x="985234" y="2125266"/>
            <a:ext cx="6954592" cy="3416320"/>
          </a:xfrm>
          <a:prstGeom prst="rect">
            <a:avLst/>
          </a:prstGeom>
          <a:solidFill>
            <a:schemeClr val="accent2"/>
          </a:solidFill>
        </p:spPr>
        <p:txBody>
          <a:bodyPr wrap="square" rtlCol="0">
            <a:spAutoFit/>
          </a:bodyPr>
          <a:lstStyle/>
          <a:p>
            <a:r>
              <a:rPr lang="en-US" sz="2400" dirty="0">
                <a:solidFill>
                  <a:schemeClr val="bg1"/>
                </a:solidFill>
              </a:rPr>
              <a:t>Let us assume, a college runs multiple modules. Students take modules during course of study. College keeps record about id, name, address, telephone number and dob of Students while module details like module Code, Name, Detail of Course and Year of Study is provided to students.</a:t>
            </a:r>
          </a:p>
          <a:p>
            <a:endParaRPr lang="en-US" sz="2400" dirty="0">
              <a:solidFill>
                <a:schemeClr val="bg1"/>
              </a:solidFill>
            </a:endParaRPr>
          </a:p>
          <a:p>
            <a:r>
              <a:rPr lang="en-US" sz="2400" dirty="0">
                <a:solidFill>
                  <a:schemeClr val="bg1"/>
                </a:solidFill>
              </a:rPr>
              <a:t>It is essential to keep record of dates of enrollment for each module students take.</a:t>
            </a:r>
            <a:endParaRPr lang="en-US" sz="2400" dirty="0">
              <a:solidFill>
                <a:schemeClr val="bg1"/>
              </a:solidFill>
            </a:endParaRPr>
          </a:p>
        </p:txBody>
      </p:sp>
    </p:spTree>
    <p:extLst>
      <p:ext uri="{BB962C8B-B14F-4D97-AF65-F5344CB8AC3E}">
        <p14:creationId xmlns:p14="http://schemas.microsoft.com/office/powerpoint/2010/main" val="29780908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1: Textual Analysis</a:t>
            </a:r>
            <a:endParaRPr lang="en-US" dirty="0"/>
          </a:p>
        </p:txBody>
      </p:sp>
      <p:sp>
        <p:nvSpPr>
          <p:cNvPr id="5" name="TextBox 4"/>
          <p:cNvSpPr txBox="1"/>
          <p:nvPr/>
        </p:nvSpPr>
        <p:spPr>
          <a:xfrm flipH="1">
            <a:off x="985234" y="2125266"/>
            <a:ext cx="6954592" cy="3416320"/>
          </a:xfrm>
          <a:prstGeom prst="rect">
            <a:avLst/>
          </a:prstGeom>
          <a:solidFill>
            <a:schemeClr val="accent2"/>
          </a:solidFill>
        </p:spPr>
        <p:txBody>
          <a:bodyPr wrap="square" rtlCol="0">
            <a:spAutoFit/>
          </a:bodyPr>
          <a:lstStyle/>
          <a:p>
            <a:r>
              <a:rPr lang="en-US" sz="2400" dirty="0">
                <a:solidFill>
                  <a:schemeClr val="bg1"/>
                </a:solidFill>
              </a:rPr>
              <a:t>Let us assume, a college runs multiple courses. Students take courses during course of study. College keeps record about id, name, address, telephone number and dob of Students while course details like Course Code, Name, Detail of Course and Year of Study is provided to students.</a:t>
            </a:r>
          </a:p>
          <a:p>
            <a:endParaRPr lang="en-US" sz="2400" dirty="0">
              <a:solidFill>
                <a:schemeClr val="bg1"/>
              </a:solidFill>
            </a:endParaRPr>
          </a:p>
          <a:p>
            <a:r>
              <a:rPr lang="en-US" sz="2400" dirty="0">
                <a:solidFill>
                  <a:schemeClr val="bg1"/>
                </a:solidFill>
              </a:rPr>
              <a:t>It is essential to keep record of dates of enrollment for each courses students take.</a:t>
            </a:r>
            <a:endParaRPr lang="en-US" sz="2400" dirty="0">
              <a:solidFill>
                <a:schemeClr val="bg1"/>
              </a:solidFill>
            </a:endParaRPr>
          </a:p>
        </p:txBody>
      </p:sp>
    </p:spTree>
    <p:extLst>
      <p:ext uri="{BB962C8B-B14F-4D97-AF65-F5344CB8AC3E}">
        <p14:creationId xmlns:p14="http://schemas.microsoft.com/office/powerpoint/2010/main" val="1323154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2: Identification of Entities</a:t>
            </a:r>
            <a:endParaRPr lang="en-US" dirty="0"/>
          </a:p>
        </p:txBody>
      </p:sp>
      <p:sp>
        <p:nvSpPr>
          <p:cNvPr id="5" name="TextBox 4"/>
          <p:cNvSpPr txBox="1"/>
          <p:nvPr/>
        </p:nvSpPr>
        <p:spPr>
          <a:xfrm flipH="1">
            <a:off x="985234" y="2125266"/>
            <a:ext cx="3960254" cy="3462486"/>
          </a:xfrm>
          <a:prstGeom prst="rect">
            <a:avLst/>
          </a:prstGeom>
          <a:solidFill>
            <a:schemeClr val="accent2"/>
          </a:solidFill>
        </p:spPr>
        <p:txBody>
          <a:bodyPr wrap="square" rtlCol="0">
            <a:spAutoFit/>
          </a:bodyPr>
          <a:lstStyle/>
          <a:p>
            <a:r>
              <a:rPr lang="en-US" dirty="0">
                <a:solidFill>
                  <a:schemeClr val="bg1"/>
                </a:solidFill>
              </a:rPr>
              <a:t>Let us assume, a college runs multiple courses. </a:t>
            </a:r>
            <a:r>
              <a:rPr lang="en-US" sz="2100" b="1" dirty="0">
                <a:solidFill>
                  <a:schemeClr val="bg1"/>
                </a:solidFill>
              </a:rPr>
              <a:t>Students</a:t>
            </a:r>
            <a:r>
              <a:rPr lang="en-US" sz="2100" dirty="0">
                <a:solidFill>
                  <a:schemeClr val="bg1"/>
                </a:solidFill>
              </a:rPr>
              <a:t> </a:t>
            </a:r>
            <a:r>
              <a:rPr lang="en-US" dirty="0">
                <a:solidFill>
                  <a:schemeClr val="bg1"/>
                </a:solidFill>
              </a:rPr>
              <a:t>take </a:t>
            </a:r>
            <a:r>
              <a:rPr lang="en-US" sz="2100" b="1" dirty="0">
                <a:solidFill>
                  <a:schemeClr val="bg1"/>
                </a:solidFill>
              </a:rPr>
              <a:t>courses</a:t>
            </a:r>
            <a:r>
              <a:rPr lang="en-US" dirty="0">
                <a:solidFill>
                  <a:schemeClr val="bg1"/>
                </a:solidFill>
              </a:rPr>
              <a:t> during course of study. College keeps record about id, name, address, telephone number and dob of Students while course details like Course Code, Name, Detail of Course and Year of Study is provided to students.</a:t>
            </a:r>
          </a:p>
          <a:p>
            <a:endParaRPr lang="en-US" dirty="0">
              <a:solidFill>
                <a:schemeClr val="bg1"/>
              </a:solidFill>
            </a:endParaRPr>
          </a:p>
          <a:p>
            <a:r>
              <a:rPr lang="en-US" dirty="0">
                <a:solidFill>
                  <a:schemeClr val="bg1"/>
                </a:solidFill>
              </a:rPr>
              <a:t>It is essential to keep record of dates of enrollment for each courses students take.</a:t>
            </a:r>
            <a:endParaRPr lang="en-US" dirty="0">
              <a:solidFill>
                <a:schemeClr val="bg1"/>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1990681108"/>
              </p:ext>
            </p:extLst>
          </p:nvPr>
        </p:nvGraphicFramePr>
        <p:xfrm>
          <a:off x="5505718" y="3319172"/>
          <a:ext cx="2123941" cy="834390"/>
        </p:xfrm>
        <a:graphic>
          <a:graphicData uri="http://schemas.openxmlformats.org/drawingml/2006/table">
            <a:tbl>
              <a:tblPr firstRow="1" bandRow="1">
                <a:tableStyleId>{5C22544A-7EE6-4342-B048-85BDC9FD1C3A}</a:tableStyleId>
              </a:tblPr>
              <a:tblGrid>
                <a:gridCol w="2123941"/>
              </a:tblGrid>
              <a:tr h="278130">
                <a:tc>
                  <a:txBody>
                    <a:bodyPr/>
                    <a:lstStyle/>
                    <a:p>
                      <a:r>
                        <a:rPr lang="en-US" sz="1000" dirty="0" smtClean="0"/>
                        <a:t>Possible Entities</a:t>
                      </a:r>
                      <a:endParaRPr lang="en-US" sz="1000" dirty="0"/>
                    </a:p>
                  </a:txBody>
                  <a:tcPr marL="68580" marR="68580" marT="34290" marB="34290"/>
                </a:tc>
              </a:tr>
              <a:tr h="278130">
                <a:tc>
                  <a:txBody>
                    <a:bodyPr/>
                    <a:lstStyle/>
                    <a:p>
                      <a:r>
                        <a:rPr lang="en-US" sz="1000" dirty="0" smtClean="0"/>
                        <a:t>Student</a:t>
                      </a:r>
                      <a:endParaRPr lang="en-US" sz="1000" dirty="0"/>
                    </a:p>
                  </a:txBody>
                  <a:tcPr marL="68580" marR="68580" marT="34290" marB="34290"/>
                </a:tc>
              </a:tr>
              <a:tr h="278130">
                <a:tc>
                  <a:txBody>
                    <a:bodyPr/>
                    <a:lstStyle/>
                    <a:p>
                      <a:r>
                        <a:rPr lang="en-US" sz="1000" dirty="0" smtClean="0"/>
                        <a:t>Course</a:t>
                      </a:r>
                      <a:endParaRPr lang="en-US" sz="1000" dirty="0"/>
                    </a:p>
                  </a:txBody>
                  <a:tcPr marL="68580" marR="68580" marT="34290" marB="34290"/>
                </a:tc>
              </a:tr>
            </a:tbl>
          </a:graphicData>
        </a:graphic>
      </p:graphicFrame>
    </p:spTree>
    <p:extLst>
      <p:ext uri="{BB962C8B-B14F-4D97-AF65-F5344CB8AC3E}">
        <p14:creationId xmlns:p14="http://schemas.microsoft.com/office/powerpoint/2010/main" val="633964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3: Identification of Relationships</a:t>
            </a:r>
            <a:endParaRPr lang="en-US" dirty="0"/>
          </a:p>
        </p:txBody>
      </p:sp>
      <p:sp>
        <p:nvSpPr>
          <p:cNvPr id="5" name="TextBox 4"/>
          <p:cNvSpPr txBox="1"/>
          <p:nvPr/>
        </p:nvSpPr>
        <p:spPr>
          <a:xfrm flipH="1">
            <a:off x="2353614" y="4670700"/>
            <a:ext cx="3667259" cy="369332"/>
          </a:xfrm>
          <a:prstGeom prst="rect">
            <a:avLst/>
          </a:prstGeom>
          <a:solidFill>
            <a:schemeClr val="accent2"/>
          </a:solidFill>
        </p:spPr>
        <p:txBody>
          <a:bodyPr wrap="square" rtlCol="0">
            <a:spAutoFit/>
          </a:bodyPr>
          <a:lstStyle/>
          <a:p>
            <a:r>
              <a:rPr lang="en-US" dirty="0">
                <a:solidFill>
                  <a:schemeClr val="bg1"/>
                </a:solidFill>
              </a:rPr>
              <a:t>One Student can take many Modules</a:t>
            </a:r>
            <a:endParaRPr lang="en-US" dirty="0">
              <a:solidFill>
                <a:schemeClr val="bg1"/>
              </a:solidFill>
            </a:endParaRPr>
          </a:p>
        </p:txBody>
      </p:sp>
      <p:sp>
        <p:nvSpPr>
          <p:cNvPr id="6" name="TextBox 5"/>
          <p:cNvSpPr txBox="1"/>
          <p:nvPr/>
        </p:nvSpPr>
        <p:spPr>
          <a:xfrm flipH="1">
            <a:off x="1999446" y="5108336"/>
            <a:ext cx="4375597" cy="369332"/>
          </a:xfrm>
          <a:prstGeom prst="rect">
            <a:avLst/>
          </a:prstGeom>
          <a:solidFill>
            <a:schemeClr val="accent2"/>
          </a:solidFill>
        </p:spPr>
        <p:txBody>
          <a:bodyPr wrap="square" rtlCol="0">
            <a:spAutoFit/>
          </a:bodyPr>
          <a:lstStyle/>
          <a:p>
            <a:r>
              <a:rPr lang="en-US" dirty="0">
                <a:solidFill>
                  <a:schemeClr val="bg1"/>
                </a:solidFill>
              </a:rPr>
              <a:t>One Module can be taken by Many Students </a:t>
            </a:r>
            <a:endParaRPr lang="en-US" dirty="0">
              <a:solidFill>
                <a:schemeClr val="bg1"/>
              </a:solidFill>
            </a:endParaRPr>
          </a:p>
        </p:txBody>
      </p:sp>
      <p:sp>
        <p:nvSpPr>
          <p:cNvPr id="7" name="Rectangle 6"/>
          <p:cNvSpPr/>
          <p:nvPr/>
        </p:nvSpPr>
        <p:spPr>
          <a:xfrm>
            <a:off x="1352281" y="2460670"/>
            <a:ext cx="1700012" cy="6471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STUDENT</a:t>
            </a:r>
            <a:endParaRPr lang="en-US" sz="1350" dirty="0"/>
          </a:p>
        </p:txBody>
      </p:sp>
      <p:sp>
        <p:nvSpPr>
          <p:cNvPr id="8" name="Rectangle 7"/>
          <p:cNvSpPr/>
          <p:nvPr/>
        </p:nvSpPr>
        <p:spPr>
          <a:xfrm>
            <a:off x="5562063" y="2460670"/>
            <a:ext cx="1700012" cy="6471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MODULE</a:t>
            </a:r>
            <a:endParaRPr lang="en-US" sz="1350" dirty="0"/>
          </a:p>
        </p:txBody>
      </p:sp>
      <p:sp>
        <p:nvSpPr>
          <p:cNvPr id="9" name="Diamond 8"/>
          <p:cNvSpPr/>
          <p:nvPr/>
        </p:nvSpPr>
        <p:spPr>
          <a:xfrm>
            <a:off x="3851588" y="2243338"/>
            <a:ext cx="911181" cy="108182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take</a:t>
            </a:r>
            <a:endParaRPr lang="en-US" sz="1350" dirty="0"/>
          </a:p>
        </p:txBody>
      </p:sp>
      <p:cxnSp>
        <p:nvCxnSpPr>
          <p:cNvPr id="11" name="Straight Connector 10"/>
          <p:cNvCxnSpPr>
            <a:stCxn id="7" idx="3"/>
            <a:endCxn id="9" idx="1"/>
          </p:cNvCxnSpPr>
          <p:nvPr/>
        </p:nvCxnSpPr>
        <p:spPr>
          <a:xfrm>
            <a:off x="3052293" y="2784251"/>
            <a:ext cx="799295" cy="0"/>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p:cNvCxnSpPr>
            <a:stCxn id="9" idx="3"/>
            <a:endCxn id="8" idx="1"/>
          </p:cNvCxnSpPr>
          <p:nvPr/>
        </p:nvCxnSpPr>
        <p:spPr>
          <a:xfrm>
            <a:off x="4762768" y="2784251"/>
            <a:ext cx="799295"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3286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3: Identification of Relationships</a:t>
            </a:r>
            <a:endParaRPr lang="en-US" dirty="0"/>
          </a:p>
        </p:txBody>
      </p:sp>
      <p:sp>
        <p:nvSpPr>
          <p:cNvPr id="7" name="Rectangle 6"/>
          <p:cNvSpPr/>
          <p:nvPr/>
        </p:nvSpPr>
        <p:spPr>
          <a:xfrm>
            <a:off x="1400577" y="3368630"/>
            <a:ext cx="1700012" cy="6471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STUDENT</a:t>
            </a:r>
            <a:endParaRPr lang="en-US" sz="1350" dirty="0"/>
          </a:p>
        </p:txBody>
      </p:sp>
      <p:sp>
        <p:nvSpPr>
          <p:cNvPr id="8" name="Rectangle 7"/>
          <p:cNvSpPr/>
          <p:nvPr/>
        </p:nvSpPr>
        <p:spPr>
          <a:xfrm>
            <a:off x="5610358" y="3368630"/>
            <a:ext cx="1700012" cy="6471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MODULE</a:t>
            </a:r>
            <a:endParaRPr lang="en-US" sz="1350" dirty="0"/>
          </a:p>
        </p:txBody>
      </p:sp>
      <p:sp>
        <p:nvSpPr>
          <p:cNvPr id="9" name="Diamond 8"/>
          <p:cNvSpPr/>
          <p:nvPr/>
        </p:nvSpPr>
        <p:spPr>
          <a:xfrm>
            <a:off x="3899883" y="3151299"/>
            <a:ext cx="911181" cy="108182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take</a:t>
            </a:r>
            <a:endParaRPr lang="en-US" sz="1350" dirty="0"/>
          </a:p>
        </p:txBody>
      </p:sp>
      <p:cxnSp>
        <p:nvCxnSpPr>
          <p:cNvPr id="11" name="Straight Connector 10"/>
          <p:cNvCxnSpPr>
            <a:stCxn id="7" idx="3"/>
            <a:endCxn id="9" idx="1"/>
          </p:cNvCxnSpPr>
          <p:nvPr/>
        </p:nvCxnSpPr>
        <p:spPr>
          <a:xfrm>
            <a:off x="3100588" y="3692212"/>
            <a:ext cx="799295" cy="0"/>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p:cNvCxnSpPr>
            <a:stCxn id="9" idx="3"/>
            <a:endCxn id="8" idx="1"/>
          </p:cNvCxnSpPr>
          <p:nvPr/>
        </p:nvCxnSpPr>
        <p:spPr>
          <a:xfrm>
            <a:off x="4811064" y="3692212"/>
            <a:ext cx="799295"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Oval 2"/>
          <p:cNvSpPr/>
          <p:nvPr/>
        </p:nvSpPr>
        <p:spPr>
          <a:xfrm>
            <a:off x="485574" y="2553764"/>
            <a:ext cx="927279" cy="4732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Name</a:t>
            </a:r>
            <a:endParaRPr lang="en-US" sz="1350" dirty="0"/>
          </a:p>
        </p:txBody>
      </p:sp>
      <p:sp>
        <p:nvSpPr>
          <p:cNvPr id="12" name="Oval 11"/>
          <p:cNvSpPr/>
          <p:nvPr/>
        </p:nvSpPr>
        <p:spPr>
          <a:xfrm>
            <a:off x="102628" y="3445903"/>
            <a:ext cx="1013407" cy="4926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Address</a:t>
            </a:r>
            <a:endParaRPr lang="en-US" sz="1350" dirty="0"/>
          </a:p>
        </p:txBody>
      </p:sp>
      <p:sp>
        <p:nvSpPr>
          <p:cNvPr id="14" name="Oval 13"/>
          <p:cNvSpPr/>
          <p:nvPr/>
        </p:nvSpPr>
        <p:spPr>
          <a:xfrm>
            <a:off x="598869" y="4271760"/>
            <a:ext cx="1013407" cy="4926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Tel</a:t>
            </a:r>
            <a:endParaRPr lang="en-US" sz="1350" dirty="0"/>
          </a:p>
        </p:txBody>
      </p:sp>
      <p:sp>
        <p:nvSpPr>
          <p:cNvPr id="15" name="Oval 14"/>
          <p:cNvSpPr/>
          <p:nvPr/>
        </p:nvSpPr>
        <p:spPr>
          <a:xfrm>
            <a:off x="1883535" y="4594011"/>
            <a:ext cx="1013407" cy="4926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DoB</a:t>
            </a:r>
            <a:endParaRPr lang="en-US" sz="1350" dirty="0"/>
          </a:p>
        </p:txBody>
      </p:sp>
      <p:sp>
        <p:nvSpPr>
          <p:cNvPr id="16" name="Oval 15"/>
          <p:cNvSpPr/>
          <p:nvPr/>
        </p:nvSpPr>
        <p:spPr>
          <a:xfrm>
            <a:off x="6731625" y="2297797"/>
            <a:ext cx="1013407" cy="4926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Code</a:t>
            </a:r>
            <a:endParaRPr lang="en-US" sz="1350" dirty="0"/>
          </a:p>
        </p:txBody>
      </p:sp>
      <p:sp>
        <p:nvSpPr>
          <p:cNvPr id="17" name="Oval 16"/>
          <p:cNvSpPr/>
          <p:nvPr/>
        </p:nvSpPr>
        <p:spPr>
          <a:xfrm>
            <a:off x="7879455" y="2961864"/>
            <a:ext cx="1013407" cy="4926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Name</a:t>
            </a:r>
            <a:endParaRPr lang="en-US" sz="1350" dirty="0"/>
          </a:p>
        </p:txBody>
      </p:sp>
      <p:sp>
        <p:nvSpPr>
          <p:cNvPr id="18" name="Oval 17"/>
          <p:cNvSpPr/>
          <p:nvPr/>
        </p:nvSpPr>
        <p:spPr>
          <a:xfrm>
            <a:off x="7879454" y="4044769"/>
            <a:ext cx="1013407" cy="4926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Detail</a:t>
            </a:r>
            <a:endParaRPr lang="en-US" sz="1350" dirty="0"/>
          </a:p>
        </p:txBody>
      </p:sp>
      <p:sp>
        <p:nvSpPr>
          <p:cNvPr id="19" name="Oval 18"/>
          <p:cNvSpPr/>
          <p:nvPr/>
        </p:nvSpPr>
        <p:spPr>
          <a:xfrm>
            <a:off x="6803667" y="4594011"/>
            <a:ext cx="1013407" cy="4926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Year</a:t>
            </a:r>
            <a:endParaRPr lang="en-US" sz="1350" dirty="0"/>
          </a:p>
        </p:txBody>
      </p:sp>
      <p:sp>
        <p:nvSpPr>
          <p:cNvPr id="20" name="Oval 19"/>
          <p:cNvSpPr/>
          <p:nvPr/>
        </p:nvSpPr>
        <p:spPr>
          <a:xfrm>
            <a:off x="3674905" y="4594011"/>
            <a:ext cx="1367174" cy="4926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EnrollDate</a:t>
            </a:r>
            <a:endParaRPr lang="en-US" sz="1350" dirty="0"/>
          </a:p>
        </p:txBody>
      </p:sp>
      <p:sp>
        <p:nvSpPr>
          <p:cNvPr id="21" name="Oval 20"/>
          <p:cNvSpPr/>
          <p:nvPr/>
        </p:nvSpPr>
        <p:spPr>
          <a:xfrm>
            <a:off x="1970468" y="2297796"/>
            <a:ext cx="927279" cy="4732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ID</a:t>
            </a:r>
            <a:endParaRPr lang="en-US" sz="1350" dirty="0"/>
          </a:p>
        </p:txBody>
      </p:sp>
      <p:cxnSp>
        <p:nvCxnSpPr>
          <p:cNvPr id="10" name="Straight Connector 9"/>
          <p:cNvCxnSpPr>
            <a:stCxn id="21" idx="4"/>
            <a:endCxn id="7" idx="0"/>
          </p:cNvCxnSpPr>
          <p:nvPr/>
        </p:nvCxnSpPr>
        <p:spPr>
          <a:xfrm flipH="1">
            <a:off x="2250583" y="2771095"/>
            <a:ext cx="183525" cy="597536"/>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3" idx="5"/>
          </p:cNvCxnSpPr>
          <p:nvPr/>
        </p:nvCxnSpPr>
        <p:spPr>
          <a:xfrm>
            <a:off x="1277056" y="2957750"/>
            <a:ext cx="135797" cy="410881"/>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12" idx="6"/>
            <a:endCxn id="7" idx="1"/>
          </p:cNvCxnSpPr>
          <p:nvPr/>
        </p:nvCxnSpPr>
        <p:spPr>
          <a:xfrm>
            <a:off x="1116034" y="3692212"/>
            <a:ext cx="2845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14" idx="0"/>
          </p:cNvCxnSpPr>
          <p:nvPr/>
        </p:nvCxnSpPr>
        <p:spPr>
          <a:xfrm flipV="1">
            <a:off x="1105572" y="4015793"/>
            <a:ext cx="295005" cy="255966"/>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7" idx="2"/>
            <a:endCxn id="15" idx="0"/>
          </p:cNvCxnSpPr>
          <p:nvPr/>
        </p:nvCxnSpPr>
        <p:spPr>
          <a:xfrm>
            <a:off x="2250583" y="4015793"/>
            <a:ext cx="139656" cy="5782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9" idx="2"/>
            <a:endCxn id="20" idx="0"/>
          </p:cNvCxnSpPr>
          <p:nvPr/>
        </p:nvCxnSpPr>
        <p:spPr>
          <a:xfrm>
            <a:off x="4355474" y="4233125"/>
            <a:ext cx="3019" cy="360886"/>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a:stCxn id="16" idx="4"/>
            <a:endCxn id="8" idx="0"/>
          </p:cNvCxnSpPr>
          <p:nvPr/>
        </p:nvCxnSpPr>
        <p:spPr>
          <a:xfrm flipH="1">
            <a:off x="6460364" y="2790413"/>
            <a:ext cx="777965" cy="5782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8" idx="2"/>
            <a:endCxn id="19" idx="0"/>
          </p:cNvCxnSpPr>
          <p:nvPr/>
        </p:nvCxnSpPr>
        <p:spPr>
          <a:xfrm>
            <a:off x="6460365" y="4015793"/>
            <a:ext cx="850006" cy="5782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8" idx="3"/>
            <a:endCxn id="17" idx="3"/>
          </p:cNvCxnSpPr>
          <p:nvPr/>
        </p:nvCxnSpPr>
        <p:spPr>
          <a:xfrm flipV="1">
            <a:off x="7310371" y="3382338"/>
            <a:ext cx="717494" cy="309874"/>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8" idx="3"/>
            <a:endCxn id="18" idx="1"/>
          </p:cNvCxnSpPr>
          <p:nvPr/>
        </p:nvCxnSpPr>
        <p:spPr>
          <a:xfrm>
            <a:off x="7310370" y="3692212"/>
            <a:ext cx="717494" cy="4247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1175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4: Identification of Constraints</a:t>
            </a:r>
            <a:endParaRPr lang="en-US" dirty="0"/>
          </a:p>
        </p:txBody>
      </p:sp>
      <p:sp>
        <p:nvSpPr>
          <p:cNvPr id="7" name="Rectangle 6"/>
          <p:cNvSpPr/>
          <p:nvPr/>
        </p:nvSpPr>
        <p:spPr>
          <a:xfrm>
            <a:off x="1400577" y="3368630"/>
            <a:ext cx="1700012" cy="6471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STUDENT</a:t>
            </a:r>
            <a:endParaRPr lang="en-US" sz="1350" dirty="0"/>
          </a:p>
        </p:txBody>
      </p:sp>
      <p:sp>
        <p:nvSpPr>
          <p:cNvPr id="8" name="Rectangle 7"/>
          <p:cNvSpPr/>
          <p:nvPr/>
        </p:nvSpPr>
        <p:spPr>
          <a:xfrm>
            <a:off x="5610358" y="3368630"/>
            <a:ext cx="1700012" cy="6471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MODULE</a:t>
            </a:r>
            <a:endParaRPr lang="en-US" sz="1350" dirty="0"/>
          </a:p>
        </p:txBody>
      </p:sp>
      <p:sp>
        <p:nvSpPr>
          <p:cNvPr id="9" name="Diamond 8"/>
          <p:cNvSpPr/>
          <p:nvPr/>
        </p:nvSpPr>
        <p:spPr>
          <a:xfrm>
            <a:off x="3899883" y="3151299"/>
            <a:ext cx="911181" cy="108182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take</a:t>
            </a:r>
            <a:endParaRPr lang="en-US" sz="1350" dirty="0"/>
          </a:p>
        </p:txBody>
      </p:sp>
      <p:cxnSp>
        <p:nvCxnSpPr>
          <p:cNvPr id="11" name="Straight Connector 10"/>
          <p:cNvCxnSpPr>
            <a:stCxn id="7" idx="3"/>
            <a:endCxn id="9" idx="1"/>
          </p:cNvCxnSpPr>
          <p:nvPr/>
        </p:nvCxnSpPr>
        <p:spPr>
          <a:xfrm>
            <a:off x="3100588" y="3692212"/>
            <a:ext cx="799295" cy="0"/>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p:cNvCxnSpPr>
            <a:stCxn id="9" idx="3"/>
            <a:endCxn id="8" idx="1"/>
          </p:cNvCxnSpPr>
          <p:nvPr/>
        </p:nvCxnSpPr>
        <p:spPr>
          <a:xfrm>
            <a:off x="4811064" y="3692212"/>
            <a:ext cx="799295"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Oval 2"/>
          <p:cNvSpPr/>
          <p:nvPr/>
        </p:nvSpPr>
        <p:spPr>
          <a:xfrm>
            <a:off x="485574" y="2553764"/>
            <a:ext cx="927279" cy="4732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Name</a:t>
            </a:r>
            <a:endParaRPr lang="en-US" sz="1350" dirty="0"/>
          </a:p>
        </p:txBody>
      </p:sp>
      <p:sp>
        <p:nvSpPr>
          <p:cNvPr id="12" name="Oval 11"/>
          <p:cNvSpPr/>
          <p:nvPr/>
        </p:nvSpPr>
        <p:spPr>
          <a:xfrm>
            <a:off x="102628" y="3445903"/>
            <a:ext cx="1013407" cy="4926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Address</a:t>
            </a:r>
            <a:endParaRPr lang="en-US" sz="1350" dirty="0"/>
          </a:p>
        </p:txBody>
      </p:sp>
      <p:sp>
        <p:nvSpPr>
          <p:cNvPr id="14" name="Oval 13"/>
          <p:cNvSpPr/>
          <p:nvPr/>
        </p:nvSpPr>
        <p:spPr>
          <a:xfrm>
            <a:off x="399447" y="4222132"/>
            <a:ext cx="1013407" cy="4926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Tel</a:t>
            </a:r>
            <a:endParaRPr lang="en-US" sz="1350" dirty="0"/>
          </a:p>
        </p:txBody>
      </p:sp>
      <p:sp>
        <p:nvSpPr>
          <p:cNvPr id="15" name="Oval 14"/>
          <p:cNvSpPr/>
          <p:nvPr/>
        </p:nvSpPr>
        <p:spPr>
          <a:xfrm>
            <a:off x="1883535" y="4594011"/>
            <a:ext cx="1013407" cy="4926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DoB</a:t>
            </a:r>
            <a:endParaRPr lang="en-US" sz="1350" dirty="0"/>
          </a:p>
        </p:txBody>
      </p:sp>
      <p:sp>
        <p:nvSpPr>
          <p:cNvPr id="16" name="Oval 15"/>
          <p:cNvSpPr/>
          <p:nvPr/>
        </p:nvSpPr>
        <p:spPr>
          <a:xfrm>
            <a:off x="6731625" y="2297797"/>
            <a:ext cx="1013407" cy="4926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u="sng" dirty="0"/>
              <a:t>Code</a:t>
            </a:r>
            <a:endParaRPr lang="en-US" sz="1350" u="sng" dirty="0"/>
          </a:p>
        </p:txBody>
      </p:sp>
      <p:sp>
        <p:nvSpPr>
          <p:cNvPr id="17" name="Oval 16"/>
          <p:cNvSpPr/>
          <p:nvPr/>
        </p:nvSpPr>
        <p:spPr>
          <a:xfrm>
            <a:off x="7879455" y="2961864"/>
            <a:ext cx="1013407" cy="4926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Name</a:t>
            </a:r>
            <a:endParaRPr lang="en-US" sz="1350" dirty="0"/>
          </a:p>
        </p:txBody>
      </p:sp>
      <p:sp>
        <p:nvSpPr>
          <p:cNvPr id="18" name="Oval 17"/>
          <p:cNvSpPr/>
          <p:nvPr/>
        </p:nvSpPr>
        <p:spPr>
          <a:xfrm>
            <a:off x="7879454" y="4044769"/>
            <a:ext cx="1013407" cy="4926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Detail</a:t>
            </a:r>
            <a:endParaRPr lang="en-US" sz="1350" dirty="0"/>
          </a:p>
        </p:txBody>
      </p:sp>
      <p:sp>
        <p:nvSpPr>
          <p:cNvPr id="19" name="Oval 18"/>
          <p:cNvSpPr/>
          <p:nvPr/>
        </p:nvSpPr>
        <p:spPr>
          <a:xfrm>
            <a:off x="6803667" y="4594011"/>
            <a:ext cx="1013407" cy="4926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Year</a:t>
            </a:r>
            <a:endParaRPr lang="en-US" sz="1350" dirty="0"/>
          </a:p>
        </p:txBody>
      </p:sp>
      <p:sp>
        <p:nvSpPr>
          <p:cNvPr id="20" name="Oval 19"/>
          <p:cNvSpPr/>
          <p:nvPr/>
        </p:nvSpPr>
        <p:spPr>
          <a:xfrm>
            <a:off x="3674905" y="4594011"/>
            <a:ext cx="1367174" cy="4926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EnrollDate</a:t>
            </a:r>
            <a:endParaRPr lang="en-US" sz="1350" dirty="0"/>
          </a:p>
        </p:txBody>
      </p:sp>
      <p:sp>
        <p:nvSpPr>
          <p:cNvPr id="21" name="Oval 20"/>
          <p:cNvSpPr/>
          <p:nvPr/>
        </p:nvSpPr>
        <p:spPr>
          <a:xfrm>
            <a:off x="1970468" y="2297796"/>
            <a:ext cx="927279" cy="4732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u="sng" dirty="0"/>
              <a:t>ID</a:t>
            </a:r>
            <a:endParaRPr lang="en-US" sz="1350" u="sng" dirty="0"/>
          </a:p>
        </p:txBody>
      </p:sp>
      <p:cxnSp>
        <p:nvCxnSpPr>
          <p:cNvPr id="10" name="Straight Connector 9"/>
          <p:cNvCxnSpPr>
            <a:stCxn id="21" idx="4"/>
            <a:endCxn id="7" idx="0"/>
          </p:cNvCxnSpPr>
          <p:nvPr/>
        </p:nvCxnSpPr>
        <p:spPr>
          <a:xfrm flipH="1">
            <a:off x="2250583" y="2771095"/>
            <a:ext cx="183525" cy="597536"/>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3" idx="5"/>
          </p:cNvCxnSpPr>
          <p:nvPr/>
        </p:nvCxnSpPr>
        <p:spPr>
          <a:xfrm>
            <a:off x="1277056" y="2957750"/>
            <a:ext cx="135797" cy="410881"/>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12" idx="6"/>
            <a:endCxn id="7" idx="1"/>
          </p:cNvCxnSpPr>
          <p:nvPr/>
        </p:nvCxnSpPr>
        <p:spPr>
          <a:xfrm>
            <a:off x="1116034" y="3692212"/>
            <a:ext cx="2845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14" idx="0"/>
          </p:cNvCxnSpPr>
          <p:nvPr/>
        </p:nvCxnSpPr>
        <p:spPr>
          <a:xfrm flipV="1">
            <a:off x="906150" y="4015794"/>
            <a:ext cx="487788" cy="20633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7" idx="2"/>
            <a:endCxn id="15" idx="0"/>
          </p:cNvCxnSpPr>
          <p:nvPr/>
        </p:nvCxnSpPr>
        <p:spPr>
          <a:xfrm>
            <a:off x="2250583" y="4015793"/>
            <a:ext cx="139656" cy="5782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9" idx="2"/>
            <a:endCxn id="20" idx="0"/>
          </p:cNvCxnSpPr>
          <p:nvPr/>
        </p:nvCxnSpPr>
        <p:spPr>
          <a:xfrm>
            <a:off x="4355474" y="4233125"/>
            <a:ext cx="3019" cy="360886"/>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a:stCxn id="16" idx="4"/>
            <a:endCxn id="8" idx="0"/>
          </p:cNvCxnSpPr>
          <p:nvPr/>
        </p:nvCxnSpPr>
        <p:spPr>
          <a:xfrm flipH="1">
            <a:off x="6460364" y="2790413"/>
            <a:ext cx="777965" cy="5782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8" idx="2"/>
            <a:endCxn id="19" idx="0"/>
          </p:cNvCxnSpPr>
          <p:nvPr/>
        </p:nvCxnSpPr>
        <p:spPr>
          <a:xfrm>
            <a:off x="6460365" y="4015793"/>
            <a:ext cx="850006" cy="5782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8" idx="3"/>
            <a:endCxn id="17" idx="3"/>
          </p:cNvCxnSpPr>
          <p:nvPr/>
        </p:nvCxnSpPr>
        <p:spPr>
          <a:xfrm flipV="1">
            <a:off x="7310371" y="3382338"/>
            <a:ext cx="717494" cy="309874"/>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8" idx="3"/>
            <a:endCxn id="18" idx="1"/>
          </p:cNvCxnSpPr>
          <p:nvPr/>
        </p:nvCxnSpPr>
        <p:spPr>
          <a:xfrm>
            <a:off x="7310370" y="3692212"/>
            <a:ext cx="717494" cy="4247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3783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Tables</a:t>
            </a:r>
            <a:endParaRPr lang="en-US" dirty="0"/>
          </a:p>
        </p:txBody>
      </p:sp>
      <p:pic>
        <p:nvPicPr>
          <p:cNvPr id="5" name="Picture 4"/>
          <p:cNvPicPr>
            <a:picLocks noChangeAspect="1"/>
          </p:cNvPicPr>
          <p:nvPr/>
        </p:nvPicPr>
        <p:blipFill>
          <a:blip r:embed="rId2"/>
          <a:stretch>
            <a:fillRect/>
          </a:stretch>
        </p:blipFill>
        <p:spPr>
          <a:xfrm>
            <a:off x="1235869" y="2493131"/>
            <a:ext cx="6672263" cy="1035844"/>
          </a:xfrm>
          <a:prstGeom prst="rect">
            <a:avLst/>
          </a:prstGeom>
        </p:spPr>
      </p:pic>
      <p:pic>
        <p:nvPicPr>
          <p:cNvPr id="6" name="Picture 5"/>
          <p:cNvPicPr>
            <a:picLocks noChangeAspect="1"/>
          </p:cNvPicPr>
          <p:nvPr/>
        </p:nvPicPr>
        <p:blipFill>
          <a:blip r:embed="rId3"/>
          <a:stretch>
            <a:fillRect/>
          </a:stretch>
        </p:blipFill>
        <p:spPr>
          <a:xfrm>
            <a:off x="1235869" y="3896839"/>
            <a:ext cx="6679406" cy="1028700"/>
          </a:xfrm>
          <a:prstGeom prst="rect">
            <a:avLst/>
          </a:prstGeom>
        </p:spPr>
      </p:pic>
      <p:sp>
        <p:nvSpPr>
          <p:cNvPr id="7" name="TextBox 6"/>
          <p:cNvSpPr txBox="1"/>
          <p:nvPr/>
        </p:nvSpPr>
        <p:spPr>
          <a:xfrm flipH="1">
            <a:off x="1235869" y="2150453"/>
            <a:ext cx="1381763" cy="369332"/>
          </a:xfrm>
          <a:prstGeom prst="rect">
            <a:avLst/>
          </a:prstGeom>
          <a:solidFill>
            <a:schemeClr val="accent2"/>
          </a:solidFill>
        </p:spPr>
        <p:txBody>
          <a:bodyPr wrap="square" rtlCol="0">
            <a:spAutoFit/>
          </a:bodyPr>
          <a:lstStyle/>
          <a:p>
            <a:r>
              <a:rPr lang="en-US" dirty="0">
                <a:solidFill>
                  <a:schemeClr val="bg1"/>
                </a:solidFill>
              </a:rPr>
              <a:t>Order Table</a:t>
            </a:r>
            <a:endParaRPr lang="en-US" dirty="0">
              <a:solidFill>
                <a:schemeClr val="bg1"/>
              </a:solidFill>
            </a:endParaRPr>
          </a:p>
        </p:txBody>
      </p:sp>
      <p:sp>
        <p:nvSpPr>
          <p:cNvPr id="8" name="TextBox 7"/>
          <p:cNvSpPr txBox="1"/>
          <p:nvPr/>
        </p:nvSpPr>
        <p:spPr>
          <a:xfrm flipH="1">
            <a:off x="1235869" y="3528974"/>
            <a:ext cx="3811343" cy="369332"/>
          </a:xfrm>
          <a:prstGeom prst="rect">
            <a:avLst/>
          </a:prstGeom>
          <a:solidFill>
            <a:schemeClr val="accent2"/>
          </a:solidFill>
        </p:spPr>
        <p:txBody>
          <a:bodyPr wrap="square" rtlCol="0">
            <a:spAutoFit/>
          </a:bodyPr>
          <a:lstStyle/>
          <a:p>
            <a:r>
              <a:rPr lang="en-US" dirty="0">
                <a:solidFill>
                  <a:schemeClr val="bg1"/>
                </a:solidFill>
              </a:rPr>
              <a:t>Customer Table</a:t>
            </a:r>
            <a:endParaRPr lang="en-US" dirty="0">
              <a:solidFill>
                <a:schemeClr val="bg1"/>
              </a:solidFill>
            </a:endParaRPr>
          </a:p>
        </p:txBody>
      </p:sp>
      <p:sp>
        <p:nvSpPr>
          <p:cNvPr id="9" name="TextBox 8"/>
          <p:cNvSpPr txBox="1"/>
          <p:nvPr/>
        </p:nvSpPr>
        <p:spPr>
          <a:xfrm flipH="1">
            <a:off x="1235869" y="4974362"/>
            <a:ext cx="6672263" cy="369332"/>
          </a:xfrm>
          <a:prstGeom prst="rect">
            <a:avLst/>
          </a:prstGeom>
          <a:solidFill>
            <a:schemeClr val="accent2"/>
          </a:solidFill>
        </p:spPr>
        <p:txBody>
          <a:bodyPr wrap="square" rtlCol="0">
            <a:spAutoFit/>
          </a:bodyPr>
          <a:lstStyle/>
          <a:p>
            <a:r>
              <a:rPr lang="en-US" dirty="0">
                <a:solidFill>
                  <a:schemeClr val="bg1"/>
                </a:solidFill>
              </a:rPr>
              <a:t>How can I get Name of Customers with OrderID and OrderDate ?</a:t>
            </a:r>
            <a:endParaRPr lang="en-US" dirty="0">
              <a:solidFill>
                <a:schemeClr val="bg1"/>
              </a:solidFill>
            </a:endParaRPr>
          </a:p>
        </p:txBody>
      </p:sp>
    </p:spTree>
    <p:extLst>
      <p:ext uri="{BB962C8B-B14F-4D97-AF65-F5344CB8AC3E}">
        <p14:creationId xmlns:p14="http://schemas.microsoft.com/office/powerpoint/2010/main" val="1078794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Inner Join</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41695212"/>
              </p:ext>
            </p:extLst>
          </p:nvPr>
        </p:nvGraphicFramePr>
        <p:xfrm>
          <a:off x="651337" y="2073414"/>
          <a:ext cx="7639588" cy="3102970"/>
        </p:xfrm>
        <a:graphic>
          <a:graphicData uri="http://schemas.openxmlformats.org/drawingml/2006/table">
            <a:tbl>
              <a:tblPr firstRow="1" bandRow="1">
                <a:tableStyleId>{5C22544A-7EE6-4342-B048-85BDC9FD1C3A}</a:tableStyleId>
              </a:tblPr>
              <a:tblGrid>
                <a:gridCol w="955469"/>
                <a:gridCol w="6684119"/>
              </a:tblGrid>
              <a:tr h="1154783">
                <a:tc>
                  <a:txBody>
                    <a:bodyPr/>
                    <a:lstStyle/>
                    <a:p>
                      <a:r>
                        <a:rPr lang="en-US" sz="1000" dirty="0" smtClean="0"/>
                        <a:t>Example</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Orders.OrderID, Customers.CustomerName, Orders.OrderDate</a:t>
                      </a:r>
                      <a:r>
                        <a:rPr lang="en-US" sz="1000" dirty="0" smtClean="0"/>
                        <a:t/>
                      </a:r>
                      <a:br>
                        <a:rPr lang="en-US" sz="1000" dirty="0" smtClean="0"/>
                      </a:br>
                      <a:r>
                        <a:rPr lang="en-US" sz="1400" b="0" i="0" kern="1200" dirty="0" smtClean="0">
                          <a:solidFill>
                            <a:schemeClr val="lt1"/>
                          </a:solidFill>
                          <a:effectLst/>
                          <a:latin typeface="+mn-lt"/>
                          <a:ea typeface="+mn-ea"/>
                          <a:cs typeface="+mn-cs"/>
                        </a:rPr>
                        <a:t>FROM Orders</a:t>
                      </a:r>
                      <a:r>
                        <a:rPr lang="en-US" sz="1000" dirty="0" smtClean="0"/>
                        <a:t/>
                      </a:r>
                      <a:br>
                        <a:rPr lang="en-US" sz="1000" dirty="0" smtClean="0"/>
                      </a:br>
                      <a:r>
                        <a:rPr lang="en-US" sz="1400" b="0" i="0" kern="1200" dirty="0" smtClean="0">
                          <a:solidFill>
                            <a:schemeClr val="lt1"/>
                          </a:solidFill>
                          <a:effectLst/>
                          <a:latin typeface="+mn-lt"/>
                          <a:ea typeface="+mn-ea"/>
                          <a:cs typeface="+mn-cs"/>
                        </a:rPr>
                        <a:t>INNER JOIN Customers</a:t>
                      </a:r>
                      <a:r>
                        <a:rPr lang="en-US" sz="1000" dirty="0" smtClean="0"/>
                        <a:t/>
                      </a:r>
                      <a:br>
                        <a:rPr lang="en-US" sz="1000" dirty="0" smtClean="0"/>
                      </a:br>
                      <a:r>
                        <a:rPr lang="en-US" sz="1400" b="0" i="0" kern="1200" dirty="0" smtClean="0">
                          <a:solidFill>
                            <a:schemeClr val="lt1"/>
                          </a:solidFill>
                          <a:effectLst/>
                          <a:latin typeface="+mn-lt"/>
                          <a:ea typeface="+mn-ea"/>
                          <a:cs typeface="+mn-cs"/>
                        </a:rPr>
                        <a:t>ON Orders.CustomerID=</a:t>
                      </a:r>
                      <a:r>
                        <a:rPr lang="en-US" sz="1400" b="0" i="0" kern="1200" dirty="0" err="1" smtClean="0">
                          <a:solidFill>
                            <a:schemeClr val="lt1"/>
                          </a:solidFill>
                          <a:effectLst/>
                          <a:latin typeface="+mn-lt"/>
                          <a:ea typeface="+mn-ea"/>
                          <a:cs typeface="+mn-cs"/>
                        </a:rPr>
                        <a:t>Customers.CustomerID</a:t>
                      </a:r>
                      <a:r>
                        <a:rPr lang="en-US" sz="1400" b="0" i="0" kern="1200" dirty="0" smtClean="0">
                          <a:solidFill>
                            <a:schemeClr val="lt1"/>
                          </a:solidFill>
                          <a:effectLst/>
                          <a:latin typeface="+mn-lt"/>
                          <a:ea typeface="+mn-ea"/>
                          <a:cs typeface="+mn-cs"/>
                        </a:rPr>
                        <a:t>;</a:t>
                      </a:r>
                      <a:endParaRPr lang="en-US" sz="1000" dirty="0"/>
                    </a:p>
                  </a:txBody>
                  <a:tcPr marL="68580" marR="68580" marT="34290" marB="34290"/>
                </a:tc>
              </a:tr>
              <a:tr h="1948187">
                <a:tc>
                  <a:txBody>
                    <a:bodyPr/>
                    <a:lstStyle/>
                    <a:p>
                      <a:r>
                        <a:rPr lang="en-US" sz="1000" dirty="0" smtClean="0"/>
                        <a:t>Meaning</a:t>
                      </a:r>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3" name="Picture 2"/>
          <p:cNvPicPr>
            <a:picLocks noChangeAspect="1"/>
          </p:cNvPicPr>
          <p:nvPr/>
        </p:nvPicPr>
        <p:blipFill>
          <a:blip r:embed="rId2"/>
          <a:stretch>
            <a:fillRect/>
          </a:stretch>
        </p:blipFill>
        <p:spPr>
          <a:xfrm>
            <a:off x="1625806" y="3366165"/>
            <a:ext cx="6665119" cy="1535906"/>
          </a:xfrm>
          <a:prstGeom prst="rect">
            <a:avLst/>
          </a:prstGeom>
        </p:spPr>
      </p:pic>
      <p:sp>
        <p:nvSpPr>
          <p:cNvPr id="5" name="Rectangle 4"/>
          <p:cNvSpPr/>
          <p:nvPr/>
        </p:nvSpPr>
        <p:spPr>
          <a:xfrm>
            <a:off x="628650" y="5176384"/>
            <a:ext cx="7662274" cy="715581"/>
          </a:xfrm>
          <a:prstGeom prst="rect">
            <a:avLst/>
          </a:prstGeom>
          <a:solidFill>
            <a:schemeClr val="accent2"/>
          </a:solidFill>
        </p:spPr>
        <p:txBody>
          <a:bodyPr wrap="square">
            <a:spAutoFit/>
          </a:bodyPr>
          <a:lstStyle/>
          <a:p>
            <a:r>
              <a:rPr lang="en-US" sz="1350" dirty="0">
                <a:solidFill>
                  <a:schemeClr val="bg1"/>
                </a:solidFill>
                <a:latin typeface="Verdana" panose="020B0604030504040204" pitchFamily="34" charset="0"/>
              </a:rPr>
              <a:t> </a:t>
            </a:r>
            <a:r>
              <a:rPr lang="en-US" sz="1350" dirty="0">
                <a:solidFill>
                  <a:schemeClr val="bg1"/>
                </a:solidFill>
                <a:latin typeface="Verdana" panose="020B0604030504040204" pitchFamily="34" charset="0"/>
              </a:rPr>
              <a:t>The </a:t>
            </a:r>
            <a:r>
              <a:rPr lang="en-US" sz="1350" dirty="0">
                <a:solidFill>
                  <a:schemeClr val="bg1"/>
                </a:solidFill>
                <a:latin typeface="Verdana" panose="020B0604030504040204" pitchFamily="34" charset="0"/>
              </a:rPr>
              <a:t>"CustomerID" column in the "Orders" table refers to the "CustomerID" in the "Customers" table. The relationship between the two tables above is the "CustomerID" column.</a:t>
            </a:r>
            <a:endParaRPr lang="en-US" sz="1350" dirty="0">
              <a:solidFill>
                <a:schemeClr val="bg1"/>
              </a:solidFill>
            </a:endParaRPr>
          </a:p>
        </p:txBody>
      </p:sp>
    </p:spTree>
    <p:extLst>
      <p:ext uri="{BB962C8B-B14F-4D97-AF65-F5344CB8AC3E}">
        <p14:creationId xmlns:p14="http://schemas.microsoft.com/office/powerpoint/2010/main" val="35508448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Inner Join - Syntax</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75278952"/>
              </p:ext>
            </p:extLst>
          </p:nvPr>
        </p:nvGraphicFramePr>
        <p:xfrm>
          <a:off x="628648" y="2226469"/>
          <a:ext cx="7639588" cy="2395620"/>
        </p:xfrm>
        <a:graphic>
          <a:graphicData uri="http://schemas.openxmlformats.org/drawingml/2006/table">
            <a:tbl>
              <a:tblPr firstRow="1" bandRow="1">
                <a:tableStyleId>{5C22544A-7EE6-4342-B048-85BDC9FD1C3A}</a:tableStyleId>
              </a:tblPr>
              <a:tblGrid>
                <a:gridCol w="955469"/>
                <a:gridCol w="6684119"/>
              </a:tblGrid>
              <a:tr h="891540">
                <a:tc>
                  <a:txBody>
                    <a:bodyPr/>
                    <a:lstStyle/>
                    <a:p>
                      <a:r>
                        <a:rPr lang="en-US" sz="1000" dirty="0" smtClean="0"/>
                        <a:t>Syntax</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a:t>
                      </a:r>
                      <a:r>
                        <a:rPr lang="en-US" sz="1400" b="0" i="1" kern="1200" dirty="0" smtClean="0">
                          <a:solidFill>
                            <a:schemeClr val="lt1"/>
                          </a:solidFill>
                          <a:effectLst/>
                          <a:latin typeface="+mn-lt"/>
                          <a:ea typeface="+mn-ea"/>
                          <a:cs typeface="+mn-cs"/>
                        </a:rPr>
                        <a:t>column_name(s)</a:t>
                      </a:r>
                      <a:r>
                        <a:rPr lang="en-US" sz="1000" dirty="0" smtClean="0"/>
                        <a:t/>
                      </a:r>
                      <a:br>
                        <a:rPr lang="en-US" sz="1000" dirty="0" smtClean="0"/>
                      </a:br>
                      <a:r>
                        <a:rPr lang="en-US" sz="1400" b="0" i="0" kern="1200" dirty="0" smtClean="0">
                          <a:solidFill>
                            <a:schemeClr val="lt1"/>
                          </a:solidFill>
                          <a:effectLst/>
                          <a:latin typeface="+mn-lt"/>
                          <a:ea typeface="+mn-ea"/>
                          <a:cs typeface="+mn-cs"/>
                        </a:rPr>
                        <a:t>FROM </a:t>
                      </a:r>
                      <a:r>
                        <a:rPr lang="en-US" sz="1400" b="0" i="1" kern="1200" dirty="0" smtClean="0">
                          <a:solidFill>
                            <a:schemeClr val="lt1"/>
                          </a:solidFill>
                          <a:effectLst/>
                          <a:latin typeface="+mn-lt"/>
                          <a:ea typeface="+mn-ea"/>
                          <a:cs typeface="+mn-cs"/>
                        </a:rPr>
                        <a:t>table1</a:t>
                      </a:r>
                      <a:r>
                        <a:rPr lang="en-US" sz="1000" dirty="0" smtClean="0"/>
                        <a:t/>
                      </a:r>
                      <a:br>
                        <a:rPr lang="en-US" sz="1000" dirty="0" smtClean="0"/>
                      </a:br>
                      <a:r>
                        <a:rPr lang="en-US" sz="1400" b="0" i="0" kern="1200" dirty="0" smtClean="0">
                          <a:solidFill>
                            <a:schemeClr val="lt1"/>
                          </a:solidFill>
                          <a:effectLst/>
                          <a:latin typeface="+mn-lt"/>
                          <a:ea typeface="+mn-ea"/>
                          <a:cs typeface="+mn-cs"/>
                        </a:rPr>
                        <a:t>INNER JOIN </a:t>
                      </a:r>
                      <a:r>
                        <a:rPr lang="en-US" sz="1400" b="0" i="1" kern="1200" dirty="0" smtClean="0">
                          <a:solidFill>
                            <a:schemeClr val="lt1"/>
                          </a:solidFill>
                          <a:effectLst/>
                          <a:latin typeface="+mn-lt"/>
                          <a:ea typeface="+mn-ea"/>
                          <a:cs typeface="+mn-cs"/>
                        </a:rPr>
                        <a:t>table2</a:t>
                      </a:r>
                      <a:r>
                        <a:rPr lang="en-US" sz="1000" dirty="0" smtClean="0"/>
                        <a:t/>
                      </a:r>
                      <a:br>
                        <a:rPr lang="en-US" sz="1000" dirty="0" smtClean="0"/>
                      </a:br>
                      <a:r>
                        <a:rPr lang="en-US" sz="1400" b="0" i="0" kern="1200" dirty="0" smtClean="0">
                          <a:solidFill>
                            <a:schemeClr val="lt1"/>
                          </a:solidFill>
                          <a:effectLst/>
                          <a:latin typeface="+mn-lt"/>
                          <a:ea typeface="+mn-ea"/>
                          <a:cs typeface="+mn-cs"/>
                        </a:rPr>
                        <a:t>ON </a:t>
                      </a:r>
                      <a:r>
                        <a:rPr lang="en-US" sz="1400" b="0" i="1" kern="1200" dirty="0" smtClean="0">
                          <a:solidFill>
                            <a:schemeClr val="lt1"/>
                          </a:solidFill>
                          <a:effectLst/>
                          <a:latin typeface="+mn-lt"/>
                          <a:ea typeface="+mn-ea"/>
                          <a:cs typeface="+mn-cs"/>
                        </a:rPr>
                        <a:t>table1.column_name</a:t>
                      </a:r>
                      <a:r>
                        <a:rPr lang="en-US" sz="1400" b="0" i="0" kern="1200" dirty="0" smtClean="0">
                          <a:solidFill>
                            <a:schemeClr val="lt1"/>
                          </a:solidFill>
                          <a:effectLst/>
                          <a:latin typeface="+mn-lt"/>
                          <a:ea typeface="+mn-ea"/>
                          <a:cs typeface="+mn-cs"/>
                        </a:rPr>
                        <a:t>=</a:t>
                      </a:r>
                      <a:r>
                        <a:rPr lang="en-US" sz="1400" b="0" i="1" kern="1200" dirty="0" smtClean="0">
                          <a:solidFill>
                            <a:schemeClr val="lt1"/>
                          </a:solidFill>
                          <a:effectLst/>
                          <a:latin typeface="+mn-lt"/>
                          <a:ea typeface="+mn-ea"/>
                          <a:cs typeface="+mn-cs"/>
                        </a:rPr>
                        <a:t>table2.column_name</a:t>
                      </a:r>
                      <a:r>
                        <a:rPr lang="en-US" sz="1400" b="0" i="0" kern="1200" dirty="0" smtClean="0">
                          <a:solidFill>
                            <a:schemeClr val="lt1"/>
                          </a:solidFill>
                          <a:effectLst/>
                          <a:latin typeface="+mn-lt"/>
                          <a:ea typeface="+mn-ea"/>
                          <a:cs typeface="+mn-cs"/>
                        </a:rPr>
                        <a:t>;</a:t>
                      </a:r>
                      <a:endParaRPr lang="en-US" sz="1000" dirty="0"/>
                    </a:p>
                  </a:txBody>
                  <a:tcPr marL="68580" marR="68580" marT="34290" marB="34290"/>
                </a:tc>
              </a:tr>
              <a:tr h="1504080">
                <a:tc>
                  <a:txBody>
                    <a:bodyPr/>
                    <a:lstStyle/>
                    <a:p>
                      <a:r>
                        <a:rPr lang="en-US" sz="1000" dirty="0" smtClean="0"/>
                        <a:t>Syntax</a:t>
                      </a:r>
                      <a:endParaRPr lang="en-US" sz="1000" dirty="0"/>
                    </a:p>
                  </a:txBody>
                  <a:tcPr marL="68580" marR="68580" marT="34290" marB="34290"/>
                </a:tc>
                <a:tc>
                  <a:txBody>
                    <a:bodyPr/>
                    <a:lstStyle/>
                    <a:p>
                      <a:r>
                        <a:rPr lang="en-US" sz="1400" b="0" i="0" kern="1200" dirty="0" smtClean="0">
                          <a:solidFill>
                            <a:schemeClr val="dk1"/>
                          </a:solidFill>
                          <a:effectLst/>
                          <a:latin typeface="+mn-lt"/>
                          <a:ea typeface="+mn-ea"/>
                          <a:cs typeface="+mn-cs"/>
                        </a:rPr>
                        <a:t>SELECT </a:t>
                      </a:r>
                      <a:r>
                        <a:rPr lang="en-US" sz="1400" b="0" i="1" kern="1200" dirty="0" smtClean="0">
                          <a:solidFill>
                            <a:schemeClr val="dk1"/>
                          </a:solidFill>
                          <a:effectLst/>
                          <a:latin typeface="+mn-lt"/>
                          <a:ea typeface="+mn-ea"/>
                          <a:cs typeface="+mn-cs"/>
                        </a:rPr>
                        <a:t>column_name(s)</a:t>
                      </a:r>
                      <a:r>
                        <a:rPr lang="en-US" sz="1000" dirty="0" smtClean="0"/>
                        <a:t/>
                      </a:r>
                      <a:br>
                        <a:rPr lang="en-US" sz="1000" dirty="0" smtClean="0"/>
                      </a:br>
                      <a:r>
                        <a:rPr lang="en-US" sz="1400" b="0" i="0" kern="1200" dirty="0" smtClean="0">
                          <a:solidFill>
                            <a:schemeClr val="dk1"/>
                          </a:solidFill>
                          <a:effectLst/>
                          <a:latin typeface="+mn-lt"/>
                          <a:ea typeface="+mn-ea"/>
                          <a:cs typeface="+mn-cs"/>
                        </a:rPr>
                        <a:t>FROM </a:t>
                      </a:r>
                      <a:r>
                        <a:rPr lang="en-US" sz="1400" b="0" i="1" kern="1200" dirty="0" smtClean="0">
                          <a:solidFill>
                            <a:schemeClr val="dk1"/>
                          </a:solidFill>
                          <a:effectLst/>
                          <a:latin typeface="+mn-lt"/>
                          <a:ea typeface="+mn-ea"/>
                          <a:cs typeface="+mn-cs"/>
                        </a:rPr>
                        <a:t>table1</a:t>
                      </a:r>
                      <a:r>
                        <a:rPr lang="en-US" sz="1000" dirty="0" smtClean="0"/>
                        <a:t/>
                      </a:r>
                      <a:br>
                        <a:rPr lang="en-US" sz="1000" dirty="0" smtClean="0"/>
                      </a:br>
                      <a:r>
                        <a:rPr lang="en-US" sz="1400" b="0" i="0" kern="1200" dirty="0" smtClean="0">
                          <a:solidFill>
                            <a:schemeClr val="dk1"/>
                          </a:solidFill>
                          <a:effectLst/>
                          <a:latin typeface="+mn-lt"/>
                          <a:ea typeface="+mn-ea"/>
                          <a:cs typeface="+mn-cs"/>
                        </a:rPr>
                        <a:t>JOIN </a:t>
                      </a:r>
                      <a:r>
                        <a:rPr lang="en-US" sz="1400" b="0" i="1" kern="1200" dirty="0" smtClean="0">
                          <a:solidFill>
                            <a:schemeClr val="dk1"/>
                          </a:solidFill>
                          <a:effectLst/>
                          <a:latin typeface="+mn-lt"/>
                          <a:ea typeface="+mn-ea"/>
                          <a:cs typeface="+mn-cs"/>
                        </a:rPr>
                        <a:t>table2</a:t>
                      </a:r>
                      <a:r>
                        <a:rPr lang="en-US" sz="1000" dirty="0" smtClean="0"/>
                        <a:t/>
                      </a:r>
                      <a:br>
                        <a:rPr lang="en-US" sz="1000" dirty="0" smtClean="0"/>
                      </a:br>
                      <a:r>
                        <a:rPr lang="en-US" sz="1400" b="0" i="0" kern="1200" dirty="0" smtClean="0">
                          <a:solidFill>
                            <a:schemeClr val="dk1"/>
                          </a:solidFill>
                          <a:effectLst/>
                          <a:latin typeface="+mn-lt"/>
                          <a:ea typeface="+mn-ea"/>
                          <a:cs typeface="+mn-cs"/>
                        </a:rPr>
                        <a:t>ON </a:t>
                      </a:r>
                      <a:r>
                        <a:rPr lang="en-US" sz="1400" b="0" i="1" kern="1200" dirty="0" smtClean="0">
                          <a:solidFill>
                            <a:schemeClr val="dk1"/>
                          </a:solidFill>
                          <a:effectLst/>
                          <a:latin typeface="+mn-lt"/>
                          <a:ea typeface="+mn-ea"/>
                          <a:cs typeface="+mn-cs"/>
                        </a:rPr>
                        <a:t>table1.column_name</a:t>
                      </a:r>
                      <a:r>
                        <a:rPr lang="en-US" sz="1400" b="0" i="0" kern="1200" dirty="0" smtClean="0">
                          <a:solidFill>
                            <a:schemeClr val="dk1"/>
                          </a:solidFill>
                          <a:effectLst/>
                          <a:latin typeface="+mn-lt"/>
                          <a:ea typeface="+mn-ea"/>
                          <a:cs typeface="+mn-cs"/>
                        </a:rPr>
                        <a:t>=</a:t>
                      </a:r>
                      <a:r>
                        <a:rPr lang="en-US" sz="1400" b="0" i="1" kern="1200" dirty="0" smtClean="0">
                          <a:solidFill>
                            <a:schemeClr val="dk1"/>
                          </a:solidFill>
                          <a:effectLst/>
                          <a:latin typeface="+mn-lt"/>
                          <a:ea typeface="+mn-ea"/>
                          <a:cs typeface="+mn-cs"/>
                        </a:rPr>
                        <a:t>table2.column_name</a:t>
                      </a:r>
                      <a:r>
                        <a:rPr lang="en-US" sz="1400" b="0" i="0" kern="1200" dirty="0" smtClean="0">
                          <a:solidFill>
                            <a:schemeClr val="dk1"/>
                          </a:solidFill>
                          <a:effectLst/>
                          <a:latin typeface="+mn-lt"/>
                          <a:ea typeface="+mn-ea"/>
                          <a:cs typeface="+mn-cs"/>
                        </a:rPr>
                        <a:t>;</a:t>
                      </a:r>
                      <a:endParaRPr lang="en-US" sz="1000" dirty="0"/>
                    </a:p>
                  </a:txBody>
                  <a:tcPr marL="68580" marR="68580" marT="34290" marB="34290"/>
                </a:tc>
              </a:tr>
            </a:tbl>
          </a:graphicData>
        </a:graphic>
      </p:graphicFrame>
    </p:spTree>
    <p:extLst>
      <p:ext uri="{BB962C8B-B14F-4D97-AF65-F5344CB8AC3E}">
        <p14:creationId xmlns:p14="http://schemas.microsoft.com/office/powerpoint/2010/main" val="480172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Inner Join - Demo</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130492042"/>
              </p:ext>
            </p:extLst>
          </p:nvPr>
        </p:nvGraphicFramePr>
        <p:xfrm>
          <a:off x="628650" y="1946991"/>
          <a:ext cx="7639588" cy="3383086"/>
        </p:xfrm>
        <a:graphic>
          <a:graphicData uri="http://schemas.openxmlformats.org/drawingml/2006/table">
            <a:tbl>
              <a:tblPr firstRow="1" bandRow="1">
                <a:tableStyleId>{5C22544A-7EE6-4342-B048-85BDC9FD1C3A}</a:tableStyleId>
              </a:tblPr>
              <a:tblGrid>
                <a:gridCol w="955469"/>
                <a:gridCol w="6684119"/>
              </a:tblGrid>
              <a:tr h="1427020">
                <a:tc>
                  <a:txBody>
                    <a:bodyPr/>
                    <a:lstStyle/>
                    <a:p>
                      <a:r>
                        <a:rPr lang="en-US" sz="1000" dirty="0" smtClean="0"/>
                        <a:t>Example</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Customers.CustomerName, Orders.OrderID</a:t>
                      </a:r>
                      <a:r>
                        <a:rPr lang="en-US" sz="1000" dirty="0" smtClean="0"/>
                        <a:t/>
                      </a:r>
                      <a:br>
                        <a:rPr lang="en-US" sz="1000" dirty="0" smtClean="0"/>
                      </a:br>
                      <a:r>
                        <a:rPr lang="en-US" sz="1400" b="0" i="0" kern="1200" dirty="0" smtClean="0">
                          <a:solidFill>
                            <a:schemeClr val="lt1"/>
                          </a:solidFill>
                          <a:effectLst/>
                          <a:latin typeface="+mn-lt"/>
                          <a:ea typeface="+mn-ea"/>
                          <a:cs typeface="+mn-cs"/>
                        </a:rPr>
                        <a:t>FROM Customers</a:t>
                      </a:r>
                      <a:r>
                        <a:rPr lang="en-US" sz="1000" dirty="0" smtClean="0"/>
                        <a:t/>
                      </a:r>
                      <a:br>
                        <a:rPr lang="en-US" sz="1000" dirty="0" smtClean="0"/>
                      </a:br>
                      <a:r>
                        <a:rPr lang="en-US" sz="1400" b="0" i="0" kern="1200" dirty="0" smtClean="0">
                          <a:solidFill>
                            <a:schemeClr val="lt1"/>
                          </a:solidFill>
                          <a:effectLst/>
                          <a:latin typeface="+mn-lt"/>
                          <a:ea typeface="+mn-ea"/>
                          <a:cs typeface="+mn-cs"/>
                        </a:rPr>
                        <a:t>INNER JOIN Orders</a:t>
                      </a:r>
                      <a:r>
                        <a:rPr lang="en-US" sz="1000" dirty="0" smtClean="0"/>
                        <a:t/>
                      </a:r>
                      <a:br>
                        <a:rPr lang="en-US" sz="1000" dirty="0" smtClean="0"/>
                      </a:br>
                      <a:r>
                        <a:rPr lang="en-US" sz="1400" b="0" i="0" kern="1200" dirty="0" smtClean="0">
                          <a:solidFill>
                            <a:schemeClr val="lt1"/>
                          </a:solidFill>
                          <a:effectLst/>
                          <a:latin typeface="+mn-lt"/>
                          <a:ea typeface="+mn-ea"/>
                          <a:cs typeface="+mn-cs"/>
                        </a:rPr>
                        <a:t>ON </a:t>
                      </a:r>
                      <a:r>
                        <a:rPr lang="en-US" sz="1400" b="0" i="0" kern="1200" dirty="0" err="1" smtClean="0">
                          <a:solidFill>
                            <a:schemeClr val="lt1"/>
                          </a:solidFill>
                          <a:effectLst/>
                          <a:latin typeface="+mn-lt"/>
                          <a:ea typeface="+mn-ea"/>
                          <a:cs typeface="+mn-cs"/>
                        </a:rPr>
                        <a:t>Customers.CustomerID</a:t>
                      </a:r>
                      <a:r>
                        <a:rPr lang="en-US" sz="1400" b="0" i="0" kern="1200" dirty="0" smtClean="0">
                          <a:solidFill>
                            <a:schemeClr val="lt1"/>
                          </a:solidFill>
                          <a:effectLst/>
                          <a:latin typeface="+mn-lt"/>
                          <a:ea typeface="+mn-ea"/>
                          <a:cs typeface="+mn-cs"/>
                        </a:rPr>
                        <a:t>=Orders.CustomerID</a:t>
                      </a:r>
                      <a:r>
                        <a:rPr lang="en-US" sz="1000" dirty="0" smtClean="0"/>
                        <a:t/>
                      </a:r>
                      <a:br>
                        <a:rPr lang="en-US" sz="1000" dirty="0" smtClean="0"/>
                      </a:br>
                      <a:r>
                        <a:rPr lang="en-US" sz="1400" b="0" i="0" kern="1200" dirty="0" smtClean="0">
                          <a:solidFill>
                            <a:schemeClr val="lt1"/>
                          </a:solidFill>
                          <a:effectLst/>
                          <a:latin typeface="+mn-lt"/>
                          <a:ea typeface="+mn-ea"/>
                          <a:cs typeface="+mn-cs"/>
                        </a:rPr>
                        <a:t>ORDER BY Customers.CustomerName;</a:t>
                      </a:r>
                      <a:endParaRPr lang="en-US" sz="1000" dirty="0"/>
                    </a:p>
                  </a:txBody>
                  <a:tcPr marL="68580" marR="68580" marT="34290" marB="34290"/>
                </a:tc>
              </a:tr>
              <a:tr h="1956066">
                <a:tc>
                  <a:txBody>
                    <a:bodyPr/>
                    <a:lstStyle/>
                    <a:p>
                      <a:r>
                        <a:rPr lang="en-US" sz="1000" dirty="0" smtClean="0"/>
                        <a:t>Image</a:t>
                      </a:r>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3" name="Picture 2"/>
          <p:cNvPicPr>
            <a:picLocks noChangeAspect="1"/>
          </p:cNvPicPr>
          <p:nvPr/>
        </p:nvPicPr>
        <p:blipFill>
          <a:blip r:embed="rId2"/>
          <a:stretch>
            <a:fillRect/>
          </a:stretch>
        </p:blipFill>
        <p:spPr>
          <a:xfrm>
            <a:off x="628650" y="3348759"/>
            <a:ext cx="7629928" cy="2150269"/>
          </a:xfrm>
          <a:prstGeom prst="rect">
            <a:avLst/>
          </a:prstGeom>
        </p:spPr>
      </p:pic>
    </p:spTree>
    <p:extLst>
      <p:ext uri="{BB962C8B-B14F-4D97-AF65-F5344CB8AC3E}">
        <p14:creationId xmlns:p14="http://schemas.microsoft.com/office/powerpoint/2010/main" val="4157274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Left Join - Demo</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65594330"/>
              </p:ext>
            </p:extLst>
          </p:nvPr>
        </p:nvGraphicFramePr>
        <p:xfrm>
          <a:off x="628650" y="1946991"/>
          <a:ext cx="7639588" cy="3383086"/>
        </p:xfrm>
        <a:graphic>
          <a:graphicData uri="http://schemas.openxmlformats.org/drawingml/2006/table">
            <a:tbl>
              <a:tblPr firstRow="1" bandRow="1">
                <a:tableStyleId>{5C22544A-7EE6-4342-B048-85BDC9FD1C3A}</a:tableStyleId>
              </a:tblPr>
              <a:tblGrid>
                <a:gridCol w="955469"/>
                <a:gridCol w="6684119"/>
              </a:tblGrid>
              <a:tr h="1427020">
                <a:tc>
                  <a:txBody>
                    <a:bodyPr/>
                    <a:lstStyle/>
                    <a:p>
                      <a:r>
                        <a:rPr lang="en-US" sz="1000" dirty="0" smtClean="0"/>
                        <a:t>Example</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a:t>
                      </a:r>
                      <a:r>
                        <a:rPr lang="en-US" sz="1400" b="0" i="1" kern="1200" dirty="0" smtClean="0">
                          <a:solidFill>
                            <a:schemeClr val="lt1"/>
                          </a:solidFill>
                          <a:effectLst/>
                          <a:latin typeface="+mn-lt"/>
                          <a:ea typeface="+mn-ea"/>
                          <a:cs typeface="+mn-cs"/>
                        </a:rPr>
                        <a:t>column_name(s)</a:t>
                      </a:r>
                      <a:r>
                        <a:rPr lang="en-US" sz="1000" dirty="0" smtClean="0"/>
                        <a:t/>
                      </a:r>
                      <a:br>
                        <a:rPr lang="en-US" sz="1000" dirty="0" smtClean="0"/>
                      </a:br>
                      <a:r>
                        <a:rPr lang="en-US" sz="1400" b="0" i="0" kern="1200" dirty="0" smtClean="0">
                          <a:solidFill>
                            <a:schemeClr val="lt1"/>
                          </a:solidFill>
                          <a:effectLst/>
                          <a:latin typeface="+mn-lt"/>
                          <a:ea typeface="+mn-ea"/>
                          <a:cs typeface="+mn-cs"/>
                        </a:rPr>
                        <a:t>FROM </a:t>
                      </a:r>
                      <a:r>
                        <a:rPr lang="en-US" sz="1400" b="0" i="1" kern="1200" dirty="0" smtClean="0">
                          <a:solidFill>
                            <a:schemeClr val="lt1"/>
                          </a:solidFill>
                          <a:effectLst/>
                          <a:latin typeface="+mn-lt"/>
                          <a:ea typeface="+mn-ea"/>
                          <a:cs typeface="+mn-cs"/>
                        </a:rPr>
                        <a:t>table1</a:t>
                      </a:r>
                      <a:r>
                        <a:rPr lang="en-US" sz="1000" dirty="0" smtClean="0"/>
                        <a:t/>
                      </a:r>
                      <a:br>
                        <a:rPr lang="en-US" sz="1000" dirty="0" smtClean="0"/>
                      </a:br>
                      <a:r>
                        <a:rPr lang="en-US" sz="1400" b="0" i="0" kern="1200" dirty="0" smtClean="0">
                          <a:solidFill>
                            <a:schemeClr val="lt1"/>
                          </a:solidFill>
                          <a:effectLst/>
                          <a:latin typeface="+mn-lt"/>
                          <a:ea typeface="+mn-ea"/>
                          <a:cs typeface="+mn-cs"/>
                        </a:rPr>
                        <a:t>LEFT JOIN </a:t>
                      </a:r>
                      <a:r>
                        <a:rPr lang="en-US" sz="1400" b="0" i="1" kern="1200" dirty="0" smtClean="0">
                          <a:solidFill>
                            <a:schemeClr val="lt1"/>
                          </a:solidFill>
                          <a:effectLst/>
                          <a:latin typeface="+mn-lt"/>
                          <a:ea typeface="+mn-ea"/>
                          <a:cs typeface="+mn-cs"/>
                        </a:rPr>
                        <a:t>table2</a:t>
                      </a:r>
                      <a:r>
                        <a:rPr lang="en-US" sz="1000" dirty="0" smtClean="0"/>
                        <a:t/>
                      </a:r>
                      <a:br>
                        <a:rPr lang="en-US" sz="1000" dirty="0" smtClean="0"/>
                      </a:br>
                      <a:r>
                        <a:rPr lang="en-US" sz="1400" b="0" i="0" kern="1200" dirty="0" smtClean="0">
                          <a:solidFill>
                            <a:schemeClr val="lt1"/>
                          </a:solidFill>
                          <a:effectLst/>
                          <a:latin typeface="+mn-lt"/>
                          <a:ea typeface="+mn-ea"/>
                          <a:cs typeface="+mn-cs"/>
                        </a:rPr>
                        <a:t>ON </a:t>
                      </a:r>
                      <a:r>
                        <a:rPr lang="en-US" sz="1400" b="0" i="1" kern="1200" dirty="0" smtClean="0">
                          <a:solidFill>
                            <a:schemeClr val="lt1"/>
                          </a:solidFill>
                          <a:effectLst/>
                          <a:latin typeface="+mn-lt"/>
                          <a:ea typeface="+mn-ea"/>
                          <a:cs typeface="+mn-cs"/>
                        </a:rPr>
                        <a:t>table1.column_name</a:t>
                      </a:r>
                      <a:r>
                        <a:rPr lang="en-US" sz="1400" b="0" i="0" kern="1200" dirty="0" smtClean="0">
                          <a:solidFill>
                            <a:schemeClr val="lt1"/>
                          </a:solidFill>
                          <a:effectLst/>
                          <a:latin typeface="+mn-lt"/>
                          <a:ea typeface="+mn-ea"/>
                          <a:cs typeface="+mn-cs"/>
                        </a:rPr>
                        <a:t>=</a:t>
                      </a:r>
                      <a:r>
                        <a:rPr lang="en-US" sz="1400" b="0" i="1" kern="1200" dirty="0" smtClean="0">
                          <a:solidFill>
                            <a:schemeClr val="lt1"/>
                          </a:solidFill>
                          <a:effectLst/>
                          <a:latin typeface="+mn-lt"/>
                          <a:ea typeface="+mn-ea"/>
                          <a:cs typeface="+mn-cs"/>
                        </a:rPr>
                        <a:t>table2.column_name</a:t>
                      </a:r>
                      <a:r>
                        <a:rPr lang="en-US" sz="1400" b="0" i="0" kern="1200" dirty="0" smtClean="0">
                          <a:solidFill>
                            <a:schemeClr val="lt1"/>
                          </a:solidFill>
                          <a:effectLst/>
                          <a:latin typeface="+mn-lt"/>
                          <a:ea typeface="+mn-ea"/>
                          <a:cs typeface="+mn-cs"/>
                        </a:rPr>
                        <a:t>;</a:t>
                      </a:r>
                      <a:endParaRPr lang="en-US" sz="1000" dirty="0"/>
                    </a:p>
                  </a:txBody>
                  <a:tcPr marL="68580" marR="68580" marT="34290" marB="34290"/>
                </a:tc>
              </a:tr>
              <a:tr h="1956066">
                <a:tc>
                  <a:txBody>
                    <a:bodyPr/>
                    <a:lstStyle/>
                    <a:p>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5" name="Picture 4"/>
          <p:cNvPicPr>
            <a:picLocks noChangeAspect="1"/>
          </p:cNvPicPr>
          <p:nvPr/>
        </p:nvPicPr>
        <p:blipFill>
          <a:blip r:embed="rId2"/>
          <a:stretch>
            <a:fillRect/>
          </a:stretch>
        </p:blipFill>
        <p:spPr>
          <a:xfrm>
            <a:off x="667287" y="3522976"/>
            <a:ext cx="7543800" cy="1685925"/>
          </a:xfrm>
          <a:prstGeom prst="rect">
            <a:avLst/>
          </a:prstGeom>
        </p:spPr>
      </p:pic>
    </p:spTree>
    <p:extLst>
      <p:ext uri="{BB962C8B-B14F-4D97-AF65-F5344CB8AC3E}">
        <p14:creationId xmlns:p14="http://schemas.microsoft.com/office/powerpoint/2010/main" val="3594097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Right Join - Demo</a:t>
            </a:r>
            <a:endParaRPr lang="en-US" dirty="0"/>
          </a:p>
        </p:txBody>
      </p:sp>
      <p:graphicFrame>
        <p:nvGraphicFramePr>
          <p:cNvPr id="4" name="Content Placeholder 3"/>
          <p:cNvGraphicFramePr>
            <a:graphicFrameLocks noGrp="1"/>
          </p:cNvGraphicFramePr>
          <p:nvPr>
            <p:ph idx="1"/>
            <p:extLst/>
          </p:nvPr>
        </p:nvGraphicFramePr>
        <p:xfrm>
          <a:off x="628650" y="1946991"/>
          <a:ext cx="7639588" cy="3383086"/>
        </p:xfrm>
        <a:graphic>
          <a:graphicData uri="http://schemas.openxmlformats.org/drawingml/2006/table">
            <a:tbl>
              <a:tblPr firstRow="1" bandRow="1">
                <a:tableStyleId>{5C22544A-7EE6-4342-B048-85BDC9FD1C3A}</a:tableStyleId>
              </a:tblPr>
              <a:tblGrid>
                <a:gridCol w="955469"/>
                <a:gridCol w="6684119"/>
              </a:tblGrid>
              <a:tr h="1427020">
                <a:tc>
                  <a:txBody>
                    <a:bodyPr/>
                    <a:lstStyle/>
                    <a:p>
                      <a:r>
                        <a:rPr lang="en-US" sz="1000" dirty="0" smtClean="0"/>
                        <a:t>Example</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a:t>
                      </a:r>
                      <a:r>
                        <a:rPr lang="en-US" sz="1400" b="0" i="1" kern="1200" dirty="0" smtClean="0">
                          <a:solidFill>
                            <a:schemeClr val="lt1"/>
                          </a:solidFill>
                          <a:effectLst/>
                          <a:latin typeface="+mn-lt"/>
                          <a:ea typeface="+mn-ea"/>
                          <a:cs typeface="+mn-cs"/>
                        </a:rPr>
                        <a:t>column_name(s)</a:t>
                      </a:r>
                      <a:r>
                        <a:rPr lang="en-US" sz="1000" dirty="0" smtClean="0"/>
                        <a:t/>
                      </a:r>
                      <a:br>
                        <a:rPr lang="en-US" sz="1000" dirty="0" smtClean="0"/>
                      </a:br>
                      <a:r>
                        <a:rPr lang="en-US" sz="1400" b="0" i="0" kern="1200" dirty="0" smtClean="0">
                          <a:solidFill>
                            <a:schemeClr val="lt1"/>
                          </a:solidFill>
                          <a:effectLst/>
                          <a:latin typeface="+mn-lt"/>
                          <a:ea typeface="+mn-ea"/>
                          <a:cs typeface="+mn-cs"/>
                        </a:rPr>
                        <a:t>FROM </a:t>
                      </a:r>
                      <a:r>
                        <a:rPr lang="en-US" sz="1400" b="0" i="1" kern="1200" dirty="0" smtClean="0">
                          <a:solidFill>
                            <a:schemeClr val="lt1"/>
                          </a:solidFill>
                          <a:effectLst/>
                          <a:latin typeface="+mn-lt"/>
                          <a:ea typeface="+mn-ea"/>
                          <a:cs typeface="+mn-cs"/>
                        </a:rPr>
                        <a:t>table1</a:t>
                      </a:r>
                      <a:r>
                        <a:rPr lang="en-US" sz="1000" dirty="0" smtClean="0"/>
                        <a:t/>
                      </a:r>
                      <a:br>
                        <a:rPr lang="en-US" sz="1000" dirty="0" smtClean="0"/>
                      </a:br>
                      <a:r>
                        <a:rPr lang="en-US" sz="1400" b="0" i="0" kern="1200" dirty="0" smtClean="0">
                          <a:solidFill>
                            <a:schemeClr val="lt1"/>
                          </a:solidFill>
                          <a:effectLst/>
                          <a:latin typeface="+mn-lt"/>
                          <a:ea typeface="+mn-ea"/>
                          <a:cs typeface="+mn-cs"/>
                        </a:rPr>
                        <a:t>RIGHT JOIN </a:t>
                      </a:r>
                      <a:r>
                        <a:rPr lang="en-US" sz="1400" b="0" i="1" kern="1200" dirty="0" smtClean="0">
                          <a:solidFill>
                            <a:schemeClr val="lt1"/>
                          </a:solidFill>
                          <a:effectLst/>
                          <a:latin typeface="+mn-lt"/>
                          <a:ea typeface="+mn-ea"/>
                          <a:cs typeface="+mn-cs"/>
                        </a:rPr>
                        <a:t>table2</a:t>
                      </a:r>
                      <a:r>
                        <a:rPr lang="en-US" sz="1000" dirty="0" smtClean="0"/>
                        <a:t/>
                      </a:r>
                      <a:br>
                        <a:rPr lang="en-US" sz="1000" dirty="0" smtClean="0"/>
                      </a:br>
                      <a:r>
                        <a:rPr lang="en-US" sz="1400" b="0" i="0" kern="1200" dirty="0" smtClean="0">
                          <a:solidFill>
                            <a:schemeClr val="lt1"/>
                          </a:solidFill>
                          <a:effectLst/>
                          <a:latin typeface="+mn-lt"/>
                          <a:ea typeface="+mn-ea"/>
                          <a:cs typeface="+mn-cs"/>
                        </a:rPr>
                        <a:t>ON </a:t>
                      </a:r>
                      <a:r>
                        <a:rPr lang="en-US" sz="1400" b="0" i="1" kern="1200" dirty="0" smtClean="0">
                          <a:solidFill>
                            <a:schemeClr val="lt1"/>
                          </a:solidFill>
                          <a:effectLst/>
                          <a:latin typeface="+mn-lt"/>
                          <a:ea typeface="+mn-ea"/>
                          <a:cs typeface="+mn-cs"/>
                        </a:rPr>
                        <a:t>table1.column_name</a:t>
                      </a:r>
                      <a:r>
                        <a:rPr lang="en-US" sz="1400" b="0" i="0" kern="1200" dirty="0" smtClean="0">
                          <a:solidFill>
                            <a:schemeClr val="lt1"/>
                          </a:solidFill>
                          <a:effectLst/>
                          <a:latin typeface="+mn-lt"/>
                          <a:ea typeface="+mn-ea"/>
                          <a:cs typeface="+mn-cs"/>
                        </a:rPr>
                        <a:t>=</a:t>
                      </a:r>
                      <a:r>
                        <a:rPr lang="en-US" sz="1400" b="0" i="1" kern="1200" dirty="0" smtClean="0">
                          <a:solidFill>
                            <a:schemeClr val="lt1"/>
                          </a:solidFill>
                          <a:effectLst/>
                          <a:latin typeface="+mn-lt"/>
                          <a:ea typeface="+mn-ea"/>
                          <a:cs typeface="+mn-cs"/>
                        </a:rPr>
                        <a:t>table2.column_name</a:t>
                      </a:r>
                      <a:r>
                        <a:rPr lang="en-US" sz="1400" b="0" i="0" kern="1200" dirty="0" smtClean="0">
                          <a:solidFill>
                            <a:schemeClr val="lt1"/>
                          </a:solidFill>
                          <a:effectLst/>
                          <a:latin typeface="+mn-lt"/>
                          <a:ea typeface="+mn-ea"/>
                          <a:cs typeface="+mn-cs"/>
                        </a:rPr>
                        <a:t>;</a:t>
                      </a:r>
                      <a:endParaRPr lang="en-US" sz="1000" dirty="0"/>
                    </a:p>
                  </a:txBody>
                  <a:tcPr marL="68580" marR="68580" marT="34290" marB="34290"/>
                </a:tc>
              </a:tr>
              <a:tr h="1956066">
                <a:tc>
                  <a:txBody>
                    <a:bodyPr/>
                    <a:lstStyle/>
                    <a:p>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3" name="Picture 2"/>
          <p:cNvPicPr>
            <a:picLocks noChangeAspect="1"/>
          </p:cNvPicPr>
          <p:nvPr/>
        </p:nvPicPr>
        <p:blipFill>
          <a:blip r:embed="rId2"/>
          <a:stretch>
            <a:fillRect/>
          </a:stretch>
        </p:blipFill>
        <p:spPr>
          <a:xfrm>
            <a:off x="628650" y="3357613"/>
            <a:ext cx="7639586" cy="2035969"/>
          </a:xfrm>
          <a:prstGeom prst="rect">
            <a:avLst/>
          </a:prstGeom>
        </p:spPr>
      </p:pic>
    </p:spTree>
    <p:extLst>
      <p:ext uri="{BB962C8B-B14F-4D97-AF65-F5344CB8AC3E}">
        <p14:creationId xmlns:p14="http://schemas.microsoft.com/office/powerpoint/2010/main" val="2429838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Full Join - Demo</a:t>
            </a:r>
            <a:endParaRPr lang="en-US" dirty="0"/>
          </a:p>
        </p:txBody>
      </p:sp>
      <p:graphicFrame>
        <p:nvGraphicFramePr>
          <p:cNvPr id="4" name="Content Placeholder 3"/>
          <p:cNvGraphicFramePr>
            <a:graphicFrameLocks noGrp="1"/>
          </p:cNvGraphicFramePr>
          <p:nvPr>
            <p:ph idx="1"/>
            <p:extLst/>
          </p:nvPr>
        </p:nvGraphicFramePr>
        <p:xfrm>
          <a:off x="628650" y="1946991"/>
          <a:ext cx="7639588" cy="3383086"/>
        </p:xfrm>
        <a:graphic>
          <a:graphicData uri="http://schemas.openxmlformats.org/drawingml/2006/table">
            <a:tbl>
              <a:tblPr firstRow="1" bandRow="1">
                <a:tableStyleId>{5C22544A-7EE6-4342-B048-85BDC9FD1C3A}</a:tableStyleId>
              </a:tblPr>
              <a:tblGrid>
                <a:gridCol w="955469"/>
                <a:gridCol w="6684119"/>
              </a:tblGrid>
              <a:tr h="1427020">
                <a:tc>
                  <a:txBody>
                    <a:bodyPr/>
                    <a:lstStyle/>
                    <a:p>
                      <a:r>
                        <a:rPr lang="en-US" sz="1000" dirty="0" smtClean="0"/>
                        <a:t>Example</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a:t>
                      </a:r>
                      <a:r>
                        <a:rPr lang="en-US" sz="1400" b="0" i="1" kern="1200" dirty="0" smtClean="0">
                          <a:solidFill>
                            <a:schemeClr val="lt1"/>
                          </a:solidFill>
                          <a:effectLst/>
                          <a:latin typeface="+mn-lt"/>
                          <a:ea typeface="+mn-ea"/>
                          <a:cs typeface="+mn-cs"/>
                        </a:rPr>
                        <a:t>column_name(s)</a:t>
                      </a:r>
                      <a:r>
                        <a:rPr lang="en-US" sz="1000" dirty="0" smtClean="0"/>
                        <a:t/>
                      </a:r>
                      <a:br>
                        <a:rPr lang="en-US" sz="1000" dirty="0" smtClean="0"/>
                      </a:br>
                      <a:r>
                        <a:rPr lang="en-US" sz="1400" b="0" i="0" kern="1200" dirty="0" smtClean="0">
                          <a:solidFill>
                            <a:schemeClr val="lt1"/>
                          </a:solidFill>
                          <a:effectLst/>
                          <a:latin typeface="+mn-lt"/>
                          <a:ea typeface="+mn-ea"/>
                          <a:cs typeface="+mn-cs"/>
                        </a:rPr>
                        <a:t>FROM </a:t>
                      </a:r>
                      <a:r>
                        <a:rPr lang="en-US" sz="1400" b="0" i="1" kern="1200" dirty="0" smtClean="0">
                          <a:solidFill>
                            <a:schemeClr val="lt1"/>
                          </a:solidFill>
                          <a:effectLst/>
                          <a:latin typeface="+mn-lt"/>
                          <a:ea typeface="+mn-ea"/>
                          <a:cs typeface="+mn-cs"/>
                        </a:rPr>
                        <a:t>table1</a:t>
                      </a:r>
                      <a:r>
                        <a:rPr lang="en-US" sz="1000" dirty="0" smtClean="0"/>
                        <a:t/>
                      </a:r>
                      <a:br>
                        <a:rPr lang="en-US" sz="1000" dirty="0" smtClean="0"/>
                      </a:br>
                      <a:r>
                        <a:rPr lang="en-US" sz="1400" b="0" i="0" kern="1200" dirty="0" smtClean="0">
                          <a:solidFill>
                            <a:schemeClr val="lt1"/>
                          </a:solidFill>
                          <a:effectLst/>
                          <a:latin typeface="+mn-lt"/>
                          <a:ea typeface="+mn-ea"/>
                          <a:cs typeface="+mn-cs"/>
                        </a:rPr>
                        <a:t>FULL OUTER JOIN </a:t>
                      </a:r>
                      <a:r>
                        <a:rPr lang="en-US" sz="1400" b="0" i="1" kern="1200" dirty="0" smtClean="0">
                          <a:solidFill>
                            <a:schemeClr val="lt1"/>
                          </a:solidFill>
                          <a:effectLst/>
                          <a:latin typeface="+mn-lt"/>
                          <a:ea typeface="+mn-ea"/>
                          <a:cs typeface="+mn-cs"/>
                        </a:rPr>
                        <a:t>table2</a:t>
                      </a:r>
                      <a:r>
                        <a:rPr lang="en-US" sz="1000" dirty="0" smtClean="0"/>
                        <a:t/>
                      </a:r>
                      <a:br>
                        <a:rPr lang="en-US" sz="1000" dirty="0" smtClean="0"/>
                      </a:br>
                      <a:r>
                        <a:rPr lang="en-US" sz="1400" b="0" i="0" kern="1200" dirty="0" smtClean="0">
                          <a:solidFill>
                            <a:schemeClr val="lt1"/>
                          </a:solidFill>
                          <a:effectLst/>
                          <a:latin typeface="+mn-lt"/>
                          <a:ea typeface="+mn-ea"/>
                          <a:cs typeface="+mn-cs"/>
                        </a:rPr>
                        <a:t>ON </a:t>
                      </a:r>
                      <a:r>
                        <a:rPr lang="en-US" sz="1400" b="0" i="1" kern="1200" dirty="0" smtClean="0">
                          <a:solidFill>
                            <a:schemeClr val="lt1"/>
                          </a:solidFill>
                          <a:effectLst/>
                          <a:latin typeface="+mn-lt"/>
                          <a:ea typeface="+mn-ea"/>
                          <a:cs typeface="+mn-cs"/>
                        </a:rPr>
                        <a:t>table1.column_name</a:t>
                      </a:r>
                      <a:r>
                        <a:rPr lang="en-US" sz="1400" b="0" i="0" kern="1200" dirty="0" smtClean="0">
                          <a:solidFill>
                            <a:schemeClr val="lt1"/>
                          </a:solidFill>
                          <a:effectLst/>
                          <a:latin typeface="+mn-lt"/>
                          <a:ea typeface="+mn-ea"/>
                          <a:cs typeface="+mn-cs"/>
                        </a:rPr>
                        <a:t>=</a:t>
                      </a:r>
                      <a:r>
                        <a:rPr lang="en-US" sz="1400" b="0" i="1" kern="1200" dirty="0" smtClean="0">
                          <a:solidFill>
                            <a:schemeClr val="lt1"/>
                          </a:solidFill>
                          <a:effectLst/>
                          <a:latin typeface="+mn-lt"/>
                          <a:ea typeface="+mn-ea"/>
                          <a:cs typeface="+mn-cs"/>
                        </a:rPr>
                        <a:t>table2.column_name</a:t>
                      </a:r>
                      <a:r>
                        <a:rPr lang="en-US" sz="1400" b="0" i="0" kern="1200" dirty="0" smtClean="0">
                          <a:solidFill>
                            <a:schemeClr val="lt1"/>
                          </a:solidFill>
                          <a:effectLst/>
                          <a:latin typeface="+mn-lt"/>
                          <a:ea typeface="+mn-ea"/>
                          <a:cs typeface="+mn-cs"/>
                        </a:rPr>
                        <a:t>;</a:t>
                      </a:r>
                      <a:endParaRPr lang="en-US" sz="1000" dirty="0"/>
                    </a:p>
                  </a:txBody>
                  <a:tcPr marL="68580" marR="68580" marT="34290" marB="34290"/>
                </a:tc>
              </a:tr>
              <a:tr h="1956066">
                <a:tc>
                  <a:txBody>
                    <a:bodyPr/>
                    <a:lstStyle/>
                    <a:p>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5" name="Picture 4"/>
          <p:cNvPicPr>
            <a:picLocks noChangeAspect="1"/>
          </p:cNvPicPr>
          <p:nvPr/>
        </p:nvPicPr>
        <p:blipFill>
          <a:blip r:embed="rId2"/>
          <a:stretch>
            <a:fillRect/>
          </a:stretch>
        </p:blipFill>
        <p:spPr>
          <a:xfrm>
            <a:off x="1558192" y="3453097"/>
            <a:ext cx="6665119" cy="1535906"/>
          </a:xfrm>
          <a:prstGeom prst="rect">
            <a:avLst/>
          </a:prstGeom>
        </p:spPr>
      </p:pic>
    </p:spTree>
    <p:extLst>
      <p:ext uri="{BB962C8B-B14F-4D97-AF65-F5344CB8AC3E}">
        <p14:creationId xmlns:p14="http://schemas.microsoft.com/office/powerpoint/2010/main" val="4109448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Self Join - Demo</a:t>
            </a:r>
            <a:endParaRPr lang="en-US" dirty="0"/>
          </a:p>
        </p:txBody>
      </p:sp>
      <p:graphicFrame>
        <p:nvGraphicFramePr>
          <p:cNvPr id="4" name="Content Placeholder 3"/>
          <p:cNvGraphicFramePr>
            <a:graphicFrameLocks noGrp="1"/>
          </p:cNvGraphicFramePr>
          <p:nvPr>
            <p:ph idx="1"/>
            <p:extLst/>
          </p:nvPr>
        </p:nvGraphicFramePr>
        <p:xfrm>
          <a:off x="628650" y="1946991"/>
          <a:ext cx="7639588" cy="3383086"/>
        </p:xfrm>
        <a:graphic>
          <a:graphicData uri="http://schemas.openxmlformats.org/drawingml/2006/table">
            <a:tbl>
              <a:tblPr firstRow="1" bandRow="1">
                <a:tableStyleId>{5C22544A-7EE6-4342-B048-85BDC9FD1C3A}</a:tableStyleId>
              </a:tblPr>
              <a:tblGrid>
                <a:gridCol w="955469"/>
                <a:gridCol w="6684119"/>
              </a:tblGrid>
              <a:tr h="1427020">
                <a:tc>
                  <a:txBody>
                    <a:bodyPr/>
                    <a:lstStyle/>
                    <a:p>
                      <a:r>
                        <a:rPr lang="en-US" sz="1000" dirty="0" smtClean="0"/>
                        <a:t>Example</a:t>
                      </a:r>
                      <a:endParaRPr lang="en-US" sz="1000" dirty="0"/>
                    </a:p>
                  </a:txBody>
                  <a:tcPr marL="68580" marR="68580" marT="34290" marB="34290"/>
                </a:tc>
                <a:tc>
                  <a:txBody>
                    <a:bodyPr/>
                    <a:lstStyle/>
                    <a:p>
                      <a:r>
                        <a:rPr lang="en-US" sz="1000" dirty="0" smtClean="0"/>
                        <a:t>SELECT G1.gid, G1.first_name, G1.last_name, G2.gid, G2.first_name, G2.last_name FROM </a:t>
                      </a:r>
                      <a:r>
                        <a:rPr lang="en-US" sz="1000" dirty="0" err="1" smtClean="0"/>
                        <a:t>Gardners</a:t>
                      </a:r>
                      <a:r>
                        <a:rPr lang="en-US" sz="1000" dirty="0" smtClean="0"/>
                        <a:t> G1 INNER JOIN </a:t>
                      </a:r>
                      <a:r>
                        <a:rPr lang="en-US" sz="1000" dirty="0" err="1" smtClean="0"/>
                        <a:t>Gardners</a:t>
                      </a:r>
                      <a:r>
                        <a:rPr lang="en-US" sz="1000" dirty="0" smtClean="0"/>
                        <a:t> G2 ON G1.first_name = G2.first_name</a:t>
                      </a:r>
                      <a:endParaRPr lang="en-US" sz="1000" dirty="0"/>
                    </a:p>
                  </a:txBody>
                  <a:tcPr marL="68580" marR="68580" marT="34290" marB="34290"/>
                </a:tc>
              </a:tr>
              <a:tr h="1956066">
                <a:tc>
                  <a:txBody>
                    <a:bodyPr/>
                    <a:lstStyle/>
                    <a:p>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3" name="Picture 2"/>
          <p:cNvPicPr>
            <a:picLocks noChangeAspect="1"/>
          </p:cNvPicPr>
          <p:nvPr/>
        </p:nvPicPr>
        <p:blipFill>
          <a:blip r:embed="rId2"/>
          <a:stretch>
            <a:fillRect/>
          </a:stretch>
        </p:blipFill>
        <p:spPr>
          <a:xfrm>
            <a:off x="1080466" y="3530522"/>
            <a:ext cx="6789701" cy="736410"/>
          </a:xfrm>
          <a:prstGeom prst="rect">
            <a:avLst/>
          </a:prstGeom>
        </p:spPr>
      </p:pic>
    </p:spTree>
    <p:extLst>
      <p:ext uri="{BB962C8B-B14F-4D97-AF65-F5344CB8AC3E}">
        <p14:creationId xmlns:p14="http://schemas.microsoft.com/office/powerpoint/2010/main" val="40185703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Joining Three Tables</a:t>
            </a:r>
            <a:endParaRPr lang="en-US" dirty="0"/>
          </a:p>
        </p:txBody>
      </p:sp>
      <p:pic>
        <p:nvPicPr>
          <p:cNvPr id="6" name="Picture 5"/>
          <p:cNvPicPr>
            <a:picLocks noChangeAspect="1"/>
          </p:cNvPicPr>
          <p:nvPr/>
        </p:nvPicPr>
        <p:blipFill>
          <a:blip r:embed="rId2"/>
          <a:stretch>
            <a:fillRect/>
          </a:stretch>
        </p:blipFill>
        <p:spPr>
          <a:xfrm>
            <a:off x="628651" y="2443918"/>
            <a:ext cx="2078831" cy="1564481"/>
          </a:xfrm>
          <a:prstGeom prst="rect">
            <a:avLst/>
          </a:prstGeom>
        </p:spPr>
      </p:pic>
      <p:pic>
        <p:nvPicPr>
          <p:cNvPr id="7" name="Picture 6"/>
          <p:cNvPicPr>
            <a:picLocks noChangeAspect="1"/>
          </p:cNvPicPr>
          <p:nvPr/>
        </p:nvPicPr>
        <p:blipFill>
          <a:blip r:embed="rId3"/>
          <a:stretch>
            <a:fillRect/>
          </a:stretch>
        </p:blipFill>
        <p:spPr>
          <a:xfrm>
            <a:off x="6122194" y="2443917"/>
            <a:ext cx="2393156" cy="1343025"/>
          </a:xfrm>
          <a:prstGeom prst="rect">
            <a:avLst/>
          </a:prstGeom>
        </p:spPr>
      </p:pic>
      <p:pic>
        <p:nvPicPr>
          <p:cNvPr id="8" name="Picture 7"/>
          <p:cNvPicPr>
            <a:picLocks noChangeAspect="1"/>
          </p:cNvPicPr>
          <p:nvPr/>
        </p:nvPicPr>
        <p:blipFill>
          <a:blip r:embed="rId4"/>
          <a:stretch>
            <a:fillRect/>
          </a:stretch>
        </p:blipFill>
        <p:spPr>
          <a:xfrm>
            <a:off x="3275410" y="3463359"/>
            <a:ext cx="2278856" cy="1514475"/>
          </a:xfrm>
          <a:prstGeom prst="rect">
            <a:avLst/>
          </a:prstGeom>
        </p:spPr>
      </p:pic>
      <p:cxnSp>
        <p:nvCxnSpPr>
          <p:cNvPr id="12" name="Elbow Connector 11"/>
          <p:cNvCxnSpPr>
            <a:stCxn id="7" idx="1"/>
            <a:endCxn id="8" idx="3"/>
          </p:cNvCxnSpPr>
          <p:nvPr/>
        </p:nvCxnSpPr>
        <p:spPr>
          <a:xfrm rot="10800000" flipV="1">
            <a:off x="5554265" y="3115430"/>
            <a:ext cx="567929" cy="1105167"/>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4" name="Elbow Connector 13"/>
          <p:cNvCxnSpPr>
            <a:stCxn id="6" idx="3"/>
            <a:endCxn id="8" idx="1"/>
          </p:cNvCxnSpPr>
          <p:nvPr/>
        </p:nvCxnSpPr>
        <p:spPr>
          <a:xfrm>
            <a:off x="2707482" y="3226158"/>
            <a:ext cx="567928" cy="994439"/>
          </a:xfrm>
          <a:prstGeom prst="bentConnector3">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1237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Joining Three Tables</a:t>
            </a:r>
            <a:endParaRPr lang="en-US" dirty="0"/>
          </a:p>
        </p:txBody>
      </p:sp>
      <p:pic>
        <p:nvPicPr>
          <p:cNvPr id="6" name="Picture 5"/>
          <p:cNvPicPr>
            <a:picLocks noChangeAspect="1"/>
          </p:cNvPicPr>
          <p:nvPr/>
        </p:nvPicPr>
        <p:blipFill>
          <a:blip r:embed="rId2"/>
          <a:stretch>
            <a:fillRect/>
          </a:stretch>
        </p:blipFill>
        <p:spPr>
          <a:xfrm>
            <a:off x="674203" y="1989938"/>
            <a:ext cx="1654634" cy="1245240"/>
          </a:xfrm>
          <a:prstGeom prst="rect">
            <a:avLst/>
          </a:prstGeom>
        </p:spPr>
      </p:pic>
      <p:pic>
        <p:nvPicPr>
          <p:cNvPr id="7" name="Picture 6"/>
          <p:cNvPicPr>
            <a:picLocks noChangeAspect="1"/>
          </p:cNvPicPr>
          <p:nvPr/>
        </p:nvPicPr>
        <p:blipFill>
          <a:blip r:embed="rId3"/>
          <a:stretch>
            <a:fillRect/>
          </a:stretch>
        </p:blipFill>
        <p:spPr>
          <a:xfrm>
            <a:off x="6257422" y="2125266"/>
            <a:ext cx="1674833" cy="939906"/>
          </a:xfrm>
          <a:prstGeom prst="rect">
            <a:avLst/>
          </a:prstGeom>
        </p:spPr>
      </p:pic>
      <p:pic>
        <p:nvPicPr>
          <p:cNvPr id="8" name="Picture 7"/>
          <p:cNvPicPr>
            <a:picLocks noChangeAspect="1"/>
          </p:cNvPicPr>
          <p:nvPr/>
        </p:nvPicPr>
        <p:blipFill>
          <a:blip r:embed="rId4"/>
          <a:stretch>
            <a:fillRect/>
          </a:stretch>
        </p:blipFill>
        <p:spPr>
          <a:xfrm>
            <a:off x="3403431" y="2516243"/>
            <a:ext cx="1651967" cy="1097858"/>
          </a:xfrm>
          <a:prstGeom prst="rect">
            <a:avLst/>
          </a:prstGeom>
        </p:spPr>
      </p:pic>
      <p:cxnSp>
        <p:nvCxnSpPr>
          <p:cNvPr id="12" name="Elbow Connector 11"/>
          <p:cNvCxnSpPr>
            <a:stCxn id="7" idx="1"/>
            <a:endCxn id="8" idx="3"/>
          </p:cNvCxnSpPr>
          <p:nvPr/>
        </p:nvCxnSpPr>
        <p:spPr>
          <a:xfrm rot="10800000" flipV="1">
            <a:off x="5055398" y="2595219"/>
            <a:ext cx="1202025" cy="469953"/>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4" name="Elbow Connector 13"/>
          <p:cNvCxnSpPr>
            <a:stCxn id="6" idx="3"/>
            <a:endCxn id="8" idx="1"/>
          </p:cNvCxnSpPr>
          <p:nvPr/>
        </p:nvCxnSpPr>
        <p:spPr>
          <a:xfrm>
            <a:off x="2328837" y="2612557"/>
            <a:ext cx="1074594" cy="452615"/>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1687461" y="3646192"/>
            <a:ext cx="5334746" cy="507831"/>
          </a:xfrm>
          <a:prstGeom prst="rect">
            <a:avLst/>
          </a:prstGeom>
          <a:solidFill>
            <a:schemeClr val="accent2"/>
          </a:solidFill>
        </p:spPr>
        <p:txBody>
          <a:bodyPr wrap="square">
            <a:spAutoFit/>
          </a:bodyPr>
          <a:lstStyle/>
          <a:p>
            <a:r>
              <a:rPr lang="en-US" sz="1350" b="1" dirty="0"/>
              <a:t>SELECT</a:t>
            </a:r>
            <a:r>
              <a:rPr lang="en-US" sz="1350" dirty="0"/>
              <a:t> </a:t>
            </a:r>
            <a:r>
              <a:rPr lang="en-US" sz="1350" dirty="0" err="1"/>
              <a:t>emp_name</a:t>
            </a:r>
            <a:r>
              <a:rPr lang="en-US" sz="1350" dirty="0"/>
              <a:t>, </a:t>
            </a:r>
            <a:r>
              <a:rPr lang="en-US" sz="1350" dirty="0" err="1"/>
              <a:t>dept_name</a:t>
            </a:r>
            <a:r>
              <a:rPr lang="en-US" sz="1350" dirty="0"/>
              <a:t> </a:t>
            </a:r>
            <a:r>
              <a:rPr lang="en-US" sz="1350" b="1" dirty="0"/>
              <a:t>FROM</a:t>
            </a:r>
            <a:r>
              <a:rPr lang="en-US" sz="1350" dirty="0"/>
              <a:t> Employee e </a:t>
            </a:r>
            <a:r>
              <a:rPr lang="en-US" sz="1350" b="1" dirty="0"/>
              <a:t>JOIN</a:t>
            </a:r>
            <a:r>
              <a:rPr lang="en-US" sz="1350" dirty="0"/>
              <a:t> Register r ON </a:t>
            </a:r>
            <a:r>
              <a:rPr lang="en-US" sz="1350" dirty="0" err="1"/>
              <a:t>e.emp_id</a:t>
            </a:r>
            <a:r>
              <a:rPr lang="en-US" sz="1350" dirty="0"/>
              <a:t>=</a:t>
            </a:r>
            <a:r>
              <a:rPr lang="en-US" sz="1350" dirty="0" err="1"/>
              <a:t>r.emp_id</a:t>
            </a:r>
            <a:r>
              <a:rPr lang="en-US" sz="1350" dirty="0"/>
              <a:t> </a:t>
            </a:r>
            <a:r>
              <a:rPr lang="en-US" sz="1350" b="1" dirty="0"/>
              <a:t>JOIN</a:t>
            </a:r>
            <a:r>
              <a:rPr lang="en-US" sz="1350" dirty="0"/>
              <a:t> Department d </a:t>
            </a:r>
            <a:r>
              <a:rPr lang="en-US" sz="1350" b="1" dirty="0"/>
              <a:t>ON</a:t>
            </a:r>
            <a:r>
              <a:rPr lang="en-US" sz="1350" dirty="0"/>
              <a:t> </a:t>
            </a:r>
            <a:r>
              <a:rPr lang="en-US" sz="1350" dirty="0" err="1"/>
              <a:t>r.dept_id</a:t>
            </a:r>
            <a:r>
              <a:rPr lang="en-US" sz="1350" dirty="0"/>
              <a:t>=</a:t>
            </a:r>
            <a:r>
              <a:rPr lang="en-US" sz="1350" dirty="0" err="1"/>
              <a:t>d.dept_id</a:t>
            </a:r>
            <a:r>
              <a:rPr lang="en-US" sz="1350" dirty="0"/>
              <a:t>;</a:t>
            </a:r>
            <a:endParaRPr lang="en-US" sz="1350" dirty="0">
              <a:solidFill>
                <a:schemeClr val="bg1"/>
              </a:solidFill>
            </a:endParaRPr>
          </a:p>
        </p:txBody>
      </p:sp>
      <p:pic>
        <p:nvPicPr>
          <p:cNvPr id="19" name="Picture 18"/>
          <p:cNvPicPr>
            <a:picLocks noChangeAspect="1"/>
          </p:cNvPicPr>
          <p:nvPr/>
        </p:nvPicPr>
        <p:blipFill>
          <a:blip r:embed="rId5"/>
          <a:stretch>
            <a:fillRect/>
          </a:stretch>
        </p:blipFill>
        <p:spPr>
          <a:xfrm>
            <a:off x="3432724" y="4163030"/>
            <a:ext cx="1650206" cy="1314450"/>
          </a:xfrm>
          <a:prstGeom prst="rect">
            <a:avLst/>
          </a:prstGeom>
        </p:spPr>
      </p:pic>
    </p:spTree>
    <p:extLst>
      <p:ext uri="{BB962C8B-B14F-4D97-AF65-F5344CB8AC3E}">
        <p14:creationId xmlns:p14="http://schemas.microsoft.com/office/powerpoint/2010/main" val="35360268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GROUP BY Clause</a:t>
            </a:r>
            <a:endParaRPr lang="en-US" dirty="0"/>
          </a:p>
        </p:txBody>
      </p:sp>
      <p:graphicFrame>
        <p:nvGraphicFramePr>
          <p:cNvPr id="3" name="Diagram 2"/>
          <p:cNvGraphicFramePr/>
          <p:nvPr>
            <p:extLst>
              <p:ext uri="{D42A27DB-BD31-4B8C-83A1-F6EECF244321}">
                <p14:modId xmlns:p14="http://schemas.microsoft.com/office/powerpoint/2010/main" val="2179344276"/>
              </p:ext>
            </p:extLst>
          </p:nvPr>
        </p:nvGraphicFramePr>
        <p:xfrm>
          <a:off x="1021724" y="1948735"/>
          <a:ext cx="6782873" cy="34929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88169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Group By Clause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90574300"/>
              </p:ext>
            </p:extLst>
          </p:nvPr>
        </p:nvGraphicFramePr>
        <p:xfrm>
          <a:off x="628648" y="2226468"/>
          <a:ext cx="7639588" cy="2986646"/>
        </p:xfrm>
        <a:graphic>
          <a:graphicData uri="http://schemas.openxmlformats.org/drawingml/2006/table">
            <a:tbl>
              <a:tblPr firstRow="1" bandRow="1">
                <a:tableStyleId>{5C22544A-7EE6-4342-B048-85BDC9FD1C3A}</a:tableStyleId>
              </a:tblPr>
              <a:tblGrid>
                <a:gridCol w="955469"/>
                <a:gridCol w="6684119"/>
              </a:tblGrid>
              <a:tr h="668964">
                <a:tc>
                  <a:txBody>
                    <a:bodyPr/>
                    <a:lstStyle/>
                    <a:p>
                      <a:r>
                        <a:rPr lang="en-US" sz="1000" dirty="0" smtClean="0"/>
                        <a:t>Syntax</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column_name, </a:t>
                      </a:r>
                      <a:r>
                        <a:rPr lang="en-US" sz="1400" b="0" i="0" kern="1200" dirty="0" err="1" smtClean="0">
                          <a:solidFill>
                            <a:schemeClr val="lt1"/>
                          </a:solidFill>
                          <a:effectLst/>
                          <a:latin typeface="+mn-lt"/>
                          <a:ea typeface="+mn-ea"/>
                          <a:cs typeface="+mn-cs"/>
                        </a:rPr>
                        <a:t>aggregate_function</a:t>
                      </a:r>
                      <a:r>
                        <a:rPr lang="en-US" sz="1400" b="0" i="0" kern="1200" dirty="0" smtClean="0">
                          <a:solidFill>
                            <a:schemeClr val="lt1"/>
                          </a:solidFill>
                          <a:effectLst/>
                          <a:latin typeface="+mn-lt"/>
                          <a:ea typeface="+mn-ea"/>
                          <a:cs typeface="+mn-cs"/>
                        </a:rPr>
                        <a:t>(column_name)</a:t>
                      </a:r>
                      <a:r>
                        <a:rPr lang="en-US" sz="1000" dirty="0" smtClean="0"/>
                        <a:t/>
                      </a:r>
                      <a:br>
                        <a:rPr lang="en-US" sz="1000" dirty="0" smtClean="0"/>
                      </a:br>
                      <a:r>
                        <a:rPr lang="en-US" sz="1400" b="0" i="0" kern="1200" dirty="0" smtClean="0">
                          <a:solidFill>
                            <a:schemeClr val="lt1"/>
                          </a:solidFill>
                          <a:effectLst/>
                          <a:latin typeface="+mn-lt"/>
                          <a:ea typeface="+mn-ea"/>
                          <a:cs typeface="+mn-cs"/>
                        </a:rPr>
                        <a:t>FROM </a:t>
                      </a:r>
                      <a:r>
                        <a:rPr lang="en-US" sz="1400" b="0" i="0" kern="1200" dirty="0" err="1" smtClean="0">
                          <a:solidFill>
                            <a:schemeClr val="lt1"/>
                          </a:solidFill>
                          <a:effectLst/>
                          <a:latin typeface="+mn-lt"/>
                          <a:ea typeface="+mn-ea"/>
                          <a:cs typeface="+mn-cs"/>
                        </a:rPr>
                        <a:t>table_namecWHERE</a:t>
                      </a:r>
                      <a:r>
                        <a:rPr lang="en-US" sz="1400" b="0" i="0" kern="1200" dirty="0" smtClean="0">
                          <a:solidFill>
                            <a:schemeClr val="lt1"/>
                          </a:solidFill>
                          <a:effectLst/>
                          <a:latin typeface="+mn-lt"/>
                          <a:ea typeface="+mn-ea"/>
                          <a:cs typeface="+mn-cs"/>
                        </a:rPr>
                        <a:t> column_name operator </a:t>
                      </a:r>
                      <a:r>
                        <a:rPr lang="en-US" sz="1400" b="0" i="0" kern="1200" dirty="0" err="1" smtClean="0">
                          <a:solidFill>
                            <a:schemeClr val="lt1"/>
                          </a:solidFill>
                          <a:effectLst/>
                          <a:latin typeface="+mn-lt"/>
                          <a:ea typeface="+mn-ea"/>
                          <a:cs typeface="+mn-cs"/>
                        </a:rPr>
                        <a:t>valuecGROUP</a:t>
                      </a:r>
                      <a:r>
                        <a:rPr lang="en-US" sz="1400" b="0" i="0" kern="1200" dirty="0" smtClean="0">
                          <a:solidFill>
                            <a:schemeClr val="lt1"/>
                          </a:solidFill>
                          <a:effectLst/>
                          <a:latin typeface="+mn-lt"/>
                          <a:ea typeface="+mn-ea"/>
                          <a:cs typeface="+mn-cs"/>
                        </a:rPr>
                        <a:t> BY column_name;</a:t>
                      </a:r>
                      <a:endParaRPr lang="en-US" sz="1000" dirty="0"/>
                    </a:p>
                  </a:txBody>
                  <a:tcPr marL="68580" marR="68580" marT="34290" marB="34290"/>
                </a:tc>
              </a:tr>
              <a:tr h="2317682">
                <a:tc>
                  <a:txBody>
                    <a:bodyPr/>
                    <a:lstStyle/>
                    <a:p>
                      <a:r>
                        <a:rPr lang="en-US" sz="1000" dirty="0" smtClean="0"/>
                        <a:t>Result</a:t>
                      </a:r>
                      <a:endParaRPr lang="en-US" sz="1000" dirty="0"/>
                    </a:p>
                  </a:txBody>
                  <a:tcPr marL="68580" marR="68580" marT="34290" marB="34290"/>
                </a:tc>
                <a:tc>
                  <a:txBody>
                    <a:bodyPr/>
                    <a:lstStyle/>
                    <a:p>
                      <a:r>
                        <a:rPr lang="en-US" sz="3300" b="0" i="0" kern="1200" dirty="0" smtClean="0">
                          <a:solidFill>
                            <a:schemeClr val="dk1"/>
                          </a:solidFill>
                          <a:effectLst/>
                          <a:latin typeface="+mn-lt"/>
                          <a:ea typeface="+mn-ea"/>
                          <a:cs typeface="+mn-cs"/>
                        </a:rPr>
                        <a:t>The GROUP BY statement is used in conjunction with the aggregate functions to group the result-set by one or more columns.</a:t>
                      </a:r>
                      <a:endParaRPr lang="en-US" sz="3300" dirty="0"/>
                    </a:p>
                  </a:txBody>
                  <a:tcPr marL="68580" marR="68580" marT="34290" marB="34290"/>
                </a:tc>
              </a:tr>
            </a:tbl>
          </a:graphicData>
        </a:graphic>
      </p:graphicFrame>
    </p:spTree>
    <p:extLst>
      <p:ext uri="{BB962C8B-B14F-4D97-AF65-F5344CB8AC3E}">
        <p14:creationId xmlns:p14="http://schemas.microsoft.com/office/powerpoint/2010/main" val="28546972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Group By Clause</a:t>
            </a:r>
            <a:endParaRPr lang="en-US" dirty="0"/>
          </a:p>
        </p:txBody>
      </p:sp>
      <p:pic>
        <p:nvPicPr>
          <p:cNvPr id="6" name="Picture 5"/>
          <p:cNvPicPr>
            <a:picLocks noChangeAspect="1"/>
          </p:cNvPicPr>
          <p:nvPr/>
        </p:nvPicPr>
        <p:blipFill>
          <a:blip r:embed="rId2"/>
          <a:stretch>
            <a:fillRect/>
          </a:stretch>
        </p:blipFill>
        <p:spPr>
          <a:xfrm>
            <a:off x="856646" y="2125267"/>
            <a:ext cx="6657975" cy="1050131"/>
          </a:xfrm>
          <a:prstGeom prst="rect">
            <a:avLst/>
          </a:prstGeom>
        </p:spPr>
      </p:pic>
      <p:pic>
        <p:nvPicPr>
          <p:cNvPr id="7" name="Picture 6"/>
          <p:cNvPicPr>
            <a:picLocks noChangeAspect="1"/>
          </p:cNvPicPr>
          <p:nvPr/>
        </p:nvPicPr>
        <p:blipFill>
          <a:blip r:embed="rId3"/>
          <a:stretch>
            <a:fillRect/>
          </a:stretch>
        </p:blipFill>
        <p:spPr>
          <a:xfrm>
            <a:off x="1850232" y="3288238"/>
            <a:ext cx="6665119" cy="1028700"/>
          </a:xfrm>
          <a:prstGeom prst="rect">
            <a:avLst/>
          </a:prstGeom>
        </p:spPr>
      </p:pic>
      <p:pic>
        <p:nvPicPr>
          <p:cNvPr id="8" name="Picture 7"/>
          <p:cNvPicPr>
            <a:picLocks noChangeAspect="1"/>
          </p:cNvPicPr>
          <p:nvPr/>
        </p:nvPicPr>
        <p:blipFill>
          <a:blip r:embed="rId4"/>
          <a:stretch>
            <a:fillRect/>
          </a:stretch>
        </p:blipFill>
        <p:spPr>
          <a:xfrm>
            <a:off x="926776" y="4429779"/>
            <a:ext cx="6657975" cy="1035844"/>
          </a:xfrm>
          <a:prstGeom prst="rect">
            <a:avLst/>
          </a:prstGeom>
        </p:spPr>
      </p:pic>
    </p:spTree>
    <p:extLst>
      <p:ext uri="{BB962C8B-B14F-4D97-AF65-F5344CB8AC3E}">
        <p14:creationId xmlns:p14="http://schemas.microsoft.com/office/powerpoint/2010/main" val="8563769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Group By Clause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71888694"/>
              </p:ext>
            </p:extLst>
          </p:nvPr>
        </p:nvGraphicFramePr>
        <p:xfrm>
          <a:off x="628648" y="2226468"/>
          <a:ext cx="7639588" cy="3199978"/>
        </p:xfrm>
        <a:graphic>
          <a:graphicData uri="http://schemas.openxmlformats.org/drawingml/2006/table">
            <a:tbl>
              <a:tblPr firstRow="1" bandRow="1">
                <a:tableStyleId>{5C22544A-7EE6-4342-B048-85BDC9FD1C3A}</a:tableStyleId>
              </a:tblPr>
              <a:tblGrid>
                <a:gridCol w="955469"/>
                <a:gridCol w="6684119"/>
              </a:tblGrid>
              <a:tr h="891540">
                <a:tc>
                  <a:txBody>
                    <a:bodyPr/>
                    <a:lstStyle/>
                    <a:p>
                      <a:r>
                        <a:rPr lang="en-US" sz="1000" dirty="0" smtClean="0"/>
                        <a:t>Syntax</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a:t>
                      </a:r>
                      <a:r>
                        <a:rPr lang="en-US" sz="1400" b="0" i="0" kern="1200" dirty="0" err="1" smtClean="0">
                          <a:solidFill>
                            <a:schemeClr val="lt1"/>
                          </a:solidFill>
                          <a:effectLst/>
                          <a:latin typeface="+mn-lt"/>
                          <a:ea typeface="+mn-ea"/>
                          <a:cs typeface="+mn-cs"/>
                        </a:rPr>
                        <a:t>Shippers.ShipperName,COUNT</a:t>
                      </a:r>
                      <a:r>
                        <a:rPr lang="en-US" sz="1400" b="0" i="0" kern="1200" dirty="0" smtClean="0">
                          <a:solidFill>
                            <a:schemeClr val="lt1"/>
                          </a:solidFill>
                          <a:effectLst/>
                          <a:latin typeface="+mn-lt"/>
                          <a:ea typeface="+mn-ea"/>
                          <a:cs typeface="+mn-cs"/>
                        </a:rPr>
                        <a:t>(Orders.OrderID) AS </a:t>
                      </a:r>
                      <a:r>
                        <a:rPr lang="en-US" sz="1400" b="0" i="0" kern="1200" dirty="0" err="1" smtClean="0">
                          <a:solidFill>
                            <a:schemeClr val="lt1"/>
                          </a:solidFill>
                          <a:effectLst/>
                          <a:latin typeface="+mn-lt"/>
                          <a:ea typeface="+mn-ea"/>
                          <a:cs typeface="+mn-cs"/>
                        </a:rPr>
                        <a:t>NumberOfOrders</a:t>
                      </a:r>
                      <a:r>
                        <a:rPr lang="en-US" sz="1400" b="0" i="0" kern="1200" dirty="0" smtClean="0">
                          <a:solidFill>
                            <a:schemeClr val="lt1"/>
                          </a:solidFill>
                          <a:effectLst/>
                          <a:latin typeface="+mn-lt"/>
                          <a:ea typeface="+mn-ea"/>
                          <a:cs typeface="+mn-cs"/>
                        </a:rPr>
                        <a:t> FROM Orders</a:t>
                      </a:r>
                      <a:r>
                        <a:rPr lang="en-US" sz="1000" dirty="0" smtClean="0"/>
                        <a:t/>
                      </a:r>
                      <a:br>
                        <a:rPr lang="en-US" sz="1000" dirty="0" smtClean="0"/>
                      </a:br>
                      <a:r>
                        <a:rPr lang="en-US" sz="1400" b="0" i="0" kern="1200" dirty="0" smtClean="0">
                          <a:solidFill>
                            <a:schemeClr val="lt1"/>
                          </a:solidFill>
                          <a:effectLst/>
                          <a:latin typeface="+mn-lt"/>
                          <a:ea typeface="+mn-ea"/>
                          <a:cs typeface="+mn-cs"/>
                        </a:rPr>
                        <a:t>LEFT JOIN Shippers</a:t>
                      </a:r>
                      <a:r>
                        <a:rPr lang="en-US" sz="1000" dirty="0" smtClean="0"/>
                        <a:t/>
                      </a:r>
                      <a:br>
                        <a:rPr lang="en-US" sz="1000" dirty="0" smtClean="0"/>
                      </a:br>
                      <a:r>
                        <a:rPr lang="en-US" sz="1400" b="0" i="0" kern="1200" dirty="0" smtClean="0">
                          <a:solidFill>
                            <a:schemeClr val="lt1"/>
                          </a:solidFill>
                          <a:effectLst/>
                          <a:latin typeface="+mn-lt"/>
                          <a:ea typeface="+mn-ea"/>
                          <a:cs typeface="+mn-cs"/>
                        </a:rPr>
                        <a:t>ON </a:t>
                      </a:r>
                      <a:r>
                        <a:rPr lang="en-US" sz="1400" b="0" i="0" kern="1200" dirty="0" err="1" smtClean="0">
                          <a:solidFill>
                            <a:schemeClr val="lt1"/>
                          </a:solidFill>
                          <a:effectLst/>
                          <a:latin typeface="+mn-lt"/>
                          <a:ea typeface="+mn-ea"/>
                          <a:cs typeface="+mn-cs"/>
                        </a:rPr>
                        <a:t>Orders.ShipperID</a:t>
                      </a:r>
                      <a:r>
                        <a:rPr lang="en-US" sz="1400" b="0" i="0" kern="1200" dirty="0" smtClean="0">
                          <a:solidFill>
                            <a:schemeClr val="lt1"/>
                          </a:solidFill>
                          <a:effectLst/>
                          <a:latin typeface="+mn-lt"/>
                          <a:ea typeface="+mn-ea"/>
                          <a:cs typeface="+mn-cs"/>
                        </a:rPr>
                        <a:t>=</a:t>
                      </a:r>
                      <a:r>
                        <a:rPr lang="en-US" sz="1400" b="0" i="0" kern="1200" dirty="0" err="1" smtClean="0">
                          <a:solidFill>
                            <a:schemeClr val="lt1"/>
                          </a:solidFill>
                          <a:effectLst/>
                          <a:latin typeface="+mn-lt"/>
                          <a:ea typeface="+mn-ea"/>
                          <a:cs typeface="+mn-cs"/>
                        </a:rPr>
                        <a:t>Shippers.ShipperID</a:t>
                      </a:r>
                      <a:r>
                        <a:rPr lang="en-US" sz="1000" dirty="0" smtClean="0"/>
                        <a:t/>
                      </a:r>
                      <a:br>
                        <a:rPr lang="en-US" sz="1000" dirty="0" smtClean="0"/>
                      </a:br>
                      <a:r>
                        <a:rPr lang="en-US" sz="1400" b="0" i="0" kern="1200" dirty="0" smtClean="0">
                          <a:solidFill>
                            <a:schemeClr val="lt1"/>
                          </a:solidFill>
                          <a:effectLst/>
                          <a:latin typeface="+mn-lt"/>
                          <a:ea typeface="+mn-ea"/>
                          <a:cs typeface="+mn-cs"/>
                        </a:rPr>
                        <a:t>GROUP BY </a:t>
                      </a:r>
                      <a:r>
                        <a:rPr lang="en-US" sz="1400" b="0" i="0" kern="1200" dirty="0" err="1" smtClean="0">
                          <a:solidFill>
                            <a:schemeClr val="lt1"/>
                          </a:solidFill>
                          <a:effectLst/>
                          <a:latin typeface="+mn-lt"/>
                          <a:ea typeface="+mn-ea"/>
                          <a:cs typeface="+mn-cs"/>
                        </a:rPr>
                        <a:t>ShipperName</a:t>
                      </a:r>
                      <a:r>
                        <a:rPr lang="en-US" sz="1400" b="0" i="0" kern="1200" dirty="0" smtClean="0">
                          <a:solidFill>
                            <a:schemeClr val="lt1"/>
                          </a:solidFill>
                          <a:effectLst/>
                          <a:latin typeface="+mn-lt"/>
                          <a:ea typeface="+mn-ea"/>
                          <a:cs typeface="+mn-cs"/>
                        </a:rPr>
                        <a:t>;</a:t>
                      </a:r>
                      <a:endParaRPr lang="en-US" sz="1000" dirty="0"/>
                    </a:p>
                  </a:txBody>
                  <a:tcPr marL="68580" marR="68580" marT="34290" marB="34290"/>
                </a:tc>
              </a:tr>
              <a:tr h="2308438">
                <a:tc>
                  <a:txBody>
                    <a:bodyPr/>
                    <a:lstStyle/>
                    <a:p>
                      <a:r>
                        <a:rPr lang="en-US" sz="1000" dirty="0" smtClean="0"/>
                        <a:t>Result</a:t>
                      </a:r>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6" name="Picture 5"/>
          <p:cNvPicPr>
            <a:picLocks noChangeAspect="1"/>
          </p:cNvPicPr>
          <p:nvPr/>
        </p:nvPicPr>
        <p:blipFill>
          <a:blip r:embed="rId2"/>
          <a:stretch>
            <a:fillRect/>
          </a:stretch>
        </p:blipFill>
        <p:spPr>
          <a:xfrm>
            <a:off x="628651" y="3627969"/>
            <a:ext cx="7650956" cy="992981"/>
          </a:xfrm>
          <a:prstGeom prst="rect">
            <a:avLst/>
          </a:prstGeom>
        </p:spPr>
      </p:pic>
    </p:spTree>
    <p:extLst>
      <p:ext uri="{BB962C8B-B14F-4D97-AF65-F5344CB8AC3E}">
        <p14:creationId xmlns:p14="http://schemas.microsoft.com/office/powerpoint/2010/main" val="14002536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HAVING Clause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44700851"/>
              </p:ext>
            </p:extLst>
          </p:nvPr>
        </p:nvGraphicFramePr>
        <p:xfrm>
          <a:off x="628648" y="2226468"/>
          <a:ext cx="7639588" cy="3414962"/>
        </p:xfrm>
        <a:graphic>
          <a:graphicData uri="http://schemas.openxmlformats.org/drawingml/2006/table">
            <a:tbl>
              <a:tblPr firstRow="1" bandRow="1">
                <a:tableStyleId>{5C22544A-7EE6-4342-B048-85BDC9FD1C3A}</a:tableStyleId>
              </a:tblPr>
              <a:tblGrid>
                <a:gridCol w="955469"/>
                <a:gridCol w="6684119"/>
              </a:tblGrid>
              <a:tr h="1097280">
                <a:tc>
                  <a:txBody>
                    <a:bodyPr/>
                    <a:lstStyle/>
                    <a:p>
                      <a:r>
                        <a:rPr lang="en-US" sz="1000" dirty="0" smtClean="0"/>
                        <a:t>Syntax</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column_name, </a:t>
                      </a:r>
                      <a:r>
                        <a:rPr lang="en-US" sz="1400" b="0" i="0" kern="1200" dirty="0" err="1" smtClean="0">
                          <a:solidFill>
                            <a:schemeClr val="lt1"/>
                          </a:solidFill>
                          <a:effectLst/>
                          <a:latin typeface="+mn-lt"/>
                          <a:ea typeface="+mn-ea"/>
                          <a:cs typeface="+mn-cs"/>
                        </a:rPr>
                        <a:t>aggregate_function</a:t>
                      </a:r>
                      <a:r>
                        <a:rPr lang="en-US" sz="1400" b="0" i="0" kern="1200" dirty="0" smtClean="0">
                          <a:solidFill>
                            <a:schemeClr val="lt1"/>
                          </a:solidFill>
                          <a:effectLst/>
                          <a:latin typeface="+mn-lt"/>
                          <a:ea typeface="+mn-ea"/>
                          <a:cs typeface="+mn-cs"/>
                        </a:rPr>
                        <a:t>(column_name)</a:t>
                      </a:r>
                      <a:r>
                        <a:rPr lang="en-US" sz="1000" dirty="0" smtClean="0"/>
                        <a:t/>
                      </a:r>
                      <a:br>
                        <a:rPr lang="en-US" sz="1000" dirty="0" smtClean="0"/>
                      </a:br>
                      <a:r>
                        <a:rPr lang="en-US" sz="1400" b="0" i="0" kern="1200" dirty="0" smtClean="0">
                          <a:solidFill>
                            <a:schemeClr val="lt1"/>
                          </a:solidFill>
                          <a:effectLst/>
                          <a:latin typeface="+mn-lt"/>
                          <a:ea typeface="+mn-ea"/>
                          <a:cs typeface="+mn-cs"/>
                        </a:rPr>
                        <a:t>FROM </a:t>
                      </a:r>
                      <a:r>
                        <a:rPr lang="en-US" sz="1400" b="0" i="0" kern="1200" dirty="0" err="1" smtClean="0">
                          <a:solidFill>
                            <a:schemeClr val="lt1"/>
                          </a:solidFill>
                          <a:effectLst/>
                          <a:latin typeface="+mn-lt"/>
                          <a:ea typeface="+mn-ea"/>
                          <a:cs typeface="+mn-cs"/>
                        </a:rPr>
                        <a:t>table_name</a:t>
                      </a:r>
                      <a:r>
                        <a:rPr lang="en-US" sz="1000" dirty="0" smtClean="0"/>
                        <a:t/>
                      </a:r>
                      <a:br>
                        <a:rPr lang="en-US" sz="1000" dirty="0" smtClean="0"/>
                      </a:br>
                      <a:r>
                        <a:rPr lang="en-US" sz="1400" b="0" i="0" kern="1200" dirty="0" smtClean="0">
                          <a:solidFill>
                            <a:schemeClr val="lt1"/>
                          </a:solidFill>
                          <a:effectLst/>
                          <a:latin typeface="+mn-lt"/>
                          <a:ea typeface="+mn-ea"/>
                          <a:cs typeface="+mn-cs"/>
                        </a:rPr>
                        <a:t>WHERE column_name operator value</a:t>
                      </a:r>
                      <a:r>
                        <a:rPr lang="en-US" sz="1000" dirty="0" smtClean="0"/>
                        <a:t/>
                      </a:r>
                      <a:br>
                        <a:rPr lang="en-US" sz="1000" dirty="0" smtClean="0"/>
                      </a:br>
                      <a:r>
                        <a:rPr lang="en-US" sz="1400" b="0" i="0" kern="1200" dirty="0" smtClean="0">
                          <a:solidFill>
                            <a:schemeClr val="lt1"/>
                          </a:solidFill>
                          <a:effectLst/>
                          <a:latin typeface="+mn-lt"/>
                          <a:ea typeface="+mn-ea"/>
                          <a:cs typeface="+mn-cs"/>
                        </a:rPr>
                        <a:t>GROUP BY column_name</a:t>
                      </a:r>
                      <a:r>
                        <a:rPr lang="en-US" sz="1000" dirty="0" smtClean="0"/>
                        <a:t/>
                      </a:r>
                      <a:br>
                        <a:rPr lang="en-US" sz="1000" dirty="0" smtClean="0"/>
                      </a:br>
                      <a:r>
                        <a:rPr lang="en-US" sz="1400" b="0" i="0" kern="1200" dirty="0" smtClean="0">
                          <a:solidFill>
                            <a:schemeClr val="lt1"/>
                          </a:solidFill>
                          <a:effectLst/>
                          <a:latin typeface="+mn-lt"/>
                          <a:ea typeface="+mn-ea"/>
                          <a:cs typeface="+mn-cs"/>
                        </a:rPr>
                        <a:t>HAVING </a:t>
                      </a:r>
                      <a:r>
                        <a:rPr lang="en-US" sz="1400" b="0" i="0" kern="1200" dirty="0" err="1" smtClean="0">
                          <a:solidFill>
                            <a:schemeClr val="lt1"/>
                          </a:solidFill>
                          <a:effectLst/>
                          <a:latin typeface="+mn-lt"/>
                          <a:ea typeface="+mn-ea"/>
                          <a:cs typeface="+mn-cs"/>
                        </a:rPr>
                        <a:t>aggregate_function</a:t>
                      </a:r>
                      <a:r>
                        <a:rPr lang="en-US" sz="1400" b="0" i="0" kern="1200" dirty="0" smtClean="0">
                          <a:solidFill>
                            <a:schemeClr val="lt1"/>
                          </a:solidFill>
                          <a:effectLst/>
                          <a:latin typeface="+mn-lt"/>
                          <a:ea typeface="+mn-ea"/>
                          <a:cs typeface="+mn-cs"/>
                        </a:rPr>
                        <a:t>(column_name) operator value;</a:t>
                      </a:r>
                      <a:endParaRPr lang="en-US" sz="1000" dirty="0"/>
                    </a:p>
                  </a:txBody>
                  <a:tcPr marL="68580" marR="68580" marT="34290" marB="34290"/>
                </a:tc>
              </a:tr>
              <a:tr h="2317682">
                <a:tc>
                  <a:txBody>
                    <a:bodyPr/>
                    <a:lstStyle/>
                    <a:p>
                      <a:r>
                        <a:rPr lang="en-US" sz="1000" dirty="0" smtClean="0"/>
                        <a:t>Result</a:t>
                      </a:r>
                      <a:endParaRPr lang="en-US" sz="1000" dirty="0"/>
                    </a:p>
                  </a:txBody>
                  <a:tcPr marL="68580" marR="68580" marT="34290" marB="34290"/>
                </a:tc>
                <a:tc>
                  <a:txBody>
                    <a:bodyPr/>
                    <a:lstStyle/>
                    <a:p>
                      <a:r>
                        <a:rPr lang="en-US" sz="3300" b="0" i="0" kern="1200" dirty="0" smtClean="0">
                          <a:solidFill>
                            <a:schemeClr val="dk1"/>
                          </a:solidFill>
                          <a:effectLst/>
                          <a:latin typeface="+mn-lt"/>
                          <a:ea typeface="+mn-ea"/>
                          <a:cs typeface="+mn-cs"/>
                        </a:rPr>
                        <a:t>The HAVING clause was added to SQL because the WHERE keyword could not be used with aggregate functions.</a:t>
                      </a:r>
                      <a:endParaRPr lang="en-US" sz="6600" dirty="0"/>
                    </a:p>
                  </a:txBody>
                  <a:tcPr marL="68580" marR="68580" marT="34290" marB="34290"/>
                </a:tc>
              </a:tr>
            </a:tbl>
          </a:graphicData>
        </a:graphic>
      </p:graphicFrame>
    </p:spTree>
    <p:extLst>
      <p:ext uri="{BB962C8B-B14F-4D97-AF65-F5344CB8AC3E}">
        <p14:creationId xmlns:p14="http://schemas.microsoft.com/office/powerpoint/2010/main" val="24400989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HAVING Clause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671801963"/>
              </p:ext>
            </p:extLst>
          </p:nvPr>
        </p:nvGraphicFramePr>
        <p:xfrm>
          <a:off x="628648" y="2226468"/>
          <a:ext cx="7639588" cy="3414962"/>
        </p:xfrm>
        <a:graphic>
          <a:graphicData uri="http://schemas.openxmlformats.org/drawingml/2006/table">
            <a:tbl>
              <a:tblPr firstRow="1" bandRow="1">
                <a:tableStyleId>{5C22544A-7EE6-4342-B048-85BDC9FD1C3A}</a:tableStyleId>
              </a:tblPr>
              <a:tblGrid>
                <a:gridCol w="955469"/>
                <a:gridCol w="6684119"/>
              </a:tblGrid>
              <a:tr h="1097280">
                <a:tc>
                  <a:txBody>
                    <a:bodyPr/>
                    <a:lstStyle/>
                    <a:p>
                      <a:r>
                        <a:rPr lang="en-US" sz="1000" dirty="0" smtClean="0"/>
                        <a:t>Syntax</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a:t>
                      </a:r>
                      <a:r>
                        <a:rPr lang="en-US" sz="1400" b="0" i="0" kern="1200" dirty="0" err="1" smtClean="0">
                          <a:solidFill>
                            <a:schemeClr val="lt1"/>
                          </a:solidFill>
                          <a:effectLst/>
                          <a:latin typeface="+mn-lt"/>
                          <a:ea typeface="+mn-ea"/>
                          <a:cs typeface="+mn-cs"/>
                        </a:rPr>
                        <a:t>Employees.LastName</a:t>
                      </a:r>
                      <a:r>
                        <a:rPr lang="en-US" sz="1400" b="0" i="0" kern="1200" dirty="0" smtClean="0">
                          <a:solidFill>
                            <a:schemeClr val="lt1"/>
                          </a:solidFill>
                          <a:effectLst/>
                          <a:latin typeface="+mn-lt"/>
                          <a:ea typeface="+mn-ea"/>
                          <a:cs typeface="+mn-cs"/>
                        </a:rPr>
                        <a:t>, COUNT(Orders.OrderID) AS </a:t>
                      </a:r>
                      <a:r>
                        <a:rPr lang="en-US" sz="1400" b="0" i="0" kern="1200" dirty="0" err="1" smtClean="0">
                          <a:solidFill>
                            <a:schemeClr val="lt1"/>
                          </a:solidFill>
                          <a:effectLst/>
                          <a:latin typeface="+mn-lt"/>
                          <a:ea typeface="+mn-ea"/>
                          <a:cs typeface="+mn-cs"/>
                        </a:rPr>
                        <a:t>NumberOfOrders</a:t>
                      </a:r>
                      <a:r>
                        <a:rPr lang="en-US" sz="1400" b="0" i="0" kern="1200" dirty="0" smtClean="0">
                          <a:solidFill>
                            <a:schemeClr val="lt1"/>
                          </a:solidFill>
                          <a:effectLst/>
                          <a:latin typeface="+mn-lt"/>
                          <a:ea typeface="+mn-ea"/>
                          <a:cs typeface="+mn-cs"/>
                        </a:rPr>
                        <a:t> FROM (Orders</a:t>
                      </a:r>
                      <a:r>
                        <a:rPr lang="en-US" sz="1000" dirty="0" smtClean="0"/>
                        <a:t/>
                      </a:r>
                      <a:br>
                        <a:rPr lang="en-US" sz="1000" dirty="0" smtClean="0"/>
                      </a:br>
                      <a:r>
                        <a:rPr lang="en-US" sz="1400" b="0" i="0" kern="1200" dirty="0" smtClean="0">
                          <a:solidFill>
                            <a:schemeClr val="lt1"/>
                          </a:solidFill>
                          <a:effectLst/>
                          <a:latin typeface="+mn-lt"/>
                          <a:ea typeface="+mn-ea"/>
                          <a:cs typeface="+mn-cs"/>
                        </a:rPr>
                        <a:t>INNER JOIN Employees</a:t>
                      </a:r>
                      <a:r>
                        <a:rPr lang="en-US" sz="1000" dirty="0" smtClean="0"/>
                        <a:t/>
                      </a:r>
                      <a:br>
                        <a:rPr lang="en-US" sz="1000" dirty="0" smtClean="0"/>
                      </a:br>
                      <a:r>
                        <a:rPr lang="en-US" sz="1400" b="0" i="0" kern="1200" dirty="0" smtClean="0">
                          <a:solidFill>
                            <a:schemeClr val="lt1"/>
                          </a:solidFill>
                          <a:effectLst/>
                          <a:latin typeface="+mn-lt"/>
                          <a:ea typeface="+mn-ea"/>
                          <a:cs typeface="+mn-cs"/>
                        </a:rPr>
                        <a:t>ON </a:t>
                      </a:r>
                      <a:r>
                        <a:rPr lang="en-US" sz="1400" b="0" i="0" kern="1200" dirty="0" err="1" smtClean="0">
                          <a:solidFill>
                            <a:schemeClr val="lt1"/>
                          </a:solidFill>
                          <a:effectLst/>
                          <a:latin typeface="+mn-lt"/>
                          <a:ea typeface="+mn-ea"/>
                          <a:cs typeface="+mn-cs"/>
                        </a:rPr>
                        <a:t>Orders.EmployeeID</a:t>
                      </a:r>
                      <a:r>
                        <a:rPr lang="en-US" sz="1400" b="0" i="0" kern="1200" dirty="0" smtClean="0">
                          <a:solidFill>
                            <a:schemeClr val="lt1"/>
                          </a:solidFill>
                          <a:effectLst/>
                          <a:latin typeface="+mn-lt"/>
                          <a:ea typeface="+mn-ea"/>
                          <a:cs typeface="+mn-cs"/>
                        </a:rPr>
                        <a:t>=</a:t>
                      </a:r>
                      <a:r>
                        <a:rPr lang="en-US" sz="1400" b="0" i="0" kern="1200" dirty="0" err="1" smtClean="0">
                          <a:solidFill>
                            <a:schemeClr val="lt1"/>
                          </a:solidFill>
                          <a:effectLst/>
                          <a:latin typeface="+mn-lt"/>
                          <a:ea typeface="+mn-ea"/>
                          <a:cs typeface="+mn-cs"/>
                        </a:rPr>
                        <a:t>Employees.EmployeeID</a:t>
                      </a:r>
                      <a:r>
                        <a:rPr lang="en-US" sz="1400" b="0" i="0" kern="1200" dirty="0" smtClean="0">
                          <a:solidFill>
                            <a:schemeClr val="lt1"/>
                          </a:solidFill>
                          <a:effectLst/>
                          <a:latin typeface="+mn-lt"/>
                          <a:ea typeface="+mn-ea"/>
                          <a:cs typeface="+mn-cs"/>
                        </a:rPr>
                        <a:t>)</a:t>
                      </a:r>
                      <a:r>
                        <a:rPr lang="en-US" sz="1000" dirty="0" smtClean="0"/>
                        <a:t/>
                      </a:r>
                      <a:br>
                        <a:rPr lang="en-US" sz="1000" dirty="0" smtClean="0"/>
                      </a:br>
                      <a:r>
                        <a:rPr lang="en-US" sz="1400" b="0" i="0" kern="1200" dirty="0" smtClean="0">
                          <a:solidFill>
                            <a:schemeClr val="lt1"/>
                          </a:solidFill>
                          <a:effectLst/>
                          <a:latin typeface="+mn-lt"/>
                          <a:ea typeface="+mn-ea"/>
                          <a:cs typeface="+mn-cs"/>
                        </a:rPr>
                        <a:t>GROUP BY </a:t>
                      </a:r>
                      <a:r>
                        <a:rPr lang="en-US" sz="1400" b="0" i="0" kern="1200" dirty="0" err="1" smtClean="0">
                          <a:solidFill>
                            <a:schemeClr val="lt1"/>
                          </a:solidFill>
                          <a:effectLst/>
                          <a:latin typeface="+mn-lt"/>
                          <a:ea typeface="+mn-ea"/>
                          <a:cs typeface="+mn-cs"/>
                        </a:rPr>
                        <a:t>LastName</a:t>
                      </a:r>
                      <a:r>
                        <a:rPr lang="en-US" sz="1000" dirty="0" smtClean="0"/>
                        <a:t/>
                      </a:r>
                      <a:br>
                        <a:rPr lang="en-US" sz="1000" dirty="0" smtClean="0"/>
                      </a:br>
                      <a:r>
                        <a:rPr lang="en-US" sz="1400" b="0" i="0" kern="1200" dirty="0" smtClean="0">
                          <a:solidFill>
                            <a:schemeClr val="lt1"/>
                          </a:solidFill>
                          <a:effectLst/>
                          <a:latin typeface="+mn-lt"/>
                          <a:ea typeface="+mn-ea"/>
                          <a:cs typeface="+mn-cs"/>
                        </a:rPr>
                        <a:t>HAVING COUNT(Orders.OrderID) &gt; 10;</a:t>
                      </a:r>
                      <a:endParaRPr lang="en-US" sz="1000" dirty="0"/>
                    </a:p>
                  </a:txBody>
                  <a:tcPr marL="68580" marR="68580" marT="34290" marB="34290"/>
                </a:tc>
              </a:tr>
              <a:tr h="2317682">
                <a:tc>
                  <a:txBody>
                    <a:bodyPr/>
                    <a:lstStyle/>
                    <a:p>
                      <a:r>
                        <a:rPr lang="en-US" sz="1000" dirty="0" smtClean="0"/>
                        <a:t>Result</a:t>
                      </a:r>
                      <a:endParaRPr lang="en-US" sz="1000" dirty="0"/>
                    </a:p>
                  </a:txBody>
                  <a:tcPr marL="68580" marR="68580" marT="34290" marB="34290"/>
                </a:tc>
                <a:tc>
                  <a:txBody>
                    <a:bodyPr/>
                    <a:lstStyle/>
                    <a:p>
                      <a:endParaRPr lang="en-US" sz="6600" dirty="0"/>
                    </a:p>
                  </a:txBody>
                  <a:tcPr marL="68580" marR="68580" marT="34290" marB="34290"/>
                </a:tc>
              </a:tr>
            </a:tbl>
          </a:graphicData>
        </a:graphic>
      </p:graphicFrame>
      <p:pic>
        <p:nvPicPr>
          <p:cNvPr id="3" name="Picture 2"/>
          <p:cNvPicPr>
            <a:picLocks noChangeAspect="1"/>
          </p:cNvPicPr>
          <p:nvPr/>
        </p:nvPicPr>
        <p:blipFill>
          <a:blip r:embed="rId2"/>
          <a:stretch>
            <a:fillRect/>
          </a:stretch>
        </p:blipFill>
        <p:spPr>
          <a:xfrm>
            <a:off x="657628" y="3797910"/>
            <a:ext cx="7550944" cy="1464469"/>
          </a:xfrm>
          <a:prstGeom prst="rect">
            <a:avLst/>
          </a:prstGeom>
        </p:spPr>
      </p:pic>
    </p:spTree>
    <p:extLst>
      <p:ext uri="{BB962C8B-B14F-4D97-AF65-F5344CB8AC3E}">
        <p14:creationId xmlns:p14="http://schemas.microsoft.com/office/powerpoint/2010/main" val="24632768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4" name="Rectangle 3"/>
          <p:cNvSpPr/>
          <p:nvPr/>
        </p:nvSpPr>
        <p:spPr>
          <a:xfrm>
            <a:off x="962696" y="1861638"/>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
        <p:nvSpPr>
          <p:cNvPr id="5" name="Rectangle 4"/>
          <p:cNvSpPr/>
          <p:nvPr/>
        </p:nvSpPr>
        <p:spPr>
          <a:xfrm>
            <a:off x="962695" y="2657982"/>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
        <p:nvSpPr>
          <p:cNvPr id="6" name="Rectangle 5"/>
          <p:cNvSpPr/>
          <p:nvPr/>
        </p:nvSpPr>
        <p:spPr>
          <a:xfrm>
            <a:off x="962695" y="3823658"/>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
        <p:nvSpPr>
          <p:cNvPr id="7" name="Rectangle 6"/>
          <p:cNvSpPr/>
          <p:nvPr/>
        </p:nvSpPr>
        <p:spPr>
          <a:xfrm>
            <a:off x="962695" y="4656388"/>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
        <p:nvSpPr>
          <p:cNvPr id="8" name="Rectangle 7"/>
          <p:cNvSpPr/>
          <p:nvPr/>
        </p:nvSpPr>
        <p:spPr>
          <a:xfrm>
            <a:off x="962695" y="5489118"/>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Tree>
    <p:extLst>
      <p:ext uri="{BB962C8B-B14F-4D97-AF65-F5344CB8AC3E}">
        <p14:creationId xmlns:p14="http://schemas.microsoft.com/office/powerpoint/2010/main" val="361622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Laugh</a:t>
            </a:r>
            <a:endParaRPr lang="en-US" dirty="0"/>
          </a:p>
        </p:txBody>
      </p:sp>
    </p:spTree>
    <p:extLst>
      <p:ext uri="{BB962C8B-B14F-4D97-AF65-F5344CB8AC3E}">
        <p14:creationId xmlns:p14="http://schemas.microsoft.com/office/powerpoint/2010/main" val="15983794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878" y="4234507"/>
            <a:ext cx="7886700" cy="994172"/>
          </a:xfrm>
          <a:solidFill>
            <a:srgbClr val="FF9933"/>
          </a:solidFill>
        </p:spPr>
        <p:txBody>
          <a:bodyPr>
            <a:normAutofit/>
          </a:bodyPr>
          <a:lstStyle/>
          <a:p>
            <a:pPr algn="ctr"/>
            <a:r>
              <a:rPr lang="en-US" sz="3600" b="1" dirty="0">
                <a:solidFill>
                  <a:schemeClr val="bg1"/>
                </a:solidFill>
              </a:rPr>
              <a:t>End of Lecture for Week </a:t>
            </a:r>
            <a:r>
              <a:rPr lang="en-US" sz="3600" b="1">
                <a:solidFill>
                  <a:schemeClr val="bg1"/>
                </a:solidFill>
              </a:rPr>
              <a:t>- </a:t>
            </a:r>
            <a:r>
              <a:rPr lang="en-US" sz="3600" b="1" smtClean="0">
                <a:solidFill>
                  <a:schemeClr val="bg1"/>
                </a:solidFill>
              </a:rPr>
              <a:t>10</a:t>
            </a:r>
            <a:endParaRPr lang="en-US" sz="3600" b="1" dirty="0">
              <a:solidFill>
                <a:schemeClr val="bg1"/>
              </a:solidFill>
            </a:endParaRPr>
          </a:p>
        </p:txBody>
      </p:sp>
      <p:pic>
        <p:nvPicPr>
          <p:cNvPr id="5122" name="Picture 2" descr="http://grasshopper.com/assets/img/jpg/thank-you-notes/card-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6844" y="1820780"/>
            <a:ext cx="2964767" cy="1976511"/>
          </a:xfrm>
          <a:prstGeom prst="rect">
            <a:avLst/>
          </a:prstGeom>
          <a:noFill/>
          <a:ln>
            <a:solidFill>
              <a:srgbClr val="FF9933"/>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8296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2214</TotalTime>
  <Words>686</Words>
  <Application>Microsoft Office PowerPoint</Application>
  <PresentationFormat>On-screen Show (4:3)</PresentationFormat>
  <Paragraphs>125</Paragraphs>
  <Slides>28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Calibri Light</vt:lpstr>
      <vt:lpstr>Times New Roman</vt:lpstr>
      <vt:lpstr>Verdana</vt:lpstr>
      <vt:lpstr>Office Theme</vt:lpstr>
      <vt:lpstr>An Introduction to Database</vt:lpstr>
      <vt:lpstr>Database Design</vt:lpstr>
      <vt:lpstr>Basic Process (Relational Model)</vt:lpstr>
      <vt:lpstr>Example</vt:lpstr>
      <vt:lpstr>Step 1: Textual Analysis</vt:lpstr>
      <vt:lpstr>Step 2: Identification of Entities</vt:lpstr>
      <vt:lpstr>Step 3: Identification of Relationships</vt:lpstr>
      <vt:lpstr>Step 3: Identification of Relationships</vt:lpstr>
      <vt:lpstr>Step 4: Identification of Constraints</vt:lpstr>
      <vt:lpstr>Example Tables</vt:lpstr>
      <vt:lpstr>Inner Join</vt:lpstr>
      <vt:lpstr>Inner Join - Syntax</vt:lpstr>
      <vt:lpstr>Inner Join - Demo</vt:lpstr>
      <vt:lpstr>Left Join - Demo</vt:lpstr>
      <vt:lpstr>Right Join - Demo</vt:lpstr>
      <vt:lpstr>Full Join - Demo</vt:lpstr>
      <vt:lpstr>Self Join - Demo</vt:lpstr>
      <vt:lpstr>Joining Three Tables</vt:lpstr>
      <vt:lpstr>Joining Three Tables</vt:lpstr>
      <vt:lpstr>GROUP BY Clause</vt:lpstr>
      <vt:lpstr>Group By Clause</vt:lpstr>
      <vt:lpstr>Group By Clause</vt:lpstr>
      <vt:lpstr>Group By Clause</vt:lpstr>
      <vt:lpstr>HAVING Clause</vt:lpstr>
      <vt:lpstr>HAVING Clause</vt:lpstr>
      <vt:lpstr>Key Points</vt:lpstr>
      <vt:lpstr>Laugh</vt:lpstr>
      <vt:lpstr>End of Lecture for Week - 10</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Database</dc:title>
  <dc:creator>Rohit</dc:creator>
  <cp:lastModifiedBy>Rohit</cp:lastModifiedBy>
  <cp:revision>418</cp:revision>
  <dcterms:created xsi:type="dcterms:W3CDTF">2016-03-01T04:18:16Z</dcterms:created>
  <dcterms:modified xsi:type="dcterms:W3CDTF">2016-07-02T09:42:23Z</dcterms:modified>
</cp:coreProperties>
</file>