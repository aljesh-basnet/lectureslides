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321" r:id="rId2"/>
    <p:sldId id="257" r:id="rId3"/>
    <p:sldId id="285" r:id="rId4"/>
    <p:sldId id="322" r:id="rId5"/>
    <p:sldId id="323" r:id="rId6"/>
    <p:sldId id="258" r:id="rId7"/>
    <p:sldId id="260" r:id="rId8"/>
    <p:sldId id="299" r:id="rId9"/>
    <p:sldId id="300" r:id="rId10"/>
    <p:sldId id="301" r:id="rId11"/>
    <p:sldId id="302" r:id="rId12"/>
    <p:sldId id="303" r:id="rId13"/>
    <p:sldId id="304" r:id="rId14"/>
    <p:sldId id="305" r:id="rId15"/>
    <p:sldId id="306" r:id="rId16"/>
    <p:sldId id="307" r:id="rId17"/>
    <p:sldId id="308" r:id="rId18"/>
    <p:sldId id="309" r:id="rId19"/>
    <p:sldId id="283" r:id="rId20"/>
    <p:sldId id="311" r:id="rId21"/>
    <p:sldId id="313" r:id="rId22"/>
    <p:sldId id="327" r:id="rId23"/>
    <p:sldId id="312" r:id="rId24"/>
    <p:sldId id="310" r:id="rId25"/>
    <p:sldId id="315" r:id="rId26"/>
    <p:sldId id="316" r:id="rId27"/>
    <p:sldId id="317" r:id="rId28"/>
    <p:sldId id="318" r:id="rId29"/>
    <p:sldId id="325" r:id="rId30"/>
    <p:sldId id="329" r:id="rId31"/>
    <p:sldId id="330" r:id="rId32"/>
    <p:sldId id="331" r:id="rId33"/>
    <p:sldId id="326" r:id="rId34"/>
    <p:sldId id="324" r:id="rId35"/>
    <p:sldId id="32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0" d="100"/>
          <a:sy n="80" d="100"/>
        </p:scale>
        <p:origin x="114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6DCA62-0669-4237-A9FA-9E113ACDBBEB}" type="doc">
      <dgm:prSet loTypeId="urn:microsoft.com/office/officeart/2005/8/layout/vList3" loCatId="list" qsTypeId="urn:microsoft.com/office/officeart/2005/8/quickstyle/simple5" qsCatId="simple" csTypeId="urn:microsoft.com/office/officeart/2005/8/colors/accent1_2" csCatId="accent1" phldr="1"/>
      <dgm:spPr/>
    </dgm:pt>
    <dgm:pt modelId="{55DD1843-3A4D-43FD-84E6-34068BC7CCBA}">
      <dgm:prSet phldrT="[Text]" custT="1"/>
      <dgm:spPr/>
      <dgm:t>
        <a:bodyPr/>
        <a:lstStyle/>
        <a:p>
          <a:r>
            <a:rPr lang="en-US" sz="3200" b="1" dirty="0" smtClean="0"/>
            <a:t>Oracle </a:t>
          </a:r>
        </a:p>
        <a:p>
          <a:r>
            <a:rPr lang="en-US" sz="2800" dirty="0" smtClean="0"/>
            <a:t>[Oracle]</a:t>
          </a:r>
          <a:endParaRPr lang="en-US" sz="2800" dirty="0"/>
        </a:p>
      </dgm:t>
    </dgm:pt>
    <dgm:pt modelId="{4FF4DEB2-2BAF-4893-BFB2-0C6B4FBDF7F5}" type="parTrans" cxnId="{21CAAF40-E08C-4B34-8F6B-DD2AC02B2CF2}">
      <dgm:prSet/>
      <dgm:spPr/>
      <dgm:t>
        <a:bodyPr/>
        <a:lstStyle/>
        <a:p>
          <a:endParaRPr lang="en-US"/>
        </a:p>
      </dgm:t>
    </dgm:pt>
    <dgm:pt modelId="{DEBCE8BB-BE76-4F4F-82E0-0E61EE3FF2BC}" type="sibTrans" cxnId="{21CAAF40-E08C-4B34-8F6B-DD2AC02B2CF2}">
      <dgm:prSet/>
      <dgm:spPr/>
      <dgm:t>
        <a:bodyPr/>
        <a:lstStyle/>
        <a:p>
          <a:endParaRPr lang="en-US"/>
        </a:p>
      </dgm:t>
    </dgm:pt>
    <dgm:pt modelId="{281D3E81-4759-4109-A2F8-9DE36D451F39}">
      <dgm:prSet phldrT="[Text]" custT="1"/>
      <dgm:spPr/>
      <dgm:t>
        <a:bodyPr/>
        <a:lstStyle/>
        <a:p>
          <a:r>
            <a:rPr lang="en-US" sz="3200" b="1" dirty="0" smtClean="0"/>
            <a:t>Microsoft</a:t>
          </a:r>
        </a:p>
        <a:p>
          <a:r>
            <a:rPr lang="en-US" sz="2800" dirty="0" smtClean="0"/>
            <a:t>[SQL Server]</a:t>
          </a:r>
          <a:endParaRPr lang="en-US" sz="2800" dirty="0"/>
        </a:p>
      </dgm:t>
    </dgm:pt>
    <dgm:pt modelId="{E49E68FF-A5BE-4941-846A-55BD6F0DBCDE}" type="parTrans" cxnId="{BF9BF3BE-421E-4046-BB89-368EB35E9C76}">
      <dgm:prSet/>
      <dgm:spPr/>
      <dgm:t>
        <a:bodyPr/>
        <a:lstStyle/>
        <a:p>
          <a:endParaRPr lang="en-US"/>
        </a:p>
      </dgm:t>
    </dgm:pt>
    <dgm:pt modelId="{E93CEFA1-3528-4478-9A3E-83658D7B778F}" type="sibTrans" cxnId="{BF9BF3BE-421E-4046-BB89-368EB35E9C76}">
      <dgm:prSet/>
      <dgm:spPr/>
      <dgm:t>
        <a:bodyPr/>
        <a:lstStyle/>
        <a:p>
          <a:endParaRPr lang="en-US"/>
        </a:p>
      </dgm:t>
    </dgm:pt>
    <dgm:pt modelId="{D4C97006-EC95-4761-8856-D405405B5EE1}">
      <dgm:prSet phldrT="[Text]" custT="1"/>
      <dgm:spPr/>
      <dgm:t>
        <a:bodyPr/>
        <a:lstStyle/>
        <a:p>
          <a:r>
            <a:rPr lang="en-US" sz="3200" b="1" dirty="0" smtClean="0"/>
            <a:t>IBM</a:t>
          </a:r>
        </a:p>
        <a:p>
          <a:r>
            <a:rPr lang="en-US" sz="2800" dirty="0" smtClean="0"/>
            <a:t>[DB2] </a:t>
          </a:r>
          <a:endParaRPr lang="en-US" sz="2800" dirty="0"/>
        </a:p>
      </dgm:t>
    </dgm:pt>
    <dgm:pt modelId="{225DC518-4DB6-47F6-9383-EDFC45CF75E6}" type="parTrans" cxnId="{5E555E95-F71D-4B85-A992-D7128D9F0E5B}">
      <dgm:prSet/>
      <dgm:spPr/>
      <dgm:t>
        <a:bodyPr/>
        <a:lstStyle/>
        <a:p>
          <a:endParaRPr lang="en-US"/>
        </a:p>
      </dgm:t>
    </dgm:pt>
    <dgm:pt modelId="{509C64B4-28FF-421F-A043-87C71175C2F9}" type="sibTrans" cxnId="{5E555E95-F71D-4B85-A992-D7128D9F0E5B}">
      <dgm:prSet/>
      <dgm:spPr/>
      <dgm:t>
        <a:bodyPr/>
        <a:lstStyle/>
        <a:p>
          <a:endParaRPr lang="en-US"/>
        </a:p>
      </dgm:t>
    </dgm:pt>
    <dgm:pt modelId="{EB2F588F-725F-4518-BC43-A7F7ABECF645}" type="pres">
      <dgm:prSet presAssocID="{476DCA62-0669-4237-A9FA-9E113ACDBBEB}" presName="linearFlow" presStyleCnt="0">
        <dgm:presLayoutVars>
          <dgm:dir/>
          <dgm:resizeHandles val="exact"/>
        </dgm:presLayoutVars>
      </dgm:prSet>
      <dgm:spPr/>
    </dgm:pt>
    <dgm:pt modelId="{A7FD32AE-6660-482F-90C7-55B7C462B51C}" type="pres">
      <dgm:prSet presAssocID="{55DD1843-3A4D-43FD-84E6-34068BC7CCBA}" presName="composite" presStyleCnt="0"/>
      <dgm:spPr/>
    </dgm:pt>
    <dgm:pt modelId="{63C20646-5741-422B-AD03-2869D04BAA87}" type="pres">
      <dgm:prSet presAssocID="{55DD1843-3A4D-43FD-84E6-34068BC7CCBA}" presName="imgShp" presStyleLbl="fgImgPlace1" presStyleIdx="0" presStyleCnt="3"/>
      <dgm:spPr>
        <a:blipFill rotWithShape="1">
          <a:blip xmlns:r="http://schemas.openxmlformats.org/officeDocument/2006/relationships" r:embed="rId1"/>
          <a:stretch>
            <a:fillRect/>
          </a:stretch>
        </a:blipFill>
      </dgm:spPr>
    </dgm:pt>
    <dgm:pt modelId="{6E9D90CB-86BD-48E1-86AE-CC9EA420B923}" type="pres">
      <dgm:prSet presAssocID="{55DD1843-3A4D-43FD-84E6-34068BC7CCBA}" presName="txShp" presStyleLbl="node1" presStyleIdx="0" presStyleCnt="3">
        <dgm:presLayoutVars>
          <dgm:bulletEnabled val="1"/>
        </dgm:presLayoutVars>
      </dgm:prSet>
      <dgm:spPr/>
      <dgm:t>
        <a:bodyPr/>
        <a:lstStyle/>
        <a:p>
          <a:endParaRPr lang="en-US"/>
        </a:p>
      </dgm:t>
    </dgm:pt>
    <dgm:pt modelId="{C7959597-4AC1-4D5B-B8C2-13EB217D1241}" type="pres">
      <dgm:prSet presAssocID="{DEBCE8BB-BE76-4F4F-82E0-0E61EE3FF2BC}" presName="spacing" presStyleCnt="0"/>
      <dgm:spPr/>
    </dgm:pt>
    <dgm:pt modelId="{7ACD2350-C0AF-4645-AE27-7F02B4132224}" type="pres">
      <dgm:prSet presAssocID="{281D3E81-4759-4109-A2F8-9DE36D451F39}" presName="composite" presStyleCnt="0"/>
      <dgm:spPr/>
    </dgm:pt>
    <dgm:pt modelId="{8BA5D1A6-AE99-4850-B7DF-B5078B442740}" type="pres">
      <dgm:prSet presAssocID="{281D3E81-4759-4109-A2F8-9DE36D451F39}" presName="imgShp" presStyleLbl="fgImgPlace1" presStyleIdx="1" presStyleCnt="3"/>
      <dgm:spPr>
        <a:blipFill rotWithShape="1">
          <a:blip xmlns:r="http://schemas.openxmlformats.org/officeDocument/2006/relationships" r:embed="rId2"/>
          <a:stretch>
            <a:fillRect/>
          </a:stretch>
        </a:blipFill>
      </dgm:spPr>
    </dgm:pt>
    <dgm:pt modelId="{B011D04A-09E5-498B-8423-E77B411D2E3D}" type="pres">
      <dgm:prSet presAssocID="{281D3E81-4759-4109-A2F8-9DE36D451F39}" presName="txShp" presStyleLbl="node1" presStyleIdx="1" presStyleCnt="3">
        <dgm:presLayoutVars>
          <dgm:bulletEnabled val="1"/>
        </dgm:presLayoutVars>
      </dgm:prSet>
      <dgm:spPr/>
      <dgm:t>
        <a:bodyPr/>
        <a:lstStyle/>
        <a:p>
          <a:endParaRPr lang="en-US"/>
        </a:p>
      </dgm:t>
    </dgm:pt>
    <dgm:pt modelId="{3F79E8DD-6551-454F-99FF-6F2AA04B8E07}" type="pres">
      <dgm:prSet presAssocID="{E93CEFA1-3528-4478-9A3E-83658D7B778F}" presName="spacing" presStyleCnt="0"/>
      <dgm:spPr/>
    </dgm:pt>
    <dgm:pt modelId="{25712B43-041F-42B1-9188-3B856D39DC5E}" type="pres">
      <dgm:prSet presAssocID="{D4C97006-EC95-4761-8856-D405405B5EE1}" presName="composite" presStyleCnt="0"/>
      <dgm:spPr/>
    </dgm:pt>
    <dgm:pt modelId="{AAC81637-1E84-4DFA-A399-B1924B0CF071}" type="pres">
      <dgm:prSet presAssocID="{D4C97006-EC95-4761-8856-D405405B5EE1}" presName="imgShp" presStyleLbl="fgImgPlace1" presStyleIdx="2" presStyleCnt="3"/>
      <dgm:spPr>
        <a:blipFill rotWithShape="1">
          <a:blip xmlns:r="http://schemas.openxmlformats.org/officeDocument/2006/relationships" r:embed="rId3"/>
          <a:stretch>
            <a:fillRect/>
          </a:stretch>
        </a:blipFill>
      </dgm:spPr>
    </dgm:pt>
    <dgm:pt modelId="{7B5AA222-2F8E-4030-8C4F-D1891797FA76}" type="pres">
      <dgm:prSet presAssocID="{D4C97006-EC95-4761-8856-D405405B5EE1}" presName="txShp" presStyleLbl="node1" presStyleIdx="2" presStyleCnt="3">
        <dgm:presLayoutVars>
          <dgm:bulletEnabled val="1"/>
        </dgm:presLayoutVars>
      </dgm:prSet>
      <dgm:spPr/>
      <dgm:t>
        <a:bodyPr/>
        <a:lstStyle/>
        <a:p>
          <a:endParaRPr lang="en-US"/>
        </a:p>
      </dgm:t>
    </dgm:pt>
  </dgm:ptLst>
  <dgm:cxnLst>
    <dgm:cxn modelId="{BF9BF3BE-421E-4046-BB89-368EB35E9C76}" srcId="{476DCA62-0669-4237-A9FA-9E113ACDBBEB}" destId="{281D3E81-4759-4109-A2F8-9DE36D451F39}" srcOrd="1" destOrd="0" parTransId="{E49E68FF-A5BE-4941-846A-55BD6F0DBCDE}" sibTransId="{E93CEFA1-3528-4478-9A3E-83658D7B778F}"/>
    <dgm:cxn modelId="{5E555E95-F71D-4B85-A992-D7128D9F0E5B}" srcId="{476DCA62-0669-4237-A9FA-9E113ACDBBEB}" destId="{D4C97006-EC95-4761-8856-D405405B5EE1}" srcOrd="2" destOrd="0" parTransId="{225DC518-4DB6-47F6-9383-EDFC45CF75E6}" sibTransId="{509C64B4-28FF-421F-A043-87C71175C2F9}"/>
    <dgm:cxn modelId="{9626E495-B821-4294-B928-02022F865154}" type="presOf" srcId="{55DD1843-3A4D-43FD-84E6-34068BC7CCBA}" destId="{6E9D90CB-86BD-48E1-86AE-CC9EA420B923}" srcOrd="0" destOrd="0" presId="urn:microsoft.com/office/officeart/2005/8/layout/vList3"/>
    <dgm:cxn modelId="{2F9AD3B8-06E0-49E8-AF94-DFB44FAD8A91}" type="presOf" srcId="{476DCA62-0669-4237-A9FA-9E113ACDBBEB}" destId="{EB2F588F-725F-4518-BC43-A7F7ABECF645}" srcOrd="0" destOrd="0" presId="urn:microsoft.com/office/officeart/2005/8/layout/vList3"/>
    <dgm:cxn modelId="{E7A6C840-5604-4EA0-85D7-DE4C31AD60C6}" type="presOf" srcId="{D4C97006-EC95-4761-8856-D405405B5EE1}" destId="{7B5AA222-2F8E-4030-8C4F-D1891797FA76}" srcOrd="0" destOrd="0" presId="urn:microsoft.com/office/officeart/2005/8/layout/vList3"/>
    <dgm:cxn modelId="{21CAAF40-E08C-4B34-8F6B-DD2AC02B2CF2}" srcId="{476DCA62-0669-4237-A9FA-9E113ACDBBEB}" destId="{55DD1843-3A4D-43FD-84E6-34068BC7CCBA}" srcOrd="0" destOrd="0" parTransId="{4FF4DEB2-2BAF-4893-BFB2-0C6B4FBDF7F5}" sibTransId="{DEBCE8BB-BE76-4F4F-82E0-0E61EE3FF2BC}"/>
    <dgm:cxn modelId="{53AEEB24-68F5-43CA-A10B-95D3572701D2}" type="presOf" srcId="{281D3E81-4759-4109-A2F8-9DE36D451F39}" destId="{B011D04A-09E5-498B-8423-E77B411D2E3D}" srcOrd="0" destOrd="0" presId="urn:microsoft.com/office/officeart/2005/8/layout/vList3"/>
    <dgm:cxn modelId="{55FCC523-2696-4692-9C77-EF3548349701}" type="presParOf" srcId="{EB2F588F-725F-4518-BC43-A7F7ABECF645}" destId="{A7FD32AE-6660-482F-90C7-55B7C462B51C}" srcOrd="0" destOrd="0" presId="urn:microsoft.com/office/officeart/2005/8/layout/vList3"/>
    <dgm:cxn modelId="{6F475C1E-2C7B-4514-9F53-86D286F39CBE}" type="presParOf" srcId="{A7FD32AE-6660-482F-90C7-55B7C462B51C}" destId="{63C20646-5741-422B-AD03-2869D04BAA87}" srcOrd="0" destOrd="0" presId="urn:microsoft.com/office/officeart/2005/8/layout/vList3"/>
    <dgm:cxn modelId="{437D3C72-699D-4F88-BB61-A287CC757348}" type="presParOf" srcId="{A7FD32AE-6660-482F-90C7-55B7C462B51C}" destId="{6E9D90CB-86BD-48E1-86AE-CC9EA420B923}" srcOrd="1" destOrd="0" presId="urn:microsoft.com/office/officeart/2005/8/layout/vList3"/>
    <dgm:cxn modelId="{53A170D6-F460-4E0C-804A-20E656FBD4A8}" type="presParOf" srcId="{EB2F588F-725F-4518-BC43-A7F7ABECF645}" destId="{C7959597-4AC1-4D5B-B8C2-13EB217D1241}" srcOrd="1" destOrd="0" presId="urn:microsoft.com/office/officeart/2005/8/layout/vList3"/>
    <dgm:cxn modelId="{050664EC-30E8-4D63-8CEA-464748286779}" type="presParOf" srcId="{EB2F588F-725F-4518-BC43-A7F7ABECF645}" destId="{7ACD2350-C0AF-4645-AE27-7F02B4132224}" srcOrd="2" destOrd="0" presId="urn:microsoft.com/office/officeart/2005/8/layout/vList3"/>
    <dgm:cxn modelId="{960FC578-958C-4125-BD2C-08B836514880}" type="presParOf" srcId="{7ACD2350-C0AF-4645-AE27-7F02B4132224}" destId="{8BA5D1A6-AE99-4850-B7DF-B5078B442740}" srcOrd="0" destOrd="0" presId="urn:microsoft.com/office/officeart/2005/8/layout/vList3"/>
    <dgm:cxn modelId="{47EB3E72-D37B-4FAF-9F97-F25AC8B1F0EE}" type="presParOf" srcId="{7ACD2350-C0AF-4645-AE27-7F02B4132224}" destId="{B011D04A-09E5-498B-8423-E77B411D2E3D}" srcOrd="1" destOrd="0" presId="urn:microsoft.com/office/officeart/2005/8/layout/vList3"/>
    <dgm:cxn modelId="{23FA6E4F-EC2C-4DC4-B81E-D47B738E1C57}" type="presParOf" srcId="{EB2F588F-725F-4518-BC43-A7F7ABECF645}" destId="{3F79E8DD-6551-454F-99FF-6F2AA04B8E07}" srcOrd="3" destOrd="0" presId="urn:microsoft.com/office/officeart/2005/8/layout/vList3"/>
    <dgm:cxn modelId="{053A94CB-97AC-496D-90CD-B75DC7842CAD}" type="presParOf" srcId="{EB2F588F-725F-4518-BC43-A7F7ABECF645}" destId="{25712B43-041F-42B1-9188-3B856D39DC5E}" srcOrd="4" destOrd="0" presId="urn:microsoft.com/office/officeart/2005/8/layout/vList3"/>
    <dgm:cxn modelId="{BF48370E-FDCF-4218-9A0C-7B6E47F9835C}" type="presParOf" srcId="{25712B43-041F-42B1-9188-3B856D39DC5E}" destId="{AAC81637-1E84-4DFA-A399-B1924B0CF071}" srcOrd="0" destOrd="0" presId="urn:microsoft.com/office/officeart/2005/8/layout/vList3"/>
    <dgm:cxn modelId="{20F42660-6508-4FBB-88C3-D2C1C3035BB7}" type="presParOf" srcId="{25712B43-041F-42B1-9188-3B856D39DC5E}" destId="{7B5AA222-2F8E-4030-8C4F-D1891797FA76}" srcOrd="1" destOrd="0" presId="urn:microsoft.com/office/officeart/2005/8/layout/vList3"/>
  </dgm:cxnLst>
  <dgm:bg/>
  <dgm:whole>
    <a:ln>
      <a:solidFill>
        <a:schemeClr val="accent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C20A78-3563-4DD8-8C55-9295A5F6747A}" type="doc">
      <dgm:prSet loTypeId="urn:microsoft.com/office/officeart/2005/8/layout/list1" loCatId="list" qsTypeId="urn:microsoft.com/office/officeart/2005/8/quickstyle/simple5" qsCatId="simple" csTypeId="urn:microsoft.com/office/officeart/2005/8/colors/colorful4" csCatId="colorful" phldr="1"/>
      <dgm:spPr/>
      <dgm:t>
        <a:bodyPr/>
        <a:lstStyle/>
        <a:p>
          <a:endParaRPr lang="en-US"/>
        </a:p>
      </dgm:t>
    </dgm:pt>
    <dgm:pt modelId="{1860449C-0B3B-4F34-B133-E34FE97A5FE4}">
      <dgm:prSet phldrT="[Text]"/>
      <dgm:spPr/>
      <dgm:t>
        <a:bodyPr/>
        <a:lstStyle/>
        <a:p>
          <a:r>
            <a:rPr lang="en-US" dirty="0" smtClean="0"/>
            <a:t>Single [ISBN for BOOK]</a:t>
          </a:r>
          <a:endParaRPr lang="en-US" dirty="0"/>
        </a:p>
      </dgm:t>
    </dgm:pt>
    <dgm:pt modelId="{8A3F5344-32E4-4E4F-B031-02A084618712}" type="parTrans" cxnId="{8DF54F2F-0BAB-48FF-9E9F-792EFD3D7385}">
      <dgm:prSet/>
      <dgm:spPr/>
      <dgm:t>
        <a:bodyPr/>
        <a:lstStyle/>
        <a:p>
          <a:endParaRPr lang="en-US"/>
        </a:p>
      </dgm:t>
    </dgm:pt>
    <dgm:pt modelId="{42CA4988-CAF3-415B-B8FA-4630549D304C}" type="sibTrans" cxnId="{8DF54F2F-0BAB-48FF-9E9F-792EFD3D7385}">
      <dgm:prSet/>
      <dgm:spPr/>
      <dgm:t>
        <a:bodyPr/>
        <a:lstStyle/>
        <a:p>
          <a:endParaRPr lang="en-US"/>
        </a:p>
      </dgm:t>
    </dgm:pt>
    <dgm:pt modelId="{9CF75FD0-D43A-4503-AE31-95ED17EB6CB5}">
      <dgm:prSet phldrT="[Text]"/>
      <dgm:spPr/>
      <dgm:t>
        <a:bodyPr/>
        <a:lstStyle/>
        <a:p>
          <a:r>
            <a:rPr lang="en-US" dirty="0" smtClean="0"/>
            <a:t>Composite [Name – First/Middle/Last]</a:t>
          </a:r>
          <a:endParaRPr lang="en-US" dirty="0"/>
        </a:p>
      </dgm:t>
    </dgm:pt>
    <dgm:pt modelId="{FBB6FB9A-63FC-4818-8CCD-E60A0F5005D3}" type="parTrans" cxnId="{FE02356E-1DA0-411F-822D-C573FE4051D7}">
      <dgm:prSet/>
      <dgm:spPr/>
      <dgm:t>
        <a:bodyPr/>
        <a:lstStyle/>
        <a:p>
          <a:endParaRPr lang="en-US"/>
        </a:p>
      </dgm:t>
    </dgm:pt>
    <dgm:pt modelId="{B43602AF-345D-4BAB-8FB2-E64633BB988C}" type="sibTrans" cxnId="{FE02356E-1DA0-411F-822D-C573FE4051D7}">
      <dgm:prSet/>
      <dgm:spPr/>
      <dgm:t>
        <a:bodyPr/>
        <a:lstStyle/>
        <a:p>
          <a:endParaRPr lang="en-US"/>
        </a:p>
      </dgm:t>
    </dgm:pt>
    <dgm:pt modelId="{2652550E-04E3-4769-926B-9385C5C3A16C}">
      <dgm:prSet phldrT="[Text]"/>
      <dgm:spPr/>
      <dgm:t>
        <a:bodyPr/>
        <a:lstStyle/>
        <a:p>
          <a:r>
            <a:rPr lang="en-US" dirty="0" smtClean="0"/>
            <a:t>Derived [Age – Date of Birth]</a:t>
          </a:r>
          <a:endParaRPr lang="en-US" dirty="0"/>
        </a:p>
      </dgm:t>
    </dgm:pt>
    <dgm:pt modelId="{30FEF476-F328-492B-87F0-61FBA9AE7A88}" type="parTrans" cxnId="{5C9E3AC4-1DC9-4E44-80A3-29AEF3B32504}">
      <dgm:prSet/>
      <dgm:spPr/>
      <dgm:t>
        <a:bodyPr/>
        <a:lstStyle/>
        <a:p>
          <a:endParaRPr lang="en-US"/>
        </a:p>
      </dgm:t>
    </dgm:pt>
    <dgm:pt modelId="{12559854-5183-420E-8226-CACF2A28556D}" type="sibTrans" cxnId="{5C9E3AC4-1DC9-4E44-80A3-29AEF3B32504}">
      <dgm:prSet/>
      <dgm:spPr/>
      <dgm:t>
        <a:bodyPr/>
        <a:lstStyle/>
        <a:p>
          <a:endParaRPr lang="en-US"/>
        </a:p>
      </dgm:t>
    </dgm:pt>
    <dgm:pt modelId="{ED4B6E68-C95C-4D25-A8FD-7F0BB30CCCAA}">
      <dgm:prSet phldrT="[Text]"/>
      <dgm:spPr/>
      <dgm:t>
        <a:bodyPr/>
        <a:lstStyle/>
        <a:p>
          <a:r>
            <a:rPr lang="en-US" dirty="0" smtClean="0"/>
            <a:t>Multi Value [Address – Street, Area, City]</a:t>
          </a:r>
          <a:endParaRPr lang="en-US" dirty="0"/>
        </a:p>
      </dgm:t>
    </dgm:pt>
    <dgm:pt modelId="{925B46D2-86FE-4E2C-8E75-55C51E174C3F}" type="parTrans" cxnId="{05E1C6F3-4DFC-48D7-98DF-E83C7BF9CFAD}">
      <dgm:prSet/>
      <dgm:spPr/>
      <dgm:t>
        <a:bodyPr/>
        <a:lstStyle/>
        <a:p>
          <a:endParaRPr lang="en-US"/>
        </a:p>
      </dgm:t>
    </dgm:pt>
    <dgm:pt modelId="{E8F253E7-2CEA-46B5-8C2D-88FEFD77FE69}" type="sibTrans" cxnId="{05E1C6F3-4DFC-48D7-98DF-E83C7BF9CFAD}">
      <dgm:prSet/>
      <dgm:spPr/>
      <dgm:t>
        <a:bodyPr/>
        <a:lstStyle/>
        <a:p>
          <a:endParaRPr lang="en-US"/>
        </a:p>
      </dgm:t>
    </dgm:pt>
    <dgm:pt modelId="{19BCBCD7-0B33-4B8E-8536-C87D3D875DA9}" type="pres">
      <dgm:prSet presAssocID="{2AC20A78-3563-4DD8-8C55-9295A5F6747A}" presName="linear" presStyleCnt="0">
        <dgm:presLayoutVars>
          <dgm:dir/>
          <dgm:animLvl val="lvl"/>
          <dgm:resizeHandles val="exact"/>
        </dgm:presLayoutVars>
      </dgm:prSet>
      <dgm:spPr/>
      <dgm:t>
        <a:bodyPr/>
        <a:lstStyle/>
        <a:p>
          <a:endParaRPr lang="en-US"/>
        </a:p>
      </dgm:t>
    </dgm:pt>
    <dgm:pt modelId="{51B56ED4-D293-4033-994E-F61CB5C2D4C1}" type="pres">
      <dgm:prSet presAssocID="{1860449C-0B3B-4F34-B133-E34FE97A5FE4}" presName="parentLin" presStyleCnt="0"/>
      <dgm:spPr/>
    </dgm:pt>
    <dgm:pt modelId="{91FC7508-372D-4970-B93D-3AAF7DC9765A}" type="pres">
      <dgm:prSet presAssocID="{1860449C-0B3B-4F34-B133-E34FE97A5FE4}" presName="parentLeftMargin" presStyleLbl="node1" presStyleIdx="0" presStyleCnt="4"/>
      <dgm:spPr/>
      <dgm:t>
        <a:bodyPr/>
        <a:lstStyle/>
        <a:p>
          <a:endParaRPr lang="en-US"/>
        </a:p>
      </dgm:t>
    </dgm:pt>
    <dgm:pt modelId="{04DFE482-E918-422A-89E9-F29641E85269}" type="pres">
      <dgm:prSet presAssocID="{1860449C-0B3B-4F34-B133-E34FE97A5FE4}" presName="parentText" presStyleLbl="node1" presStyleIdx="0" presStyleCnt="4">
        <dgm:presLayoutVars>
          <dgm:chMax val="0"/>
          <dgm:bulletEnabled val="1"/>
        </dgm:presLayoutVars>
      </dgm:prSet>
      <dgm:spPr/>
      <dgm:t>
        <a:bodyPr/>
        <a:lstStyle/>
        <a:p>
          <a:endParaRPr lang="en-US"/>
        </a:p>
      </dgm:t>
    </dgm:pt>
    <dgm:pt modelId="{5FF524C2-D894-45B5-AC3C-1DA44FAAC114}" type="pres">
      <dgm:prSet presAssocID="{1860449C-0B3B-4F34-B133-E34FE97A5FE4}" presName="negativeSpace" presStyleCnt="0"/>
      <dgm:spPr/>
    </dgm:pt>
    <dgm:pt modelId="{A046AE1E-3BD9-47AF-82A2-16A4289A0B21}" type="pres">
      <dgm:prSet presAssocID="{1860449C-0B3B-4F34-B133-E34FE97A5FE4}" presName="childText" presStyleLbl="conFgAcc1" presStyleIdx="0" presStyleCnt="4">
        <dgm:presLayoutVars>
          <dgm:bulletEnabled val="1"/>
        </dgm:presLayoutVars>
      </dgm:prSet>
      <dgm:spPr/>
    </dgm:pt>
    <dgm:pt modelId="{0E68D4EF-4C0B-41F3-94A0-6B4CB438797B}" type="pres">
      <dgm:prSet presAssocID="{42CA4988-CAF3-415B-B8FA-4630549D304C}" presName="spaceBetweenRectangles" presStyleCnt="0"/>
      <dgm:spPr/>
    </dgm:pt>
    <dgm:pt modelId="{680E6BF5-F8C5-4362-A9DC-960DC4E77D76}" type="pres">
      <dgm:prSet presAssocID="{9CF75FD0-D43A-4503-AE31-95ED17EB6CB5}" presName="parentLin" presStyleCnt="0"/>
      <dgm:spPr/>
    </dgm:pt>
    <dgm:pt modelId="{C29B8C7F-0E61-462D-B4A4-364AD08E7BBB}" type="pres">
      <dgm:prSet presAssocID="{9CF75FD0-D43A-4503-AE31-95ED17EB6CB5}" presName="parentLeftMargin" presStyleLbl="node1" presStyleIdx="0" presStyleCnt="4"/>
      <dgm:spPr/>
      <dgm:t>
        <a:bodyPr/>
        <a:lstStyle/>
        <a:p>
          <a:endParaRPr lang="en-US"/>
        </a:p>
      </dgm:t>
    </dgm:pt>
    <dgm:pt modelId="{1BB1FEF2-434B-404A-9874-BB89DE8D9111}" type="pres">
      <dgm:prSet presAssocID="{9CF75FD0-D43A-4503-AE31-95ED17EB6CB5}" presName="parentText" presStyleLbl="node1" presStyleIdx="1" presStyleCnt="4">
        <dgm:presLayoutVars>
          <dgm:chMax val="0"/>
          <dgm:bulletEnabled val="1"/>
        </dgm:presLayoutVars>
      </dgm:prSet>
      <dgm:spPr/>
      <dgm:t>
        <a:bodyPr/>
        <a:lstStyle/>
        <a:p>
          <a:endParaRPr lang="en-US"/>
        </a:p>
      </dgm:t>
    </dgm:pt>
    <dgm:pt modelId="{49EFE7EC-9335-492E-B599-AC67FAD888CA}" type="pres">
      <dgm:prSet presAssocID="{9CF75FD0-D43A-4503-AE31-95ED17EB6CB5}" presName="negativeSpace" presStyleCnt="0"/>
      <dgm:spPr/>
    </dgm:pt>
    <dgm:pt modelId="{89085EBE-BAF0-4B46-AEE5-6ACDC534E98D}" type="pres">
      <dgm:prSet presAssocID="{9CF75FD0-D43A-4503-AE31-95ED17EB6CB5}" presName="childText" presStyleLbl="conFgAcc1" presStyleIdx="1" presStyleCnt="4">
        <dgm:presLayoutVars>
          <dgm:bulletEnabled val="1"/>
        </dgm:presLayoutVars>
      </dgm:prSet>
      <dgm:spPr/>
    </dgm:pt>
    <dgm:pt modelId="{CC83C99E-5B99-4E64-B45D-ECB59D857801}" type="pres">
      <dgm:prSet presAssocID="{B43602AF-345D-4BAB-8FB2-E64633BB988C}" presName="spaceBetweenRectangles" presStyleCnt="0"/>
      <dgm:spPr/>
    </dgm:pt>
    <dgm:pt modelId="{9729912F-0410-48E9-BAC3-F514F15F5BFA}" type="pres">
      <dgm:prSet presAssocID="{ED4B6E68-C95C-4D25-A8FD-7F0BB30CCCAA}" presName="parentLin" presStyleCnt="0"/>
      <dgm:spPr/>
    </dgm:pt>
    <dgm:pt modelId="{88576685-B937-43DD-A55A-74D9D33A5099}" type="pres">
      <dgm:prSet presAssocID="{ED4B6E68-C95C-4D25-A8FD-7F0BB30CCCAA}" presName="parentLeftMargin" presStyleLbl="node1" presStyleIdx="1" presStyleCnt="4"/>
      <dgm:spPr/>
      <dgm:t>
        <a:bodyPr/>
        <a:lstStyle/>
        <a:p>
          <a:endParaRPr lang="en-US"/>
        </a:p>
      </dgm:t>
    </dgm:pt>
    <dgm:pt modelId="{B57EA143-12F5-401C-BAE5-DF91373502E7}" type="pres">
      <dgm:prSet presAssocID="{ED4B6E68-C95C-4D25-A8FD-7F0BB30CCCAA}" presName="parentText" presStyleLbl="node1" presStyleIdx="2" presStyleCnt="4">
        <dgm:presLayoutVars>
          <dgm:chMax val="0"/>
          <dgm:bulletEnabled val="1"/>
        </dgm:presLayoutVars>
      </dgm:prSet>
      <dgm:spPr/>
      <dgm:t>
        <a:bodyPr/>
        <a:lstStyle/>
        <a:p>
          <a:endParaRPr lang="en-US"/>
        </a:p>
      </dgm:t>
    </dgm:pt>
    <dgm:pt modelId="{08443266-E82D-406F-BACC-FC1E6BFA84FC}" type="pres">
      <dgm:prSet presAssocID="{ED4B6E68-C95C-4D25-A8FD-7F0BB30CCCAA}" presName="negativeSpace" presStyleCnt="0"/>
      <dgm:spPr/>
    </dgm:pt>
    <dgm:pt modelId="{C549FCB1-2984-45E4-9513-DFCD933020BC}" type="pres">
      <dgm:prSet presAssocID="{ED4B6E68-C95C-4D25-A8FD-7F0BB30CCCAA}" presName="childText" presStyleLbl="conFgAcc1" presStyleIdx="2" presStyleCnt="4">
        <dgm:presLayoutVars>
          <dgm:bulletEnabled val="1"/>
        </dgm:presLayoutVars>
      </dgm:prSet>
      <dgm:spPr/>
    </dgm:pt>
    <dgm:pt modelId="{23ADE007-2B74-44EA-881D-A6584A3E1FFC}" type="pres">
      <dgm:prSet presAssocID="{E8F253E7-2CEA-46B5-8C2D-88FEFD77FE69}" presName="spaceBetweenRectangles" presStyleCnt="0"/>
      <dgm:spPr/>
    </dgm:pt>
    <dgm:pt modelId="{88EFB695-8BA2-4D5F-9A23-9F6B9138592E}" type="pres">
      <dgm:prSet presAssocID="{2652550E-04E3-4769-926B-9385C5C3A16C}" presName="parentLin" presStyleCnt="0"/>
      <dgm:spPr/>
    </dgm:pt>
    <dgm:pt modelId="{E187E490-7BAE-459F-9683-419AEB10F361}" type="pres">
      <dgm:prSet presAssocID="{2652550E-04E3-4769-926B-9385C5C3A16C}" presName="parentLeftMargin" presStyleLbl="node1" presStyleIdx="2" presStyleCnt="4"/>
      <dgm:spPr/>
      <dgm:t>
        <a:bodyPr/>
        <a:lstStyle/>
        <a:p>
          <a:endParaRPr lang="en-US"/>
        </a:p>
      </dgm:t>
    </dgm:pt>
    <dgm:pt modelId="{A3005E29-CEF1-4F30-9A09-6E86EA5F42AA}" type="pres">
      <dgm:prSet presAssocID="{2652550E-04E3-4769-926B-9385C5C3A16C}" presName="parentText" presStyleLbl="node1" presStyleIdx="3" presStyleCnt="4">
        <dgm:presLayoutVars>
          <dgm:chMax val="0"/>
          <dgm:bulletEnabled val="1"/>
        </dgm:presLayoutVars>
      </dgm:prSet>
      <dgm:spPr/>
      <dgm:t>
        <a:bodyPr/>
        <a:lstStyle/>
        <a:p>
          <a:endParaRPr lang="en-US"/>
        </a:p>
      </dgm:t>
    </dgm:pt>
    <dgm:pt modelId="{B6806F20-79B7-4213-94BF-8B2DF6B98F57}" type="pres">
      <dgm:prSet presAssocID="{2652550E-04E3-4769-926B-9385C5C3A16C}" presName="negativeSpace" presStyleCnt="0"/>
      <dgm:spPr/>
    </dgm:pt>
    <dgm:pt modelId="{CAE08B5E-5263-4909-93ED-BC363080A536}" type="pres">
      <dgm:prSet presAssocID="{2652550E-04E3-4769-926B-9385C5C3A16C}" presName="childText" presStyleLbl="conFgAcc1" presStyleIdx="3" presStyleCnt="4">
        <dgm:presLayoutVars>
          <dgm:bulletEnabled val="1"/>
        </dgm:presLayoutVars>
      </dgm:prSet>
      <dgm:spPr/>
    </dgm:pt>
  </dgm:ptLst>
  <dgm:cxnLst>
    <dgm:cxn modelId="{F91CD011-04F6-418A-84FC-1E4E6E2E835B}" type="presOf" srcId="{2AC20A78-3563-4DD8-8C55-9295A5F6747A}" destId="{19BCBCD7-0B33-4B8E-8536-C87D3D875DA9}" srcOrd="0" destOrd="0" presId="urn:microsoft.com/office/officeart/2005/8/layout/list1"/>
    <dgm:cxn modelId="{FE02356E-1DA0-411F-822D-C573FE4051D7}" srcId="{2AC20A78-3563-4DD8-8C55-9295A5F6747A}" destId="{9CF75FD0-D43A-4503-AE31-95ED17EB6CB5}" srcOrd="1" destOrd="0" parTransId="{FBB6FB9A-63FC-4818-8CCD-E60A0F5005D3}" sibTransId="{B43602AF-345D-4BAB-8FB2-E64633BB988C}"/>
    <dgm:cxn modelId="{16B02FD6-73BC-4B0C-8CEA-3917AFCA5030}" type="presOf" srcId="{9CF75FD0-D43A-4503-AE31-95ED17EB6CB5}" destId="{C29B8C7F-0E61-462D-B4A4-364AD08E7BBB}" srcOrd="0" destOrd="0" presId="urn:microsoft.com/office/officeart/2005/8/layout/list1"/>
    <dgm:cxn modelId="{07E6D931-7C47-4C71-BEFC-991452A3E958}" type="presOf" srcId="{2652550E-04E3-4769-926B-9385C5C3A16C}" destId="{A3005E29-CEF1-4F30-9A09-6E86EA5F42AA}" srcOrd="1" destOrd="0" presId="urn:microsoft.com/office/officeart/2005/8/layout/list1"/>
    <dgm:cxn modelId="{8CD761F8-6712-4AC3-BD27-C9F2B39FDC55}" type="presOf" srcId="{ED4B6E68-C95C-4D25-A8FD-7F0BB30CCCAA}" destId="{88576685-B937-43DD-A55A-74D9D33A5099}" srcOrd="0" destOrd="0" presId="urn:microsoft.com/office/officeart/2005/8/layout/list1"/>
    <dgm:cxn modelId="{9DF5F3DD-B47A-4FF5-914F-F4B74A85BE38}" type="presOf" srcId="{1860449C-0B3B-4F34-B133-E34FE97A5FE4}" destId="{04DFE482-E918-422A-89E9-F29641E85269}" srcOrd="1" destOrd="0" presId="urn:microsoft.com/office/officeart/2005/8/layout/list1"/>
    <dgm:cxn modelId="{5C9E3AC4-1DC9-4E44-80A3-29AEF3B32504}" srcId="{2AC20A78-3563-4DD8-8C55-9295A5F6747A}" destId="{2652550E-04E3-4769-926B-9385C5C3A16C}" srcOrd="3" destOrd="0" parTransId="{30FEF476-F328-492B-87F0-61FBA9AE7A88}" sibTransId="{12559854-5183-420E-8226-CACF2A28556D}"/>
    <dgm:cxn modelId="{05E1C6F3-4DFC-48D7-98DF-E83C7BF9CFAD}" srcId="{2AC20A78-3563-4DD8-8C55-9295A5F6747A}" destId="{ED4B6E68-C95C-4D25-A8FD-7F0BB30CCCAA}" srcOrd="2" destOrd="0" parTransId="{925B46D2-86FE-4E2C-8E75-55C51E174C3F}" sibTransId="{E8F253E7-2CEA-46B5-8C2D-88FEFD77FE69}"/>
    <dgm:cxn modelId="{583B9769-7643-415E-8853-BAC383B294B8}" type="presOf" srcId="{ED4B6E68-C95C-4D25-A8FD-7F0BB30CCCAA}" destId="{B57EA143-12F5-401C-BAE5-DF91373502E7}" srcOrd="1" destOrd="0" presId="urn:microsoft.com/office/officeart/2005/8/layout/list1"/>
    <dgm:cxn modelId="{F20C3324-954D-4292-8F9B-84F07AC8F0B5}" type="presOf" srcId="{2652550E-04E3-4769-926B-9385C5C3A16C}" destId="{E187E490-7BAE-459F-9683-419AEB10F361}" srcOrd="0" destOrd="0" presId="urn:microsoft.com/office/officeart/2005/8/layout/list1"/>
    <dgm:cxn modelId="{01AEE612-A75F-450D-B828-74285D7982A9}" type="presOf" srcId="{9CF75FD0-D43A-4503-AE31-95ED17EB6CB5}" destId="{1BB1FEF2-434B-404A-9874-BB89DE8D9111}" srcOrd="1" destOrd="0" presId="urn:microsoft.com/office/officeart/2005/8/layout/list1"/>
    <dgm:cxn modelId="{0F99CCD7-5C88-422A-9BC9-EFC720E33A80}" type="presOf" srcId="{1860449C-0B3B-4F34-B133-E34FE97A5FE4}" destId="{91FC7508-372D-4970-B93D-3AAF7DC9765A}" srcOrd="0" destOrd="0" presId="urn:microsoft.com/office/officeart/2005/8/layout/list1"/>
    <dgm:cxn modelId="{8DF54F2F-0BAB-48FF-9E9F-792EFD3D7385}" srcId="{2AC20A78-3563-4DD8-8C55-9295A5F6747A}" destId="{1860449C-0B3B-4F34-B133-E34FE97A5FE4}" srcOrd="0" destOrd="0" parTransId="{8A3F5344-32E4-4E4F-B031-02A084618712}" sibTransId="{42CA4988-CAF3-415B-B8FA-4630549D304C}"/>
    <dgm:cxn modelId="{05C6DA00-2259-46BF-B736-92C064243762}" type="presParOf" srcId="{19BCBCD7-0B33-4B8E-8536-C87D3D875DA9}" destId="{51B56ED4-D293-4033-994E-F61CB5C2D4C1}" srcOrd="0" destOrd="0" presId="urn:microsoft.com/office/officeart/2005/8/layout/list1"/>
    <dgm:cxn modelId="{6B2775F6-9E33-4780-A611-E3ADAF6583C2}" type="presParOf" srcId="{51B56ED4-D293-4033-994E-F61CB5C2D4C1}" destId="{91FC7508-372D-4970-B93D-3AAF7DC9765A}" srcOrd="0" destOrd="0" presId="urn:microsoft.com/office/officeart/2005/8/layout/list1"/>
    <dgm:cxn modelId="{2EE5A9AD-57D2-41A8-9AB0-6CF51FADACBD}" type="presParOf" srcId="{51B56ED4-D293-4033-994E-F61CB5C2D4C1}" destId="{04DFE482-E918-422A-89E9-F29641E85269}" srcOrd="1" destOrd="0" presId="urn:microsoft.com/office/officeart/2005/8/layout/list1"/>
    <dgm:cxn modelId="{0012D546-6FE2-4809-A7A2-729C36D9D4EC}" type="presParOf" srcId="{19BCBCD7-0B33-4B8E-8536-C87D3D875DA9}" destId="{5FF524C2-D894-45B5-AC3C-1DA44FAAC114}" srcOrd="1" destOrd="0" presId="urn:microsoft.com/office/officeart/2005/8/layout/list1"/>
    <dgm:cxn modelId="{A7AC182F-EDAC-44A3-9349-F28DB3478453}" type="presParOf" srcId="{19BCBCD7-0B33-4B8E-8536-C87D3D875DA9}" destId="{A046AE1E-3BD9-47AF-82A2-16A4289A0B21}" srcOrd="2" destOrd="0" presId="urn:microsoft.com/office/officeart/2005/8/layout/list1"/>
    <dgm:cxn modelId="{CD157F56-6F62-4920-96F7-D99DE8851504}" type="presParOf" srcId="{19BCBCD7-0B33-4B8E-8536-C87D3D875DA9}" destId="{0E68D4EF-4C0B-41F3-94A0-6B4CB438797B}" srcOrd="3" destOrd="0" presId="urn:microsoft.com/office/officeart/2005/8/layout/list1"/>
    <dgm:cxn modelId="{321A0F2B-BFE9-43A5-B7F4-83386202973D}" type="presParOf" srcId="{19BCBCD7-0B33-4B8E-8536-C87D3D875DA9}" destId="{680E6BF5-F8C5-4362-A9DC-960DC4E77D76}" srcOrd="4" destOrd="0" presId="urn:microsoft.com/office/officeart/2005/8/layout/list1"/>
    <dgm:cxn modelId="{662FAB7D-49CC-42C4-956F-897FDE34EBDF}" type="presParOf" srcId="{680E6BF5-F8C5-4362-A9DC-960DC4E77D76}" destId="{C29B8C7F-0E61-462D-B4A4-364AD08E7BBB}" srcOrd="0" destOrd="0" presId="urn:microsoft.com/office/officeart/2005/8/layout/list1"/>
    <dgm:cxn modelId="{3BACB484-18BF-4603-8B4F-A25EACF58E03}" type="presParOf" srcId="{680E6BF5-F8C5-4362-A9DC-960DC4E77D76}" destId="{1BB1FEF2-434B-404A-9874-BB89DE8D9111}" srcOrd="1" destOrd="0" presId="urn:microsoft.com/office/officeart/2005/8/layout/list1"/>
    <dgm:cxn modelId="{D8E31578-712E-496D-91AC-BE2F34587750}" type="presParOf" srcId="{19BCBCD7-0B33-4B8E-8536-C87D3D875DA9}" destId="{49EFE7EC-9335-492E-B599-AC67FAD888CA}" srcOrd="5" destOrd="0" presId="urn:microsoft.com/office/officeart/2005/8/layout/list1"/>
    <dgm:cxn modelId="{976A2CFA-653E-4378-A6E1-854C21EF1E29}" type="presParOf" srcId="{19BCBCD7-0B33-4B8E-8536-C87D3D875DA9}" destId="{89085EBE-BAF0-4B46-AEE5-6ACDC534E98D}" srcOrd="6" destOrd="0" presId="urn:microsoft.com/office/officeart/2005/8/layout/list1"/>
    <dgm:cxn modelId="{5C7586CD-81AE-4B2B-93FF-7455F9128DF9}" type="presParOf" srcId="{19BCBCD7-0B33-4B8E-8536-C87D3D875DA9}" destId="{CC83C99E-5B99-4E64-B45D-ECB59D857801}" srcOrd="7" destOrd="0" presId="urn:microsoft.com/office/officeart/2005/8/layout/list1"/>
    <dgm:cxn modelId="{95FE0E07-5D9B-47DB-9DF4-003430609B84}" type="presParOf" srcId="{19BCBCD7-0B33-4B8E-8536-C87D3D875DA9}" destId="{9729912F-0410-48E9-BAC3-F514F15F5BFA}" srcOrd="8" destOrd="0" presId="urn:microsoft.com/office/officeart/2005/8/layout/list1"/>
    <dgm:cxn modelId="{890D3DD0-8E1E-4886-BDB4-C6126185727E}" type="presParOf" srcId="{9729912F-0410-48E9-BAC3-F514F15F5BFA}" destId="{88576685-B937-43DD-A55A-74D9D33A5099}" srcOrd="0" destOrd="0" presId="urn:microsoft.com/office/officeart/2005/8/layout/list1"/>
    <dgm:cxn modelId="{1F4B5C05-2F85-4D88-8F86-61BBCF2A6068}" type="presParOf" srcId="{9729912F-0410-48E9-BAC3-F514F15F5BFA}" destId="{B57EA143-12F5-401C-BAE5-DF91373502E7}" srcOrd="1" destOrd="0" presId="urn:microsoft.com/office/officeart/2005/8/layout/list1"/>
    <dgm:cxn modelId="{368DCB3D-4111-4B85-B74F-1F4400FEA846}" type="presParOf" srcId="{19BCBCD7-0B33-4B8E-8536-C87D3D875DA9}" destId="{08443266-E82D-406F-BACC-FC1E6BFA84FC}" srcOrd="9" destOrd="0" presId="urn:microsoft.com/office/officeart/2005/8/layout/list1"/>
    <dgm:cxn modelId="{2673E45D-A8A2-4ECA-925E-BB7B64884A7F}" type="presParOf" srcId="{19BCBCD7-0B33-4B8E-8536-C87D3D875DA9}" destId="{C549FCB1-2984-45E4-9513-DFCD933020BC}" srcOrd="10" destOrd="0" presId="urn:microsoft.com/office/officeart/2005/8/layout/list1"/>
    <dgm:cxn modelId="{D84DAD79-D762-4EA5-A765-974FBCD2782F}" type="presParOf" srcId="{19BCBCD7-0B33-4B8E-8536-C87D3D875DA9}" destId="{23ADE007-2B74-44EA-881D-A6584A3E1FFC}" srcOrd="11" destOrd="0" presId="urn:microsoft.com/office/officeart/2005/8/layout/list1"/>
    <dgm:cxn modelId="{2A5EC5E5-7879-47B7-95F5-41AE81A08B6D}" type="presParOf" srcId="{19BCBCD7-0B33-4B8E-8536-C87D3D875DA9}" destId="{88EFB695-8BA2-4D5F-9A23-9F6B9138592E}" srcOrd="12" destOrd="0" presId="urn:microsoft.com/office/officeart/2005/8/layout/list1"/>
    <dgm:cxn modelId="{F02CFEE2-E20A-4435-977F-2567BA9CEB20}" type="presParOf" srcId="{88EFB695-8BA2-4D5F-9A23-9F6B9138592E}" destId="{E187E490-7BAE-459F-9683-419AEB10F361}" srcOrd="0" destOrd="0" presId="urn:microsoft.com/office/officeart/2005/8/layout/list1"/>
    <dgm:cxn modelId="{81BBCB8D-EF13-4769-A1BA-ACC2DBE5E923}" type="presParOf" srcId="{88EFB695-8BA2-4D5F-9A23-9F6B9138592E}" destId="{A3005E29-CEF1-4F30-9A09-6E86EA5F42AA}" srcOrd="1" destOrd="0" presId="urn:microsoft.com/office/officeart/2005/8/layout/list1"/>
    <dgm:cxn modelId="{5F5D60E6-1857-43AB-9B87-01AB294C3AED}" type="presParOf" srcId="{19BCBCD7-0B33-4B8E-8536-C87D3D875DA9}" destId="{B6806F20-79B7-4213-94BF-8B2DF6B98F57}" srcOrd="13" destOrd="0" presId="urn:microsoft.com/office/officeart/2005/8/layout/list1"/>
    <dgm:cxn modelId="{A0269564-1A83-4CEC-AD8D-C29FA76D7F79}" type="presParOf" srcId="{19BCBCD7-0B33-4B8E-8536-C87D3D875DA9}" destId="{CAE08B5E-5263-4909-93ED-BC363080A536}"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96E685-CF2E-4CCD-B511-432E80C23B94}" type="doc">
      <dgm:prSet loTypeId="urn:microsoft.com/office/officeart/2005/8/layout/vList6" loCatId="process" qsTypeId="urn:microsoft.com/office/officeart/2005/8/quickstyle/simple1" qsCatId="simple" csTypeId="urn:microsoft.com/office/officeart/2005/8/colors/accent1_2" csCatId="accent1" phldr="1"/>
      <dgm:spPr/>
      <dgm:t>
        <a:bodyPr/>
        <a:lstStyle/>
        <a:p>
          <a:endParaRPr lang="en-US"/>
        </a:p>
      </dgm:t>
    </dgm:pt>
    <dgm:pt modelId="{B3D3778A-BEFC-4FD9-B1C3-BAED13222F92}">
      <dgm:prSet phldrT="[Text]"/>
      <dgm:spPr/>
      <dgm:t>
        <a:bodyPr/>
        <a:lstStyle/>
        <a:p>
          <a:r>
            <a:rPr lang="en-US" dirty="0" smtClean="0"/>
            <a:t>PRIMARY</a:t>
          </a:r>
        </a:p>
        <a:p>
          <a:r>
            <a:rPr lang="en-US" dirty="0" smtClean="0"/>
            <a:t>KEY</a:t>
          </a:r>
          <a:endParaRPr lang="en-US" dirty="0"/>
        </a:p>
      </dgm:t>
    </dgm:pt>
    <dgm:pt modelId="{23A83C79-4937-4684-A999-20184ACA3CE2}" type="parTrans" cxnId="{9A11AC6D-54D0-46D5-ACA2-AAB449E5BE3F}">
      <dgm:prSet/>
      <dgm:spPr/>
      <dgm:t>
        <a:bodyPr/>
        <a:lstStyle/>
        <a:p>
          <a:endParaRPr lang="en-US"/>
        </a:p>
      </dgm:t>
    </dgm:pt>
    <dgm:pt modelId="{7BF2846C-C9DA-49A2-9BED-377938D470F9}" type="sibTrans" cxnId="{9A11AC6D-54D0-46D5-ACA2-AAB449E5BE3F}">
      <dgm:prSet/>
      <dgm:spPr/>
      <dgm:t>
        <a:bodyPr/>
        <a:lstStyle/>
        <a:p>
          <a:endParaRPr lang="en-US"/>
        </a:p>
      </dgm:t>
    </dgm:pt>
    <dgm:pt modelId="{BEC841BC-6E2A-47E7-A5FD-AA2874C435F6}">
      <dgm:prSet phldrT="[Text]"/>
      <dgm:spPr/>
      <dgm:t>
        <a:bodyPr/>
        <a:lstStyle/>
        <a:p>
          <a:r>
            <a:rPr lang="en-US" b="0" i="0" dirty="0" smtClean="0"/>
            <a:t>uniquely identify each row in the table</a:t>
          </a:r>
          <a:endParaRPr lang="en-US" dirty="0"/>
        </a:p>
      </dgm:t>
    </dgm:pt>
    <dgm:pt modelId="{6E948A2D-1D96-4926-84C5-6CC51ECD5DD0}" type="parTrans" cxnId="{AD250A35-59E2-4CAD-BC69-A82BB9345D2E}">
      <dgm:prSet/>
      <dgm:spPr/>
      <dgm:t>
        <a:bodyPr/>
        <a:lstStyle/>
        <a:p>
          <a:endParaRPr lang="en-US"/>
        </a:p>
      </dgm:t>
    </dgm:pt>
    <dgm:pt modelId="{1A96F7DD-AB24-4731-9475-2DC962D4B826}" type="sibTrans" cxnId="{AD250A35-59E2-4CAD-BC69-A82BB9345D2E}">
      <dgm:prSet/>
      <dgm:spPr/>
      <dgm:t>
        <a:bodyPr/>
        <a:lstStyle/>
        <a:p>
          <a:endParaRPr lang="en-US"/>
        </a:p>
      </dgm:t>
    </dgm:pt>
    <dgm:pt modelId="{4CE20933-FD96-47A8-93FD-60646BC10610}">
      <dgm:prSet phldrT="[Text]"/>
      <dgm:spPr/>
      <dgm:t>
        <a:bodyPr/>
        <a:lstStyle/>
        <a:p>
          <a:r>
            <a:rPr lang="en-US" b="0" i="0" dirty="0" smtClean="0"/>
            <a:t>the columns must be unique, not null and not empty</a:t>
          </a:r>
          <a:endParaRPr lang="en-US" dirty="0"/>
        </a:p>
      </dgm:t>
    </dgm:pt>
    <dgm:pt modelId="{3C51F5B2-8A88-4C54-BF46-24C3B25BDB57}" type="parTrans" cxnId="{31DEB5CA-2B29-47C5-97AE-9BB8A7365B51}">
      <dgm:prSet/>
      <dgm:spPr/>
      <dgm:t>
        <a:bodyPr/>
        <a:lstStyle/>
        <a:p>
          <a:endParaRPr lang="en-US"/>
        </a:p>
      </dgm:t>
    </dgm:pt>
    <dgm:pt modelId="{5B5E8262-26BE-428E-AE1F-EAB5F37B1346}" type="sibTrans" cxnId="{31DEB5CA-2B29-47C5-97AE-9BB8A7365B51}">
      <dgm:prSet/>
      <dgm:spPr/>
      <dgm:t>
        <a:bodyPr/>
        <a:lstStyle/>
        <a:p>
          <a:endParaRPr lang="en-US"/>
        </a:p>
      </dgm:t>
    </dgm:pt>
    <dgm:pt modelId="{FCF522B4-A6C6-443C-954A-19117DAEF3FD}">
      <dgm:prSet phldrT="[Text]"/>
      <dgm:spPr/>
      <dgm:t>
        <a:bodyPr/>
        <a:lstStyle/>
        <a:p>
          <a:r>
            <a:rPr lang="en-US" dirty="0" smtClean="0"/>
            <a:t>FOREIGN</a:t>
          </a:r>
        </a:p>
        <a:p>
          <a:r>
            <a:rPr lang="en-US" dirty="0" smtClean="0"/>
            <a:t>KEY</a:t>
          </a:r>
          <a:endParaRPr lang="en-US" dirty="0"/>
        </a:p>
      </dgm:t>
    </dgm:pt>
    <dgm:pt modelId="{CB463073-3168-4700-A3F7-A7C1C07C8AFC}" type="parTrans" cxnId="{530CCB2A-69E9-4008-A23F-4F3AF43E47EC}">
      <dgm:prSet/>
      <dgm:spPr/>
      <dgm:t>
        <a:bodyPr/>
        <a:lstStyle/>
        <a:p>
          <a:endParaRPr lang="en-US"/>
        </a:p>
      </dgm:t>
    </dgm:pt>
    <dgm:pt modelId="{083DC77B-4021-41A7-8EAC-D5A532CD6C95}" type="sibTrans" cxnId="{530CCB2A-69E9-4008-A23F-4F3AF43E47EC}">
      <dgm:prSet/>
      <dgm:spPr/>
      <dgm:t>
        <a:bodyPr/>
        <a:lstStyle/>
        <a:p>
          <a:endParaRPr lang="en-US"/>
        </a:p>
      </dgm:t>
    </dgm:pt>
    <dgm:pt modelId="{490EB739-80DD-4087-B0B1-B95273C661AD}">
      <dgm:prSet phldrT="[Text]"/>
      <dgm:spPr/>
      <dgm:t>
        <a:bodyPr/>
        <a:lstStyle/>
        <a:p>
          <a:r>
            <a:rPr lang="en-US" b="0" i="0" dirty="0" smtClean="0"/>
            <a:t>refers to the primary key in another table</a:t>
          </a:r>
          <a:endParaRPr lang="en-US" dirty="0"/>
        </a:p>
      </dgm:t>
    </dgm:pt>
    <dgm:pt modelId="{ABC2F3E3-A130-441D-B013-2D98E68174F7}" type="parTrans" cxnId="{FEC4CDCD-E4E2-44F9-B678-2889F8EC551A}">
      <dgm:prSet/>
      <dgm:spPr/>
      <dgm:t>
        <a:bodyPr/>
        <a:lstStyle/>
        <a:p>
          <a:endParaRPr lang="en-US"/>
        </a:p>
      </dgm:t>
    </dgm:pt>
    <dgm:pt modelId="{F22CBABB-94FB-40BC-AB70-62C25FE7F9E9}" type="sibTrans" cxnId="{FEC4CDCD-E4E2-44F9-B678-2889F8EC551A}">
      <dgm:prSet/>
      <dgm:spPr/>
      <dgm:t>
        <a:bodyPr/>
        <a:lstStyle/>
        <a:p>
          <a:endParaRPr lang="en-US"/>
        </a:p>
      </dgm:t>
    </dgm:pt>
    <dgm:pt modelId="{A8069BC9-0520-4B49-B459-6E61866BBB09}">
      <dgm:prSet phldrT="[Text]" phldr="1"/>
      <dgm:spPr/>
      <dgm:t>
        <a:bodyPr/>
        <a:lstStyle/>
        <a:p>
          <a:endParaRPr lang="en-US" dirty="0"/>
        </a:p>
      </dgm:t>
    </dgm:pt>
    <dgm:pt modelId="{AFD6069A-5470-40C4-BC91-EFA56207F916}" type="parTrans" cxnId="{6FEC7A9E-960B-4C71-9CAD-D0663E2932B4}">
      <dgm:prSet/>
      <dgm:spPr/>
      <dgm:t>
        <a:bodyPr/>
        <a:lstStyle/>
        <a:p>
          <a:endParaRPr lang="en-US"/>
        </a:p>
      </dgm:t>
    </dgm:pt>
    <dgm:pt modelId="{5A7E9FC8-5FA9-4470-83D2-34F3ACF620AB}" type="sibTrans" cxnId="{6FEC7A9E-960B-4C71-9CAD-D0663E2932B4}">
      <dgm:prSet/>
      <dgm:spPr/>
      <dgm:t>
        <a:bodyPr/>
        <a:lstStyle/>
        <a:p>
          <a:endParaRPr lang="en-US"/>
        </a:p>
      </dgm:t>
    </dgm:pt>
    <dgm:pt modelId="{DAAE28FB-7F22-4BAC-B1BF-46DE4393DEEE}" type="pres">
      <dgm:prSet presAssocID="{6C96E685-CF2E-4CCD-B511-432E80C23B94}" presName="Name0" presStyleCnt="0">
        <dgm:presLayoutVars>
          <dgm:dir/>
          <dgm:animLvl val="lvl"/>
          <dgm:resizeHandles/>
        </dgm:presLayoutVars>
      </dgm:prSet>
      <dgm:spPr/>
      <dgm:t>
        <a:bodyPr/>
        <a:lstStyle/>
        <a:p>
          <a:endParaRPr lang="en-US"/>
        </a:p>
      </dgm:t>
    </dgm:pt>
    <dgm:pt modelId="{B682DE8A-68F8-453D-B55D-C000E10948F9}" type="pres">
      <dgm:prSet presAssocID="{B3D3778A-BEFC-4FD9-B1C3-BAED13222F92}" presName="linNode" presStyleCnt="0"/>
      <dgm:spPr/>
    </dgm:pt>
    <dgm:pt modelId="{23138547-F0D8-4CED-AB67-389136514AD6}" type="pres">
      <dgm:prSet presAssocID="{B3D3778A-BEFC-4FD9-B1C3-BAED13222F92}" presName="parentShp" presStyleLbl="node1" presStyleIdx="0" presStyleCnt="2">
        <dgm:presLayoutVars>
          <dgm:bulletEnabled val="1"/>
        </dgm:presLayoutVars>
      </dgm:prSet>
      <dgm:spPr/>
      <dgm:t>
        <a:bodyPr/>
        <a:lstStyle/>
        <a:p>
          <a:endParaRPr lang="en-US"/>
        </a:p>
      </dgm:t>
    </dgm:pt>
    <dgm:pt modelId="{461D7A9D-37E9-416A-9A2C-0CDBC5BAD80E}" type="pres">
      <dgm:prSet presAssocID="{B3D3778A-BEFC-4FD9-B1C3-BAED13222F92}" presName="childShp" presStyleLbl="bgAccFollowNode1" presStyleIdx="0" presStyleCnt="2">
        <dgm:presLayoutVars>
          <dgm:bulletEnabled val="1"/>
        </dgm:presLayoutVars>
      </dgm:prSet>
      <dgm:spPr/>
      <dgm:t>
        <a:bodyPr/>
        <a:lstStyle/>
        <a:p>
          <a:endParaRPr lang="en-US"/>
        </a:p>
      </dgm:t>
    </dgm:pt>
    <dgm:pt modelId="{90B3ED4D-08E7-424D-A798-2CF77D13E452}" type="pres">
      <dgm:prSet presAssocID="{7BF2846C-C9DA-49A2-9BED-377938D470F9}" presName="spacing" presStyleCnt="0"/>
      <dgm:spPr/>
    </dgm:pt>
    <dgm:pt modelId="{DC914685-44C9-4ADB-A507-6C47AFD6458B}" type="pres">
      <dgm:prSet presAssocID="{FCF522B4-A6C6-443C-954A-19117DAEF3FD}" presName="linNode" presStyleCnt="0"/>
      <dgm:spPr/>
    </dgm:pt>
    <dgm:pt modelId="{CC3E1DCA-DF23-40FA-94F0-0B4860165DF5}" type="pres">
      <dgm:prSet presAssocID="{FCF522B4-A6C6-443C-954A-19117DAEF3FD}" presName="parentShp" presStyleLbl="node1" presStyleIdx="1" presStyleCnt="2">
        <dgm:presLayoutVars>
          <dgm:bulletEnabled val="1"/>
        </dgm:presLayoutVars>
      </dgm:prSet>
      <dgm:spPr/>
      <dgm:t>
        <a:bodyPr/>
        <a:lstStyle/>
        <a:p>
          <a:endParaRPr lang="en-US"/>
        </a:p>
      </dgm:t>
    </dgm:pt>
    <dgm:pt modelId="{3CA74625-B19E-477C-814F-F52BA403FDDC}" type="pres">
      <dgm:prSet presAssocID="{FCF522B4-A6C6-443C-954A-19117DAEF3FD}" presName="childShp" presStyleLbl="bgAccFollowNode1" presStyleIdx="1" presStyleCnt="2">
        <dgm:presLayoutVars>
          <dgm:bulletEnabled val="1"/>
        </dgm:presLayoutVars>
      </dgm:prSet>
      <dgm:spPr/>
      <dgm:t>
        <a:bodyPr/>
        <a:lstStyle/>
        <a:p>
          <a:endParaRPr lang="en-US"/>
        </a:p>
      </dgm:t>
    </dgm:pt>
  </dgm:ptLst>
  <dgm:cxnLst>
    <dgm:cxn modelId="{AD250A35-59E2-4CAD-BC69-A82BB9345D2E}" srcId="{B3D3778A-BEFC-4FD9-B1C3-BAED13222F92}" destId="{BEC841BC-6E2A-47E7-A5FD-AA2874C435F6}" srcOrd="0" destOrd="0" parTransId="{6E948A2D-1D96-4926-84C5-6CC51ECD5DD0}" sibTransId="{1A96F7DD-AB24-4731-9475-2DC962D4B826}"/>
    <dgm:cxn modelId="{A241FC7E-5776-40C8-99AE-2259561B7EB8}" type="presOf" srcId="{4CE20933-FD96-47A8-93FD-60646BC10610}" destId="{461D7A9D-37E9-416A-9A2C-0CDBC5BAD80E}" srcOrd="0" destOrd="1" presId="urn:microsoft.com/office/officeart/2005/8/layout/vList6"/>
    <dgm:cxn modelId="{5155BAD7-A553-4735-83F9-76092CD8A230}" type="presOf" srcId="{FCF522B4-A6C6-443C-954A-19117DAEF3FD}" destId="{CC3E1DCA-DF23-40FA-94F0-0B4860165DF5}" srcOrd="0" destOrd="0" presId="urn:microsoft.com/office/officeart/2005/8/layout/vList6"/>
    <dgm:cxn modelId="{530CCB2A-69E9-4008-A23F-4F3AF43E47EC}" srcId="{6C96E685-CF2E-4CCD-B511-432E80C23B94}" destId="{FCF522B4-A6C6-443C-954A-19117DAEF3FD}" srcOrd="1" destOrd="0" parTransId="{CB463073-3168-4700-A3F7-A7C1C07C8AFC}" sibTransId="{083DC77B-4021-41A7-8EAC-D5A532CD6C95}"/>
    <dgm:cxn modelId="{FEC4CDCD-E4E2-44F9-B678-2889F8EC551A}" srcId="{FCF522B4-A6C6-443C-954A-19117DAEF3FD}" destId="{490EB739-80DD-4087-B0B1-B95273C661AD}" srcOrd="0" destOrd="0" parTransId="{ABC2F3E3-A130-441D-B013-2D98E68174F7}" sibTransId="{F22CBABB-94FB-40BC-AB70-62C25FE7F9E9}"/>
    <dgm:cxn modelId="{6FEC7A9E-960B-4C71-9CAD-D0663E2932B4}" srcId="{FCF522B4-A6C6-443C-954A-19117DAEF3FD}" destId="{A8069BC9-0520-4B49-B459-6E61866BBB09}" srcOrd="1" destOrd="0" parTransId="{AFD6069A-5470-40C4-BC91-EFA56207F916}" sibTransId="{5A7E9FC8-5FA9-4470-83D2-34F3ACF620AB}"/>
    <dgm:cxn modelId="{4ADAAB25-5EE3-46C7-99F2-F1AC0B3098BF}" type="presOf" srcId="{6C96E685-CF2E-4CCD-B511-432E80C23B94}" destId="{DAAE28FB-7F22-4BAC-B1BF-46DE4393DEEE}" srcOrd="0" destOrd="0" presId="urn:microsoft.com/office/officeart/2005/8/layout/vList6"/>
    <dgm:cxn modelId="{9A11AC6D-54D0-46D5-ACA2-AAB449E5BE3F}" srcId="{6C96E685-CF2E-4CCD-B511-432E80C23B94}" destId="{B3D3778A-BEFC-4FD9-B1C3-BAED13222F92}" srcOrd="0" destOrd="0" parTransId="{23A83C79-4937-4684-A999-20184ACA3CE2}" sibTransId="{7BF2846C-C9DA-49A2-9BED-377938D470F9}"/>
    <dgm:cxn modelId="{CBC17B86-0D5C-4253-97E2-132C8F853C6D}" type="presOf" srcId="{490EB739-80DD-4087-B0B1-B95273C661AD}" destId="{3CA74625-B19E-477C-814F-F52BA403FDDC}" srcOrd="0" destOrd="0" presId="urn:microsoft.com/office/officeart/2005/8/layout/vList6"/>
    <dgm:cxn modelId="{991A8C5C-7CCA-480B-A2A0-81F1A81FDDD5}" type="presOf" srcId="{B3D3778A-BEFC-4FD9-B1C3-BAED13222F92}" destId="{23138547-F0D8-4CED-AB67-389136514AD6}" srcOrd="0" destOrd="0" presId="urn:microsoft.com/office/officeart/2005/8/layout/vList6"/>
    <dgm:cxn modelId="{63945ABE-CA33-45FA-B9CE-A5B083888228}" type="presOf" srcId="{A8069BC9-0520-4B49-B459-6E61866BBB09}" destId="{3CA74625-B19E-477C-814F-F52BA403FDDC}" srcOrd="0" destOrd="1" presId="urn:microsoft.com/office/officeart/2005/8/layout/vList6"/>
    <dgm:cxn modelId="{31DEB5CA-2B29-47C5-97AE-9BB8A7365B51}" srcId="{B3D3778A-BEFC-4FD9-B1C3-BAED13222F92}" destId="{4CE20933-FD96-47A8-93FD-60646BC10610}" srcOrd="1" destOrd="0" parTransId="{3C51F5B2-8A88-4C54-BF46-24C3B25BDB57}" sibTransId="{5B5E8262-26BE-428E-AE1F-EAB5F37B1346}"/>
    <dgm:cxn modelId="{92489FFB-BC3C-4CA8-93D6-F8870BA1CD85}" type="presOf" srcId="{BEC841BC-6E2A-47E7-A5FD-AA2874C435F6}" destId="{461D7A9D-37E9-416A-9A2C-0CDBC5BAD80E}" srcOrd="0" destOrd="0" presId="urn:microsoft.com/office/officeart/2005/8/layout/vList6"/>
    <dgm:cxn modelId="{022F3602-9653-4C85-952D-DB5CF0955427}" type="presParOf" srcId="{DAAE28FB-7F22-4BAC-B1BF-46DE4393DEEE}" destId="{B682DE8A-68F8-453D-B55D-C000E10948F9}" srcOrd="0" destOrd="0" presId="urn:microsoft.com/office/officeart/2005/8/layout/vList6"/>
    <dgm:cxn modelId="{751BFD94-5E03-4D17-8968-ADFF7FF6888C}" type="presParOf" srcId="{B682DE8A-68F8-453D-B55D-C000E10948F9}" destId="{23138547-F0D8-4CED-AB67-389136514AD6}" srcOrd="0" destOrd="0" presId="urn:microsoft.com/office/officeart/2005/8/layout/vList6"/>
    <dgm:cxn modelId="{1037C9F1-E605-44A4-A041-BEAC13DB5172}" type="presParOf" srcId="{B682DE8A-68F8-453D-B55D-C000E10948F9}" destId="{461D7A9D-37E9-416A-9A2C-0CDBC5BAD80E}" srcOrd="1" destOrd="0" presId="urn:microsoft.com/office/officeart/2005/8/layout/vList6"/>
    <dgm:cxn modelId="{B560FC32-DF76-4616-9E48-3D669B8DF88B}" type="presParOf" srcId="{DAAE28FB-7F22-4BAC-B1BF-46DE4393DEEE}" destId="{90B3ED4D-08E7-424D-A798-2CF77D13E452}" srcOrd="1" destOrd="0" presId="urn:microsoft.com/office/officeart/2005/8/layout/vList6"/>
    <dgm:cxn modelId="{46DF28A6-AFEE-4994-8DF7-A9D92A832806}" type="presParOf" srcId="{DAAE28FB-7F22-4BAC-B1BF-46DE4393DEEE}" destId="{DC914685-44C9-4ADB-A507-6C47AFD6458B}" srcOrd="2" destOrd="0" presId="urn:microsoft.com/office/officeart/2005/8/layout/vList6"/>
    <dgm:cxn modelId="{26457ED1-8884-4A2A-A4E2-257C7894B411}" type="presParOf" srcId="{DC914685-44C9-4ADB-A507-6C47AFD6458B}" destId="{CC3E1DCA-DF23-40FA-94F0-0B4860165DF5}" srcOrd="0" destOrd="0" presId="urn:microsoft.com/office/officeart/2005/8/layout/vList6"/>
    <dgm:cxn modelId="{6D731733-A2AB-4E20-8E03-ECB0DE5B57D0}" type="presParOf" srcId="{DC914685-44C9-4ADB-A507-6C47AFD6458B}" destId="{3CA74625-B19E-477C-814F-F52BA403FDDC}"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46AE1E-3BD9-47AF-82A2-16A4289A0B21}">
      <dsp:nvSpPr>
        <dsp:cNvPr id="0" name=""/>
        <dsp:cNvSpPr/>
      </dsp:nvSpPr>
      <dsp:spPr>
        <a:xfrm>
          <a:off x="0" y="313071"/>
          <a:ext cx="7214584" cy="4536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04DFE482-E918-422A-89E9-F29641E85269}">
      <dsp:nvSpPr>
        <dsp:cNvPr id="0" name=""/>
        <dsp:cNvSpPr/>
      </dsp:nvSpPr>
      <dsp:spPr>
        <a:xfrm>
          <a:off x="360729" y="47391"/>
          <a:ext cx="5050208" cy="53136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886" tIns="0" rIns="190886" bIns="0" numCol="1" spcCol="1270" anchor="ctr" anchorCtr="0">
          <a:noAutofit/>
        </a:bodyPr>
        <a:lstStyle/>
        <a:p>
          <a:pPr lvl="0" algn="l" defTabSz="800100">
            <a:lnSpc>
              <a:spcPct val="90000"/>
            </a:lnSpc>
            <a:spcBef>
              <a:spcPct val="0"/>
            </a:spcBef>
            <a:spcAft>
              <a:spcPct val="35000"/>
            </a:spcAft>
          </a:pPr>
          <a:r>
            <a:rPr lang="en-US" sz="1800" kern="1200" dirty="0" smtClean="0"/>
            <a:t>Single [ISBN for BOOK]</a:t>
          </a:r>
          <a:endParaRPr lang="en-US" sz="1800" kern="1200" dirty="0"/>
        </a:p>
      </dsp:txBody>
      <dsp:txXfrm>
        <a:off x="386668" y="73330"/>
        <a:ext cx="4998330" cy="479482"/>
      </dsp:txXfrm>
    </dsp:sp>
    <dsp:sp modelId="{89085EBE-BAF0-4B46-AEE5-6ACDC534E98D}">
      <dsp:nvSpPr>
        <dsp:cNvPr id="0" name=""/>
        <dsp:cNvSpPr/>
      </dsp:nvSpPr>
      <dsp:spPr>
        <a:xfrm>
          <a:off x="0" y="1129552"/>
          <a:ext cx="7214584" cy="453600"/>
        </a:xfrm>
        <a:prstGeom prst="rect">
          <a:avLst/>
        </a:prstGeom>
        <a:solidFill>
          <a:schemeClr val="lt1">
            <a:alpha val="90000"/>
            <a:hueOff val="0"/>
            <a:satOff val="0"/>
            <a:lumOff val="0"/>
            <a:alphaOff val="0"/>
          </a:schemeClr>
        </a:solidFill>
        <a:ln w="6350" cap="flat" cmpd="sng" algn="ctr">
          <a:solidFill>
            <a:schemeClr val="accent4">
              <a:hueOff val="3465231"/>
              <a:satOff val="-15989"/>
              <a:lumOff val="588"/>
              <a:alphaOff val="0"/>
            </a:schemeClr>
          </a:solidFill>
          <a:prstDash val="solid"/>
          <a:miter lim="800000"/>
        </a:ln>
        <a:effectLst/>
      </dsp:spPr>
      <dsp:style>
        <a:lnRef idx="1">
          <a:scrgbClr r="0" g="0" b="0"/>
        </a:lnRef>
        <a:fillRef idx="1">
          <a:scrgbClr r="0" g="0" b="0"/>
        </a:fillRef>
        <a:effectRef idx="2">
          <a:scrgbClr r="0" g="0" b="0"/>
        </a:effectRef>
        <a:fontRef idx="minor"/>
      </dsp:style>
    </dsp:sp>
    <dsp:sp modelId="{1BB1FEF2-434B-404A-9874-BB89DE8D9111}">
      <dsp:nvSpPr>
        <dsp:cNvPr id="0" name=""/>
        <dsp:cNvSpPr/>
      </dsp:nvSpPr>
      <dsp:spPr>
        <a:xfrm>
          <a:off x="360729" y="863872"/>
          <a:ext cx="5050208" cy="531360"/>
        </a:xfrm>
        <a:prstGeom prst="roundRect">
          <a:avLst/>
        </a:prstGeom>
        <a:gradFill rotWithShape="0">
          <a:gsLst>
            <a:gs pos="0">
              <a:schemeClr val="accent4">
                <a:hueOff val="3465231"/>
                <a:satOff val="-15989"/>
                <a:lumOff val="588"/>
                <a:alphaOff val="0"/>
                <a:satMod val="103000"/>
                <a:lumMod val="102000"/>
                <a:tint val="94000"/>
              </a:schemeClr>
            </a:gs>
            <a:gs pos="50000">
              <a:schemeClr val="accent4">
                <a:hueOff val="3465231"/>
                <a:satOff val="-15989"/>
                <a:lumOff val="588"/>
                <a:alphaOff val="0"/>
                <a:satMod val="110000"/>
                <a:lumMod val="100000"/>
                <a:shade val="100000"/>
              </a:schemeClr>
            </a:gs>
            <a:gs pos="100000">
              <a:schemeClr val="accent4">
                <a:hueOff val="3465231"/>
                <a:satOff val="-15989"/>
                <a:lumOff val="58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886" tIns="0" rIns="190886" bIns="0" numCol="1" spcCol="1270" anchor="ctr" anchorCtr="0">
          <a:noAutofit/>
        </a:bodyPr>
        <a:lstStyle/>
        <a:p>
          <a:pPr lvl="0" algn="l" defTabSz="800100">
            <a:lnSpc>
              <a:spcPct val="90000"/>
            </a:lnSpc>
            <a:spcBef>
              <a:spcPct val="0"/>
            </a:spcBef>
            <a:spcAft>
              <a:spcPct val="35000"/>
            </a:spcAft>
          </a:pPr>
          <a:r>
            <a:rPr lang="en-US" sz="1800" kern="1200" dirty="0" smtClean="0"/>
            <a:t>Composite [Name – First/Middle/Last]</a:t>
          </a:r>
          <a:endParaRPr lang="en-US" sz="1800" kern="1200" dirty="0"/>
        </a:p>
      </dsp:txBody>
      <dsp:txXfrm>
        <a:off x="386668" y="889811"/>
        <a:ext cx="4998330" cy="479482"/>
      </dsp:txXfrm>
    </dsp:sp>
    <dsp:sp modelId="{C549FCB1-2984-45E4-9513-DFCD933020BC}">
      <dsp:nvSpPr>
        <dsp:cNvPr id="0" name=""/>
        <dsp:cNvSpPr/>
      </dsp:nvSpPr>
      <dsp:spPr>
        <a:xfrm>
          <a:off x="0" y="1946032"/>
          <a:ext cx="7214584" cy="453600"/>
        </a:xfrm>
        <a:prstGeom prst="rect">
          <a:avLst/>
        </a:prstGeom>
        <a:solidFill>
          <a:schemeClr val="lt1">
            <a:alpha val="90000"/>
            <a:hueOff val="0"/>
            <a:satOff val="0"/>
            <a:lumOff val="0"/>
            <a:alphaOff val="0"/>
          </a:schemeClr>
        </a:solidFill>
        <a:ln w="6350" cap="flat" cmpd="sng" algn="ctr">
          <a:solidFill>
            <a:schemeClr val="accent4">
              <a:hueOff val="6930461"/>
              <a:satOff val="-31979"/>
              <a:lumOff val="1177"/>
              <a:alphaOff val="0"/>
            </a:schemeClr>
          </a:solidFill>
          <a:prstDash val="solid"/>
          <a:miter lim="800000"/>
        </a:ln>
        <a:effectLst/>
      </dsp:spPr>
      <dsp:style>
        <a:lnRef idx="1">
          <a:scrgbClr r="0" g="0" b="0"/>
        </a:lnRef>
        <a:fillRef idx="1">
          <a:scrgbClr r="0" g="0" b="0"/>
        </a:fillRef>
        <a:effectRef idx="2">
          <a:scrgbClr r="0" g="0" b="0"/>
        </a:effectRef>
        <a:fontRef idx="minor"/>
      </dsp:style>
    </dsp:sp>
    <dsp:sp modelId="{B57EA143-12F5-401C-BAE5-DF91373502E7}">
      <dsp:nvSpPr>
        <dsp:cNvPr id="0" name=""/>
        <dsp:cNvSpPr/>
      </dsp:nvSpPr>
      <dsp:spPr>
        <a:xfrm>
          <a:off x="360729" y="1680352"/>
          <a:ext cx="5050208" cy="531360"/>
        </a:xfrm>
        <a:prstGeom prst="roundRect">
          <a:avLst/>
        </a:prstGeom>
        <a:gradFill rotWithShape="0">
          <a:gsLst>
            <a:gs pos="0">
              <a:schemeClr val="accent4">
                <a:hueOff val="6930461"/>
                <a:satOff val="-31979"/>
                <a:lumOff val="1177"/>
                <a:alphaOff val="0"/>
                <a:satMod val="103000"/>
                <a:lumMod val="102000"/>
                <a:tint val="94000"/>
              </a:schemeClr>
            </a:gs>
            <a:gs pos="50000">
              <a:schemeClr val="accent4">
                <a:hueOff val="6930461"/>
                <a:satOff val="-31979"/>
                <a:lumOff val="1177"/>
                <a:alphaOff val="0"/>
                <a:satMod val="110000"/>
                <a:lumMod val="100000"/>
                <a:shade val="100000"/>
              </a:schemeClr>
            </a:gs>
            <a:gs pos="100000">
              <a:schemeClr val="accent4">
                <a:hueOff val="6930461"/>
                <a:satOff val="-31979"/>
                <a:lumOff val="117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886" tIns="0" rIns="190886" bIns="0" numCol="1" spcCol="1270" anchor="ctr" anchorCtr="0">
          <a:noAutofit/>
        </a:bodyPr>
        <a:lstStyle/>
        <a:p>
          <a:pPr lvl="0" algn="l" defTabSz="800100">
            <a:lnSpc>
              <a:spcPct val="90000"/>
            </a:lnSpc>
            <a:spcBef>
              <a:spcPct val="0"/>
            </a:spcBef>
            <a:spcAft>
              <a:spcPct val="35000"/>
            </a:spcAft>
          </a:pPr>
          <a:r>
            <a:rPr lang="en-US" sz="1800" kern="1200" dirty="0" smtClean="0"/>
            <a:t>Multi Value [Address – Street, Area, City]</a:t>
          </a:r>
          <a:endParaRPr lang="en-US" sz="1800" kern="1200" dirty="0"/>
        </a:p>
      </dsp:txBody>
      <dsp:txXfrm>
        <a:off x="386668" y="1706291"/>
        <a:ext cx="4998330" cy="479482"/>
      </dsp:txXfrm>
    </dsp:sp>
    <dsp:sp modelId="{CAE08B5E-5263-4909-93ED-BC363080A536}">
      <dsp:nvSpPr>
        <dsp:cNvPr id="0" name=""/>
        <dsp:cNvSpPr/>
      </dsp:nvSpPr>
      <dsp:spPr>
        <a:xfrm>
          <a:off x="0" y="2762512"/>
          <a:ext cx="7214584" cy="453600"/>
        </a:xfrm>
        <a:prstGeom prst="rect">
          <a:avLst/>
        </a:prstGeom>
        <a:solidFill>
          <a:schemeClr val="lt1">
            <a:alpha val="90000"/>
            <a:hueOff val="0"/>
            <a:satOff val="0"/>
            <a:lumOff val="0"/>
            <a:alphaOff val="0"/>
          </a:schemeClr>
        </a:solidFill>
        <a:ln w="6350" cap="flat" cmpd="sng" algn="ctr">
          <a:solidFill>
            <a:schemeClr val="accent4">
              <a:hueOff val="10395692"/>
              <a:satOff val="-47968"/>
              <a:lumOff val="1765"/>
              <a:alphaOff val="0"/>
            </a:schemeClr>
          </a:solidFill>
          <a:prstDash val="solid"/>
          <a:miter lim="800000"/>
        </a:ln>
        <a:effectLst/>
      </dsp:spPr>
      <dsp:style>
        <a:lnRef idx="1">
          <a:scrgbClr r="0" g="0" b="0"/>
        </a:lnRef>
        <a:fillRef idx="1">
          <a:scrgbClr r="0" g="0" b="0"/>
        </a:fillRef>
        <a:effectRef idx="2">
          <a:scrgbClr r="0" g="0" b="0"/>
        </a:effectRef>
        <a:fontRef idx="minor"/>
      </dsp:style>
    </dsp:sp>
    <dsp:sp modelId="{A3005E29-CEF1-4F30-9A09-6E86EA5F42AA}">
      <dsp:nvSpPr>
        <dsp:cNvPr id="0" name=""/>
        <dsp:cNvSpPr/>
      </dsp:nvSpPr>
      <dsp:spPr>
        <a:xfrm>
          <a:off x="360729" y="2496832"/>
          <a:ext cx="5050208" cy="531360"/>
        </a:xfrm>
        <a:prstGeom prst="roundRect">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886" tIns="0" rIns="190886" bIns="0" numCol="1" spcCol="1270" anchor="ctr" anchorCtr="0">
          <a:noAutofit/>
        </a:bodyPr>
        <a:lstStyle/>
        <a:p>
          <a:pPr lvl="0" algn="l" defTabSz="800100">
            <a:lnSpc>
              <a:spcPct val="90000"/>
            </a:lnSpc>
            <a:spcBef>
              <a:spcPct val="0"/>
            </a:spcBef>
            <a:spcAft>
              <a:spcPct val="35000"/>
            </a:spcAft>
          </a:pPr>
          <a:r>
            <a:rPr lang="en-US" sz="1800" kern="1200" dirty="0" smtClean="0"/>
            <a:t>Derived [Age – Date of Birth]</a:t>
          </a:r>
          <a:endParaRPr lang="en-US" sz="1800" kern="1200" dirty="0"/>
        </a:p>
      </dsp:txBody>
      <dsp:txXfrm>
        <a:off x="386668" y="2522771"/>
        <a:ext cx="4998330" cy="4794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D7A9D-37E9-416A-9A2C-0CDBC5BAD80E}">
      <dsp:nvSpPr>
        <dsp:cNvPr id="0" name=""/>
        <dsp:cNvSpPr/>
      </dsp:nvSpPr>
      <dsp:spPr>
        <a:xfrm>
          <a:off x="2438400" y="420"/>
          <a:ext cx="3657600" cy="1639909"/>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smtClean="0"/>
            <a:t>uniquely identify each row in the table</a:t>
          </a:r>
          <a:endParaRPr lang="en-US" sz="1800" kern="1200" dirty="0"/>
        </a:p>
        <a:p>
          <a:pPr marL="171450" lvl="1" indent="-171450" algn="l" defTabSz="800100">
            <a:lnSpc>
              <a:spcPct val="90000"/>
            </a:lnSpc>
            <a:spcBef>
              <a:spcPct val="0"/>
            </a:spcBef>
            <a:spcAft>
              <a:spcPct val="15000"/>
            </a:spcAft>
            <a:buChar char="••"/>
          </a:pPr>
          <a:r>
            <a:rPr lang="en-US" sz="1800" b="0" i="0" kern="1200" dirty="0" smtClean="0"/>
            <a:t>the columns must be unique, not null and not empty</a:t>
          </a:r>
          <a:endParaRPr lang="en-US" sz="1800" kern="1200" dirty="0"/>
        </a:p>
      </dsp:txBody>
      <dsp:txXfrm>
        <a:off x="2438400" y="205409"/>
        <a:ext cx="3042634" cy="1229931"/>
      </dsp:txXfrm>
    </dsp:sp>
    <dsp:sp modelId="{23138547-F0D8-4CED-AB67-389136514AD6}">
      <dsp:nvSpPr>
        <dsp:cNvPr id="0" name=""/>
        <dsp:cNvSpPr/>
      </dsp:nvSpPr>
      <dsp:spPr>
        <a:xfrm>
          <a:off x="0" y="420"/>
          <a:ext cx="2438400" cy="16399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PRIMARY</a:t>
          </a:r>
        </a:p>
        <a:p>
          <a:pPr lvl="0" algn="ctr" defTabSz="1733550">
            <a:lnSpc>
              <a:spcPct val="90000"/>
            </a:lnSpc>
            <a:spcBef>
              <a:spcPct val="0"/>
            </a:spcBef>
            <a:spcAft>
              <a:spcPct val="35000"/>
            </a:spcAft>
          </a:pPr>
          <a:r>
            <a:rPr lang="en-US" sz="3900" kern="1200" dirty="0" smtClean="0"/>
            <a:t>KEY</a:t>
          </a:r>
          <a:endParaRPr lang="en-US" sz="3900" kern="1200" dirty="0"/>
        </a:p>
      </dsp:txBody>
      <dsp:txXfrm>
        <a:off x="80054" y="80474"/>
        <a:ext cx="2278292" cy="1479801"/>
      </dsp:txXfrm>
    </dsp:sp>
    <dsp:sp modelId="{3CA74625-B19E-477C-814F-F52BA403FDDC}">
      <dsp:nvSpPr>
        <dsp:cNvPr id="0" name=""/>
        <dsp:cNvSpPr/>
      </dsp:nvSpPr>
      <dsp:spPr>
        <a:xfrm>
          <a:off x="2438400" y="1804320"/>
          <a:ext cx="3657600" cy="1639909"/>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smtClean="0"/>
            <a:t>refers to the primary key in another table</a:t>
          </a:r>
          <a:endParaRPr lang="en-US" sz="1800" kern="1200" dirty="0"/>
        </a:p>
        <a:p>
          <a:pPr marL="171450" lvl="1" indent="-171450" algn="l" defTabSz="800100">
            <a:lnSpc>
              <a:spcPct val="90000"/>
            </a:lnSpc>
            <a:spcBef>
              <a:spcPct val="0"/>
            </a:spcBef>
            <a:spcAft>
              <a:spcPct val="15000"/>
            </a:spcAft>
            <a:buChar char="••"/>
          </a:pPr>
          <a:endParaRPr lang="en-US" sz="1800" kern="1200" dirty="0"/>
        </a:p>
      </dsp:txBody>
      <dsp:txXfrm>
        <a:off x="2438400" y="2009309"/>
        <a:ext cx="3042634" cy="1229931"/>
      </dsp:txXfrm>
    </dsp:sp>
    <dsp:sp modelId="{CC3E1DCA-DF23-40FA-94F0-0B4860165DF5}">
      <dsp:nvSpPr>
        <dsp:cNvPr id="0" name=""/>
        <dsp:cNvSpPr/>
      </dsp:nvSpPr>
      <dsp:spPr>
        <a:xfrm>
          <a:off x="0" y="1804320"/>
          <a:ext cx="2438400" cy="163990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FOREIGN</a:t>
          </a:r>
        </a:p>
        <a:p>
          <a:pPr lvl="0" algn="ctr" defTabSz="1733550">
            <a:lnSpc>
              <a:spcPct val="90000"/>
            </a:lnSpc>
            <a:spcBef>
              <a:spcPct val="0"/>
            </a:spcBef>
            <a:spcAft>
              <a:spcPct val="35000"/>
            </a:spcAft>
          </a:pPr>
          <a:r>
            <a:rPr lang="en-US" sz="3900" kern="1200" dirty="0" smtClean="0"/>
            <a:t>KEY</a:t>
          </a:r>
          <a:endParaRPr lang="en-US" sz="3900" kern="1200" dirty="0"/>
        </a:p>
      </dsp:txBody>
      <dsp:txXfrm>
        <a:off x="80054" y="1884374"/>
        <a:ext cx="2278292" cy="1479801"/>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3/16/2019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2376238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3/16/2019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80488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3/16/2019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881010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3/16/2019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118660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3/16/2019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40133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3/16/2019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856602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3/16/2019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310105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3/16/2019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402539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3/16/2019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795197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3/16/2019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415789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3/16/2019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799176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3/16/2019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54688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3/16/2019</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3445275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4"/>
            <a:ext cx="6268685" cy="1790722"/>
          </a:xfrm>
        </p:spPr>
        <p:txBody>
          <a:bodyPr>
            <a:normAutofit fontScale="70000" lnSpcReduction="20000"/>
          </a:bodyPr>
          <a:lstStyle/>
          <a:p>
            <a:r>
              <a:rPr lang="en-US" sz="2100" dirty="0"/>
              <a:t>Introduction to Database for Undergraduate Study</a:t>
            </a:r>
          </a:p>
          <a:p>
            <a:r>
              <a:rPr lang="en-US" sz="2100" dirty="0"/>
              <a:t>Lecture </a:t>
            </a:r>
            <a:r>
              <a:rPr lang="en-US" sz="2100" dirty="0" smtClean="0"/>
              <a:t>3</a:t>
            </a:r>
            <a:endParaRPr lang="en-US" sz="2100" dirty="0"/>
          </a:p>
          <a:p>
            <a:endParaRPr lang="en-US" sz="2100" dirty="0"/>
          </a:p>
          <a:p>
            <a:r>
              <a:rPr lang="en-US" i="1" dirty="0"/>
              <a:t>Relational Database</a:t>
            </a:r>
          </a:p>
          <a:p>
            <a:r>
              <a:rPr lang="en-US" i="1" dirty="0"/>
              <a:t>Entity and Attributes</a:t>
            </a:r>
          </a:p>
          <a:p>
            <a:r>
              <a:rPr lang="en-US" i="1" dirty="0"/>
              <a:t>Keys and Relationships</a:t>
            </a:r>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10633575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World Scenario</a:t>
            </a:r>
            <a:endParaRPr lang="en-US" dirty="0"/>
          </a:p>
        </p:txBody>
      </p:sp>
      <p:sp>
        <p:nvSpPr>
          <p:cNvPr id="4" name="TextBox 3"/>
          <p:cNvSpPr txBox="1"/>
          <p:nvPr/>
        </p:nvSpPr>
        <p:spPr>
          <a:xfrm>
            <a:off x="6297769" y="1954520"/>
            <a:ext cx="2076719" cy="2031325"/>
          </a:xfrm>
          <a:prstGeom prst="rect">
            <a:avLst/>
          </a:prstGeom>
          <a:solidFill>
            <a:schemeClr val="accent2"/>
          </a:solidFill>
        </p:spPr>
        <p:txBody>
          <a:bodyPr wrap="square" rtlCol="0">
            <a:spAutoFit/>
          </a:bodyPr>
          <a:lstStyle/>
          <a:p>
            <a:r>
              <a:rPr lang="en-US" dirty="0">
                <a:solidFill>
                  <a:schemeClr val="bg1"/>
                </a:solidFill>
              </a:rPr>
              <a:t>At present, the database market is completely dominated by systems supporting the relational model of data</a:t>
            </a:r>
          </a:p>
        </p:txBody>
      </p:sp>
      <p:sp>
        <p:nvSpPr>
          <p:cNvPr id="7" name="TextBox 6"/>
          <p:cNvSpPr txBox="1"/>
          <p:nvPr/>
        </p:nvSpPr>
        <p:spPr>
          <a:xfrm>
            <a:off x="6297769" y="4355110"/>
            <a:ext cx="2076719" cy="1477328"/>
          </a:xfrm>
          <a:prstGeom prst="rect">
            <a:avLst/>
          </a:prstGeom>
          <a:solidFill>
            <a:schemeClr val="accent2"/>
          </a:solidFill>
        </p:spPr>
        <p:txBody>
          <a:bodyPr wrap="square" rtlCol="0">
            <a:spAutoFit/>
          </a:bodyPr>
          <a:lstStyle/>
          <a:p>
            <a:r>
              <a:rPr lang="en-US" dirty="0">
                <a:solidFill>
                  <a:schemeClr val="bg1"/>
                </a:solidFill>
              </a:rPr>
              <a:t>For every minute Amazon.com is down, the company loses $66,240 - Forbes</a:t>
            </a:r>
          </a:p>
        </p:txBody>
      </p:sp>
      <p:pic>
        <p:nvPicPr>
          <p:cNvPr id="1028" name="Picture 4" descr="http://image.slidesharecdn.com/exadataoverviewaudio-120902162514-phpapp02/95/exadata-overview-audio-3-728.jpg?cb=13466032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537" y="1954520"/>
            <a:ext cx="5200650" cy="390048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 Vendors</a:t>
            </a:r>
            <a:endParaRPr lang="en-US" dirty="0"/>
          </a:p>
        </p:txBody>
      </p:sp>
      <p:graphicFrame>
        <p:nvGraphicFramePr>
          <p:cNvPr id="3" name="Diagram 2"/>
          <p:cNvGraphicFramePr/>
          <p:nvPr>
            <p:extLst>
              <p:ext uri="{D42A27DB-BD31-4B8C-83A1-F6EECF244321}">
                <p14:modId xmlns:p14="http://schemas.microsoft.com/office/powerpoint/2010/main" val="1417088815"/>
              </p:ext>
            </p:extLst>
          </p:nvPr>
        </p:nvGraphicFramePr>
        <p:xfrm>
          <a:off x="780245" y="1810288"/>
          <a:ext cx="5659191" cy="4049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p:cNvSpPr txBox="1"/>
          <p:nvPr/>
        </p:nvSpPr>
        <p:spPr>
          <a:xfrm>
            <a:off x="6612496" y="2265513"/>
            <a:ext cx="1902854" cy="3139321"/>
          </a:xfrm>
          <a:prstGeom prst="rect">
            <a:avLst/>
          </a:prstGeom>
          <a:solidFill>
            <a:schemeClr val="accent2"/>
          </a:solidFill>
        </p:spPr>
        <p:txBody>
          <a:bodyPr wrap="square" rtlCol="0">
            <a:spAutoFit/>
          </a:bodyPr>
          <a:lstStyle/>
          <a:p>
            <a:r>
              <a:rPr lang="en-US" b="1" dirty="0">
                <a:solidFill>
                  <a:schemeClr val="bg1"/>
                </a:solidFill>
              </a:rPr>
              <a:t>Sybase</a:t>
            </a:r>
          </a:p>
          <a:p>
            <a:endParaRPr lang="en-US" b="1" dirty="0">
              <a:solidFill>
                <a:schemeClr val="bg1"/>
              </a:solidFill>
            </a:endParaRPr>
          </a:p>
          <a:p>
            <a:r>
              <a:rPr lang="en-US" b="1" dirty="0" err="1">
                <a:solidFill>
                  <a:schemeClr val="bg1"/>
                </a:solidFill>
              </a:rPr>
              <a:t>PostgreSQL</a:t>
            </a:r>
            <a:endParaRPr lang="en-US" b="1" dirty="0">
              <a:solidFill>
                <a:schemeClr val="bg1"/>
              </a:solidFill>
            </a:endParaRPr>
          </a:p>
          <a:p>
            <a:endParaRPr lang="en-US" b="1" dirty="0">
              <a:solidFill>
                <a:schemeClr val="bg1"/>
              </a:solidFill>
            </a:endParaRPr>
          </a:p>
          <a:p>
            <a:r>
              <a:rPr lang="en-US" b="1" dirty="0" err="1">
                <a:solidFill>
                  <a:schemeClr val="bg1"/>
                </a:solidFill>
              </a:rPr>
              <a:t>MariaDB</a:t>
            </a:r>
            <a:endParaRPr lang="en-US" b="1" dirty="0">
              <a:solidFill>
                <a:schemeClr val="bg1"/>
              </a:solidFill>
            </a:endParaRPr>
          </a:p>
          <a:p>
            <a:endParaRPr lang="en-US" b="1" dirty="0">
              <a:solidFill>
                <a:schemeClr val="bg1"/>
              </a:solidFill>
            </a:endParaRPr>
          </a:p>
          <a:p>
            <a:r>
              <a:rPr lang="en-US" b="1" dirty="0">
                <a:solidFill>
                  <a:schemeClr val="bg1"/>
                </a:solidFill>
              </a:rPr>
              <a:t>MySQL</a:t>
            </a:r>
          </a:p>
          <a:p>
            <a:endParaRPr lang="en-US" b="1" dirty="0">
              <a:solidFill>
                <a:schemeClr val="bg1"/>
              </a:solidFill>
            </a:endParaRPr>
          </a:p>
          <a:p>
            <a:r>
              <a:rPr lang="en-US" b="1" dirty="0">
                <a:solidFill>
                  <a:schemeClr val="bg1"/>
                </a:solidFill>
              </a:rPr>
              <a:t>Teradata</a:t>
            </a:r>
          </a:p>
          <a:p>
            <a:endParaRPr lang="en-US" b="1" dirty="0">
              <a:solidFill>
                <a:schemeClr val="bg1"/>
              </a:solidFill>
            </a:endParaRPr>
          </a:p>
          <a:p>
            <a:r>
              <a:rPr lang="en-US" b="1" dirty="0">
                <a:solidFill>
                  <a:schemeClr val="bg1"/>
                </a:solidFill>
              </a:rPr>
              <a:t>Informix</a:t>
            </a:r>
          </a:p>
        </p:txBody>
      </p:sp>
    </p:spTree>
    <p:extLst>
      <p:ext uri="{BB962C8B-B14F-4D97-AF65-F5344CB8AC3E}">
        <p14:creationId xmlns:p14="http://schemas.microsoft.com/office/powerpoint/2010/main" val="237238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Reminder – Last Week</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is a Database ?</a:t>
            </a:r>
            <a:endParaRPr lang="en-US" sz="2400" dirty="0">
              <a:solidFill>
                <a:schemeClr val="bg1"/>
              </a:solidFill>
            </a:endParaRPr>
          </a:p>
        </p:txBody>
      </p:sp>
      <p:sp>
        <p:nvSpPr>
          <p:cNvPr id="5" name="Rectangle 4"/>
          <p:cNvSpPr/>
          <p:nvPr/>
        </p:nvSpPr>
        <p:spPr>
          <a:xfrm>
            <a:off x="962695" y="2657982"/>
            <a:ext cx="7038303" cy="830997"/>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does a Database Management System does ?</a:t>
            </a: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does a Database do ?</a:t>
            </a: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History of Database Models.</a:t>
            </a: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Levels of Abstraction</a:t>
            </a:r>
            <a:endParaRPr lang="en-US" sz="2400" dirty="0">
              <a:solidFill>
                <a:schemeClr val="bg1"/>
              </a:solidFill>
            </a:endParaRPr>
          </a:p>
        </p:txBody>
      </p:sp>
    </p:spTree>
    <p:extLst>
      <p:ext uri="{BB962C8B-B14F-4D97-AF65-F5344CB8AC3E}">
        <p14:creationId xmlns:p14="http://schemas.microsoft.com/office/powerpoint/2010/main" val="22489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Agendas</a:t>
            </a:r>
            <a:endParaRPr lang="en-US" dirty="0"/>
          </a:p>
        </p:txBody>
      </p:sp>
      <p:sp>
        <p:nvSpPr>
          <p:cNvPr id="3" name="Content Placeholder 2"/>
          <p:cNvSpPr>
            <a:spLocks noGrp="1"/>
          </p:cNvSpPr>
          <p:nvPr>
            <p:ph idx="1"/>
          </p:nvPr>
        </p:nvSpPr>
        <p:spPr>
          <a:xfrm>
            <a:off x="1192101" y="2291096"/>
            <a:ext cx="3882175" cy="3259698"/>
          </a:xfrm>
        </p:spPr>
        <p:txBody>
          <a:bodyPr>
            <a:normAutofit fontScale="85000" lnSpcReduction="20000"/>
          </a:bodyPr>
          <a:lstStyle/>
          <a:p>
            <a:r>
              <a:rPr lang="en-US" dirty="0" smtClean="0"/>
              <a:t>Definition &amp; Concepts</a:t>
            </a:r>
          </a:p>
          <a:p>
            <a:pPr lvl="1"/>
            <a:r>
              <a:rPr lang="en-US" dirty="0" smtClean="0"/>
              <a:t>Relational Database</a:t>
            </a:r>
          </a:p>
          <a:p>
            <a:pPr lvl="1"/>
            <a:r>
              <a:rPr lang="en-US" dirty="0" smtClean="0"/>
              <a:t>Entity</a:t>
            </a:r>
          </a:p>
          <a:p>
            <a:pPr lvl="1"/>
            <a:r>
              <a:rPr lang="en-US" dirty="0" smtClean="0"/>
              <a:t>Attributes</a:t>
            </a:r>
          </a:p>
          <a:p>
            <a:pPr lvl="1"/>
            <a:r>
              <a:rPr lang="en-US" dirty="0" smtClean="0"/>
              <a:t>Types of Attributes</a:t>
            </a:r>
          </a:p>
          <a:p>
            <a:pPr lvl="1"/>
            <a:r>
              <a:rPr lang="en-US" dirty="0" smtClean="0"/>
              <a:t>Constraints</a:t>
            </a:r>
          </a:p>
          <a:p>
            <a:pPr lvl="1"/>
            <a:endParaRPr lang="en-US" dirty="0" smtClean="0"/>
          </a:p>
          <a:p>
            <a:r>
              <a:rPr lang="en-US" dirty="0" smtClean="0"/>
              <a:t>Database</a:t>
            </a:r>
          </a:p>
          <a:p>
            <a:pPr lvl="1"/>
            <a:r>
              <a:rPr lang="en-US" dirty="0" smtClean="0"/>
              <a:t>Functions</a:t>
            </a:r>
          </a:p>
          <a:p>
            <a:pPr lvl="1"/>
            <a:r>
              <a:rPr lang="en-US" dirty="0" smtClean="0"/>
              <a:t>Types/Models</a:t>
            </a:r>
          </a:p>
          <a:p>
            <a:pPr lvl="1"/>
            <a:r>
              <a:rPr lang="en-US" dirty="0" smtClean="0"/>
              <a:t>Abstraction</a:t>
            </a:r>
            <a:endParaRPr lang="en-US" sz="1350" dirty="0"/>
          </a:p>
        </p:txBody>
      </p:sp>
      <p:pic>
        <p:nvPicPr>
          <p:cNvPr id="5" name="Picture 2" descr="http://classroomclipart.com/images/gallery/Animations/Business/TN_agenda_animation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2194" y="1966364"/>
            <a:ext cx="3491086" cy="3584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7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Database - Definition</a:t>
            </a:r>
            <a:endParaRPr lang="en-US" dirty="0"/>
          </a:p>
        </p:txBody>
      </p:sp>
      <p:sp>
        <p:nvSpPr>
          <p:cNvPr id="3" name="Content Placeholder 2"/>
          <p:cNvSpPr>
            <a:spLocks noGrp="1"/>
          </p:cNvSpPr>
          <p:nvPr>
            <p:ph idx="1"/>
          </p:nvPr>
        </p:nvSpPr>
        <p:spPr/>
        <p:txBody>
          <a:bodyPr/>
          <a:lstStyle/>
          <a:p>
            <a:r>
              <a:rPr lang="en-US" dirty="0" smtClean="0"/>
              <a:t>The notion ‘ </a:t>
            </a:r>
            <a:r>
              <a:rPr lang="en-US" b="1" dirty="0" smtClean="0"/>
              <a:t>relational</a:t>
            </a:r>
            <a:r>
              <a:rPr lang="en-US" dirty="0" smtClean="0"/>
              <a:t>’ is motivated my mathematical concept of a relation. Relations in mathematics are set of tuples.</a:t>
            </a:r>
          </a:p>
          <a:p>
            <a:r>
              <a:rPr lang="en-US" dirty="0" smtClean="0"/>
              <a:t>Relational databases are </a:t>
            </a:r>
            <a:r>
              <a:rPr lang="en-US" b="1" dirty="0" smtClean="0"/>
              <a:t>collections</a:t>
            </a:r>
            <a:r>
              <a:rPr lang="en-US" dirty="0" smtClean="0"/>
              <a:t> of one or more relations</a:t>
            </a:r>
          </a:p>
          <a:p>
            <a:r>
              <a:rPr lang="en-US" dirty="0" smtClean="0"/>
              <a:t>In practice, relations can be visualized as </a:t>
            </a:r>
            <a:r>
              <a:rPr lang="en-US" b="1" dirty="0" smtClean="0"/>
              <a:t>tables</a:t>
            </a:r>
            <a:r>
              <a:rPr lang="en-US" dirty="0" smtClean="0"/>
              <a:t>, the rows of which are individual records of data with same field structure</a:t>
            </a:r>
          </a:p>
          <a:p>
            <a:endParaRPr lang="en-US" dirty="0"/>
          </a:p>
        </p:txBody>
      </p:sp>
    </p:spTree>
    <p:extLst>
      <p:ext uri="{BB962C8B-B14F-4D97-AF65-F5344CB8AC3E}">
        <p14:creationId xmlns:p14="http://schemas.microsoft.com/office/powerpoint/2010/main" val="41029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a:t>
            </a:r>
            <a:endParaRPr lang="en-US" dirty="0"/>
          </a:p>
        </p:txBody>
      </p:sp>
      <p:sp>
        <p:nvSpPr>
          <p:cNvPr id="3" name="Content Placeholder 2"/>
          <p:cNvSpPr>
            <a:spLocks noGrp="1"/>
          </p:cNvSpPr>
          <p:nvPr>
            <p:ph idx="1"/>
          </p:nvPr>
        </p:nvSpPr>
        <p:spPr/>
        <p:txBody>
          <a:bodyPr/>
          <a:lstStyle/>
          <a:p>
            <a:r>
              <a:rPr lang="en-US" dirty="0" smtClean="0"/>
              <a:t>An object that exist</a:t>
            </a:r>
          </a:p>
          <a:p>
            <a:r>
              <a:rPr lang="en-US" dirty="0" smtClean="0"/>
              <a:t>Type </a:t>
            </a:r>
            <a:r>
              <a:rPr lang="en-US" dirty="0" smtClean="0"/>
              <a:t>of object that can store data</a:t>
            </a:r>
          </a:p>
          <a:p>
            <a:r>
              <a:rPr lang="en-US" dirty="0" smtClean="0"/>
              <a:t>Entity is one member/instance of entity type</a:t>
            </a:r>
            <a:endParaRPr lang="en-US" dirty="0"/>
          </a:p>
        </p:txBody>
      </p:sp>
    </p:spTree>
    <p:extLst>
      <p:ext uri="{BB962C8B-B14F-4D97-AF65-F5344CB8AC3E}">
        <p14:creationId xmlns:p14="http://schemas.microsoft.com/office/powerpoint/2010/main" val="77007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a:t>
            </a:r>
            <a:endParaRPr lang="en-US" dirty="0"/>
          </a:p>
        </p:txBody>
      </p:sp>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1459340" y="3573284"/>
            <a:ext cx="1257300" cy="571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EMPLOYEE</a:t>
            </a:r>
          </a:p>
        </p:txBody>
      </p:sp>
      <p:sp>
        <p:nvSpPr>
          <p:cNvPr id="5" name="Rectangle 4"/>
          <p:cNvSpPr/>
          <p:nvPr/>
        </p:nvSpPr>
        <p:spPr>
          <a:xfrm>
            <a:off x="3345290" y="3573284"/>
            <a:ext cx="1257300" cy="571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ACCOUNT</a:t>
            </a:r>
          </a:p>
        </p:txBody>
      </p:sp>
      <p:sp>
        <p:nvSpPr>
          <p:cNvPr id="6" name="Rectangle 5"/>
          <p:cNvSpPr/>
          <p:nvPr/>
        </p:nvSpPr>
        <p:spPr>
          <a:xfrm>
            <a:off x="5231240" y="3573284"/>
            <a:ext cx="1257300" cy="571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BOOK</a:t>
            </a:r>
          </a:p>
        </p:txBody>
      </p:sp>
    </p:spTree>
    <p:extLst>
      <p:ext uri="{BB962C8B-B14F-4D97-AF65-F5344CB8AC3E}">
        <p14:creationId xmlns:p14="http://schemas.microsoft.com/office/powerpoint/2010/main" val="191461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a:t>
            </a:r>
            <a:endParaRPr lang="en-US" dirty="0"/>
          </a:p>
        </p:txBody>
      </p:sp>
      <p:sp>
        <p:nvSpPr>
          <p:cNvPr id="3" name="Content Placeholder 2"/>
          <p:cNvSpPr>
            <a:spLocks noGrp="1"/>
          </p:cNvSpPr>
          <p:nvPr>
            <p:ph idx="1"/>
          </p:nvPr>
        </p:nvSpPr>
        <p:spPr/>
        <p:txBody>
          <a:bodyPr/>
          <a:lstStyle/>
          <a:p>
            <a:r>
              <a:rPr lang="en-US" dirty="0" smtClean="0"/>
              <a:t>Defines Property of Entity</a:t>
            </a:r>
          </a:p>
          <a:p>
            <a:r>
              <a:rPr lang="en-US" dirty="0" smtClean="0"/>
              <a:t>Serves to qualify/quantity the Entity</a:t>
            </a:r>
            <a:endParaRPr lang="en-US" dirty="0"/>
          </a:p>
        </p:txBody>
      </p:sp>
    </p:spTree>
    <p:extLst>
      <p:ext uri="{BB962C8B-B14F-4D97-AF65-F5344CB8AC3E}">
        <p14:creationId xmlns:p14="http://schemas.microsoft.com/office/powerpoint/2010/main" val="46939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a:t>
            </a:r>
            <a:endParaRPr lang="en-US" dirty="0"/>
          </a:p>
        </p:txBody>
      </p:sp>
      <p:sp>
        <p:nvSpPr>
          <p:cNvPr id="3" name="Content Placeholder 2"/>
          <p:cNvSpPr>
            <a:spLocks noGrp="1"/>
          </p:cNvSpPr>
          <p:nvPr>
            <p:ph idx="1"/>
          </p:nvPr>
        </p:nvSpPr>
        <p:spPr/>
        <p:txBody>
          <a:bodyPr/>
          <a:lstStyle/>
          <a:p>
            <a:r>
              <a:rPr lang="en-US" dirty="0"/>
              <a:t>Defines Property of Entity</a:t>
            </a:r>
          </a:p>
          <a:p>
            <a:r>
              <a:rPr lang="en-US" dirty="0"/>
              <a:t>Serves to qualify/quantity the Entity</a:t>
            </a:r>
          </a:p>
        </p:txBody>
      </p:sp>
      <p:sp>
        <p:nvSpPr>
          <p:cNvPr id="13" name="Oval 12"/>
          <p:cNvSpPr/>
          <p:nvPr/>
        </p:nvSpPr>
        <p:spPr>
          <a:xfrm>
            <a:off x="4868211" y="4286455"/>
            <a:ext cx="1085849" cy="3429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Balance</a:t>
            </a:r>
          </a:p>
        </p:txBody>
      </p:sp>
      <p:sp>
        <p:nvSpPr>
          <p:cNvPr id="14" name="Oval 13"/>
          <p:cNvSpPr/>
          <p:nvPr/>
        </p:nvSpPr>
        <p:spPr>
          <a:xfrm>
            <a:off x="5979820" y="4286455"/>
            <a:ext cx="971550" cy="3429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ISBN</a:t>
            </a:r>
          </a:p>
        </p:txBody>
      </p:sp>
      <p:grpSp>
        <p:nvGrpSpPr>
          <p:cNvPr id="22" name="Group 21"/>
          <p:cNvGrpSpPr/>
          <p:nvPr/>
        </p:nvGrpSpPr>
        <p:grpSpPr>
          <a:xfrm>
            <a:off x="1610662" y="3372055"/>
            <a:ext cx="2114549" cy="1257300"/>
            <a:chOff x="1610662" y="3372055"/>
            <a:chExt cx="2114549" cy="1257300"/>
          </a:xfrm>
        </p:grpSpPr>
        <p:sp>
          <p:nvSpPr>
            <p:cNvPr id="7" name="Rectangle 6"/>
            <p:cNvSpPr/>
            <p:nvPr/>
          </p:nvSpPr>
          <p:spPr>
            <a:xfrm>
              <a:off x="2010712" y="3372055"/>
              <a:ext cx="1257300" cy="571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EMPLOYEE</a:t>
              </a:r>
            </a:p>
          </p:txBody>
        </p:sp>
        <p:sp>
          <p:nvSpPr>
            <p:cNvPr id="10" name="Oval 9"/>
            <p:cNvSpPr/>
            <p:nvPr/>
          </p:nvSpPr>
          <p:spPr>
            <a:xfrm>
              <a:off x="1610662" y="4286455"/>
              <a:ext cx="971550" cy="3429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Name</a:t>
              </a:r>
            </a:p>
          </p:txBody>
        </p:sp>
        <p:sp>
          <p:nvSpPr>
            <p:cNvPr id="11" name="Oval 10"/>
            <p:cNvSpPr/>
            <p:nvPr/>
          </p:nvSpPr>
          <p:spPr>
            <a:xfrm>
              <a:off x="2639363" y="4286455"/>
              <a:ext cx="1085848" cy="3429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Position</a:t>
              </a:r>
            </a:p>
          </p:txBody>
        </p:sp>
        <p:cxnSp>
          <p:nvCxnSpPr>
            <p:cNvPr id="16" name="Straight Connector 15"/>
            <p:cNvCxnSpPr>
              <a:stCxn id="7" idx="2"/>
              <a:endCxn id="10" idx="0"/>
            </p:cNvCxnSpPr>
            <p:nvPr/>
          </p:nvCxnSpPr>
          <p:spPr>
            <a:xfrm rot="5400000">
              <a:off x="2196449" y="3843542"/>
              <a:ext cx="342900" cy="5429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7" idx="2"/>
              <a:endCxn id="11" idx="0"/>
            </p:cNvCxnSpPr>
            <p:nvPr/>
          </p:nvCxnSpPr>
          <p:spPr>
            <a:xfrm>
              <a:off x="2639362" y="3943555"/>
              <a:ext cx="542925" cy="34290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839512" y="3372055"/>
            <a:ext cx="1600200" cy="1257300"/>
            <a:chOff x="3839512" y="3372055"/>
            <a:chExt cx="1600200" cy="1257300"/>
          </a:xfrm>
        </p:grpSpPr>
        <p:sp>
          <p:nvSpPr>
            <p:cNvPr id="8" name="Rectangle 7"/>
            <p:cNvSpPr/>
            <p:nvPr/>
          </p:nvSpPr>
          <p:spPr>
            <a:xfrm>
              <a:off x="4182412" y="3372055"/>
              <a:ext cx="1257300" cy="571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ACCOUNT</a:t>
              </a:r>
            </a:p>
          </p:txBody>
        </p:sp>
        <p:sp>
          <p:nvSpPr>
            <p:cNvPr id="12" name="Oval 11"/>
            <p:cNvSpPr/>
            <p:nvPr/>
          </p:nvSpPr>
          <p:spPr>
            <a:xfrm>
              <a:off x="3839512" y="4286455"/>
              <a:ext cx="971550" cy="3429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Name</a:t>
              </a:r>
            </a:p>
          </p:txBody>
        </p:sp>
        <p:cxnSp>
          <p:nvCxnSpPr>
            <p:cNvPr id="18" name="Straight Connector 17"/>
            <p:cNvCxnSpPr>
              <a:stCxn id="8" idx="2"/>
              <a:endCxn id="12" idx="0"/>
            </p:cNvCxnSpPr>
            <p:nvPr/>
          </p:nvCxnSpPr>
          <p:spPr>
            <a:xfrm rot="5400000">
              <a:off x="4396724" y="3872117"/>
              <a:ext cx="342900" cy="4857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2"/>
              <a:endCxn id="13" idx="0"/>
            </p:cNvCxnSpPr>
            <p:nvPr/>
          </p:nvCxnSpPr>
          <p:spPr>
            <a:xfrm>
              <a:off x="4811062" y="3943555"/>
              <a:ext cx="600074" cy="34290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6296962" y="3372055"/>
            <a:ext cx="1771650" cy="1257300"/>
            <a:chOff x="6296962" y="3372055"/>
            <a:chExt cx="1771650" cy="1257300"/>
          </a:xfrm>
        </p:grpSpPr>
        <p:sp>
          <p:nvSpPr>
            <p:cNvPr id="9" name="Rectangle 8"/>
            <p:cNvSpPr/>
            <p:nvPr/>
          </p:nvSpPr>
          <p:spPr>
            <a:xfrm>
              <a:off x="6296962" y="3372055"/>
              <a:ext cx="1257300" cy="571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BOOK</a:t>
              </a:r>
            </a:p>
          </p:txBody>
        </p:sp>
        <p:sp>
          <p:nvSpPr>
            <p:cNvPr id="15" name="Oval 14"/>
            <p:cNvSpPr/>
            <p:nvPr/>
          </p:nvSpPr>
          <p:spPr>
            <a:xfrm>
              <a:off x="7097062" y="4286455"/>
              <a:ext cx="971550" cy="3429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Name</a:t>
              </a:r>
            </a:p>
          </p:txBody>
        </p:sp>
        <p:cxnSp>
          <p:nvCxnSpPr>
            <p:cNvPr id="20" name="Straight Connector 19"/>
            <p:cNvCxnSpPr>
              <a:stCxn id="9" idx="2"/>
              <a:endCxn id="14" idx="0"/>
            </p:cNvCxnSpPr>
            <p:nvPr/>
          </p:nvCxnSpPr>
          <p:spPr>
            <a:xfrm flipH="1">
              <a:off x="6465595" y="3943555"/>
              <a:ext cx="460017" cy="342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9" idx="2"/>
              <a:endCxn id="15" idx="0"/>
            </p:cNvCxnSpPr>
            <p:nvPr/>
          </p:nvCxnSpPr>
          <p:spPr>
            <a:xfrm rot="16200000" flipH="1">
              <a:off x="7082774" y="3786392"/>
              <a:ext cx="342900" cy="657225"/>
            </a:xfrm>
            <a:prstGeom prst="line">
              <a:avLst/>
            </a:prstGeom>
            <a:ln w="190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811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Types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83963091"/>
              </p:ext>
            </p:extLst>
          </p:nvPr>
        </p:nvGraphicFramePr>
        <p:xfrm>
          <a:off x="889450" y="2226469"/>
          <a:ext cx="7214584"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33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04DFE482-E918-422A-89E9-F29641E8526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A046AE1E-3BD9-47AF-82A2-16A4289A0B21}"/>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1BB1FEF2-434B-404A-9874-BB89DE8D911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89085EBE-BAF0-4B46-AEE5-6ACDC534E98D}"/>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B57EA143-12F5-401C-BAE5-DF91373502E7}"/>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C549FCB1-2984-45E4-9513-DFCD933020BC}"/>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A3005E29-CEF1-4F30-9A09-6E86EA5F42AA}"/>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CAE08B5E-5263-4909-93ED-BC363080A53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Access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2206019"/>
              </p:ext>
            </p:extLst>
          </p:nvPr>
        </p:nvGraphicFramePr>
        <p:xfrm>
          <a:off x="628650" y="2226469"/>
          <a:ext cx="7886701" cy="2811780"/>
        </p:xfrm>
        <a:graphic>
          <a:graphicData uri="http://schemas.openxmlformats.org/drawingml/2006/table">
            <a:tbl>
              <a:tblPr firstRow="1" bandRow="1">
                <a:tableStyleId>{5C22544A-7EE6-4342-B048-85BDC9FD1C3A}</a:tableStyleId>
              </a:tblPr>
              <a:tblGrid>
                <a:gridCol w="1718525"/>
                <a:gridCol w="6168176"/>
              </a:tblGrid>
              <a:tr h="278130">
                <a:tc>
                  <a:txBody>
                    <a:bodyPr/>
                    <a:lstStyle/>
                    <a:p>
                      <a:r>
                        <a:rPr lang="en-US" sz="1000" dirty="0" smtClean="0"/>
                        <a:t>Data Type</a:t>
                      </a:r>
                      <a:endParaRPr lang="en-US" sz="1000" dirty="0"/>
                    </a:p>
                  </a:txBody>
                  <a:tcPr marL="68580" marR="68580" marT="34290" marB="34290"/>
                </a:tc>
                <a:tc>
                  <a:txBody>
                    <a:bodyPr/>
                    <a:lstStyle/>
                    <a:p>
                      <a:r>
                        <a:rPr lang="en-US" sz="1000" dirty="0" smtClean="0"/>
                        <a:t>Description</a:t>
                      </a:r>
                      <a:endParaRPr lang="en-US" sz="1000" dirty="0"/>
                    </a:p>
                  </a:txBody>
                  <a:tcPr marL="68580" marR="68580" marT="34290" marB="34290"/>
                </a:tc>
              </a:tr>
              <a:tr h="278130">
                <a:tc>
                  <a:txBody>
                    <a:bodyPr/>
                    <a:lstStyle/>
                    <a:p>
                      <a:r>
                        <a:rPr lang="en-US" sz="1000" dirty="0" smtClean="0"/>
                        <a:t>Text</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Use for text or combinations of text and numbers. 255 characters maximum</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Memo</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Memo is used for larger amounts of text. Stores up to 65,536 characters.</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Byte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Allows whole numbers from 0 to 255</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Integer</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Allows whole numbers between -32,768 and 32,767</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Long</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Allows whole numbers between -2,147,483,648 and 2,147,483,647</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Single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Single precision floating-point. Will handle most decimals</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Double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Double precision floating-point. Will handle most decimals</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Currency</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Use for currency. Holds up to 15 digits of whole dollars, plus 4 decimal places.</a:t>
                      </a:r>
                      <a:endParaRPr lang="en-US" sz="1000" dirty="0"/>
                    </a:p>
                  </a:txBody>
                  <a:tcPr marL="68580" marR="68580" marT="34290" marB="34290"/>
                </a:tc>
              </a:tr>
              <a:tr h="278130">
                <a:tc>
                  <a:txBody>
                    <a:bodyPr/>
                    <a:lstStyle/>
                    <a:p>
                      <a:endParaRPr lang="en-US" sz="1000"/>
                    </a:p>
                  </a:txBody>
                  <a:tcPr marL="68580" marR="68580" marT="34290" marB="34290"/>
                </a:tc>
                <a:tc>
                  <a:txBody>
                    <a:bodyPr/>
                    <a:lstStyle/>
                    <a:p>
                      <a:endParaRPr lang="en-US" sz="1000"/>
                    </a:p>
                  </a:txBody>
                  <a:tcPr marL="68580" marR="68580" marT="34290" marB="34290"/>
                </a:tc>
              </a:tr>
            </a:tbl>
          </a:graphicData>
        </a:graphic>
      </p:graphicFrame>
    </p:spTree>
    <p:extLst>
      <p:ext uri="{BB962C8B-B14F-4D97-AF65-F5344CB8AC3E}">
        <p14:creationId xmlns:p14="http://schemas.microsoft.com/office/powerpoint/2010/main" val="4209478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Access</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06501466"/>
              </p:ext>
            </p:extLst>
          </p:nvPr>
        </p:nvGraphicFramePr>
        <p:xfrm>
          <a:off x="628650" y="2226469"/>
          <a:ext cx="7886700" cy="2461260"/>
        </p:xfrm>
        <a:graphic>
          <a:graphicData uri="http://schemas.openxmlformats.org/drawingml/2006/table">
            <a:tbl>
              <a:tblPr firstRow="1" bandRow="1">
                <a:tableStyleId>{5C22544A-7EE6-4342-B048-85BDC9FD1C3A}</a:tableStyleId>
              </a:tblPr>
              <a:tblGrid>
                <a:gridCol w="1457728"/>
                <a:gridCol w="6428972"/>
              </a:tblGrid>
              <a:tr h="278130">
                <a:tc>
                  <a:txBody>
                    <a:bodyPr/>
                    <a:lstStyle/>
                    <a:p>
                      <a:r>
                        <a:rPr lang="en-US" sz="1000" dirty="0" smtClean="0"/>
                        <a:t>Data Type</a:t>
                      </a:r>
                      <a:endParaRPr lang="en-US" sz="1000" dirty="0"/>
                    </a:p>
                  </a:txBody>
                  <a:tcPr marL="68580" marR="68580" marT="34290" marB="34290"/>
                </a:tc>
                <a:tc>
                  <a:txBody>
                    <a:bodyPr/>
                    <a:lstStyle/>
                    <a:p>
                      <a:r>
                        <a:rPr lang="en-US" sz="1000" dirty="0" smtClean="0"/>
                        <a:t>Description</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AutoNumber</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AutoNumber fields automatically give each record its own number, usually starting at 1</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Date/Time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Use for dates and times</a:t>
                      </a:r>
                      <a:endParaRPr lang="en-US" sz="1000" dirty="0"/>
                    </a:p>
                  </a:txBody>
                  <a:tcPr marL="68580" marR="68580" marT="34290" marB="34290"/>
                </a:tc>
              </a:tr>
              <a:tr h="480060">
                <a:tc>
                  <a:txBody>
                    <a:bodyPr/>
                    <a:lstStyle/>
                    <a:p>
                      <a:r>
                        <a:rPr lang="en-US" sz="1400" b="0" i="0" kern="1200" dirty="0" smtClean="0">
                          <a:solidFill>
                            <a:schemeClr val="dk1"/>
                          </a:solidFill>
                          <a:effectLst/>
                          <a:latin typeface="+mn-lt"/>
                          <a:ea typeface="+mn-ea"/>
                          <a:cs typeface="+mn-cs"/>
                        </a:rPr>
                        <a:t>Yes/No</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A logical field can be displayed as Yes/No, True/False, or On/Off. In code, use the constants True and False (equivalent to -1 and 0)</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Ole Object</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Can store pictures, audio, video, or other BLOBs (Binary Large </a:t>
                      </a:r>
                      <a:r>
                        <a:rPr lang="en-US" sz="1400" b="0" i="0" kern="1200" dirty="0" err="1" smtClean="0">
                          <a:solidFill>
                            <a:schemeClr val="dk1"/>
                          </a:solidFill>
                          <a:effectLst/>
                          <a:latin typeface="+mn-lt"/>
                          <a:ea typeface="+mn-ea"/>
                          <a:cs typeface="+mn-cs"/>
                        </a:rPr>
                        <a:t>OBjects</a:t>
                      </a:r>
                      <a:r>
                        <a:rPr lang="en-US" sz="1400" b="0" i="0" kern="1200" dirty="0" smtClean="0">
                          <a:solidFill>
                            <a:schemeClr val="dk1"/>
                          </a:solidFill>
                          <a:effectLst/>
                          <a:latin typeface="+mn-lt"/>
                          <a:ea typeface="+mn-ea"/>
                          <a:cs typeface="+mn-cs"/>
                        </a:rPr>
                        <a:t>)</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Hyperlink</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Contain links to other files, including web pages</a:t>
                      </a:r>
                      <a:endParaRPr lang="en-US" sz="1000" dirty="0"/>
                    </a:p>
                  </a:txBody>
                  <a:tcPr marL="68580" marR="68580" marT="34290" marB="34290"/>
                </a:tc>
              </a:tr>
              <a:tr h="278130">
                <a:tc>
                  <a:txBody>
                    <a:bodyPr/>
                    <a:lstStyle/>
                    <a:p>
                      <a:r>
                        <a:rPr lang="en-US" sz="1400" b="0" i="0" kern="1200" dirty="0" smtClean="0">
                          <a:solidFill>
                            <a:schemeClr val="dk1"/>
                          </a:solidFill>
                          <a:effectLst/>
                          <a:latin typeface="+mn-lt"/>
                          <a:ea typeface="+mn-ea"/>
                          <a:cs typeface="+mn-cs"/>
                        </a:rPr>
                        <a:t>Lookup Wizard</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Let you type a list of options, which can then be chosen from a drop-down list</a:t>
                      </a:r>
                      <a:endParaRPr lang="en-US" sz="1000" dirty="0"/>
                    </a:p>
                  </a:txBody>
                  <a:tcPr marL="68580" marR="68580" marT="34290" marB="34290"/>
                </a:tc>
              </a:tr>
              <a:tr h="278130">
                <a:tc>
                  <a:txBody>
                    <a:bodyPr/>
                    <a:lstStyle/>
                    <a:p>
                      <a:endParaRPr lang="en-US" sz="1000" dirty="0"/>
                    </a:p>
                  </a:txBody>
                  <a:tcPr marL="68580" marR="68580" marT="34290" marB="34290"/>
                </a:tc>
                <a:tc>
                  <a:txBody>
                    <a:bodyPr/>
                    <a:lstStyle/>
                    <a:p>
                      <a:endParaRPr lang="en-US" sz="1000"/>
                    </a:p>
                  </a:txBody>
                  <a:tcPr marL="68580" marR="68580" marT="34290" marB="34290"/>
                </a:tc>
              </a:tr>
            </a:tbl>
          </a:graphicData>
        </a:graphic>
      </p:graphicFrame>
    </p:spTree>
    <p:extLst>
      <p:ext uri="{BB962C8B-B14F-4D97-AF65-F5344CB8AC3E}">
        <p14:creationId xmlns:p14="http://schemas.microsoft.com/office/powerpoint/2010/main" val="9999016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MySQL</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03345" y="1770885"/>
            <a:ext cx="7137310" cy="4460818"/>
          </a:xfrm>
          <a:prstGeom prst="rect">
            <a:avLst/>
          </a:prstGeom>
        </p:spPr>
      </p:pic>
    </p:spTree>
    <p:extLst>
      <p:ext uri="{BB962C8B-B14F-4D97-AF65-F5344CB8AC3E}">
        <p14:creationId xmlns:p14="http://schemas.microsoft.com/office/powerpoint/2010/main" val="26307490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Access [Number]</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904232" y="1825625"/>
            <a:ext cx="7335535" cy="4247714"/>
          </a:xfrm>
          <a:prstGeom prst="rect">
            <a:avLst/>
          </a:prstGeom>
        </p:spPr>
      </p:pic>
    </p:spTree>
    <p:extLst>
      <p:ext uri="{BB962C8B-B14F-4D97-AF65-F5344CB8AC3E}">
        <p14:creationId xmlns:p14="http://schemas.microsoft.com/office/powerpoint/2010/main" val="2203548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Attribute – Access [Date]</a:t>
            </a:r>
            <a:endParaRPr lang="en-US" dirty="0"/>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740759" y="1985283"/>
            <a:ext cx="7662481" cy="4032022"/>
          </a:xfrm>
          <a:prstGeom prst="rect">
            <a:avLst/>
          </a:prstGeom>
        </p:spPr>
      </p:pic>
    </p:spTree>
    <p:extLst>
      <p:ext uri="{BB962C8B-B14F-4D97-AF65-F5344CB8AC3E}">
        <p14:creationId xmlns:p14="http://schemas.microsoft.com/office/powerpoint/2010/main" val="33368172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Constraints - Keys</a:t>
            </a:r>
            <a:endParaRPr lang="en-US" dirty="0"/>
          </a:p>
        </p:txBody>
      </p:sp>
      <p:sp>
        <p:nvSpPr>
          <p:cNvPr id="6" name="TextBox 5"/>
          <p:cNvSpPr txBox="1"/>
          <p:nvPr/>
        </p:nvSpPr>
        <p:spPr>
          <a:xfrm>
            <a:off x="940158" y="1854808"/>
            <a:ext cx="2664918" cy="3970318"/>
          </a:xfrm>
          <a:prstGeom prst="rect">
            <a:avLst/>
          </a:prstGeom>
          <a:solidFill>
            <a:schemeClr val="accent2"/>
          </a:solidFill>
        </p:spPr>
        <p:txBody>
          <a:bodyPr wrap="square" rtlCol="0">
            <a:spAutoFit/>
          </a:bodyPr>
          <a:lstStyle/>
          <a:p>
            <a:r>
              <a:rPr lang="en-US" b="1" dirty="0">
                <a:solidFill>
                  <a:schemeClr val="bg1"/>
                </a:solidFill>
              </a:rPr>
              <a:t>Keys</a:t>
            </a:r>
            <a:r>
              <a:rPr lang="en-US" dirty="0">
                <a:solidFill>
                  <a:schemeClr val="bg1"/>
                </a:solidFill>
              </a:rPr>
              <a:t> are, as their name suggests, a </a:t>
            </a:r>
            <a:r>
              <a:rPr lang="en-US" b="1" dirty="0">
                <a:solidFill>
                  <a:schemeClr val="bg1"/>
                </a:solidFill>
              </a:rPr>
              <a:t>key</a:t>
            </a:r>
            <a:r>
              <a:rPr lang="en-US" dirty="0">
                <a:solidFill>
                  <a:schemeClr val="bg1"/>
                </a:solidFill>
              </a:rPr>
              <a:t> part of a </a:t>
            </a:r>
            <a:r>
              <a:rPr lang="en-US" b="1" dirty="0">
                <a:solidFill>
                  <a:schemeClr val="bg1"/>
                </a:solidFill>
              </a:rPr>
              <a:t>relational database</a:t>
            </a:r>
            <a:r>
              <a:rPr lang="en-US" dirty="0">
                <a:solidFill>
                  <a:schemeClr val="bg1"/>
                </a:solidFill>
              </a:rPr>
              <a:t> and a vital part of the structure of a table. They ensure each record within a table can be uniquely identified by one or a combination of fields within the table. They help enforce integrity and help identify the relationship between tables.</a:t>
            </a:r>
          </a:p>
        </p:txBody>
      </p:sp>
      <p:pic>
        <p:nvPicPr>
          <p:cNvPr id="1026" name="Picture 2" descr="http://www.informatics.indiana.edu/mhottell/i101/labs/summer05/images/table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7637" y="1850809"/>
            <a:ext cx="4036828" cy="2309066"/>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3957637" y="4443415"/>
            <a:ext cx="4557713" cy="1381711"/>
          </a:xfrm>
          <a:prstGeom prst="rect">
            <a:avLst/>
          </a:prstGeom>
        </p:spPr>
      </p:pic>
    </p:spTree>
    <p:extLst>
      <p:ext uri="{BB962C8B-B14F-4D97-AF65-F5344CB8AC3E}">
        <p14:creationId xmlns:p14="http://schemas.microsoft.com/office/powerpoint/2010/main" val="249801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 Types</a:t>
            </a:r>
            <a:endParaRPr lang="en-US" dirty="0"/>
          </a:p>
        </p:txBody>
      </p:sp>
      <p:graphicFrame>
        <p:nvGraphicFramePr>
          <p:cNvPr id="3" name="Diagram 2"/>
          <p:cNvGraphicFramePr/>
          <p:nvPr>
            <p:extLst>
              <p:ext uri="{D42A27DB-BD31-4B8C-83A1-F6EECF244321}">
                <p14:modId xmlns:p14="http://schemas.microsoft.com/office/powerpoint/2010/main" val="1757746921"/>
              </p:ext>
            </p:extLst>
          </p:nvPr>
        </p:nvGraphicFramePr>
        <p:xfrm>
          <a:off x="1524000" y="2016349"/>
          <a:ext cx="6096000" cy="34446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75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3138547-F0D8-4CED-AB67-389136514AD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CC3E1DCA-DF23-40FA-94F0-0B4860165DF5}"/>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461D7A9D-37E9-416A-9A2C-0CDBC5BAD80E}"/>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3CA74625-B19E-477C-814F-F52BA403FDDC}"/>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Key and Foreign Key</a:t>
            </a:r>
            <a:endParaRPr lang="en-US" dirty="0"/>
          </a:p>
        </p:txBody>
      </p:sp>
      <p:pic>
        <p:nvPicPr>
          <p:cNvPr id="3" name="Picture 2" descr="http://www.inoracle.com/wp-content/uploads/2015/02/ProductCategori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516" y="2682338"/>
            <a:ext cx="3493294" cy="1914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5050229" y="2347979"/>
            <a:ext cx="3005506" cy="2583245"/>
          </a:xfrm>
          <a:prstGeom prst="rect">
            <a:avLst/>
          </a:prstGeom>
        </p:spPr>
      </p:pic>
    </p:spTree>
    <p:extLst>
      <p:ext uri="{BB962C8B-B14F-4D97-AF65-F5344CB8AC3E}">
        <p14:creationId xmlns:p14="http://schemas.microsoft.com/office/powerpoint/2010/main" val="292328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Key and Foreign Key</a:t>
            </a:r>
            <a:endParaRPr lang="en-US" dirty="0"/>
          </a:p>
        </p:txBody>
      </p:sp>
      <p:pic>
        <p:nvPicPr>
          <p:cNvPr id="5122" name="Picture 2" descr="http://hostingadvice.digitalbrandsinc.netdna-cdn.com/wp-content/uploads/2015/06/fk-tables-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874" y="2125266"/>
            <a:ext cx="5050631" cy="3157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56446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Key and Foreign Key</a:t>
            </a:r>
            <a:endParaRPr lang="en-US" dirty="0"/>
          </a:p>
        </p:txBody>
      </p:sp>
      <p:pic>
        <p:nvPicPr>
          <p:cNvPr id="4" name="Picture 3"/>
          <p:cNvPicPr>
            <a:picLocks noChangeAspect="1"/>
          </p:cNvPicPr>
          <p:nvPr/>
        </p:nvPicPr>
        <p:blipFill>
          <a:blip r:embed="rId2"/>
          <a:stretch>
            <a:fillRect/>
          </a:stretch>
        </p:blipFill>
        <p:spPr>
          <a:xfrm>
            <a:off x="1475586" y="2331076"/>
            <a:ext cx="5435825" cy="2834157"/>
          </a:xfrm>
          <a:prstGeom prst="rect">
            <a:avLst/>
          </a:prstGeom>
        </p:spPr>
      </p:pic>
    </p:spTree>
    <p:extLst>
      <p:ext uri="{BB962C8B-B14F-4D97-AF65-F5344CB8AC3E}">
        <p14:creationId xmlns:p14="http://schemas.microsoft.com/office/powerpoint/2010/main" val="5722186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Concepts</a:t>
            </a:r>
            <a:endParaRPr lang="en-US" dirty="0"/>
          </a:p>
        </p:txBody>
      </p:sp>
      <p:sp>
        <p:nvSpPr>
          <p:cNvPr id="4" name="Rectangle 3"/>
          <p:cNvSpPr/>
          <p:nvPr/>
        </p:nvSpPr>
        <p:spPr>
          <a:xfrm>
            <a:off x="962696" y="2685885"/>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PRIMARY KEY</a:t>
            </a:r>
            <a:endParaRPr lang="en-US" sz="2400" dirty="0">
              <a:solidFill>
                <a:schemeClr val="bg1"/>
              </a:solidFill>
            </a:endParaRPr>
          </a:p>
        </p:txBody>
      </p:sp>
      <p:sp>
        <p:nvSpPr>
          <p:cNvPr id="5" name="Rectangle 4"/>
          <p:cNvSpPr/>
          <p:nvPr/>
        </p:nvSpPr>
        <p:spPr>
          <a:xfrm>
            <a:off x="962695" y="440950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FOREIGN KEY</a:t>
            </a:r>
            <a:endParaRPr lang="en-US" sz="2400" dirty="0">
              <a:solidFill>
                <a:schemeClr val="bg1"/>
              </a:solidFill>
            </a:endParaRPr>
          </a:p>
        </p:txBody>
      </p:sp>
    </p:spTree>
    <p:extLst>
      <p:ext uri="{BB962C8B-B14F-4D97-AF65-F5344CB8AC3E}">
        <p14:creationId xmlns:p14="http://schemas.microsoft.com/office/powerpoint/2010/main" val="182304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Connectivity and Cardinality</a:t>
            </a:r>
            <a:endParaRPr lang="en-US" dirty="0"/>
          </a:p>
        </p:txBody>
      </p:sp>
      <p:sp>
        <p:nvSpPr>
          <p:cNvPr id="6" name="TextBox 5"/>
          <p:cNvSpPr txBox="1"/>
          <p:nvPr/>
        </p:nvSpPr>
        <p:spPr>
          <a:xfrm>
            <a:off x="6481293" y="2013476"/>
            <a:ext cx="2039490" cy="3416320"/>
          </a:xfrm>
          <a:prstGeom prst="rect">
            <a:avLst/>
          </a:prstGeom>
          <a:solidFill>
            <a:schemeClr val="accent2"/>
          </a:solidFill>
        </p:spPr>
        <p:txBody>
          <a:bodyPr wrap="square" rtlCol="0">
            <a:spAutoFit/>
          </a:bodyPr>
          <a:lstStyle/>
          <a:p>
            <a:r>
              <a:rPr lang="en-US" b="1" dirty="0">
                <a:solidFill>
                  <a:schemeClr val="bg1"/>
                </a:solidFill>
              </a:rPr>
              <a:t>cardinality</a:t>
            </a:r>
            <a:r>
              <a:rPr lang="en-US" dirty="0">
                <a:solidFill>
                  <a:schemeClr val="bg1"/>
                </a:solidFill>
              </a:rPr>
              <a:t> refers to the uniqueness of </a:t>
            </a:r>
            <a:r>
              <a:rPr lang="en-US" b="1" dirty="0">
                <a:solidFill>
                  <a:schemeClr val="bg1"/>
                </a:solidFill>
              </a:rPr>
              <a:t>data</a:t>
            </a:r>
            <a:r>
              <a:rPr lang="en-US" dirty="0">
                <a:solidFill>
                  <a:schemeClr val="bg1"/>
                </a:solidFill>
              </a:rPr>
              <a:t> values contained in a particular column (attribute) of a </a:t>
            </a:r>
            <a:r>
              <a:rPr lang="en-US" b="1" dirty="0">
                <a:solidFill>
                  <a:schemeClr val="bg1"/>
                </a:solidFill>
              </a:rPr>
              <a:t>database</a:t>
            </a:r>
            <a:r>
              <a:rPr lang="en-US" dirty="0">
                <a:solidFill>
                  <a:schemeClr val="bg1"/>
                </a:solidFill>
              </a:rPr>
              <a:t> table. The lower the </a:t>
            </a:r>
            <a:r>
              <a:rPr lang="en-US" b="1" dirty="0">
                <a:solidFill>
                  <a:schemeClr val="bg1"/>
                </a:solidFill>
              </a:rPr>
              <a:t>cardinality</a:t>
            </a:r>
            <a:r>
              <a:rPr lang="en-US" dirty="0">
                <a:solidFill>
                  <a:schemeClr val="bg1"/>
                </a:solidFill>
              </a:rPr>
              <a:t>, the more duplicated elements in a column.</a:t>
            </a:r>
          </a:p>
        </p:txBody>
      </p:sp>
      <p:grpSp>
        <p:nvGrpSpPr>
          <p:cNvPr id="33" name="Group 32"/>
          <p:cNvGrpSpPr/>
          <p:nvPr/>
        </p:nvGrpSpPr>
        <p:grpSpPr>
          <a:xfrm>
            <a:off x="472226" y="3342340"/>
            <a:ext cx="5791200" cy="762000"/>
            <a:chOff x="472226" y="3342340"/>
            <a:chExt cx="5791200" cy="762000"/>
          </a:xfrm>
        </p:grpSpPr>
        <p:sp>
          <p:nvSpPr>
            <p:cNvPr id="7" name="Rectangle 6"/>
            <p:cNvSpPr/>
            <p:nvPr/>
          </p:nvSpPr>
          <p:spPr>
            <a:xfrm>
              <a:off x="4587026" y="3342340"/>
              <a:ext cx="1676400" cy="762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FF0000"/>
                  </a:solidFill>
                </a:rPr>
                <a:t>DEPARTMENT</a:t>
              </a:r>
              <a:endParaRPr lang="en-US" b="1" dirty="0">
                <a:solidFill>
                  <a:srgbClr val="FF0000"/>
                </a:solidFill>
              </a:endParaRPr>
            </a:p>
          </p:txBody>
        </p:sp>
        <p:grpSp>
          <p:nvGrpSpPr>
            <p:cNvPr id="22" name="Group 21"/>
            <p:cNvGrpSpPr/>
            <p:nvPr/>
          </p:nvGrpSpPr>
          <p:grpSpPr>
            <a:xfrm>
              <a:off x="472226" y="3342340"/>
              <a:ext cx="4114800" cy="762000"/>
              <a:chOff x="472226" y="3342340"/>
              <a:chExt cx="4114800" cy="762000"/>
            </a:xfrm>
          </p:grpSpPr>
          <p:sp>
            <p:nvSpPr>
              <p:cNvPr id="5" name="Rectangle 4"/>
              <p:cNvSpPr/>
              <p:nvPr/>
            </p:nvSpPr>
            <p:spPr>
              <a:xfrm>
                <a:off x="472226" y="3342340"/>
                <a:ext cx="1676400" cy="762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FF0000"/>
                    </a:solidFill>
                  </a:rPr>
                  <a:t>EMPLOYEE</a:t>
                </a:r>
                <a:endParaRPr lang="en-US" b="1" dirty="0">
                  <a:solidFill>
                    <a:srgbClr val="FF0000"/>
                  </a:solidFill>
                </a:endParaRPr>
              </a:p>
            </p:txBody>
          </p:sp>
          <p:cxnSp>
            <p:nvCxnSpPr>
              <p:cNvPr id="8" name="Straight Connector 7"/>
              <p:cNvCxnSpPr>
                <a:stCxn id="5" idx="3"/>
                <a:endCxn id="7" idx="1"/>
              </p:cNvCxnSpPr>
              <p:nvPr/>
            </p:nvCxnSpPr>
            <p:spPr>
              <a:xfrm>
                <a:off x="2148626" y="3723340"/>
                <a:ext cx="24384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2148626" y="3570940"/>
                <a:ext cx="228600" cy="152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flipV="1">
                <a:off x="2148626" y="3723340"/>
                <a:ext cx="228600" cy="152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4282226" y="3723340"/>
                <a:ext cx="304800"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377226" y="3570940"/>
                <a:ext cx="152400" cy="304800"/>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9" name="Group 28"/>
          <p:cNvGrpSpPr/>
          <p:nvPr/>
        </p:nvGrpSpPr>
        <p:grpSpPr>
          <a:xfrm>
            <a:off x="1310426" y="2504140"/>
            <a:ext cx="4114800" cy="838200"/>
            <a:chOff x="1310426" y="2504140"/>
            <a:chExt cx="4114800" cy="838200"/>
          </a:xfrm>
        </p:grpSpPr>
        <p:cxnSp>
          <p:nvCxnSpPr>
            <p:cNvPr id="13" name="Straight Arrow Connector 12"/>
            <p:cNvCxnSpPr>
              <a:stCxn id="15" idx="2"/>
              <a:endCxn id="5" idx="0"/>
            </p:cNvCxnSpPr>
            <p:nvPr/>
          </p:nvCxnSpPr>
          <p:spPr>
            <a:xfrm flipH="1">
              <a:off x="1310426" y="2504140"/>
              <a:ext cx="2133600" cy="838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5" idx="2"/>
              <a:endCxn id="7" idx="0"/>
            </p:cNvCxnSpPr>
            <p:nvPr/>
          </p:nvCxnSpPr>
          <p:spPr>
            <a:xfrm>
              <a:off x="3444026" y="2504140"/>
              <a:ext cx="1981200" cy="838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5" name="Rectangle 14"/>
          <p:cNvSpPr/>
          <p:nvPr/>
        </p:nvSpPr>
        <p:spPr>
          <a:xfrm>
            <a:off x="2605826" y="2046940"/>
            <a:ext cx="16764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FF0000"/>
                </a:solidFill>
              </a:rPr>
              <a:t>Connectivity</a:t>
            </a:r>
            <a:endParaRPr lang="en-US" b="1" dirty="0">
              <a:solidFill>
                <a:srgbClr val="FF0000"/>
              </a:solidFill>
            </a:endParaRPr>
          </a:p>
        </p:txBody>
      </p:sp>
      <p:sp>
        <p:nvSpPr>
          <p:cNvPr id="16" name="Rectangle 15"/>
          <p:cNvSpPr/>
          <p:nvPr/>
        </p:nvSpPr>
        <p:spPr>
          <a:xfrm>
            <a:off x="2605826" y="4942540"/>
            <a:ext cx="16764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FF0000"/>
                </a:solidFill>
              </a:rPr>
              <a:t>Cardinality</a:t>
            </a:r>
            <a:endParaRPr lang="en-US" b="1" dirty="0">
              <a:solidFill>
                <a:srgbClr val="FF0000"/>
              </a:solidFill>
            </a:endParaRPr>
          </a:p>
        </p:txBody>
      </p:sp>
      <p:grpSp>
        <p:nvGrpSpPr>
          <p:cNvPr id="32" name="Group 31"/>
          <p:cNvGrpSpPr/>
          <p:nvPr/>
        </p:nvGrpSpPr>
        <p:grpSpPr>
          <a:xfrm>
            <a:off x="2399544" y="3765060"/>
            <a:ext cx="1991615" cy="1177480"/>
            <a:chOff x="2399544" y="3765060"/>
            <a:chExt cx="1991615" cy="1177480"/>
          </a:xfrm>
        </p:grpSpPr>
        <p:cxnSp>
          <p:nvCxnSpPr>
            <p:cNvPr id="17" name="Straight Arrow Connector 16"/>
            <p:cNvCxnSpPr>
              <a:stCxn id="16" idx="0"/>
              <a:endCxn id="12" idx="3"/>
            </p:cNvCxnSpPr>
            <p:nvPr/>
          </p:nvCxnSpPr>
          <p:spPr>
            <a:xfrm flipH="1" flipV="1">
              <a:off x="2399544" y="3831103"/>
              <a:ext cx="1044482" cy="1111437"/>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6" idx="0"/>
            </p:cNvCxnSpPr>
            <p:nvPr/>
          </p:nvCxnSpPr>
          <p:spPr>
            <a:xfrm flipV="1">
              <a:off x="3444026" y="3765060"/>
              <a:ext cx="947133" cy="117748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0792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 - Degree</a:t>
            </a:r>
            <a:endParaRPr lang="en-US" dirty="0"/>
          </a:p>
        </p:txBody>
      </p:sp>
      <p:pic>
        <p:nvPicPr>
          <p:cNvPr id="4" name="Picture 3"/>
          <p:cNvPicPr>
            <a:picLocks noChangeAspect="1"/>
          </p:cNvPicPr>
          <p:nvPr/>
        </p:nvPicPr>
        <p:blipFill>
          <a:blip r:embed="rId2"/>
          <a:stretch>
            <a:fillRect/>
          </a:stretch>
        </p:blipFill>
        <p:spPr>
          <a:xfrm>
            <a:off x="338253" y="1690689"/>
            <a:ext cx="5586297" cy="3094808"/>
          </a:xfrm>
          <a:prstGeom prst="rect">
            <a:avLst/>
          </a:prstGeom>
        </p:spPr>
      </p:pic>
      <p:sp>
        <p:nvSpPr>
          <p:cNvPr id="5" name="Rectangle 2"/>
          <p:cNvSpPr txBox="1">
            <a:spLocks/>
          </p:cNvSpPr>
          <p:nvPr/>
        </p:nvSpPr>
        <p:spPr>
          <a:xfrm>
            <a:off x="6104587" y="1854559"/>
            <a:ext cx="2701160" cy="415614"/>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One-to-One</a:t>
            </a:r>
            <a:r>
              <a:rPr kumimoji="0" lang="en-US" sz="2000" b="0" i="0" u="none" strike="noStrike" kern="1200" cap="none" spc="0" normalizeH="0" noProof="0" dirty="0" smtClean="0">
                <a:ln>
                  <a:noFill/>
                </a:ln>
                <a:solidFill>
                  <a:schemeClr val="bg1"/>
                </a:solidFill>
                <a:effectLst/>
                <a:uLnTx/>
                <a:uFillTx/>
                <a:latin typeface="+mn-lt"/>
                <a:ea typeface="+mn-ea"/>
                <a:cs typeface="+mn-cs"/>
              </a:rPr>
              <a:t> (1:1)</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6" name="Rectangle 2"/>
          <p:cNvSpPr txBox="1">
            <a:spLocks/>
          </p:cNvSpPr>
          <p:nvPr/>
        </p:nvSpPr>
        <p:spPr>
          <a:xfrm>
            <a:off x="6104587" y="2584395"/>
            <a:ext cx="2734613" cy="422020"/>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One-to-Many</a:t>
            </a:r>
            <a:r>
              <a:rPr kumimoji="0" lang="en-US" sz="2000" b="0" i="0" u="none" strike="noStrike" kern="1200" cap="none" spc="0" normalizeH="0" noProof="0" dirty="0" smtClean="0">
                <a:ln>
                  <a:noFill/>
                </a:ln>
                <a:solidFill>
                  <a:schemeClr val="bg1"/>
                </a:solidFill>
                <a:effectLst/>
                <a:uLnTx/>
                <a:uFillTx/>
                <a:latin typeface="+mn-lt"/>
                <a:ea typeface="+mn-ea"/>
                <a:cs typeface="+mn-cs"/>
              </a:rPr>
              <a:t> (1:M)</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7" name="Rectangle 2"/>
          <p:cNvSpPr txBox="1">
            <a:spLocks/>
          </p:cNvSpPr>
          <p:nvPr/>
        </p:nvSpPr>
        <p:spPr>
          <a:xfrm>
            <a:off x="6104587" y="3346395"/>
            <a:ext cx="2734613"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lang="en-US" sz="2000" dirty="0" smtClean="0">
                <a:solidFill>
                  <a:schemeClr val="bg1"/>
                </a:solidFill>
              </a:rPr>
              <a:t>Many</a:t>
            </a:r>
            <a:r>
              <a:rPr kumimoji="0" lang="en-US" sz="2000" b="0" i="0" u="none" strike="noStrike" kern="1200" cap="none" spc="0" normalizeH="0" baseline="0" noProof="0" dirty="0" smtClean="0">
                <a:ln>
                  <a:noFill/>
                </a:ln>
                <a:solidFill>
                  <a:schemeClr val="bg1"/>
                </a:solidFill>
                <a:effectLst/>
                <a:uLnTx/>
                <a:uFillTx/>
                <a:latin typeface="+mn-lt"/>
                <a:ea typeface="+mn-ea"/>
                <a:cs typeface="+mn-cs"/>
              </a:rPr>
              <a:t>-to-One</a:t>
            </a:r>
            <a:r>
              <a:rPr kumimoji="0" lang="en-US" sz="2000" b="0" i="0" u="none" strike="noStrike" kern="1200" cap="none" spc="0" normalizeH="0" noProof="0" dirty="0" smtClean="0">
                <a:ln>
                  <a:noFill/>
                </a:ln>
                <a:solidFill>
                  <a:schemeClr val="bg1"/>
                </a:solidFill>
                <a:effectLst/>
                <a:uLnTx/>
                <a:uFillTx/>
                <a:latin typeface="+mn-lt"/>
                <a:ea typeface="+mn-ea"/>
                <a:cs typeface="+mn-cs"/>
              </a:rPr>
              <a:t>(M:1)</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8" name="Rectangle 2"/>
          <p:cNvSpPr txBox="1">
            <a:spLocks/>
          </p:cNvSpPr>
          <p:nvPr/>
        </p:nvSpPr>
        <p:spPr>
          <a:xfrm>
            <a:off x="6104587" y="4121274"/>
            <a:ext cx="2734614"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Many-to-Many</a:t>
            </a:r>
            <a:r>
              <a:rPr kumimoji="0" lang="en-US" sz="2000" b="0" i="0" u="none" strike="noStrike" kern="1200" cap="none" spc="0" normalizeH="0" noProof="0" dirty="0" smtClean="0">
                <a:ln>
                  <a:noFill/>
                </a:ln>
                <a:solidFill>
                  <a:schemeClr val="bg1"/>
                </a:solidFill>
                <a:effectLst/>
                <a:uLnTx/>
                <a:uFillTx/>
                <a:latin typeface="+mn-lt"/>
                <a:ea typeface="+mn-ea"/>
                <a:cs typeface="+mn-cs"/>
              </a:rPr>
              <a:t>(M:N)</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69139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Types - Optionality</a:t>
            </a:r>
            <a:endParaRPr lang="en-US" dirty="0"/>
          </a:p>
        </p:txBody>
      </p:sp>
      <p:pic>
        <p:nvPicPr>
          <p:cNvPr id="3" name="Picture 2"/>
          <p:cNvPicPr>
            <a:picLocks noChangeAspect="1"/>
          </p:cNvPicPr>
          <p:nvPr/>
        </p:nvPicPr>
        <p:blipFill>
          <a:blip r:embed="rId2"/>
          <a:stretch>
            <a:fillRect/>
          </a:stretch>
        </p:blipFill>
        <p:spPr>
          <a:xfrm>
            <a:off x="1027531" y="2356766"/>
            <a:ext cx="7088938" cy="1004620"/>
          </a:xfrm>
          <a:prstGeom prst="rect">
            <a:avLst/>
          </a:prstGeom>
        </p:spPr>
      </p:pic>
      <p:sp>
        <p:nvSpPr>
          <p:cNvPr id="5" name="Rectangle 2"/>
          <p:cNvSpPr txBox="1">
            <a:spLocks/>
          </p:cNvSpPr>
          <p:nvPr/>
        </p:nvSpPr>
        <p:spPr>
          <a:xfrm>
            <a:off x="1287888" y="4027463"/>
            <a:ext cx="6671256" cy="415614"/>
          </a:xfrm>
          <a:prstGeom prst="rect">
            <a:avLst/>
          </a:prstGeom>
          <a:solidFill>
            <a:schemeClr val="accent2"/>
          </a:solidFill>
        </p:spPr>
        <p:txBody>
          <a:bodyPr vert="horz">
            <a:noAutofit/>
          </a:bodyPr>
          <a:lstStyle>
            <a:extLst/>
          </a:lstStyle>
          <a:p>
            <a:pPr marL="320040" lvl="0" indent="-320040" algn="ctr">
              <a:spcBef>
                <a:spcPts val="700"/>
              </a:spcBef>
              <a:buClr>
                <a:schemeClr val="accent2"/>
              </a:buClr>
              <a:buSzPct val="60000"/>
              <a:buFont typeface="Wingdings"/>
              <a:buChar char=""/>
              <a:defRPr/>
            </a:pPr>
            <a:r>
              <a:rPr lang="en-US" sz="2000" dirty="0">
                <a:solidFill>
                  <a:schemeClr val="bg1"/>
                </a:solidFill>
              </a:rPr>
              <a:t>Department May have NO Employees</a:t>
            </a:r>
          </a:p>
        </p:txBody>
      </p:sp>
    </p:spTree>
    <p:extLst>
      <p:ext uri="{BB962C8B-B14F-4D97-AF65-F5344CB8AC3E}">
        <p14:creationId xmlns:p14="http://schemas.microsoft.com/office/powerpoint/2010/main" val="312061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Types – Unary</a:t>
            </a:r>
            <a:endParaRPr lang="en-US" dirty="0"/>
          </a:p>
        </p:txBody>
      </p:sp>
      <p:pic>
        <p:nvPicPr>
          <p:cNvPr id="4" name="Picture 3"/>
          <p:cNvPicPr>
            <a:picLocks noChangeAspect="1"/>
          </p:cNvPicPr>
          <p:nvPr/>
        </p:nvPicPr>
        <p:blipFill>
          <a:blip r:embed="rId2"/>
          <a:stretch>
            <a:fillRect/>
          </a:stretch>
        </p:blipFill>
        <p:spPr>
          <a:xfrm>
            <a:off x="1295400" y="1793484"/>
            <a:ext cx="2133600" cy="1171575"/>
          </a:xfrm>
          <a:prstGeom prst="rect">
            <a:avLst/>
          </a:prstGeom>
        </p:spPr>
      </p:pic>
      <p:sp>
        <p:nvSpPr>
          <p:cNvPr id="5" name="Rectangle 2"/>
          <p:cNvSpPr txBox="1">
            <a:spLocks/>
          </p:cNvSpPr>
          <p:nvPr/>
        </p:nvSpPr>
        <p:spPr>
          <a:xfrm>
            <a:off x="1295400" y="3333750"/>
            <a:ext cx="2133600" cy="1295400"/>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Employee</a:t>
            </a:r>
          </a:p>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noProof="0" dirty="0" smtClean="0">
                <a:ln>
                  <a:noFill/>
                </a:ln>
                <a:solidFill>
                  <a:schemeClr val="bg1"/>
                </a:solidFill>
                <a:effectLst/>
                <a:uLnTx/>
                <a:uFillTx/>
                <a:latin typeface="+mn-lt"/>
                <a:ea typeface="+mn-ea"/>
                <a:cs typeface="+mn-cs"/>
              </a:rPr>
              <a:t> MANAGES </a:t>
            </a:r>
          </a:p>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noProof="0" dirty="0" smtClean="0">
                <a:ln>
                  <a:noFill/>
                </a:ln>
                <a:solidFill>
                  <a:schemeClr val="bg1"/>
                </a:solidFill>
                <a:effectLst/>
                <a:uLnTx/>
                <a:uFillTx/>
                <a:latin typeface="+mn-lt"/>
                <a:ea typeface="+mn-ea"/>
                <a:cs typeface="+mn-cs"/>
              </a:rPr>
              <a:t>Employee</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pic>
        <p:nvPicPr>
          <p:cNvPr id="6" name="Picture 5"/>
          <p:cNvPicPr>
            <a:picLocks noChangeAspect="1"/>
          </p:cNvPicPr>
          <p:nvPr/>
        </p:nvPicPr>
        <p:blipFill>
          <a:blip r:embed="rId3"/>
          <a:stretch>
            <a:fillRect/>
          </a:stretch>
        </p:blipFill>
        <p:spPr>
          <a:xfrm>
            <a:off x="5047109" y="1926834"/>
            <a:ext cx="1857375" cy="1038225"/>
          </a:xfrm>
          <a:prstGeom prst="rect">
            <a:avLst/>
          </a:prstGeom>
        </p:spPr>
      </p:pic>
      <p:sp>
        <p:nvSpPr>
          <p:cNvPr id="7" name="Rectangle 2"/>
          <p:cNvSpPr txBox="1">
            <a:spLocks/>
          </p:cNvSpPr>
          <p:nvPr/>
        </p:nvSpPr>
        <p:spPr>
          <a:xfrm>
            <a:off x="4923284" y="3333750"/>
            <a:ext cx="1981200" cy="1295400"/>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Person</a:t>
            </a:r>
          </a:p>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noProof="0" dirty="0" smtClean="0">
                <a:ln>
                  <a:noFill/>
                </a:ln>
                <a:solidFill>
                  <a:schemeClr val="bg1"/>
                </a:solidFill>
                <a:effectLst/>
                <a:uLnTx/>
                <a:uFillTx/>
                <a:latin typeface="+mn-lt"/>
                <a:ea typeface="+mn-ea"/>
                <a:cs typeface="+mn-cs"/>
              </a:rPr>
              <a:t>MARRIES </a:t>
            </a:r>
          </a:p>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noProof="0" dirty="0" smtClean="0">
                <a:ln>
                  <a:noFill/>
                </a:ln>
                <a:solidFill>
                  <a:schemeClr val="bg1"/>
                </a:solidFill>
                <a:effectLst/>
                <a:uLnTx/>
                <a:uFillTx/>
                <a:latin typeface="+mn-lt"/>
                <a:ea typeface="+mn-ea"/>
                <a:cs typeface="+mn-cs"/>
              </a:rPr>
              <a:t>Person</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253865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Types – Binary</a:t>
            </a:r>
            <a:endParaRPr lang="en-US" dirty="0"/>
          </a:p>
        </p:txBody>
      </p:sp>
      <p:sp>
        <p:nvSpPr>
          <p:cNvPr id="5" name="Rectangle 2"/>
          <p:cNvSpPr txBox="1">
            <a:spLocks/>
          </p:cNvSpPr>
          <p:nvPr/>
        </p:nvSpPr>
        <p:spPr>
          <a:xfrm>
            <a:off x="6096000" y="2201922"/>
            <a:ext cx="2743200"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RECEIVES</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6" name="Rectangle 2"/>
          <p:cNvSpPr txBox="1">
            <a:spLocks/>
          </p:cNvSpPr>
          <p:nvPr/>
        </p:nvSpPr>
        <p:spPr>
          <a:xfrm>
            <a:off x="6096000" y="3250186"/>
            <a:ext cx="2743200"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CONTAINS</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7" name="Rectangle 2"/>
          <p:cNvSpPr txBox="1">
            <a:spLocks/>
          </p:cNvSpPr>
          <p:nvPr/>
        </p:nvSpPr>
        <p:spPr>
          <a:xfrm>
            <a:off x="6096000" y="4224306"/>
            <a:ext cx="2743200"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SUPPLIES</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pic>
        <p:nvPicPr>
          <p:cNvPr id="8" name="Picture 7"/>
          <p:cNvPicPr>
            <a:picLocks noChangeAspect="1"/>
          </p:cNvPicPr>
          <p:nvPr/>
        </p:nvPicPr>
        <p:blipFill>
          <a:blip r:embed="rId2"/>
          <a:stretch>
            <a:fillRect/>
          </a:stretch>
        </p:blipFill>
        <p:spPr>
          <a:xfrm>
            <a:off x="994423" y="2105046"/>
            <a:ext cx="4733925" cy="628650"/>
          </a:xfrm>
          <a:prstGeom prst="rect">
            <a:avLst/>
          </a:prstGeom>
        </p:spPr>
      </p:pic>
      <p:pic>
        <p:nvPicPr>
          <p:cNvPr id="9" name="Picture 8"/>
          <p:cNvPicPr>
            <a:picLocks noChangeAspect="1"/>
          </p:cNvPicPr>
          <p:nvPr/>
        </p:nvPicPr>
        <p:blipFill>
          <a:blip r:embed="rId3"/>
          <a:stretch>
            <a:fillRect/>
          </a:stretch>
        </p:blipFill>
        <p:spPr>
          <a:xfrm>
            <a:off x="1051573" y="3132906"/>
            <a:ext cx="4695825" cy="609600"/>
          </a:xfrm>
          <a:prstGeom prst="rect">
            <a:avLst/>
          </a:prstGeom>
        </p:spPr>
      </p:pic>
      <p:pic>
        <p:nvPicPr>
          <p:cNvPr id="10" name="Picture 9"/>
          <p:cNvPicPr>
            <a:picLocks noChangeAspect="1"/>
          </p:cNvPicPr>
          <p:nvPr/>
        </p:nvPicPr>
        <p:blipFill>
          <a:blip r:embed="rId4"/>
          <a:stretch>
            <a:fillRect/>
          </a:stretch>
        </p:blipFill>
        <p:spPr>
          <a:xfrm>
            <a:off x="1051573" y="4141717"/>
            <a:ext cx="4676775" cy="600075"/>
          </a:xfrm>
          <a:prstGeom prst="rect">
            <a:avLst/>
          </a:prstGeom>
        </p:spPr>
      </p:pic>
    </p:spTree>
    <p:extLst>
      <p:ext uri="{BB962C8B-B14F-4D97-AF65-F5344CB8AC3E}">
        <p14:creationId xmlns:p14="http://schemas.microsoft.com/office/powerpoint/2010/main" val="66353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Types – Ternary</a:t>
            </a:r>
            <a:endParaRPr lang="en-US" dirty="0"/>
          </a:p>
        </p:txBody>
      </p:sp>
      <p:grpSp>
        <p:nvGrpSpPr>
          <p:cNvPr id="12" name="Group 11"/>
          <p:cNvGrpSpPr/>
          <p:nvPr/>
        </p:nvGrpSpPr>
        <p:grpSpPr>
          <a:xfrm>
            <a:off x="737316" y="2122063"/>
            <a:ext cx="7010400" cy="1828800"/>
            <a:chOff x="685800" y="2122063"/>
            <a:chExt cx="7010400" cy="1828800"/>
          </a:xfrm>
        </p:grpSpPr>
        <p:sp>
          <p:nvSpPr>
            <p:cNvPr id="6" name="Rectangle 5"/>
            <p:cNvSpPr/>
            <p:nvPr/>
          </p:nvSpPr>
          <p:spPr>
            <a:xfrm>
              <a:off x="6019800" y="2155516"/>
              <a:ext cx="1676400"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PROJECT</a:t>
              </a:r>
              <a:endParaRPr lang="en-US" dirty="0">
                <a:solidFill>
                  <a:srgbClr val="FF0000"/>
                </a:solidFill>
              </a:endParaRPr>
            </a:p>
          </p:txBody>
        </p:sp>
        <p:grpSp>
          <p:nvGrpSpPr>
            <p:cNvPr id="3" name="Group 2"/>
            <p:cNvGrpSpPr/>
            <p:nvPr/>
          </p:nvGrpSpPr>
          <p:grpSpPr>
            <a:xfrm>
              <a:off x="685800" y="2122063"/>
              <a:ext cx="5334000" cy="1828800"/>
              <a:chOff x="685800" y="2122063"/>
              <a:chExt cx="5334000" cy="1828800"/>
            </a:xfrm>
          </p:grpSpPr>
          <p:sp>
            <p:nvSpPr>
              <p:cNvPr id="5" name="Rectangle 4"/>
              <p:cNvSpPr/>
              <p:nvPr/>
            </p:nvSpPr>
            <p:spPr>
              <a:xfrm>
                <a:off x="685800" y="2166667"/>
                <a:ext cx="1676400"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SKILL</a:t>
                </a:r>
                <a:endParaRPr lang="en-US" dirty="0">
                  <a:solidFill>
                    <a:srgbClr val="FF0000"/>
                  </a:solidFill>
                </a:endParaRPr>
              </a:p>
            </p:txBody>
          </p:sp>
          <p:sp>
            <p:nvSpPr>
              <p:cNvPr id="7" name="Rectangle 6"/>
              <p:cNvSpPr/>
              <p:nvPr/>
            </p:nvSpPr>
            <p:spPr>
              <a:xfrm>
                <a:off x="3429000" y="3417463"/>
                <a:ext cx="1676400" cy="53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EMPLOYEE</a:t>
                </a:r>
                <a:endParaRPr lang="en-US" dirty="0">
                  <a:solidFill>
                    <a:srgbClr val="FF0000"/>
                  </a:solidFill>
                </a:endParaRPr>
              </a:p>
            </p:txBody>
          </p:sp>
          <p:sp>
            <p:nvSpPr>
              <p:cNvPr id="8" name="Flowchart: Decision 7"/>
              <p:cNvSpPr/>
              <p:nvPr/>
            </p:nvSpPr>
            <p:spPr>
              <a:xfrm>
                <a:off x="3581400" y="2122063"/>
                <a:ext cx="1371600" cy="609600"/>
              </a:xfrm>
              <a:prstGeom prst="flowChartDecis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5" idx="3"/>
                <a:endCxn id="8" idx="1"/>
              </p:cNvCxnSpPr>
              <p:nvPr/>
            </p:nvCxnSpPr>
            <p:spPr>
              <a:xfrm flipV="1">
                <a:off x="2362200" y="2426863"/>
                <a:ext cx="1219200" cy="65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8" idx="3"/>
                <a:endCxn id="6" idx="1"/>
              </p:cNvCxnSpPr>
              <p:nvPr/>
            </p:nvCxnSpPr>
            <p:spPr>
              <a:xfrm flipV="1">
                <a:off x="4953000" y="2422216"/>
                <a:ext cx="1066800" cy="464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7" idx="0"/>
                <a:endCxn id="8" idx="2"/>
              </p:cNvCxnSpPr>
              <p:nvPr/>
            </p:nvCxnSpPr>
            <p:spPr>
              <a:xfrm rot="5400000" flipH="1" flipV="1">
                <a:off x="3924300" y="3074563"/>
                <a:ext cx="685800" cy="1588"/>
              </a:xfrm>
              <a:prstGeom prst="line">
                <a:avLst/>
              </a:prstGeom>
              <a:ln w="28575"/>
            </p:spPr>
            <p:style>
              <a:lnRef idx="1">
                <a:schemeClr val="accent1"/>
              </a:lnRef>
              <a:fillRef idx="0">
                <a:schemeClr val="accent1"/>
              </a:fillRef>
              <a:effectRef idx="0">
                <a:schemeClr val="accent1"/>
              </a:effectRef>
              <a:fontRef idx="minor">
                <a:schemeClr val="tx1"/>
              </a:fontRef>
            </p:style>
          </p:cxnSp>
        </p:grpSp>
      </p:grpSp>
      <p:sp>
        <p:nvSpPr>
          <p:cNvPr id="13" name="10-Point Star 12"/>
          <p:cNvSpPr/>
          <p:nvPr/>
        </p:nvSpPr>
        <p:spPr>
          <a:xfrm>
            <a:off x="2870916" y="2266950"/>
            <a:ext cx="304800" cy="304800"/>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14" name="10-Point Star 13"/>
          <p:cNvSpPr/>
          <p:nvPr/>
        </p:nvSpPr>
        <p:spPr>
          <a:xfrm>
            <a:off x="5309316" y="2274463"/>
            <a:ext cx="304800" cy="304800"/>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5" name="10-Point Star 14"/>
          <p:cNvSpPr/>
          <p:nvPr/>
        </p:nvSpPr>
        <p:spPr>
          <a:xfrm>
            <a:off x="4165522" y="2858237"/>
            <a:ext cx="304800" cy="304800"/>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grpSp>
        <p:nvGrpSpPr>
          <p:cNvPr id="22" name="Group 21"/>
          <p:cNvGrpSpPr/>
          <p:nvPr/>
        </p:nvGrpSpPr>
        <p:grpSpPr>
          <a:xfrm>
            <a:off x="543057" y="4447533"/>
            <a:ext cx="7391400" cy="434898"/>
            <a:chOff x="543057" y="4447533"/>
            <a:chExt cx="7391400" cy="434898"/>
          </a:xfrm>
        </p:grpSpPr>
        <p:sp>
          <p:nvSpPr>
            <p:cNvPr id="16" name="Rectangle 2"/>
            <p:cNvSpPr txBox="1">
              <a:spLocks/>
            </p:cNvSpPr>
            <p:nvPr/>
          </p:nvSpPr>
          <p:spPr>
            <a:xfrm>
              <a:off x="924057" y="4447533"/>
              <a:ext cx="7010400"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Skill used by Employee on Project</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17" name="10-Point Star 16"/>
            <p:cNvSpPr/>
            <p:nvPr/>
          </p:nvSpPr>
          <p:spPr>
            <a:xfrm>
              <a:off x="543057" y="4501431"/>
              <a:ext cx="304800" cy="304800"/>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grpSp>
      <p:grpSp>
        <p:nvGrpSpPr>
          <p:cNvPr id="23" name="Group 22"/>
          <p:cNvGrpSpPr/>
          <p:nvPr/>
        </p:nvGrpSpPr>
        <p:grpSpPr>
          <a:xfrm>
            <a:off x="543057" y="4904733"/>
            <a:ext cx="7391400" cy="434898"/>
            <a:chOff x="543057" y="4904733"/>
            <a:chExt cx="7391400" cy="434898"/>
          </a:xfrm>
        </p:grpSpPr>
        <p:sp>
          <p:nvSpPr>
            <p:cNvPr id="18" name="Rectangle 2"/>
            <p:cNvSpPr txBox="1">
              <a:spLocks/>
            </p:cNvSpPr>
            <p:nvPr/>
          </p:nvSpPr>
          <p:spPr>
            <a:xfrm>
              <a:off x="924057" y="4904733"/>
              <a:ext cx="7010400"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Project has Employee using this Skill</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19" name="10-Point Star 18"/>
            <p:cNvSpPr/>
            <p:nvPr/>
          </p:nvSpPr>
          <p:spPr>
            <a:xfrm>
              <a:off x="543057" y="4958631"/>
              <a:ext cx="304800" cy="304800"/>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grpSp>
      <p:grpSp>
        <p:nvGrpSpPr>
          <p:cNvPr id="24" name="Group 23"/>
          <p:cNvGrpSpPr/>
          <p:nvPr/>
        </p:nvGrpSpPr>
        <p:grpSpPr>
          <a:xfrm>
            <a:off x="543057" y="5361933"/>
            <a:ext cx="7391400" cy="434898"/>
            <a:chOff x="543057" y="5361933"/>
            <a:chExt cx="7391400" cy="434898"/>
          </a:xfrm>
        </p:grpSpPr>
        <p:sp>
          <p:nvSpPr>
            <p:cNvPr id="20" name="Rectangle 2"/>
            <p:cNvSpPr txBox="1">
              <a:spLocks/>
            </p:cNvSpPr>
            <p:nvPr/>
          </p:nvSpPr>
          <p:spPr>
            <a:xfrm>
              <a:off x="924057" y="5361933"/>
              <a:ext cx="7010400" cy="434898"/>
            </a:xfrm>
            <a:prstGeom prst="rect">
              <a:avLst/>
            </a:prstGeom>
            <a:solidFill>
              <a:schemeClr val="accent2"/>
            </a:solidFill>
          </p:spPr>
          <p:txBody>
            <a:bodyPr vert="horz">
              <a:noAutofit/>
            </a:bodyPr>
            <a:lstStyle>
              <a:extLst/>
            </a:lstStyle>
            <a:p>
              <a:pPr marL="320040" marR="0" lvl="0" indent="-320040" algn="ctr"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en-US" sz="2000" b="0" i="0" u="none" strike="noStrike" kern="1200" cap="none" spc="0" normalizeH="0" baseline="0" noProof="0" dirty="0" smtClean="0">
                  <a:ln>
                    <a:noFill/>
                  </a:ln>
                  <a:solidFill>
                    <a:schemeClr val="bg1"/>
                  </a:solidFill>
                  <a:effectLst/>
                  <a:uLnTx/>
                  <a:uFillTx/>
                  <a:latin typeface="+mn-lt"/>
                  <a:ea typeface="+mn-ea"/>
                  <a:cs typeface="+mn-cs"/>
                </a:rPr>
                <a:t>Employee uses</a:t>
              </a:r>
              <a:r>
                <a:rPr kumimoji="0" lang="en-US" sz="2000" b="0" i="0" u="none" strike="noStrike" kern="1200" cap="none" spc="0" normalizeH="0" noProof="0" dirty="0" smtClean="0">
                  <a:ln>
                    <a:noFill/>
                  </a:ln>
                  <a:solidFill>
                    <a:schemeClr val="bg1"/>
                  </a:solidFill>
                  <a:effectLst/>
                  <a:uLnTx/>
                  <a:uFillTx/>
                  <a:latin typeface="+mn-lt"/>
                  <a:ea typeface="+mn-ea"/>
                  <a:cs typeface="+mn-cs"/>
                </a:rPr>
                <a:t> Skill on Project</a:t>
              </a:r>
              <a:endParaRPr kumimoji="0" lang="en-US" sz="2000" b="0" i="0" u="none" strike="noStrike" kern="1200" cap="none" spc="0" normalizeH="0" baseline="0" noProof="0" dirty="0">
                <a:ln>
                  <a:noFill/>
                </a:ln>
                <a:solidFill>
                  <a:schemeClr val="bg1"/>
                </a:solidFill>
                <a:effectLst/>
                <a:uLnTx/>
                <a:uFillTx/>
                <a:latin typeface="+mn-lt"/>
                <a:ea typeface="+mn-ea"/>
                <a:cs typeface="+mn-cs"/>
              </a:endParaRPr>
            </a:p>
          </p:txBody>
        </p:sp>
        <p:sp>
          <p:nvSpPr>
            <p:cNvPr id="21" name="10-Point Star 20"/>
            <p:cNvSpPr/>
            <p:nvPr/>
          </p:nvSpPr>
          <p:spPr>
            <a:xfrm>
              <a:off x="543057" y="5415831"/>
              <a:ext cx="304800" cy="304800"/>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grpSp>
    </p:spTree>
    <p:extLst>
      <p:ext uri="{BB962C8B-B14F-4D97-AF65-F5344CB8AC3E}">
        <p14:creationId xmlns:p14="http://schemas.microsoft.com/office/powerpoint/2010/main" val="306856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Symbols</a:t>
            </a:r>
            <a:endParaRPr lang="en-US" dirty="0"/>
          </a:p>
        </p:txBody>
      </p:sp>
      <p:pic>
        <p:nvPicPr>
          <p:cNvPr id="1026" name="Picture 2" descr="https://s-media-cache-ak0.pinimg.com/236x/63/45/74/634574b3b5b0527d961e6bfce189e8a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796" y="1690689"/>
            <a:ext cx="6438408" cy="4310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5291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55942208"/>
              </p:ext>
            </p:extLst>
          </p:nvPr>
        </p:nvGraphicFramePr>
        <p:xfrm>
          <a:off x="433137" y="365126"/>
          <a:ext cx="8349915" cy="5643182"/>
        </p:xfrm>
        <a:graphic>
          <a:graphicData uri="http://schemas.openxmlformats.org/drawingml/2006/table">
            <a:tbl>
              <a:tblPr/>
              <a:tblGrid>
                <a:gridCol w="2783305"/>
                <a:gridCol w="2005263"/>
                <a:gridCol w="3561347"/>
              </a:tblGrid>
              <a:tr h="3444295">
                <a:tc>
                  <a:txBody>
                    <a:bodyPr/>
                    <a:lstStyle/>
                    <a:p>
                      <a:pPr algn="ctr" fontAlgn="base"/>
                      <a:r>
                        <a:rPr lang="en-US" sz="900" dirty="0">
                          <a:effectLst/>
                        </a:rPr>
                        <a:t/>
                      </a:r>
                      <a:br>
                        <a:rPr lang="en-US" sz="900" dirty="0">
                          <a:effectLst/>
                        </a:rPr>
                      </a:br>
                      <a:endParaRPr lang="en-US" sz="900" dirty="0">
                        <a:effectLst/>
                      </a:endParaRPr>
                    </a:p>
                  </a:txBody>
                  <a:tcPr marL="43568" marR="108920" marT="63536" marB="108920">
                    <a:lnL>
                      <a:noFill/>
                    </a:lnL>
                    <a:lnR>
                      <a:noFill/>
                    </a:lnR>
                    <a:lnT>
                      <a:noFill/>
                    </a:lnT>
                    <a:lnB>
                      <a:noFill/>
                    </a:lnB>
                  </a:tcPr>
                </a:tc>
                <a:tc>
                  <a:txBody>
                    <a:bodyPr/>
                    <a:lstStyle/>
                    <a:p>
                      <a:pPr fontAlgn="t"/>
                      <a:r>
                        <a:rPr lang="en-US" sz="2000" dirty="0">
                          <a:effectLst/>
                        </a:rPr>
                        <a:t>Strong entity</a:t>
                      </a:r>
                    </a:p>
                  </a:txBody>
                  <a:tcPr marL="43568" marR="108920" marT="63536" marB="108920">
                    <a:lnL>
                      <a:noFill/>
                    </a:lnL>
                    <a:lnR>
                      <a:noFill/>
                    </a:lnR>
                    <a:lnT>
                      <a:noFill/>
                    </a:lnT>
                    <a:lnB>
                      <a:noFill/>
                    </a:lnB>
                  </a:tcPr>
                </a:tc>
                <a:tc>
                  <a:txBody>
                    <a:bodyPr/>
                    <a:lstStyle/>
                    <a:p>
                      <a:pPr algn="l" fontAlgn="base"/>
                      <a:r>
                        <a:rPr lang="en-US" sz="2000" dirty="0">
                          <a:effectLst/>
                          <a:latin typeface="inherit"/>
                        </a:rPr>
                        <a:t>These shapes are independent from other entities, and are often called parent entities, since they will often have weak entities that depend on them. They will also have a primary key, distinguishing each occurrence of the entity.</a:t>
                      </a:r>
                    </a:p>
                  </a:txBody>
                  <a:tcPr marL="43568" marR="108920" marT="63536" marB="108920">
                    <a:lnL>
                      <a:noFill/>
                    </a:lnL>
                    <a:lnR>
                      <a:noFill/>
                    </a:lnR>
                    <a:lnT>
                      <a:noFill/>
                    </a:lnT>
                    <a:lnB>
                      <a:noFill/>
                    </a:lnB>
                  </a:tcPr>
                </a:tc>
              </a:tr>
              <a:tr h="2198887">
                <a:tc>
                  <a:txBody>
                    <a:bodyPr/>
                    <a:lstStyle/>
                    <a:p>
                      <a:pPr algn="ctr" fontAlgn="base"/>
                      <a:endParaRPr lang="en-US" sz="900">
                        <a:effectLst/>
                      </a:endParaRPr>
                    </a:p>
                  </a:txBody>
                  <a:tcPr marL="43568" marR="108920" marT="18153" marB="108920">
                    <a:lnL>
                      <a:noFill/>
                    </a:lnL>
                    <a:lnR>
                      <a:noFill/>
                    </a:lnR>
                    <a:lnT>
                      <a:noFill/>
                    </a:lnT>
                    <a:lnB>
                      <a:noFill/>
                    </a:lnB>
                  </a:tcPr>
                </a:tc>
                <a:tc>
                  <a:txBody>
                    <a:bodyPr/>
                    <a:lstStyle/>
                    <a:p>
                      <a:pPr fontAlgn="t"/>
                      <a:r>
                        <a:rPr lang="en-US" sz="2000" dirty="0">
                          <a:effectLst/>
                        </a:rPr>
                        <a:t>Weak entity</a:t>
                      </a:r>
                    </a:p>
                  </a:txBody>
                  <a:tcPr marL="43568" marR="108920" marT="18153" marB="108920">
                    <a:lnL>
                      <a:noFill/>
                    </a:lnL>
                    <a:lnR>
                      <a:noFill/>
                    </a:lnR>
                    <a:lnT>
                      <a:noFill/>
                    </a:lnT>
                    <a:lnB>
                      <a:noFill/>
                    </a:lnB>
                  </a:tcPr>
                </a:tc>
                <a:tc>
                  <a:txBody>
                    <a:bodyPr/>
                    <a:lstStyle/>
                    <a:p>
                      <a:pPr fontAlgn="base"/>
                      <a:r>
                        <a:rPr lang="en-US" sz="2000" dirty="0">
                          <a:effectLst/>
                          <a:latin typeface="inherit"/>
                        </a:rPr>
                        <a:t>Weak entities depend on some other entity type. They don't have primary keys, and have no meaning in the diagram without their parent entity.</a:t>
                      </a:r>
                    </a:p>
                  </a:txBody>
                  <a:tcPr marL="43568" marR="108920" marT="18153" marB="108920">
                    <a:lnL>
                      <a:noFill/>
                    </a:lnL>
                    <a:lnR>
                      <a:noFill/>
                    </a:lnR>
                    <a:lnT>
                      <a:noFill/>
                    </a:lnT>
                    <a:lnB>
                      <a:noFill/>
                    </a:lnB>
                  </a:tcPr>
                </a:tc>
              </a:tr>
            </a:tbl>
          </a:graphicData>
        </a:graphic>
      </p:graphicFrame>
      <p:pic>
        <p:nvPicPr>
          <p:cNvPr id="1025" name="Picture 1" descr="Strong Entity Symb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775" y="365126"/>
            <a:ext cx="158115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eak Entity Symb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825" y="3654593"/>
            <a:ext cx="15621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471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589567992"/>
              </p:ext>
            </p:extLst>
          </p:nvPr>
        </p:nvGraphicFramePr>
        <p:xfrm>
          <a:off x="1746834" y="759485"/>
          <a:ext cx="6819651" cy="1459230"/>
        </p:xfrm>
        <a:graphic>
          <a:graphicData uri="http://schemas.openxmlformats.org/drawingml/2006/table">
            <a:tbl>
              <a:tblPr/>
              <a:tblGrid>
                <a:gridCol w="2273217"/>
                <a:gridCol w="2273217"/>
                <a:gridCol w="2273217"/>
              </a:tblGrid>
              <a:tr h="0">
                <a:tc>
                  <a:txBody>
                    <a:bodyPr/>
                    <a:lstStyle/>
                    <a:p>
                      <a:pPr algn="ctr" fontAlgn="base"/>
                      <a:r>
                        <a:rPr lang="en-US" dirty="0">
                          <a:effectLst/>
                        </a:rPr>
                        <a:t/>
                      </a:r>
                      <a:br>
                        <a:rPr lang="en-US" dirty="0">
                          <a:effectLst/>
                        </a:rPr>
                      </a:br>
                      <a:endParaRPr lang="en-US" dirty="0">
                        <a:effectLst/>
                      </a:endParaRPr>
                    </a:p>
                  </a:txBody>
                  <a:tcPr marR="228600" marT="133350" marB="228600">
                    <a:lnL>
                      <a:noFill/>
                    </a:lnL>
                    <a:lnR>
                      <a:noFill/>
                    </a:lnR>
                    <a:lnT>
                      <a:noFill/>
                    </a:lnT>
                    <a:lnB>
                      <a:noFill/>
                    </a:lnB>
                  </a:tcPr>
                </a:tc>
                <a:tc>
                  <a:txBody>
                    <a:bodyPr/>
                    <a:lstStyle/>
                    <a:p>
                      <a:pPr fontAlgn="t"/>
                      <a:r>
                        <a:rPr lang="en-US">
                          <a:effectLst/>
                        </a:rPr>
                        <a:t>Relationship</a:t>
                      </a:r>
                    </a:p>
                  </a:txBody>
                  <a:tcPr marR="228600" marT="133350" marB="228600">
                    <a:lnL>
                      <a:noFill/>
                    </a:lnL>
                    <a:lnR>
                      <a:noFill/>
                    </a:lnR>
                    <a:lnT>
                      <a:noFill/>
                    </a:lnT>
                    <a:lnB>
                      <a:noFill/>
                    </a:lnB>
                  </a:tcPr>
                </a:tc>
                <a:tc>
                  <a:txBody>
                    <a:bodyPr/>
                    <a:lstStyle/>
                    <a:p>
                      <a:pPr fontAlgn="base"/>
                      <a:r>
                        <a:rPr lang="en-US" dirty="0">
                          <a:effectLst/>
                          <a:latin typeface="inherit"/>
                        </a:rPr>
                        <a:t>Relationships are associations between or among entities.</a:t>
                      </a:r>
                    </a:p>
                  </a:txBody>
                  <a:tcPr marR="228600" marT="133350" marB="228600">
                    <a:lnL>
                      <a:noFill/>
                    </a:lnL>
                    <a:lnR>
                      <a:noFill/>
                    </a:lnR>
                    <a:lnT>
                      <a:noFill/>
                    </a:lnT>
                    <a:lnB>
                      <a:noFill/>
                    </a:lnB>
                  </a:tcPr>
                </a:tc>
              </a:tr>
            </a:tbl>
          </a:graphicData>
        </a:graphic>
      </p:graphicFrame>
      <p:pic>
        <p:nvPicPr>
          <p:cNvPr id="2051" name="Picture 3" descr="Relationship Symb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6835" y="759326"/>
            <a:ext cx="1562100" cy="14859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3936368231"/>
              </p:ext>
            </p:extLst>
          </p:nvPr>
        </p:nvGraphicFramePr>
        <p:xfrm>
          <a:off x="1746834" y="3316898"/>
          <a:ext cx="6819651" cy="1912620"/>
        </p:xfrm>
        <a:graphic>
          <a:graphicData uri="http://schemas.openxmlformats.org/drawingml/2006/table">
            <a:tbl>
              <a:tblPr/>
              <a:tblGrid>
                <a:gridCol w="2273217"/>
                <a:gridCol w="2273217"/>
                <a:gridCol w="2273217"/>
              </a:tblGrid>
              <a:tr h="0">
                <a:tc>
                  <a:txBody>
                    <a:bodyPr/>
                    <a:lstStyle/>
                    <a:p>
                      <a:pPr algn="ctr" fontAlgn="base"/>
                      <a:endParaRPr lang="en-US" dirty="0">
                        <a:effectLst/>
                      </a:endParaRPr>
                    </a:p>
                  </a:txBody>
                  <a:tcPr marR="228600" marT="38100" marB="228600">
                    <a:lnL>
                      <a:noFill/>
                    </a:lnL>
                    <a:lnR>
                      <a:noFill/>
                    </a:lnR>
                    <a:lnT>
                      <a:noFill/>
                    </a:lnT>
                    <a:lnB>
                      <a:noFill/>
                    </a:lnB>
                  </a:tcPr>
                </a:tc>
                <a:tc>
                  <a:txBody>
                    <a:bodyPr/>
                    <a:lstStyle/>
                    <a:p>
                      <a:pPr fontAlgn="t"/>
                      <a:r>
                        <a:rPr lang="en-US">
                          <a:effectLst/>
                        </a:rPr>
                        <a:t>Weak relationship</a:t>
                      </a:r>
                    </a:p>
                  </a:txBody>
                  <a:tcPr marR="228600" marT="38100" marB="228600">
                    <a:lnL>
                      <a:noFill/>
                    </a:lnL>
                    <a:lnR>
                      <a:noFill/>
                    </a:lnR>
                    <a:lnT>
                      <a:noFill/>
                    </a:lnT>
                    <a:lnB>
                      <a:noFill/>
                    </a:lnB>
                  </a:tcPr>
                </a:tc>
                <a:tc>
                  <a:txBody>
                    <a:bodyPr/>
                    <a:lstStyle/>
                    <a:p>
                      <a:pPr fontAlgn="base"/>
                      <a:r>
                        <a:rPr lang="en-US" dirty="0">
                          <a:effectLst/>
                          <a:latin typeface="inherit"/>
                        </a:rPr>
                        <a:t>Weak Relationships are connections between a weak entity and its owner.</a:t>
                      </a:r>
                    </a:p>
                  </a:txBody>
                  <a:tcPr marR="228600" marT="38100" marB="228600">
                    <a:lnL>
                      <a:noFill/>
                    </a:lnL>
                    <a:lnR>
                      <a:noFill/>
                    </a:lnR>
                    <a:lnT>
                      <a:noFill/>
                    </a:lnT>
                    <a:lnB>
                      <a:noFill/>
                    </a:lnB>
                  </a:tcPr>
                </a:tc>
              </a:tr>
            </a:tbl>
          </a:graphicData>
        </a:graphic>
      </p:graphicFrame>
      <p:pic>
        <p:nvPicPr>
          <p:cNvPr id="2052" name="Picture 4" descr="Weak Relationship Symb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835" y="3317374"/>
            <a:ext cx="158115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5158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16058278"/>
              </p:ext>
            </p:extLst>
          </p:nvPr>
        </p:nvGraphicFramePr>
        <p:xfrm>
          <a:off x="591803" y="405757"/>
          <a:ext cx="7565607" cy="2007870"/>
        </p:xfrm>
        <a:graphic>
          <a:graphicData uri="http://schemas.openxmlformats.org/drawingml/2006/table">
            <a:tbl>
              <a:tblPr/>
              <a:tblGrid>
                <a:gridCol w="2521869"/>
                <a:gridCol w="2521869"/>
                <a:gridCol w="2521869"/>
              </a:tblGrid>
              <a:tr h="0">
                <a:tc>
                  <a:txBody>
                    <a:bodyPr/>
                    <a:lstStyle/>
                    <a:p>
                      <a:pPr algn="ctr" fontAlgn="base"/>
                      <a:r>
                        <a:rPr lang="en-US">
                          <a:effectLst/>
                        </a:rPr>
                        <a:t/>
                      </a:r>
                      <a:br>
                        <a:rPr lang="en-US">
                          <a:effectLst/>
                        </a:rPr>
                      </a:br>
                      <a:endParaRPr lang="en-US">
                        <a:effectLst/>
                      </a:endParaRPr>
                    </a:p>
                  </a:txBody>
                  <a:tcPr marR="228600" marT="133350" marB="228600">
                    <a:lnL>
                      <a:noFill/>
                    </a:lnL>
                    <a:lnR>
                      <a:noFill/>
                    </a:lnR>
                    <a:lnT>
                      <a:noFill/>
                    </a:lnT>
                    <a:lnB>
                      <a:noFill/>
                    </a:lnB>
                  </a:tcPr>
                </a:tc>
                <a:tc>
                  <a:txBody>
                    <a:bodyPr/>
                    <a:lstStyle/>
                    <a:p>
                      <a:pPr fontAlgn="t"/>
                      <a:r>
                        <a:rPr lang="en-US">
                          <a:effectLst/>
                        </a:rPr>
                        <a:t>Attribute</a:t>
                      </a:r>
                    </a:p>
                  </a:txBody>
                  <a:tcPr marR="228600" marT="133350" marB="228600">
                    <a:lnL>
                      <a:noFill/>
                    </a:lnL>
                    <a:lnR>
                      <a:noFill/>
                    </a:lnR>
                    <a:lnT>
                      <a:noFill/>
                    </a:lnT>
                    <a:lnB>
                      <a:noFill/>
                    </a:lnB>
                  </a:tcPr>
                </a:tc>
                <a:tc>
                  <a:txBody>
                    <a:bodyPr/>
                    <a:lstStyle/>
                    <a:p>
                      <a:pPr fontAlgn="base"/>
                      <a:r>
                        <a:rPr lang="en-US" dirty="0">
                          <a:effectLst/>
                          <a:latin typeface="inherit"/>
                        </a:rPr>
                        <a:t>Attributes are characteristics of an entity, a many-to-many relationship, or a one-to-one relationship.</a:t>
                      </a:r>
                    </a:p>
                  </a:txBody>
                  <a:tcPr marR="228600" marT="133350" marB="228600">
                    <a:lnL>
                      <a:noFill/>
                    </a:lnL>
                    <a:lnR>
                      <a:noFill/>
                    </a:lnR>
                    <a:lnT>
                      <a:noFill/>
                    </a:lnT>
                    <a:lnB>
                      <a:noFill/>
                    </a:lnB>
                  </a:tcPr>
                </a:tc>
              </a:tr>
            </a:tbl>
          </a:graphicData>
        </a:graphic>
      </p:graphicFrame>
      <p:pic>
        <p:nvPicPr>
          <p:cNvPr id="3073" name="Picture 1" descr="Attribute Symb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803" y="406233"/>
            <a:ext cx="2271003" cy="12382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4139955066"/>
              </p:ext>
            </p:extLst>
          </p:nvPr>
        </p:nvGraphicFramePr>
        <p:xfrm>
          <a:off x="-649707" y="2671011"/>
          <a:ext cx="9095874" cy="1848642"/>
        </p:xfrm>
        <a:graphic>
          <a:graphicData uri="http://schemas.openxmlformats.org/drawingml/2006/table">
            <a:tbl>
              <a:tblPr/>
              <a:tblGrid>
                <a:gridCol w="3031958"/>
                <a:gridCol w="3031958"/>
                <a:gridCol w="3031958"/>
              </a:tblGrid>
              <a:tr h="1848642">
                <a:tc>
                  <a:txBody>
                    <a:bodyPr/>
                    <a:lstStyle/>
                    <a:p>
                      <a:pPr algn="ctr" fontAlgn="base"/>
                      <a:r>
                        <a:rPr lang="en-US" dirty="0" smtClean="0">
                          <a:effectLst/>
                        </a:rPr>
                        <a:t>                                           </a:t>
                      </a:r>
                      <a:r>
                        <a:rPr lang="en-US" dirty="0">
                          <a:effectLst/>
                        </a:rPr>
                        <a:t/>
                      </a:r>
                      <a:br>
                        <a:rPr lang="en-US" dirty="0">
                          <a:effectLst/>
                        </a:rPr>
                      </a:br>
                      <a:r>
                        <a:rPr lang="en-US" dirty="0" smtClean="0">
                          <a:effectLst/>
                        </a:rPr>
                        <a:t>     </a:t>
                      </a:r>
                      <a:endParaRPr lang="en-US" dirty="0">
                        <a:effectLst/>
                      </a:endParaRPr>
                    </a:p>
                  </a:txBody>
                  <a:tcPr marR="228600" marT="38100" marB="228600">
                    <a:lnL>
                      <a:noFill/>
                    </a:lnL>
                    <a:lnR>
                      <a:noFill/>
                    </a:lnR>
                    <a:lnT>
                      <a:noFill/>
                    </a:lnT>
                    <a:lnB>
                      <a:noFill/>
                    </a:lnB>
                  </a:tcPr>
                </a:tc>
                <a:tc>
                  <a:txBody>
                    <a:bodyPr/>
                    <a:lstStyle/>
                    <a:p>
                      <a:pPr fontAlgn="t"/>
                      <a:r>
                        <a:rPr lang="en-US" dirty="0" smtClean="0">
                          <a:effectLst/>
                        </a:rPr>
                        <a:t>M          Multivalued </a:t>
                      </a:r>
                      <a:r>
                        <a:rPr lang="en-US" dirty="0">
                          <a:effectLst/>
                        </a:rPr>
                        <a:t>attribute</a:t>
                      </a:r>
                    </a:p>
                  </a:txBody>
                  <a:tcPr marR="228600" marT="38100" marB="228600">
                    <a:lnL>
                      <a:noFill/>
                    </a:lnL>
                    <a:lnR>
                      <a:noFill/>
                    </a:lnR>
                    <a:lnT>
                      <a:noFill/>
                    </a:lnT>
                    <a:lnB>
                      <a:noFill/>
                    </a:lnB>
                  </a:tcPr>
                </a:tc>
                <a:tc>
                  <a:txBody>
                    <a:bodyPr/>
                    <a:lstStyle/>
                    <a:p>
                      <a:pPr fontAlgn="base"/>
                      <a:r>
                        <a:rPr lang="en-US" dirty="0">
                          <a:effectLst/>
                          <a:latin typeface="inherit"/>
                        </a:rPr>
                        <a:t>Multivalued attributes are those that are can take on more than one value.</a:t>
                      </a:r>
                    </a:p>
                  </a:txBody>
                  <a:tcPr marR="228600" marT="38100" marB="228600">
                    <a:lnL>
                      <a:noFill/>
                    </a:lnL>
                    <a:lnR>
                      <a:noFill/>
                    </a:lnR>
                    <a:lnT>
                      <a:noFill/>
                    </a:lnT>
                    <a:lnB>
                      <a:noFill/>
                    </a:lnB>
                  </a:tcPr>
                </a:tc>
              </a:tr>
            </a:tbl>
          </a:graphicData>
        </a:graphic>
      </p:graphicFrame>
      <p:pic>
        <p:nvPicPr>
          <p:cNvPr id="3074" name="Picture 2" descr="Multivalued Attribute Symb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47" y="2671011"/>
            <a:ext cx="2045368" cy="12287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2708084685"/>
              </p:ext>
            </p:extLst>
          </p:nvPr>
        </p:nvGraphicFramePr>
        <p:xfrm>
          <a:off x="692948" y="4405062"/>
          <a:ext cx="7753218" cy="1912620"/>
        </p:xfrm>
        <a:graphic>
          <a:graphicData uri="http://schemas.openxmlformats.org/drawingml/2006/table">
            <a:tbl>
              <a:tblPr/>
              <a:tblGrid>
                <a:gridCol w="2584406"/>
                <a:gridCol w="2584406"/>
                <a:gridCol w="2584406"/>
              </a:tblGrid>
              <a:tr h="0">
                <a:tc>
                  <a:txBody>
                    <a:bodyPr/>
                    <a:lstStyle/>
                    <a:p>
                      <a:pPr algn="ctr" fontAlgn="base"/>
                      <a:r>
                        <a:rPr lang="en-US">
                          <a:effectLst/>
                        </a:rPr>
                        <a:t/>
                      </a:r>
                      <a:br>
                        <a:rPr lang="en-US">
                          <a:effectLst/>
                        </a:rPr>
                      </a:br>
                      <a:endParaRPr lang="en-US">
                        <a:effectLst/>
                      </a:endParaRPr>
                    </a:p>
                  </a:txBody>
                  <a:tcPr marR="228600" marT="38100" marB="228600">
                    <a:lnL>
                      <a:noFill/>
                    </a:lnL>
                    <a:lnR>
                      <a:noFill/>
                    </a:lnR>
                    <a:lnT>
                      <a:noFill/>
                    </a:lnT>
                    <a:lnB>
                      <a:noFill/>
                    </a:lnB>
                  </a:tcPr>
                </a:tc>
                <a:tc>
                  <a:txBody>
                    <a:bodyPr/>
                    <a:lstStyle/>
                    <a:p>
                      <a:pPr fontAlgn="t"/>
                      <a:r>
                        <a:rPr lang="en-US">
                          <a:effectLst/>
                        </a:rPr>
                        <a:t>Derived attribute</a:t>
                      </a:r>
                    </a:p>
                  </a:txBody>
                  <a:tcPr marR="228600" marT="38100" marB="228600">
                    <a:lnL>
                      <a:noFill/>
                    </a:lnL>
                    <a:lnR>
                      <a:noFill/>
                    </a:lnR>
                    <a:lnT>
                      <a:noFill/>
                    </a:lnT>
                    <a:lnB>
                      <a:noFill/>
                    </a:lnB>
                  </a:tcPr>
                </a:tc>
                <a:tc>
                  <a:txBody>
                    <a:bodyPr/>
                    <a:lstStyle/>
                    <a:p>
                      <a:pPr fontAlgn="base"/>
                      <a:r>
                        <a:rPr lang="en-US" dirty="0">
                          <a:effectLst/>
                          <a:latin typeface="inherit"/>
                        </a:rPr>
                        <a:t>Derived attributes are attributes whose value can be calculated from related attribute values.</a:t>
                      </a:r>
                    </a:p>
                  </a:txBody>
                  <a:tcPr marR="228600" marT="38100" marB="228600">
                    <a:lnL>
                      <a:noFill/>
                    </a:lnL>
                    <a:lnR>
                      <a:noFill/>
                    </a:lnR>
                    <a:lnT>
                      <a:noFill/>
                    </a:lnT>
                    <a:lnB>
                      <a:noFill/>
                    </a:lnB>
                  </a:tcPr>
                </a:tc>
              </a:tr>
            </a:tbl>
          </a:graphicData>
        </a:graphic>
      </p:graphicFrame>
      <p:pic>
        <p:nvPicPr>
          <p:cNvPr id="3075" name="Picture 3" descr="Derived Attribute Symbo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948" y="4405221"/>
            <a:ext cx="2340849"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303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is a Database ?</a:t>
            </a:r>
            <a:endParaRPr lang="en-US" sz="2400" dirty="0">
              <a:solidFill>
                <a:schemeClr val="bg1"/>
              </a:solidFill>
            </a:endParaRPr>
          </a:p>
        </p:txBody>
      </p:sp>
      <p:sp>
        <p:nvSpPr>
          <p:cNvPr id="5" name="Rectangle 4"/>
          <p:cNvSpPr/>
          <p:nvPr/>
        </p:nvSpPr>
        <p:spPr>
          <a:xfrm>
            <a:off x="962695" y="2657982"/>
            <a:ext cx="7038303" cy="830997"/>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does a Database Management System does ?</a:t>
            </a: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What does a Database do ?</a:t>
            </a: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History of Database Models.</a:t>
            </a: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r>
              <a:rPr lang="en-US" sz="2400" b="1" dirty="0" smtClean="0">
                <a:solidFill>
                  <a:schemeClr val="bg1"/>
                </a:solidFill>
                <a:latin typeface="arial" panose="020B0604020202020204" pitchFamily="34" charset="0"/>
              </a:rPr>
              <a:t>Levels of Abstraction</a:t>
            </a:r>
            <a:endParaRPr lang="en-US" sz="2400" dirty="0">
              <a:solidFill>
                <a:schemeClr val="bg1"/>
              </a:solidFill>
            </a:endParaRPr>
          </a:p>
        </p:txBody>
      </p:sp>
    </p:spTree>
    <p:extLst>
      <p:ext uri="{BB962C8B-B14F-4D97-AF65-F5344CB8AC3E}">
        <p14:creationId xmlns:p14="http://schemas.microsoft.com/office/powerpoint/2010/main" val="28911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pic>
        <p:nvPicPr>
          <p:cNvPr id="2050" name="Picture 2" descr="http://imgc-cn.artprintimages.com/images/P-473-488-90/61/6148/N4EG100Z/posters/j-p-rini-but-harry-my-little-brother-s-room-was-neater-than-your-database-carto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251" y="1532899"/>
            <a:ext cx="5713776" cy="428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30737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a:t>
            </a:r>
            <a:r>
              <a:rPr lang="en-US" sz="3600" b="1" dirty="0" smtClean="0">
                <a:solidFill>
                  <a:schemeClr val="bg1"/>
                </a:solidFill>
              </a:rPr>
              <a:t>3</a:t>
            </a:r>
            <a:endParaRPr lang="en-US" sz="3600" b="1" dirty="0">
              <a:solidFill>
                <a:schemeClr val="bg1"/>
              </a:solidFill>
            </a:endParaRP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52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1167</TotalTime>
  <Words>907</Words>
  <Application>Microsoft Office PowerPoint</Application>
  <PresentationFormat>On-screen Show (4:3)</PresentationFormat>
  <Paragraphs>197</Paragraphs>
  <Slides>35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vt:lpstr>
      <vt:lpstr>Calibri</vt:lpstr>
      <vt:lpstr>Calibri Light</vt:lpstr>
      <vt:lpstr>inherit</vt:lpstr>
      <vt:lpstr>Times New Roman</vt:lpstr>
      <vt:lpstr>Wingdings</vt:lpstr>
      <vt:lpstr>Office Theme</vt:lpstr>
      <vt:lpstr>An Introduction to Database</vt:lpstr>
      <vt:lpstr>World Scenario</vt:lpstr>
      <vt:lpstr>Top Vendors</vt:lpstr>
      <vt:lpstr>Reminder – Last Week</vt:lpstr>
      <vt:lpstr>Agendas</vt:lpstr>
      <vt:lpstr>Relational Database - Definition</vt:lpstr>
      <vt:lpstr>Entity</vt:lpstr>
      <vt:lpstr>Entity</vt:lpstr>
      <vt:lpstr>Attribute</vt:lpstr>
      <vt:lpstr>Attribute</vt:lpstr>
      <vt:lpstr>Attribute - Types</vt:lpstr>
      <vt:lpstr>Attribute - Access</vt:lpstr>
      <vt:lpstr>Attribute - Access</vt:lpstr>
      <vt:lpstr>Attribute - MySQL</vt:lpstr>
      <vt:lpstr>Attribute – Access [Number]</vt:lpstr>
      <vt:lpstr>Attribute – Access [Date]</vt:lpstr>
      <vt:lpstr>Constraints - Keys</vt:lpstr>
      <vt:lpstr>Key - Types</vt:lpstr>
      <vt:lpstr>Primary Key and Foreign Key</vt:lpstr>
      <vt:lpstr>Primary Key and Foreign Key</vt:lpstr>
      <vt:lpstr>Primary Key and Foreign Key</vt:lpstr>
      <vt:lpstr>Key Concepts</vt:lpstr>
      <vt:lpstr>Connectivity and Cardinality</vt:lpstr>
      <vt:lpstr>Cardinality - Degree</vt:lpstr>
      <vt:lpstr>Relationship Types - Optionality</vt:lpstr>
      <vt:lpstr>Relationship Types – Unary</vt:lpstr>
      <vt:lpstr>Relationship Types – Binary</vt:lpstr>
      <vt:lpstr>Relationship Types – Ternary</vt:lpstr>
      <vt:lpstr>Key Symbols</vt:lpstr>
      <vt:lpstr>PowerPoint Presentation</vt:lpstr>
      <vt:lpstr>PowerPoint Presentation</vt:lpstr>
      <vt:lpstr>PowerPoint Presentation</vt:lpstr>
      <vt:lpstr>Questions ?</vt:lpstr>
      <vt:lpstr>Laugh</vt:lpstr>
      <vt:lpstr>End of Lecture for Week - 3</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Dipson Shrestha</cp:lastModifiedBy>
  <cp:revision>191</cp:revision>
  <dcterms:created xsi:type="dcterms:W3CDTF">2016-03-01T04:18:16Z</dcterms:created>
  <dcterms:modified xsi:type="dcterms:W3CDTF">2019-03-16T17:56:20Z</dcterms:modified>
</cp:coreProperties>
</file>