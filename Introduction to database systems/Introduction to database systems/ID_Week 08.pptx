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375" r:id="rId2"/>
    <p:sldId id="257" r:id="rId3"/>
    <p:sldId id="320" r:id="rId4"/>
    <p:sldId id="331" r:id="rId5"/>
    <p:sldId id="360" r:id="rId6"/>
    <p:sldId id="361" r:id="rId7"/>
    <p:sldId id="362" r:id="rId8"/>
    <p:sldId id="363" r:id="rId9"/>
    <p:sldId id="364" r:id="rId10"/>
    <p:sldId id="342" r:id="rId11"/>
    <p:sldId id="365" r:id="rId12"/>
    <p:sldId id="343" r:id="rId13"/>
    <p:sldId id="366" r:id="rId14"/>
    <p:sldId id="367" r:id="rId15"/>
    <p:sldId id="368" r:id="rId16"/>
    <p:sldId id="369" r:id="rId17"/>
    <p:sldId id="370" r:id="rId18"/>
    <p:sldId id="371" r:id="rId19"/>
    <p:sldId id="372" r:id="rId20"/>
    <p:sldId id="373" r:id="rId21"/>
    <p:sldId id="344" r:id="rId22"/>
    <p:sldId id="374" r:id="rId23"/>
    <p:sldId id="376" r:id="rId24"/>
    <p:sldId id="377" r:id="rId25"/>
    <p:sldId id="378"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129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D921DD-3963-4E2E-9608-92B55C745D97}" type="doc">
      <dgm:prSet loTypeId="urn:microsoft.com/office/officeart/2005/8/layout/lProcess2" loCatId="list" qsTypeId="urn:microsoft.com/office/officeart/2005/8/quickstyle/simple1" qsCatId="simple" csTypeId="urn:microsoft.com/office/officeart/2005/8/colors/colorful1" csCatId="colorful" phldr="1"/>
      <dgm:spPr/>
      <dgm:t>
        <a:bodyPr/>
        <a:lstStyle/>
        <a:p>
          <a:endParaRPr lang="en-US"/>
        </a:p>
      </dgm:t>
    </dgm:pt>
    <dgm:pt modelId="{289FBB4D-064E-4D3F-B742-3BC31803D1DA}">
      <dgm:prSet phldrT="[Text]"/>
      <dgm:spPr/>
      <dgm:t>
        <a:bodyPr/>
        <a:lstStyle/>
        <a:p>
          <a:r>
            <a:rPr lang="en-US" dirty="0" smtClean="0"/>
            <a:t>Arithmetic Operators</a:t>
          </a:r>
          <a:endParaRPr lang="en-US" dirty="0"/>
        </a:p>
      </dgm:t>
    </dgm:pt>
    <dgm:pt modelId="{BB2A5A94-33CE-4785-BEF8-CC3167927ABB}" type="parTrans" cxnId="{E8F0A7D3-35AA-4271-8412-6B67888DCEEE}">
      <dgm:prSet/>
      <dgm:spPr/>
      <dgm:t>
        <a:bodyPr/>
        <a:lstStyle/>
        <a:p>
          <a:endParaRPr lang="en-US"/>
        </a:p>
      </dgm:t>
    </dgm:pt>
    <dgm:pt modelId="{86CFFCBE-431F-4CE7-A5DA-6EB0A1C3B927}" type="sibTrans" cxnId="{E8F0A7D3-35AA-4271-8412-6B67888DCEEE}">
      <dgm:prSet/>
      <dgm:spPr/>
      <dgm:t>
        <a:bodyPr/>
        <a:lstStyle/>
        <a:p>
          <a:endParaRPr lang="en-US"/>
        </a:p>
      </dgm:t>
    </dgm:pt>
    <dgm:pt modelId="{8BF6E49C-876F-48FA-A3A6-7682AE4138F4}">
      <dgm:prSet phldrT="[Text]"/>
      <dgm:spPr/>
      <dgm:t>
        <a:bodyPr/>
        <a:lstStyle/>
        <a:p>
          <a:r>
            <a:rPr lang="en-US" dirty="0" smtClean="0"/>
            <a:t>+, -, *, /, %				</a:t>
          </a:r>
          <a:endParaRPr lang="en-US" dirty="0"/>
        </a:p>
      </dgm:t>
    </dgm:pt>
    <dgm:pt modelId="{0DA49543-DBEB-4655-82EF-7958255408BD}" type="parTrans" cxnId="{707AAF70-AB03-4D0F-9D27-CDF76F609FB8}">
      <dgm:prSet/>
      <dgm:spPr/>
      <dgm:t>
        <a:bodyPr/>
        <a:lstStyle/>
        <a:p>
          <a:endParaRPr lang="en-US"/>
        </a:p>
      </dgm:t>
    </dgm:pt>
    <dgm:pt modelId="{6B18A38A-15E4-4E29-AD47-6A4304A4B40C}" type="sibTrans" cxnId="{707AAF70-AB03-4D0F-9D27-CDF76F609FB8}">
      <dgm:prSet/>
      <dgm:spPr/>
      <dgm:t>
        <a:bodyPr/>
        <a:lstStyle/>
        <a:p>
          <a:endParaRPr lang="en-US"/>
        </a:p>
      </dgm:t>
    </dgm:pt>
    <dgm:pt modelId="{37241FED-B07F-4796-897E-C0C8866326F1}">
      <dgm:prSet phldrT="[Text]"/>
      <dgm:spPr/>
      <dgm:t>
        <a:bodyPr/>
        <a:lstStyle/>
        <a:p>
          <a:r>
            <a:rPr lang="en-US" dirty="0" smtClean="0"/>
            <a:t>Comparison Operators</a:t>
          </a:r>
          <a:endParaRPr lang="en-US" dirty="0"/>
        </a:p>
      </dgm:t>
    </dgm:pt>
    <dgm:pt modelId="{45264873-585F-4ED4-A7EC-A1A138A7D98C}" type="parTrans" cxnId="{CB875B0F-0411-4E94-B601-6D48B3251D9B}">
      <dgm:prSet/>
      <dgm:spPr/>
      <dgm:t>
        <a:bodyPr/>
        <a:lstStyle/>
        <a:p>
          <a:endParaRPr lang="en-US"/>
        </a:p>
      </dgm:t>
    </dgm:pt>
    <dgm:pt modelId="{6A40AC7D-7BA2-4DAA-9E3D-1F0A7354A6B3}" type="sibTrans" cxnId="{CB875B0F-0411-4E94-B601-6D48B3251D9B}">
      <dgm:prSet/>
      <dgm:spPr/>
      <dgm:t>
        <a:bodyPr/>
        <a:lstStyle/>
        <a:p>
          <a:endParaRPr lang="en-US"/>
        </a:p>
      </dgm:t>
    </dgm:pt>
    <dgm:pt modelId="{45E44F5B-4232-4C8A-8349-4906A89A8839}">
      <dgm:prSet phldrT="[Text]"/>
      <dgm:spPr/>
      <dgm:t>
        <a:bodyPr/>
        <a:lstStyle/>
        <a:p>
          <a:r>
            <a:rPr lang="en-US" dirty="0" smtClean="0"/>
            <a:t>=,&lt;&gt;,&lt;=,&gt;=, !=, &lt;, &gt;</a:t>
          </a:r>
          <a:endParaRPr lang="en-US" dirty="0"/>
        </a:p>
      </dgm:t>
    </dgm:pt>
    <dgm:pt modelId="{6B6C5F3C-0A4D-4479-A4AC-C5A46012158A}" type="parTrans" cxnId="{A1AC790C-402B-497A-8855-7B37281D909C}">
      <dgm:prSet/>
      <dgm:spPr/>
      <dgm:t>
        <a:bodyPr/>
        <a:lstStyle/>
        <a:p>
          <a:endParaRPr lang="en-US"/>
        </a:p>
      </dgm:t>
    </dgm:pt>
    <dgm:pt modelId="{21C0ABD1-C785-4899-AFF5-14DD0917B0B8}" type="sibTrans" cxnId="{A1AC790C-402B-497A-8855-7B37281D909C}">
      <dgm:prSet/>
      <dgm:spPr/>
      <dgm:t>
        <a:bodyPr/>
        <a:lstStyle/>
        <a:p>
          <a:endParaRPr lang="en-US"/>
        </a:p>
      </dgm:t>
    </dgm:pt>
    <dgm:pt modelId="{4DBF6753-554B-47EF-838E-F870B20CCF03}">
      <dgm:prSet phldrT="[Text]"/>
      <dgm:spPr/>
      <dgm:t>
        <a:bodyPr/>
        <a:lstStyle/>
        <a:p>
          <a:r>
            <a:rPr lang="en-US" dirty="0" smtClean="0"/>
            <a:t>Logical </a:t>
          </a:r>
        </a:p>
        <a:p>
          <a:r>
            <a:rPr lang="en-US" dirty="0" smtClean="0"/>
            <a:t>Operators</a:t>
          </a:r>
          <a:endParaRPr lang="en-US" dirty="0"/>
        </a:p>
      </dgm:t>
    </dgm:pt>
    <dgm:pt modelId="{4485DE12-0B73-4528-9ECC-9EBF5940446D}" type="parTrans" cxnId="{78BC70C3-007C-4C7B-AEC0-DE6260D2C321}">
      <dgm:prSet/>
      <dgm:spPr/>
      <dgm:t>
        <a:bodyPr/>
        <a:lstStyle/>
        <a:p>
          <a:endParaRPr lang="en-US"/>
        </a:p>
      </dgm:t>
    </dgm:pt>
    <dgm:pt modelId="{9B28D9DC-03A3-4C04-8751-18B35998F119}" type="sibTrans" cxnId="{78BC70C3-007C-4C7B-AEC0-DE6260D2C321}">
      <dgm:prSet/>
      <dgm:spPr/>
      <dgm:t>
        <a:bodyPr/>
        <a:lstStyle/>
        <a:p>
          <a:endParaRPr lang="en-US"/>
        </a:p>
      </dgm:t>
    </dgm:pt>
    <dgm:pt modelId="{C10E0181-4BEF-455A-8495-0070FFEBA64A}">
      <dgm:prSet phldrT="[Text]"/>
      <dgm:spPr/>
      <dgm:t>
        <a:bodyPr/>
        <a:lstStyle/>
        <a:p>
          <a:r>
            <a:rPr lang="en-US" dirty="0" smtClean="0"/>
            <a:t>AND, BETWEEN, IN, NOT, LIKE</a:t>
          </a:r>
          <a:endParaRPr lang="en-US" dirty="0"/>
        </a:p>
      </dgm:t>
    </dgm:pt>
    <dgm:pt modelId="{E30FED91-B607-4311-BDD0-65CE5E111350}" type="parTrans" cxnId="{E4B0058D-8B80-448E-9EAC-9DBD85CC033A}">
      <dgm:prSet/>
      <dgm:spPr/>
      <dgm:t>
        <a:bodyPr/>
        <a:lstStyle/>
        <a:p>
          <a:endParaRPr lang="en-US"/>
        </a:p>
      </dgm:t>
    </dgm:pt>
    <dgm:pt modelId="{AE434EAF-13D7-44DA-BE2A-9F35D8461596}" type="sibTrans" cxnId="{E4B0058D-8B80-448E-9EAC-9DBD85CC033A}">
      <dgm:prSet/>
      <dgm:spPr/>
      <dgm:t>
        <a:bodyPr/>
        <a:lstStyle/>
        <a:p>
          <a:endParaRPr lang="en-US"/>
        </a:p>
      </dgm:t>
    </dgm:pt>
    <dgm:pt modelId="{01CA7B56-3130-4539-A9F7-1DF485E4CC4F}">
      <dgm:prSet phldrT="[Text]"/>
      <dgm:spPr/>
      <dgm:t>
        <a:bodyPr/>
        <a:lstStyle/>
        <a:p>
          <a:r>
            <a:rPr lang="en-US" dirty="0" smtClean="0"/>
            <a:t>Set</a:t>
          </a:r>
        </a:p>
        <a:p>
          <a:r>
            <a:rPr lang="en-US" dirty="0" smtClean="0"/>
            <a:t>Operators</a:t>
          </a:r>
          <a:endParaRPr lang="en-US" dirty="0"/>
        </a:p>
      </dgm:t>
    </dgm:pt>
    <dgm:pt modelId="{3C2ABC69-AC50-4A98-B942-B73E0AEB5C52}" type="parTrans" cxnId="{6EDEBE19-0FA4-40DD-A644-C08DDBA071E9}">
      <dgm:prSet/>
      <dgm:spPr/>
      <dgm:t>
        <a:bodyPr/>
        <a:lstStyle/>
        <a:p>
          <a:endParaRPr lang="en-US"/>
        </a:p>
      </dgm:t>
    </dgm:pt>
    <dgm:pt modelId="{E9A7D68D-C451-42B5-A3DC-A0C19906C424}" type="sibTrans" cxnId="{6EDEBE19-0FA4-40DD-A644-C08DDBA071E9}">
      <dgm:prSet/>
      <dgm:spPr/>
      <dgm:t>
        <a:bodyPr/>
        <a:lstStyle/>
        <a:p>
          <a:endParaRPr lang="en-US"/>
        </a:p>
      </dgm:t>
    </dgm:pt>
    <dgm:pt modelId="{05492B7E-699C-4E8F-BB51-29066D90FEF7}">
      <dgm:prSet/>
      <dgm:spPr/>
      <dgm:t>
        <a:bodyPr/>
        <a:lstStyle/>
        <a:p>
          <a:r>
            <a:rPr lang="en-US" dirty="0" smtClean="0"/>
            <a:t>UNION, INTERSECT</a:t>
          </a:r>
          <a:endParaRPr lang="en-US" dirty="0"/>
        </a:p>
      </dgm:t>
    </dgm:pt>
    <dgm:pt modelId="{8B0424C7-553D-4685-B882-B7E6E23DAE8D}" type="parTrans" cxnId="{B0A80C1A-7DF2-4100-B195-ECAA5038CB13}">
      <dgm:prSet/>
      <dgm:spPr/>
      <dgm:t>
        <a:bodyPr/>
        <a:lstStyle/>
        <a:p>
          <a:endParaRPr lang="en-US"/>
        </a:p>
      </dgm:t>
    </dgm:pt>
    <dgm:pt modelId="{20C724A3-E689-469D-98A3-DA508237273E}" type="sibTrans" cxnId="{B0A80C1A-7DF2-4100-B195-ECAA5038CB13}">
      <dgm:prSet/>
      <dgm:spPr/>
      <dgm:t>
        <a:bodyPr/>
        <a:lstStyle/>
        <a:p>
          <a:endParaRPr lang="en-US"/>
        </a:p>
      </dgm:t>
    </dgm:pt>
    <dgm:pt modelId="{3851E29C-FC54-47C0-8CA9-A1C331DAA739}" type="pres">
      <dgm:prSet presAssocID="{A4D921DD-3963-4E2E-9608-92B55C745D97}" presName="theList" presStyleCnt="0">
        <dgm:presLayoutVars>
          <dgm:dir/>
          <dgm:animLvl val="lvl"/>
          <dgm:resizeHandles val="exact"/>
        </dgm:presLayoutVars>
      </dgm:prSet>
      <dgm:spPr/>
      <dgm:t>
        <a:bodyPr/>
        <a:lstStyle/>
        <a:p>
          <a:endParaRPr lang="en-US"/>
        </a:p>
      </dgm:t>
    </dgm:pt>
    <dgm:pt modelId="{9B46F6C3-AFB4-4000-A7CC-61DA375F52D3}" type="pres">
      <dgm:prSet presAssocID="{289FBB4D-064E-4D3F-B742-3BC31803D1DA}" presName="compNode" presStyleCnt="0"/>
      <dgm:spPr/>
    </dgm:pt>
    <dgm:pt modelId="{5B48672D-8079-4787-8AA8-E99C10EA9E8A}" type="pres">
      <dgm:prSet presAssocID="{289FBB4D-064E-4D3F-B742-3BC31803D1DA}" presName="aNode" presStyleLbl="bgShp" presStyleIdx="0" presStyleCnt="4"/>
      <dgm:spPr/>
      <dgm:t>
        <a:bodyPr/>
        <a:lstStyle/>
        <a:p>
          <a:endParaRPr lang="en-US"/>
        </a:p>
      </dgm:t>
    </dgm:pt>
    <dgm:pt modelId="{41985708-0095-4E51-896A-3F8CEBD4389A}" type="pres">
      <dgm:prSet presAssocID="{289FBB4D-064E-4D3F-B742-3BC31803D1DA}" presName="textNode" presStyleLbl="bgShp" presStyleIdx="0" presStyleCnt="4"/>
      <dgm:spPr/>
      <dgm:t>
        <a:bodyPr/>
        <a:lstStyle/>
        <a:p>
          <a:endParaRPr lang="en-US"/>
        </a:p>
      </dgm:t>
    </dgm:pt>
    <dgm:pt modelId="{232AE7EE-5752-4E41-9C4F-9B9B06463AA5}" type="pres">
      <dgm:prSet presAssocID="{289FBB4D-064E-4D3F-B742-3BC31803D1DA}" presName="compChildNode" presStyleCnt="0"/>
      <dgm:spPr/>
    </dgm:pt>
    <dgm:pt modelId="{B95140CA-95F4-40EE-9547-605080102AF7}" type="pres">
      <dgm:prSet presAssocID="{289FBB4D-064E-4D3F-B742-3BC31803D1DA}" presName="theInnerList" presStyleCnt="0"/>
      <dgm:spPr/>
    </dgm:pt>
    <dgm:pt modelId="{DA8E2E0E-5C9D-4F97-A421-81CB7E3AE308}" type="pres">
      <dgm:prSet presAssocID="{8BF6E49C-876F-48FA-A3A6-7682AE4138F4}" presName="childNode" presStyleLbl="node1" presStyleIdx="0" presStyleCnt="4">
        <dgm:presLayoutVars>
          <dgm:bulletEnabled val="1"/>
        </dgm:presLayoutVars>
      </dgm:prSet>
      <dgm:spPr/>
      <dgm:t>
        <a:bodyPr/>
        <a:lstStyle/>
        <a:p>
          <a:endParaRPr lang="en-US"/>
        </a:p>
      </dgm:t>
    </dgm:pt>
    <dgm:pt modelId="{3A450151-C32F-402F-B063-B9010C462AE4}" type="pres">
      <dgm:prSet presAssocID="{289FBB4D-064E-4D3F-B742-3BC31803D1DA}" presName="aSpace" presStyleCnt="0"/>
      <dgm:spPr/>
    </dgm:pt>
    <dgm:pt modelId="{A6106567-8188-4AC6-80A1-47D0E1BEF91B}" type="pres">
      <dgm:prSet presAssocID="{37241FED-B07F-4796-897E-C0C8866326F1}" presName="compNode" presStyleCnt="0"/>
      <dgm:spPr/>
    </dgm:pt>
    <dgm:pt modelId="{6D23B5A8-0085-4269-B995-72194411C895}" type="pres">
      <dgm:prSet presAssocID="{37241FED-B07F-4796-897E-C0C8866326F1}" presName="aNode" presStyleLbl="bgShp" presStyleIdx="1" presStyleCnt="4"/>
      <dgm:spPr/>
      <dgm:t>
        <a:bodyPr/>
        <a:lstStyle/>
        <a:p>
          <a:endParaRPr lang="en-US"/>
        </a:p>
      </dgm:t>
    </dgm:pt>
    <dgm:pt modelId="{15F35514-A093-4B75-A743-5053419EE86E}" type="pres">
      <dgm:prSet presAssocID="{37241FED-B07F-4796-897E-C0C8866326F1}" presName="textNode" presStyleLbl="bgShp" presStyleIdx="1" presStyleCnt="4"/>
      <dgm:spPr/>
      <dgm:t>
        <a:bodyPr/>
        <a:lstStyle/>
        <a:p>
          <a:endParaRPr lang="en-US"/>
        </a:p>
      </dgm:t>
    </dgm:pt>
    <dgm:pt modelId="{903D1763-4D5F-47B8-B01C-71A0E692D729}" type="pres">
      <dgm:prSet presAssocID="{37241FED-B07F-4796-897E-C0C8866326F1}" presName="compChildNode" presStyleCnt="0"/>
      <dgm:spPr/>
    </dgm:pt>
    <dgm:pt modelId="{82A6C37D-7B6A-4ECD-AEA5-CB83CB2EF627}" type="pres">
      <dgm:prSet presAssocID="{37241FED-B07F-4796-897E-C0C8866326F1}" presName="theInnerList" presStyleCnt="0"/>
      <dgm:spPr/>
    </dgm:pt>
    <dgm:pt modelId="{003F7790-DC50-4A04-88B8-BEFE54A5BFA7}" type="pres">
      <dgm:prSet presAssocID="{45E44F5B-4232-4C8A-8349-4906A89A8839}" presName="childNode" presStyleLbl="node1" presStyleIdx="1" presStyleCnt="4">
        <dgm:presLayoutVars>
          <dgm:bulletEnabled val="1"/>
        </dgm:presLayoutVars>
      </dgm:prSet>
      <dgm:spPr/>
      <dgm:t>
        <a:bodyPr/>
        <a:lstStyle/>
        <a:p>
          <a:endParaRPr lang="en-US"/>
        </a:p>
      </dgm:t>
    </dgm:pt>
    <dgm:pt modelId="{4A638AA5-E304-48EE-B472-10D8856E7C6B}" type="pres">
      <dgm:prSet presAssocID="{37241FED-B07F-4796-897E-C0C8866326F1}" presName="aSpace" presStyleCnt="0"/>
      <dgm:spPr/>
    </dgm:pt>
    <dgm:pt modelId="{117E5468-F7F8-4DCD-9E43-FDC8BF05800E}" type="pres">
      <dgm:prSet presAssocID="{4DBF6753-554B-47EF-838E-F870B20CCF03}" presName="compNode" presStyleCnt="0"/>
      <dgm:spPr/>
    </dgm:pt>
    <dgm:pt modelId="{E1F5E34E-1F79-4BAD-A47F-F9B5D4249079}" type="pres">
      <dgm:prSet presAssocID="{4DBF6753-554B-47EF-838E-F870B20CCF03}" presName="aNode" presStyleLbl="bgShp" presStyleIdx="2" presStyleCnt="4"/>
      <dgm:spPr/>
      <dgm:t>
        <a:bodyPr/>
        <a:lstStyle/>
        <a:p>
          <a:endParaRPr lang="en-US"/>
        </a:p>
      </dgm:t>
    </dgm:pt>
    <dgm:pt modelId="{F3BE02FE-44C0-450B-BA67-CCC83F319ED6}" type="pres">
      <dgm:prSet presAssocID="{4DBF6753-554B-47EF-838E-F870B20CCF03}" presName="textNode" presStyleLbl="bgShp" presStyleIdx="2" presStyleCnt="4"/>
      <dgm:spPr/>
      <dgm:t>
        <a:bodyPr/>
        <a:lstStyle/>
        <a:p>
          <a:endParaRPr lang="en-US"/>
        </a:p>
      </dgm:t>
    </dgm:pt>
    <dgm:pt modelId="{57F800F7-6D0D-4198-91EA-21E6CF4D5B2F}" type="pres">
      <dgm:prSet presAssocID="{4DBF6753-554B-47EF-838E-F870B20CCF03}" presName="compChildNode" presStyleCnt="0"/>
      <dgm:spPr/>
    </dgm:pt>
    <dgm:pt modelId="{34B9199D-510F-415B-B7E4-329EAAE70D9F}" type="pres">
      <dgm:prSet presAssocID="{4DBF6753-554B-47EF-838E-F870B20CCF03}" presName="theInnerList" presStyleCnt="0"/>
      <dgm:spPr/>
    </dgm:pt>
    <dgm:pt modelId="{83198B08-E406-4FD2-9BD5-F485F44A72B0}" type="pres">
      <dgm:prSet presAssocID="{C10E0181-4BEF-455A-8495-0070FFEBA64A}" presName="childNode" presStyleLbl="node1" presStyleIdx="2" presStyleCnt="4">
        <dgm:presLayoutVars>
          <dgm:bulletEnabled val="1"/>
        </dgm:presLayoutVars>
      </dgm:prSet>
      <dgm:spPr/>
      <dgm:t>
        <a:bodyPr/>
        <a:lstStyle/>
        <a:p>
          <a:endParaRPr lang="en-US"/>
        </a:p>
      </dgm:t>
    </dgm:pt>
    <dgm:pt modelId="{60F671E0-4842-49E3-AC76-CD5A5AF47065}" type="pres">
      <dgm:prSet presAssocID="{4DBF6753-554B-47EF-838E-F870B20CCF03}" presName="aSpace" presStyleCnt="0"/>
      <dgm:spPr/>
    </dgm:pt>
    <dgm:pt modelId="{732A9A10-A3D4-4D0D-9F91-FA210BC7749D}" type="pres">
      <dgm:prSet presAssocID="{01CA7B56-3130-4539-A9F7-1DF485E4CC4F}" presName="compNode" presStyleCnt="0"/>
      <dgm:spPr/>
    </dgm:pt>
    <dgm:pt modelId="{52DF8D80-F625-4671-8152-405830B4670E}" type="pres">
      <dgm:prSet presAssocID="{01CA7B56-3130-4539-A9F7-1DF485E4CC4F}" presName="aNode" presStyleLbl="bgShp" presStyleIdx="3" presStyleCnt="4"/>
      <dgm:spPr/>
      <dgm:t>
        <a:bodyPr/>
        <a:lstStyle/>
        <a:p>
          <a:endParaRPr lang="en-US"/>
        </a:p>
      </dgm:t>
    </dgm:pt>
    <dgm:pt modelId="{C15E4C92-B1B6-438B-9442-8B8A108C122F}" type="pres">
      <dgm:prSet presAssocID="{01CA7B56-3130-4539-A9F7-1DF485E4CC4F}" presName="textNode" presStyleLbl="bgShp" presStyleIdx="3" presStyleCnt="4"/>
      <dgm:spPr/>
      <dgm:t>
        <a:bodyPr/>
        <a:lstStyle/>
        <a:p>
          <a:endParaRPr lang="en-US"/>
        </a:p>
      </dgm:t>
    </dgm:pt>
    <dgm:pt modelId="{7D8AC2C1-7ADA-4E70-B23C-D6FED0E106D6}" type="pres">
      <dgm:prSet presAssocID="{01CA7B56-3130-4539-A9F7-1DF485E4CC4F}" presName="compChildNode" presStyleCnt="0"/>
      <dgm:spPr/>
    </dgm:pt>
    <dgm:pt modelId="{7A5C333F-5CD2-4289-ADC9-E8F9A3D0F703}" type="pres">
      <dgm:prSet presAssocID="{01CA7B56-3130-4539-A9F7-1DF485E4CC4F}" presName="theInnerList" presStyleCnt="0"/>
      <dgm:spPr/>
    </dgm:pt>
    <dgm:pt modelId="{C2B211C5-DD1D-42A8-B973-55958E5E3DA7}" type="pres">
      <dgm:prSet presAssocID="{05492B7E-699C-4E8F-BB51-29066D90FEF7}" presName="childNode" presStyleLbl="node1" presStyleIdx="3" presStyleCnt="4">
        <dgm:presLayoutVars>
          <dgm:bulletEnabled val="1"/>
        </dgm:presLayoutVars>
      </dgm:prSet>
      <dgm:spPr/>
      <dgm:t>
        <a:bodyPr/>
        <a:lstStyle/>
        <a:p>
          <a:endParaRPr lang="en-US"/>
        </a:p>
      </dgm:t>
    </dgm:pt>
  </dgm:ptLst>
  <dgm:cxnLst>
    <dgm:cxn modelId="{87D1159A-A085-49B4-9FE7-64731C96CECA}" type="presOf" srcId="{05492B7E-699C-4E8F-BB51-29066D90FEF7}" destId="{C2B211C5-DD1D-42A8-B973-55958E5E3DA7}" srcOrd="0" destOrd="0" presId="urn:microsoft.com/office/officeart/2005/8/layout/lProcess2"/>
    <dgm:cxn modelId="{FFBB4593-6593-417F-B831-DCFD1E3F7FE2}" type="presOf" srcId="{8BF6E49C-876F-48FA-A3A6-7682AE4138F4}" destId="{DA8E2E0E-5C9D-4F97-A421-81CB7E3AE308}" srcOrd="0" destOrd="0" presId="urn:microsoft.com/office/officeart/2005/8/layout/lProcess2"/>
    <dgm:cxn modelId="{B260F8F3-31D4-4C2C-9FC6-5D0B307AF207}" type="presOf" srcId="{37241FED-B07F-4796-897E-C0C8866326F1}" destId="{15F35514-A093-4B75-A743-5053419EE86E}" srcOrd="1" destOrd="0" presId="urn:microsoft.com/office/officeart/2005/8/layout/lProcess2"/>
    <dgm:cxn modelId="{EC0CB31D-545A-4DA2-8763-74DD828B5E04}" type="presOf" srcId="{37241FED-B07F-4796-897E-C0C8866326F1}" destId="{6D23B5A8-0085-4269-B995-72194411C895}" srcOrd="0" destOrd="0" presId="urn:microsoft.com/office/officeart/2005/8/layout/lProcess2"/>
    <dgm:cxn modelId="{1BB09212-0884-4821-8A00-54D3D31A2C9B}" type="presOf" srcId="{C10E0181-4BEF-455A-8495-0070FFEBA64A}" destId="{83198B08-E406-4FD2-9BD5-F485F44A72B0}" srcOrd="0" destOrd="0" presId="urn:microsoft.com/office/officeart/2005/8/layout/lProcess2"/>
    <dgm:cxn modelId="{835EE5B2-D50A-449C-AB72-AF3A31032E8E}" type="presOf" srcId="{01CA7B56-3130-4539-A9F7-1DF485E4CC4F}" destId="{C15E4C92-B1B6-438B-9442-8B8A108C122F}" srcOrd="1" destOrd="0" presId="urn:microsoft.com/office/officeart/2005/8/layout/lProcess2"/>
    <dgm:cxn modelId="{707AAF70-AB03-4D0F-9D27-CDF76F609FB8}" srcId="{289FBB4D-064E-4D3F-B742-3BC31803D1DA}" destId="{8BF6E49C-876F-48FA-A3A6-7682AE4138F4}" srcOrd="0" destOrd="0" parTransId="{0DA49543-DBEB-4655-82EF-7958255408BD}" sibTransId="{6B18A38A-15E4-4E29-AD47-6A4304A4B40C}"/>
    <dgm:cxn modelId="{A1AC790C-402B-497A-8855-7B37281D909C}" srcId="{37241FED-B07F-4796-897E-C0C8866326F1}" destId="{45E44F5B-4232-4C8A-8349-4906A89A8839}" srcOrd="0" destOrd="0" parTransId="{6B6C5F3C-0A4D-4479-A4AC-C5A46012158A}" sibTransId="{21C0ABD1-C785-4899-AFF5-14DD0917B0B8}"/>
    <dgm:cxn modelId="{3C473D66-35E4-4E47-BCB9-FA6704E44A68}" type="presOf" srcId="{289FBB4D-064E-4D3F-B742-3BC31803D1DA}" destId="{5B48672D-8079-4787-8AA8-E99C10EA9E8A}" srcOrd="0" destOrd="0" presId="urn:microsoft.com/office/officeart/2005/8/layout/lProcess2"/>
    <dgm:cxn modelId="{CEFD8D07-5FB9-4288-9478-C9013A0B3AFC}" type="presOf" srcId="{45E44F5B-4232-4C8A-8349-4906A89A8839}" destId="{003F7790-DC50-4A04-88B8-BEFE54A5BFA7}" srcOrd="0" destOrd="0" presId="urn:microsoft.com/office/officeart/2005/8/layout/lProcess2"/>
    <dgm:cxn modelId="{B0A80C1A-7DF2-4100-B195-ECAA5038CB13}" srcId="{01CA7B56-3130-4539-A9F7-1DF485E4CC4F}" destId="{05492B7E-699C-4E8F-BB51-29066D90FEF7}" srcOrd="0" destOrd="0" parTransId="{8B0424C7-553D-4685-B882-B7E6E23DAE8D}" sibTransId="{20C724A3-E689-469D-98A3-DA508237273E}"/>
    <dgm:cxn modelId="{78BC70C3-007C-4C7B-AEC0-DE6260D2C321}" srcId="{A4D921DD-3963-4E2E-9608-92B55C745D97}" destId="{4DBF6753-554B-47EF-838E-F870B20CCF03}" srcOrd="2" destOrd="0" parTransId="{4485DE12-0B73-4528-9ECC-9EBF5940446D}" sibTransId="{9B28D9DC-03A3-4C04-8751-18B35998F119}"/>
    <dgm:cxn modelId="{6593EDA9-48CC-4D8D-BEB4-3C457A9DE33E}" type="presOf" srcId="{01CA7B56-3130-4539-A9F7-1DF485E4CC4F}" destId="{52DF8D80-F625-4671-8152-405830B4670E}" srcOrd="0" destOrd="0" presId="urn:microsoft.com/office/officeart/2005/8/layout/lProcess2"/>
    <dgm:cxn modelId="{6EDEBE19-0FA4-40DD-A644-C08DDBA071E9}" srcId="{A4D921DD-3963-4E2E-9608-92B55C745D97}" destId="{01CA7B56-3130-4539-A9F7-1DF485E4CC4F}" srcOrd="3" destOrd="0" parTransId="{3C2ABC69-AC50-4A98-B942-B73E0AEB5C52}" sibTransId="{E9A7D68D-C451-42B5-A3DC-A0C19906C424}"/>
    <dgm:cxn modelId="{E4B0058D-8B80-448E-9EAC-9DBD85CC033A}" srcId="{4DBF6753-554B-47EF-838E-F870B20CCF03}" destId="{C10E0181-4BEF-455A-8495-0070FFEBA64A}" srcOrd="0" destOrd="0" parTransId="{E30FED91-B607-4311-BDD0-65CE5E111350}" sibTransId="{AE434EAF-13D7-44DA-BE2A-9F35D8461596}"/>
    <dgm:cxn modelId="{697CB975-E96F-4D07-AC42-C166A1BE3D71}" type="presOf" srcId="{A4D921DD-3963-4E2E-9608-92B55C745D97}" destId="{3851E29C-FC54-47C0-8CA9-A1C331DAA739}" srcOrd="0" destOrd="0" presId="urn:microsoft.com/office/officeart/2005/8/layout/lProcess2"/>
    <dgm:cxn modelId="{E8F0A7D3-35AA-4271-8412-6B67888DCEEE}" srcId="{A4D921DD-3963-4E2E-9608-92B55C745D97}" destId="{289FBB4D-064E-4D3F-B742-3BC31803D1DA}" srcOrd="0" destOrd="0" parTransId="{BB2A5A94-33CE-4785-BEF8-CC3167927ABB}" sibTransId="{86CFFCBE-431F-4CE7-A5DA-6EB0A1C3B927}"/>
    <dgm:cxn modelId="{20248FFB-F99A-426B-A96B-5F2B6754A2BC}" type="presOf" srcId="{4DBF6753-554B-47EF-838E-F870B20CCF03}" destId="{F3BE02FE-44C0-450B-BA67-CCC83F319ED6}" srcOrd="1" destOrd="0" presId="urn:microsoft.com/office/officeart/2005/8/layout/lProcess2"/>
    <dgm:cxn modelId="{CB875B0F-0411-4E94-B601-6D48B3251D9B}" srcId="{A4D921DD-3963-4E2E-9608-92B55C745D97}" destId="{37241FED-B07F-4796-897E-C0C8866326F1}" srcOrd="1" destOrd="0" parTransId="{45264873-585F-4ED4-A7EC-A1A138A7D98C}" sibTransId="{6A40AC7D-7BA2-4DAA-9E3D-1F0A7354A6B3}"/>
    <dgm:cxn modelId="{1A8A6ABD-4C08-411B-B773-960796544A19}" type="presOf" srcId="{289FBB4D-064E-4D3F-B742-3BC31803D1DA}" destId="{41985708-0095-4E51-896A-3F8CEBD4389A}" srcOrd="1" destOrd="0" presId="urn:microsoft.com/office/officeart/2005/8/layout/lProcess2"/>
    <dgm:cxn modelId="{9A6A243D-050A-44FA-87D4-AD3624F9D377}" type="presOf" srcId="{4DBF6753-554B-47EF-838E-F870B20CCF03}" destId="{E1F5E34E-1F79-4BAD-A47F-F9B5D4249079}" srcOrd="0" destOrd="0" presId="urn:microsoft.com/office/officeart/2005/8/layout/lProcess2"/>
    <dgm:cxn modelId="{67841959-A3A6-4796-9FA6-EBD850354B92}" type="presParOf" srcId="{3851E29C-FC54-47C0-8CA9-A1C331DAA739}" destId="{9B46F6C3-AFB4-4000-A7CC-61DA375F52D3}" srcOrd="0" destOrd="0" presId="urn:microsoft.com/office/officeart/2005/8/layout/lProcess2"/>
    <dgm:cxn modelId="{53416E0B-CCB4-4267-A486-59BA4ABB57AC}" type="presParOf" srcId="{9B46F6C3-AFB4-4000-A7CC-61DA375F52D3}" destId="{5B48672D-8079-4787-8AA8-E99C10EA9E8A}" srcOrd="0" destOrd="0" presId="urn:microsoft.com/office/officeart/2005/8/layout/lProcess2"/>
    <dgm:cxn modelId="{B4C09348-FB91-43E9-A098-02DBC1B7CCB9}" type="presParOf" srcId="{9B46F6C3-AFB4-4000-A7CC-61DA375F52D3}" destId="{41985708-0095-4E51-896A-3F8CEBD4389A}" srcOrd="1" destOrd="0" presId="urn:microsoft.com/office/officeart/2005/8/layout/lProcess2"/>
    <dgm:cxn modelId="{3DE5873F-9051-47D4-B900-5C197D6A27C8}" type="presParOf" srcId="{9B46F6C3-AFB4-4000-A7CC-61DA375F52D3}" destId="{232AE7EE-5752-4E41-9C4F-9B9B06463AA5}" srcOrd="2" destOrd="0" presId="urn:microsoft.com/office/officeart/2005/8/layout/lProcess2"/>
    <dgm:cxn modelId="{B74F03F6-508E-4E3B-B2D0-DBCE48787477}" type="presParOf" srcId="{232AE7EE-5752-4E41-9C4F-9B9B06463AA5}" destId="{B95140CA-95F4-40EE-9547-605080102AF7}" srcOrd="0" destOrd="0" presId="urn:microsoft.com/office/officeart/2005/8/layout/lProcess2"/>
    <dgm:cxn modelId="{307934B8-BD40-4425-8171-13DC599A86D9}" type="presParOf" srcId="{B95140CA-95F4-40EE-9547-605080102AF7}" destId="{DA8E2E0E-5C9D-4F97-A421-81CB7E3AE308}" srcOrd="0" destOrd="0" presId="urn:microsoft.com/office/officeart/2005/8/layout/lProcess2"/>
    <dgm:cxn modelId="{1F81DF34-304B-4399-9FFC-E9BC9EEA24E3}" type="presParOf" srcId="{3851E29C-FC54-47C0-8CA9-A1C331DAA739}" destId="{3A450151-C32F-402F-B063-B9010C462AE4}" srcOrd="1" destOrd="0" presId="urn:microsoft.com/office/officeart/2005/8/layout/lProcess2"/>
    <dgm:cxn modelId="{CB299369-2120-43BF-B799-37A47DA5F62D}" type="presParOf" srcId="{3851E29C-FC54-47C0-8CA9-A1C331DAA739}" destId="{A6106567-8188-4AC6-80A1-47D0E1BEF91B}" srcOrd="2" destOrd="0" presId="urn:microsoft.com/office/officeart/2005/8/layout/lProcess2"/>
    <dgm:cxn modelId="{240471BB-A86F-4BB2-BCCD-C80902B976CD}" type="presParOf" srcId="{A6106567-8188-4AC6-80A1-47D0E1BEF91B}" destId="{6D23B5A8-0085-4269-B995-72194411C895}" srcOrd="0" destOrd="0" presId="urn:microsoft.com/office/officeart/2005/8/layout/lProcess2"/>
    <dgm:cxn modelId="{5851FBD2-5727-4944-B08E-B9E60980427F}" type="presParOf" srcId="{A6106567-8188-4AC6-80A1-47D0E1BEF91B}" destId="{15F35514-A093-4B75-A743-5053419EE86E}" srcOrd="1" destOrd="0" presId="urn:microsoft.com/office/officeart/2005/8/layout/lProcess2"/>
    <dgm:cxn modelId="{7AA28A62-0BCC-46BD-81DA-BACABB023957}" type="presParOf" srcId="{A6106567-8188-4AC6-80A1-47D0E1BEF91B}" destId="{903D1763-4D5F-47B8-B01C-71A0E692D729}" srcOrd="2" destOrd="0" presId="urn:microsoft.com/office/officeart/2005/8/layout/lProcess2"/>
    <dgm:cxn modelId="{F186E9E9-0629-41E5-B7B8-A23F5E90B82B}" type="presParOf" srcId="{903D1763-4D5F-47B8-B01C-71A0E692D729}" destId="{82A6C37D-7B6A-4ECD-AEA5-CB83CB2EF627}" srcOrd="0" destOrd="0" presId="urn:microsoft.com/office/officeart/2005/8/layout/lProcess2"/>
    <dgm:cxn modelId="{53131111-365F-46A7-8DAD-0071B932109C}" type="presParOf" srcId="{82A6C37D-7B6A-4ECD-AEA5-CB83CB2EF627}" destId="{003F7790-DC50-4A04-88B8-BEFE54A5BFA7}" srcOrd="0" destOrd="0" presId="urn:microsoft.com/office/officeart/2005/8/layout/lProcess2"/>
    <dgm:cxn modelId="{33242815-655F-42AE-8B40-CDA090943C0E}" type="presParOf" srcId="{3851E29C-FC54-47C0-8CA9-A1C331DAA739}" destId="{4A638AA5-E304-48EE-B472-10D8856E7C6B}" srcOrd="3" destOrd="0" presId="urn:microsoft.com/office/officeart/2005/8/layout/lProcess2"/>
    <dgm:cxn modelId="{5D8FA313-B52B-4C5E-ADD9-C46E41AA2364}" type="presParOf" srcId="{3851E29C-FC54-47C0-8CA9-A1C331DAA739}" destId="{117E5468-F7F8-4DCD-9E43-FDC8BF05800E}" srcOrd="4" destOrd="0" presId="urn:microsoft.com/office/officeart/2005/8/layout/lProcess2"/>
    <dgm:cxn modelId="{AAEE46CD-C1BC-4700-8145-92C0A711D3C8}" type="presParOf" srcId="{117E5468-F7F8-4DCD-9E43-FDC8BF05800E}" destId="{E1F5E34E-1F79-4BAD-A47F-F9B5D4249079}" srcOrd="0" destOrd="0" presId="urn:microsoft.com/office/officeart/2005/8/layout/lProcess2"/>
    <dgm:cxn modelId="{FD27CD6A-7828-4C88-AFC8-3C0053B106A7}" type="presParOf" srcId="{117E5468-F7F8-4DCD-9E43-FDC8BF05800E}" destId="{F3BE02FE-44C0-450B-BA67-CCC83F319ED6}" srcOrd="1" destOrd="0" presId="urn:microsoft.com/office/officeart/2005/8/layout/lProcess2"/>
    <dgm:cxn modelId="{AE61C6A9-7E39-4842-8E03-5C592C813423}" type="presParOf" srcId="{117E5468-F7F8-4DCD-9E43-FDC8BF05800E}" destId="{57F800F7-6D0D-4198-91EA-21E6CF4D5B2F}" srcOrd="2" destOrd="0" presId="urn:microsoft.com/office/officeart/2005/8/layout/lProcess2"/>
    <dgm:cxn modelId="{65DE06E4-F8FB-44D6-AFA4-48A2514B26F5}" type="presParOf" srcId="{57F800F7-6D0D-4198-91EA-21E6CF4D5B2F}" destId="{34B9199D-510F-415B-B7E4-329EAAE70D9F}" srcOrd="0" destOrd="0" presId="urn:microsoft.com/office/officeart/2005/8/layout/lProcess2"/>
    <dgm:cxn modelId="{2B0E37A5-8C15-46A2-BE1A-8AB5E2295FF7}" type="presParOf" srcId="{34B9199D-510F-415B-B7E4-329EAAE70D9F}" destId="{83198B08-E406-4FD2-9BD5-F485F44A72B0}" srcOrd="0" destOrd="0" presId="urn:microsoft.com/office/officeart/2005/8/layout/lProcess2"/>
    <dgm:cxn modelId="{E8200271-20BF-4528-BD42-68F53BAB2132}" type="presParOf" srcId="{3851E29C-FC54-47C0-8CA9-A1C331DAA739}" destId="{60F671E0-4842-49E3-AC76-CD5A5AF47065}" srcOrd="5" destOrd="0" presId="urn:microsoft.com/office/officeart/2005/8/layout/lProcess2"/>
    <dgm:cxn modelId="{BBE1BA2D-ABF6-476D-B6A7-BA8AC1D75195}" type="presParOf" srcId="{3851E29C-FC54-47C0-8CA9-A1C331DAA739}" destId="{732A9A10-A3D4-4D0D-9F91-FA210BC7749D}" srcOrd="6" destOrd="0" presId="urn:microsoft.com/office/officeart/2005/8/layout/lProcess2"/>
    <dgm:cxn modelId="{3A8ABA23-29B7-4DBD-B043-BE42FD6A5387}" type="presParOf" srcId="{732A9A10-A3D4-4D0D-9F91-FA210BC7749D}" destId="{52DF8D80-F625-4671-8152-405830B4670E}" srcOrd="0" destOrd="0" presId="urn:microsoft.com/office/officeart/2005/8/layout/lProcess2"/>
    <dgm:cxn modelId="{6048952E-7B08-4E9E-84AF-CDDAD9C248B1}" type="presParOf" srcId="{732A9A10-A3D4-4D0D-9F91-FA210BC7749D}" destId="{C15E4C92-B1B6-438B-9442-8B8A108C122F}" srcOrd="1" destOrd="0" presId="urn:microsoft.com/office/officeart/2005/8/layout/lProcess2"/>
    <dgm:cxn modelId="{A707E572-A191-4761-92B5-D88D16B93B99}" type="presParOf" srcId="{732A9A10-A3D4-4D0D-9F91-FA210BC7749D}" destId="{7D8AC2C1-7ADA-4E70-B23C-D6FED0E106D6}" srcOrd="2" destOrd="0" presId="urn:microsoft.com/office/officeart/2005/8/layout/lProcess2"/>
    <dgm:cxn modelId="{2CFFC40B-669A-41D5-BB9A-A899AB508EAB}" type="presParOf" srcId="{7D8AC2C1-7ADA-4E70-B23C-D6FED0E106D6}" destId="{7A5C333F-5CD2-4289-ADC9-E8F9A3D0F703}" srcOrd="0" destOrd="0" presId="urn:microsoft.com/office/officeart/2005/8/layout/lProcess2"/>
    <dgm:cxn modelId="{6C09382C-92B1-459A-822F-90041D4D9041}" type="presParOf" srcId="{7A5C333F-5CD2-4289-ADC9-E8F9A3D0F703}" destId="{C2B211C5-DD1D-42A8-B973-55958E5E3DA7}"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48672D-8079-4787-8AA8-E99C10EA9E8A}">
      <dsp:nvSpPr>
        <dsp:cNvPr id="0" name=""/>
        <dsp:cNvSpPr/>
      </dsp:nvSpPr>
      <dsp:spPr>
        <a:xfrm>
          <a:off x="1901" y="0"/>
          <a:ext cx="1865774" cy="326350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Arithmetic Operators</a:t>
          </a:r>
          <a:endParaRPr lang="en-US" sz="2300" kern="1200" dirty="0"/>
        </a:p>
      </dsp:txBody>
      <dsp:txXfrm>
        <a:off x="1901" y="0"/>
        <a:ext cx="1865774" cy="979051"/>
      </dsp:txXfrm>
    </dsp:sp>
    <dsp:sp modelId="{DA8E2E0E-5C9D-4F97-A421-81CB7E3AE308}">
      <dsp:nvSpPr>
        <dsp:cNvPr id="0" name=""/>
        <dsp:cNvSpPr/>
      </dsp:nvSpPr>
      <dsp:spPr>
        <a:xfrm>
          <a:off x="188478" y="979051"/>
          <a:ext cx="1492619" cy="2121277"/>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41910" rIns="55880" bIns="41910" numCol="1" spcCol="1270" anchor="ctr" anchorCtr="0">
          <a:noAutofit/>
        </a:bodyPr>
        <a:lstStyle/>
        <a:p>
          <a:pPr lvl="0" algn="ctr" defTabSz="977900">
            <a:lnSpc>
              <a:spcPct val="90000"/>
            </a:lnSpc>
            <a:spcBef>
              <a:spcPct val="0"/>
            </a:spcBef>
            <a:spcAft>
              <a:spcPct val="35000"/>
            </a:spcAft>
          </a:pPr>
          <a:r>
            <a:rPr lang="en-US" sz="2200" kern="1200" dirty="0" smtClean="0"/>
            <a:t>+, -, *, /, %				</a:t>
          </a:r>
          <a:endParaRPr lang="en-US" sz="2200" kern="1200" dirty="0"/>
        </a:p>
      </dsp:txBody>
      <dsp:txXfrm>
        <a:off x="232195" y="1022768"/>
        <a:ext cx="1405185" cy="2033843"/>
      </dsp:txXfrm>
    </dsp:sp>
    <dsp:sp modelId="{6D23B5A8-0085-4269-B995-72194411C895}">
      <dsp:nvSpPr>
        <dsp:cNvPr id="0" name=""/>
        <dsp:cNvSpPr/>
      </dsp:nvSpPr>
      <dsp:spPr>
        <a:xfrm>
          <a:off x="2007608" y="0"/>
          <a:ext cx="1865774" cy="326350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Comparison Operators</a:t>
          </a:r>
          <a:endParaRPr lang="en-US" sz="2300" kern="1200" dirty="0"/>
        </a:p>
      </dsp:txBody>
      <dsp:txXfrm>
        <a:off x="2007608" y="0"/>
        <a:ext cx="1865774" cy="979051"/>
      </dsp:txXfrm>
    </dsp:sp>
    <dsp:sp modelId="{003F7790-DC50-4A04-88B8-BEFE54A5BFA7}">
      <dsp:nvSpPr>
        <dsp:cNvPr id="0" name=""/>
        <dsp:cNvSpPr/>
      </dsp:nvSpPr>
      <dsp:spPr>
        <a:xfrm>
          <a:off x="2194186" y="979051"/>
          <a:ext cx="1492619" cy="212127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41910" rIns="55880" bIns="41910" numCol="1" spcCol="1270" anchor="ctr" anchorCtr="0">
          <a:noAutofit/>
        </a:bodyPr>
        <a:lstStyle/>
        <a:p>
          <a:pPr lvl="0" algn="ctr" defTabSz="977900">
            <a:lnSpc>
              <a:spcPct val="90000"/>
            </a:lnSpc>
            <a:spcBef>
              <a:spcPct val="0"/>
            </a:spcBef>
            <a:spcAft>
              <a:spcPct val="35000"/>
            </a:spcAft>
          </a:pPr>
          <a:r>
            <a:rPr lang="en-US" sz="2200" kern="1200" dirty="0" smtClean="0"/>
            <a:t>=,&lt;&gt;,&lt;=,&gt;=, !=, &lt;, &gt;</a:t>
          </a:r>
          <a:endParaRPr lang="en-US" sz="2200" kern="1200" dirty="0"/>
        </a:p>
      </dsp:txBody>
      <dsp:txXfrm>
        <a:off x="2237903" y="1022768"/>
        <a:ext cx="1405185" cy="2033843"/>
      </dsp:txXfrm>
    </dsp:sp>
    <dsp:sp modelId="{E1F5E34E-1F79-4BAD-A47F-F9B5D4249079}">
      <dsp:nvSpPr>
        <dsp:cNvPr id="0" name=""/>
        <dsp:cNvSpPr/>
      </dsp:nvSpPr>
      <dsp:spPr>
        <a:xfrm>
          <a:off x="4013316" y="0"/>
          <a:ext cx="1865774" cy="326350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Logical </a:t>
          </a:r>
        </a:p>
        <a:p>
          <a:pPr lvl="0" algn="ctr" defTabSz="1022350">
            <a:lnSpc>
              <a:spcPct val="90000"/>
            </a:lnSpc>
            <a:spcBef>
              <a:spcPct val="0"/>
            </a:spcBef>
            <a:spcAft>
              <a:spcPct val="35000"/>
            </a:spcAft>
          </a:pPr>
          <a:r>
            <a:rPr lang="en-US" sz="2300" kern="1200" dirty="0" smtClean="0"/>
            <a:t>Operators</a:t>
          </a:r>
          <a:endParaRPr lang="en-US" sz="2300" kern="1200" dirty="0"/>
        </a:p>
      </dsp:txBody>
      <dsp:txXfrm>
        <a:off x="4013316" y="0"/>
        <a:ext cx="1865774" cy="979051"/>
      </dsp:txXfrm>
    </dsp:sp>
    <dsp:sp modelId="{83198B08-E406-4FD2-9BD5-F485F44A72B0}">
      <dsp:nvSpPr>
        <dsp:cNvPr id="0" name=""/>
        <dsp:cNvSpPr/>
      </dsp:nvSpPr>
      <dsp:spPr>
        <a:xfrm>
          <a:off x="4199893" y="979051"/>
          <a:ext cx="1492619" cy="2121277"/>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41910" rIns="55880" bIns="41910" numCol="1" spcCol="1270" anchor="ctr" anchorCtr="0">
          <a:noAutofit/>
        </a:bodyPr>
        <a:lstStyle/>
        <a:p>
          <a:pPr lvl="0" algn="ctr" defTabSz="977900">
            <a:lnSpc>
              <a:spcPct val="90000"/>
            </a:lnSpc>
            <a:spcBef>
              <a:spcPct val="0"/>
            </a:spcBef>
            <a:spcAft>
              <a:spcPct val="35000"/>
            </a:spcAft>
          </a:pPr>
          <a:r>
            <a:rPr lang="en-US" sz="2200" kern="1200" dirty="0" smtClean="0"/>
            <a:t>AND, BETWEEN, IN, NOT, LIKE</a:t>
          </a:r>
          <a:endParaRPr lang="en-US" sz="2200" kern="1200" dirty="0"/>
        </a:p>
      </dsp:txBody>
      <dsp:txXfrm>
        <a:off x="4243610" y="1022768"/>
        <a:ext cx="1405185" cy="2033843"/>
      </dsp:txXfrm>
    </dsp:sp>
    <dsp:sp modelId="{52DF8D80-F625-4671-8152-405830B4670E}">
      <dsp:nvSpPr>
        <dsp:cNvPr id="0" name=""/>
        <dsp:cNvSpPr/>
      </dsp:nvSpPr>
      <dsp:spPr>
        <a:xfrm>
          <a:off x="6019024" y="0"/>
          <a:ext cx="1865774" cy="326350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smtClean="0"/>
            <a:t>Set</a:t>
          </a:r>
        </a:p>
        <a:p>
          <a:pPr lvl="0" algn="ctr" defTabSz="1022350">
            <a:lnSpc>
              <a:spcPct val="90000"/>
            </a:lnSpc>
            <a:spcBef>
              <a:spcPct val="0"/>
            </a:spcBef>
            <a:spcAft>
              <a:spcPct val="35000"/>
            </a:spcAft>
          </a:pPr>
          <a:r>
            <a:rPr lang="en-US" sz="2300" kern="1200" dirty="0" smtClean="0"/>
            <a:t>Operators</a:t>
          </a:r>
          <a:endParaRPr lang="en-US" sz="2300" kern="1200" dirty="0"/>
        </a:p>
      </dsp:txBody>
      <dsp:txXfrm>
        <a:off x="6019024" y="0"/>
        <a:ext cx="1865774" cy="979051"/>
      </dsp:txXfrm>
    </dsp:sp>
    <dsp:sp modelId="{C2B211C5-DD1D-42A8-B973-55958E5E3DA7}">
      <dsp:nvSpPr>
        <dsp:cNvPr id="0" name=""/>
        <dsp:cNvSpPr/>
      </dsp:nvSpPr>
      <dsp:spPr>
        <a:xfrm>
          <a:off x="6205601" y="979051"/>
          <a:ext cx="1492619" cy="212127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41910" rIns="55880" bIns="41910" numCol="1" spcCol="1270" anchor="ctr" anchorCtr="0">
          <a:noAutofit/>
        </a:bodyPr>
        <a:lstStyle/>
        <a:p>
          <a:pPr lvl="0" algn="ctr" defTabSz="977900">
            <a:lnSpc>
              <a:spcPct val="90000"/>
            </a:lnSpc>
            <a:spcBef>
              <a:spcPct val="0"/>
            </a:spcBef>
            <a:spcAft>
              <a:spcPct val="35000"/>
            </a:spcAft>
          </a:pPr>
          <a:r>
            <a:rPr lang="en-US" sz="2200" kern="1200" dirty="0" smtClean="0"/>
            <a:t>UNION, INTERSECT</a:t>
          </a:r>
          <a:endParaRPr lang="en-US" sz="2200" kern="1200" dirty="0"/>
        </a:p>
      </dsp:txBody>
      <dsp:txXfrm>
        <a:off x="6249318" y="1022768"/>
        <a:ext cx="1405185" cy="2033843"/>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CA1C-82D6-4987-8272-09D44CFC9AAB}" type="datetimeFigureOut">
              <a:rPr lang="en-US" smtClean="0"/>
              <a:t>7/2/2016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FA548-67E9-478F-A114-2BC23F15EB1B}" type="slidenum">
              <a:rPr lang="en-US" smtClean="0"/>
              <a:t>‹#›</a:t>
            </a:fld>
            <a:endParaRPr lang="en-US"/>
          </a:p>
        </p:txBody>
      </p:sp>
    </p:spTree>
    <p:extLst>
      <p:ext uri="{BB962C8B-B14F-4D97-AF65-F5344CB8AC3E}">
        <p14:creationId xmlns:p14="http://schemas.microsoft.com/office/powerpoint/2010/main" val="449978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1"/>
          <p:cNvSpPr>
            <a:spLocks noGrp="1" noRot="1" noChangeAspect="1" noChangeArrowheads="1" noTextEdit="1"/>
          </p:cNvSpPr>
          <p:nvPr>
            <p:ph type="sldImg"/>
          </p:nvPr>
        </p:nvSpPr>
        <p:spPr>
          <a:xfrm>
            <a:off x="1143000" y="695325"/>
            <a:ext cx="4572000" cy="3429000"/>
          </a:xfrm>
          <a:solidFill>
            <a:srgbClr val="FFFFFF"/>
          </a:solidFill>
          <a:ln>
            <a:solidFill>
              <a:srgbClr val="000000"/>
            </a:solidFill>
            <a:miter lim="800000"/>
          </a:ln>
        </p:spPr>
      </p:sp>
      <p:sp>
        <p:nvSpPr>
          <p:cNvPr id="80899" name="Rectangle 2"/>
          <p:cNvSpPr>
            <a:spLocks noGrp="1" noChangeArrowheads="1"/>
          </p:cNvSpPr>
          <p:nvPr>
            <p:ph type="body" idx="1"/>
          </p:nvPr>
        </p:nvSpPr>
        <p:spPr>
          <a:xfrm>
            <a:off x="685800" y="4343400"/>
            <a:ext cx="5446713" cy="4076700"/>
          </a:xfrm>
          <a:noFill/>
          <a:ln/>
        </p:spPr>
        <p:txBody>
          <a:bodyPr wrap="none" anchor="ctr"/>
          <a:lstStyle/>
          <a:p>
            <a:endParaRPr lang="en-US" dirty="0" smtClean="0"/>
          </a:p>
        </p:txBody>
      </p:sp>
    </p:spTree>
    <p:extLst>
      <p:ext uri="{BB962C8B-B14F-4D97-AF65-F5344CB8AC3E}">
        <p14:creationId xmlns:p14="http://schemas.microsoft.com/office/powerpoint/2010/main" val="2055826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4033468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86098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794148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910305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F98010B-FC5E-4C27-B43B-137998F61C16}" type="datetimeFigureOut">
              <a:rPr lang="en-US" smtClean="0"/>
              <a:t>7/2/2016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77181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F98010B-FC5E-4C27-B43B-137998F61C16}" type="datetimeFigureOut">
              <a:rPr lang="en-US" smtClean="0"/>
              <a:t>7/2/2016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867178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98010B-FC5E-4C27-B43B-137998F61C16}" type="datetimeFigureOut">
              <a:rPr lang="en-US" smtClean="0"/>
              <a:t>7/2/2016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821403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3759587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F98010B-FC5E-4C27-B43B-137998F61C16}" type="datetimeFigureOut">
              <a:rPr lang="en-US" smtClean="0"/>
              <a:t>7/2/2016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093971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274890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F98010B-FC5E-4C27-B43B-137998F61C16}" type="datetimeFigureOut">
              <a:rPr lang="en-US" smtClean="0"/>
              <a:t>7/2/2016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954BEE-865D-433D-8F00-28C0A03EDA7A}" type="slidenum">
              <a:rPr lang="en-US" smtClean="0"/>
              <a:t>‹#›</a:t>
            </a:fld>
            <a:endParaRPr lang="en-US"/>
          </a:p>
        </p:txBody>
      </p:sp>
    </p:spTree>
    <p:extLst>
      <p:ext uri="{BB962C8B-B14F-4D97-AF65-F5344CB8AC3E}">
        <p14:creationId xmlns:p14="http://schemas.microsoft.com/office/powerpoint/2010/main" val="1640591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98010B-FC5E-4C27-B43B-137998F61C16}" type="datetimeFigureOut">
              <a:rPr lang="en-US" smtClean="0"/>
              <a:t>7/2/2016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954BEE-865D-433D-8F00-28C0A03EDA7A}" type="slidenum">
              <a:rPr lang="en-US" smtClean="0"/>
              <a:t>‹#›</a:t>
            </a:fld>
            <a:endParaRPr lang="en-US"/>
          </a:p>
        </p:txBody>
      </p:sp>
      <p:sp>
        <p:nvSpPr>
          <p:cNvPr id="7" name="Rectangle 6"/>
          <p:cNvSpPr>
            <a:spLocks noChangeArrowheads="1"/>
          </p:cNvSpPr>
          <p:nvPr userDrawn="1"/>
        </p:nvSpPr>
        <p:spPr bwMode="auto">
          <a:xfrm>
            <a:off x="0" y="1"/>
            <a:ext cx="9144000" cy="188586"/>
          </a:xfrm>
          <a:prstGeom prst="rect">
            <a:avLst/>
          </a:prstGeom>
          <a:solidFill>
            <a:srgbClr val="C00000"/>
          </a:solidFill>
          <a:ln w="9525">
            <a:noFill/>
            <a:round/>
            <a:headEnd/>
            <a:tailEnd/>
          </a:ln>
          <a:effectLst/>
        </p:spPr>
        <p:txBody>
          <a:bodyPr wrap="none" anchor="ctr"/>
          <a:lstStyle/>
          <a:p>
            <a:pPr algn="r">
              <a:defRPr/>
            </a:pPr>
            <a:r>
              <a:rPr lang="en-SG" sz="1350" dirty="0" err="1" smtClean="0">
                <a:solidFill>
                  <a:schemeClr val="bg1"/>
                </a:solidFill>
              </a:rPr>
              <a:t>iAcademy</a:t>
            </a:r>
            <a:endParaRPr lang="en-SG" sz="1350" dirty="0">
              <a:solidFill>
                <a:schemeClr val="bg1"/>
              </a:solidFill>
            </a:endParaRPr>
          </a:p>
        </p:txBody>
      </p:sp>
      <p:sp>
        <p:nvSpPr>
          <p:cNvPr id="8" name="Rectangle 6"/>
          <p:cNvSpPr>
            <a:spLocks noChangeArrowheads="1"/>
          </p:cNvSpPr>
          <p:nvPr userDrawn="1"/>
        </p:nvSpPr>
        <p:spPr bwMode="auto">
          <a:xfrm>
            <a:off x="-24" y="6654800"/>
            <a:ext cx="9144024" cy="203200"/>
          </a:xfrm>
          <a:prstGeom prst="rect">
            <a:avLst/>
          </a:prstGeom>
          <a:solidFill>
            <a:srgbClr val="C00000"/>
          </a:solidFill>
          <a:ln w="9525">
            <a:noFill/>
            <a:round/>
            <a:headEnd/>
            <a:tailEnd/>
          </a:ln>
          <a:effectLst/>
        </p:spPr>
        <p:txBody>
          <a:bodyPr wrap="none" anchor="ctr"/>
          <a:lstStyle/>
          <a:p>
            <a:pPr marL="0" marR="0" indent="0" algn="l" defTabSz="336947" rtl="0" eaLnBrk="1" fontAlgn="base" latinLnBrk="0" hangingPunct="1">
              <a:lnSpc>
                <a:spcPct val="100000"/>
              </a:lnSpc>
              <a:spcBef>
                <a:spcPct val="0"/>
              </a:spcBef>
              <a:spcAft>
                <a:spcPct val="0"/>
              </a:spcAft>
              <a:buClr>
                <a:srgbClr val="000000"/>
              </a:buClr>
              <a:buSzPct val="100000"/>
              <a:buFont typeface="Times New Roman" pitchFamily="16" charset="0"/>
              <a:buNone/>
              <a:tabLst/>
              <a:defRPr/>
            </a:pPr>
            <a:r>
              <a:rPr lang="en-SG" sz="1350" dirty="0" err="1" smtClean="0">
                <a:solidFill>
                  <a:schemeClr val="bg1"/>
                </a:solidFill>
              </a:rPr>
              <a:t>iAcademy</a:t>
            </a:r>
            <a:endParaRPr lang="en-SG" sz="1350" dirty="0" smtClean="0">
              <a:solidFill>
                <a:schemeClr val="bg1"/>
              </a:solidFill>
            </a:endParaRPr>
          </a:p>
        </p:txBody>
      </p:sp>
      <p:sp>
        <p:nvSpPr>
          <p:cNvPr id="9" name="Rectangle 7"/>
          <p:cNvSpPr>
            <a:spLocks noChangeArrowheads="1"/>
          </p:cNvSpPr>
          <p:nvPr userDrawn="1"/>
        </p:nvSpPr>
        <p:spPr bwMode="auto">
          <a:xfrm flipV="1">
            <a:off x="1" y="-3"/>
            <a:ext cx="8261252" cy="45719"/>
          </a:xfrm>
          <a:prstGeom prst="rect">
            <a:avLst/>
          </a:prstGeom>
          <a:solidFill>
            <a:srgbClr val="FFC000"/>
          </a:solidFill>
          <a:ln w="9525">
            <a:noFill/>
            <a:round/>
            <a:headEnd/>
            <a:tailEnd/>
          </a:ln>
          <a:effectLst/>
        </p:spPr>
        <p:txBody>
          <a:bodyPr wrap="none" anchor="ctr"/>
          <a:lstStyle/>
          <a:p>
            <a:pPr>
              <a:defRPr/>
            </a:pPr>
            <a:endParaRPr lang="en-SG" sz="1350" dirty="0"/>
          </a:p>
        </p:txBody>
      </p:sp>
      <p:sp>
        <p:nvSpPr>
          <p:cNvPr id="10" name="Rectangle 7"/>
          <p:cNvSpPr>
            <a:spLocks noChangeArrowheads="1"/>
          </p:cNvSpPr>
          <p:nvPr userDrawn="1"/>
        </p:nvSpPr>
        <p:spPr bwMode="auto">
          <a:xfrm flipV="1">
            <a:off x="910810" y="6786583"/>
            <a:ext cx="8233190" cy="71416"/>
          </a:xfrm>
          <a:prstGeom prst="rect">
            <a:avLst/>
          </a:prstGeom>
          <a:solidFill>
            <a:srgbClr val="FFC000"/>
          </a:solidFill>
          <a:ln w="9525">
            <a:noFill/>
            <a:round/>
            <a:headEnd/>
            <a:tailEnd/>
          </a:ln>
          <a:effectLst/>
        </p:spPr>
        <p:txBody>
          <a:bodyPr wrap="none" anchor="ctr"/>
          <a:lstStyle/>
          <a:p>
            <a:pPr>
              <a:defRPr/>
            </a:pPr>
            <a:endParaRPr lang="en-SG" sz="1350" dirty="0"/>
          </a:p>
        </p:txBody>
      </p:sp>
    </p:spTree>
    <p:extLst>
      <p:ext uri="{BB962C8B-B14F-4D97-AF65-F5344CB8AC3E}">
        <p14:creationId xmlns:p14="http://schemas.microsoft.com/office/powerpoint/2010/main" val="22386319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11480" y="982923"/>
            <a:ext cx="8366759" cy="1102519"/>
          </a:xfrm>
        </p:spPr>
        <p:txBody>
          <a:bodyPr>
            <a:normAutofit fontScale="90000"/>
          </a:bodyPr>
          <a:lstStyle/>
          <a:p>
            <a:pPr algn="ctr"/>
            <a:r>
              <a:rPr lang="en-US" dirty="0" smtClean="0"/>
              <a:t>An Introduction to Database</a:t>
            </a:r>
            <a:endParaRPr lang="en-GB" dirty="0"/>
          </a:p>
        </p:txBody>
      </p:sp>
      <p:sp>
        <p:nvSpPr>
          <p:cNvPr id="6" name="Subtitle 5"/>
          <p:cNvSpPr>
            <a:spLocks noGrp="1"/>
          </p:cNvSpPr>
          <p:nvPr>
            <p:ph type="subTitle" idx="1"/>
          </p:nvPr>
        </p:nvSpPr>
        <p:spPr>
          <a:xfrm>
            <a:off x="1410868" y="2870583"/>
            <a:ext cx="6303577" cy="2126420"/>
          </a:xfrm>
        </p:spPr>
        <p:txBody>
          <a:bodyPr>
            <a:normAutofit fontScale="92500" lnSpcReduction="20000"/>
          </a:bodyPr>
          <a:lstStyle/>
          <a:p>
            <a:r>
              <a:rPr lang="en-US" sz="2100" dirty="0"/>
              <a:t>Introduction to Database for Undergraduate Study</a:t>
            </a:r>
          </a:p>
          <a:p>
            <a:r>
              <a:rPr lang="en-US" sz="2100" dirty="0"/>
              <a:t>Lecture </a:t>
            </a:r>
            <a:r>
              <a:rPr lang="en-US" sz="2100" dirty="0" smtClean="0"/>
              <a:t>8</a:t>
            </a:r>
            <a:endParaRPr lang="en-US" sz="2100" dirty="0"/>
          </a:p>
          <a:p>
            <a:endParaRPr lang="en-US" sz="2100" dirty="0"/>
          </a:p>
          <a:p>
            <a:r>
              <a:rPr lang="en-US" i="1" dirty="0"/>
              <a:t>Set Operators</a:t>
            </a:r>
          </a:p>
          <a:p>
            <a:r>
              <a:rPr lang="en-US" i="1" dirty="0"/>
              <a:t>Comparison Operators</a:t>
            </a:r>
          </a:p>
          <a:p>
            <a:r>
              <a:rPr lang="en-US" i="1" dirty="0"/>
              <a:t>Between/In</a:t>
            </a:r>
          </a:p>
          <a:p>
            <a:endParaRPr lang="en-US" i="1" dirty="0"/>
          </a:p>
        </p:txBody>
      </p:sp>
      <p:sp>
        <p:nvSpPr>
          <p:cNvPr id="7" name="TextBox 3"/>
          <p:cNvSpPr txBox="1">
            <a:spLocks noChangeArrowheads="1"/>
          </p:cNvSpPr>
          <p:nvPr/>
        </p:nvSpPr>
        <p:spPr bwMode="auto">
          <a:xfrm>
            <a:off x="411480" y="5129071"/>
            <a:ext cx="8366760" cy="964413"/>
          </a:xfrm>
          <a:prstGeom prst="rect">
            <a:avLst/>
          </a:prstGeom>
          <a:ln w="9525"/>
        </p:spPr>
        <p:style>
          <a:lnRef idx="2">
            <a:schemeClr val="dk1"/>
          </a:lnRef>
          <a:fillRef idx="1">
            <a:schemeClr val="lt1"/>
          </a:fillRef>
          <a:effectRef idx="0">
            <a:schemeClr val="dk1"/>
          </a:effectRef>
          <a:fontRef idx="minor">
            <a:schemeClr val="dk1"/>
          </a:fontRef>
        </p:style>
        <p:txBody>
          <a:bodyPr vert="horz" lIns="68580" tIns="34290" rIns="68580" bIns="34290" rtlCol="0">
            <a:noAutofit/>
          </a:bodyPr>
          <a:lstStyle/>
          <a:p>
            <a:pPr algn="just">
              <a:spcBef>
                <a:spcPct val="20000"/>
              </a:spcBef>
            </a:pPr>
            <a:r>
              <a:rPr lang="en-GB" sz="1050" dirty="0">
                <a:solidFill>
                  <a:schemeClr val="tx1"/>
                </a:solidFill>
              </a:rPr>
              <a:t>This lecture and its associated materials have been produced by </a:t>
            </a:r>
            <a:r>
              <a:rPr lang="en-GB" sz="1050" dirty="0" err="1">
                <a:solidFill>
                  <a:schemeClr val="tx1"/>
                </a:solidFill>
              </a:rPr>
              <a:t>Mr.</a:t>
            </a:r>
            <a:r>
              <a:rPr lang="en-GB" sz="1050" dirty="0">
                <a:solidFill>
                  <a:schemeClr val="tx1"/>
                </a:solidFill>
              </a:rPr>
              <a:t> Rohit Panday (M.Sc. IT, 10+ Years of Industry/Academic Experience) of </a:t>
            </a:r>
            <a:r>
              <a:rPr lang="en-GB" sz="1050" dirty="0" err="1">
                <a:solidFill>
                  <a:schemeClr val="tx1"/>
                </a:solidFill>
              </a:rPr>
              <a:t>iAcademy</a:t>
            </a:r>
            <a:r>
              <a:rPr lang="en-GB" sz="1050" dirty="0">
                <a:solidFill>
                  <a:schemeClr val="tx1"/>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050" dirty="0" err="1">
                <a:solidFill>
                  <a:schemeClr val="tx1"/>
                </a:solidFill>
              </a:rPr>
              <a:t>iAcademy</a:t>
            </a:r>
            <a:r>
              <a:rPr lang="en-GB" sz="1050" dirty="0">
                <a:solidFill>
                  <a:schemeClr val="tx1"/>
                </a:solidFill>
              </a:rPr>
              <a:t> do not accept any liability for the consequences of any action taken as a result of the work or any recommendations made or inferred. Permission to use any of these materials must be first granted by </a:t>
            </a:r>
            <a:r>
              <a:rPr lang="en-GB" sz="1050" dirty="0" err="1">
                <a:solidFill>
                  <a:schemeClr val="tx1"/>
                </a:solidFill>
              </a:rPr>
              <a:t>iAcademy</a:t>
            </a:r>
            <a:r>
              <a:rPr lang="en-GB" sz="1050" dirty="0">
                <a:solidFill>
                  <a:schemeClr val="tx1"/>
                </a:solidFill>
              </a:rPr>
              <a:t>.</a:t>
            </a:r>
            <a:endParaRPr lang="en-US" sz="1050" dirty="0">
              <a:solidFill>
                <a:schemeClr val="tx1"/>
              </a:solidFill>
            </a:endParaRPr>
          </a:p>
        </p:txBody>
      </p:sp>
    </p:spTree>
    <p:extLst>
      <p:ext uri="{BB962C8B-B14F-4D97-AF65-F5344CB8AC3E}">
        <p14:creationId xmlns:p14="http://schemas.microsoft.com/office/powerpoint/2010/main" val="65396601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OPERATORS</a:t>
            </a:r>
            <a:endParaRPr lang="en-US" dirty="0"/>
          </a:p>
        </p:txBody>
      </p:sp>
      <p:sp>
        <p:nvSpPr>
          <p:cNvPr id="4" name="TextBox 3"/>
          <p:cNvSpPr txBox="1"/>
          <p:nvPr/>
        </p:nvSpPr>
        <p:spPr>
          <a:xfrm>
            <a:off x="1627686" y="4589368"/>
            <a:ext cx="5888628" cy="1200329"/>
          </a:xfrm>
          <a:prstGeom prst="rect">
            <a:avLst/>
          </a:prstGeom>
          <a:solidFill>
            <a:schemeClr val="accent2"/>
          </a:solidFill>
        </p:spPr>
        <p:txBody>
          <a:bodyPr wrap="square" rtlCol="0">
            <a:spAutoFit/>
          </a:bodyPr>
          <a:lstStyle/>
          <a:p>
            <a:pPr algn="ctr"/>
            <a:r>
              <a:rPr lang="en-US" sz="2400" dirty="0">
                <a:solidFill>
                  <a:schemeClr val="bg1"/>
                </a:solidFill>
              </a:rPr>
              <a:t>An </a:t>
            </a:r>
            <a:r>
              <a:rPr lang="en-US" sz="2400" b="1" dirty="0">
                <a:solidFill>
                  <a:schemeClr val="bg1"/>
                </a:solidFill>
              </a:rPr>
              <a:t>operator</a:t>
            </a:r>
            <a:r>
              <a:rPr lang="en-US" sz="2400" dirty="0">
                <a:solidFill>
                  <a:schemeClr val="bg1"/>
                </a:solidFill>
              </a:rPr>
              <a:t> is a reserved word or a character used primarily in an </a:t>
            </a:r>
            <a:r>
              <a:rPr lang="en-US" sz="2400" b="1" dirty="0" smtClean="0">
                <a:solidFill>
                  <a:schemeClr val="bg1"/>
                </a:solidFill>
              </a:rPr>
              <a:t>SQL </a:t>
            </a:r>
            <a:r>
              <a:rPr lang="en-US" sz="2400" dirty="0" smtClean="0">
                <a:solidFill>
                  <a:schemeClr val="bg1"/>
                </a:solidFill>
              </a:rPr>
              <a:t>statement's </a:t>
            </a:r>
            <a:r>
              <a:rPr lang="en-US" sz="2400" dirty="0">
                <a:solidFill>
                  <a:schemeClr val="bg1"/>
                </a:solidFill>
              </a:rPr>
              <a:t>WHERE clause to perform operation(s)</a:t>
            </a:r>
          </a:p>
        </p:txBody>
      </p:sp>
      <p:pic>
        <p:nvPicPr>
          <p:cNvPr id="1026" name="Picture 2" descr="http://blog.sqlauthority.com/i/b/Not-Equal-To-Opera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7331" y="2227726"/>
            <a:ext cx="6129338" cy="18288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710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Operators in SQL</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01887010"/>
              </p:ext>
            </p:extLst>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403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5B48672D-8079-4787-8AA8-E99C10EA9E8A}"/>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6D23B5A8-0085-4269-B995-72194411C895}"/>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E1F5E34E-1F79-4BAD-A47F-F9B5D4249079}"/>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52DF8D80-F625-4671-8152-405830B4670E}"/>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DA8E2E0E-5C9D-4F97-A421-81CB7E3AE308}"/>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003F7790-DC50-4A04-88B8-BEFE54A5BFA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graphicEl>
                                              <a:dgm id="{83198B08-E406-4FD2-9BD5-F485F44A72B0}"/>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graphicEl>
                                              <a:dgm id="{C2B211C5-DD1D-42A8-B973-55958E5E3DA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Arithmetic Operators - Addition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90193965"/>
              </p:ext>
            </p:extLst>
          </p:nvPr>
        </p:nvGraphicFramePr>
        <p:xfrm>
          <a:off x="628648" y="2226469"/>
          <a:ext cx="7639588" cy="1892828"/>
        </p:xfrm>
        <a:graphic>
          <a:graphicData uri="http://schemas.openxmlformats.org/drawingml/2006/table">
            <a:tbl>
              <a:tblPr firstRow="1" bandRow="1">
                <a:tableStyleId>{5C22544A-7EE6-4342-B048-85BDC9FD1C3A}</a:tableStyleId>
              </a:tblPr>
              <a:tblGrid>
                <a:gridCol w="955469"/>
                <a:gridCol w="6684119"/>
              </a:tblGrid>
              <a:tr h="388748">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SALARY + BONUS FROM EMPLOYEE_PAY_TBL;</a:t>
                      </a:r>
                      <a:endParaRPr lang="en-US" sz="1000" dirty="0"/>
                    </a:p>
                  </a:txBody>
                  <a:tcPr marL="68580" marR="68580" marT="34290" marB="34290"/>
                </a:tc>
              </a:tr>
              <a:tr h="1504080">
                <a:tc>
                  <a:txBody>
                    <a:bodyPr/>
                    <a:lstStyle/>
                    <a:p>
                      <a:r>
                        <a:rPr lang="en-US" sz="1000" dirty="0" smtClean="0"/>
                        <a:t>Meaning</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The </a:t>
                      </a:r>
                      <a:r>
                        <a:rPr lang="en-US" sz="1000" dirty="0" smtClean="0"/>
                        <a:t>SALARY</a:t>
                      </a:r>
                      <a:r>
                        <a:rPr lang="en-US" sz="1400" b="0" i="0" kern="1200" dirty="0" smtClean="0">
                          <a:solidFill>
                            <a:schemeClr val="dk1"/>
                          </a:solidFill>
                          <a:effectLst/>
                          <a:latin typeface="+mn-lt"/>
                          <a:ea typeface="+mn-ea"/>
                          <a:cs typeface="+mn-cs"/>
                        </a:rPr>
                        <a:t> column is added with the </a:t>
                      </a:r>
                      <a:r>
                        <a:rPr lang="en-US" sz="1000" dirty="0" smtClean="0"/>
                        <a:t>BONUS</a:t>
                      </a:r>
                      <a:r>
                        <a:rPr lang="en-US" sz="1400" b="0" i="0" kern="1200" dirty="0" smtClean="0">
                          <a:solidFill>
                            <a:schemeClr val="dk1"/>
                          </a:solidFill>
                          <a:effectLst/>
                          <a:latin typeface="+mn-lt"/>
                          <a:ea typeface="+mn-ea"/>
                          <a:cs typeface="+mn-cs"/>
                        </a:rPr>
                        <a:t> column for a total for each row of data</a:t>
                      </a:r>
                      <a:endParaRPr lang="en-US" sz="1000" dirty="0"/>
                    </a:p>
                  </a:txBody>
                  <a:tcPr marL="68580" marR="68580" marT="34290" marB="34290"/>
                </a:tc>
              </a:tr>
            </a:tbl>
          </a:graphicData>
        </a:graphic>
      </p:graphicFrame>
    </p:spTree>
    <p:extLst>
      <p:ext uri="{BB962C8B-B14F-4D97-AF65-F5344CB8AC3E}">
        <p14:creationId xmlns:p14="http://schemas.microsoft.com/office/powerpoint/2010/main" val="29780908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Arithmetic Operators - Subtraction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05965812"/>
              </p:ext>
            </p:extLst>
          </p:nvPr>
        </p:nvGraphicFramePr>
        <p:xfrm>
          <a:off x="628648" y="2226469"/>
          <a:ext cx="7639588" cy="1892828"/>
        </p:xfrm>
        <a:graphic>
          <a:graphicData uri="http://schemas.openxmlformats.org/drawingml/2006/table">
            <a:tbl>
              <a:tblPr firstRow="1" bandRow="1">
                <a:tableStyleId>{5C22544A-7EE6-4342-B048-85BDC9FD1C3A}</a:tableStyleId>
              </a:tblPr>
              <a:tblGrid>
                <a:gridCol w="955469"/>
                <a:gridCol w="6684119"/>
              </a:tblGrid>
              <a:tr h="388748">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SALARY - BONUS FROM EMPLOYEE_PAY_TBL;</a:t>
                      </a:r>
                      <a:endParaRPr lang="en-US" sz="1000" dirty="0"/>
                    </a:p>
                  </a:txBody>
                  <a:tcPr marL="68580" marR="68580" marT="34290" marB="34290"/>
                </a:tc>
              </a:tr>
              <a:tr h="1504080">
                <a:tc>
                  <a:txBody>
                    <a:bodyPr/>
                    <a:lstStyle/>
                    <a:p>
                      <a:r>
                        <a:rPr lang="en-US" sz="1000" dirty="0" smtClean="0"/>
                        <a:t>Meaning</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The </a:t>
                      </a:r>
                      <a:r>
                        <a:rPr lang="en-US" sz="1000" dirty="0" smtClean="0"/>
                        <a:t>BONUS</a:t>
                      </a:r>
                      <a:r>
                        <a:rPr lang="en-US" sz="1400" b="0" i="0" kern="1200" dirty="0" smtClean="0">
                          <a:solidFill>
                            <a:schemeClr val="dk1"/>
                          </a:solidFill>
                          <a:effectLst/>
                          <a:latin typeface="+mn-lt"/>
                          <a:ea typeface="+mn-ea"/>
                          <a:cs typeface="+mn-cs"/>
                        </a:rPr>
                        <a:t> column is subtracted</a:t>
                      </a:r>
                      <a:r>
                        <a:rPr lang="en-US" sz="1400" b="0" i="0" kern="1200" baseline="0" dirty="0" smtClean="0">
                          <a:solidFill>
                            <a:schemeClr val="dk1"/>
                          </a:solidFill>
                          <a:effectLst/>
                          <a:latin typeface="+mn-lt"/>
                          <a:ea typeface="+mn-ea"/>
                          <a:cs typeface="+mn-cs"/>
                        </a:rPr>
                        <a:t> </a:t>
                      </a:r>
                      <a:r>
                        <a:rPr lang="en-US" sz="1400" b="0" i="0" kern="1200" dirty="0" smtClean="0">
                          <a:solidFill>
                            <a:schemeClr val="dk1"/>
                          </a:solidFill>
                          <a:effectLst/>
                          <a:latin typeface="+mn-lt"/>
                          <a:ea typeface="+mn-ea"/>
                          <a:cs typeface="+mn-cs"/>
                        </a:rPr>
                        <a:t>from the </a:t>
                      </a:r>
                      <a:r>
                        <a:rPr lang="en-US" sz="1000" dirty="0" smtClean="0"/>
                        <a:t>SALARY</a:t>
                      </a:r>
                      <a:r>
                        <a:rPr lang="en-US" sz="1400" b="0" i="0" kern="1200" dirty="0" smtClean="0">
                          <a:solidFill>
                            <a:schemeClr val="dk1"/>
                          </a:solidFill>
                          <a:effectLst/>
                          <a:latin typeface="+mn-lt"/>
                          <a:ea typeface="+mn-ea"/>
                          <a:cs typeface="+mn-cs"/>
                        </a:rPr>
                        <a:t> column for a total for each row of data</a:t>
                      </a:r>
                      <a:endParaRPr lang="en-US" sz="1000" dirty="0"/>
                    </a:p>
                  </a:txBody>
                  <a:tcPr marL="68580" marR="68580" marT="34290" marB="34290"/>
                </a:tc>
              </a:tr>
            </a:tbl>
          </a:graphicData>
        </a:graphic>
      </p:graphicFrame>
    </p:spTree>
    <p:extLst>
      <p:ext uri="{BB962C8B-B14F-4D97-AF65-F5344CB8AC3E}">
        <p14:creationId xmlns:p14="http://schemas.microsoft.com/office/powerpoint/2010/main" val="10787942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Arithmetic Operators - Multiplication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91127604"/>
              </p:ext>
            </p:extLst>
          </p:nvPr>
        </p:nvGraphicFramePr>
        <p:xfrm>
          <a:off x="628648" y="2226469"/>
          <a:ext cx="7639588" cy="1892828"/>
        </p:xfrm>
        <a:graphic>
          <a:graphicData uri="http://schemas.openxmlformats.org/drawingml/2006/table">
            <a:tbl>
              <a:tblPr firstRow="1" bandRow="1">
                <a:tableStyleId>{5C22544A-7EE6-4342-B048-85BDC9FD1C3A}</a:tableStyleId>
              </a:tblPr>
              <a:tblGrid>
                <a:gridCol w="955469"/>
                <a:gridCol w="6684119"/>
              </a:tblGrid>
              <a:tr h="388748">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SALARY * 12 FROM EMPLOYEE_PAY_TBL;</a:t>
                      </a:r>
                      <a:endParaRPr lang="en-US" sz="1000" dirty="0"/>
                    </a:p>
                  </a:txBody>
                  <a:tcPr marL="68580" marR="68580" marT="34290" marB="34290"/>
                </a:tc>
              </a:tr>
              <a:tr h="1504080">
                <a:tc>
                  <a:txBody>
                    <a:bodyPr/>
                    <a:lstStyle/>
                    <a:p>
                      <a:r>
                        <a:rPr lang="en-US" sz="1000" dirty="0" smtClean="0"/>
                        <a:t>Meaning</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The </a:t>
                      </a:r>
                      <a:r>
                        <a:rPr lang="en-US" sz="1000" dirty="0" smtClean="0"/>
                        <a:t>SALARY</a:t>
                      </a:r>
                      <a:r>
                        <a:rPr lang="en-US" sz="1400" b="0" i="0" kern="1200" dirty="0" smtClean="0">
                          <a:solidFill>
                            <a:schemeClr val="dk1"/>
                          </a:solidFill>
                          <a:effectLst/>
                          <a:latin typeface="+mn-lt"/>
                          <a:ea typeface="+mn-ea"/>
                          <a:cs typeface="+mn-cs"/>
                        </a:rPr>
                        <a:t> column is multiplied by 12</a:t>
                      </a:r>
                      <a:endParaRPr lang="en-US" sz="1000" dirty="0"/>
                    </a:p>
                  </a:txBody>
                  <a:tcPr marL="68580" marR="68580" marT="34290" marB="34290"/>
                </a:tc>
              </a:tr>
            </a:tbl>
          </a:graphicData>
        </a:graphic>
      </p:graphicFrame>
    </p:spTree>
    <p:extLst>
      <p:ext uri="{BB962C8B-B14F-4D97-AF65-F5344CB8AC3E}">
        <p14:creationId xmlns:p14="http://schemas.microsoft.com/office/powerpoint/2010/main" val="4801725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Arithmetic Operators - Division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59501816"/>
              </p:ext>
            </p:extLst>
          </p:nvPr>
        </p:nvGraphicFramePr>
        <p:xfrm>
          <a:off x="628648" y="2226469"/>
          <a:ext cx="7639588" cy="1892828"/>
        </p:xfrm>
        <a:graphic>
          <a:graphicData uri="http://schemas.openxmlformats.org/drawingml/2006/table">
            <a:tbl>
              <a:tblPr firstRow="1" bandRow="1">
                <a:tableStyleId>{5C22544A-7EE6-4342-B048-85BDC9FD1C3A}</a:tableStyleId>
              </a:tblPr>
              <a:tblGrid>
                <a:gridCol w="955469"/>
                <a:gridCol w="6684119"/>
              </a:tblGrid>
              <a:tr h="388748">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SALARY / 10 FROM EMPLOYEE_PAY_TBL;</a:t>
                      </a:r>
                      <a:endParaRPr lang="en-US" sz="1000" dirty="0"/>
                    </a:p>
                  </a:txBody>
                  <a:tcPr marL="68580" marR="68580" marT="34290" marB="34290"/>
                </a:tc>
              </a:tr>
              <a:tr h="1504080">
                <a:tc>
                  <a:txBody>
                    <a:bodyPr/>
                    <a:lstStyle/>
                    <a:p>
                      <a:r>
                        <a:rPr lang="en-US" sz="1000" dirty="0" smtClean="0"/>
                        <a:t>Meaning</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The </a:t>
                      </a:r>
                      <a:r>
                        <a:rPr lang="en-US" sz="1000" dirty="0" smtClean="0"/>
                        <a:t>SALARY</a:t>
                      </a:r>
                      <a:r>
                        <a:rPr lang="en-US" sz="1400" b="0" i="0" kern="1200" dirty="0" smtClean="0">
                          <a:solidFill>
                            <a:schemeClr val="dk1"/>
                          </a:solidFill>
                          <a:effectLst/>
                          <a:latin typeface="+mn-lt"/>
                          <a:ea typeface="+mn-ea"/>
                          <a:cs typeface="+mn-cs"/>
                        </a:rPr>
                        <a:t> column is divided by 10</a:t>
                      </a:r>
                      <a:endParaRPr lang="en-US" sz="1000" dirty="0"/>
                    </a:p>
                  </a:txBody>
                  <a:tcPr marL="68580" marR="68580" marT="34290" marB="34290"/>
                </a:tc>
              </a:tr>
            </a:tbl>
          </a:graphicData>
        </a:graphic>
      </p:graphicFrame>
    </p:spTree>
    <p:extLst>
      <p:ext uri="{BB962C8B-B14F-4D97-AF65-F5344CB8AC3E}">
        <p14:creationId xmlns:p14="http://schemas.microsoft.com/office/powerpoint/2010/main" val="33633459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Operators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972582128"/>
              </p:ext>
            </p:extLst>
          </p:nvPr>
        </p:nvGraphicFramePr>
        <p:xfrm>
          <a:off x="1205248" y="2125266"/>
          <a:ext cx="6095999" cy="2392680"/>
        </p:xfrm>
        <a:graphic>
          <a:graphicData uri="http://schemas.openxmlformats.org/drawingml/2006/table">
            <a:tbl>
              <a:tblPr firstRow="1" bandRow="1">
                <a:tableStyleId>{5C22544A-7EE6-4342-B048-85BDC9FD1C3A}</a:tableStyleId>
              </a:tblPr>
              <a:tblGrid>
                <a:gridCol w="832834"/>
                <a:gridCol w="3989231"/>
                <a:gridCol w="1273934"/>
              </a:tblGrid>
              <a:tr h="278130">
                <a:tc>
                  <a:txBody>
                    <a:bodyPr/>
                    <a:lstStyle/>
                    <a:p>
                      <a:r>
                        <a:rPr lang="en-US" sz="1000" dirty="0" smtClean="0"/>
                        <a:t>Operator</a:t>
                      </a:r>
                      <a:endParaRPr lang="en-US" sz="1000" dirty="0"/>
                    </a:p>
                  </a:txBody>
                  <a:tcPr marL="68580" marR="68580" marT="34290" marB="34290"/>
                </a:tc>
                <a:tc>
                  <a:txBody>
                    <a:bodyPr/>
                    <a:lstStyle/>
                    <a:p>
                      <a:r>
                        <a:rPr lang="en-US" sz="1000" dirty="0" smtClean="0"/>
                        <a:t>Description</a:t>
                      </a:r>
                      <a:endParaRPr lang="en-US" sz="1000" dirty="0"/>
                    </a:p>
                  </a:txBody>
                  <a:tcPr marL="68580" marR="68580" marT="34290" marB="34290"/>
                </a:tc>
                <a:tc>
                  <a:txBody>
                    <a:bodyPr/>
                    <a:lstStyle/>
                    <a:p>
                      <a:r>
                        <a:rPr lang="en-US" sz="1000" dirty="0" smtClean="0"/>
                        <a:t>Example</a:t>
                      </a:r>
                      <a:endParaRPr lang="en-US" sz="1000" dirty="0"/>
                    </a:p>
                  </a:txBody>
                  <a:tcPr marL="68580" marR="68580" marT="34290" marB="34290"/>
                </a:tc>
              </a:tr>
              <a:tr h="422910">
                <a:tc>
                  <a:txBody>
                    <a:bodyPr/>
                    <a:lstStyle/>
                    <a:p>
                      <a:pPr fontAlgn="t"/>
                      <a:r>
                        <a:rPr lang="en-US" sz="1000" dirty="0">
                          <a:effectLst/>
                        </a:rPr>
                        <a:t>=</a:t>
                      </a:r>
                    </a:p>
                  </a:txBody>
                  <a:tcPr marL="57150" marR="57150" marT="57150" marB="57150"/>
                </a:tc>
                <a:tc>
                  <a:txBody>
                    <a:bodyPr/>
                    <a:lstStyle/>
                    <a:p>
                      <a:pPr fontAlgn="t"/>
                      <a:r>
                        <a:rPr lang="en-US" sz="1000">
                          <a:effectLst/>
                        </a:rPr>
                        <a:t>Checks if the values of two operands are equal or not, if yes then condition becomes true.</a:t>
                      </a:r>
                    </a:p>
                  </a:txBody>
                  <a:tcPr marL="57150" marR="57150" marT="57150" marB="57150"/>
                </a:tc>
                <a:tc>
                  <a:txBody>
                    <a:bodyPr/>
                    <a:lstStyle/>
                    <a:p>
                      <a:pPr fontAlgn="t"/>
                      <a:r>
                        <a:rPr lang="en-US" sz="1000" dirty="0">
                          <a:effectLst/>
                        </a:rPr>
                        <a:t>(a = b) is not true.</a:t>
                      </a:r>
                    </a:p>
                  </a:txBody>
                  <a:tcPr marL="57150" marR="57150" marT="57150" marB="57150"/>
                </a:tc>
              </a:tr>
              <a:tr h="422910">
                <a:tc>
                  <a:txBody>
                    <a:bodyPr/>
                    <a:lstStyle/>
                    <a:p>
                      <a:pPr fontAlgn="t"/>
                      <a:r>
                        <a:rPr lang="en-US" sz="1000" dirty="0">
                          <a:effectLst/>
                        </a:rPr>
                        <a:t>!=</a:t>
                      </a:r>
                    </a:p>
                  </a:txBody>
                  <a:tcPr marL="57150" marR="57150" marT="57150" marB="57150"/>
                </a:tc>
                <a:tc>
                  <a:txBody>
                    <a:bodyPr/>
                    <a:lstStyle/>
                    <a:p>
                      <a:pPr fontAlgn="t"/>
                      <a:r>
                        <a:rPr lang="en-US" sz="1000">
                          <a:effectLst/>
                        </a:rPr>
                        <a:t>Checks if the values of two operands are equal or not, if values are not equal then condition becomes true.</a:t>
                      </a:r>
                    </a:p>
                  </a:txBody>
                  <a:tcPr marL="57150" marR="57150" marT="57150" marB="57150"/>
                </a:tc>
                <a:tc>
                  <a:txBody>
                    <a:bodyPr/>
                    <a:lstStyle/>
                    <a:p>
                      <a:pPr fontAlgn="t"/>
                      <a:r>
                        <a:rPr lang="en-US" sz="1000">
                          <a:effectLst/>
                        </a:rPr>
                        <a:t>(a != b) is true.</a:t>
                      </a:r>
                    </a:p>
                  </a:txBody>
                  <a:tcPr marL="57150" marR="57150" marT="57150" marB="57150"/>
                </a:tc>
              </a:tr>
              <a:tr h="422910">
                <a:tc>
                  <a:txBody>
                    <a:bodyPr/>
                    <a:lstStyle/>
                    <a:p>
                      <a:pPr fontAlgn="t"/>
                      <a:r>
                        <a:rPr lang="en-US" sz="1000">
                          <a:effectLst/>
                        </a:rPr>
                        <a:t>&lt;&gt;</a:t>
                      </a:r>
                    </a:p>
                  </a:txBody>
                  <a:tcPr marL="57150" marR="57150" marT="57150" marB="57150"/>
                </a:tc>
                <a:tc>
                  <a:txBody>
                    <a:bodyPr/>
                    <a:lstStyle/>
                    <a:p>
                      <a:pPr fontAlgn="t"/>
                      <a:r>
                        <a:rPr lang="en-US" sz="1000">
                          <a:effectLst/>
                        </a:rPr>
                        <a:t>Checks if the values of two operands are equal or not, if values are not equal then condition becomes true.</a:t>
                      </a:r>
                    </a:p>
                  </a:txBody>
                  <a:tcPr marL="57150" marR="57150" marT="57150" marB="57150"/>
                </a:tc>
                <a:tc>
                  <a:txBody>
                    <a:bodyPr/>
                    <a:lstStyle/>
                    <a:p>
                      <a:pPr fontAlgn="t"/>
                      <a:r>
                        <a:rPr lang="en-US" sz="1000">
                          <a:effectLst/>
                        </a:rPr>
                        <a:t>(a &lt;&gt; b) is true.</a:t>
                      </a:r>
                    </a:p>
                  </a:txBody>
                  <a:tcPr marL="57150" marR="57150" marT="57150" marB="57150"/>
                </a:tc>
              </a:tr>
              <a:tr h="422910">
                <a:tc>
                  <a:txBody>
                    <a:bodyPr/>
                    <a:lstStyle/>
                    <a:p>
                      <a:pPr fontAlgn="t"/>
                      <a:r>
                        <a:rPr lang="en-US" sz="1000">
                          <a:effectLst/>
                        </a:rPr>
                        <a:t>&gt;</a:t>
                      </a:r>
                    </a:p>
                  </a:txBody>
                  <a:tcPr marL="57150" marR="57150" marT="57150" marB="57150"/>
                </a:tc>
                <a:tc>
                  <a:txBody>
                    <a:bodyPr/>
                    <a:lstStyle/>
                    <a:p>
                      <a:pPr fontAlgn="t"/>
                      <a:r>
                        <a:rPr lang="en-US" sz="1000">
                          <a:effectLst/>
                        </a:rPr>
                        <a:t>Checks if the value of left operand is greater than the value of right operand, if yes then condition becomes true.</a:t>
                      </a:r>
                    </a:p>
                  </a:txBody>
                  <a:tcPr marL="57150" marR="57150" marT="57150" marB="57150"/>
                </a:tc>
                <a:tc>
                  <a:txBody>
                    <a:bodyPr/>
                    <a:lstStyle/>
                    <a:p>
                      <a:pPr fontAlgn="t"/>
                      <a:r>
                        <a:rPr lang="en-US" sz="1000">
                          <a:effectLst/>
                        </a:rPr>
                        <a:t>(a &gt; b) is not true.</a:t>
                      </a:r>
                    </a:p>
                  </a:txBody>
                  <a:tcPr marL="57150" marR="57150" marT="57150" marB="57150"/>
                </a:tc>
              </a:tr>
              <a:tr h="422910">
                <a:tc>
                  <a:txBody>
                    <a:bodyPr/>
                    <a:lstStyle/>
                    <a:p>
                      <a:pPr fontAlgn="t"/>
                      <a:r>
                        <a:rPr lang="en-US" sz="1000">
                          <a:effectLst/>
                        </a:rPr>
                        <a:t>&lt;</a:t>
                      </a:r>
                    </a:p>
                  </a:txBody>
                  <a:tcPr marL="57150" marR="57150" marT="57150" marB="57150"/>
                </a:tc>
                <a:tc>
                  <a:txBody>
                    <a:bodyPr/>
                    <a:lstStyle/>
                    <a:p>
                      <a:pPr fontAlgn="t"/>
                      <a:r>
                        <a:rPr lang="en-US" sz="1000">
                          <a:effectLst/>
                        </a:rPr>
                        <a:t>Checks if the value of left operand is less than the value of right operand, if yes then condition becomes true.</a:t>
                      </a:r>
                    </a:p>
                  </a:txBody>
                  <a:tcPr marL="57150" marR="57150" marT="57150" marB="57150"/>
                </a:tc>
                <a:tc>
                  <a:txBody>
                    <a:bodyPr/>
                    <a:lstStyle/>
                    <a:p>
                      <a:pPr fontAlgn="t"/>
                      <a:r>
                        <a:rPr lang="en-US" sz="1000" dirty="0">
                          <a:effectLst/>
                        </a:rPr>
                        <a:t>(a &lt; b) is true.</a:t>
                      </a:r>
                    </a:p>
                  </a:txBody>
                  <a:tcPr marL="57150" marR="57150" marT="57150" marB="57150"/>
                </a:tc>
              </a:tr>
            </a:tbl>
          </a:graphicData>
        </a:graphic>
      </p:graphicFrame>
    </p:spTree>
    <p:extLst>
      <p:ext uri="{BB962C8B-B14F-4D97-AF65-F5344CB8AC3E}">
        <p14:creationId xmlns:p14="http://schemas.microsoft.com/office/powerpoint/2010/main" val="41572749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Operators</a:t>
            </a:r>
            <a:endParaRPr lang="en-US" dirty="0"/>
          </a:p>
        </p:txBody>
      </p:sp>
      <p:graphicFrame>
        <p:nvGraphicFramePr>
          <p:cNvPr id="5" name="Table 4"/>
          <p:cNvGraphicFramePr>
            <a:graphicFrameLocks noGrp="1"/>
          </p:cNvGraphicFramePr>
          <p:nvPr/>
        </p:nvGraphicFramePr>
        <p:xfrm>
          <a:off x="1205248" y="2125266"/>
          <a:ext cx="6095999" cy="1969770"/>
        </p:xfrm>
        <a:graphic>
          <a:graphicData uri="http://schemas.openxmlformats.org/drawingml/2006/table">
            <a:tbl>
              <a:tblPr firstRow="1" bandRow="1">
                <a:tableStyleId>{5C22544A-7EE6-4342-B048-85BDC9FD1C3A}</a:tableStyleId>
              </a:tblPr>
              <a:tblGrid>
                <a:gridCol w="832834"/>
                <a:gridCol w="3989231"/>
                <a:gridCol w="1273934"/>
              </a:tblGrid>
              <a:tr h="278130">
                <a:tc>
                  <a:txBody>
                    <a:bodyPr/>
                    <a:lstStyle/>
                    <a:p>
                      <a:r>
                        <a:rPr lang="en-US" sz="1000" dirty="0" smtClean="0"/>
                        <a:t>Operator</a:t>
                      </a:r>
                      <a:endParaRPr lang="en-US" sz="1000" dirty="0"/>
                    </a:p>
                  </a:txBody>
                  <a:tcPr marL="68580" marR="68580" marT="34290" marB="34290"/>
                </a:tc>
                <a:tc>
                  <a:txBody>
                    <a:bodyPr/>
                    <a:lstStyle/>
                    <a:p>
                      <a:r>
                        <a:rPr lang="en-US" sz="1000" dirty="0" smtClean="0"/>
                        <a:t>Description</a:t>
                      </a:r>
                      <a:endParaRPr lang="en-US" sz="1000" dirty="0"/>
                    </a:p>
                  </a:txBody>
                  <a:tcPr marL="68580" marR="68580" marT="34290" marB="34290"/>
                </a:tc>
                <a:tc>
                  <a:txBody>
                    <a:bodyPr/>
                    <a:lstStyle/>
                    <a:p>
                      <a:r>
                        <a:rPr lang="en-US" sz="1000" dirty="0" smtClean="0"/>
                        <a:t>Example</a:t>
                      </a:r>
                      <a:endParaRPr lang="en-US" sz="1000" dirty="0"/>
                    </a:p>
                  </a:txBody>
                  <a:tcPr marL="68580" marR="68580" marT="34290" marB="34290"/>
                </a:tc>
              </a:tr>
              <a:tr h="422910">
                <a:tc>
                  <a:txBody>
                    <a:bodyPr/>
                    <a:lstStyle/>
                    <a:p>
                      <a:pPr fontAlgn="t"/>
                      <a:r>
                        <a:rPr lang="en-US" sz="1000">
                          <a:effectLst/>
                        </a:rPr>
                        <a:t>&gt;=</a:t>
                      </a:r>
                    </a:p>
                  </a:txBody>
                  <a:tcPr marL="57150" marR="57150" marT="57150" marB="57150"/>
                </a:tc>
                <a:tc>
                  <a:txBody>
                    <a:bodyPr/>
                    <a:lstStyle/>
                    <a:p>
                      <a:pPr fontAlgn="t"/>
                      <a:r>
                        <a:rPr lang="en-US" sz="1000" dirty="0">
                          <a:effectLst/>
                        </a:rPr>
                        <a:t>Checks if the value of left operand is greater than or equal to the value of right operand, if yes then condition becomes true.</a:t>
                      </a:r>
                    </a:p>
                  </a:txBody>
                  <a:tcPr marL="57150" marR="57150" marT="57150" marB="57150"/>
                </a:tc>
                <a:tc>
                  <a:txBody>
                    <a:bodyPr/>
                    <a:lstStyle/>
                    <a:p>
                      <a:pPr fontAlgn="t"/>
                      <a:r>
                        <a:rPr lang="en-US" sz="1000">
                          <a:effectLst/>
                        </a:rPr>
                        <a:t>(a &gt;= b) is not true.</a:t>
                      </a:r>
                    </a:p>
                  </a:txBody>
                  <a:tcPr marL="57150" marR="57150" marT="57150" marB="57150"/>
                </a:tc>
              </a:tr>
              <a:tr h="422910">
                <a:tc>
                  <a:txBody>
                    <a:bodyPr/>
                    <a:lstStyle/>
                    <a:p>
                      <a:pPr fontAlgn="t"/>
                      <a:r>
                        <a:rPr lang="en-US" sz="1000">
                          <a:effectLst/>
                        </a:rPr>
                        <a:t>&lt;=</a:t>
                      </a:r>
                    </a:p>
                  </a:txBody>
                  <a:tcPr marL="57150" marR="57150" marT="57150" marB="57150"/>
                </a:tc>
                <a:tc>
                  <a:txBody>
                    <a:bodyPr/>
                    <a:lstStyle/>
                    <a:p>
                      <a:pPr fontAlgn="t"/>
                      <a:r>
                        <a:rPr lang="en-US" sz="1000">
                          <a:effectLst/>
                        </a:rPr>
                        <a:t>Checks if the value of left operand is less than or equal to the value of right operand, if yes then condition becomes true.</a:t>
                      </a:r>
                    </a:p>
                  </a:txBody>
                  <a:tcPr marL="57150" marR="57150" marT="57150" marB="57150"/>
                </a:tc>
                <a:tc>
                  <a:txBody>
                    <a:bodyPr/>
                    <a:lstStyle/>
                    <a:p>
                      <a:pPr fontAlgn="t"/>
                      <a:r>
                        <a:rPr lang="en-US" sz="1000">
                          <a:effectLst/>
                        </a:rPr>
                        <a:t>(a &lt;= b) is true.</a:t>
                      </a:r>
                    </a:p>
                  </a:txBody>
                  <a:tcPr marL="57150" marR="57150" marT="57150" marB="57150"/>
                </a:tc>
              </a:tr>
              <a:tr h="422910">
                <a:tc>
                  <a:txBody>
                    <a:bodyPr/>
                    <a:lstStyle/>
                    <a:p>
                      <a:pPr fontAlgn="t"/>
                      <a:r>
                        <a:rPr lang="en-US" sz="1000">
                          <a:effectLst/>
                        </a:rPr>
                        <a:t>!&lt;</a:t>
                      </a:r>
                    </a:p>
                  </a:txBody>
                  <a:tcPr marL="57150" marR="57150" marT="57150" marB="57150"/>
                </a:tc>
                <a:tc>
                  <a:txBody>
                    <a:bodyPr/>
                    <a:lstStyle/>
                    <a:p>
                      <a:pPr fontAlgn="t"/>
                      <a:r>
                        <a:rPr lang="en-US" sz="1000">
                          <a:effectLst/>
                        </a:rPr>
                        <a:t>Checks if the value of left operand is not less than the value of right operand, if yes then condition becomes true.</a:t>
                      </a:r>
                    </a:p>
                  </a:txBody>
                  <a:tcPr marL="57150" marR="57150" marT="57150" marB="57150"/>
                </a:tc>
                <a:tc>
                  <a:txBody>
                    <a:bodyPr/>
                    <a:lstStyle/>
                    <a:p>
                      <a:pPr fontAlgn="t"/>
                      <a:r>
                        <a:rPr lang="en-US" sz="1000">
                          <a:effectLst/>
                        </a:rPr>
                        <a:t>(a !&lt; b) is false.</a:t>
                      </a:r>
                    </a:p>
                  </a:txBody>
                  <a:tcPr marL="57150" marR="57150" marT="57150" marB="57150"/>
                </a:tc>
              </a:tr>
              <a:tr h="422910">
                <a:tc>
                  <a:txBody>
                    <a:bodyPr/>
                    <a:lstStyle/>
                    <a:p>
                      <a:pPr fontAlgn="t"/>
                      <a:r>
                        <a:rPr lang="en-US" sz="1000">
                          <a:effectLst/>
                        </a:rPr>
                        <a:t>!&gt;</a:t>
                      </a:r>
                    </a:p>
                  </a:txBody>
                  <a:tcPr marL="57150" marR="57150" marT="57150" marB="57150"/>
                </a:tc>
                <a:tc>
                  <a:txBody>
                    <a:bodyPr/>
                    <a:lstStyle/>
                    <a:p>
                      <a:pPr fontAlgn="t"/>
                      <a:r>
                        <a:rPr lang="en-US" sz="1000">
                          <a:effectLst/>
                        </a:rPr>
                        <a:t>Checks if the value of left operand is not greater than the value of right operand, if yes then condition becomes true.</a:t>
                      </a:r>
                    </a:p>
                  </a:txBody>
                  <a:tcPr marL="57150" marR="57150" marT="57150" marB="57150"/>
                </a:tc>
                <a:tc>
                  <a:txBody>
                    <a:bodyPr/>
                    <a:lstStyle/>
                    <a:p>
                      <a:pPr fontAlgn="t"/>
                      <a:r>
                        <a:rPr lang="en-US" sz="1000" dirty="0">
                          <a:effectLst/>
                        </a:rPr>
                        <a:t>(a !&gt; b) is true.</a:t>
                      </a:r>
                    </a:p>
                  </a:txBody>
                  <a:tcPr marL="57150" marR="57150" marT="57150" marB="57150"/>
                </a:tc>
              </a:tr>
            </a:tbl>
          </a:graphicData>
        </a:graphic>
      </p:graphicFrame>
    </p:spTree>
    <p:extLst>
      <p:ext uri="{BB962C8B-B14F-4D97-AF65-F5344CB8AC3E}">
        <p14:creationId xmlns:p14="http://schemas.microsoft.com/office/powerpoint/2010/main" val="12788169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Operator - Example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21718503"/>
              </p:ext>
            </p:extLst>
          </p:nvPr>
        </p:nvGraphicFramePr>
        <p:xfrm>
          <a:off x="628648" y="2226468"/>
          <a:ext cx="7639588" cy="2764900"/>
        </p:xfrm>
        <a:graphic>
          <a:graphicData uri="http://schemas.openxmlformats.org/drawingml/2006/table">
            <a:tbl>
              <a:tblPr firstRow="1" bandRow="1">
                <a:tableStyleId>{5C22544A-7EE6-4342-B048-85BDC9FD1C3A}</a:tableStyleId>
              </a:tblPr>
              <a:tblGrid>
                <a:gridCol w="955469"/>
                <a:gridCol w="6684119"/>
              </a:tblGrid>
              <a:tr h="668964">
                <a:tc>
                  <a:txBody>
                    <a:bodyPr/>
                    <a:lstStyle/>
                    <a:p>
                      <a:r>
                        <a:rPr lang="en-US" sz="1000" dirty="0" smtClean="0"/>
                        <a:t>Example</a:t>
                      </a:r>
                      <a:endParaRPr lang="en-US" sz="1000" dirty="0"/>
                    </a:p>
                  </a:txBody>
                  <a:tcPr marL="68580" marR="68580" marT="34290" marB="34290"/>
                </a:tc>
                <a:tc>
                  <a:txBody>
                    <a:bodyPr/>
                    <a:lstStyle/>
                    <a:p>
                      <a:r>
                        <a:rPr lang="en-US" sz="1000" dirty="0" smtClean="0">
                          <a:effectLst/>
                        </a:rPr>
                        <a:t>SELECT * FROM Customers</a:t>
                      </a:r>
                    </a:p>
                    <a:p>
                      <a:r>
                        <a:rPr lang="en-US" sz="1000" dirty="0" smtClean="0">
                          <a:effectLst/>
                        </a:rPr>
                        <a:t>WHERE Country='Mexico';</a:t>
                      </a:r>
                      <a:endParaRPr lang="en-US" sz="1000" dirty="0"/>
                    </a:p>
                  </a:txBody>
                  <a:tcPr marL="68580" marR="68580" marT="34290" marB="34290"/>
                </a:tc>
              </a:tr>
              <a:tr h="2095936">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5" name="Picture 4"/>
          <p:cNvPicPr>
            <a:picLocks noChangeAspect="1"/>
          </p:cNvPicPr>
          <p:nvPr/>
        </p:nvPicPr>
        <p:blipFill>
          <a:blip r:embed="rId2"/>
          <a:stretch>
            <a:fillRect/>
          </a:stretch>
        </p:blipFill>
        <p:spPr>
          <a:xfrm>
            <a:off x="699936" y="3264141"/>
            <a:ext cx="7550944" cy="1450181"/>
          </a:xfrm>
          <a:prstGeom prst="rect">
            <a:avLst/>
          </a:prstGeom>
        </p:spPr>
      </p:pic>
    </p:spTree>
    <p:extLst>
      <p:ext uri="{BB962C8B-B14F-4D97-AF65-F5344CB8AC3E}">
        <p14:creationId xmlns:p14="http://schemas.microsoft.com/office/powerpoint/2010/main" val="28546972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Operator - Example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39732673"/>
              </p:ext>
            </p:extLst>
          </p:nvPr>
        </p:nvGraphicFramePr>
        <p:xfrm>
          <a:off x="628648" y="2226469"/>
          <a:ext cx="7639588" cy="3305814"/>
        </p:xfrm>
        <a:graphic>
          <a:graphicData uri="http://schemas.openxmlformats.org/drawingml/2006/table">
            <a:tbl>
              <a:tblPr firstRow="1" bandRow="1">
                <a:tableStyleId>{5C22544A-7EE6-4342-B048-85BDC9FD1C3A}</a:tableStyleId>
              </a:tblPr>
              <a:tblGrid>
                <a:gridCol w="955469"/>
                <a:gridCol w="6684119"/>
              </a:tblGrid>
              <a:tr h="799838">
                <a:tc>
                  <a:txBody>
                    <a:bodyPr/>
                    <a:lstStyle/>
                    <a:p>
                      <a:r>
                        <a:rPr lang="en-US" sz="1000" dirty="0" smtClean="0"/>
                        <a:t>Example</a:t>
                      </a:r>
                      <a:endParaRPr lang="en-US" sz="1000" dirty="0"/>
                    </a:p>
                  </a:txBody>
                  <a:tcPr marL="68580" marR="68580" marT="34290" marB="34290"/>
                </a:tc>
                <a:tc>
                  <a:txBody>
                    <a:bodyPr/>
                    <a:lstStyle/>
                    <a:p>
                      <a:r>
                        <a:rPr lang="en-US" sz="1000" dirty="0" smtClean="0">
                          <a:effectLst/>
                        </a:rPr>
                        <a:t>SELECT * FROM Customers WHERE CustomerID&lt;=7;</a:t>
                      </a:r>
                      <a:endParaRPr lang="en-US" sz="1000" dirty="0"/>
                    </a:p>
                  </a:txBody>
                  <a:tcPr marL="68580" marR="68580" marT="34290" marB="34290"/>
                </a:tc>
              </a:tr>
              <a:tr h="2505976">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696365" y="3308512"/>
            <a:ext cx="7558088" cy="1921669"/>
          </a:xfrm>
          <a:prstGeom prst="rect">
            <a:avLst/>
          </a:prstGeom>
        </p:spPr>
      </p:pic>
    </p:spTree>
    <p:extLst>
      <p:ext uri="{BB962C8B-B14F-4D97-AF65-F5344CB8AC3E}">
        <p14:creationId xmlns:p14="http://schemas.microsoft.com/office/powerpoint/2010/main" val="38092240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Operators</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059659802"/>
              </p:ext>
            </p:extLst>
          </p:nvPr>
        </p:nvGraphicFramePr>
        <p:xfrm>
          <a:off x="1475705" y="2044163"/>
          <a:ext cx="6096000" cy="2247900"/>
        </p:xfrm>
        <a:graphic>
          <a:graphicData uri="http://schemas.openxmlformats.org/drawingml/2006/table">
            <a:tbl>
              <a:tblPr firstRow="1" bandRow="1">
                <a:tableStyleId>{5C22544A-7EE6-4342-B048-85BDC9FD1C3A}</a:tableStyleId>
              </a:tblPr>
              <a:tblGrid>
                <a:gridCol w="1364087"/>
                <a:gridCol w="4731913"/>
              </a:tblGrid>
              <a:tr h="278130">
                <a:tc>
                  <a:txBody>
                    <a:bodyPr/>
                    <a:lstStyle/>
                    <a:p>
                      <a:r>
                        <a:rPr lang="en-US" sz="1000" dirty="0" smtClean="0"/>
                        <a:t>Operators</a:t>
                      </a:r>
                      <a:endParaRPr lang="en-US" sz="1000" dirty="0"/>
                    </a:p>
                  </a:txBody>
                  <a:tcPr marL="68580" marR="68580" marT="34290" marB="34290"/>
                </a:tc>
                <a:tc>
                  <a:txBody>
                    <a:bodyPr/>
                    <a:lstStyle/>
                    <a:p>
                      <a:r>
                        <a:rPr lang="en-US" sz="1000" dirty="0" smtClean="0"/>
                        <a:t>Description</a:t>
                      </a:r>
                      <a:endParaRPr lang="en-US" sz="1000" dirty="0"/>
                    </a:p>
                  </a:txBody>
                  <a:tcPr marL="68580" marR="68580" marT="34290" marB="34290"/>
                </a:tc>
              </a:tr>
              <a:tr h="422910">
                <a:tc>
                  <a:txBody>
                    <a:bodyPr/>
                    <a:lstStyle/>
                    <a:p>
                      <a:pPr fontAlgn="t"/>
                      <a:r>
                        <a:rPr lang="en-US" sz="1000" dirty="0">
                          <a:effectLst/>
                        </a:rPr>
                        <a:t>AND</a:t>
                      </a:r>
                    </a:p>
                  </a:txBody>
                  <a:tcPr marL="57150" marR="57150" marT="57150" marB="57150"/>
                </a:tc>
                <a:tc>
                  <a:txBody>
                    <a:bodyPr/>
                    <a:lstStyle/>
                    <a:p>
                      <a:pPr fontAlgn="t"/>
                      <a:r>
                        <a:rPr lang="en-US" sz="1000" dirty="0">
                          <a:effectLst/>
                        </a:rPr>
                        <a:t>The AND operator allows the existence of multiple conditions in an SQL statement's WHERE clause.</a:t>
                      </a:r>
                    </a:p>
                  </a:txBody>
                  <a:tcPr marL="57150" marR="57150" marT="57150" marB="57150"/>
                </a:tc>
              </a:tr>
              <a:tr h="422910">
                <a:tc>
                  <a:txBody>
                    <a:bodyPr/>
                    <a:lstStyle/>
                    <a:p>
                      <a:pPr fontAlgn="t"/>
                      <a:r>
                        <a:rPr lang="en-US" sz="1000" dirty="0">
                          <a:effectLst/>
                        </a:rPr>
                        <a:t>BETWEEN</a:t>
                      </a:r>
                    </a:p>
                  </a:txBody>
                  <a:tcPr marL="57150" marR="57150" marT="57150" marB="57150"/>
                </a:tc>
                <a:tc>
                  <a:txBody>
                    <a:bodyPr/>
                    <a:lstStyle/>
                    <a:p>
                      <a:pPr fontAlgn="t"/>
                      <a:r>
                        <a:rPr lang="en-US" sz="1000" dirty="0">
                          <a:effectLst/>
                        </a:rPr>
                        <a:t>The BETWEEN operator is used to search for values that are within a set of values, given the minimum value and the maximum value.</a:t>
                      </a:r>
                    </a:p>
                  </a:txBody>
                  <a:tcPr marL="57150" marR="57150" marT="57150" marB="57150"/>
                </a:tc>
              </a:tr>
              <a:tr h="422910">
                <a:tc>
                  <a:txBody>
                    <a:bodyPr/>
                    <a:lstStyle/>
                    <a:p>
                      <a:pPr fontAlgn="t"/>
                      <a:r>
                        <a:rPr lang="en-US" sz="1000" dirty="0">
                          <a:effectLst/>
                        </a:rPr>
                        <a:t>IN</a:t>
                      </a:r>
                    </a:p>
                  </a:txBody>
                  <a:tcPr marL="57150" marR="57150" marT="57150" marB="57150"/>
                </a:tc>
                <a:tc>
                  <a:txBody>
                    <a:bodyPr/>
                    <a:lstStyle/>
                    <a:p>
                      <a:pPr fontAlgn="t"/>
                      <a:r>
                        <a:rPr lang="en-US" sz="1000" dirty="0">
                          <a:effectLst/>
                        </a:rPr>
                        <a:t>The IN operator is used to compare a value to a list of literal values that have been specified.</a:t>
                      </a:r>
                    </a:p>
                  </a:txBody>
                  <a:tcPr marL="57150" marR="57150" marT="57150" marB="57150"/>
                </a:tc>
              </a:tr>
              <a:tr h="278130">
                <a:tc>
                  <a:txBody>
                    <a:bodyPr/>
                    <a:lstStyle/>
                    <a:p>
                      <a:pPr fontAlgn="t"/>
                      <a:r>
                        <a:rPr lang="en-US" sz="1000" dirty="0">
                          <a:effectLst/>
                        </a:rPr>
                        <a:t>LIKE</a:t>
                      </a:r>
                    </a:p>
                  </a:txBody>
                  <a:tcPr marL="57150" marR="57150" marT="57150" marB="57150"/>
                </a:tc>
                <a:tc>
                  <a:txBody>
                    <a:bodyPr/>
                    <a:lstStyle/>
                    <a:p>
                      <a:pPr fontAlgn="t"/>
                      <a:r>
                        <a:rPr lang="en-US" sz="1000" dirty="0">
                          <a:effectLst/>
                        </a:rPr>
                        <a:t>The LIKE operator is used to compare a value to similar values using wildcard operators.</a:t>
                      </a:r>
                    </a:p>
                  </a:txBody>
                  <a:tcPr marL="57150" marR="57150" marT="57150" marB="57150"/>
                </a:tc>
              </a:tr>
              <a:tr h="422910">
                <a:tc>
                  <a:txBody>
                    <a:bodyPr/>
                    <a:lstStyle/>
                    <a:p>
                      <a:pPr fontAlgn="t"/>
                      <a:r>
                        <a:rPr lang="en-US" sz="1000" dirty="0">
                          <a:effectLst/>
                        </a:rPr>
                        <a:t>NOT</a:t>
                      </a:r>
                    </a:p>
                  </a:txBody>
                  <a:tcPr marL="57150" marR="57150" marT="57150" marB="57150"/>
                </a:tc>
                <a:tc>
                  <a:txBody>
                    <a:bodyPr/>
                    <a:lstStyle/>
                    <a:p>
                      <a:pPr fontAlgn="t"/>
                      <a:r>
                        <a:rPr lang="en-US" sz="1000" dirty="0">
                          <a:effectLst/>
                        </a:rPr>
                        <a:t>The NOT operator reverses the meaning of the logical operator with which it is used. </a:t>
                      </a:r>
                      <a:r>
                        <a:rPr lang="en-US" sz="1000" dirty="0" err="1">
                          <a:effectLst/>
                        </a:rPr>
                        <a:t>Eg</a:t>
                      </a:r>
                      <a:r>
                        <a:rPr lang="en-US" sz="1000" dirty="0">
                          <a:effectLst/>
                        </a:rPr>
                        <a:t>: NOT EXISTS, NOT BETWEEN, NOT IN, etc. </a:t>
                      </a:r>
                      <a:r>
                        <a:rPr lang="en-US" sz="1000" b="1" dirty="0">
                          <a:effectLst/>
                        </a:rPr>
                        <a:t>This is a negate operator.</a:t>
                      </a:r>
                      <a:endParaRPr lang="en-US" sz="1000" dirty="0">
                        <a:effectLst/>
                      </a:endParaRPr>
                    </a:p>
                  </a:txBody>
                  <a:tcPr marL="57150" marR="57150" marT="57150" marB="57150"/>
                </a:tc>
              </a:tr>
            </a:tbl>
          </a:graphicData>
        </a:graphic>
      </p:graphicFrame>
    </p:spTree>
    <p:extLst>
      <p:ext uri="{BB962C8B-B14F-4D97-AF65-F5344CB8AC3E}">
        <p14:creationId xmlns:p14="http://schemas.microsoft.com/office/powerpoint/2010/main" val="3185908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Operator – AND</a:t>
            </a:r>
            <a:endParaRPr lang="en-US" dirty="0"/>
          </a:p>
        </p:txBody>
      </p:sp>
      <p:graphicFrame>
        <p:nvGraphicFramePr>
          <p:cNvPr id="4" name="Content Placeholder 3"/>
          <p:cNvGraphicFramePr>
            <a:graphicFrameLocks noGrp="1"/>
          </p:cNvGraphicFramePr>
          <p:nvPr>
            <p:ph idx="1"/>
            <p:extLst/>
          </p:nvPr>
        </p:nvGraphicFramePr>
        <p:xfrm>
          <a:off x="628648" y="2226469"/>
          <a:ext cx="7886701" cy="1856940"/>
        </p:xfrm>
        <a:graphic>
          <a:graphicData uri="http://schemas.openxmlformats.org/drawingml/2006/table">
            <a:tbl>
              <a:tblPr firstRow="1" bandRow="1">
                <a:tableStyleId>{5C22544A-7EE6-4342-B048-85BDC9FD1C3A}</a:tableStyleId>
              </a:tblPr>
              <a:tblGrid>
                <a:gridCol w="986375"/>
                <a:gridCol w="6900326"/>
              </a:tblGrid>
              <a:tr h="542891">
                <a:tc>
                  <a:txBody>
                    <a:bodyPr/>
                    <a:lstStyle/>
                    <a:p>
                      <a:r>
                        <a:rPr lang="en-US" sz="1000" dirty="0" smtClean="0"/>
                        <a:t>Example</a:t>
                      </a:r>
                      <a:endParaRPr lang="en-US" sz="1000" dirty="0"/>
                    </a:p>
                  </a:txBody>
                  <a:tcPr marL="68580" marR="68580" marT="34290" marB="34290"/>
                </a:tc>
                <a:tc>
                  <a:txBody>
                    <a:bodyPr/>
                    <a:lstStyle/>
                    <a:p>
                      <a:r>
                        <a:rPr lang="en-US" sz="1000" dirty="0" smtClean="0">
                          <a:effectLst/>
                        </a:rPr>
                        <a:t>SELECT * FROM Customers WHERE Country='Germany‘ AND City='Berlin';</a:t>
                      </a:r>
                      <a:endParaRPr lang="en-US" sz="1000" dirty="0"/>
                    </a:p>
                  </a:txBody>
                  <a:tcPr marL="68580" marR="68580" marT="34290" marB="34290"/>
                </a:tc>
              </a:tr>
              <a:tr h="1314049">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sp>
        <p:nvSpPr>
          <p:cNvPr id="6" name="TextBox 5"/>
          <p:cNvSpPr txBox="1"/>
          <p:nvPr/>
        </p:nvSpPr>
        <p:spPr>
          <a:xfrm>
            <a:off x="628650" y="4411803"/>
            <a:ext cx="7886700" cy="369332"/>
          </a:xfrm>
          <a:prstGeom prst="rect">
            <a:avLst/>
          </a:prstGeom>
          <a:solidFill>
            <a:schemeClr val="accent2"/>
          </a:solidFill>
        </p:spPr>
        <p:txBody>
          <a:bodyPr wrap="square" rtlCol="0">
            <a:spAutoFit/>
          </a:bodyPr>
          <a:lstStyle/>
          <a:p>
            <a:r>
              <a:rPr lang="en-US" dirty="0">
                <a:solidFill>
                  <a:schemeClr val="bg1"/>
                </a:solidFill>
              </a:rPr>
              <a:t>AND </a:t>
            </a:r>
            <a:r>
              <a:rPr lang="en-US" dirty="0">
                <a:solidFill>
                  <a:schemeClr val="bg1"/>
                </a:solidFill>
              </a:rPr>
              <a:t>operator </a:t>
            </a:r>
            <a:r>
              <a:rPr lang="en-US" dirty="0">
                <a:solidFill>
                  <a:schemeClr val="bg1"/>
                </a:solidFill>
              </a:rPr>
              <a:t>- </a:t>
            </a:r>
            <a:r>
              <a:rPr lang="en-US" dirty="0">
                <a:solidFill>
                  <a:schemeClr val="bg1"/>
                </a:solidFill>
              </a:rPr>
              <a:t>if both the first condition AND the second condition are true</a:t>
            </a:r>
            <a:r>
              <a:rPr lang="en-US" dirty="0">
                <a:solidFill>
                  <a:schemeClr val="bg1"/>
                </a:solidFill>
              </a:rPr>
              <a:t>.</a:t>
            </a:r>
            <a:endParaRPr lang="en-US" dirty="0">
              <a:solidFill>
                <a:schemeClr val="bg1"/>
              </a:solidFill>
            </a:endParaRPr>
          </a:p>
        </p:txBody>
      </p:sp>
      <p:pic>
        <p:nvPicPr>
          <p:cNvPr id="5" name="Picture 4"/>
          <p:cNvPicPr>
            <a:picLocks noChangeAspect="1"/>
          </p:cNvPicPr>
          <p:nvPr/>
        </p:nvPicPr>
        <p:blipFill>
          <a:blip r:embed="rId2"/>
          <a:stretch>
            <a:fillRect/>
          </a:stretch>
        </p:blipFill>
        <p:spPr>
          <a:xfrm>
            <a:off x="746522" y="3175397"/>
            <a:ext cx="7650956" cy="507206"/>
          </a:xfrm>
          <a:prstGeom prst="rect">
            <a:avLst/>
          </a:prstGeom>
        </p:spPr>
      </p:pic>
    </p:spTree>
    <p:extLst>
      <p:ext uri="{BB962C8B-B14F-4D97-AF65-F5344CB8AC3E}">
        <p14:creationId xmlns:p14="http://schemas.microsoft.com/office/powerpoint/2010/main" val="31777291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Operator – OR</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71608909"/>
              </p:ext>
            </p:extLst>
          </p:nvPr>
        </p:nvGraphicFramePr>
        <p:xfrm>
          <a:off x="628648" y="2226468"/>
          <a:ext cx="7886701" cy="2494444"/>
        </p:xfrm>
        <a:graphic>
          <a:graphicData uri="http://schemas.openxmlformats.org/drawingml/2006/table">
            <a:tbl>
              <a:tblPr firstRow="1" bandRow="1">
                <a:tableStyleId>{5C22544A-7EE6-4342-B048-85BDC9FD1C3A}</a:tableStyleId>
              </a:tblPr>
              <a:tblGrid>
                <a:gridCol w="986375"/>
                <a:gridCol w="6900326"/>
              </a:tblGrid>
              <a:tr h="729269">
                <a:tc>
                  <a:txBody>
                    <a:bodyPr/>
                    <a:lstStyle/>
                    <a:p>
                      <a:r>
                        <a:rPr lang="en-US" sz="1000" dirty="0" smtClean="0"/>
                        <a:t>Example</a:t>
                      </a:r>
                      <a:endParaRPr lang="en-US" sz="1000" dirty="0"/>
                    </a:p>
                  </a:txBody>
                  <a:tcPr marL="68580" marR="68580" marT="34290" marB="34290"/>
                </a:tc>
                <a:tc>
                  <a:txBody>
                    <a:bodyPr/>
                    <a:lstStyle/>
                    <a:p>
                      <a:r>
                        <a:rPr lang="en-US" sz="1000" dirty="0" smtClean="0">
                          <a:effectLst/>
                        </a:rPr>
                        <a:t>SELECT * FROM Customers WHERE Country='Germany‘ OR City='Berlin';</a:t>
                      </a:r>
                      <a:endParaRPr lang="en-US" sz="1000" dirty="0"/>
                    </a:p>
                  </a:txBody>
                  <a:tcPr marL="68580" marR="68580" marT="34290" marB="34290"/>
                </a:tc>
              </a:tr>
              <a:tr h="1765175">
                <a:tc>
                  <a:txBody>
                    <a:bodyPr/>
                    <a:lstStyle/>
                    <a:p>
                      <a:r>
                        <a:rPr lang="en-US" sz="1000" dirty="0" smtClean="0"/>
                        <a:t>Result</a:t>
                      </a:r>
                      <a:endParaRPr lang="en-US" sz="1000" dirty="0"/>
                    </a:p>
                  </a:txBody>
                  <a:tcPr marL="68580" marR="68580" marT="34290" marB="34290"/>
                </a:tc>
                <a:tc>
                  <a:txBody>
                    <a:bodyPr/>
                    <a:lstStyle/>
                    <a:p>
                      <a:endParaRPr lang="en-US" sz="1000" dirty="0"/>
                    </a:p>
                  </a:txBody>
                  <a:tcPr marL="68580" marR="68580" marT="34290" marB="34290"/>
                </a:tc>
              </a:tr>
            </a:tbl>
          </a:graphicData>
        </a:graphic>
      </p:graphicFrame>
      <p:sp>
        <p:nvSpPr>
          <p:cNvPr id="6" name="TextBox 5"/>
          <p:cNvSpPr txBox="1"/>
          <p:nvPr/>
        </p:nvSpPr>
        <p:spPr>
          <a:xfrm>
            <a:off x="628650" y="4810746"/>
            <a:ext cx="7886700" cy="369332"/>
          </a:xfrm>
          <a:prstGeom prst="rect">
            <a:avLst/>
          </a:prstGeom>
          <a:solidFill>
            <a:schemeClr val="accent2"/>
          </a:solidFill>
        </p:spPr>
        <p:txBody>
          <a:bodyPr wrap="square" rtlCol="0">
            <a:spAutoFit/>
          </a:bodyPr>
          <a:lstStyle/>
          <a:p>
            <a:r>
              <a:rPr lang="en-US" dirty="0">
                <a:solidFill>
                  <a:schemeClr val="bg1"/>
                </a:solidFill>
              </a:rPr>
              <a:t>AND </a:t>
            </a:r>
            <a:r>
              <a:rPr lang="en-US" dirty="0">
                <a:solidFill>
                  <a:schemeClr val="bg1"/>
                </a:solidFill>
              </a:rPr>
              <a:t>operator </a:t>
            </a:r>
            <a:r>
              <a:rPr lang="en-US" dirty="0">
                <a:solidFill>
                  <a:schemeClr val="bg1"/>
                </a:solidFill>
              </a:rPr>
              <a:t>- </a:t>
            </a:r>
            <a:r>
              <a:rPr lang="en-US" dirty="0">
                <a:solidFill>
                  <a:schemeClr val="bg1"/>
                </a:solidFill>
              </a:rPr>
              <a:t>if both the first condition </a:t>
            </a:r>
            <a:r>
              <a:rPr lang="en-US" dirty="0">
                <a:solidFill>
                  <a:schemeClr val="bg1"/>
                </a:solidFill>
              </a:rPr>
              <a:t>OR the </a:t>
            </a:r>
            <a:r>
              <a:rPr lang="en-US" dirty="0">
                <a:solidFill>
                  <a:schemeClr val="bg1"/>
                </a:solidFill>
              </a:rPr>
              <a:t>second condition are true</a:t>
            </a:r>
            <a:r>
              <a:rPr lang="en-US" dirty="0">
                <a:solidFill>
                  <a:schemeClr val="bg1"/>
                </a:solidFill>
              </a:rPr>
              <a:t>.</a:t>
            </a:r>
            <a:endParaRPr lang="en-US" dirty="0">
              <a:solidFill>
                <a:schemeClr val="bg1"/>
              </a:solidFill>
            </a:endParaRPr>
          </a:p>
        </p:txBody>
      </p:sp>
      <p:pic>
        <p:nvPicPr>
          <p:cNvPr id="3" name="Picture 2"/>
          <p:cNvPicPr>
            <a:picLocks noChangeAspect="1"/>
          </p:cNvPicPr>
          <p:nvPr/>
        </p:nvPicPr>
        <p:blipFill>
          <a:blip r:embed="rId2"/>
          <a:stretch>
            <a:fillRect/>
          </a:stretch>
        </p:blipFill>
        <p:spPr>
          <a:xfrm>
            <a:off x="800100" y="3196526"/>
            <a:ext cx="7543800" cy="1450181"/>
          </a:xfrm>
          <a:prstGeom prst="rect">
            <a:avLst/>
          </a:prstGeom>
        </p:spPr>
      </p:pic>
    </p:spTree>
    <p:extLst>
      <p:ext uri="{BB962C8B-B14F-4D97-AF65-F5344CB8AC3E}">
        <p14:creationId xmlns:p14="http://schemas.microsoft.com/office/powerpoint/2010/main" val="16863773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Operator – IN</a:t>
            </a:r>
            <a:endParaRPr lang="en-US" dirty="0"/>
          </a:p>
        </p:txBody>
      </p:sp>
      <p:sp>
        <p:nvSpPr>
          <p:cNvPr id="6" name="TextBox 5"/>
          <p:cNvSpPr txBox="1"/>
          <p:nvPr/>
        </p:nvSpPr>
        <p:spPr>
          <a:xfrm>
            <a:off x="628649" y="5165689"/>
            <a:ext cx="7886700" cy="369332"/>
          </a:xfrm>
          <a:prstGeom prst="rect">
            <a:avLst/>
          </a:prstGeom>
          <a:solidFill>
            <a:schemeClr val="accent2"/>
          </a:solidFill>
        </p:spPr>
        <p:txBody>
          <a:bodyPr wrap="square" rtlCol="0">
            <a:spAutoFit/>
          </a:bodyPr>
          <a:lstStyle/>
          <a:p>
            <a:r>
              <a:rPr lang="en-US" dirty="0">
                <a:solidFill>
                  <a:schemeClr val="bg1"/>
                </a:solidFill>
              </a:rPr>
              <a:t>The IN operator allows you to specify multiple values in a WHERE clause.</a:t>
            </a:r>
          </a:p>
        </p:txBody>
      </p:sp>
      <p:graphicFrame>
        <p:nvGraphicFramePr>
          <p:cNvPr id="7" name="Table 6"/>
          <p:cNvGraphicFramePr>
            <a:graphicFrameLocks noGrp="1"/>
          </p:cNvGraphicFramePr>
          <p:nvPr>
            <p:extLst>
              <p:ext uri="{D42A27DB-BD31-4B8C-83A1-F6EECF244321}">
                <p14:modId xmlns:p14="http://schemas.microsoft.com/office/powerpoint/2010/main" val="3096919077"/>
              </p:ext>
            </p:extLst>
          </p:nvPr>
        </p:nvGraphicFramePr>
        <p:xfrm>
          <a:off x="628650" y="1957231"/>
          <a:ext cx="7886700" cy="1615973"/>
        </p:xfrm>
        <a:graphic>
          <a:graphicData uri="http://schemas.openxmlformats.org/drawingml/2006/table">
            <a:tbl>
              <a:tblPr firstRow="1" bandRow="1">
                <a:tableStyleId>{5C22544A-7EE6-4342-B048-85BDC9FD1C3A}</a:tableStyleId>
              </a:tblPr>
              <a:tblGrid>
                <a:gridCol w="1699206"/>
                <a:gridCol w="6187494"/>
              </a:tblGrid>
              <a:tr h="48006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 </a:t>
                      </a: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table_name</a:t>
                      </a:r>
                      <a:r>
                        <a:rPr lang="en-US" sz="1000" dirty="0" smtClean="0"/>
                        <a:t/>
                      </a:r>
                      <a:br>
                        <a:rPr lang="en-US" sz="1000" dirty="0" smtClean="0"/>
                      </a:br>
                      <a:r>
                        <a:rPr lang="en-US" sz="1400" b="0" i="0" kern="1200" dirty="0" smtClean="0">
                          <a:solidFill>
                            <a:schemeClr val="lt1"/>
                          </a:solidFill>
                          <a:effectLst/>
                          <a:latin typeface="+mn-lt"/>
                          <a:ea typeface="+mn-ea"/>
                          <a:cs typeface="+mn-cs"/>
                        </a:rPr>
                        <a:t>WHERE </a:t>
                      </a:r>
                      <a:r>
                        <a:rPr lang="en-US" sz="1400" b="0" i="1" kern="1200" dirty="0" smtClean="0">
                          <a:solidFill>
                            <a:schemeClr val="lt1"/>
                          </a:solidFill>
                          <a:effectLst/>
                          <a:latin typeface="+mn-lt"/>
                          <a:ea typeface="+mn-ea"/>
                          <a:cs typeface="+mn-cs"/>
                        </a:rPr>
                        <a:t>column_name</a:t>
                      </a:r>
                      <a:r>
                        <a:rPr lang="en-US" sz="1400" b="0" i="0" kern="1200" dirty="0" smtClean="0">
                          <a:solidFill>
                            <a:schemeClr val="lt1"/>
                          </a:solidFill>
                          <a:effectLst/>
                          <a:latin typeface="+mn-lt"/>
                          <a:ea typeface="+mn-ea"/>
                          <a:cs typeface="+mn-cs"/>
                        </a:rPr>
                        <a:t> IN (</a:t>
                      </a:r>
                      <a:r>
                        <a:rPr lang="en-US" sz="1400" b="0" i="1" kern="1200" dirty="0" smtClean="0">
                          <a:solidFill>
                            <a:schemeClr val="lt1"/>
                          </a:solidFill>
                          <a:effectLst/>
                          <a:latin typeface="+mn-lt"/>
                          <a:ea typeface="+mn-ea"/>
                          <a:cs typeface="+mn-cs"/>
                        </a:rPr>
                        <a:t>value1</a:t>
                      </a:r>
                      <a:r>
                        <a:rPr lang="en-US" sz="1400" b="0" i="0" kern="1200" dirty="0" smtClean="0">
                          <a:solidFill>
                            <a:schemeClr val="lt1"/>
                          </a:solidFill>
                          <a:effectLst/>
                          <a:latin typeface="+mn-lt"/>
                          <a:ea typeface="+mn-ea"/>
                          <a:cs typeface="+mn-cs"/>
                        </a:rPr>
                        <a:t>,</a:t>
                      </a:r>
                      <a:r>
                        <a:rPr lang="en-US" sz="1400" b="0" i="1" kern="1200" dirty="0" smtClean="0">
                          <a:solidFill>
                            <a:schemeClr val="lt1"/>
                          </a:solidFill>
                          <a:effectLst/>
                          <a:latin typeface="+mn-lt"/>
                          <a:ea typeface="+mn-ea"/>
                          <a:cs typeface="+mn-cs"/>
                        </a:rPr>
                        <a:t>value2</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2743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SELECT * FROM Customers WHERE City IN ('Paris', 'London');</a:t>
                      </a:r>
                      <a:endParaRPr lang="en-US" sz="1000" dirty="0"/>
                    </a:p>
                  </a:txBody>
                  <a:tcPr marL="68580" marR="68580" marT="34290" marB="34290"/>
                </a:tc>
              </a:tr>
              <a:tr h="838733">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8" name="Picture 7"/>
          <p:cNvPicPr>
            <a:picLocks noChangeAspect="1"/>
          </p:cNvPicPr>
          <p:nvPr/>
        </p:nvPicPr>
        <p:blipFill>
          <a:blip r:embed="rId2"/>
          <a:stretch>
            <a:fillRect/>
          </a:stretch>
        </p:blipFill>
        <p:spPr>
          <a:xfrm>
            <a:off x="803671" y="2749925"/>
            <a:ext cx="7536656" cy="2157413"/>
          </a:xfrm>
          <a:prstGeom prst="rect">
            <a:avLst/>
          </a:prstGeom>
        </p:spPr>
      </p:pic>
    </p:spTree>
    <p:extLst>
      <p:ext uri="{BB962C8B-B14F-4D97-AF65-F5344CB8AC3E}">
        <p14:creationId xmlns:p14="http://schemas.microsoft.com/office/powerpoint/2010/main" val="42456635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Operator – LIKE</a:t>
            </a:r>
            <a:endParaRPr lang="en-US" dirty="0"/>
          </a:p>
        </p:txBody>
      </p:sp>
      <p:sp>
        <p:nvSpPr>
          <p:cNvPr id="6" name="TextBox 5"/>
          <p:cNvSpPr txBox="1"/>
          <p:nvPr/>
        </p:nvSpPr>
        <p:spPr>
          <a:xfrm>
            <a:off x="628649" y="5165689"/>
            <a:ext cx="7886700" cy="369332"/>
          </a:xfrm>
          <a:prstGeom prst="rect">
            <a:avLst/>
          </a:prstGeom>
          <a:solidFill>
            <a:schemeClr val="accent2"/>
          </a:solidFill>
        </p:spPr>
        <p:txBody>
          <a:bodyPr wrap="square" rtlCol="0">
            <a:spAutoFit/>
          </a:bodyPr>
          <a:lstStyle/>
          <a:p>
            <a:r>
              <a:rPr lang="en-US" dirty="0"/>
              <a:t>The LIKE operator is used in a WHERE clause to search for a specified </a:t>
            </a:r>
            <a:r>
              <a:rPr lang="en-US" dirty="0"/>
              <a:t>pattern</a:t>
            </a:r>
            <a:endParaRPr lang="en-US" dirty="0">
              <a:solidFill>
                <a:schemeClr val="bg1"/>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1813062638"/>
              </p:ext>
            </p:extLst>
          </p:nvPr>
        </p:nvGraphicFramePr>
        <p:xfrm>
          <a:off x="628650" y="1957231"/>
          <a:ext cx="7886700" cy="1474496"/>
        </p:xfrm>
        <a:graphic>
          <a:graphicData uri="http://schemas.openxmlformats.org/drawingml/2006/table">
            <a:tbl>
              <a:tblPr firstRow="1" bandRow="1">
                <a:tableStyleId>{5C22544A-7EE6-4342-B048-85BDC9FD1C3A}</a:tableStyleId>
              </a:tblPr>
              <a:tblGrid>
                <a:gridCol w="1699206"/>
                <a:gridCol w="6187494"/>
              </a:tblGrid>
              <a:tr h="353823">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 </a:t>
                      </a: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table_name </a:t>
                      </a:r>
                      <a:r>
                        <a:rPr lang="en-US" sz="1400" b="0" i="0" kern="1200" dirty="0" smtClean="0">
                          <a:solidFill>
                            <a:schemeClr val="lt1"/>
                          </a:solidFill>
                          <a:effectLst/>
                          <a:latin typeface="+mn-lt"/>
                          <a:ea typeface="+mn-ea"/>
                          <a:cs typeface="+mn-cs"/>
                        </a:rPr>
                        <a:t>WHERE </a:t>
                      </a:r>
                      <a:r>
                        <a:rPr lang="en-US" sz="1400" b="0" i="1" kern="1200" dirty="0" smtClean="0">
                          <a:solidFill>
                            <a:schemeClr val="lt1"/>
                          </a:solidFill>
                          <a:effectLst/>
                          <a:latin typeface="+mn-lt"/>
                          <a:ea typeface="+mn-ea"/>
                          <a:cs typeface="+mn-cs"/>
                        </a:rPr>
                        <a:t>column_name</a:t>
                      </a:r>
                      <a:r>
                        <a:rPr lang="en-US" sz="1400" b="0" i="0" kern="1200" dirty="0" smtClean="0">
                          <a:solidFill>
                            <a:schemeClr val="lt1"/>
                          </a:solidFill>
                          <a:effectLst/>
                          <a:latin typeface="+mn-lt"/>
                          <a:ea typeface="+mn-ea"/>
                          <a:cs typeface="+mn-cs"/>
                        </a:rPr>
                        <a:t> LIKE </a:t>
                      </a:r>
                      <a:r>
                        <a:rPr lang="en-US" sz="1400" b="0" i="1" kern="1200" dirty="0" smtClean="0">
                          <a:solidFill>
                            <a:schemeClr val="lt1"/>
                          </a:solidFill>
                          <a:effectLst/>
                          <a:latin typeface="+mn-lt"/>
                          <a:ea typeface="+mn-ea"/>
                          <a:cs typeface="+mn-cs"/>
                        </a:rPr>
                        <a:t>pattern</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2743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SELECT * FROM Customers WHERE City LIKE 's%';</a:t>
                      </a:r>
                      <a:endParaRPr lang="en-US" sz="1000" dirty="0"/>
                    </a:p>
                  </a:txBody>
                  <a:tcPr marL="68580" marR="68580" marT="34290" marB="34290"/>
                </a:tc>
              </a:tr>
              <a:tr h="838733">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807243" y="2691787"/>
            <a:ext cx="7529513" cy="1907381"/>
          </a:xfrm>
          <a:prstGeom prst="rect">
            <a:avLst/>
          </a:prstGeom>
        </p:spPr>
      </p:pic>
    </p:spTree>
    <p:extLst>
      <p:ext uri="{BB962C8B-B14F-4D97-AF65-F5344CB8AC3E}">
        <p14:creationId xmlns:p14="http://schemas.microsoft.com/office/powerpoint/2010/main" val="7379411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Operator – LIKE</a:t>
            </a:r>
            <a:endParaRPr lang="en-US" dirty="0"/>
          </a:p>
        </p:txBody>
      </p:sp>
      <p:sp>
        <p:nvSpPr>
          <p:cNvPr id="6" name="TextBox 5"/>
          <p:cNvSpPr txBox="1"/>
          <p:nvPr/>
        </p:nvSpPr>
        <p:spPr>
          <a:xfrm>
            <a:off x="628649" y="5165689"/>
            <a:ext cx="7886700" cy="369332"/>
          </a:xfrm>
          <a:prstGeom prst="rect">
            <a:avLst/>
          </a:prstGeom>
          <a:solidFill>
            <a:schemeClr val="accent2"/>
          </a:solidFill>
        </p:spPr>
        <p:txBody>
          <a:bodyPr wrap="square" rtlCol="0">
            <a:spAutoFit/>
          </a:bodyPr>
          <a:lstStyle/>
          <a:p>
            <a:r>
              <a:rPr lang="en-US" dirty="0"/>
              <a:t>The LIKE operator is used in a WHERE clause to search for a specified </a:t>
            </a:r>
            <a:r>
              <a:rPr lang="en-US" dirty="0"/>
              <a:t>pattern</a:t>
            </a:r>
            <a:endParaRPr lang="en-US" dirty="0">
              <a:solidFill>
                <a:schemeClr val="bg1"/>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2261995677"/>
              </p:ext>
            </p:extLst>
          </p:nvPr>
        </p:nvGraphicFramePr>
        <p:xfrm>
          <a:off x="628650" y="1957231"/>
          <a:ext cx="7886700" cy="1474496"/>
        </p:xfrm>
        <a:graphic>
          <a:graphicData uri="http://schemas.openxmlformats.org/drawingml/2006/table">
            <a:tbl>
              <a:tblPr firstRow="1" bandRow="1">
                <a:tableStyleId>{5C22544A-7EE6-4342-B048-85BDC9FD1C3A}</a:tableStyleId>
              </a:tblPr>
              <a:tblGrid>
                <a:gridCol w="1699206"/>
                <a:gridCol w="6187494"/>
              </a:tblGrid>
              <a:tr h="353823">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 </a:t>
                      </a: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table_name </a:t>
                      </a:r>
                      <a:r>
                        <a:rPr lang="en-US" sz="1400" b="0" i="0" kern="1200" dirty="0" smtClean="0">
                          <a:solidFill>
                            <a:schemeClr val="lt1"/>
                          </a:solidFill>
                          <a:effectLst/>
                          <a:latin typeface="+mn-lt"/>
                          <a:ea typeface="+mn-ea"/>
                          <a:cs typeface="+mn-cs"/>
                        </a:rPr>
                        <a:t>WHERE </a:t>
                      </a:r>
                      <a:r>
                        <a:rPr lang="en-US" sz="1400" b="0" i="1" kern="1200" dirty="0" smtClean="0">
                          <a:solidFill>
                            <a:schemeClr val="lt1"/>
                          </a:solidFill>
                          <a:effectLst/>
                          <a:latin typeface="+mn-lt"/>
                          <a:ea typeface="+mn-ea"/>
                          <a:cs typeface="+mn-cs"/>
                        </a:rPr>
                        <a:t>column_name</a:t>
                      </a:r>
                      <a:r>
                        <a:rPr lang="en-US" sz="1400" b="0" i="0" kern="1200" dirty="0" smtClean="0">
                          <a:solidFill>
                            <a:schemeClr val="lt1"/>
                          </a:solidFill>
                          <a:effectLst/>
                          <a:latin typeface="+mn-lt"/>
                          <a:ea typeface="+mn-ea"/>
                          <a:cs typeface="+mn-cs"/>
                        </a:rPr>
                        <a:t> LIKE </a:t>
                      </a:r>
                      <a:r>
                        <a:rPr lang="en-US" sz="1400" b="0" i="1" kern="1200" dirty="0" smtClean="0">
                          <a:solidFill>
                            <a:schemeClr val="lt1"/>
                          </a:solidFill>
                          <a:effectLst/>
                          <a:latin typeface="+mn-lt"/>
                          <a:ea typeface="+mn-ea"/>
                          <a:cs typeface="+mn-cs"/>
                        </a:rPr>
                        <a:t>pattern</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2743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SELECT * FROM Customers WHERE City LIKE '%s';</a:t>
                      </a:r>
                      <a:endParaRPr lang="en-US" sz="1000" dirty="0"/>
                    </a:p>
                  </a:txBody>
                  <a:tcPr marL="68580" marR="68580" marT="34290" marB="34290"/>
                </a:tc>
              </a:tr>
              <a:tr h="838733">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4" name="Picture 3"/>
          <p:cNvPicPr>
            <a:picLocks noChangeAspect="1"/>
          </p:cNvPicPr>
          <p:nvPr/>
        </p:nvPicPr>
        <p:blipFill>
          <a:blip r:embed="rId2"/>
          <a:stretch>
            <a:fillRect/>
          </a:stretch>
        </p:blipFill>
        <p:spPr>
          <a:xfrm>
            <a:off x="800099" y="2688215"/>
            <a:ext cx="7543800" cy="1914525"/>
          </a:xfrm>
          <a:prstGeom prst="rect">
            <a:avLst/>
          </a:prstGeom>
        </p:spPr>
      </p:pic>
    </p:spTree>
    <p:extLst>
      <p:ext uri="{BB962C8B-B14F-4D97-AF65-F5344CB8AC3E}">
        <p14:creationId xmlns:p14="http://schemas.microsoft.com/office/powerpoint/2010/main" val="28086671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Operator – BETWEEN</a:t>
            </a:r>
            <a:endParaRPr lang="en-US" dirty="0"/>
          </a:p>
        </p:txBody>
      </p:sp>
      <p:sp>
        <p:nvSpPr>
          <p:cNvPr id="6" name="TextBox 5"/>
          <p:cNvSpPr txBox="1"/>
          <p:nvPr/>
        </p:nvSpPr>
        <p:spPr>
          <a:xfrm>
            <a:off x="628649" y="5165689"/>
            <a:ext cx="7886700" cy="646331"/>
          </a:xfrm>
          <a:prstGeom prst="rect">
            <a:avLst/>
          </a:prstGeom>
          <a:solidFill>
            <a:schemeClr val="accent2"/>
          </a:solidFill>
        </p:spPr>
        <p:txBody>
          <a:bodyPr wrap="square" rtlCol="0">
            <a:spAutoFit/>
          </a:bodyPr>
          <a:lstStyle/>
          <a:p>
            <a:r>
              <a:rPr lang="en-US" dirty="0">
                <a:solidFill>
                  <a:schemeClr val="bg1"/>
                </a:solidFill>
              </a:rPr>
              <a:t>The BETWEEN operator selects values within a range. The values can be numbers, text, or dates.</a:t>
            </a:r>
          </a:p>
        </p:txBody>
      </p:sp>
      <p:graphicFrame>
        <p:nvGraphicFramePr>
          <p:cNvPr id="7" name="Table 6"/>
          <p:cNvGraphicFramePr>
            <a:graphicFrameLocks noGrp="1"/>
          </p:cNvGraphicFramePr>
          <p:nvPr>
            <p:extLst>
              <p:ext uri="{D42A27DB-BD31-4B8C-83A1-F6EECF244321}">
                <p14:modId xmlns:p14="http://schemas.microsoft.com/office/powerpoint/2010/main" val="3496145293"/>
              </p:ext>
            </p:extLst>
          </p:nvPr>
        </p:nvGraphicFramePr>
        <p:xfrm>
          <a:off x="628650" y="1957231"/>
          <a:ext cx="7886700" cy="1615973"/>
        </p:xfrm>
        <a:graphic>
          <a:graphicData uri="http://schemas.openxmlformats.org/drawingml/2006/table">
            <a:tbl>
              <a:tblPr firstRow="1" bandRow="1">
                <a:tableStyleId>{5C22544A-7EE6-4342-B048-85BDC9FD1C3A}</a:tableStyleId>
              </a:tblPr>
              <a:tblGrid>
                <a:gridCol w="1699206"/>
                <a:gridCol w="6187494"/>
              </a:tblGrid>
              <a:tr h="48006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 </a:t>
                      </a: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table_name </a:t>
                      </a:r>
                      <a:r>
                        <a:rPr lang="en-US" sz="1400" b="0" i="0" kern="1200" dirty="0" smtClean="0">
                          <a:solidFill>
                            <a:schemeClr val="lt1"/>
                          </a:solidFill>
                          <a:effectLst/>
                          <a:latin typeface="+mn-lt"/>
                          <a:ea typeface="+mn-ea"/>
                          <a:cs typeface="+mn-cs"/>
                        </a:rPr>
                        <a:t>WHERE </a:t>
                      </a:r>
                      <a:r>
                        <a:rPr lang="en-US" sz="1400" b="0" i="1" kern="1200" dirty="0" smtClean="0">
                          <a:solidFill>
                            <a:schemeClr val="lt1"/>
                          </a:solidFill>
                          <a:effectLst/>
                          <a:latin typeface="+mn-lt"/>
                          <a:ea typeface="+mn-ea"/>
                          <a:cs typeface="+mn-cs"/>
                        </a:rPr>
                        <a:t>column_name</a:t>
                      </a:r>
                      <a:r>
                        <a:rPr lang="en-US" sz="1400" b="0" i="0" kern="1200" dirty="0" smtClean="0">
                          <a:solidFill>
                            <a:schemeClr val="lt1"/>
                          </a:solidFill>
                          <a:effectLst/>
                          <a:latin typeface="+mn-lt"/>
                          <a:ea typeface="+mn-ea"/>
                          <a:cs typeface="+mn-cs"/>
                        </a:rPr>
                        <a:t> BETWEEN </a:t>
                      </a:r>
                      <a:r>
                        <a:rPr lang="en-US" sz="1400" b="0" i="1" kern="1200" dirty="0" smtClean="0">
                          <a:solidFill>
                            <a:schemeClr val="lt1"/>
                          </a:solidFill>
                          <a:effectLst/>
                          <a:latin typeface="+mn-lt"/>
                          <a:ea typeface="+mn-ea"/>
                          <a:cs typeface="+mn-cs"/>
                        </a:rPr>
                        <a:t>value1</a:t>
                      </a:r>
                      <a:r>
                        <a:rPr lang="en-US" sz="1400" b="0" i="0" kern="1200" dirty="0" smtClean="0">
                          <a:solidFill>
                            <a:schemeClr val="lt1"/>
                          </a:solidFill>
                          <a:effectLst/>
                          <a:latin typeface="+mn-lt"/>
                          <a:ea typeface="+mn-ea"/>
                          <a:cs typeface="+mn-cs"/>
                        </a:rPr>
                        <a:t> AND </a:t>
                      </a:r>
                      <a:r>
                        <a:rPr lang="en-US" sz="1400" b="0" i="1" kern="1200" dirty="0" smtClean="0">
                          <a:solidFill>
                            <a:schemeClr val="lt1"/>
                          </a:solidFill>
                          <a:effectLst/>
                          <a:latin typeface="+mn-lt"/>
                          <a:ea typeface="+mn-ea"/>
                          <a:cs typeface="+mn-cs"/>
                        </a:rPr>
                        <a:t>value2;</a:t>
                      </a:r>
                      <a:endParaRPr lang="en-US" sz="1000" dirty="0"/>
                    </a:p>
                  </a:txBody>
                  <a:tcPr marL="68580" marR="68580" marT="34290" marB="34290"/>
                </a:tc>
              </a:tr>
              <a:tr h="2743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SELECT * FROM Products WHERE Price BETWEEN 10 AND 20;</a:t>
                      </a:r>
                      <a:endParaRPr lang="en-US" sz="1000" dirty="0"/>
                    </a:p>
                  </a:txBody>
                  <a:tcPr marL="68580" marR="68580" marT="34290" marB="34290"/>
                </a:tc>
              </a:tr>
              <a:tr h="838733">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800099" y="2802515"/>
            <a:ext cx="7543800" cy="1685925"/>
          </a:xfrm>
          <a:prstGeom prst="rect">
            <a:avLst/>
          </a:prstGeom>
        </p:spPr>
      </p:pic>
    </p:spTree>
    <p:extLst>
      <p:ext uri="{BB962C8B-B14F-4D97-AF65-F5344CB8AC3E}">
        <p14:creationId xmlns:p14="http://schemas.microsoft.com/office/powerpoint/2010/main" val="3638725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Operator – BETWEEN</a:t>
            </a:r>
            <a:endParaRPr lang="en-US" dirty="0"/>
          </a:p>
        </p:txBody>
      </p:sp>
      <p:sp>
        <p:nvSpPr>
          <p:cNvPr id="6" name="TextBox 5"/>
          <p:cNvSpPr txBox="1"/>
          <p:nvPr/>
        </p:nvSpPr>
        <p:spPr>
          <a:xfrm>
            <a:off x="628649" y="5165689"/>
            <a:ext cx="7886700" cy="646331"/>
          </a:xfrm>
          <a:prstGeom prst="rect">
            <a:avLst/>
          </a:prstGeom>
          <a:solidFill>
            <a:schemeClr val="accent2"/>
          </a:solidFill>
        </p:spPr>
        <p:txBody>
          <a:bodyPr wrap="square" rtlCol="0">
            <a:spAutoFit/>
          </a:bodyPr>
          <a:lstStyle/>
          <a:p>
            <a:r>
              <a:rPr lang="en-US" dirty="0">
                <a:solidFill>
                  <a:schemeClr val="bg1"/>
                </a:solidFill>
              </a:rPr>
              <a:t>The BETWEEN operator selects values within a range. The values can be numbers, text, or dates.</a:t>
            </a:r>
          </a:p>
        </p:txBody>
      </p:sp>
      <p:graphicFrame>
        <p:nvGraphicFramePr>
          <p:cNvPr id="7" name="Table 6"/>
          <p:cNvGraphicFramePr>
            <a:graphicFrameLocks noGrp="1"/>
          </p:cNvGraphicFramePr>
          <p:nvPr>
            <p:extLst>
              <p:ext uri="{D42A27DB-BD31-4B8C-83A1-F6EECF244321}">
                <p14:modId xmlns:p14="http://schemas.microsoft.com/office/powerpoint/2010/main" val="2341454715"/>
              </p:ext>
            </p:extLst>
          </p:nvPr>
        </p:nvGraphicFramePr>
        <p:xfrm>
          <a:off x="628650" y="1957231"/>
          <a:ext cx="7886700" cy="1615973"/>
        </p:xfrm>
        <a:graphic>
          <a:graphicData uri="http://schemas.openxmlformats.org/drawingml/2006/table">
            <a:tbl>
              <a:tblPr firstRow="1" bandRow="1">
                <a:tableStyleId>{5C22544A-7EE6-4342-B048-85BDC9FD1C3A}</a:tableStyleId>
              </a:tblPr>
              <a:tblGrid>
                <a:gridCol w="1699206"/>
                <a:gridCol w="6187494"/>
              </a:tblGrid>
              <a:tr h="48006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 </a:t>
                      </a: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table_name </a:t>
                      </a:r>
                      <a:r>
                        <a:rPr lang="en-US" sz="1400" b="0" i="0" kern="1200" dirty="0" smtClean="0">
                          <a:solidFill>
                            <a:schemeClr val="lt1"/>
                          </a:solidFill>
                          <a:effectLst/>
                          <a:latin typeface="+mn-lt"/>
                          <a:ea typeface="+mn-ea"/>
                          <a:cs typeface="+mn-cs"/>
                        </a:rPr>
                        <a:t>WHERE </a:t>
                      </a:r>
                      <a:r>
                        <a:rPr lang="en-US" sz="1400" b="0" i="1" kern="1200" dirty="0" smtClean="0">
                          <a:solidFill>
                            <a:schemeClr val="lt1"/>
                          </a:solidFill>
                          <a:effectLst/>
                          <a:latin typeface="+mn-lt"/>
                          <a:ea typeface="+mn-ea"/>
                          <a:cs typeface="+mn-cs"/>
                        </a:rPr>
                        <a:t>column_name</a:t>
                      </a:r>
                      <a:r>
                        <a:rPr lang="en-US" sz="1400" b="0" i="0" kern="1200" dirty="0" smtClean="0">
                          <a:solidFill>
                            <a:schemeClr val="lt1"/>
                          </a:solidFill>
                          <a:effectLst/>
                          <a:latin typeface="+mn-lt"/>
                          <a:ea typeface="+mn-ea"/>
                          <a:cs typeface="+mn-cs"/>
                        </a:rPr>
                        <a:t> BETWEEN </a:t>
                      </a:r>
                      <a:r>
                        <a:rPr lang="en-US" sz="1400" b="0" i="1" kern="1200" dirty="0" smtClean="0">
                          <a:solidFill>
                            <a:schemeClr val="lt1"/>
                          </a:solidFill>
                          <a:effectLst/>
                          <a:latin typeface="+mn-lt"/>
                          <a:ea typeface="+mn-ea"/>
                          <a:cs typeface="+mn-cs"/>
                        </a:rPr>
                        <a:t>value1</a:t>
                      </a:r>
                      <a:r>
                        <a:rPr lang="en-US" sz="1400" b="0" i="0" kern="1200" dirty="0" smtClean="0">
                          <a:solidFill>
                            <a:schemeClr val="lt1"/>
                          </a:solidFill>
                          <a:effectLst/>
                          <a:latin typeface="+mn-lt"/>
                          <a:ea typeface="+mn-ea"/>
                          <a:cs typeface="+mn-cs"/>
                        </a:rPr>
                        <a:t> AND </a:t>
                      </a:r>
                      <a:r>
                        <a:rPr lang="en-US" sz="1400" b="0" i="1" kern="1200" dirty="0" smtClean="0">
                          <a:solidFill>
                            <a:schemeClr val="lt1"/>
                          </a:solidFill>
                          <a:effectLst/>
                          <a:latin typeface="+mn-lt"/>
                          <a:ea typeface="+mn-ea"/>
                          <a:cs typeface="+mn-cs"/>
                        </a:rPr>
                        <a:t>value2;</a:t>
                      </a:r>
                      <a:endParaRPr lang="en-US" sz="1000" dirty="0"/>
                    </a:p>
                  </a:txBody>
                  <a:tcPr marL="68580" marR="68580" marT="34290" marB="34290"/>
                </a:tc>
              </a:tr>
              <a:tr h="27432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SELECT * FROM Products WHERE ProductName BETWEEN 'C' AND 'M';</a:t>
                      </a:r>
                      <a:endParaRPr lang="en-US" sz="1000" dirty="0"/>
                    </a:p>
                  </a:txBody>
                  <a:tcPr marL="68580" marR="68580" marT="34290" marB="34290"/>
                </a:tc>
              </a:tr>
              <a:tr h="838733">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4" name="Picture 3"/>
          <p:cNvPicPr>
            <a:picLocks noChangeAspect="1"/>
          </p:cNvPicPr>
          <p:nvPr/>
        </p:nvPicPr>
        <p:blipFill>
          <a:blip r:embed="rId2"/>
          <a:stretch>
            <a:fillRect/>
          </a:stretch>
        </p:blipFill>
        <p:spPr>
          <a:xfrm>
            <a:off x="796527" y="2873850"/>
            <a:ext cx="7550944" cy="1921669"/>
          </a:xfrm>
          <a:prstGeom prst="rect">
            <a:avLst/>
          </a:prstGeom>
        </p:spPr>
      </p:pic>
    </p:spTree>
    <p:extLst>
      <p:ext uri="{BB962C8B-B14F-4D97-AF65-F5344CB8AC3E}">
        <p14:creationId xmlns:p14="http://schemas.microsoft.com/office/powerpoint/2010/main" val="1080451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Operator – BETWEEN</a:t>
            </a:r>
            <a:endParaRPr lang="en-US" dirty="0"/>
          </a:p>
        </p:txBody>
      </p:sp>
      <p:sp>
        <p:nvSpPr>
          <p:cNvPr id="6" name="TextBox 5"/>
          <p:cNvSpPr txBox="1"/>
          <p:nvPr/>
        </p:nvSpPr>
        <p:spPr>
          <a:xfrm>
            <a:off x="628649" y="5165689"/>
            <a:ext cx="7886700" cy="646331"/>
          </a:xfrm>
          <a:prstGeom prst="rect">
            <a:avLst/>
          </a:prstGeom>
          <a:solidFill>
            <a:schemeClr val="accent2"/>
          </a:solidFill>
        </p:spPr>
        <p:txBody>
          <a:bodyPr wrap="square" rtlCol="0">
            <a:spAutoFit/>
          </a:bodyPr>
          <a:lstStyle/>
          <a:p>
            <a:r>
              <a:rPr lang="en-US" dirty="0">
                <a:solidFill>
                  <a:schemeClr val="bg1"/>
                </a:solidFill>
              </a:rPr>
              <a:t>The BETWEEN operator selects values within a range. The values can be numbers, text, or dates.</a:t>
            </a:r>
          </a:p>
        </p:txBody>
      </p:sp>
      <p:graphicFrame>
        <p:nvGraphicFramePr>
          <p:cNvPr id="7" name="Table 6"/>
          <p:cNvGraphicFramePr>
            <a:graphicFrameLocks noGrp="1"/>
          </p:cNvGraphicFramePr>
          <p:nvPr>
            <p:extLst>
              <p:ext uri="{D42A27DB-BD31-4B8C-83A1-F6EECF244321}">
                <p14:modId xmlns:p14="http://schemas.microsoft.com/office/powerpoint/2010/main" val="1804310364"/>
              </p:ext>
            </p:extLst>
          </p:nvPr>
        </p:nvGraphicFramePr>
        <p:xfrm>
          <a:off x="628650" y="1957231"/>
          <a:ext cx="7886700" cy="1829333"/>
        </p:xfrm>
        <a:graphic>
          <a:graphicData uri="http://schemas.openxmlformats.org/drawingml/2006/table">
            <a:tbl>
              <a:tblPr firstRow="1" bandRow="1">
                <a:tableStyleId>{5C22544A-7EE6-4342-B048-85BDC9FD1C3A}</a:tableStyleId>
              </a:tblPr>
              <a:tblGrid>
                <a:gridCol w="1699206"/>
                <a:gridCol w="6187494"/>
              </a:tblGrid>
              <a:tr h="48006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 </a:t>
                      </a:r>
                      <a:r>
                        <a:rPr lang="en-US" sz="1400" b="0" i="0" kern="1200" dirty="0" smtClean="0">
                          <a:solidFill>
                            <a:schemeClr val="lt1"/>
                          </a:solidFill>
                          <a:effectLst/>
                          <a:latin typeface="+mn-lt"/>
                          <a:ea typeface="+mn-ea"/>
                          <a:cs typeface="+mn-cs"/>
                        </a:rPr>
                        <a:t>FROM </a:t>
                      </a:r>
                      <a:r>
                        <a:rPr lang="en-US" sz="1400" b="0" i="1" kern="1200" dirty="0" smtClean="0">
                          <a:solidFill>
                            <a:schemeClr val="lt1"/>
                          </a:solidFill>
                          <a:effectLst/>
                          <a:latin typeface="+mn-lt"/>
                          <a:ea typeface="+mn-ea"/>
                          <a:cs typeface="+mn-cs"/>
                        </a:rPr>
                        <a:t>table_name </a:t>
                      </a:r>
                      <a:r>
                        <a:rPr lang="en-US" sz="1400" b="0" i="0" kern="1200" dirty="0" smtClean="0">
                          <a:solidFill>
                            <a:schemeClr val="lt1"/>
                          </a:solidFill>
                          <a:effectLst/>
                          <a:latin typeface="+mn-lt"/>
                          <a:ea typeface="+mn-ea"/>
                          <a:cs typeface="+mn-cs"/>
                        </a:rPr>
                        <a:t>WHERE </a:t>
                      </a:r>
                      <a:r>
                        <a:rPr lang="en-US" sz="1400" b="0" i="1" kern="1200" dirty="0" smtClean="0">
                          <a:solidFill>
                            <a:schemeClr val="lt1"/>
                          </a:solidFill>
                          <a:effectLst/>
                          <a:latin typeface="+mn-lt"/>
                          <a:ea typeface="+mn-ea"/>
                          <a:cs typeface="+mn-cs"/>
                        </a:rPr>
                        <a:t>column_name</a:t>
                      </a:r>
                      <a:r>
                        <a:rPr lang="en-US" sz="1400" b="0" i="0" kern="1200" dirty="0" smtClean="0">
                          <a:solidFill>
                            <a:schemeClr val="lt1"/>
                          </a:solidFill>
                          <a:effectLst/>
                          <a:latin typeface="+mn-lt"/>
                          <a:ea typeface="+mn-ea"/>
                          <a:cs typeface="+mn-cs"/>
                        </a:rPr>
                        <a:t> BETWEEN </a:t>
                      </a:r>
                      <a:r>
                        <a:rPr lang="en-US" sz="1400" b="0" i="1" kern="1200" dirty="0" smtClean="0">
                          <a:solidFill>
                            <a:schemeClr val="lt1"/>
                          </a:solidFill>
                          <a:effectLst/>
                          <a:latin typeface="+mn-lt"/>
                          <a:ea typeface="+mn-ea"/>
                          <a:cs typeface="+mn-cs"/>
                        </a:rPr>
                        <a:t>value1</a:t>
                      </a:r>
                      <a:r>
                        <a:rPr lang="en-US" sz="1400" b="0" i="0" kern="1200" dirty="0" smtClean="0">
                          <a:solidFill>
                            <a:schemeClr val="lt1"/>
                          </a:solidFill>
                          <a:effectLst/>
                          <a:latin typeface="+mn-lt"/>
                          <a:ea typeface="+mn-ea"/>
                          <a:cs typeface="+mn-cs"/>
                        </a:rPr>
                        <a:t> AND </a:t>
                      </a:r>
                      <a:r>
                        <a:rPr lang="en-US" sz="1400" b="0" i="1" kern="1200" dirty="0" smtClean="0">
                          <a:solidFill>
                            <a:schemeClr val="lt1"/>
                          </a:solidFill>
                          <a:effectLst/>
                          <a:latin typeface="+mn-lt"/>
                          <a:ea typeface="+mn-ea"/>
                          <a:cs typeface="+mn-cs"/>
                        </a:rPr>
                        <a:t>value2;</a:t>
                      </a:r>
                      <a:endParaRPr lang="en-US" sz="1000" dirty="0"/>
                    </a:p>
                  </a:txBody>
                  <a:tcPr marL="68580" marR="68580" marT="34290" marB="34290"/>
                </a:tc>
              </a:tr>
              <a:tr h="48006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SELECT * FROM Orders </a:t>
                      </a:r>
                      <a:r>
                        <a:rPr lang="en-US" sz="1000" dirty="0" smtClean="0"/>
                        <a:t/>
                      </a:r>
                      <a:br>
                        <a:rPr lang="en-US" sz="1000" dirty="0" smtClean="0"/>
                      </a:br>
                      <a:r>
                        <a:rPr lang="en-US" sz="1400" b="0" i="0" kern="1200" dirty="0" smtClean="0">
                          <a:solidFill>
                            <a:schemeClr val="dk1"/>
                          </a:solidFill>
                          <a:effectLst/>
                          <a:latin typeface="+mn-lt"/>
                          <a:ea typeface="+mn-ea"/>
                          <a:cs typeface="+mn-cs"/>
                        </a:rPr>
                        <a:t>WHERE </a:t>
                      </a:r>
                      <a:r>
                        <a:rPr lang="en-US" sz="1400" b="0" i="0" kern="1200" dirty="0" err="1" smtClean="0">
                          <a:solidFill>
                            <a:schemeClr val="dk1"/>
                          </a:solidFill>
                          <a:effectLst/>
                          <a:latin typeface="+mn-lt"/>
                          <a:ea typeface="+mn-ea"/>
                          <a:cs typeface="+mn-cs"/>
                        </a:rPr>
                        <a:t>OrderDate</a:t>
                      </a:r>
                      <a:r>
                        <a:rPr lang="en-US" sz="1400" b="0" i="0" kern="1200" dirty="0" smtClean="0">
                          <a:solidFill>
                            <a:schemeClr val="dk1"/>
                          </a:solidFill>
                          <a:effectLst/>
                          <a:latin typeface="+mn-lt"/>
                          <a:ea typeface="+mn-ea"/>
                          <a:cs typeface="+mn-cs"/>
                        </a:rPr>
                        <a:t> BETWEEN #07/04/1996# AND #07/09/1996#;</a:t>
                      </a:r>
                      <a:endParaRPr lang="en-US" sz="1000" dirty="0"/>
                    </a:p>
                  </a:txBody>
                  <a:tcPr marL="68580" marR="68580" marT="34290" marB="34290"/>
                </a:tc>
              </a:tr>
              <a:tr h="838733">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3" name="Picture 2"/>
          <p:cNvPicPr>
            <a:picLocks noChangeAspect="1"/>
          </p:cNvPicPr>
          <p:nvPr/>
        </p:nvPicPr>
        <p:blipFill>
          <a:blip r:embed="rId2"/>
          <a:stretch>
            <a:fillRect/>
          </a:stretch>
        </p:blipFill>
        <p:spPr>
          <a:xfrm>
            <a:off x="796527" y="3066732"/>
            <a:ext cx="7550944" cy="1535906"/>
          </a:xfrm>
          <a:prstGeom prst="rect">
            <a:avLst/>
          </a:prstGeom>
        </p:spPr>
      </p:pic>
    </p:spTree>
    <p:extLst>
      <p:ext uri="{BB962C8B-B14F-4D97-AF65-F5344CB8AC3E}">
        <p14:creationId xmlns:p14="http://schemas.microsoft.com/office/powerpoint/2010/main" val="6951503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Operators</a:t>
            </a:r>
            <a:endParaRPr lang="en-US" dirty="0"/>
          </a:p>
        </p:txBody>
      </p:sp>
      <p:pic>
        <p:nvPicPr>
          <p:cNvPr id="7" name="Picture 6"/>
          <p:cNvPicPr>
            <a:picLocks noChangeAspect="1"/>
          </p:cNvPicPr>
          <p:nvPr/>
        </p:nvPicPr>
        <p:blipFill>
          <a:blip r:embed="rId2"/>
          <a:stretch>
            <a:fillRect/>
          </a:stretch>
        </p:blipFill>
        <p:spPr>
          <a:xfrm>
            <a:off x="913319" y="2383397"/>
            <a:ext cx="2961237" cy="2870322"/>
          </a:xfrm>
          <a:prstGeom prst="rect">
            <a:avLst/>
          </a:prstGeom>
        </p:spPr>
      </p:pic>
      <p:pic>
        <p:nvPicPr>
          <p:cNvPr id="9" name="Picture 8"/>
          <p:cNvPicPr>
            <a:picLocks noChangeAspect="1"/>
          </p:cNvPicPr>
          <p:nvPr/>
        </p:nvPicPr>
        <p:blipFill>
          <a:blip r:embed="rId3"/>
          <a:stretch>
            <a:fillRect/>
          </a:stretch>
        </p:blipFill>
        <p:spPr>
          <a:xfrm>
            <a:off x="4159249" y="2125266"/>
            <a:ext cx="4071408" cy="3049626"/>
          </a:xfrm>
          <a:prstGeom prst="rect">
            <a:avLst/>
          </a:prstGeom>
        </p:spPr>
      </p:pic>
    </p:spTree>
    <p:extLst>
      <p:ext uri="{BB962C8B-B14F-4D97-AF65-F5344CB8AC3E}">
        <p14:creationId xmlns:p14="http://schemas.microsoft.com/office/powerpoint/2010/main" val="29940252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Operator – UNION</a:t>
            </a:r>
            <a:endParaRPr lang="en-US" dirty="0"/>
          </a:p>
        </p:txBody>
      </p:sp>
      <p:sp>
        <p:nvSpPr>
          <p:cNvPr id="6" name="TextBox 5"/>
          <p:cNvSpPr txBox="1"/>
          <p:nvPr/>
        </p:nvSpPr>
        <p:spPr>
          <a:xfrm>
            <a:off x="628649" y="5426487"/>
            <a:ext cx="7886700" cy="369332"/>
          </a:xfrm>
          <a:prstGeom prst="rect">
            <a:avLst/>
          </a:prstGeom>
          <a:solidFill>
            <a:schemeClr val="accent2"/>
          </a:solidFill>
        </p:spPr>
        <p:txBody>
          <a:bodyPr wrap="square" rtlCol="0">
            <a:spAutoFit/>
          </a:bodyPr>
          <a:lstStyle/>
          <a:p>
            <a:r>
              <a:rPr lang="en-US" dirty="0">
                <a:solidFill>
                  <a:schemeClr val="bg1"/>
                </a:solidFill>
              </a:rPr>
              <a:t>The BETWEEN operator selects values within a range. The values can be </a:t>
            </a:r>
            <a:r>
              <a:rPr lang="en-US" dirty="0">
                <a:solidFill>
                  <a:schemeClr val="bg1"/>
                </a:solidFill>
              </a:rPr>
              <a:t>nu</a:t>
            </a:r>
            <a:endParaRPr lang="en-US" dirty="0">
              <a:solidFill>
                <a:schemeClr val="bg1"/>
              </a:solidFill>
            </a:endParaRPr>
          </a:p>
        </p:txBody>
      </p:sp>
      <p:graphicFrame>
        <p:nvGraphicFramePr>
          <p:cNvPr id="7" name="Table 6"/>
          <p:cNvGraphicFramePr>
            <a:graphicFrameLocks noGrp="1"/>
          </p:cNvGraphicFramePr>
          <p:nvPr/>
        </p:nvGraphicFramePr>
        <p:xfrm>
          <a:off x="628650" y="1957231"/>
          <a:ext cx="7886700" cy="2469413"/>
        </p:xfrm>
        <a:graphic>
          <a:graphicData uri="http://schemas.openxmlformats.org/drawingml/2006/table">
            <a:tbl>
              <a:tblPr firstRow="1" bandRow="1">
                <a:tableStyleId>{5C22544A-7EE6-4342-B048-85BDC9FD1C3A}</a:tableStyleId>
              </a:tblPr>
              <a:tblGrid>
                <a:gridCol w="1699206"/>
                <a:gridCol w="6187494"/>
              </a:tblGrid>
              <a:tr h="685800">
                <a:tc>
                  <a:txBody>
                    <a:bodyPr/>
                    <a:lstStyle/>
                    <a:p>
                      <a:r>
                        <a:rPr lang="en-US" sz="1000" dirty="0" smtClean="0"/>
                        <a:t>Syntax</a:t>
                      </a:r>
                      <a:endParaRPr lang="en-US" sz="1000" dirty="0"/>
                    </a:p>
                  </a:txBody>
                  <a:tcPr marL="68580" marR="68580" marT="34290" marB="34290"/>
                </a:tc>
                <a:tc>
                  <a:txBody>
                    <a:bodyPr/>
                    <a:lstStyle/>
                    <a:p>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a:t>
                      </a:r>
                      <a:r>
                        <a:rPr lang="en-US" sz="1400" b="0" i="0" kern="1200" dirty="0" smtClean="0">
                          <a:solidFill>
                            <a:schemeClr val="lt1"/>
                          </a:solidFill>
                          <a:effectLst/>
                          <a:latin typeface="+mn-lt"/>
                          <a:ea typeface="+mn-ea"/>
                          <a:cs typeface="+mn-cs"/>
                        </a:rPr>
                        <a:t> FROM </a:t>
                      </a:r>
                      <a:r>
                        <a:rPr lang="en-US" sz="1400" b="0" i="1" kern="1200" dirty="0" smtClean="0">
                          <a:solidFill>
                            <a:schemeClr val="lt1"/>
                          </a:solidFill>
                          <a:effectLst/>
                          <a:latin typeface="+mn-lt"/>
                          <a:ea typeface="+mn-ea"/>
                          <a:cs typeface="+mn-cs"/>
                        </a:rPr>
                        <a:t>table1</a:t>
                      </a:r>
                      <a:r>
                        <a:rPr lang="en-US" sz="1000" dirty="0" smtClean="0"/>
                        <a:t/>
                      </a:r>
                      <a:br>
                        <a:rPr lang="en-US" sz="1000" dirty="0" smtClean="0"/>
                      </a:br>
                      <a:r>
                        <a:rPr lang="en-US" sz="1400" b="0" i="0" kern="1200" dirty="0" smtClean="0">
                          <a:solidFill>
                            <a:schemeClr val="lt1"/>
                          </a:solidFill>
                          <a:effectLst/>
                          <a:latin typeface="+mn-lt"/>
                          <a:ea typeface="+mn-ea"/>
                          <a:cs typeface="+mn-cs"/>
                        </a:rPr>
                        <a:t>UNION</a:t>
                      </a:r>
                      <a:r>
                        <a:rPr lang="en-US" sz="1000" dirty="0" smtClean="0"/>
                        <a:t/>
                      </a:r>
                      <a:br>
                        <a:rPr lang="en-US" sz="1000" dirty="0" smtClean="0"/>
                      </a:br>
                      <a:r>
                        <a:rPr lang="en-US" sz="1400" b="0" i="0" kern="1200" dirty="0" smtClean="0">
                          <a:solidFill>
                            <a:schemeClr val="lt1"/>
                          </a:solidFill>
                          <a:effectLst/>
                          <a:latin typeface="+mn-lt"/>
                          <a:ea typeface="+mn-ea"/>
                          <a:cs typeface="+mn-cs"/>
                        </a:rPr>
                        <a:t>SELECT </a:t>
                      </a:r>
                      <a:r>
                        <a:rPr lang="en-US" sz="1400" b="0" i="1" kern="1200" dirty="0" smtClean="0">
                          <a:solidFill>
                            <a:schemeClr val="lt1"/>
                          </a:solidFill>
                          <a:effectLst/>
                          <a:latin typeface="+mn-lt"/>
                          <a:ea typeface="+mn-ea"/>
                          <a:cs typeface="+mn-cs"/>
                        </a:rPr>
                        <a:t>column_name(s)</a:t>
                      </a:r>
                      <a:r>
                        <a:rPr lang="en-US" sz="1400" b="0" i="0" kern="1200" dirty="0" smtClean="0">
                          <a:solidFill>
                            <a:schemeClr val="lt1"/>
                          </a:solidFill>
                          <a:effectLst/>
                          <a:latin typeface="+mn-lt"/>
                          <a:ea typeface="+mn-ea"/>
                          <a:cs typeface="+mn-cs"/>
                        </a:rPr>
                        <a:t> FROM </a:t>
                      </a:r>
                      <a:r>
                        <a:rPr lang="en-US" sz="1400" b="0" i="1" kern="1200" dirty="0" smtClean="0">
                          <a:solidFill>
                            <a:schemeClr val="lt1"/>
                          </a:solidFill>
                          <a:effectLst/>
                          <a:latin typeface="+mn-lt"/>
                          <a:ea typeface="+mn-ea"/>
                          <a:cs typeface="+mn-cs"/>
                        </a:rPr>
                        <a:t>table2</a:t>
                      </a:r>
                      <a:r>
                        <a:rPr lang="en-US" sz="1400" b="0" i="0" kern="1200" dirty="0" smtClean="0">
                          <a:solidFill>
                            <a:schemeClr val="lt1"/>
                          </a:solidFill>
                          <a:effectLst/>
                          <a:latin typeface="+mn-lt"/>
                          <a:ea typeface="+mn-ea"/>
                          <a:cs typeface="+mn-cs"/>
                        </a:rPr>
                        <a:t>;</a:t>
                      </a:r>
                      <a:endParaRPr lang="en-US" sz="1000" dirty="0"/>
                    </a:p>
                  </a:txBody>
                  <a:tcPr marL="68580" marR="68580" marT="34290" marB="34290"/>
                </a:tc>
              </a:tr>
              <a:tr h="891540">
                <a:tc>
                  <a:txBody>
                    <a:bodyPr/>
                    <a:lstStyle/>
                    <a:p>
                      <a:r>
                        <a:rPr lang="en-US" sz="1000" dirty="0" smtClean="0"/>
                        <a:t>Example</a:t>
                      </a:r>
                      <a:endParaRPr lang="en-US" sz="1000" dirty="0"/>
                    </a:p>
                  </a:txBody>
                  <a:tcPr marL="68580" marR="68580" marT="34290" marB="34290"/>
                </a:tc>
                <a:tc>
                  <a:txBody>
                    <a:bodyPr/>
                    <a:lstStyle/>
                    <a:p>
                      <a:r>
                        <a:rPr lang="en-US" sz="1400" b="0" i="0" kern="1200" dirty="0" smtClean="0">
                          <a:solidFill>
                            <a:schemeClr val="dk1"/>
                          </a:solidFill>
                          <a:effectLst/>
                          <a:latin typeface="+mn-lt"/>
                          <a:ea typeface="+mn-ea"/>
                          <a:cs typeface="+mn-cs"/>
                        </a:rPr>
                        <a:t>SELECT City FROM Customers</a:t>
                      </a:r>
                      <a:r>
                        <a:rPr lang="en-US" sz="1000" dirty="0" smtClean="0"/>
                        <a:t/>
                      </a:r>
                      <a:br>
                        <a:rPr lang="en-US" sz="1000" dirty="0" smtClean="0"/>
                      </a:br>
                      <a:r>
                        <a:rPr lang="en-US" sz="1400" b="0" i="0" kern="1200" dirty="0" smtClean="0">
                          <a:solidFill>
                            <a:schemeClr val="dk1"/>
                          </a:solidFill>
                          <a:effectLst/>
                          <a:latin typeface="+mn-lt"/>
                          <a:ea typeface="+mn-ea"/>
                          <a:cs typeface="+mn-cs"/>
                        </a:rPr>
                        <a:t>UNION</a:t>
                      </a:r>
                      <a:r>
                        <a:rPr lang="en-US" sz="1000" dirty="0" smtClean="0"/>
                        <a:t/>
                      </a:r>
                      <a:br>
                        <a:rPr lang="en-US" sz="1000" dirty="0" smtClean="0"/>
                      </a:br>
                      <a:r>
                        <a:rPr lang="en-US" sz="1400" b="0" i="0" kern="1200" dirty="0" smtClean="0">
                          <a:solidFill>
                            <a:schemeClr val="dk1"/>
                          </a:solidFill>
                          <a:effectLst/>
                          <a:latin typeface="+mn-lt"/>
                          <a:ea typeface="+mn-ea"/>
                          <a:cs typeface="+mn-cs"/>
                        </a:rPr>
                        <a:t>SELECT City FROM Suppliers</a:t>
                      </a:r>
                      <a:r>
                        <a:rPr lang="en-US" sz="1000" dirty="0" smtClean="0"/>
                        <a:t/>
                      </a:r>
                      <a:br>
                        <a:rPr lang="en-US" sz="1000" dirty="0" smtClean="0"/>
                      </a:br>
                      <a:r>
                        <a:rPr lang="en-US" sz="1400" b="0" i="0" kern="1200" dirty="0" smtClean="0">
                          <a:solidFill>
                            <a:schemeClr val="dk1"/>
                          </a:solidFill>
                          <a:effectLst/>
                          <a:latin typeface="+mn-lt"/>
                          <a:ea typeface="+mn-ea"/>
                          <a:cs typeface="+mn-cs"/>
                        </a:rPr>
                        <a:t>ORDER BY City;</a:t>
                      </a:r>
                      <a:endParaRPr lang="en-US" sz="1000" dirty="0"/>
                    </a:p>
                  </a:txBody>
                  <a:tcPr marL="68580" marR="68580" marT="34290" marB="34290"/>
                </a:tc>
              </a:tr>
              <a:tr h="838733">
                <a:tc>
                  <a:txBody>
                    <a:bodyPr/>
                    <a:lstStyle/>
                    <a:p>
                      <a:endParaRPr lang="en-US" sz="1000" dirty="0"/>
                    </a:p>
                  </a:txBody>
                  <a:tcPr marL="68580" marR="68580" marT="34290" marB="34290"/>
                </a:tc>
                <a:tc>
                  <a:txBody>
                    <a:bodyPr/>
                    <a:lstStyle/>
                    <a:p>
                      <a:endParaRPr lang="en-US" sz="1000" dirty="0"/>
                    </a:p>
                  </a:txBody>
                  <a:tcPr marL="68580" marR="68580" marT="34290" marB="34290"/>
                </a:tc>
              </a:tr>
            </a:tbl>
          </a:graphicData>
        </a:graphic>
      </p:graphicFrame>
      <p:pic>
        <p:nvPicPr>
          <p:cNvPr id="4" name="Picture 3"/>
          <p:cNvPicPr>
            <a:picLocks noChangeAspect="1"/>
          </p:cNvPicPr>
          <p:nvPr/>
        </p:nvPicPr>
        <p:blipFill>
          <a:blip r:embed="rId2"/>
          <a:stretch>
            <a:fillRect/>
          </a:stretch>
        </p:blipFill>
        <p:spPr>
          <a:xfrm>
            <a:off x="934522" y="3552636"/>
            <a:ext cx="7274954" cy="1873852"/>
          </a:xfrm>
          <a:prstGeom prst="rect">
            <a:avLst/>
          </a:prstGeom>
        </p:spPr>
      </p:pic>
    </p:spTree>
    <p:extLst>
      <p:ext uri="{BB962C8B-B14F-4D97-AF65-F5344CB8AC3E}">
        <p14:creationId xmlns:p14="http://schemas.microsoft.com/office/powerpoint/2010/main" val="22985504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4" name="Rectangle 3"/>
          <p:cNvSpPr/>
          <p:nvPr/>
        </p:nvSpPr>
        <p:spPr>
          <a:xfrm>
            <a:off x="962696" y="186163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5" name="Rectangle 4"/>
          <p:cNvSpPr/>
          <p:nvPr/>
        </p:nvSpPr>
        <p:spPr>
          <a:xfrm>
            <a:off x="962695" y="2657982"/>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6" name="Rectangle 5"/>
          <p:cNvSpPr/>
          <p:nvPr/>
        </p:nvSpPr>
        <p:spPr>
          <a:xfrm>
            <a:off x="962695" y="382365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7" name="Rectangle 6"/>
          <p:cNvSpPr/>
          <p:nvPr/>
        </p:nvSpPr>
        <p:spPr>
          <a:xfrm>
            <a:off x="962695" y="465638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
        <p:nvSpPr>
          <p:cNvPr id="8" name="Rectangle 7"/>
          <p:cNvSpPr/>
          <p:nvPr/>
        </p:nvSpPr>
        <p:spPr>
          <a:xfrm>
            <a:off x="962695" y="5489118"/>
            <a:ext cx="7038303" cy="461665"/>
          </a:xfrm>
          <a:prstGeom prst="rect">
            <a:avLst/>
          </a:prstGeom>
          <a:solidFill>
            <a:schemeClr val="accent2"/>
          </a:solidFill>
          <a:ln w="76200">
            <a:solidFill>
              <a:schemeClr val="accent1">
                <a:lumMod val="75000"/>
              </a:schemeClr>
            </a:solidFill>
          </a:ln>
        </p:spPr>
        <p:txBody>
          <a:bodyPr wrap="square">
            <a:spAutoFit/>
          </a:bodyPr>
          <a:lstStyle/>
          <a:p>
            <a:pPr algn="ctr"/>
            <a:endParaRPr lang="en-US" sz="2400" dirty="0">
              <a:solidFill>
                <a:schemeClr val="bg1"/>
              </a:solidFill>
            </a:endParaRPr>
          </a:p>
        </p:txBody>
      </p:sp>
    </p:spTree>
    <p:extLst>
      <p:ext uri="{BB962C8B-B14F-4D97-AF65-F5344CB8AC3E}">
        <p14:creationId xmlns:p14="http://schemas.microsoft.com/office/powerpoint/2010/main" val="3740989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Laugh</a:t>
            </a:r>
            <a:endParaRPr lang="en-US" dirty="0"/>
          </a:p>
        </p:txBody>
      </p:sp>
      <p:pic>
        <p:nvPicPr>
          <p:cNvPr id="4" name="Picture 2" descr="http://blog.sqlauthority.com/i/b/embcartoon/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295" y="1806412"/>
            <a:ext cx="6625409" cy="3582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9219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878" y="4234507"/>
            <a:ext cx="7886700" cy="994172"/>
          </a:xfrm>
          <a:solidFill>
            <a:srgbClr val="FF9933"/>
          </a:solidFill>
        </p:spPr>
        <p:txBody>
          <a:bodyPr>
            <a:normAutofit/>
          </a:bodyPr>
          <a:lstStyle/>
          <a:p>
            <a:pPr algn="ctr"/>
            <a:r>
              <a:rPr lang="en-US" sz="3600" b="1" dirty="0">
                <a:solidFill>
                  <a:schemeClr val="bg1"/>
                </a:solidFill>
              </a:rPr>
              <a:t>End of Lecture for Week - </a:t>
            </a:r>
            <a:r>
              <a:rPr lang="en-US" sz="3600" b="1" dirty="0">
                <a:solidFill>
                  <a:schemeClr val="bg1"/>
                </a:solidFill>
              </a:rPr>
              <a:t>8</a:t>
            </a:r>
            <a:endParaRPr lang="en-US" sz="3600" b="1" dirty="0">
              <a:solidFill>
                <a:schemeClr val="bg1"/>
              </a:solidFill>
            </a:endParaRPr>
          </a:p>
        </p:txBody>
      </p:sp>
      <p:pic>
        <p:nvPicPr>
          <p:cNvPr id="5122" name="Picture 2" descr="http://grasshopper.com/assets/img/jpg/thank-you-notes/card-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6844" y="1820780"/>
            <a:ext cx="2964767" cy="1976511"/>
          </a:xfrm>
          <a:prstGeom prst="rect">
            <a:avLst/>
          </a:prstGeom>
          <a:noFill/>
          <a:ln>
            <a:solidFill>
              <a:srgbClr val="FF9933"/>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2990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1723</TotalTime>
  <Words>975</Words>
  <Application>Microsoft Office PowerPoint</Application>
  <PresentationFormat>On-screen Show (4:3)</PresentationFormat>
  <Paragraphs>154</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An Introduction to Database</vt:lpstr>
      <vt:lpstr>OPERATORS</vt:lpstr>
      <vt:lpstr>Operators in SQL</vt:lpstr>
      <vt:lpstr>Arithmetic Operators - Addition</vt:lpstr>
      <vt:lpstr>Arithmetic Operators - Subtraction</vt:lpstr>
      <vt:lpstr>Arithmetic Operators - Multiplication</vt:lpstr>
      <vt:lpstr>Arithmetic Operators - Division</vt:lpstr>
      <vt:lpstr>Comparison Operators</vt:lpstr>
      <vt:lpstr>Comparison Operators</vt:lpstr>
      <vt:lpstr>Comparison Operator - Example</vt:lpstr>
      <vt:lpstr>Comparison Operator - Example</vt:lpstr>
      <vt:lpstr>Logical Operators</vt:lpstr>
      <vt:lpstr>Logical Operator – AND</vt:lpstr>
      <vt:lpstr>Logical Operator – OR</vt:lpstr>
      <vt:lpstr>Logical Operator – IN</vt:lpstr>
      <vt:lpstr>Logical Operator – LIKE</vt:lpstr>
      <vt:lpstr>Logical Operator – LIKE</vt:lpstr>
      <vt:lpstr>Logical Operator – BETWEEN</vt:lpstr>
      <vt:lpstr>Logical Operator – BETWEEN</vt:lpstr>
      <vt:lpstr>Logical Operator – BETWEEN</vt:lpstr>
      <vt:lpstr>SET Operators</vt:lpstr>
      <vt:lpstr>Set Operator – UNION</vt:lpstr>
      <vt:lpstr>Key Points</vt:lpstr>
      <vt:lpstr>Laugh</vt:lpstr>
      <vt:lpstr>End of Lecture for Week - 8</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dc:title>
  <dc:creator>Rohit</dc:creator>
  <cp:lastModifiedBy>Rohit</cp:lastModifiedBy>
  <cp:revision>343</cp:revision>
  <dcterms:created xsi:type="dcterms:W3CDTF">2016-03-01T04:18:16Z</dcterms:created>
  <dcterms:modified xsi:type="dcterms:W3CDTF">2016-07-02T09:37:32Z</dcterms:modified>
</cp:coreProperties>
</file>