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388" r:id="rId2"/>
    <p:sldId id="257" r:id="rId3"/>
    <p:sldId id="375" r:id="rId4"/>
    <p:sldId id="376" r:id="rId5"/>
    <p:sldId id="320" r:id="rId6"/>
    <p:sldId id="331" r:id="rId7"/>
    <p:sldId id="360" r:id="rId8"/>
    <p:sldId id="377" r:id="rId9"/>
    <p:sldId id="361" r:id="rId10"/>
    <p:sldId id="363" r:id="rId11"/>
    <p:sldId id="378" r:id="rId12"/>
    <p:sldId id="379" r:id="rId13"/>
    <p:sldId id="380" r:id="rId14"/>
    <p:sldId id="383" r:id="rId15"/>
    <p:sldId id="381" r:id="rId16"/>
    <p:sldId id="382" r:id="rId17"/>
    <p:sldId id="364" r:id="rId18"/>
    <p:sldId id="342" r:id="rId19"/>
    <p:sldId id="385" r:id="rId20"/>
    <p:sldId id="384" r:id="rId21"/>
    <p:sldId id="386" r:id="rId22"/>
    <p:sldId id="387" r:id="rId23"/>
    <p:sldId id="389" r:id="rId24"/>
    <p:sldId id="390" r:id="rId25"/>
    <p:sldId id="391"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129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 Id="rId4" Type="http://schemas.openxmlformats.org/officeDocument/2006/relationships/image" Target="../media/image7.pn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 Id="rId4" Type="http://schemas.openxmlformats.org/officeDocument/2006/relationships/image" Target="../media/image7.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6F1AB0A-A51B-4F13-B1CC-B79DC1A79477}" type="doc">
      <dgm:prSet loTypeId="urn:microsoft.com/office/officeart/2005/8/layout/pList2" loCatId="list" qsTypeId="urn:microsoft.com/office/officeart/2005/8/quickstyle/simple1" qsCatId="simple" csTypeId="urn:microsoft.com/office/officeart/2005/8/colors/accent1_2" csCatId="accent1" phldr="1"/>
      <dgm:spPr/>
      <dgm:t>
        <a:bodyPr/>
        <a:lstStyle/>
        <a:p>
          <a:endParaRPr lang="en-US"/>
        </a:p>
      </dgm:t>
    </dgm:pt>
    <dgm:pt modelId="{91438BB3-4D52-4A52-B917-1F05C1B4967B}">
      <dgm:prSet phldrT="[Text]"/>
      <dgm:spPr/>
      <dgm:t>
        <a:bodyPr/>
        <a:lstStyle/>
        <a:p>
          <a:r>
            <a:rPr lang="en-US" dirty="0" smtClean="0"/>
            <a:t>INNER</a:t>
          </a:r>
          <a:endParaRPr lang="en-US" dirty="0"/>
        </a:p>
      </dgm:t>
    </dgm:pt>
    <dgm:pt modelId="{9400BE2C-5B8C-4461-9DC6-642BD1E01B1D}" type="parTrans" cxnId="{9AB676D6-7C3E-49D7-A52F-B1F58E91230F}">
      <dgm:prSet/>
      <dgm:spPr/>
      <dgm:t>
        <a:bodyPr/>
        <a:lstStyle/>
        <a:p>
          <a:endParaRPr lang="en-US"/>
        </a:p>
      </dgm:t>
    </dgm:pt>
    <dgm:pt modelId="{40DCB4AC-DEE2-4FE0-AFA1-0184308F9CFD}" type="sibTrans" cxnId="{9AB676D6-7C3E-49D7-A52F-B1F58E91230F}">
      <dgm:prSet/>
      <dgm:spPr/>
      <dgm:t>
        <a:bodyPr/>
        <a:lstStyle/>
        <a:p>
          <a:endParaRPr lang="en-US"/>
        </a:p>
      </dgm:t>
    </dgm:pt>
    <dgm:pt modelId="{B9DB8A83-FA14-40F9-8C8C-F9ED5D643000}">
      <dgm:prSet phldrT="[Text]"/>
      <dgm:spPr/>
      <dgm:t>
        <a:bodyPr/>
        <a:lstStyle/>
        <a:p>
          <a:r>
            <a:rPr lang="en-US" dirty="0" smtClean="0"/>
            <a:t>Selects all rows from both tables as long as there is a match between the columns of both tables (Table 1 and Table 2)</a:t>
          </a:r>
          <a:endParaRPr lang="en-US" dirty="0"/>
        </a:p>
      </dgm:t>
    </dgm:pt>
    <dgm:pt modelId="{81F5EE3C-AA59-4F20-AD14-0F65BEE1E087}" type="parTrans" cxnId="{1C14C502-D728-4F13-B1FA-37D20C465AA9}">
      <dgm:prSet/>
      <dgm:spPr/>
      <dgm:t>
        <a:bodyPr/>
        <a:lstStyle/>
        <a:p>
          <a:endParaRPr lang="en-US"/>
        </a:p>
      </dgm:t>
    </dgm:pt>
    <dgm:pt modelId="{53E070AC-5A3A-4678-9B1F-8298BD640F56}" type="sibTrans" cxnId="{1C14C502-D728-4F13-B1FA-37D20C465AA9}">
      <dgm:prSet/>
      <dgm:spPr/>
      <dgm:t>
        <a:bodyPr/>
        <a:lstStyle/>
        <a:p>
          <a:endParaRPr lang="en-US"/>
        </a:p>
      </dgm:t>
    </dgm:pt>
    <dgm:pt modelId="{213D2F29-4CF6-4C67-AD3F-6A7C9D8B754B}">
      <dgm:prSet phldrT="[Text]"/>
      <dgm:spPr/>
      <dgm:t>
        <a:bodyPr/>
        <a:lstStyle/>
        <a:p>
          <a:r>
            <a:rPr lang="en-US" dirty="0" smtClean="0"/>
            <a:t>LEFT</a:t>
          </a:r>
          <a:endParaRPr lang="en-US" dirty="0"/>
        </a:p>
      </dgm:t>
    </dgm:pt>
    <dgm:pt modelId="{9BE7CD20-AB1D-40F3-A270-12D0A317D4E7}" type="parTrans" cxnId="{4A561031-C0EB-45FD-B4C8-5152761F74B4}">
      <dgm:prSet/>
      <dgm:spPr/>
      <dgm:t>
        <a:bodyPr/>
        <a:lstStyle/>
        <a:p>
          <a:endParaRPr lang="en-US"/>
        </a:p>
      </dgm:t>
    </dgm:pt>
    <dgm:pt modelId="{A0C6FB73-535F-42AF-A322-D989799DB404}" type="sibTrans" cxnId="{4A561031-C0EB-45FD-B4C8-5152761F74B4}">
      <dgm:prSet/>
      <dgm:spPr/>
      <dgm:t>
        <a:bodyPr/>
        <a:lstStyle/>
        <a:p>
          <a:endParaRPr lang="en-US"/>
        </a:p>
      </dgm:t>
    </dgm:pt>
    <dgm:pt modelId="{A6FE5E38-40E4-43BD-AB96-A1A3892D2654}">
      <dgm:prSet phldrT="[Text]"/>
      <dgm:spPr/>
      <dgm:t>
        <a:bodyPr/>
        <a:lstStyle/>
        <a:p>
          <a:r>
            <a:rPr lang="en-US" dirty="0" smtClean="0"/>
            <a:t>Returns all rows from left table (Table 1) with the matching rows in the right table (Table 2)</a:t>
          </a:r>
          <a:endParaRPr lang="en-US" dirty="0"/>
        </a:p>
      </dgm:t>
    </dgm:pt>
    <dgm:pt modelId="{626B7FB7-1D7B-4D37-9FFE-17B397A6A490}" type="parTrans" cxnId="{DCBA37DA-69FA-47B5-A514-C1E4B09355DD}">
      <dgm:prSet/>
      <dgm:spPr/>
      <dgm:t>
        <a:bodyPr/>
        <a:lstStyle/>
        <a:p>
          <a:endParaRPr lang="en-US"/>
        </a:p>
      </dgm:t>
    </dgm:pt>
    <dgm:pt modelId="{B6591703-2031-4038-A87D-915B82C63748}" type="sibTrans" cxnId="{DCBA37DA-69FA-47B5-A514-C1E4B09355DD}">
      <dgm:prSet/>
      <dgm:spPr/>
      <dgm:t>
        <a:bodyPr/>
        <a:lstStyle/>
        <a:p>
          <a:endParaRPr lang="en-US"/>
        </a:p>
      </dgm:t>
    </dgm:pt>
    <dgm:pt modelId="{C2647436-0890-416B-A1E1-A41494549A7E}">
      <dgm:prSet phldrT="[Text]"/>
      <dgm:spPr/>
      <dgm:t>
        <a:bodyPr/>
        <a:lstStyle/>
        <a:p>
          <a:r>
            <a:rPr lang="en-US" dirty="0" smtClean="0"/>
            <a:t>RIGHT</a:t>
          </a:r>
          <a:endParaRPr lang="en-US" dirty="0"/>
        </a:p>
      </dgm:t>
    </dgm:pt>
    <dgm:pt modelId="{759F3EDE-B693-4971-A52D-9625DB6A8F20}" type="parTrans" cxnId="{F627B88A-ABB0-4DE5-B356-958617B8E068}">
      <dgm:prSet/>
      <dgm:spPr/>
      <dgm:t>
        <a:bodyPr/>
        <a:lstStyle/>
        <a:p>
          <a:endParaRPr lang="en-US"/>
        </a:p>
      </dgm:t>
    </dgm:pt>
    <dgm:pt modelId="{4A824771-3AD6-42C8-9D10-AEC7F2B95706}" type="sibTrans" cxnId="{F627B88A-ABB0-4DE5-B356-958617B8E068}">
      <dgm:prSet/>
      <dgm:spPr/>
      <dgm:t>
        <a:bodyPr/>
        <a:lstStyle/>
        <a:p>
          <a:endParaRPr lang="en-US"/>
        </a:p>
      </dgm:t>
    </dgm:pt>
    <dgm:pt modelId="{63D2018D-8FD4-4490-B127-BE378B545A8E}">
      <dgm:prSet phldrT="[Text]"/>
      <dgm:spPr/>
      <dgm:t>
        <a:bodyPr/>
        <a:lstStyle/>
        <a:p>
          <a:r>
            <a:rPr lang="en-US" dirty="0" smtClean="0"/>
            <a:t>Returns all rows from right table (Table 2) with the matching rows in the left table (Table 1)</a:t>
          </a:r>
          <a:endParaRPr lang="en-US" dirty="0"/>
        </a:p>
      </dgm:t>
    </dgm:pt>
    <dgm:pt modelId="{E8BC276A-7B59-40A4-BEE2-FA775D95668F}" type="parTrans" cxnId="{1660F85F-575E-41A0-864E-453A6ADFB693}">
      <dgm:prSet/>
      <dgm:spPr/>
      <dgm:t>
        <a:bodyPr/>
        <a:lstStyle/>
        <a:p>
          <a:endParaRPr lang="en-US"/>
        </a:p>
      </dgm:t>
    </dgm:pt>
    <dgm:pt modelId="{5BF87DBB-401D-4BD6-B823-09800F80AB4F}" type="sibTrans" cxnId="{1660F85F-575E-41A0-864E-453A6ADFB693}">
      <dgm:prSet/>
      <dgm:spPr/>
      <dgm:t>
        <a:bodyPr/>
        <a:lstStyle/>
        <a:p>
          <a:endParaRPr lang="en-US"/>
        </a:p>
      </dgm:t>
    </dgm:pt>
    <dgm:pt modelId="{1D4A4EEF-E3B6-4AC7-BE64-341926E4A396}">
      <dgm:prSet phldrT="[Text]"/>
      <dgm:spPr/>
      <dgm:t>
        <a:bodyPr/>
        <a:lstStyle/>
        <a:p>
          <a:r>
            <a:rPr lang="en-US" dirty="0" smtClean="0"/>
            <a:t>FULL</a:t>
          </a:r>
          <a:endParaRPr lang="en-US" dirty="0"/>
        </a:p>
      </dgm:t>
    </dgm:pt>
    <dgm:pt modelId="{DBB383C0-2E8B-4783-832B-3DF7820C0400}" type="parTrans" cxnId="{608077C3-364A-4D25-9071-C104951EC174}">
      <dgm:prSet/>
      <dgm:spPr/>
      <dgm:t>
        <a:bodyPr/>
        <a:lstStyle/>
        <a:p>
          <a:endParaRPr lang="en-US"/>
        </a:p>
      </dgm:t>
    </dgm:pt>
    <dgm:pt modelId="{EFB65D19-EFD1-42F7-8D9D-2C293D0B1B14}" type="sibTrans" cxnId="{608077C3-364A-4D25-9071-C104951EC174}">
      <dgm:prSet/>
      <dgm:spPr/>
      <dgm:t>
        <a:bodyPr/>
        <a:lstStyle/>
        <a:p>
          <a:endParaRPr lang="en-US"/>
        </a:p>
      </dgm:t>
    </dgm:pt>
    <dgm:pt modelId="{462DCB8C-CCF6-499C-AB5C-770566F807DE}">
      <dgm:prSet/>
      <dgm:spPr/>
      <dgm:t>
        <a:bodyPr/>
        <a:lstStyle/>
        <a:p>
          <a:r>
            <a:rPr lang="en-US" dirty="0" smtClean="0"/>
            <a:t>Combines results when there is a match in any of tables (Table 1 and Table 2)</a:t>
          </a:r>
          <a:endParaRPr lang="en-US" dirty="0"/>
        </a:p>
      </dgm:t>
    </dgm:pt>
    <dgm:pt modelId="{70BEC2BA-AD75-416D-901E-A0A743DCFF3C}" type="parTrans" cxnId="{C26C47E8-9454-4BB5-84EB-29CA949342A2}">
      <dgm:prSet/>
      <dgm:spPr/>
      <dgm:t>
        <a:bodyPr/>
        <a:lstStyle/>
        <a:p>
          <a:endParaRPr lang="en-US"/>
        </a:p>
      </dgm:t>
    </dgm:pt>
    <dgm:pt modelId="{97F87F79-8D0A-4965-9BCC-DCD1E7F74F84}" type="sibTrans" cxnId="{C26C47E8-9454-4BB5-84EB-29CA949342A2}">
      <dgm:prSet/>
      <dgm:spPr/>
      <dgm:t>
        <a:bodyPr/>
        <a:lstStyle/>
        <a:p>
          <a:endParaRPr lang="en-US"/>
        </a:p>
      </dgm:t>
    </dgm:pt>
    <dgm:pt modelId="{0F12EC45-02B2-4038-9508-CDBB64930AEC}" type="pres">
      <dgm:prSet presAssocID="{C6F1AB0A-A51B-4F13-B1CC-B79DC1A79477}" presName="Name0" presStyleCnt="0">
        <dgm:presLayoutVars>
          <dgm:dir/>
          <dgm:resizeHandles val="exact"/>
        </dgm:presLayoutVars>
      </dgm:prSet>
      <dgm:spPr/>
      <dgm:t>
        <a:bodyPr/>
        <a:lstStyle/>
        <a:p>
          <a:endParaRPr lang="en-US"/>
        </a:p>
      </dgm:t>
    </dgm:pt>
    <dgm:pt modelId="{38060501-92AF-41E6-812E-39A66D679FB1}" type="pres">
      <dgm:prSet presAssocID="{C6F1AB0A-A51B-4F13-B1CC-B79DC1A79477}" presName="bkgdShp" presStyleLbl="alignAccFollowNode1" presStyleIdx="0" presStyleCnt="1"/>
      <dgm:spPr/>
    </dgm:pt>
    <dgm:pt modelId="{E7C76186-610D-4A4D-8D73-BE623505BBEF}" type="pres">
      <dgm:prSet presAssocID="{C6F1AB0A-A51B-4F13-B1CC-B79DC1A79477}" presName="linComp" presStyleCnt="0"/>
      <dgm:spPr/>
    </dgm:pt>
    <dgm:pt modelId="{B5227D16-EBDB-4F7C-AF91-588E654A3A3F}" type="pres">
      <dgm:prSet presAssocID="{91438BB3-4D52-4A52-B917-1F05C1B4967B}" presName="compNode" presStyleCnt="0"/>
      <dgm:spPr/>
    </dgm:pt>
    <dgm:pt modelId="{B32B3B1E-C015-4015-A0EA-10AD03AB2C61}" type="pres">
      <dgm:prSet presAssocID="{91438BB3-4D52-4A52-B917-1F05C1B4967B}" presName="node" presStyleLbl="node1" presStyleIdx="0" presStyleCnt="4">
        <dgm:presLayoutVars>
          <dgm:bulletEnabled val="1"/>
        </dgm:presLayoutVars>
      </dgm:prSet>
      <dgm:spPr/>
      <dgm:t>
        <a:bodyPr/>
        <a:lstStyle/>
        <a:p>
          <a:endParaRPr lang="en-US"/>
        </a:p>
      </dgm:t>
    </dgm:pt>
    <dgm:pt modelId="{B8B8E915-732B-4117-AF54-9322BA278311}" type="pres">
      <dgm:prSet presAssocID="{91438BB3-4D52-4A52-B917-1F05C1B4967B}" presName="invisiNode" presStyleLbl="node1" presStyleIdx="0" presStyleCnt="4"/>
      <dgm:spPr/>
    </dgm:pt>
    <dgm:pt modelId="{E6D91F14-B1FD-4D0B-BA38-D3F01DD7F1A4}" type="pres">
      <dgm:prSet presAssocID="{91438BB3-4D52-4A52-B917-1F05C1B4967B}" presName="imagNode" presStyleLbl="fgImgPlace1" presStyleIdx="0" presStyleCnt="4"/>
      <dgm:spPr>
        <a:blipFill rotWithShape="1">
          <a:blip xmlns:r="http://schemas.openxmlformats.org/officeDocument/2006/relationships" r:embed="rId1"/>
          <a:stretch>
            <a:fillRect/>
          </a:stretch>
        </a:blipFill>
      </dgm:spPr>
    </dgm:pt>
    <dgm:pt modelId="{0D252C85-1599-43FE-8C79-523015B65E5B}" type="pres">
      <dgm:prSet presAssocID="{40DCB4AC-DEE2-4FE0-AFA1-0184308F9CFD}" presName="sibTrans" presStyleLbl="sibTrans2D1" presStyleIdx="0" presStyleCnt="0"/>
      <dgm:spPr/>
      <dgm:t>
        <a:bodyPr/>
        <a:lstStyle/>
        <a:p>
          <a:endParaRPr lang="en-US"/>
        </a:p>
      </dgm:t>
    </dgm:pt>
    <dgm:pt modelId="{8C850DD2-4341-411C-B2EC-10BC4F305672}" type="pres">
      <dgm:prSet presAssocID="{213D2F29-4CF6-4C67-AD3F-6A7C9D8B754B}" presName="compNode" presStyleCnt="0"/>
      <dgm:spPr/>
    </dgm:pt>
    <dgm:pt modelId="{1C2C42E5-3B4C-4E6F-9C0D-D4D38545BD42}" type="pres">
      <dgm:prSet presAssocID="{213D2F29-4CF6-4C67-AD3F-6A7C9D8B754B}" presName="node" presStyleLbl="node1" presStyleIdx="1" presStyleCnt="4">
        <dgm:presLayoutVars>
          <dgm:bulletEnabled val="1"/>
        </dgm:presLayoutVars>
      </dgm:prSet>
      <dgm:spPr/>
      <dgm:t>
        <a:bodyPr/>
        <a:lstStyle/>
        <a:p>
          <a:endParaRPr lang="en-US"/>
        </a:p>
      </dgm:t>
    </dgm:pt>
    <dgm:pt modelId="{9BF16DAE-D4C2-48D5-A31B-EC586DF4359B}" type="pres">
      <dgm:prSet presAssocID="{213D2F29-4CF6-4C67-AD3F-6A7C9D8B754B}" presName="invisiNode" presStyleLbl="node1" presStyleIdx="1" presStyleCnt="4"/>
      <dgm:spPr/>
    </dgm:pt>
    <dgm:pt modelId="{D7BE7368-CD62-425C-B325-771526A5BD39}" type="pres">
      <dgm:prSet presAssocID="{213D2F29-4CF6-4C67-AD3F-6A7C9D8B754B}" presName="imagNode" presStyleLbl="fgImgPlace1" presStyleIdx="1" presStyleCnt="4"/>
      <dgm:spPr>
        <a:blipFill rotWithShape="1">
          <a:blip xmlns:r="http://schemas.openxmlformats.org/officeDocument/2006/relationships" r:embed="rId2"/>
          <a:stretch>
            <a:fillRect/>
          </a:stretch>
        </a:blipFill>
      </dgm:spPr>
    </dgm:pt>
    <dgm:pt modelId="{0403864A-1591-4998-A914-69FD655D38BC}" type="pres">
      <dgm:prSet presAssocID="{A0C6FB73-535F-42AF-A322-D989799DB404}" presName="sibTrans" presStyleLbl="sibTrans2D1" presStyleIdx="0" presStyleCnt="0"/>
      <dgm:spPr/>
      <dgm:t>
        <a:bodyPr/>
        <a:lstStyle/>
        <a:p>
          <a:endParaRPr lang="en-US"/>
        </a:p>
      </dgm:t>
    </dgm:pt>
    <dgm:pt modelId="{AD5AC6B9-1BC8-4FAB-A0D6-206D02B7A769}" type="pres">
      <dgm:prSet presAssocID="{C2647436-0890-416B-A1E1-A41494549A7E}" presName="compNode" presStyleCnt="0"/>
      <dgm:spPr/>
    </dgm:pt>
    <dgm:pt modelId="{62C8B285-D098-4421-B29B-6173C4292659}" type="pres">
      <dgm:prSet presAssocID="{C2647436-0890-416B-A1E1-A41494549A7E}" presName="node" presStyleLbl="node1" presStyleIdx="2" presStyleCnt="4">
        <dgm:presLayoutVars>
          <dgm:bulletEnabled val="1"/>
        </dgm:presLayoutVars>
      </dgm:prSet>
      <dgm:spPr/>
      <dgm:t>
        <a:bodyPr/>
        <a:lstStyle/>
        <a:p>
          <a:endParaRPr lang="en-US"/>
        </a:p>
      </dgm:t>
    </dgm:pt>
    <dgm:pt modelId="{9690DEB1-BB99-41B2-AA1C-B13DDB6EB29C}" type="pres">
      <dgm:prSet presAssocID="{C2647436-0890-416B-A1E1-A41494549A7E}" presName="invisiNode" presStyleLbl="node1" presStyleIdx="2" presStyleCnt="4"/>
      <dgm:spPr/>
    </dgm:pt>
    <dgm:pt modelId="{D1609875-9BD0-48F4-8480-F33285C2F334}" type="pres">
      <dgm:prSet presAssocID="{C2647436-0890-416B-A1E1-A41494549A7E}" presName="imagNode" presStyleLbl="fgImgPlace1" presStyleIdx="2" presStyleCnt="4"/>
      <dgm:spPr>
        <a:blipFill rotWithShape="1">
          <a:blip xmlns:r="http://schemas.openxmlformats.org/officeDocument/2006/relationships" r:embed="rId3"/>
          <a:stretch>
            <a:fillRect/>
          </a:stretch>
        </a:blipFill>
      </dgm:spPr>
    </dgm:pt>
    <dgm:pt modelId="{4A676F77-3351-4A77-8525-882F41A60474}" type="pres">
      <dgm:prSet presAssocID="{4A824771-3AD6-42C8-9D10-AEC7F2B95706}" presName="sibTrans" presStyleLbl="sibTrans2D1" presStyleIdx="0" presStyleCnt="0"/>
      <dgm:spPr/>
      <dgm:t>
        <a:bodyPr/>
        <a:lstStyle/>
        <a:p>
          <a:endParaRPr lang="en-US"/>
        </a:p>
      </dgm:t>
    </dgm:pt>
    <dgm:pt modelId="{5259FCE4-7992-4899-A1CD-C00F62D932BD}" type="pres">
      <dgm:prSet presAssocID="{1D4A4EEF-E3B6-4AC7-BE64-341926E4A396}" presName="compNode" presStyleCnt="0"/>
      <dgm:spPr/>
    </dgm:pt>
    <dgm:pt modelId="{4510D15F-C0C4-42F5-9B95-21DC8F7892A9}" type="pres">
      <dgm:prSet presAssocID="{1D4A4EEF-E3B6-4AC7-BE64-341926E4A396}" presName="node" presStyleLbl="node1" presStyleIdx="3" presStyleCnt="4">
        <dgm:presLayoutVars>
          <dgm:bulletEnabled val="1"/>
        </dgm:presLayoutVars>
      </dgm:prSet>
      <dgm:spPr/>
      <dgm:t>
        <a:bodyPr/>
        <a:lstStyle/>
        <a:p>
          <a:endParaRPr lang="en-US"/>
        </a:p>
      </dgm:t>
    </dgm:pt>
    <dgm:pt modelId="{CB35C2B6-54A9-4AFE-8D7F-94EA7663B1A8}" type="pres">
      <dgm:prSet presAssocID="{1D4A4EEF-E3B6-4AC7-BE64-341926E4A396}" presName="invisiNode" presStyleLbl="node1" presStyleIdx="3" presStyleCnt="4"/>
      <dgm:spPr/>
    </dgm:pt>
    <dgm:pt modelId="{D565C9F0-480C-4853-BD88-CAFD85FE684B}" type="pres">
      <dgm:prSet presAssocID="{1D4A4EEF-E3B6-4AC7-BE64-341926E4A396}" presName="imagNode" presStyleLbl="fgImgPlace1" presStyleIdx="3" presStyleCnt="4"/>
      <dgm:spPr>
        <a:blipFill rotWithShape="1">
          <a:blip xmlns:r="http://schemas.openxmlformats.org/officeDocument/2006/relationships" r:embed="rId4"/>
          <a:stretch>
            <a:fillRect/>
          </a:stretch>
        </a:blipFill>
      </dgm:spPr>
    </dgm:pt>
  </dgm:ptLst>
  <dgm:cxnLst>
    <dgm:cxn modelId="{DCBA37DA-69FA-47B5-A514-C1E4B09355DD}" srcId="{213D2F29-4CF6-4C67-AD3F-6A7C9D8B754B}" destId="{A6FE5E38-40E4-43BD-AB96-A1A3892D2654}" srcOrd="0" destOrd="0" parTransId="{626B7FB7-1D7B-4D37-9FFE-17B397A6A490}" sibTransId="{B6591703-2031-4038-A87D-915B82C63748}"/>
    <dgm:cxn modelId="{1C14C502-D728-4F13-B1FA-37D20C465AA9}" srcId="{91438BB3-4D52-4A52-B917-1F05C1B4967B}" destId="{B9DB8A83-FA14-40F9-8C8C-F9ED5D643000}" srcOrd="0" destOrd="0" parTransId="{81F5EE3C-AA59-4F20-AD14-0F65BEE1E087}" sibTransId="{53E070AC-5A3A-4678-9B1F-8298BD640F56}"/>
    <dgm:cxn modelId="{D1AEE8E1-B1DC-40CC-BE7F-E5A9523BC196}" type="presOf" srcId="{1D4A4EEF-E3B6-4AC7-BE64-341926E4A396}" destId="{4510D15F-C0C4-42F5-9B95-21DC8F7892A9}" srcOrd="0" destOrd="0" presId="urn:microsoft.com/office/officeart/2005/8/layout/pList2"/>
    <dgm:cxn modelId="{A061CBA3-B354-4F53-8E0A-422105945B17}" type="presOf" srcId="{A0C6FB73-535F-42AF-A322-D989799DB404}" destId="{0403864A-1591-4998-A914-69FD655D38BC}" srcOrd="0" destOrd="0" presId="urn:microsoft.com/office/officeart/2005/8/layout/pList2"/>
    <dgm:cxn modelId="{B3BF8492-E505-4CE6-950D-0AAD131CFD97}" type="presOf" srcId="{63D2018D-8FD4-4490-B127-BE378B545A8E}" destId="{62C8B285-D098-4421-B29B-6173C4292659}" srcOrd="0" destOrd="1" presId="urn:microsoft.com/office/officeart/2005/8/layout/pList2"/>
    <dgm:cxn modelId="{6239F945-4B58-4CFE-A99A-1E662EDA4A80}" type="presOf" srcId="{B9DB8A83-FA14-40F9-8C8C-F9ED5D643000}" destId="{B32B3B1E-C015-4015-A0EA-10AD03AB2C61}" srcOrd="0" destOrd="1" presId="urn:microsoft.com/office/officeart/2005/8/layout/pList2"/>
    <dgm:cxn modelId="{F95A574B-92CC-4D79-AD2F-63966E6285C4}" type="presOf" srcId="{A6FE5E38-40E4-43BD-AB96-A1A3892D2654}" destId="{1C2C42E5-3B4C-4E6F-9C0D-D4D38545BD42}" srcOrd="0" destOrd="1" presId="urn:microsoft.com/office/officeart/2005/8/layout/pList2"/>
    <dgm:cxn modelId="{22EEB3F5-2909-48F0-9630-DFE1D614BC36}" type="presOf" srcId="{C6F1AB0A-A51B-4F13-B1CC-B79DC1A79477}" destId="{0F12EC45-02B2-4038-9508-CDBB64930AEC}" srcOrd="0" destOrd="0" presId="urn:microsoft.com/office/officeart/2005/8/layout/pList2"/>
    <dgm:cxn modelId="{F627B88A-ABB0-4DE5-B356-958617B8E068}" srcId="{C6F1AB0A-A51B-4F13-B1CC-B79DC1A79477}" destId="{C2647436-0890-416B-A1E1-A41494549A7E}" srcOrd="2" destOrd="0" parTransId="{759F3EDE-B693-4971-A52D-9625DB6A8F20}" sibTransId="{4A824771-3AD6-42C8-9D10-AEC7F2B95706}"/>
    <dgm:cxn modelId="{F1F5BDD3-45CF-416A-913A-7545402A204A}" type="presOf" srcId="{C2647436-0890-416B-A1E1-A41494549A7E}" destId="{62C8B285-D098-4421-B29B-6173C4292659}" srcOrd="0" destOrd="0" presId="urn:microsoft.com/office/officeart/2005/8/layout/pList2"/>
    <dgm:cxn modelId="{30C3B6F6-F56A-49E0-94D5-8A20D3992498}" type="presOf" srcId="{91438BB3-4D52-4A52-B917-1F05C1B4967B}" destId="{B32B3B1E-C015-4015-A0EA-10AD03AB2C61}" srcOrd="0" destOrd="0" presId="urn:microsoft.com/office/officeart/2005/8/layout/pList2"/>
    <dgm:cxn modelId="{36641468-C854-42F0-9DA2-F005C75F9734}" type="presOf" srcId="{462DCB8C-CCF6-499C-AB5C-770566F807DE}" destId="{4510D15F-C0C4-42F5-9B95-21DC8F7892A9}" srcOrd="0" destOrd="1" presId="urn:microsoft.com/office/officeart/2005/8/layout/pList2"/>
    <dgm:cxn modelId="{608077C3-364A-4D25-9071-C104951EC174}" srcId="{C6F1AB0A-A51B-4F13-B1CC-B79DC1A79477}" destId="{1D4A4EEF-E3B6-4AC7-BE64-341926E4A396}" srcOrd="3" destOrd="0" parTransId="{DBB383C0-2E8B-4783-832B-3DF7820C0400}" sibTransId="{EFB65D19-EFD1-42F7-8D9D-2C293D0B1B14}"/>
    <dgm:cxn modelId="{5763996E-B0CD-410C-AD9B-5F55E6EC5D46}" type="presOf" srcId="{213D2F29-4CF6-4C67-AD3F-6A7C9D8B754B}" destId="{1C2C42E5-3B4C-4E6F-9C0D-D4D38545BD42}" srcOrd="0" destOrd="0" presId="urn:microsoft.com/office/officeart/2005/8/layout/pList2"/>
    <dgm:cxn modelId="{4A561031-C0EB-45FD-B4C8-5152761F74B4}" srcId="{C6F1AB0A-A51B-4F13-B1CC-B79DC1A79477}" destId="{213D2F29-4CF6-4C67-AD3F-6A7C9D8B754B}" srcOrd="1" destOrd="0" parTransId="{9BE7CD20-AB1D-40F3-A270-12D0A317D4E7}" sibTransId="{A0C6FB73-535F-42AF-A322-D989799DB404}"/>
    <dgm:cxn modelId="{1660F85F-575E-41A0-864E-453A6ADFB693}" srcId="{C2647436-0890-416B-A1E1-A41494549A7E}" destId="{63D2018D-8FD4-4490-B127-BE378B545A8E}" srcOrd="0" destOrd="0" parTransId="{E8BC276A-7B59-40A4-BEE2-FA775D95668F}" sibTransId="{5BF87DBB-401D-4BD6-B823-09800F80AB4F}"/>
    <dgm:cxn modelId="{9AB676D6-7C3E-49D7-A52F-B1F58E91230F}" srcId="{C6F1AB0A-A51B-4F13-B1CC-B79DC1A79477}" destId="{91438BB3-4D52-4A52-B917-1F05C1B4967B}" srcOrd="0" destOrd="0" parTransId="{9400BE2C-5B8C-4461-9DC6-642BD1E01B1D}" sibTransId="{40DCB4AC-DEE2-4FE0-AFA1-0184308F9CFD}"/>
    <dgm:cxn modelId="{8D71959C-3B3B-4750-80C1-932D4E20F239}" type="presOf" srcId="{40DCB4AC-DEE2-4FE0-AFA1-0184308F9CFD}" destId="{0D252C85-1599-43FE-8C79-523015B65E5B}" srcOrd="0" destOrd="0" presId="urn:microsoft.com/office/officeart/2005/8/layout/pList2"/>
    <dgm:cxn modelId="{C26C47E8-9454-4BB5-84EB-29CA949342A2}" srcId="{1D4A4EEF-E3B6-4AC7-BE64-341926E4A396}" destId="{462DCB8C-CCF6-499C-AB5C-770566F807DE}" srcOrd="0" destOrd="0" parTransId="{70BEC2BA-AD75-416D-901E-A0A743DCFF3C}" sibTransId="{97F87F79-8D0A-4965-9BCC-DCD1E7F74F84}"/>
    <dgm:cxn modelId="{3C718823-FA6C-4F1F-881A-6B200921936D}" type="presOf" srcId="{4A824771-3AD6-42C8-9D10-AEC7F2B95706}" destId="{4A676F77-3351-4A77-8525-882F41A60474}" srcOrd="0" destOrd="0" presId="urn:microsoft.com/office/officeart/2005/8/layout/pList2"/>
    <dgm:cxn modelId="{C0266722-7487-4FB3-AA5B-00CFF8050C06}" type="presParOf" srcId="{0F12EC45-02B2-4038-9508-CDBB64930AEC}" destId="{38060501-92AF-41E6-812E-39A66D679FB1}" srcOrd="0" destOrd="0" presId="urn:microsoft.com/office/officeart/2005/8/layout/pList2"/>
    <dgm:cxn modelId="{3DA67AF6-B38B-47F0-8358-895441D09A2A}" type="presParOf" srcId="{0F12EC45-02B2-4038-9508-CDBB64930AEC}" destId="{E7C76186-610D-4A4D-8D73-BE623505BBEF}" srcOrd="1" destOrd="0" presId="urn:microsoft.com/office/officeart/2005/8/layout/pList2"/>
    <dgm:cxn modelId="{A30D69C5-102A-4C86-A184-5456CF93E7F2}" type="presParOf" srcId="{E7C76186-610D-4A4D-8D73-BE623505BBEF}" destId="{B5227D16-EBDB-4F7C-AF91-588E654A3A3F}" srcOrd="0" destOrd="0" presId="urn:microsoft.com/office/officeart/2005/8/layout/pList2"/>
    <dgm:cxn modelId="{93A249A4-2D22-40AB-90A2-ECCF3A5F0CFE}" type="presParOf" srcId="{B5227D16-EBDB-4F7C-AF91-588E654A3A3F}" destId="{B32B3B1E-C015-4015-A0EA-10AD03AB2C61}" srcOrd="0" destOrd="0" presId="urn:microsoft.com/office/officeart/2005/8/layout/pList2"/>
    <dgm:cxn modelId="{9FE18D5D-E5F9-4EC2-9CBB-3A2CAB10583F}" type="presParOf" srcId="{B5227D16-EBDB-4F7C-AF91-588E654A3A3F}" destId="{B8B8E915-732B-4117-AF54-9322BA278311}" srcOrd="1" destOrd="0" presId="urn:microsoft.com/office/officeart/2005/8/layout/pList2"/>
    <dgm:cxn modelId="{F005E68A-0BBB-49AF-9F86-5372D0966869}" type="presParOf" srcId="{B5227D16-EBDB-4F7C-AF91-588E654A3A3F}" destId="{E6D91F14-B1FD-4D0B-BA38-D3F01DD7F1A4}" srcOrd="2" destOrd="0" presId="urn:microsoft.com/office/officeart/2005/8/layout/pList2"/>
    <dgm:cxn modelId="{2CD0C4E7-A186-4974-BEE9-C61FA1EBDC95}" type="presParOf" srcId="{E7C76186-610D-4A4D-8D73-BE623505BBEF}" destId="{0D252C85-1599-43FE-8C79-523015B65E5B}" srcOrd="1" destOrd="0" presId="urn:microsoft.com/office/officeart/2005/8/layout/pList2"/>
    <dgm:cxn modelId="{6E49BE1A-73E6-4106-B32E-A095E1419A11}" type="presParOf" srcId="{E7C76186-610D-4A4D-8D73-BE623505BBEF}" destId="{8C850DD2-4341-411C-B2EC-10BC4F305672}" srcOrd="2" destOrd="0" presId="urn:microsoft.com/office/officeart/2005/8/layout/pList2"/>
    <dgm:cxn modelId="{22BAC4D3-EABC-47AB-B9E6-ACE8355C5FEF}" type="presParOf" srcId="{8C850DD2-4341-411C-B2EC-10BC4F305672}" destId="{1C2C42E5-3B4C-4E6F-9C0D-D4D38545BD42}" srcOrd="0" destOrd="0" presId="urn:microsoft.com/office/officeart/2005/8/layout/pList2"/>
    <dgm:cxn modelId="{05618A53-6BFA-4B83-BE6B-0BDCF41D87F1}" type="presParOf" srcId="{8C850DD2-4341-411C-B2EC-10BC4F305672}" destId="{9BF16DAE-D4C2-48D5-A31B-EC586DF4359B}" srcOrd="1" destOrd="0" presId="urn:microsoft.com/office/officeart/2005/8/layout/pList2"/>
    <dgm:cxn modelId="{83A531FD-3C33-45FC-A3DE-E74C7C122627}" type="presParOf" srcId="{8C850DD2-4341-411C-B2EC-10BC4F305672}" destId="{D7BE7368-CD62-425C-B325-771526A5BD39}" srcOrd="2" destOrd="0" presId="urn:microsoft.com/office/officeart/2005/8/layout/pList2"/>
    <dgm:cxn modelId="{190F0944-E2A0-48EF-8EDE-7DFE3451DB8A}" type="presParOf" srcId="{E7C76186-610D-4A4D-8D73-BE623505BBEF}" destId="{0403864A-1591-4998-A914-69FD655D38BC}" srcOrd="3" destOrd="0" presId="urn:microsoft.com/office/officeart/2005/8/layout/pList2"/>
    <dgm:cxn modelId="{B3254936-057B-4B79-AD98-29F06DE88431}" type="presParOf" srcId="{E7C76186-610D-4A4D-8D73-BE623505BBEF}" destId="{AD5AC6B9-1BC8-4FAB-A0D6-206D02B7A769}" srcOrd="4" destOrd="0" presId="urn:microsoft.com/office/officeart/2005/8/layout/pList2"/>
    <dgm:cxn modelId="{0DAEF9E8-DECE-4D48-83FD-2404822B3840}" type="presParOf" srcId="{AD5AC6B9-1BC8-4FAB-A0D6-206D02B7A769}" destId="{62C8B285-D098-4421-B29B-6173C4292659}" srcOrd="0" destOrd="0" presId="urn:microsoft.com/office/officeart/2005/8/layout/pList2"/>
    <dgm:cxn modelId="{D620ACE3-1BE9-475D-A597-684AEA7BB9CE}" type="presParOf" srcId="{AD5AC6B9-1BC8-4FAB-A0D6-206D02B7A769}" destId="{9690DEB1-BB99-41B2-AA1C-B13DDB6EB29C}" srcOrd="1" destOrd="0" presId="urn:microsoft.com/office/officeart/2005/8/layout/pList2"/>
    <dgm:cxn modelId="{BCC2D986-D6C3-49EE-91EC-5830F5B8FE48}" type="presParOf" srcId="{AD5AC6B9-1BC8-4FAB-A0D6-206D02B7A769}" destId="{D1609875-9BD0-48F4-8480-F33285C2F334}" srcOrd="2" destOrd="0" presId="urn:microsoft.com/office/officeart/2005/8/layout/pList2"/>
    <dgm:cxn modelId="{F0B2604F-C018-4385-A76C-F17C6FBE5CDD}" type="presParOf" srcId="{E7C76186-610D-4A4D-8D73-BE623505BBEF}" destId="{4A676F77-3351-4A77-8525-882F41A60474}" srcOrd="5" destOrd="0" presId="urn:microsoft.com/office/officeart/2005/8/layout/pList2"/>
    <dgm:cxn modelId="{B192D989-DB8D-414C-9FCD-19C8C298FEEF}" type="presParOf" srcId="{E7C76186-610D-4A4D-8D73-BE623505BBEF}" destId="{5259FCE4-7992-4899-A1CD-C00F62D932BD}" srcOrd="6" destOrd="0" presId="urn:microsoft.com/office/officeart/2005/8/layout/pList2"/>
    <dgm:cxn modelId="{69301D3D-A5DE-4437-86AA-F4DAE4055BA7}" type="presParOf" srcId="{5259FCE4-7992-4899-A1CD-C00F62D932BD}" destId="{4510D15F-C0C4-42F5-9B95-21DC8F7892A9}" srcOrd="0" destOrd="0" presId="urn:microsoft.com/office/officeart/2005/8/layout/pList2"/>
    <dgm:cxn modelId="{AF970484-0AAC-4BD2-BD6A-2D5EF7467463}" type="presParOf" srcId="{5259FCE4-7992-4899-A1CD-C00F62D932BD}" destId="{CB35C2B6-54A9-4AFE-8D7F-94EA7663B1A8}" srcOrd="1" destOrd="0" presId="urn:microsoft.com/office/officeart/2005/8/layout/pList2"/>
    <dgm:cxn modelId="{73AE7F0F-AD4C-4A20-8A58-CAB3531D7E0D}" type="presParOf" srcId="{5259FCE4-7992-4899-A1CD-C00F62D932BD}" destId="{D565C9F0-480C-4853-BD88-CAFD85FE684B}" srcOrd="2" destOrd="0" presId="urn:microsoft.com/office/officeart/2005/8/layout/p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8EFC826-E8A3-43AB-8229-62D0BB500CE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DA9B726-3B35-4175-BFC0-9CF73487F5C0}">
      <dgm:prSet phldrT="[Text]"/>
      <dgm:spPr/>
      <dgm:t>
        <a:bodyPr/>
        <a:lstStyle/>
        <a:p>
          <a:r>
            <a:rPr lang="en-US" dirty="0" smtClean="0"/>
            <a:t>Aggregate Function</a:t>
          </a:r>
          <a:endParaRPr lang="en-US" dirty="0"/>
        </a:p>
      </dgm:t>
    </dgm:pt>
    <dgm:pt modelId="{C466E3BC-0148-44D5-9CFC-03871FF2E66D}" type="parTrans" cxnId="{94C4AFAC-A77B-4F20-A091-BBEA92C7F8FF}">
      <dgm:prSet/>
      <dgm:spPr/>
      <dgm:t>
        <a:bodyPr/>
        <a:lstStyle/>
        <a:p>
          <a:endParaRPr lang="en-US"/>
        </a:p>
      </dgm:t>
    </dgm:pt>
    <dgm:pt modelId="{C2DE93C7-AC91-4CFE-932A-ED8C29708C70}" type="sibTrans" cxnId="{94C4AFAC-A77B-4F20-A091-BBEA92C7F8FF}">
      <dgm:prSet/>
      <dgm:spPr/>
      <dgm:t>
        <a:bodyPr/>
        <a:lstStyle/>
        <a:p>
          <a:endParaRPr lang="en-US"/>
        </a:p>
      </dgm:t>
    </dgm:pt>
    <dgm:pt modelId="{8D1F86C7-9D68-4DB3-AE43-A38B07C36FA5}">
      <dgm:prSet phldrT="[Text]"/>
      <dgm:spPr/>
      <dgm:t>
        <a:bodyPr/>
        <a:lstStyle/>
        <a:p>
          <a:r>
            <a:rPr lang="en-US" dirty="0" smtClean="0"/>
            <a:t>Uses multiple rows as input and returns single row as output</a:t>
          </a:r>
          <a:endParaRPr lang="en-US" dirty="0"/>
        </a:p>
      </dgm:t>
    </dgm:pt>
    <dgm:pt modelId="{4A57C7A8-F2D0-47CF-B3F7-FA6979576192}" type="parTrans" cxnId="{A570C559-4C5E-4AEB-A1AD-5F1860E3D836}">
      <dgm:prSet/>
      <dgm:spPr/>
      <dgm:t>
        <a:bodyPr/>
        <a:lstStyle/>
        <a:p>
          <a:endParaRPr lang="en-US"/>
        </a:p>
      </dgm:t>
    </dgm:pt>
    <dgm:pt modelId="{7EB2AE9B-23FF-4D90-923E-AFBBED5DC25F}" type="sibTrans" cxnId="{A570C559-4C5E-4AEB-A1AD-5F1860E3D836}">
      <dgm:prSet/>
      <dgm:spPr/>
      <dgm:t>
        <a:bodyPr/>
        <a:lstStyle/>
        <a:p>
          <a:endParaRPr lang="en-US"/>
        </a:p>
      </dgm:t>
    </dgm:pt>
    <dgm:pt modelId="{8D408558-BD17-413F-AE44-AB0E64CD531C}">
      <dgm:prSet phldrT="[Text]"/>
      <dgm:spPr/>
      <dgm:t>
        <a:bodyPr/>
        <a:lstStyle/>
        <a:p>
          <a:r>
            <a:rPr lang="en-US" dirty="0" smtClean="0"/>
            <a:t>Grouping</a:t>
          </a:r>
          <a:endParaRPr lang="en-US" dirty="0"/>
        </a:p>
      </dgm:t>
    </dgm:pt>
    <dgm:pt modelId="{E8F5F3BD-CDAA-43EA-9CF3-7B07CCF8A01E}" type="parTrans" cxnId="{989319F3-D595-4A45-9E8A-90EC5B7E99C7}">
      <dgm:prSet/>
      <dgm:spPr/>
      <dgm:t>
        <a:bodyPr/>
        <a:lstStyle/>
        <a:p>
          <a:endParaRPr lang="en-US"/>
        </a:p>
      </dgm:t>
    </dgm:pt>
    <dgm:pt modelId="{0F3C1CE8-44B1-4573-9928-6600A9F317B7}" type="sibTrans" cxnId="{989319F3-D595-4A45-9E8A-90EC5B7E99C7}">
      <dgm:prSet/>
      <dgm:spPr/>
      <dgm:t>
        <a:bodyPr/>
        <a:lstStyle/>
        <a:p>
          <a:endParaRPr lang="en-US"/>
        </a:p>
      </dgm:t>
    </dgm:pt>
    <dgm:pt modelId="{B8BA71DC-73E9-42EC-A73E-D246679C4C60}">
      <dgm:prSet phldrT="[Text]"/>
      <dgm:spPr/>
      <dgm:t>
        <a:bodyPr/>
        <a:lstStyle/>
        <a:p>
          <a:r>
            <a:rPr lang="en-US" dirty="0" smtClean="0"/>
            <a:t>Used to group the columns with similar values</a:t>
          </a:r>
          <a:endParaRPr lang="en-US" dirty="0"/>
        </a:p>
      </dgm:t>
    </dgm:pt>
    <dgm:pt modelId="{694868D7-7DF1-4AC6-A6CE-34E2ACAAE61F}" type="parTrans" cxnId="{7537D0F1-8491-4FB9-9F9A-5CC39E7D5426}">
      <dgm:prSet/>
      <dgm:spPr/>
      <dgm:t>
        <a:bodyPr/>
        <a:lstStyle/>
        <a:p>
          <a:endParaRPr lang="en-US"/>
        </a:p>
      </dgm:t>
    </dgm:pt>
    <dgm:pt modelId="{4F8D0F13-4186-4CA7-9C5A-3E1A5DB59632}" type="sibTrans" cxnId="{7537D0F1-8491-4FB9-9F9A-5CC39E7D5426}">
      <dgm:prSet/>
      <dgm:spPr/>
      <dgm:t>
        <a:bodyPr/>
        <a:lstStyle/>
        <a:p>
          <a:endParaRPr lang="en-US"/>
        </a:p>
      </dgm:t>
    </dgm:pt>
    <dgm:pt modelId="{F696B9E6-F64C-4F2A-8256-1C832EBB714E}" type="pres">
      <dgm:prSet presAssocID="{38EFC826-E8A3-43AB-8229-62D0BB500CE0}" presName="linear" presStyleCnt="0">
        <dgm:presLayoutVars>
          <dgm:animLvl val="lvl"/>
          <dgm:resizeHandles val="exact"/>
        </dgm:presLayoutVars>
      </dgm:prSet>
      <dgm:spPr/>
      <dgm:t>
        <a:bodyPr/>
        <a:lstStyle/>
        <a:p>
          <a:endParaRPr lang="en-US"/>
        </a:p>
      </dgm:t>
    </dgm:pt>
    <dgm:pt modelId="{689299CB-6BDF-4CF6-847F-0C254355DB00}" type="pres">
      <dgm:prSet presAssocID="{BDA9B726-3B35-4175-BFC0-9CF73487F5C0}" presName="parentText" presStyleLbl="node1" presStyleIdx="0" presStyleCnt="2">
        <dgm:presLayoutVars>
          <dgm:chMax val="0"/>
          <dgm:bulletEnabled val="1"/>
        </dgm:presLayoutVars>
      </dgm:prSet>
      <dgm:spPr/>
      <dgm:t>
        <a:bodyPr/>
        <a:lstStyle/>
        <a:p>
          <a:endParaRPr lang="en-US"/>
        </a:p>
      </dgm:t>
    </dgm:pt>
    <dgm:pt modelId="{6B09CE9C-C249-47E4-AA35-3FD2CCFFD318}" type="pres">
      <dgm:prSet presAssocID="{BDA9B726-3B35-4175-BFC0-9CF73487F5C0}" presName="childText" presStyleLbl="revTx" presStyleIdx="0" presStyleCnt="2">
        <dgm:presLayoutVars>
          <dgm:bulletEnabled val="1"/>
        </dgm:presLayoutVars>
      </dgm:prSet>
      <dgm:spPr/>
      <dgm:t>
        <a:bodyPr/>
        <a:lstStyle/>
        <a:p>
          <a:endParaRPr lang="en-US"/>
        </a:p>
      </dgm:t>
    </dgm:pt>
    <dgm:pt modelId="{B7D0E3E1-BC55-4088-9576-D6A9288010B0}" type="pres">
      <dgm:prSet presAssocID="{8D408558-BD17-413F-AE44-AB0E64CD531C}" presName="parentText" presStyleLbl="node1" presStyleIdx="1" presStyleCnt="2">
        <dgm:presLayoutVars>
          <dgm:chMax val="0"/>
          <dgm:bulletEnabled val="1"/>
        </dgm:presLayoutVars>
      </dgm:prSet>
      <dgm:spPr/>
      <dgm:t>
        <a:bodyPr/>
        <a:lstStyle/>
        <a:p>
          <a:endParaRPr lang="en-US"/>
        </a:p>
      </dgm:t>
    </dgm:pt>
    <dgm:pt modelId="{A9B4453D-2EAD-49B2-BE9E-F82F53B9D85F}" type="pres">
      <dgm:prSet presAssocID="{8D408558-BD17-413F-AE44-AB0E64CD531C}" presName="childText" presStyleLbl="revTx" presStyleIdx="1" presStyleCnt="2">
        <dgm:presLayoutVars>
          <dgm:bulletEnabled val="1"/>
        </dgm:presLayoutVars>
      </dgm:prSet>
      <dgm:spPr/>
      <dgm:t>
        <a:bodyPr/>
        <a:lstStyle/>
        <a:p>
          <a:endParaRPr lang="en-US"/>
        </a:p>
      </dgm:t>
    </dgm:pt>
  </dgm:ptLst>
  <dgm:cxnLst>
    <dgm:cxn modelId="{36BDCBAB-CBD5-4EB2-BC6E-688FB4B9849E}" type="presOf" srcId="{B8BA71DC-73E9-42EC-A73E-D246679C4C60}" destId="{A9B4453D-2EAD-49B2-BE9E-F82F53B9D85F}" srcOrd="0" destOrd="0" presId="urn:microsoft.com/office/officeart/2005/8/layout/vList2"/>
    <dgm:cxn modelId="{A570C559-4C5E-4AEB-A1AD-5F1860E3D836}" srcId="{BDA9B726-3B35-4175-BFC0-9CF73487F5C0}" destId="{8D1F86C7-9D68-4DB3-AE43-A38B07C36FA5}" srcOrd="0" destOrd="0" parTransId="{4A57C7A8-F2D0-47CF-B3F7-FA6979576192}" sibTransId="{7EB2AE9B-23FF-4D90-923E-AFBBED5DC25F}"/>
    <dgm:cxn modelId="{47B85771-9CBA-4239-96BB-CC11A9AA8A46}" type="presOf" srcId="{38EFC826-E8A3-43AB-8229-62D0BB500CE0}" destId="{F696B9E6-F64C-4F2A-8256-1C832EBB714E}" srcOrd="0" destOrd="0" presId="urn:microsoft.com/office/officeart/2005/8/layout/vList2"/>
    <dgm:cxn modelId="{57E4F5D2-C8D5-4EB7-8DF0-1DCFDD392A03}" type="presOf" srcId="{BDA9B726-3B35-4175-BFC0-9CF73487F5C0}" destId="{689299CB-6BDF-4CF6-847F-0C254355DB00}" srcOrd="0" destOrd="0" presId="urn:microsoft.com/office/officeart/2005/8/layout/vList2"/>
    <dgm:cxn modelId="{7537D0F1-8491-4FB9-9F9A-5CC39E7D5426}" srcId="{8D408558-BD17-413F-AE44-AB0E64CD531C}" destId="{B8BA71DC-73E9-42EC-A73E-D246679C4C60}" srcOrd="0" destOrd="0" parTransId="{694868D7-7DF1-4AC6-A6CE-34E2ACAAE61F}" sibTransId="{4F8D0F13-4186-4CA7-9C5A-3E1A5DB59632}"/>
    <dgm:cxn modelId="{989319F3-D595-4A45-9E8A-90EC5B7E99C7}" srcId="{38EFC826-E8A3-43AB-8229-62D0BB500CE0}" destId="{8D408558-BD17-413F-AE44-AB0E64CD531C}" srcOrd="1" destOrd="0" parTransId="{E8F5F3BD-CDAA-43EA-9CF3-7B07CCF8A01E}" sibTransId="{0F3C1CE8-44B1-4573-9928-6600A9F317B7}"/>
    <dgm:cxn modelId="{8347C7F7-028D-4884-87DE-4730EE1171DC}" type="presOf" srcId="{8D408558-BD17-413F-AE44-AB0E64CD531C}" destId="{B7D0E3E1-BC55-4088-9576-D6A9288010B0}" srcOrd="0" destOrd="0" presId="urn:microsoft.com/office/officeart/2005/8/layout/vList2"/>
    <dgm:cxn modelId="{94C4AFAC-A77B-4F20-A091-BBEA92C7F8FF}" srcId="{38EFC826-E8A3-43AB-8229-62D0BB500CE0}" destId="{BDA9B726-3B35-4175-BFC0-9CF73487F5C0}" srcOrd="0" destOrd="0" parTransId="{C466E3BC-0148-44D5-9CFC-03871FF2E66D}" sibTransId="{C2DE93C7-AC91-4CFE-932A-ED8C29708C70}"/>
    <dgm:cxn modelId="{ED61F19C-ECA1-4954-AF35-8AFB529D9E3A}" type="presOf" srcId="{8D1F86C7-9D68-4DB3-AE43-A38B07C36FA5}" destId="{6B09CE9C-C249-47E4-AA35-3FD2CCFFD318}" srcOrd="0" destOrd="0" presId="urn:microsoft.com/office/officeart/2005/8/layout/vList2"/>
    <dgm:cxn modelId="{D8CBA9EB-E2A6-4CFC-8F74-CD1825FFD7AF}" type="presParOf" srcId="{F696B9E6-F64C-4F2A-8256-1C832EBB714E}" destId="{689299CB-6BDF-4CF6-847F-0C254355DB00}" srcOrd="0" destOrd="0" presId="urn:microsoft.com/office/officeart/2005/8/layout/vList2"/>
    <dgm:cxn modelId="{780795FB-D756-4137-8B5E-2D7FA5C15298}" type="presParOf" srcId="{F696B9E6-F64C-4F2A-8256-1C832EBB714E}" destId="{6B09CE9C-C249-47E4-AA35-3FD2CCFFD318}" srcOrd="1" destOrd="0" presId="urn:microsoft.com/office/officeart/2005/8/layout/vList2"/>
    <dgm:cxn modelId="{EE593698-0371-4C5E-BCC7-3392107FFAE2}" type="presParOf" srcId="{F696B9E6-F64C-4F2A-8256-1C832EBB714E}" destId="{B7D0E3E1-BC55-4088-9576-D6A9288010B0}" srcOrd="2" destOrd="0" presId="urn:microsoft.com/office/officeart/2005/8/layout/vList2"/>
    <dgm:cxn modelId="{11D74D97-3071-4366-A51E-6B12B80A56D4}" type="presParOf" srcId="{F696B9E6-F64C-4F2A-8256-1C832EBB714E}" destId="{A9B4453D-2EAD-49B2-BE9E-F82F53B9D85F}"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060501-92AF-41E6-812E-39A66D679FB1}">
      <dsp:nvSpPr>
        <dsp:cNvPr id="0" name=""/>
        <dsp:cNvSpPr/>
      </dsp:nvSpPr>
      <dsp:spPr>
        <a:xfrm>
          <a:off x="0" y="0"/>
          <a:ext cx="7886700" cy="1468576"/>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6D91F14-B1FD-4D0B-BA38-D3F01DD7F1A4}">
      <dsp:nvSpPr>
        <dsp:cNvPr id="0" name=""/>
        <dsp:cNvSpPr/>
      </dsp:nvSpPr>
      <dsp:spPr>
        <a:xfrm>
          <a:off x="238772" y="195810"/>
          <a:ext cx="1723059" cy="1076956"/>
        </a:xfrm>
        <a:prstGeom prst="roundRect">
          <a:avLst>
            <a:gd name="adj" fmla="val 10000"/>
          </a:avLst>
        </a:prstGeom>
        <a:blipFill rotWithShape="1">
          <a:blip xmlns:r="http://schemas.openxmlformats.org/officeDocument/2006/relationships" r:embed="rId1"/>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32B3B1E-C015-4015-A0EA-10AD03AB2C61}">
      <dsp:nvSpPr>
        <dsp:cNvPr id="0" name=""/>
        <dsp:cNvSpPr/>
      </dsp:nvSpPr>
      <dsp:spPr>
        <a:xfrm rot="10800000">
          <a:off x="238772" y="1468576"/>
          <a:ext cx="1723059" cy="1794927"/>
        </a:xfrm>
        <a:prstGeom prst="round2SameRect">
          <a:avLst>
            <a:gd name="adj1" fmla="val 10500"/>
            <a:gd name="adj2" fmla="val 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t" anchorCtr="0">
          <a:noAutofit/>
        </a:bodyPr>
        <a:lstStyle/>
        <a:p>
          <a:pPr lvl="0" algn="l" defTabSz="711200">
            <a:lnSpc>
              <a:spcPct val="90000"/>
            </a:lnSpc>
            <a:spcBef>
              <a:spcPct val="0"/>
            </a:spcBef>
            <a:spcAft>
              <a:spcPct val="35000"/>
            </a:spcAft>
          </a:pPr>
          <a:r>
            <a:rPr lang="en-US" sz="1600" kern="1200" dirty="0" smtClean="0"/>
            <a:t>INNER</a:t>
          </a:r>
          <a:endParaRPr lang="en-US" sz="1600" kern="1200" dirty="0"/>
        </a:p>
        <a:p>
          <a:pPr marL="114300" lvl="1" indent="-114300" algn="l" defTabSz="533400">
            <a:lnSpc>
              <a:spcPct val="90000"/>
            </a:lnSpc>
            <a:spcBef>
              <a:spcPct val="0"/>
            </a:spcBef>
            <a:spcAft>
              <a:spcPct val="15000"/>
            </a:spcAft>
            <a:buChar char="••"/>
          </a:pPr>
          <a:r>
            <a:rPr lang="en-US" sz="1200" kern="1200" dirty="0" smtClean="0"/>
            <a:t>Selects all rows from both tables as long as there is a match between the columns of both tables (Table 1 and Table 2)</a:t>
          </a:r>
          <a:endParaRPr lang="en-US" sz="1200" kern="1200" dirty="0"/>
        </a:p>
      </dsp:txBody>
      <dsp:txXfrm rot="10800000">
        <a:off x="291762" y="1468576"/>
        <a:ext cx="1617079" cy="1741937"/>
      </dsp:txXfrm>
    </dsp:sp>
    <dsp:sp modelId="{D7BE7368-CD62-425C-B325-771526A5BD39}">
      <dsp:nvSpPr>
        <dsp:cNvPr id="0" name=""/>
        <dsp:cNvSpPr/>
      </dsp:nvSpPr>
      <dsp:spPr>
        <a:xfrm>
          <a:off x="2134137" y="195810"/>
          <a:ext cx="1723059" cy="1076956"/>
        </a:xfrm>
        <a:prstGeom prst="roundRect">
          <a:avLst>
            <a:gd name="adj" fmla="val 10000"/>
          </a:avLst>
        </a:prstGeom>
        <a:blipFill rotWithShape="1">
          <a:blip xmlns:r="http://schemas.openxmlformats.org/officeDocument/2006/relationships" r:embed="rId2"/>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C2C42E5-3B4C-4E6F-9C0D-D4D38545BD42}">
      <dsp:nvSpPr>
        <dsp:cNvPr id="0" name=""/>
        <dsp:cNvSpPr/>
      </dsp:nvSpPr>
      <dsp:spPr>
        <a:xfrm rot="10800000">
          <a:off x="2134137" y="1468576"/>
          <a:ext cx="1723059" cy="1794927"/>
        </a:xfrm>
        <a:prstGeom prst="round2SameRect">
          <a:avLst>
            <a:gd name="adj1" fmla="val 10500"/>
            <a:gd name="adj2" fmla="val 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t" anchorCtr="0">
          <a:noAutofit/>
        </a:bodyPr>
        <a:lstStyle/>
        <a:p>
          <a:pPr lvl="0" algn="l" defTabSz="711200">
            <a:lnSpc>
              <a:spcPct val="90000"/>
            </a:lnSpc>
            <a:spcBef>
              <a:spcPct val="0"/>
            </a:spcBef>
            <a:spcAft>
              <a:spcPct val="35000"/>
            </a:spcAft>
          </a:pPr>
          <a:r>
            <a:rPr lang="en-US" sz="1600" kern="1200" dirty="0" smtClean="0"/>
            <a:t>LEFT</a:t>
          </a:r>
          <a:endParaRPr lang="en-US" sz="1600" kern="1200" dirty="0"/>
        </a:p>
        <a:p>
          <a:pPr marL="114300" lvl="1" indent="-114300" algn="l" defTabSz="533400">
            <a:lnSpc>
              <a:spcPct val="90000"/>
            </a:lnSpc>
            <a:spcBef>
              <a:spcPct val="0"/>
            </a:spcBef>
            <a:spcAft>
              <a:spcPct val="15000"/>
            </a:spcAft>
            <a:buChar char="••"/>
          </a:pPr>
          <a:r>
            <a:rPr lang="en-US" sz="1200" kern="1200" dirty="0" smtClean="0"/>
            <a:t>Returns all rows from left table (Table 1) with the matching rows in the right table (Table 2)</a:t>
          </a:r>
          <a:endParaRPr lang="en-US" sz="1200" kern="1200" dirty="0"/>
        </a:p>
      </dsp:txBody>
      <dsp:txXfrm rot="10800000">
        <a:off x="2187127" y="1468576"/>
        <a:ext cx="1617079" cy="1741937"/>
      </dsp:txXfrm>
    </dsp:sp>
    <dsp:sp modelId="{D1609875-9BD0-48F4-8480-F33285C2F334}">
      <dsp:nvSpPr>
        <dsp:cNvPr id="0" name=""/>
        <dsp:cNvSpPr/>
      </dsp:nvSpPr>
      <dsp:spPr>
        <a:xfrm>
          <a:off x="4029502" y="195810"/>
          <a:ext cx="1723059" cy="1076956"/>
        </a:xfrm>
        <a:prstGeom prst="roundRect">
          <a:avLst>
            <a:gd name="adj" fmla="val 10000"/>
          </a:avLst>
        </a:prstGeom>
        <a:blipFill rotWithShape="1">
          <a:blip xmlns:r="http://schemas.openxmlformats.org/officeDocument/2006/relationships" r:embed="rId3"/>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2C8B285-D098-4421-B29B-6173C4292659}">
      <dsp:nvSpPr>
        <dsp:cNvPr id="0" name=""/>
        <dsp:cNvSpPr/>
      </dsp:nvSpPr>
      <dsp:spPr>
        <a:xfrm rot="10800000">
          <a:off x="4029502" y="1468576"/>
          <a:ext cx="1723059" cy="1794927"/>
        </a:xfrm>
        <a:prstGeom prst="round2SameRect">
          <a:avLst>
            <a:gd name="adj1" fmla="val 10500"/>
            <a:gd name="adj2" fmla="val 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t" anchorCtr="0">
          <a:noAutofit/>
        </a:bodyPr>
        <a:lstStyle/>
        <a:p>
          <a:pPr lvl="0" algn="l" defTabSz="711200">
            <a:lnSpc>
              <a:spcPct val="90000"/>
            </a:lnSpc>
            <a:spcBef>
              <a:spcPct val="0"/>
            </a:spcBef>
            <a:spcAft>
              <a:spcPct val="35000"/>
            </a:spcAft>
          </a:pPr>
          <a:r>
            <a:rPr lang="en-US" sz="1600" kern="1200" dirty="0" smtClean="0"/>
            <a:t>RIGHT</a:t>
          </a:r>
          <a:endParaRPr lang="en-US" sz="1600" kern="1200" dirty="0"/>
        </a:p>
        <a:p>
          <a:pPr marL="114300" lvl="1" indent="-114300" algn="l" defTabSz="533400">
            <a:lnSpc>
              <a:spcPct val="90000"/>
            </a:lnSpc>
            <a:spcBef>
              <a:spcPct val="0"/>
            </a:spcBef>
            <a:spcAft>
              <a:spcPct val="15000"/>
            </a:spcAft>
            <a:buChar char="••"/>
          </a:pPr>
          <a:r>
            <a:rPr lang="en-US" sz="1200" kern="1200" dirty="0" smtClean="0"/>
            <a:t>Returns all rows from right table (Table 2) with the matching rows in the left table (Table 1)</a:t>
          </a:r>
          <a:endParaRPr lang="en-US" sz="1200" kern="1200" dirty="0"/>
        </a:p>
      </dsp:txBody>
      <dsp:txXfrm rot="10800000">
        <a:off x="4082492" y="1468576"/>
        <a:ext cx="1617079" cy="1741937"/>
      </dsp:txXfrm>
    </dsp:sp>
    <dsp:sp modelId="{D565C9F0-480C-4853-BD88-CAFD85FE684B}">
      <dsp:nvSpPr>
        <dsp:cNvPr id="0" name=""/>
        <dsp:cNvSpPr/>
      </dsp:nvSpPr>
      <dsp:spPr>
        <a:xfrm>
          <a:off x="5924867" y="195810"/>
          <a:ext cx="1723059" cy="1076956"/>
        </a:xfrm>
        <a:prstGeom prst="roundRect">
          <a:avLst>
            <a:gd name="adj" fmla="val 10000"/>
          </a:avLst>
        </a:prstGeom>
        <a:blipFill rotWithShape="1">
          <a:blip xmlns:r="http://schemas.openxmlformats.org/officeDocument/2006/relationships" r:embed="rId4"/>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510D15F-C0C4-42F5-9B95-21DC8F7892A9}">
      <dsp:nvSpPr>
        <dsp:cNvPr id="0" name=""/>
        <dsp:cNvSpPr/>
      </dsp:nvSpPr>
      <dsp:spPr>
        <a:xfrm rot="10800000">
          <a:off x="5924867" y="1468576"/>
          <a:ext cx="1723059" cy="1794927"/>
        </a:xfrm>
        <a:prstGeom prst="round2SameRect">
          <a:avLst>
            <a:gd name="adj1" fmla="val 10500"/>
            <a:gd name="adj2" fmla="val 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t" anchorCtr="0">
          <a:noAutofit/>
        </a:bodyPr>
        <a:lstStyle/>
        <a:p>
          <a:pPr lvl="0" algn="l" defTabSz="711200">
            <a:lnSpc>
              <a:spcPct val="90000"/>
            </a:lnSpc>
            <a:spcBef>
              <a:spcPct val="0"/>
            </a:spcBef>
            <a:spcAft>
              <a:spcPct val="35000"/>
            </a:spcAft>
          </a:pPr>
          <a:r>
            <a:rPr lang="en-US" sz="1600" kern="1200" dirty="0" smtClean="0"/>
            <a:t>FULL</a:t>
          </a:r>
          <a:endParaRPr lang="en-US" sz="1600" kern="1200" dirty="0"/>
        </a:p>
        <a:p>
          <a:pPr marL="114300" lvl="1" indent="-114300" algn="l" defTabSz="533400">
            <a:lnSpc>
              <a:spcPct val="90000"/>
            </a:lnSpc>
            <a:spcBef>
              <a:spcPct val="0"/>
            </a:spcBef>
            <a:spcAft>
              <a:spcPct val="15000"/>
            </a:spcAft>
            <a:buChar char="••"/>
          </a:pPr>
          <a:r>
            <a:rPr lang="en-US" sz="1200" kern="1200" dirty="0" smtClean="0"/>
            <a:t>Combines results when there is a match in any of tables (Table 1 and Table 2)</a:t>
          </a:r>
          <a:endParaRPr lang="en-US" sz="1200" kern="1200" dirty="0"/>
        </a:p>
      </dsp:txBody>
      <dsp:txXfrm rot="10800000">
        <a:off x="5977857" y="1468576"/>
        <a:ext cx="1617079" cy="174193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9299CB-6BDF-4CF6-847F-0C254355DB00}">
      <dsp:nvSpPr>
        <dsp:cNvPr id="0" name=""/>
        <dsp:cNvSpPr/>
      </dsp:nvSpPr>
      <dsp:spPr>
        <a:xfrm>
          <a:off x="0" y="7403"/>
          <a:ext cx="6782873" cy="8634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l" defTabSz="1600200">
            <a:lnSpc>
              <a:spcPct val="90000"/>
            </a:lnSpc>
            <a:spcBef>
              <a:spcPct val="0"/>
            </a:spcBef>
            <a:spcAft>
              <a:spcPct val="35000"/>
            </a:spcAft>
          </a:pPr>
          <a:r>
            <a:rPr lang="en-US" sz="3600" kern="1200" dirty="0" smtClean="0"/>
            <a:t>Aggregate Function</a:t>
          </a:r>
          <a:endParaRPr lang="en-US" sz="3600" kern="1200" dirty="0"/>
        </a:p>
      </dsp:txBody>
      <dsp:txXfrm>
        <a:off x="42151" y="49554"/>
        <a:ext cx="6698571" cy="779158"/>
      </dsp:txXfrm>
    </dsp:sp>
    <dsp:sp modelId="{6B09CE9C-C249-47E4-AA35-3FD2CCFFD318}">
      <dsp:nvSpPr>
        <dsp:cNvPr id="0" name=""/>
        <dsp:cNvSpPr/>
      </dsp:nvSpPr>
      <dsp:spPr>
        <a:xfrm>
          <a:off x="0" y="870863"/>
          <a:ext cx="6782873" cy="8756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356" tIns="45720" rIns="256032" bIns="45720" numCol="1" spcCol="1270" anchor="t" anchorCtr="0">
          <a:noAutofit/>
        </a:bodyPr>
        <a:lstStyle/>
        <a:p>
          <a:pPr marL="285750" lvl="1" indent="-285750" algn="l" defTabSz="1244600">
            <a:lnSpc>
              <a:spcPct val="90000"/>
            </a:lnSpc>
            <a:spcBef>
              <a:spcPct val="0"/>
            </a:spcBef>
            <a:spcAft>
              <a:spcPct val="20000"/>
            </a:spcAft>
            <a:buChar char="••"/>
          </a:pPr>
          <a:r>
            <a:rPr lang="en-US" sz="2800" kern="1200" dirty="0" smtClean="0"/>
            <a:t>Uses multiple rows as input and returns single row as output</a:t>
          </a:r>
          <a:endParaRPr lang="en-US" sz="2800" kern="1200" dirty="0"/>
        </a:p>
      </dsp:txBody>
      <dsp:txXfrm>
        <a:off x="0" y="870863"/>
        <a:ext cx="6782873" cy="875610"/>
      </dsp:txXfrm>
    </dsp:sp>
    <dsp:sp modelId="{B7D0E3E1-BC55-4088-9576-D6A9288010B0}">
      <dsp:nvSpPr>
        <dsp:cNvPr id="0" name=""/>
        <dsp:cNvSpPr/>
      </dsp:nvSpPr>
      <dsp:spPr>
        <a:xfrm>
          <a:off x="0" y="1746473"/>
          <a:ext cx="6782873" cy="8634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l" defTabSz="1600200">
            <a:lnSpc>
              <a:spcPct val="90000"/>
            </a:lnSpc>
            <a:spcBef>
              <a:spcPct val="0"/>
            </a:spcBef>
            <a:spcAft>
              <a:spcPct val="35000"/>
            </a:spcAft>
          </a:pPr>
          <a:r>
            <a:rPr lang="en-US" sz="3600" kern="1200" dirty="0" smtClean="0"/>
            <a:t>Grouping</a:t>
          </a:r>
          <a:endParaRPr lang="en-US" sz="3600" kern="1200" dirty="0"/>
        </a:p>
      </dsp:txBody>
      <dsp:txXfrm>
        <a:off x="42151" y="1788624"/>
        <a:ext cx="6698571" cy="779158"/>
      </dsp:txXfrm>
    </dsp:sp>
    <dsp:sp modelId="{A9B4453D-2EAD-49B2-BE9E-F82F53B9D85F}">
      <dsp:nvSpPr>
        <dsp:cNvPr id="0" name=""/>
        <dsp:cNvSpPr/>
      </dsp:nvSpPr>
      <dsp:spPr>
        <a:xfrm>
          <a:off x="0" y="2609933"/>
          <a:ext cx="6782873" cy="8756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356" tIns="45720" rIns="256032" bIns="45720" numCol="1" spcCol="1270" anchor="t" anchorCtr="0">
          <a:noAutofit/>
        </a:bodyPr>
        <a:lstStyle/>
        <a:p>
          <a:pPr marL="285750" lvl="1" indent="-285750" algn="l" defTabSz="1244600">
            <a:lnSpc>
              <a:spcPct val="90000"/>
            </a:lnSpc>
            <a:spcBef>
              <a:spcPct val="0"/>
            </a:spcBef>
            <a:spcAft>
              <a:spcPct val="20000"/>
            </a:spcAft>
            <a:buChar char="••"/>
          </a:pPr>
          <a:r>
            <a:rPr lang="en-US" sz="2800" kern="1200" dirty="0" smtClean="0"/>
            <a:t>Used to group the columns with similar values</a:t>
          </a:r>
          <a:endParaRPr lang="en-US" sz="2800" kern="1200" dirty="0"/>
        </a:p>
      </dsp:txBody>
      <dsp:txXfrm>
        <a:off x="0" y="2609933"/>
        <a:ext cx="6782873" cy="875610"/>
      </dsp:txXfrm>
    </dsp:sp>
  </dsp:spTree>
</dsp:drawing>
</file>

<file path=ppt/diagrams/layout1.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A2CA1C-82D6-4987-8272-09D44CFC9AAB}" type="datetimeFigureOut">
              <a:rPr lang="en-US" smtClean="0"/>
              <a:t>7/2/2016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6FA548-67E9-478F-A114-2BC23F15EB1B}" type="slidenum">
              <a:rPr lang="en-US" smtClean="0"/>
              <a:t>‹#›</a:t>
            </a:fld>
            <a:endParaRPr lang="en-US"/>
          </a:p>
        </p:txBody>
      </p:sp>
    </p:spTree>
    <p:extLst>
      <p:ext uri="{BB962C8B-B14F-4D97-AF65-F5344CB8AC3E}">
        <p14:creationId xmlns:p14="http://schemas.microsoft.com/office/powerpoint/2010/main" val="449978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898"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ln>
        </p:spPr>
      </p:sp>
      <p:sp>
        <p:nvSpPr>
          <p:cNvPr id="80899" name="Rectangle 2"/>
          <p:cNvSpPr>
            <a:spLocks noGrp="1" noChangeArrowheads="1"/>
          </p:cNvSpPr>
          <p:nvPr>
            <p:ph type="body" idx="1"/>
          </p:nvPr>
        </p:nvSpPr>
        <p:spPr>
          <a:xfrm>
            <a:off x="685800" y="4343400"/>
            <a:ext cx="5446713" cy="4076700"/>
          </a:xfrm>
          <a:noFill/>
          <a:ln/>
        </p:spPr>
        <p:txBody>
          <a:bodyPr wrap="none" anchor="ctr"/>
          <a:lstStyle/>
          <a:p>
            <a:endParaRPr lang="en-US" dirty="0" smtClean="0"/>
          </a:p>
        </p:txBody>
      </p:sp>
    </p:spTree>
    <p:extLst>
      <p:ext uri="{BB962C8B-B14F-4D97-AF65-F5344CB8AC3E}">
        <p14:creationId xmlns:p14="http://schemas.microsoft.com/office/powerpoint/2010/main" val="35011122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F98010B-FC5E-4C27-B43B-137998F61C16}" type="datetimeFigureOut">
              <a:rPr lang="en-US" smtClean="0"/>
              <a:t>7/2/2016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1936999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F98010B-FC5E-4C27-B43B-137998F61C16}" type="datetimeFigureOut">
              <a:rPr lang="en-US" smtClean="0"/>
              <a:t>7/2/2016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7890197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F98010B-FC5E-4C27-B43B-137998F61C16}" type="datetimeFigureOut">
              <a:rPr lang="en-US" smtClean="0"/>
              <a:t>7/2/2016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42746338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F98010B-FC5E-4C27-B43B-137998F61C16}" type="datetimeFigureOut">
              <a:rPr lang="en-US" smtClean="0"/>
              <a:t>7/2/2016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33098877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F98010B-FC5E-4C27-B43B-137998F61C16}" type="datetimeFigureOut">
              <a:rPr lang="en-US" smtClean="0"/>
              <a:t>7/2/2016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26971629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F98010B-FC5E-4C27-B43B-137998F61C16}" type="datetimeFigureOut">
              <a:rPr lang="en-US" smtClean="0"/>
              <a:t>7/2/2016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2042180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98010B-FC5E-4C27-B43B-137998F61C16}" type="datetimeFigureOut">
              <a:rPr lang="en-US" smtClean="0"/>
              <a:t>7/2/2016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2063339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F98010B-FC5E-4C27-B43B-137998F61C16}" type="datetimeFigureOut">
              <a:rPr lang="en-US" smtClean="0"/>
              <a:t>7/2/2016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31468928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F98010B-FC5E-4C27-B43B-137998F61C16}" type="datetimeFigureOut">
              <a:rPr lang="en-US" smtClean="0"/>
              <a:t>7/2/2016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3924160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F98010B-FC5E-4C27-B43B-137998F61C16}" type="datetimeFigureOut">
              <a:rPr lang="en-US" smtClean="0"/>
              <a:t>7/2/2016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16387214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F98010B-FC5E-4C27-B43B-137998F61C16}" type="datetimeFigureOut">
              <a:rPr lang="en-US" smtClean="0"/>
              <a:t>7/2/2016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3173024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98010B-FC5E-4C27-B43B-137998F61C16}" type="datetimeFigureOut">
              <a:rPr lang="en-US" smtClean="0"/>
              <a:t>7/2/2016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954BEE-865D-433D-8F00-28C0A03EDA7A}" type="slidenum">
              <a:rPr lang="en-US" smtClean="0"/>
              <a:t>‹#›</a:t>
            </a:fld>
            <a:endParaRPr lang="en-US"/>
          </a:p>
        </p:txBody>
      </p:sp>
      <p:sp>
        <p:nvSpPr>
          <p:cNvPr id="7" name="Rectangle 6"/>
          <p:cNvSpPr>
            <a:spLocks noChangeArrowheads="1"/>
          </p:cNvSpPr>
          <p:nvPr userDrawn="1"/>
        </p:nvSpPr>
        <p:spPr bwMode="auto">
          <a:xfrm>
            <a:off x="0" y="1"/>
            <a:ext cx="9144000" cy="188586"/>
          </a:xfrm>
          <a:prstGeom prst="rect">
            <a:avLst/>
          </a:prstGeom>
          <a:solidFill>
            <a:srgbClr val="C00000"/>
          </a:solidFill>
          <a:ln w="9525">
            <a:noFill/>
            <a:round/>
            <a:headEnd/>
            <a:tailEnd/>
          </a:ln>
          <a:effectLst/>
        </p:spPr>
        <p:txBody>
          <a:bodyPr wrap="none" anchor="ctr"/>
          <a:lstStyle/>
          <a:p>
            <a:pPr algn="r">
              <a:defRPr/>
            </a:pPr>
            <a:r>
              <a:rPr lang="en-SG" sz="1350" dirty="0" err="1" smtClean="0">
                <a:solidFill>
                  <a:schemeClr val="bg1"/>
                </a:solidFill>
              </a:rPr>
              <a:t>iAcademy</a:t>
            </a:r>
            <a:endParaRPr lang="en-SG" sz="1350" dirty="0">
              <a:solidFill>
                <a:schemeClr val="bg1"/>
              </a:solidFill>
            </a:endParaRPr>
          </a:p>
        </p:txBody>
      </p:sp>
      <p:sp>
        <p:nvSpPr>
          <p:cNvPr id="8" name="Rectangle 6"/>
          <p:cNvSpPr>
            <a:spLocks noChangeArrowheads="1"/>
          </p:cNvSpPr>
          <p:nvPr userDrawn="1"/>
        </p:nvSpPr>
        <p:spPr bwMode="auto">
          <a:xfrm>
            <a:off x="-24" y="6654800"/>
            <a:ext cx="9144024" cy="203200"/>
          </a:xfrm>
          <a:prstGeom prst="rect">
            <a:avLst/>
          </a:prstGeom>
          <a:solidFill>
            <a:srgbClr val="C00000"/>
          </a:solidFill>
          <a:ln w="9525">
            <a:noFill/>
            <a:round/>
            <a:headEnd/>
            <a:tailEnd/>
          </a:ln>
          <a:effectLst/>
        </p:spPr>
        <p:txBody>
          <a:bodyPr wrap="none" anchor="ctr"/>
          <a:lstStyle/>
          <a:p>
            <a:pPr marL="0" marR="0" indent="0" algn="l" defTabSz="336947" rtl="0" eaLnBrk="1" fontAlgn="base" latinLnBrk="0" hangingPunct="1">
              <a:lnSpc>
                <a:spcPct val="100000"/>
              </a:lnSpc>
              <a:spcBef>
                <a:spcPct val="0"/>
              </a:spcBef>
              <a:spcAft>
                <a:spcPct val="0"/>
              </a:spcAft>
              <a:buClr>
                <a:srgbClr val="000000"/>
              </a:buClr>
              <a:buSzPct val="100000"/>
              <a:buFont typeface="Times New Roman" pitchFamily="16" charset="0"/>
              <a:buNone/>
              <a:tabLst/>
              <a:defRPr/>
            </a:pPr>
            <a:r>
              <a:rPr lang="en-SG" sz="1350" dirty="0" err="1" smtClean="0">
                <a:solidFill>
                  <a:schemeClr val="bg1"/>
                </a:solidFill>
              </a:rPr>
              <a:t>iAcademy</a:t>
            </a:r>
            <a:endParaRPr lang="en-SG" sz="1350" dirty="0" smtClean="0">
              <a:solidFill>
                <a:schemeClr val="bg1"/>
              </a:solidFill>
            </a:endParaRPr>
          </a:p>
        </p:txBody>
      </p:sp>
      <p:sp>
        <p:nvSpPr>
          <p:cNvPr id="9" name="Rectangle 7"/>
          <p:cNvSpPr>
            <a:spLocks noChangeArrowheads="1"/>
          </p:cNvSpPr>
          <p:nvPr userDrawn="1"/>
        </p:nvSpPr>
        <p:spPr bwMode="auto">
          <a:xfrm flipV="1">
            <a:off x="1" y="-3"/>
            <a:ext cx="8261252" cy="45719"/>
          </a:xfrm>
          <a:prstGeom prst="rect">
            <a:avLst/>
          </a:prstGeom>
          <a:solidFill>
            <a:srgbClr val="FFC000"/>
          </a:solidFill>
          <a:ln w="9525">
            <a:noFill/>
            <a:round/>
            <a:headEnd/>
            <a:tailEnd/>
          </a:ln>
          <a:effectLst/>
        </p:spPr>
        <p:txBody>
          <a:bodyPr wrap="none" anchor="ctr"/>
          <a:lstStyle/>
          <a:p>
            <a:pPr>
              <a:defRPr/>
            </a:pPr>
            <a:endParaRPr lang="en-SG" sz="1350" dirty="0"/>
          </a:p>
        </p:txBody>
      </p:sp>
      <p:sp>
        <p:nvSpPr>
          <p:cNvPr id="10" name="Rectangle 7"/>
          <p:cNvSpPr>
            <a:spLocks noChangeArrowheads="1"/>
          </p:cNvSpPr>
          <p:nvPr userDrawn="1"/>
        </p:nvSpPr>
        <p:spPr bwMode="auto">
          <a:xfrm flipV="1">
            <a:off x="910810" y="6786583"/>
            <a:ext cx="8233190" cy="71416"/>
          </a:xfrm>
          <a:prstGeom prst="rect">
            <a:avLst/>
          </a:prstGeom>
          <a:solidFill>
            <a:srgbClr val="FFC000"/>
          </a:solidFill>
          <a:ln w="9525">
            <a:noFill/>
            <a:round/>
            <a:headEnd/>
            <a:tailEnd/>
          </a:ln>
          <a:effectLst/>
        </p:spPr>
        <p:txBody>
          <a:bodyPr wrap="none" anchor="ctr"/>
          <a:lstStyle/>
          <a:p>
            <a:pPr>
              <a:defRPr/>
            </a:pPr>
            <a:endParaRPr lang="en-SG" sz="1350" dirty="0"/>
          </a:p>
        </p:txBody>
      </p:sp>
    </p:spTree>
    <p:extLst>
      <p:ext uri="{BB962C8B-B14F-4D97-AF65-F5344CB8AC3E}">
        <p14:creationId xmlns:p14="http://schemas.microsoft.com/office/powerpoint/2010/main" val="12103946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11480" y="982923"/>
            <a:ext cx="8366759" cy="1102519"/>
          </a:xfrm>
        </p:spPr>
        <p:txBody>
          <a:bodyPr>
            <a:normAutofit fontScale="90000"/>
          </a:bodyPr>
          <a:lstStyle/>
          <a:p>
            <a:pPr algn="ctr"/>
            <a:r>
              <a:rPr lang="en-US" dirty="0" smtClean="0"/>
              <a:t>An Introduction to Database</a:t>
            </a:r>
            <a:endParaRPr lang="en-GB" dirty="0"/>
          </a:p>
        </p:txBody>
      </p:sp>
      <p:sp>
        <p:nvSpPr>
          <p:cNvPr id="6" name="Subtitle 5"/>
          <p:cNvSpPr>
            <a:spLocks noGrp="1"/>
          </p:cNvSpPr>
          <p:nvPr>
            <p:ph type="subTitle" idx="1"/>
          </p:nvPr>
        </p:nvSpPr>
        <p:spPr>
          <a:xfrm>
            <a:off x="1410868" y="2870583"/>
            <a:ext cx="6303577" cy="2126420"/>
          </a:xfrm>
        </p:spPr>
        <p:txBody>
          <a:bodyPr>
            <a:normAutofit fontScale="92500" lnSpcReduction="20000"/>
          </a:bodyPr>
          <a:lstStyle/>
          <a:p>
            <a:r>
              <a:rPr lang="en-US" sz="2100" dirty="0"/>
              <a:t>Introduction to Database for Undergraduate Study</a:t>
            </a:r>
          </a:p>
          <a:p>
            <a:r>
              <a:rPr lang="en-US" sz="2100" dirty="0"/>
              <a:t>Lecture </a:t>
            </a:r>
            <a:r>
              <a:rPr lang="en-US" sz="2100" dirty="0" smtClean="0"/>
              <a:t>9</a:t>
            </a:r>
            <a:endParaRPr lang="en-US" sz="2100" dirty="0"/>
          </a:p>
          <a:p>
            <a:endParaRPr lang="en-US" sz="2100" dirty="0"/>
          </a:p>
          <a:p>
            <a:r>
              <a:rPr lang="en-US" i="1" dirty="0"/>
              <a:t>JOIN Command</a:t>
            </a:r>
          </a:p>
          <a:p>
            <a:r>
              <a:rPr lang="en-US" i="1" dirty="0"/>
              <a:t>Joining 2/3 Tables</a:t>
            </a:r>
          </a:p>
          <a:p>
            <a:r>
              <a:rPr lang="en-US" i="1" dirty="0"/>
              <a:t>GROUP BY/HAVING Clause</a:t>
            </a:r>
          </a:p>
          <a:p>
            <a:endParaRPr lang="en-US" i="1" dirty="0"/>
          </a:p>
        </p:txBody>
      </p:sp>
      <p:sp>
        <p:nvSpPr>
          <p:cNvPr id="7" name="TextBox 3"/>
          <p:cNvSpPr txBox="1">
            <a:spLocks noChangeArrowheads="1"/>
          </p:cNvSpPr>
          <p:nvPr/>
        </p:nvSpPr>
        <p:spPr bwMode="auto">
          <a:xfrm>
            <a:off x="411480" y="5129071"/>
            <a:ext cx="8366760" cy="964413"/>
          </a:xfrm>
          <a:prstGeom prst="rect">
            <a:avLst/>
          </a:prstGeom>
          <a:ln w="9525"/>
        </p:spPr>
        <p:style>
          <a:lnRef idx="2">
            <a:schemeClr val="dk1"/>
          </a:lnRef>
          <a:fillRef idx="1">
            <a:schemeClr val="lt1"/>
          </a:fillRef>
          <a:effectRef idx="0">
            <a:schemeClr val="dk1"/>
          </a:effectRef>
          <a:fontRef idx="minor">
            <a:schemeClr val="dk1"/>
          </a:fontRef>
        </p:style>
        <p:txBody>
          <a:bodyPr vert="horz" lIns="68580" tIns="34290" rIns="68580" bIns="34290" rtlCol="0">
            <a:noAutofit/>
          </a:bodyPr>
          <a:lstStyle/>
          <a:p>
            <a:pPr algn="just">
              <a:spcBef>
                <a:spcPct val="20000"/>
              </a:spcBef>
            </a:pPr>
            <a:r>
              <a:rPr lang="en-GB" sz="1050" dirty="0">
                <a:solidFill>
                  <a:schemeClr val="tx1"/>
                </a:solidFill>
              </a:rPr>
              <a:t>This lecture and its associated materials have been produced by </a:t>
            </a:r>
            <a:r>
              <a:rPr lang="en-GB" sz="1050" dirty="0" err="1">
                <a:solidFill>
                  <a:schemeClr val="tx1"/>
                </a:solidFill>
              </a:rPr>
              <a:t>Mr.</a:t>
            </a:r>
            <a:r>
              <a:rPr lang="en-GB" sz="1050" dirty="0">
                <a:solidFill>
                  <a:schemeClr val="tx1"/>
                </a:solidFill>
              </a:rPr>
              <a:t> Rohit Panday (M.Sc. IT, 10+ Years of Industry/Academic Experience) of </a:t>
            </a:r>
            <a:r>
              <a:rPr lang="en-GB" sz="1050" dirty="0" err="1">
                <a:solidFill>
                  <a:schemeClr val="tx1"/>
                </a:solidFill>
              </a:rPr>
              <a:t>iAcademy</a:t>
            </a:r>
            <a:r>
              <a:rPr lang="en-GB" sz="1050" dirty="0">
                <a:solidFill>
                  <a:schemeClr val="tx1"/>
                </a:solidFill>
              </a:rPr>
              <a:t> for the purposes of lecturing on the above described subject and the material should be viewed in this context. The work does not constitute professional advice and no warranties are made regarding the information presented. The Author and </a:t>
            </a:r>
            <a:r>
              <a:rPr lang="en-GB" sz="1050" dirty="0" err="1">
                <a:solidFill>
                  <a:schemeClr val="tx1"/>
                </a:solidFill>
              </a:rPr>
              <a:t>iAcademy</a:t>
            </a:r>
            <a:r>
              <a:rPr lang="en-GB" sz="1050" dirty="0">
                <a:solidFill>
                  <a:schemeClr val="tx1"/>
                </a:solidFill>
              </a:rPr>
              <a:t> do not accept any liability for the consequences of any action taken as a result of the work or any recommendations made or inferred. Permission to use any of these materials must be first granted by </a:t>
            </a:r>
            <a:r>
              <a:rPr lang="en-GB" sz="1050" dirty="0" err="1">
                <a:solidFill>
                  <a:schemeClr val="tx1"/>
                </a:solidFill>
              </a:rPr>
              <a:t>iAcademy</a:t>
            </a:r>
            <a:r>
              <a:rPr lang="en-GB" sz="1050" dirty="0">
                <a:solidFill>
                  <a:schemeClr val="tx1"/>
                </a:solidFill>
              </a:rPr>
              <a:t>.</a:t>
            </a:r>
            <a:endParaRPr lang="en-US" sz="1050" dirty="0">
              <a:solidFill>
                <a:schemeClr val="tx1"/>
              </a:solidFill>
            </a:endParaRPr>
          </a:p>
        </p:txBody>
      </p:sp>
    </p:spTree>
    <p:extLst>
      <p:ext uri="{BB962C8B-B14F-4D97-AF65-F5344CB8AC3E}">
        <p14:creationId xmlns:p14="http://schemas.microsoft.com/office/powerpoint/2010/main" val="145022312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SQL JOIN</a:t>
            </a:r>
            <a:endParaRPr lang="en-US" dirty="0"/>
          </a:p>
        </p:txBody>
      </p:sp>
      <p:sp>
        <p:nvSpPr>
          <p:cNvPr id="4" name="TextBox 3"/>
          <p:cNvSpPr txBox="1"/>
          <p:nvPr/>
        </p:nvSpPr>
        <p:spPr>
          <a:xfrm flipH="1">
            <a:off x="5990436" y="2274369"/>
            <a:ext cx="2219846" cy="3139321"/>
          </a:xfrm>
          <a:prstGeom prst="rect">
            <a:avLst/>
          </a:prstGeom>
          <a:solidFill>
            <a:schemeClr val="accent2"/>
          </a:solidFill>
        </p:spPr>
        <p:txBody>
          <a:bodyPr wrap="square" rtlCol="0">
            <a:spAutoFit/>
          </a:bodyPr>
          <a:lstStyle/>
          <a:p>
            <a:r>
              <a:rPr lang="en-US" dirty="0">
                <a:solidFill>
                  <a:schemeClr val="bg1"/>
                </a:solidFill>
              </a:rPr>
              <a:t>JOIN’s are used to retrieving the records from multiple tables. </a:t>
            </a:r>
            <a:endParaRPr lang="en-US" dirty="0">
              <a:solidFill>
                <a:schemeClr val="bg1"/>
              </a:solidFill>
            </a:endParaRPr>
          </a:p>
          <a:p>
            <a:endParaRPr lang="en-US" dirty="0">
              <a:solidFill>
                <a:schemeClr val="bg1"/>
              </a:solidFill>
            </a:endParaRPr>
          </a:p>
          <a:p>
            <a:r>
              <a:rPr lang="en-US" dirty="0">
                <a:solidFill>
                  <a:schemeClr val="bg1"/>
                </a:solidFill>
              </a:rPr>
              <a:t>SQL </a:t>
            </a:r>
            <a:r>
              <a:rPr lang="en-US" dirty="0">
                <a:solidFill>
                  <a:schemeClr val="bg1"/>
                </a:solidFill>
              </a:rPr>
              <a:t>allows you to take JOIN’s on multiple tables from same database as well as different databases from same server. </a:t>
            </a:r>
          </a:p>
        </p:txBody>
      </p:sp>
      <p:pic>
        <p:nvPicPr>
          <p:cNvPr id="3" name="Picture 2" descr="http://www.dofactory.com/Images/sql-join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4316" y="2206755"/>
            <a:ext cx="4293107" cy="3055070"/>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37101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SQL JOINS</a:t>
            </a:r>
            <a:endParaRPr lang="en-US" dirty="0"/>
          </a:p>
        </p:txBody>
      </p:sp>
      <p:sp>
        <p:nvSpPr>
          <p:cNvPr id="4" name="TextBox 3"/>
          <p:cNvSpPr txBox="1"/>
          <p:nvPr/>
        </p:nvSpPr>
        <p:spPr>
          <a:xfrm flipH="1">
            <a:off x="6367143" y="2921532"/>
            <a:ext cx="1138020" cy="1477328"/>
          </a:xfrm>
          <a:prstGeom prst="rect">
            <a:avLst/>
          </a:prstGeom>
          <a:solidFill>
            <a:schemeClr val="accent2"/>
          </a:solidFill>
        </p:spPr>
        <p:txBody>
          <a:bodyPr wrap="square" rtlCol="0">
            <a:spAutoFit/>
          </a:bodyPr>
          <a:lstStyle/>
          <a:p>
            <a:r>
              <a:rPr lang="en-US" dirty="0">
                <a:solidFill>
                  <a:schemeClr val="bg1"/>
                </a:solidFill>
              </a:rPr>
              <a:t>Visual Presentation of Types of JOINS</a:t>
            </a:r>
            <a:endParaRPr lang="en-US" dirty="0">
              <a:solidFill>
                <a:schemeClr val="bg1"/>
              </a:solidFill>
            </a:endParaRPr>
          </a:p>
        </p:txBody>
      </p:sp>
      <p:pic>
        <p:nvPicPr>
          <p:cNvPr id="2050" name="Picture 2" descr="http://orhan.ws/wp-content/uploads/2011/01/sql-joi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4421" y="1822999"/>
            <a:ext cx="3771900" cy="3907631"/>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77801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JOINS</a:t>
            </a:r>
            <a:endParaRPr lang="en-US" dirty="0"/>
          </a:p>
        </p:txBody>
      </p:sp>
      <p:pic>
        <p:nvPicPr>
          <p:cNvPr id="5" name="Picture 4"/>
          <p:cNvPicPr>
            <a:picLocks noChangeAspect="1"/>
          </p:cNvPicPr>
          <p:nvPr/>
        </p:nvPicPr>
        <p:blipFill>
          <a:blip r:embed="rId2"/>
          <a:stretch>
            <a:fillRect/>
          </a:stretch>
        </p:blipFill>
        <p:spPr>
          <a:xfrm>
            <a:off x="1159099" y="1951753"/>
            <a:ext cx="6597203" cy="3710927"/>
          </a:xfrm>
          <a:prstGeom prst="rect">
            <a:avLst/>
          </a:prstGeom>
          <a:ln>
            <a:solidFill>
              <a:schemeClr val="accent1"/>
            </a:solidFill>
          </a:ln>
        </p:spPr>
      </p:pic>
    </p:spTree>
    <p:extLst>
      <p:ext uri="{BB962C8B-B14F-4D97-AF65-F5344CB8AC3E}">
        <p14:creationId xmlns:p14="http://schemas.microsoft.com/office/powerpoint/2010/main" val="37124472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should we JOIN tables ?</a:t>
            </a:r>
            <a:endParaRPr lang="en-US" dirty="0"/>
          </a:p>
        </p:txBody>
      </p:sp>
      <p:sp>
        <p:nvSpPr>
          <p:cNvPr id="3" name="Content Placeholder 2"/>
          <p:cNvSpPr>
            <a:spLocks noGrp="1"/>
          </p:cNvSpPr>
          <p:nvPr>
            <p:ph idx="1"/>
          </p:nvPr>
        </p:nvSpPr>
        <p:spPr/>
        <p:txBody>
          <a:bodyPr/>
          <a:lstStyle/>
          <a:p>
            <a:r>
              <a:rPr lang="en-US" dirty="0" smtClean="0"/>
              <a:t>Data remain at Different Tables</a:t>
            </a:r>
          </a:p>
          <a:p>
            <a:r>
              <a:rPr lang="en-US" dirty="0" smtClean="0"/>
              <a:t>Tables are JOINED through Primary and Foreign Keys</a:t>
            </a:r>
          </a:p>
          <a:p>
            <a:r>
              <a:rPr lang="en-US" dirty="0" smtClean="0"/>
              <a:t>Full Data about an Entity remains only in a TABLE</a:t>
            </a:r>
          </a:p>
          <a:p>
            <a:r>
              <a:rPr lang="en-US" dirty="0" smtClean="0"/>
              <a:t>Reports/Visual Layouts need to be more explanatory</a:t>
            </a:r>
          </a:p>
          <a:p>
            <a:r>
              <a:rPr lang="en-US" dirty="0" smtClean="0"/>
              <a:t>Need to show all data from Various Tables</a:t>
            </a:r>
            <a:endParaRPr lang="en-US" dirty="0"/>
          </a:p>
        </p:txBody>
      </p:sp>
    </p:spTree>
    <p:extLst>
      <p:ext uri="{BB962C8B-B14F-4D97-AF65-F5344CB8AC3E}">
        <p14:creationId xmlns:p14="http://schemas.microsoft.com/office/powerpoint/2010/main" val="3144038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JOIN - Types</a:t>
            </a:r>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4249626865"/>
              </p:ext>
            </p:extLst>
          </p:nvPr>
        </p:nvGraphicFramePr>
        <p:xfrm>
          <a:off x="628650" y="2226469"/>
          <a:ext cx="7886700" cy="3263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780908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Tables</a:t>
            </a:r>
            <a:endParaRPr lang="en-US" dirty="0"/>
          </a:p>
        </p:txBody>
      </p:sp>
      <p:pic>
        <p:nvPicPr>
          <p:cNvPr id="5" name="Picture 4"/>
          <p:cNvPicPr>
            <a:picLocks noChangeAspect="1"/>
          </p:cNvPicPr>
          <p:nvPr/>
        </p:nvPicPr>
        <p:blipFill>
          <a:blip r:embed="rId2"/>
          <a:stretch>
            <a:fillRect/>
          </a:stretch>
        </p:blipFill>
        <p:spPr>
          <a:xfrm>
            <a:off x="1235869" y="2493131"/>
            <a:ext cx="6672263" cy="1035844"/>
          </a:xfrm>
          <a:prstGeom prst="rect">
            <a:avLst/>
          </a:prstGeom>
        </p:spPr>
      </p:pic>
      <p:pic>
        <p:nvPicPr>
          <p:cNvPr id="6" name="Picture 5"/>
          <p:cNvPicPr>
            <a:picLocks noChangeAspect="1"/>
          </p:cNvPicPr>
          <p:nvPr/>
        </p:nvPicPr>
        <p:blipFill>
          <a:blip r:embed="rId3"/>
          <a:stretch>
            <a:fillRect/>
          </a:stretch>
        </p:blipFill>
        <p:spPr>
          <a:xfrm>
            <a:off x="1235869" y="3896839"/>
            <a:ext cx="6679406" cy="1028700"/>
          </a:xfrm>
          <a:prstGeom prst="rect">
            <a:avLst/>
          </a:prstGeom>
        </p:spPr>
      </p:pic>
      <p:sp>
        <p:nvSpPr>
          <p:cNvPr id="7" name="TextBox 6"/>
          <p:cNvSpPr txBox="1"/>
          <p:nvPr/>
        </p:nvSpPr>
        <p:spPr>
          <a:xfrm flipH="1">
            <a:off x="1235869" y="2150453"/>
            <a:ext cx="1381763" cy="369332"/>
          </a:xfrm>
          <a:prstGeom prst="rect">
            <a:avLst/>
          </a:prstGeom>
          <a:solidFill>
            <a:schemeClr val="accent2"/>
          </a:solidFill>
        </p:spPr>
        <p:txBody>
          <a:bodyPr wrap="square" rtlCol="0">
            <a:spAutoFit/>
          </a:bodyPr>
          <a:lstStyle/>
          <a:p>
            <a:r>
              <a:rPr lang="en-US" dirty="0">
                <a:solidFill>
                  <a:schemeClr val="bg1"/>
                </a:solidFill>
              </a:rPr>
              <a:t>Order Table</a:t>
            </a:r>
            <a:endParaRPr lang="en-US" dirty="0">
              <a:solidFill>
                <a:schemeClr val="bg1"/>
              </a:solidFill>
            </a:endParaRPr>
          </a:p>
        </p:txBody>
      </p:sp>
      <p:sp>
        <p:nvSpPr>
          <p:cNvPr id="8" name="TextBox 7"/>
          <p:cNvSpPr txBox="1"/>
          <p:nvPr/>
        </p:nvSpPr>
        <p:spPr>
          <a:xfrm flipH="1">
            <a:off x="1235869" y="3528974"/>
            <a:ext cx="3811343" cy="369332"/>
          </a:xfrm>
          <a:prstGeom prst="rect">
            <a:avLst/>
          </a:prstGeom>
          <a:solidFill>
            <a:schemeClr val="accent2"/>
          </a:solidFill>
        </p:spPr>
        <p:txBody>
          <a:bodyPr wrap="square" rtlCol="0">
            <a:spAutoFit/>
          </a:bodyPr>
          <a:lstStyle/>
          <a:p>
            <a:r>
              <a:rPr lang="en-US" dirty="0">
                <a:solidFill>
                  <a:schemeClr val="bg1"/>
                </a:solidFill>
              </a:rPr>
              <a:t>Customer Table</a:t>
            </a:r>
            <a:endParaRPr lang="en-US" dirty="0">
              <a:solidFill>
                <a:schemeClr val="bg1"/>
              </a:solidFill>
            </a:endParaRPr>
          </a:p>
        </p:txBody>
      </p:sp>
      <p:sp>
        <p:nvSpPr>
          <p:cNvPr id="9" name="TextBox 8"/>
          <p:cNvSpPr txBox="1"/>
          <p:nvPr/>
        </p:nvSpPr>
        <p:spPr>
          <a:xfrm flipH="1">
            <a:off x="1235869" y="4974362"/>
            <a:ext cx="6672263" cy="369332"/>
          </a:xfrm>
          <a:prstGeom prst="rect">
            <a:avLst/>
          </a:prstGeom>
          <a:solidFill>
            <a:schemeClr val="accent2"/>
          </a:solidFill>
        </p:spPr>
        <p:txBody>
          <a:bodyPr wrap="square" rtlCol="0">
            <a:spAutoFit/>
          </a:bodyPr>
          <a:lstStyle/>
          <a:p>
            <a:r>
              <a:rPr lang="en-US" dirty="0">
                <a:solidFill>
                  <a:schemeClr val="bg1"/>
                </a:solidFill>
              </a:rPr>
              <a:t>How can I get Name of Customers with OrderID and OrderDate ?</a:t>
            </a:r>
            <a:endParaRPr lang="en-US" dirty="0">
              <a:solidFill>
                <a:schemeClr val="bg1"/>
              </a:solidFill>
            </a:endParaRPr>
          </a:p>
        </p:txBody>
      </p:sp>
    </p:spTree>
    <p:extLst>
      <p:ext uri="{BB962C8B-B14F-4D97-AF65-F5344CB8AC3E}">
        <p14:creationId xmlns:p14="http://schemas.microsoft.com/office/powerpoint/2010/main" val="10787942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Inner Join</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941695212"/>
              </p:ext>
            </p:extLst>
          </p:nvPr>
        </p:nvGraphicFramePr>
        <p:xfrm>
          <a:off x="651337" y="2073414"/>
          <a:ext cx="7639588" cy="3102970"/>
        </p:xfrm>
        <a:graphic>
          <a:graphicData uri="http://schemas.openxmlformats.org/drawingml/2006/table">
            <a:tbl>
              <a:tblPr firstRow="1" bandRow="1">
                <a:tableStyleId>{5C22544A-7EE6-4342-B048-85BDC9FD1C3A}</a:tableStyleId>
              </a:tblPr>
              <a:tblGrid>
                <a:gridCol w="955469"/>
                <a:gridCol w="6684119"/>
              </a:tblGrid>
              <a:tr h="1154783">
                <a:tc>
                  <a:txBody>
                    <a:bodyPr/>
                    <a:lstStyle/>
                    <a:p>
                      <a:r>
                        <a:rPr lang="en-US" sz="1000" dirty="0" smtClean="0"/>
                        <a:t>Example</a:t>
                      </a:r>
                      <a:endParaRPr lang="en-US" sz="1000" dirty="0"/>
                    </a:p>
                  </a:txBody>
                  <a:tcPr marL="68580" marR="68580" marT="34290" marB="34290"/>
                </a:tc>
                <a:tc>
                  <a:txBody>
                    <a:bodyPr/>
                    <a:lstStyle/>
                    <a:p>
                      <a:r>
                        <a:rPr lang="en-US" sz="1400" b="0" i="0" kern="1200" dirty="0" smtClean="0">
                          <a:solidFill>
                            <a:schemeClr val="lt1"/>
                          </a:solidFill>
                          <a:effectLst/>
                          <a:latin typeface="+mn-lt"/>
                          <a:ea typeface="+mn-ea"/>
                          <a:cs typeface="+mn-cs"/>
                        </a:rPr>
                        <a:t>SELECT Orders.OrderID, Customers.CustomerName, Orders.OrderDate</a:t>
                      </a:r>
                      <a:r>
                        <a:rPr lang="en-US" sz="1000" dirty="0" smtClean="0"/>
                        <a:t/>
                      </a:r>
                      <a:br>
                        <a:rPr lang="en-US" sz="1000" dirty="0" smtClean="0"/>
                      </a:br>
                      <a:r>
                        <a:rPr lang="en-US" sz="1400" b="0" i="0" kern="1200" dirty="0" smtClean="0">
                          <a:solidFill>
                            <a:schemeClr val="lt1"/>
                          </a:solidFill>
                          <a:effectLst/>
                          <a:latin typeface="+mn-lt"/>
                          <a:ea typeface="+mn-ea"/>
                          <a:cs typeface="+mn-cs"/>
                        </a:rPr>
                        <a:t>FROM Orders</a:t>
                      </a:r>
                      <a:r>
                        <a:rPr lang="en-US" sz="1000" dirty="0" smtClean="0"/>
                        <a:t/>
                      </a:r>
                      <a:br>
                        <a:rPr lang="en-US" sz="1000" dirty="0" smtClean="0"/>
                      </a:br>
                      <a:r>
                        <a:rPr lang="en-US" sz="1400" b="0" i="0" kern="1200" dirty="0" smtClean="0">
                          <a:solidFill>
                            <a:schemeClr val="lt1"/>
                          </a:solidFill>
                          <a:effectLst/>
                          <a:latin typeface="+mn-lt"/>
                          <a:ea typeface="+mn-ea"/>
                          <a:cs typeface="+mn-cs"/>
                        </a:rPr>
                        <a:t>INNER JOIN Customers</a:t>
                      </a:r>
                      <a:r>
                        <a:rPr lang="en-US" sz="1000" dirty="0" smtClean="0"/>
                        <a:t/>
                      </a:r>
                      <a:br>
                        <a:rPr lang="en-US" sz="1000" dirty="0" smtClean="0"/>
                      </a:br>
                      <a:r>
                        <a:rPr lang="en-US" sz="1400" b="0" i="0" kern="1200" dirty="0" smtClean="0">
                          <a:solidFill>
                            <a:schemeClr val="lt1"/>
                          </a:solidFill>
                          <a:effectLst/>
                          <a:latin typeface="+mn-lt"/>
                          <a:ea typeface="+mn-ea"/>
                          <a:cs typeface="+mn-cs"/>
                        </a:rPr>
                        <a:t>ON Orders.CustomerID=</a:t>
                      </a:r>
                      <a:r>
                        <a:rPr lang="en-US" sz="1400" b="0" i="0" kern="1200" dirty="0" err="1" smtClean="0">
                          <a:solidFill>
                            <a:schemeClr val="lt1"/>
                          </a:solidFill>
                          <a:effectLst/>
                          <a:latin typeface="+mn-lt"/>
                          <a:ea typeface="+mn-ea"/>
                          <a:cs typeface="+mn-cs"/>
                        </a:rPr>
                        <a:t>Customers.CustomerID</a:t>
                      </a:r>
                      <a:r>
                        <a:rPr lang="en-US" sz="1400" b="0" i="0" kern="1200" dirty="0" smtClean="0">
                          <a:solidFill>
                            <a:schemeClr val="lt1"/>
                          </a:solidFill>
                          <a:effectLst/>
                          <a:latin typeface="+mn-lt"/>
                          <a:ea typeface="+mn-ea"/>
                          <a:cs typeface="+mn-cs"/>
                        </a:rPr>
                        <a:t>;</a:t>
                      </a:r>
                      <a:endParaRPr lang="en-US" sz="1000" dirty="0"/>
                    </a:p>
                  </a:txBody>
                  <a:tcPr marL="68580" marR="68580" marT="34290" marB="34290"/>
                </a:tc>
              </a:tr>
              <a:tr h="1948187">
                <a:tc>
                  <a:txBody>
                    <a:bodyPr/>
                    <a:lstStyle/>
                    <a:p>
                      <a:r>
                        <a:rPr lang="en-US" sz="1000" dirty="0" smtClean="0"/>
                        <a:t>Meaning</a:t>
                      </a:r>
                      <a:endParaRPr lang="en-US" sz="1000" dirty="0"/>
                    </a:p>
                  </a:txBody>
                  <a:tcPr marL="68580" marR="68580" marT="34290" marB="34290"/>
                </a:tc>
                <a:tc>
                  <a:txBody>
                    <a:bodyPr/>
                    <a:lstStyle/>
                    <a:p>
                      <a:endParaRPr lang="en-US" sz="1000" dirty="0"/>
                    </a:p>
                  </a:txBody>
                  <a:tcPr marL="68580" marR="68580" marT="34290" marB="34290"/>
                </a:tc>
              </a:tr>
            </a:tbl>
          </a:graphicData>
        </a:graphic>
      </p:graphicFrame>
      <p:pic>
        <p:nvPicPr>
          <p:cNvPr id="3" name="Picture 2"/>
          <p:cNvPicPr>
            <a:picLocks noChangeAspect="1"/>
          </p:cNvPicPr>
          <p:nvPr/>
        </p:nvPicPr>
        <p:blipFill>
          <a:blip r:embed="rId2"/>
          <a:stretch>
            <a:fillRect/>
          </a:stretch>
        </p:blipFill>
        <p:spPr>
          <a:xfrm>
            <a:off x="1625806" y="3366165"/>
            <a:ext cx="6665119" cy="1535906"/>
          </a:xfrm>
          <a:prstGeom prst="rect">
            <a:avLst/>
          </a:prstGeom>
        </p:spPr>
      </p:pic>
      <p:sp>
        <p:nvSpPr>
          <p:cNvPr id="5" name="Rectangle 4"/>
          <p:cNvSpPr/>
          <p:nvPr/>
        </p:nvSpPr>
        <p:spPr>
          <a:xfrm>
            <a:off x="628650" y="5176384"/>
            <a:ext cx="7662274" cy="715581"/>
          </a:xfrm>
          <a:prstGeom prst="rect">
            <a:avLst/>
          </a:prstGeom>
          <a:solidFill>
            <a:schemeClr val="accent2"/>
          </a:solidFill>
        </p:spPr>
        <p:txBody>
          <a:bodyPr wrap="square">
            <a:spAutoFit/>
          </a:bodyPr>
          <a:lstStyle/>
          <a:p>
            <a:r>
              <a:rPr lang="en-US" sz="1350" dirty="0">
                <a:solidFill>
                  <a:schemeClr val="bg1"/>
                </a:solidFill>
                <a:latin typeface="Verdana" panose="020B0604030504040204" pitchFamily="34" charset="0"/>
              </a:rPr>
              <a:t> </a:t>
            </a:r>
            <a:r>
              <a:rPr lang="en-US" sz="1350" dirty="0">
                <a:solidFill>
                  <a:schemeClr val="bg1"/>
                </a:solidFill>
                <a:latin typeface="Verdana" panose="020B0604030504040204" pitchFamily="34" charset="0"/>
              </a:rPr>
              <a:t>The </a:t>
            </a:r>
            <a:r>
              <a:rPr lang="en-US" sz="1350" dirty="0">
                <a:solidFill>
                  <a:schemeClr val="bg1"/>
                </a:solidFill>
                <a:latin typeface="Verdana" panose="020B0604030504040204" pitchFamily="34" charset="0"/>
              </a:rPr>
              <a:t>"CustomerID" column in the "Orders" table refers to the "CustomerID" in the "Customers" table. The relationship between the two tables above is the "CustomerID" column.</a:t>
            </a:r>
            <a:endParaRPr lang="en-US" sz="1350" dirty="0">
              <a:solidFill>
                <a:schemeClr val="bg1"/>
              </a:solidFill>
            </a:endParaRPr>
          </a:p>
        </p:txBody>
      </p:sp>
    </p:spTree>
    <p:extLst>
      <p:ext uri="{BB962C8B-B14F-4D97-AF65-F5344CB8AC3E}">
        <p14:creationId xmlns:p14="http://schemas.microsoft.com/office/powerpoint/2010/main" val="3550844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Inner Join - Syntax</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875278952"/>
              </p:ext>
            </p:extLst>
          </p:nvPr>
        </p:nvGraphicFramePr>
        <p:xfrm>
          <a:off x="628648" y="2226469"/>
          <a:ext cx="7639588" cy="2395620"/>
        </p:xfrm>
        <a:graphic>
          <a:graphicData uri="http://schemas.openxmlformats.org/drawingml/2006/table">
            <a:tbl>
              <a:tblPr firstRow="1" bandRow="1">
                <a:tableStyleId>{5C22544A-7EE6-4342-B048-85BDC9FD1C3A}</a:tableStyleId>
              </a:tblPr>
              <a:tblGrid>
                <a:gridCol w="955469"/>
                <a:gridCol w="6684119"/>
              </a:tblGrid>
              <a:tr h="891540">
                <a:tc>
                  <a:txBody>
                    <a:bodyPr/>
                    <a:lstStyle/>
                    <a:p>
                      <a:r>
                        <a:rPr lang="en-US" sz="1000" dirty="0" smtClean="0"/>
                        <a:t>Syntax</a:t>
                      </a:r>
                      <a:endParaRPr lang="en-US" sz="1000" dirty="0"/>
                    </a:p>
                  </a:txBody>
                  <a:tcPr marL="68580" marR="68580" marT="34290" marB="34290"/>
                </a:tc>
                <a:tc>
                  <a:txBody>
                    <a:bodyPr/>
                    <a:lstStyle/>
                    <a:p>
                      <a:r>
                        <a:rPr lang="en-US" sz="1400" b="0" i="0" kern="1200" dirty="0" smtClean="0">
                          <a:solidFill>
                            <a:schemeClr val="lt1"/>
                          </a:solidFill>
                          <a:effectLst/>
                          <a:latin typeface="+mn-lt"/>
                          <a:ea typeface="+mn-ea"/>
                          <a:cs typeface="+mn-cs"/>
                        </a:rPr>
                        <a:t>SELECT </a:t>
                      </a:r>
                      <a:r>
                        <a:rPr lang="en-US" sz="1400" b="0" i="1" kern="1200" dirty="0" smtClean="0">
                          <a:solidFill>
                            <a:schemeClr val="lt1"/>
                          </a:solidFill>
                          <a:effectLst/>
                          <a:latin typeface="+mn-lt"/>
                          <a:ea typeface="+mn-ea"/>
                          <a:cs typeface="+mn-cs"/>
                        </a:rPr>
                        <a:t>column_name(s)</a:t>
                      </a:r>
                      <a:r>
                        <a:rPr lang="en-US" sz="1000" dirty="0" smtClean="0"/>
                        <a:t/>
                      </a:r>
                      <a:br>
                        <a:rPr lang="en-US" sz="1000" dirty="0" smtClean="0"/>
                      </a:br>
                      <a:r>
                        <a:rPr lang="en-US" sz="1400" b="0" i="0" kern="1200" dirty="0" smtClean="0">
                          <a:solidFill>
                            <a:schemeClr val="lt1"/>
                          </a:solidFill>
                          <a:effectLst/>
                          <a:latin typeface="+mn-lt"/>
                          <a:ea typeface="+mn-ea"/>
                          <a:cs typeface="+mn-cs"/>
                        </a:rPr>
                        <a:t>FROM </a:t>
                      </a:r>
                      <a:r>
                        <a:rPr lang="en-US" sz="1400" b="0" i="1" kern="1200" dirty="0" smtClean="0">
                          <a:solidFill>
                            <a:schemeClr val="lt1"/>
                          </a:solidFill>
                          <a:effectLst/>
                          <a:latin typeface="+mn-lt"/>
                          <a:ea typeface="+mn-ea"/>
                          <a:cs typeface="+mn-cs"/>
                        </a:rPr>
                        <a:t>table1</a:t>
                      </a:r>
                      <a:r>
                        <a:rPr lang="en-US" sz="1000" dirty="0" smtClean="0"/>
                        <a:t/>
                      </a:r>
                      <a:br>
                        <a:rPr lang="en-US" sz="1000" dirty="0" smtClean="0"/>
                      </a:br>
                      <a:r>
                        <a:rPr lang="en-US" sz="1400" b="0" i="0" kern="1200" dirty="0" smtClean="0">
                          <a:solidFill>
                            <a:schemeClr val="lt1"/>
                          </a:solidFill>
                          <a:effectLst/>
                          <a:latin typeface="+mn-lt"/>
                          <a:ea typeface="+mn-ea"/>
                          <a:cs typeface="+mn-cs"/>
                        </a:rPr>
                        <a:t>INNER JOIN </a:t>
                      </a:r>
                      <a:r>
                        <a:rPr lang="en-US" sz="1400" b="0" i="1" kern="1200" dirty="0" smtClean="0">
                          <a:solidFill>
                            <a:schemeClr val="lt1"/>
                          </a:solidFill>
                          <a:effectLst/>
                          <a:latin typeface="+mn-lt"/>
                          <a:ea typeface="+mn-ea"/>
                          <a:cs typeface="+mn-cs"/>
                        </a:rPr>
                        <a:t>table2</a:t>
                      </a:r>
                      <a:r>
                        <a:rPr lang="en-US" sz="1000" dirty="0" smtClean="0"/>
                        <a:t/>
                      </a:r>
                      <a:br>
                        <a:rPr lang="en-US" sz="1000" dirty="0" smtClean="0"/>
                      </a:br>
                      <a:r>
                        <a:rPr lang="en-US" sz="1400" b="0" i="0" kern="1200" dirty="0" smtClean="0">
                          <a:solidFill>
                            <a:schemeClr val="lt1"/>
                          </a:solidFill>
                          <a:effectLst/>
                          <a:latin typeface="+mn-lt"/>
                          <a:ea typeface="+mn-ea"/>
                          <a:cs typeface="+mn-cs"/>
                        </a:rPr>
                        <a:t>ON </a:t>
                      </a:r>
                      <a:r>
                        <a:rPr lang="en-US" sz="1400" b="0" i="1" kern="1200" dirty="0" smtClean="0">
                          <a:solidFill>
                            <a:schemeClr val="lt1"/>
                          </a:solidFill>
                          <a:effectLst/>
                          <a:latin typeface="+mn-lt"/>
                          <a:ea typeface="+mn-ea"/>
                          <a:cs typeface="+mn-cs"/>
                        </a:rPr>
                        <a:t>table1.column_name</a:t>
                      </a:r>
                      <a:r>
                        <a:rPr lang="en-US" sz="1400" b="0" i="0" kern="1200" dirty="0" smtClean="0">
                          <a:solidFill>
                            <a:schemeClr val="lt1"/>
                          </a:solidFill>
                          <a:effectLst/>
                          <a:latin typeface="+mn-lt"/>
                          <a:ea typeface="+mn-ea"/>
                          <a:cs typeface="+mn-cs"/>
                        </a:rPr>
                        <a:t>=</a:t>
                      </a:r>
                      <a:r>
                        <a:rPr lang="en-US" sz="1400" b="0" i="1" kern="1200" dirty="0" smtClean="0">
                          <a:solidFill>
                            <a:schemeClr val="lt1"/>
                          </a:solidFill>
                          <a:effectLst/>
                          <a:latin typeface="+mn-lt"/>
                          <a:ea typeface="+mn-ea"/>
                          <a:cs typeface="+mn-cs"/>
                        </a:rPr>
                        <a:t>table2.column_name</a:t>
                      </a:r>
                      <a:r>
                        <a:rPr lang="en-US" sz="1400" b="0" i="0" kern="1200" dirty="0" smtClean="0">
                          <a:solidFill>
                            <a:schemeClr val="lt1"/>
                          </a:solidFill>
                          <a:effectLst/>
                          <a:latin typeface="+mn-lt"/>
                          <a:ea typeface="+mn-ea"/>
                          <a:cs typeface="+mn-cs"/>
                        </a:rPr>
                        <a:t>;</a:t>
                      </a:r>
                      <a:endParaRPr lang="en-US" sz="1000" dirty="0"/>
                    </a:p>
                  </a:txBody>
                  <a:tcPr marL="68580" marR="68580" marT="34290" marB="34290"/>
                </a:tc>
              </a:tr>
              <a:tr h="1504080">
                <a:tc>
                  <a:txBody>
                    <a:bodyPr/>
                    <a:lstStyle/>
                    <a:p>
                      <a:r>
                        <a:rPr lang="en-US" sz="1000" dirty="0" smtClean="0"/>
                        <a:t>Syntax</a:t>
                      </a:r>
                      <a:endParaRPr lang="en-US" sz="1000" dirty="0"/>
                    </a:p>
                  </a:txBody>
                  <a:tcPr marL="68580" marR="68580" marT="34290" marB="34290"/>
                </a:tc>
                <a:tc>
                  <a:txBody>
                    <a:bodyPr/>
                    <a:lstStyle/>
                    <a:p>
                      <a:r>
                        <a:rPr lang="en-US" sz="1400" b="0" i="0" kern="1200" dirty="0" smtClean="0">
                          <a:solidFill>
                            <a:schemeClr val="dk1"/>
                          </a:solidFill>
                          <a:effectLst/>
                          <a:latin typeface="+mn-lt"/>
                          <a:ea typeface="+mn-ea"/>
                          <a:cs typeface="+mn-cs"/>
                        </a:rPr>
                        <a:t>SELECT </a:t>
                      </a:r>
                      <a:r>
                        <a:rPr lang="en-US" sz="1400" b="0" i="1" kern="1200" dirty="0" smtClean="0">
                          <a:solidFill>
                            <a:schemeClr val="dk1"/>
                          </a:solidFill>
                          <a:effectLst/>
                          <a:latin typeface="+mn-lt"/>
                          <a:ea typeface="+mn-ea"/>
                          <a:cs typeface="+mn-cs"/>
                        </a:rPr>
                        <a:t>column_name(s)</a:t>
                      </a:r>
                      <a:r>
                        <a:rPr lang="en-US" sz="1000" dirty="0" smtClean="0"/>
                        <a:t/>
                      </a:r>
                      <a:br>
                        <a:rPr lang="en-US" sz="1000" dirty="0" smtClean="0"/>
                      </a:br>
                      <a:r>
                        <a:rPr lang="en-US" sz="1400" b="0" i="0" kern="1200" dirty="0" smtClean="0">
                          <a:solidFill>
                            <a:schemeClr val="dk1"/>
                          </a:solidFill>
                          <a:effectLst/>
                          <a:latin typeface="+mn-lt"/>
                          <a:ea typeface="+mn-ea"/>
                          <a:cs typeface="+mn-cs"/>
                        </a:rPr>
                        <a:t>FROM </a:t>
                      </a:r>
                      <a:r>
                        <a:rPr lang="en-US" sz="1400" b="0" i="1" kern="1200" dirty="0" smtClean="0">
                          <a:solidFill>
                            <a:schemeClr val="dk1"/>
                          </a:solidFill>
                          <a:effectLst/>
                          <a:latin typeface="+mn-lt"/>
                          <a:ea typeface="+mn-ea"/>
                          <a:cs typeface="+mn-cs"/>
                        </a:rPr>
                        <a:t>table1</a:t>
                      </a:r>
                      <a:r>
                        <a:rPr lang="en-US" sz="1000" dirty="0" smtClean="0"/>
                        <a:t/>
                      </a:r>
                      <a:br>
                        <a:rPr lang="en-US" sz="1000" dirty="0" smtClean="0"/>
                      </a:br>
                      <a:r>
                        <a:rPr lang="en-US" sz="1400" b="0" i="0" kern="1200" dirty="0" smtClean="0">
                          <a:solidFill>
                            <a:schemeClr val="dk1"/>
                          </a:solidFill>
                          <a:effectLst/>
                          <a:latin typeface="+mn-lt"/>
                          <a:ea typeface="+mn-ea"/>
                          <a:cs typeface="+mn-cs"/>
                        </a:rPr>
                        <a:t>JOIN </a:t>
                      </a:r>
                      <a:r>
                        <a:rPr lang="en-US" sz="1400" b="0" i="1" kern="1200" dirty="0" smtClean="0">
                          <a:solidFill>
                            <a:schemeClr val="dk1"/>
                          </a:solidFill>
                          <a:effectLst/>
                          <a:latin typeface="+mn-lt"/>
                          <a:ea typeface="+mn-ea"/>
                          <a:cs typeface="+mn-cs"/>
                        </a:rPr>
                        <a:t>table2</a:t>
                      </a:r>
                      <a:r>
                        <a:rPr lang="en-US" sz="1000" dirty="0" smtClean="0"/>
                        <a:t/>
                      </a:r>
                      <a:br>
                        <a:rPr lang="en-US" sz="1000" dirty="0" smtClean="0"/>
                      </a:br>
                      <a:r>
                        <a:rPr lang="en-US" sz="1400" b="0" i="0" kern="1200" dirty="0" smtClean="0">
                          <a:solidFill>
                            <a:schemeClr val="dk1"/>
                          </a:solidFill>
                          <a:effectLst/>
                          <a:latin typeface="+mn-lt"/>
                          <a:ea typeface="+mn-ea"/>
                          <a:cs typeface="+mn-cs"/>
                        </a:rPr>
                        <a:t>ON </a:t>
                      </a:r>
                      <a:r>
                        <a:rPr lang="en-US" sz="1400" b="0" i="1" kern="1200" dirty="0" smtClean="0">
                          <a:solidFill>
                            <a:schemeClr val="dk1"/>
                          </a:solidFill>
                          <a:effectLst/>
                          <a:latin typeface="+mn-lt"/>
                          <a:ea typeface="+mn-ea"/>
                          <a:cs typeface="+mn-cs"/>
                        </a:rPr>
                        <a:t>table1.column_name</a:t>
                      </a:r>
                      <a:r>
                        <a:rPr lang="en-US" sz="1400" b="0" i="0" kern="1200" dirty="0" smtClean="0">
                          <a:solidFill>
                            <a:schemeClr val="dk1"/>
                          </a:solidFill>
                          <a:effectLst/>
                          <a:latin typeface="+mn-lt"/>
                          <a:ea typeface="+mn-ea"/>
                          <a:cs typeface="+mn-cs"/>
                        </a:rPr>
                        <a:t>=</a:t>
                      </a:r>
                      <a:r>
                        <a:rPr lang="en-US" sz="1400" b="0" i="1" kern="1200" dirty="0" smtClean="0">
                          <a:solidFill>
                            <a:schemeClr val="dk1"/>
                          </a:solidFill>
                          <a:effectLst/>
                          <a:latin typeface="+mn-lt"/>
                          <a:ea typeface="+mn-ea"/>
                          <a:cs typeface="+mn-cs"/>
                        </a:rPr>
                        <a:t>table2.column_name</a:t>
                      </a:r>
                      <a:r>
                        <a:rPr lang="en-US" sz="1400" b="0" i="0" kern="1200" dirty="0" smtClean="0">
                          <a:solidFill>
                            <a:schemeClr val="dk1"/>
                          </a:solidFill>
                          <a:effectLst/>
                          <a:latin typeface="+mn-lt"/>
                          <a:ea typeface="+mn-ea"/>
                          <a:cs typeface="+mn-cs"/>
                        </a:rPr>
                        <a:t>;</a:t>
                      </a:r>
                      <a:endParaRPr lang="en-US" sz="1000" dirty="0"/>
                    </a:p>
                  </a:txBody>
                  <a:tcPr marL="68580" marR="68580" marT="34290" marB="34290"/>
                </a:tc>
              </a:tr>
            </a:tbl>
          </a:graphicData>
        </a:graphic>
      </p:graphicFrame>
    </p:spTree>
    <p:extLst>
      <p:ext uri="{BB962C8B-B14F-4D97-AF65-F5344CB8AC3E}">
        <p14:creationId xmlns:p14="http://schemas.microsoft.com/office/powerpoint/2010/main" val="480172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Inner Join - Demo</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130492042"/>
              </p:ext>
            </p:extLst>
          </p:nvPr>
        </p:nvGraphicFramePr>
        <p:xfrm>
          <a:off x="628650" y="1946991"/>
          <a:ext cx="7639588" cy="3383086"/>
        </p:xfrm>
        <a:graphic>
          <a:graphicData uri="http://schemas.openxmlformats.org/drawingml/2006/table">
            <a:tbl>
              <a:tblPr firstRow="1" bandRow="1">
                <a:tableStyleId>{5C22544A-7EE6-4342-B048-85BDC9FD1C3A}</a:tableStyleId>
              </a:tblPr>
              <a:tblGrid>
                <a:gridCol w="955469"/>
                <a:gridCol w="6684119"/>
              </a:tblGrid>
              <a:tr h="1427020">
                <a:tc>
                  <a:txBody>
                    <a:bodyPr/>
                    <a:lstStyle/>
                    <a:p>
                      <a:r>
                        <a:rPr lang="en-US" sz="1000" dirty="0" smtClean="0"/>
                        <a:t>Example</a:t>
                      </a:r>
                      <a:endParaRPr lang="en-US" sz="1000" dirty="0"/>
                    </a:p>
                  </a:txBody>
                  <a:tcPr marL="68580" marR="68580" marT="34290" marB="34290"/>
                </a:tc>
                <a:tc>
                  <a:txBody>
                    <a:bodyPr/>
                    <a:lstStyle/>
                    <a:p>
                      <a:r>
                        <a:rPr lang="en-US" sz="1400" b="0" i="0" kern="1200" dirty="0" smtClean="0">
                          <a:solidFill>
                            <a:schemeClr val="lt1"/>
                          </a:solidFill>
                          <a:effectLst/>
                          <a:latin typeface="+mn-lt"/>
                          <a:ea typeface="+mn-ea"/>
                          <a:cs typeface="+mn-cs"/>
                        </a:rPr>
                        <a:t>SELECT Customers.CustomerName, Orders.OrderID</a:t>
                      </a:r>
                      <a:r>
                        <a:rPr lang="en-US" sz="1000" dirty="0" smtClean="0"/>
                        <a:t/>
                      </a:r>
                      <a:br>
                        <a:rPr lang="en-US" sz="1000" dirty="0" smtClean="0"/>
                      </a:br>
                      <a:r>
                        <a:rPr lang="en-US" sz="1400" b="0" i="0" kern="1200" dirty="0" smtClean="0">
                          <a:solidFill>
                            <a:schemeClr val="lt1"/>
                          </a:solidFill>
                          <a:effectLst/>
                          <a:latin typeface="+mn-lt"/>
                          <a:ea typeface="+mn-ea"/>
                          <a:cs typeface="+mn-cs"/>
                        </a:rPr>
                        <a:t>FROM Customers</a:t>
                      </a:r>
                      <a:r>
                        <a:rPr lang="en-US" sz="1000" dirty="0" smtClean="0"/>
                        <a:t/>
                      </a:r>
                      <a:br>
                        <a:rPr lang="en-US" sz="1000" dirty="0" smtClean="0"/>
                      </a:br>
                      <a:r>
                        <a:rPr lang="en-US" sz="1400" b="0" i="0" kern="1200" dirty="0" smtClean="0">
                          <a:solidFill>
                            <a:schemeClr val="lt1"/>
                          </a:solidFill>
                          <a:effectLst/>
                          <a:latin typeface="+mn-lt"/>
                          <a:ea typeface="+mn-ea"/>
                          <a:cs typeface="+mn-cs"/>
                        </a:rPr>
                        <a:t>INNER JOIN Orders</a:t>
                      </a:r>
                      <a:r>
                        <a:rPr lang="en-US" sz="1000" dirty="0" smtClean="0"/>
                        <a:t/>
                      </a:r>
                      <a:br>
                        <a:rPr lang="en-US" sz="1000" dirty="0" smtClean="0"/>
                      </a:br>
                      <a:r>
                        <a:rPr lang="en-US" sz="1400" b="0" i="0" kern="1200" dirty="0" smtClean="0">
                          <a:solidFill>
                            <a:schemeClr val="lt1"/>
                          </a:solidFill>
                          <a:effectLst/>
                          <a:latin typeface="+mn-lt"/>
                          <a:ea typeface="+mn-ea"/>
                          <a:cs typeface="+mn-cs"/>
                        </a:rPr>
                        <a:t>ON </a:t>
                      </a:r>
                      <a:r>
                        <a:rPr lang="en-US" sz="1400" b="0" i="0" kern="1200" dirty="0" err="1" smtClean="0">
                          <a:solidFill>
                            <a:schemeClr val="lt1"/>
                          </a:solidFill>
                          <a:effectLst/>
                          <a:latin typeface="+mn-lt"/>
                          <a:ea typeface="+mn-ea"/>
                          <a:cs typeface="+mn-cs"/>
                        </a:rPr>
                        <a:t>Customers.CustomerID</a:t>
                      </a:r>
                      <a:r>
                        <a:rPr lang="en-US" sz="1400" b="0" i="0" kern="1200" dirty="0" smtClean="0">
                          <a:solidFill>
                            <a:schemeClr val="lt1"/>
                          </a:solidFill>
                          <a:effectLst/>
                          <a:latin typeface="+mn-lt"/>
                          <a:ea typeface="+mn-ea"/>
                          <a:cs typeface="+mn-cs"/>
                        </a:rPr>
                        <a:t>=Orders.CustomerID</a:t>
                      </a:r>
                      <a:r>
                        <a:rPr lang="en-US" sz="1000" dirty="0" smtClean="0"/>
                        <a:t/>
                      </a:r>
                      <a:br>
                        <a:rPr lang="en-US" sz="1000" dirty="0" smtClean="0"/>
                      </a:br>
                      <a:r>
                        <a:rPr lang="en-US" sz="1400" b="0" i="0" kern="1200" dirty="0" smtClean="0">
                          <a:solidFill>
                            <a:schemeClr val="lt1"/>
                          </a:solidFill>
                          <a:effectLst/>
                          <a:latin typeface="+mn-lt"/>
                          <a:ea typeface="+mn-ea"/>
                          <a:cs typeface="+mn-cs"/>
                        </a:rPr>
                        <a:t>ORDER BY Customers.CustomerName;</a:t>
                      </a:r>
                      <a:endParaRPr lang="en-US" sz="1000" dirty="0"/>
                    </a:p>
                  </a:txBody>
                  <a:tcPr marL="68580" marR="68580" marT="34290" marB="34290"/>
                </a:tc>
              </a:tr>
              <a:tr h="1956066">
                <a:tc>
                  <a:txBody>
                    <a:bodyPr/>
                    <a:lstStyle/>
                    <a:p>
                      <a:r>
                        <a:rPr lang="en-US" sz="1000" dirty="0" smtClean="0"/>
                        <a:t>Image</a:t>
                      </a:r>
                      <a:endParaRPr lang="en-US" sz="1000" dirty="0"/>
                    </a:p>
                  </a:txBody>
                  <a:tcPr marL="68580" marR="68580" marT="34290" marB="34290"/>
                </a:tc>
                <a:tc>
                  <a:txBody>
                    <a:bodyPr/>
                    <a:lstStyle/>
                    <a:p>
                      <a:endParaRPr lang="en-US" sz="1000" dirty="0"/>
                    </a:p>
                  </a:txBody>
                  <a:tcPr marL="68580" marR="68580" marT="34290" marB="34290"/>
                </a:tc>
              </a:tr>
            </a:tbl>
          </a:graphicData>
        </a:graphic>
      </p:graphicFrame>
      <p:pic>
        <p:nvPicPr>
          <p:cNvPr id="3" name="Picture 2"/>
          <p:cNvPicPr>
            <a:picLocks noChangeAspect="1"/>
          </p:cNvPicPr>
          <p:nvPr/>
        </p:nvPicPr>
        <p:blipFill>
          <a:blip r:embed="rId2"/>
          <a:stretch>
            <a:fillRect/>
          </a:stretch>
        </p:blipFill>
        <p:spPr>
          <a:xfrm>
            <a:off x="628650" y="3348759"/>
            <a:ext cx="7629928" cy="2150269"/>
          </a:xfrm>
          <a:prstGeom prst="rect">
            <a:avLst/>
          </a:prstGeom>
        </p:spPr>
      </p:pic>
    </p:spTree>
    <p:extLst>
      <p:ext uri="{BB962C8B-B14F-4D97-AF65-F5344CB8AC3E}">
        <p14:creationId xmlns:p14="http://schemas.microsoft.com/office/powerpoint/2010/main" val="4157274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Left Join - Demo</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765594330"/>
              </p:ext>
            </p:extLst>
          </p:nvPr>
        </p:nvGraphicFramePr>
        <p:xfrm>
          <a:off x="628650" y="1946991"/>
          <a:ext cx="7639588" cy="3383086"/>
        </p:xfrm>
        <a:graphic>
          <a:graphicData uri="http://schemas.openxmlformats.org/drawingml/2006/table">
            <a:tbl>
              <a:tblPr firstRow="1" bandRow="1">
                <a:tableStyleId>{5C22544A-7EE6-4342-B048-85BDC9FD1C3A}</a:tableStyleId>
              </a:tblPr>
              <a:tblGrid>
                <a:gridCol w="955469"/>
                <a:gridCol w="6684119"/>
              </a:tblGrid>
              <a:tr h="1427020">
                <a:tc>
                  <a:txBody>
                    <a:bodyPr/>
                    <a:lstStyle/>
                    <a:p>
                      <a:r>
                        <a:rPr lang="en-US" sz="1000" dirty="0" smtClean="0"/>
                        <a:t>Example</a:t>
                      </a:r>
                      <a:endParaRPr lang="en-US" sz="1000" dirty="0"/>
                    </a:p>
                  </a:txBody>
                  <a:tcPr marL="68580" marR="68580" marT="34290" marB="34290"/>
                </a:tc>
                <a:tc>
                  <a:txBody>
                    <a:bodyPr/>
                    <a:lstStyle/>
                    <a:p>
                      <a:r>
                        <a:rPr lang="en-US" sz="1400" b="0" i="0" kern="1200" dirty="0" smtClean="0">
                          <a:solidFill>
                            <a:schemeClr val="lt1"/>
                          </a:solidFill>
                          <a:effectLst/>
                          <a:latin typeface="+mn-lt"/>
                          <a:ea typeface="+mn-ea"/>
                          <a:cs typeface="+mn-cs"/>
                        </a:rPr>
                        <a:t>SELECT </a:t>
                      </a:r>
                      <a:r>
                        <a:rPr lang="en-US" sz="1400" b="0" i="1" kern="1200" dirty="0" smtClean="0">
                          <a:solidFill>
                            <a:schemeClr val="lt1"/>
                          </a:solidFill>
                          <a:effectLst/>
                          <a:latin typeface="+mn-lt"/>
                          <a:ea typeface="+mn-ea"/>
                          <a:cs typeface="+mn-cs"/>
                        </a:rPr>
                        <a:t>column_name(s)</a:t>
                      </a:r>
                      <a:r>
                        <a:rPr lang="en-US" sz="1000" dirty="0" smtClean="0"/>
                        <a:t/>
                      </a:r>
                      <a:br>
                        <a:rPr lang="en-US" sz="1000" dirty="0" smtClean="0"/>
                      </a:br>
                      <a:r>
                        <a:rPr lang="en-US" sz="1400" b="0" i="0" kern="1200" dirty="0" smtClean="0">
                          <a:solidFill>
                            <a:schemeClr val="lt1"/>
                          </a:solidFill>
                          <a:effectLst/>
                          <a:latin typeface="+mn-lt"/>
                          <a:ea typeface="+mn-ea"/>
                          <a:cs typeface="+mn-cs"/>
                        </a:rPr>
                        <a:t>FROM </a:t>
                      </a:r>
                      <a:r>
                        <a:rPr lang="en-US" sz="1400" b="0" i="1" kern="1200" dirty="0" smtClean="0">
                          <a:solidFill>
                            <a:schemeClr val="lt1"/>
                          </a:solidFill>
                          <a:effectLst/>
                          <a:latin typeface="+mn-lt"/>
                          <a:ea typeface="+mn-ea"/>
                          <a:cs typeface="+mn-cs"/>
                        </a:rPr>
                        <a:t>table1</a:t>
                      </a:r>
                      <a:r>
                        <a:rPr lang="en-US" sz="1000" dirty="0" smtClean="0"/>
                        <a:t/>
                      </a:r>
                      <a:br>
                        <a:rPr lang="en-US" sz="1000" dirty="0" smtClean="0"/>
                      </a:br>
                      <a:r>
                        <a:rPr lang="en-US" sz="1400" b="0" i="0" kern="1200" dirty="0" smtClean="0">
                          <a:solidFill>
                            <a:schemeClr val="lt1"/>
                          </a:solidFill>
                          <a:effectLst/>
                          <a:latin typeface="+mn-lt"/>
                          <a:ea typeface="+mn-ea"/>
                          <a:cs typeface="+mn-cs"/>
                        </a:rPr>
                        <a:t>LEFT JOIN </a:t>
                      </a:r>
                      <a:r>
                        <a:rPr lang="en-US" sz="1400" b="0" i="1" kern="1200" dirty="0" smtClean="0">
                          <a:solidFill>
                            <a:schemeClr val="lt1"/>
                          </a:solidFill>
                          <a:effectLst/>
                          <a:latin typeface="+mn-lt"/>
                          <a:ea typeface="+mn-ea"/>
                          <a:cs typeface="+mn-cs"/>
                        </a:rPr>
                        <a:t>table2</a:t>
                      </a:r>
                      <a:r>
                        <a:rPr lang="en-US" sz="1000" dirty="0" smtClean="0"/>
                        <a:t/>
                      </a:r>
                      <a:br>
                        <a:rPr lang="en-US" sz="1000" dirty="0" smtClean="0"/>
                      </a:br>
                      <a:r>
                        <a:rPr lang="en-US" sz="1400" b="0" i="0" kern="1200" dirty="0" smtClean="0">
                          <a:solidFill>
                            <a:schemeClr val="lt1"/>
                          </a:solidFill>
                          <a:effectLst/>
                          <a:latin typeface="+mn-lt"/>
                          <a:ea typeface="+mn-ea"/>
                          <a:cs typeface="+mn-cs"/>
                        </a:rPr>
                        <a:t>ON </a:t>
                      </a:r>
                      <a:r>
                        <a:rPr lang="en-US" sz="1400" b="0" i="1" kern="1200" dirty="0" smtClean="0">
                          <a:solidFill>
                            <a:schemeClr val="lt1"/>
                          </a:solidFill>
                          <a:effectLst/>
                          <a:latin typeface="+mn-lt"/>
                          <a:ea typeface="+mn-ea"/>
                          <a:cs typeface="+mn-cs"/>
                        </a:rPr>
                        <a:t>table1.column_name</a:t>
                      </a:r>
                      <a:r>
                        <a:rPr lang="en-US" sz="1400" b="0" i="0" kern="1200" dirty="0" smtClean="0">
                          <a:solidFill>
                            <a:schemeClr val="lt1"/>
                          </a:solidFill>
                          <a:effectLst/>
                          <a:latin typeface="+mn-lt"/>
                          <a:ea typeface="+mn-ea"/>
                          <a:cs typeface="+mn-cs"/>
                        </a:rPr>
                        <a:t>=</a:t>
                      </a:r>
                      <a:r>
                        <a:rPr lang="en-US" sz="1400" b="0" i="1" kern="1200" dirty="0" smtClean="0">
                          <a:solidFill>
                            <a:schemeClr val="lt1"/>
                          </a:solidFill>
                          <a:effectLst/>
                          <a:latin typeface="+mn-lt"/>
                          <a:ea typeface="+mn-ea"/>
                          <a:cs typeface="+mn-cs"/>
                        </a:rPr>
                        <a:t>table2.column_name</a:t>
                      </a:r>
                      <a:r>
                        <a:rPr lang="en-US" sz="1400" b="0" i="0" kern="1200" dirty="0" smtClean="0">
                          <a:solidFill>
                            <a:schemeClr val="lt1"/>
                          </a:solidFill>
                          <a:effectLst/>
                          <a:latin typeface="+mn-lt"/>
                          <a:ea typeface="+mn-ea"/>
                          <a:cs typeface="+mn-cs"/>
                        </a:rPr>
                        <a:t>;</a:t>
                      </a:r>
                      <a:endParaRPr lang="en-US" sz="1000" dirty="0"/>
                    </a:p>
                  </a:txBody>
                  <a:tcPr marL="68580" marR="68580" marT="34290" marB="34290"/>
                </a:tc>
              </a:tr>
              <a:tr h="1956066">
                <a:tc>
                  <a:txBody>
                    <a:bodyPr/>
                    <a:lstStyle/>
                    <a:p>
                      <a:endParaRPr lang="en-US" sz="1000" dirty="0"/>
                    </a:p>
                  </a:txBody>
                  <a:tcPr marL="68580" marR="68580" marT="34290" marB="34290"/>
                </a:tc>
                <a:tc>
                  <a:txBody>
                    <a:bodyPr/>
                    <a:lstStyle/>
                    <a:p>
                      <a:endParaRPr lang="en-US" sz="1000" dirty="0"/>
                    </a:p>
                  </a:txBody>
                  <a:tcPr marL="68580" marR="68580" marT="34290" marB="34290"/>
                </a:tc>
              </a:tr>
            </a:tbl>
          </a:graphicData>
        </a:graphic>
      </p:graphicFrame>
      <p:pic>
        <p:nvPicPr>
          <p:cNvPr id="5" name="Picture 4"/>
          <p:cNvPicPr>
            <a:picLocks noChangeAspect="1"/>
          </p:cNvPicPr>
          <p:nvPr/>
        </p:nvPicPr>
        <p:blipFill>
          <a:blip r:embed="rId2"/>
          <a:stretch>
            <a:fillRect/>
          </a:stretch>
        </p:blipFill>
        <p:spPr>
          <a:xfrm>
            <a:off x="667287" y="3522976"/>
            <a:ext cx="7543800" cy="1685925"/>
          </a:xfrm>
          <a:prstGeom prst="rect">
            <a:avLst/>
          </a:prstGeom>
        </p:spPr>
      </p:pic>
    </p:spTree>
    <p:extLst>
      <p:ext uri="{BB962C8B-B14F-4D97-AF65-F5344CB8AC3E}">
        <p14:creationId xmlns:p14="http://schemas.microsoft.com/office/powerpoint/2010/main" val="35940975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Right Join - Demo</a:t>
            </a:r>
            <a:endParaRPr lang="en-US" dirty="0"/>
          </a:p>
        </p:txBody>
      </p:sp>
      <p:graphicFrame>
        <p:nvGraphicFramePr>
          <p:cNvPr id="4" name="Content Placeholder 3"/>
          <p:cNvGraphicFramePr>
            <a:graphicFrameLocks noGrp="1"/>
          </p:cNvGraphicFramePr>
          <p:nvPr>
            <p:ph idx="1"/>
            <p:extLst/>
          </p:nvPr>
        </p:nvGraphicFramePr>
        <p:xfrm>
          <a:off x="628650" y="1946991"/>
          <a:ext cx="7639588" cy="3383086"/>
        </p:xfrm>
        <a:graphic>
          <a:graphicData uri="http://schemas.openxmlformats.org/drawingml/2006/table">
            <a:tbl>
              <a:tblPr firstRow="1" bandRow="1">
                <a:tableStyleId>{5C22544A-7EE6-4342-B048-85BDC9FD1C3A}</a:tableStyleId>
              </a:tblPr>
              <a:tblGrid>
                <a:gridCol w="955469"/>
                <a:gridCol w="6684119"/>
              </a:tblGrid>
              <a:tr h="1427020">
                <a:tc>
                  <a:txBody>
                    <a:bodyPr/>
                    <a:lstStyle/>
                    <a:p>
                      <a:r>
                        <a:rPr lang="en-US" sz="1000" dirty="0" smtClean="0"/>
                        <a:t>Example</a:t>
                      </a:r>
                      <a:endParaRPr lang="en-US" sz="1000" dirty="0"/>
                    </a:p>
                  </a:txBody>
                  <a:tcPr marL="68580" marR="68580" marT="34290" marB="34290"/>
                </a:tc>
                <a:tc>
                  <a:txBody>
                    <a:bodyPr/>
                    <a:lstStyle/>
                    <a:p>
                      <a:r>
                        <a:rPr lang="en-US" sz="1400" b="0" i="0" kern="1200" dirty="0" smtClean="0">
                          <a:solidFill>
                            <a:schemeClr val="lt1"/>
                          </a:solidFill>
                          <a:effectLst/>
                          <a:latin typeface="+mn-lt"/>
                          <a:ea typeface="+mn-ea"/>
                          <a:cs typeface="+mn-cs"/>
                        </a:rPr>
                        <a:t>SELECT </a:t>
                      </a:r>
                      <a:r>
                        <a:rPr lang="en-US" sz="1400" b="0" i="1" kern="1200" dirty="0" smtClean="0">
                          <a:solidFill>
                            <a:schemeClr val="lt1"/>
                          </a:solidFill>
                          <a:effectLst/>
                          <a:latin typeface="+mn-lt"/>
                          <a:ea typeface="+mn-ea"/>
                          <a:cs typeface="+mn-cs"/>
                        </a:rPr>
                        <a:t>column_name(s)</a:t>
                      </a:r>
                      <a:r>
                        <a:rPr lang="en-US" sz="1000" dirty="0" smtClean="0"/>
                        <a:t/>
                      </a:r>
                      <a:br>
                        <a:rPr lang="en-US" sz="1000" dirty="0" smtClean="0"/>
                      </a:br>
                      <a:r>
                        <a:rPr lang="en-US" sz="1400" b="0" i="0" kern="1200" dirty="0" smtClean="0">
                          <a:solidFill>
                            <a:schemeClr val="lt1"/>
                          </a:solidFill>
                          <a:effectLst/>
                          <a:latin typeface="+mn-lt"/>
                          <a:ea typeface="+mn-ea"/>
                          <a:cs typeface="+mn-cs"/>
                        </a:rPr>
                        <a:t>FROM </a:t>
                      </a:r>
                      <a:r>
                        <a:rPr lang="en-US" sz="1400" b="0" i="1" kern="1200" dirty="0" smtClean="0">
                          <a:solidFill>
                            <a:schemeClr val="lt1"/>
                          </a:solidFill>
                          <a:effectLst/>
                          <a:latin typeface="+mn-lt"/>
                          <a:ea typeface="+mn-ea"/>
                          <a:cs typeface="+mn-cs"/>
                        </a:rPr>
                        <a:t>table1</a:t>
                      </a:r>
                      <a:r>
                        <a:rPr lang="en-US" sz="1000" dirty="0" smtClean="0"/>
                        <a:t/>
                      </a:r>
                      <a:br>
                        <a:rPr lang="en-US" sz="1000" dirty="0" smtClean="0"/>
                      </a:br>
                      <a:r>
                        <a:rPr lang="en-US" sz="1400" b="0" i="0" kern="1200" dirty="0" smtClean="0">
                          <a:solidFill>
                            <a:schemeClr val="lt1"/>
                          </a:solidFill>
                          <a:effectLst/>
                          <a:latin typeface="+mn-lt"/>
                          <a:ea typeface="+mn-ea"/>
                          <a:cs typeface="+mn-cs"/>
                        </a:rPr>
                        <a:t>RIGHT JOIN </a:t>
                      </a:r>
                      <a:r>
                        <a:rPr lang="en-US" sz="1400" b="0" i="1" kern="1200" dirty="0" smtClean="0">
                          <a:solidFill>
                            <a:schemeClr val="lt1"/>
                          </a:solidFill>
                          <a:effectLst/>
                          <a:latin typeface="+mn-lt"/>
                          <a:ea typeface="+mn-ea"/>
                          <a:cs typeface="+mn-cs"/>
                        </a:rPr>
                        <a:t>table2</a:t>
                      </a:r>
                      <a:r>
                        <a:rPr lang="en-US" sz="1000" dirty="0" smtClean="0"/>
                        <a:t/>
                      </a:r>
                      <a:br>
                        <a:rPr lang="en-US" sz="1000" dirty="0" smtClean="0"/>
                      </a:br>
                      <a:r>
                        <a:rPr lang="en-US" sz="1400" b="0" i="0" kern="1200" dirty="0" smtClean="0">
                          <a:solidFill>
                            <a:schemeClr val="lt1"/>
                          </a:solidFill>
                          <a:effectLst/>
                          <a:latin typeface="+mn-lt"/>
                          <a:ea typeface="+mn-ea"/>
                          <a:cs typeface="+mn-cs"/>
                        </a:rPr>
                        <a:t>ON </a:t>
                      </a:r>
                      <a:r>
                        <a:rPr lang="en-US" sz="1400" b="0" i="1" kern="1200" dirty="0" smtClean="0">
                          <a:solidFill>
                            <a:schemeClr val="lt1"/>
                          </a:solidFill>
                          <a:effectLst/>
                          <a:latin typeface="+mn-lt"/>
                          <a:ea typeface="+mn-ea"/>
                          <a:cs typeface="+mn-cs"/>
                        </a:rPr>
                        <a:t>table1.column_name</a:t>
                      </a:r>
                      <a:r>
                        <a:rPr lang="en-US" sz="1400" b="0" i="0" kern="1200" dirty="0" smtClean="0">
                          <a:solidFill>
                            <a:schemeClr val="lt1"/>
                          </a:solidFill>
                          <a:effectLst/>
                          <a:latin typeface="+mn-lt"/>
                          <a:ea typeface="+mn-ea"/>
                          <a:cs typeface="+mn-cs"/>
                        </a:rPr>
                        <a:t>=</a:t>
                      </a:r>
                      <a:r>
                        <a:rPr lang="en-US" sz="1400" b="0" i="1" kern="1200" dirty="0" smtClean="0">
                          <a:solidFill>
                            <a:schemeClr val="lt1"/>
                          </a:solidFill>
                          <a:effectLst/>
                          <a:latin typeface="+mn-lt"/>
                          <a:ea typeface="+mn-ea"/>
                          <a:cs typeface="+mn-cs"/>
                        </a:rPr>
                        <a:t>table2.column_name</a:t>
                      </a:r>
                      <a:r>
                        <a:rPr lang="en-US" sz="1400" b="0" i="0" kern="1200" dirty="0" smtClean="0">
                          <a:solidFill>
                            <a:schemeClr val="lt1"/>
                          </a:solidFill>
                          <a:effectLst/>
                          <a:latin typeface="+mn-lt"/>
                          <a:ea typeface="+mn-ea"/>
                          <a:cs typeface="+mn-cs"/>
                        </a:rPr>
                        <a:t>;</a:t>
                      </a:r>
                      <a:endParaRPr lang="en-US" sz="1000" dirty="0"/>
                    </a:p>
                  </a:txBody>
                  <a:tcPr marL="68580" marR="68580" marT="34290" marB="34290"/>
                </a:tc>
              </a:tr>
              <a:tr h="1956066">
                <a:tc>
                  <a:txBody>
                    <a:bodyPr/>
                    <a:lstStyle/>
                    <a:p>
                      <a:endParaRPr lang="en-US" sz="1000" dirty="0"/>
                    </a:p>
                  </a:txBody>
                  <a:tcPr marL="68580" marR="68580" marT="34290" marB="34290"/>
                </a:tc>
                <a:tc>
                  <a:txBody>
                    <a:bodyPr/>
                    <a:lstStyle/>
                    <a:p>
                      <a:endParaRPr lang="en-US" sz="1000" dirty="0"/>
                    </a:p>
                  </a:txBody>
                  <a:tcPr marL="68580" marR="68580" marT="34290" marB="34290"/>
                </a:tc>
              </a:tr>
            </a:tbl>
          </a:graphicData>
        </a:graphic>
      </p:graphicFrame>
      <p:pic>
        <p:nvPicPr>
          <p:cNvPr id="3" name="Picture 2"/>
          <p:cNvPicPr>
            <a:picLocks noChangeAspect="1"/>
          </p:cNvPicPr>
          <p:nvPr/>
        </p:nvPicPr>
        <p:blipFill>
          <a:blip r:embed="rId2"/>
          <a:stretch>
            <a:fillRect/>
          </a:stretch>
        </p:blipFill>
        <p:spPr>
          <a:xfrm>
            <a:off x="628650" y="3357613"/>
            <a:ext cx="7639586" cy="2035969"/>
          </a:xfrm>
          <a:prstGeom prst="rect">
            <a:avLst/>
          </a:prstGeom>
        </p:spPr>
      </p:pic>
    </p:spTree>
    <p:extLst>
      <p:ext uri="{BB962C8B-B14F-4D97-AF65-F5344CB8AC3E}">
        <p14:creationId xmlns:p14="http://schemas.microsoft.com/office/powerpoint/2010/main" val="2429838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Full Join - Demo</a:t>
            </a:r>
            <a:endParaRPr lang="en-US" dirty="0"/>
          </a:p>
        </p:txBody>
      </p:sp>
      <p:graphicFrame>
        <p:nvGraphicFramePr>
          <p:cNvPr id="4" name="Content Placeholder 3"/>
          <p:cNvGraphicFramePr>
            <a:graphicFrameLocks noGrp="1"/>
          </p:cNvGraphicFramePr>
          <p:nvPr>
            <p:ph idx="1"/>
            <p:extLst/>
          </p:nvPr>
        </p:nvGraphicFramePr>
        <p:xfrm>
          <a:off x="628650" y="1946991"/>
          <a:ext cx="7639588" cy="3383086"/>
        </p:xfrm>
        <a:graphic>
          <a:graphicData uri="http://schemas.openxmlformats.org/drawingml/2006/table">
            <a:tbl>
              <a:tblPr firstRow="1" bandRow="1">
                <a:tableStyleId>{5C22544A-7EE6-4342-B048-85BDC9FD1C3A}</a:tableStyleId>
              </a:tblPr>
              <a:tblGrid>
                <a:gridCol w="955469"/>
                <a:gridCol w="6684119"/>
              </a:tblGrid>
              <a:tr h="1427020">
                <a:tc>
                  <a:txBody>
                    <a:bodyPr/>
                    <a:lstStyle/>
                    <a:p>
                      <a:r>
                        <a:rPr lang="en-US" sz="1000" dirty="0" smtClean="0"/>
                        <a:t>Example</a:t>
                      </a:r>
                      <a:endParaRPr lang="en-US" sz="1000" dirty="0"/>
                    </a:p>
                  </a:txBody>
                  <a:tcPr marL="68580" marR="68580" marT="34290" marB="34290"/>
                </a:tc>
                <a:tc>
                  <a:txBody>
                    <a:bodyPr/>
                    <a:lstStyle/>
                    <a:p>
                      <a:r>
                        <a:rPr lang="en-US" sz="1400" b="0" i="0" kern="1200" dirty="0" smtClean="0">
                          <a:solidFill>
                            <a:schemeClr val="lt1"/>
                          </a:solidFill>
                          <a:effectLst/>
                          <a:latin typeface="+mn-lt"/>
                          <a:ea typeface="+mn-ea"/>
                          <a:cs typeface="+mn-cs"/>
                        </a:rPr>
                        <a:t>SELECT </a:t>
                      </a:r>
                      <a:r>
                        <a:rPr lang="en-US" sz="1400" b="0" i="1" kern="1200" dirty="0" smtClean="0">
                          <a:solidFill>
                            <a:schemeClr val="lt1"/>
                          </a:solidFill>
                          <a:effectLst/>
                          <a:latin typeface="+mn-lt"/>
                          <a:ea typeface="+mn-ea"/>
                          <a:cs typeface="+mn-cs"/>
                        </a:rPr>
                        <a:t>column_name(s)</a:t>
                      </a:r>
                      <a:r>
                        <a:rPr lang="en-US" sz="1000" dirty="0" smtClean="0"/>
                        <a:t/>
                      </a:r>
                      <a:br>
                        <a:rPr lang="en-US" sz="1000" dirty="0" smtClean="0"/>
                      </a:br>
                      <a:r>
                        <a:rPr lang="en-US" sz="1400" b="0" i="0" kern="1200" dirty="0" smtClean="0">
                          <a:solidFill>
                            <a:schemeClr val="lt1"/>
                          </a:solidFill>
                          <a:effectLst/>
                          <a:latin typeface="+mn-lt"/>
                          <a:ea typeface="+mn-ea"/>
                          <a:cs typeface="+mn-cs"/>
                        </a:rPr>
                        <a:t>FROM </a:t>
                      </a:r>
                      <a:r>
                        <a:rPr lang="en-US" sz="1400" b="0" i="1" kern="1200" dirty="0" smtClean="0">
                          <a:solidFill>
                            <a:schemeClr val="lt1"/>
                          </a:solidFill>
                          <a:effectLst/>
                          <a:latin typeface="+mn-lt"/>
                          <a:ea typeface="+mn-ea"/>
                          <a:cs typeface="+mn-cs"/>
                        </a:rPr>
                        <a:t>table1</a:t>
                      </a:r>
                      <a:r>
                        <a:rPr lang="en-US" sz="1000" dirty="0" smtClean="0"/>
                        <a:t/>
                      </a:r>
                      <a:br>
                        <a:rPr lang="en-US" sz="1000" dirty="0" smtClean="0"/>
                      </a:br>
                      <a:r>
                        <a:rPr lang="en-US" sz="1400" b="0" i="0" kern="1200" dirty="0" smtClean="0">
                          <a:solidFill>
                            <a:schemeClr val="lt1"/>
                          </a:solidFill>
                          <a:effectLst/>
                          <a:latin typeface="+mn-lt"/>
                          <a:ea typeface="+mn-ea"/>
                          <a:cs typeface="+mn-cs"/>
                        </a:rPr>
                        <a:t>FULL OUTER JOIN </a:t>
                      </a:r>
                      <a:r>
                        <a:rPr lang="en-US" sz="1400" b="0" i="1" kern="1200" dirty="0" smtClean="0">
                          <a:solidFill>
                            <a:schemeClr val="lt1"/>
                          </a:solidFill>
                          <a:effectLst/>
                          <a:latin typeface="+mn-lt"/>
                          <a:ea typeface="+mn-ea"/>
                          <a:cs typeface="+mn-cs"/>
                        </a:rPr>
                        <a:t>table2</a:t>
                      </a:r>
                      <a:r>
                        <a:rPr lang="en-US" sz="1000" dirty="0" smtClean="0"/>
                        <a:t/>
                      </a:r>
                      <a:br>
                        <a:rPr lang="en-US" sz="1000" dirty="0" smtClean="0"/>
                      </a:br>
                      <a:r>
                        <a:rPr lang="en-US" sz="1400" b="0" i="0" kern="1200" dirty="0" smtClean="0">
                          <a:solidFill>
                            <a:schemeClr val="lt1"/>
                          </a:solidFill>
                          <a:effectLst/>
                          <a:latin typeface="+mn-lt"/>
                          <a:ea typeface="+mn-ea"/>
                          <a:cs typeface="+mn-cs"/>
                        </a:rPr>
                        <a:t>ON </a:t>
                      </a:r>
                      <a:r>
                        <a:rPr lang="en-US" sz="1400" b="0" i="1" kern="1200" dirty="0" smtClean="0">
                          <a:solidFill>
                            <a:schemeClr val="lt1"/>
                          </a:solidFill>
                          <a:effectLst/>
                          <a:latin typeface="+mn-lt"/>
                          <a:ea typeface="+mn-ea"/>
                          <a:cs typeface="+mn-cs"/>
                        </a:rPr>
                        <a:t>table1.column_name</a:t>
                      </a:r>
                      <a:r>
                        <a:rPr lang="en-US" sz="1400" b="0" i="0" kern="1200" dirty="0" smtClean="0">
                          <a:solidFill>
                            <a:schemeClr val="lt1"/>
                          </a:solidFill>
                          <a:effectLst/>
                          <a:latin typeface="+mn-lt"/>
                          <a:ea typeface="+mn-ea"/>
                          <a:cs typeface="+mn-cs"/>
                        </a:rPr>
                        <a:t>=</a:t>
                      </a:r>
                      <a:r>
                        <a:rPr lang="en-US" sz="1400" b="0" i="1" kern="1200" dirty="0" smtClean="0">
                          <a:solidFill>
                            <a:schemeClr val="lt1"/>
                          </a:solidFill>
                          <a:effectLst/>
                          <a:latin typeface="+mn-lt"/>
                          <a:ea typeface="+mn-ea"/>
                          <a:cs typeface="+mn-cs"/>
                        </a:rPr>
                        <a:t>table2.column_name</a:t>
                      </a:r>
                      <a:r>
                        <a:rPr lang="en-US" sz="1400" b="0" i="0" kern="1200" dirty="0" smtClean="0">
                          <a:solidFill>
                            <a:schemeClr val="lt1"/>
                          </a:solidFill>
                          <a:effectLst/>
                          <a:latin typeface="+mn-lt"/>
                          <a:ea typeface="+mn-ea"/>
                          <a:cs typeface="+mn-cs"/>
                        </a:rPr>
                        <a:t>;</a:t>
                      </a:r>
                      <a:endParaRPr lang="en-US" sz="1000" dirty="0"/>
                    </a:p>
                  </a:txBody>
                  <a:tcPr marL="68580" marR="68580" marT="34290" marB="34290"/>
                </a:tc>
              </a:tr>
              <a:tr h="1956066">
                <a:tc>
                  <a:txBody>
                    <a:bodyPr/>
                    <a:lstStyle/>
                    <a:p>
                      <a:endParaRPr lang="en-US" sz="1000" dirty="0"/>
                    </a:p>
                  </a:txBody>
                  <a:tcPr marL="68580" marR="68580" marT="34290" marB="34290"/>
                </a:tc>
                <a:tc>
                  <a:txBody>
                    <a:bodyPr/>
                    <a:lstStyle/>
                    <a:p>
                      <a:endParaRPr lang="en-US" sz="1000" dirty="0"/>
                    </a:p>
                  </a:txBody>
                  <a:tcPr marL="68580" marR="68580" marT="34290" marB="34290"/>
                </a:tc>
              </a:tr>
            </a:tbl>
          </a:graphicData>
        </a:graphic>
      </p:graphicFrame>
      <p:pic>
        <p:nvPicPr>
          <p:cNvPr id="5" name="Picture 4"/>
          <p:cNvPicPr>
            <a:picLocks noChangeAspect="1"/>
          </p:cNvPicPr>
          <p:nvPr/>
        </p:nvPicPr>
        <p:blipFill>
          <a:blip r:embed="rId2"/>
          <a:stretch>
            <a:fillRect/>
          </a:stretch>
        </p:blipFill>
        <p:spPr>
          <a:xfrm>
            <a:off x="1558192" y="3453097"/>
            <a:ext cx="6665119" cy="1535906"/>
          </a:xfrm>
          <a:prstGeom prst="rect">
            <a:avLst/>
          </a:prstGeom>
        </p:spPr>
      </p:pic>
    </p:spTree>
    <p:extLst>
      <p:ext uri="{BB962C8B-B14F-4D97-AF65-F5344CB8AC3E}">
        <p14:creationId xmlns:p14="http://schemas.microsoft.com/office/powerpoint/2010/main" val="41094485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Self Join - Demo</a:t>
            </a:r>
            <a:endParaRPr lang="en-US" dirty="0"/>
          </a:p>
        </p:txBody>
      </p:sp>
      <p:graphicFrame>
        <p:nvGraphicFramePr>
          <p:cNvPr id="4" name="Content Placeholder 3"/>
          <p:cNvGraphicFramePr>
            <a:graphicFrameLocks noGrp="1"/>
          </p:cNvGraphicFramePr>
          <p:nvPr>
            <p:ph idx="1"/>
            <p:extLst/>
          </p:nvPr>
        </p:nvGraphicFramePr>
        <p:xfrm>
          <a:off x="628650" y="1946991"/>
          <a:ext cx="7639588" cy="3383086"/>
        </p:xfrm>
        <a:graphic>
          <a:graphicData uri="http://schemas.openxmlformats.org/drawingml/2006/table">
            <a:tbl>
              <a:tblPr firstRow="1" bandRow="1">
                <a:tableStyleId>{5C22544A-7EE6-4342-B048-85BDC9FD1C3A}</a:tableStyleId>
              </a:tblPr>
              <a:tblGrid>
                <a:gridCol w="955469"/>
                <a:gridCol w="6684119"/>
              </a:tblGrid>
              <a:tr h="1427020">
                <a:tc>
                  <a:txBody>
                    <a:bodyPr/>
                    <a:lstStyle/>
                    <a:p>
                      <a:r>
                        <a:rPr lang="en-US" sz="1000" dirty="0" smtClean="0"/>
                        <a:t>Example</a:t>
                      </a:r>
                      <a:endParaRPr lang="en-US" sz="1000" dirty="0"/>
                    </a:p>
                  </a:txBody>
                  <a:tcPr marL="68580" marR="68580" marT="34290" marB="34290"/>
                </a:tc>
                <a:tc>
                  <a:txBody>
                    <a:bodyPr/>
                    <a:lstStyle/>
                    <a:p>
                      <a:r>
                        <a:rPr lang="en-US" sz="1000" dirty="0" smtClean="0"/>
                        <a:t>SELECT G1.gid, G1.first_name, G1.last_name, G2.gid, G2.first_name, G2.last_name FROM </a:t>
                      </a:r>
                      <a:r>
                        <a:rPr lang="en-US" sz="1000" dirty="0" err="1" smtClean="0"/>
                        <a:t>Gardners</a:t>
                      </a:r>
                      <a:r>
                        <a:rPr lang="en-US" sz="1000" dirty="0" smtClean="0"/>
                        <a:t> G1 INNER JOIN </a:t>
                      </a:r>
                      <a:r>
                        <a:rPr lang="en-US" sz="1000" dirty="0" err="1" smtClean="0"/>
                        <a:t>Gardners</a:t>
                      </a:r>
                      <a:r>
                        <a:rPr lang="en-US" sz="1000" dirty="0" smtClean="0"/>
                        <a:t> G2 ON G1.first_name = G2.first_name</a:t>
                      </a:r>
                      <a:endParaRPr lang="en-US" sz="1000" dirty="0"/>
                    </a:p>
                  </a:txBody>
                  <a:tcPr marL="68580" marR="68580" marT="34290" marB="34290"/>
                </a:tc>
              </a:tr>
              <a:tr h="1956066">
                <a:tc>
                  <a:txBody>
                    <a:bodyPr/>
                    <a:lstStyle/>
                    <a:p>
                      <a:endParaRPr lang="en-US" sz="1000" dirty="0"/>
                    </a:p>
                  </a:txBody>
                  <a:tcPr marL="68580" marR="68580" marT="34290" marB="34290"/>
                </a:tc>
                <a:tc>
                  <a:txBody>
                    <a:bodyPr/>
                    <a:lstStyle/>
                    <a:p>
                      <a:endParaRPr lang="en-US" sz="1000" dirty="0"/>
                    </a:p>
                  </a:txBody>
                  <a:tcPr marL="68580" marR="68580" marT="34290" marB="34290"/>
                </a:tc>
              </a:tr>
            </a:tbl>
          </a:graphicData>
        </a:graphic>
      </p:graphicFrame>
      <p:pic>
        <p:nvPicPr>
          <p:cNvPr id="3" name="Picture 2"/>
          <p:cNvPicPr>
            <a:picLocks noChangeAspect="1"/>
          </p:cNvPicPr>
          <p:nvPr/>
        </p:nvPicPr>
        <p:blipFill>
          <a:blip r:embed="rId2"/>
          <a:stretch>
            <a:fillRect/>
          </a:stretch>
        </p:blipFill>
        <p:spPr>
          <a:xfrm>
            <a:off x="1080466" y="3530522"/>
            <a:ext cx="6789701" cy="736410"/>
          </a:xfrm>
          <a:prstGeom prst="rect">
            <a:avLst/>
          </a:prstGeom>
        </p:spPr>
      </p:pic>
    </p:spTree>
    <p:extLst>
      <p:ext uri="{BB962C8B-B14F-4D97-AF65-F5344CB8AC3E}">
        <p14:creationId xmlns:p14="http://schemas.microsoft.com/office/powerpoint/2010/main" val="40185703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Joining Three Tables</a:t>
            </a:r>
            <a:endParaRPr lang="en-US" dirty="0"/>
          </a:p>
        </p:txBody>
      </p:sp>
      <p:pic>
        <p:nvPicPr>
          <p:cNvPr id="6" name="Picture 5"/>
          <p:cNvPicPr>
            <a:picLocks noChangeAspect="1"/>
          </p:cNvPicPr>
          <p:nvPr/>
        </p:nvPicPr>
        <p:blipFill>
          <a:blip r:embed="rId2"/>
          <a:stretch>
            <a:fillRect/>
          </a:stretch>
        </p:blipFill>
        <p:spPr>
          <a:xfrm>
            <a:off x="628651" y="2443918"/>
            <a:ext cx="2078831" cy="1564481"/>
          </a:xfrm>
          <a:prstGeom prst="rect">
            <a:avLst/>
          </a:prstGeom>
        </p:spPr>
      </p:pic>
      <p:pic>
        <p:nvPicPr>
          <p:cNvPr id="7" name="Picture 6"/>
          <p:cNvPicPr>
            <a:picLocks noChangeAspect="1"/>
          </p:cNvPicPr>
          <p:nvPr/>
        </p:nvPicPr>
        <p:blipFill>
          <a:blip r:embed="rId3"/>
          <a:stretch>
            <a:fillRect/>
          </a:stretch>
        </p:blipFill>
        <p:spPr>
          <a:xfrm>
            <a:off x="6122194" y="2443917"/>
            <a:ext cx="2393156" cy="1343025"/>
          </a:xfrm>
          <a:prstGeom prst="rect">
            <a:avLst/>
          </a:prstGeom>
        </p:spPr>
      </p:pic>
      <p:pic>
        <p:nvPicPr>
          <p:cNvPr id="8" name="Picture 7"/>
          <p:cNvPicPr>
            <a:picLocks noChangeAspect="1"/>
          </p:cNvPicPr>
          <p:nvPr/>
        </p:nvPicPr>
        <p:blipFill>
          <a:blip r:embed="rId4"/>
          <a:stretch>
            <a:fillRect/>
          </a:stretch>
        </p:blipFill>
        <p:spPr>
          <a:xfrm>
            <a:off x="3275410" y="3463359"/>
            <a:ext cx="2278856" cy="1514475"/>
          </a:xfrm>
          <a:prstGeom prst="rect">
            <a:avLst/>
          </a:prstGeom>
        </p:spPr>
      </p:pic>
      <p:cxnSp>
        <p:nvCxnSpPr>
          <p:cNvPr id="12" name="Elbow Connector 11"/>
          <p:cNvCxnSpPr>
            <a:stCxn id="7" idx="1"/>
            <a:endCxn id="8" idx="3"/>
          </p:cNvCxnSpPr>
          <p:nvPr/>
        </p:nvCxnSpPr>
        <p:spPr>
          <a:xfrm rot="10800000" flipV="1">
            <a:off x="5554265" y="3115430"/>
            <a:ext cx="567929" cy="1105167"/>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4" name="Elbow Connector 13"/>
          <p:cNvCxnSpPr>
            <a:stCxn id="6" idx="3"/>
            <a:endCxn id="8" idx="1"/>
          </p:cNvCxnSpPr>
          <p:nvPr/>
        </p:nvCxnSpPr>
        <p:spPr>
          <a:xfrm>
            <a:off x="2707482" y="3226158"/>
            <a:ext cx="567928" cy="994439"/>
          </a:xfrm>
          <a:prstGeom prst="bentConnector3">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12379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Joining Three Tables</a:t>
            </a:r>
            <a:endParaRPr lang="en-US" dirty="0"/>
          </a:p>
        </p:txBody>
      </p:sp>
      <p:pic>
        <p:nvPicPr>
          <p:cNvPr id="6" name="Picture 5"/>
          <p:cNvPicPr>
            <a:picLocks noChangeAspect="1"/>
          </p:cNvPicPr>
          <p:nvPr/>
        </p:nvPicPr>
        <p:blipFill>
          <a:blip r:embed="rId2"/>
          <a:stretch>
            <a:fillRect/>
          </a:stretch>
        </p:blipFill>
        <p:spPr>
          <a:xfrm>
            <a:off x="674203" y="1989938"/>
            <a:ext cx="1654634" cy="1245240"/>
          </a:xfrm>
          <a:prstGeom prst="rect">
            <a:avLst/>
          </a:prstGeom>
        </p:spPr>
      </p:pic>
      <p:pic>
        <p:nvPicPr>
          <p:cNvPr id="7" name="Picture 6"/>
          <p:cNvPicPr>
            <a:picLocks noChangeAspect="1"/>
          </p:cNvPicPr>
          <p:nvPr/>
        </p:nvPicPr>
        <p:blipFill>
          <a:blip r:embed="rId3"/>
          <a:stretch>
            <a:fillRect/>
          </a:stretch>
        </p:blipFill>
        <p:spPr>
          <a:xfrm>
            <a:off x="6257422" y="2125266"/>
            <a:ext cx="1674833" cy="939906"/>
          </a:xfrm>
          <a:prstGeom prst="rect">
            <a:avLst/>
          </a:prstGeom>
        </p:spPr>
      </p:pic>
      <p:pic>
        <p:nvPicPr>
          <p:cNvPr id="8" name="Picture 7"/>
          <p:cNvPicPr>
            <a:picLocks noChangeAspect="1"/>
          </p:cNvPicPr>
          <p:nvPr/>
        </p:nvPicPr>
        <p:blipFill>
          <a:blip r:embed="rId4"/>
          <a:stretch>
            <a:fillRect/>
          </a:stretch>
        </p:blipFill>
        <p:spPr>
          <a:xfrm>
            <a:off x="3403431" y="2516243"/>
            <a:ext cx="1651967" cy="1097858"/>
          </a:xfrm>
          <a:prstGeom prst="rect">
            <a:avLst/>
          </a:prstGeom>
        </p:spPr>
      </p:pic>
      <p:cxnSp>
        <p:nvCxnSpPr>
          <p:cNvPr id="12" name="Elbow Connector 11"/>
          <p:cNvCxnSpPr>
            <a:stCxn id="7" idx="1"/>
            <a:endCxn id="8" idx="3"/>
          </p:cNvCxnSpPr>
          <p:nvPr/>
        </p:nvCxnSpPr>
        <p:spPr>
          <a:xfrm rot="10800000" flipV="1">
            <a:off x="5055398" y="2595219"/>
            <a:ext cx="1202025" cy="469953"/>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4" name="Elbow Connector 13"/>
          <p:cNvCxnSpPr>
            <a:stCxn id="6" idx="3"/>
            <a:endCxn id="8" idx="1"/>
          </p:cNvCxnSpPr>
          <p:nvPr/>
        </p:nvCxnSpPr>
        <p:spPr>
          <a:xfrm>
            <a:off x="2328837" y="2612557"/>
            <a:ext cx="1074594" cy="452615"/>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1687461" y="3646192"/>
            <a:ext cx="5334746" cy="507831"/>
          </a:xfrm>
          <a:prstGeom prst="rect">
            <a:avLst/>
          </a:prstGeom>
          <a:solidFill>
            <a:schemeClr val="accent2"/>
          </a:solidFill>
        </p:spPr>
        <p:txBody>
          <a:bodyPr wrap="square">
            <a:spAutoFit/>
          </a:bodyPr>
          <a:lstStyle/>
          <a:p>
            <a:r>
              <a:rPr lang="en-US" sz="1350" b="1" dirty="0"/>
              <a:t>SELECT</a:t>
            </a:r>
            <a:r>
              <a:rPr lang="en-US" sz="1350" dirty="0"/>
              <a:t> </a:t>
            </a:r>
            <a:r>
              <a:rPr lang="en-US" sz="1350" dirty="0" err="1"/>
              <a:t>emp_name</a:t>
            </a:r>
            <a:r>
              <a:rPr lang="en-US" sz="1350" dirty="0"/>
              <a:t>, </a:t>
            </a:r>
            <a:r>
              <a:rPr lang="en-US" sz="1350" dirty="0" err="1"/>
              <a:t>dept_name</a:t>
            </a:r>
            <a:r>
              <a:rPr lang="en-US" sz="1350" dirty="0"/>
              <a:t> </a:t>
            </a:r>
            <a:r>
              <a:rPr lang="en-US" sz="1350" b="1" dirty="0"/>
              <a:t>FROM</a:t>
            </a:r>
            <a:r>
              <a:rPr lang="en-US" sz="1350" dirty="0"/>
              <a:t> Employee e </a:t>
            </a:r>
            <a:r>
              <a:rPr lang="en-US" sz="1350" b="1" dirty="0"/>
              <a:t>JOIN</a:t>
            </a:r>
            <a:r>
              <a:rPr lang="en-US" sz="1350" dirty="0"/>
              <a:t> Register r ON </a:t>
            </a:r>
            <a:r>
              <a:rPr lang="en-US" sz="1350" dirty="0" err="1"/>
              <a:t>e.emp_id</a:t>
            </a:r>
            <a:r>
              <a:rPr lang="en-US" sz="1350" dirty="0"/>
              <a:t>=</a:t>
            </a:r>
            <a:r>
              <a:rPr lang="en-US" sz="1350" dirty="0" err="1"/>
              <a:t>r.emp_id</a:t>
            </a:r>
            <a:r>
              <a:rPr lang="en-US" sz="1350" dirty="0"/>
              <a:t> </a:t>
            </a:r>
            <a:r>
              <a:rPr lang="en-US" sz="1350" b="1" dirty="0"/>
              <a:t>JOIN</a:t>
            </a:r>
            <a:r>
              <a:rPr lang="en-US" sz="1350" dirty="0"/>
              <a:t> Department d </a:t>
            </a:r>
            <a:r>
              <a:rPr lang="en-US" sz="1350" b="1" dirty="0"/>
              <a:t>ON</a:t>
            </a:r>
            <a:r>
              <a:rPr lang="en-US" sz="1350" dirty="0"/>
              <a:t> </a:t>
            </a:r>
            <a:r>
              <a:rPr lang="en-US" sz="1350" dirty="0" err="1"/>
              <a:t>r.dept_id</a:t>
            </a:r>
            <a:r>
              <a:rPr lang="en-US" sz="1350" dirty="0"/>
              <a:t>=</a:t>
            </a:r>
            <a:r>
              <a:rPr lang="en-US" sz="1350" dirty="0" err="1"/>
              <a:t>d.dept_id</a:t>
            </a:r>
            <a:r>
              <a:rPr lang="en-US" sz="1350" dirty="0"/>
              <a:t>;</a:t>
            </a:r>
            <a:endParaRPr lang="en-US" sz="1350" dirty="0">
              <a:solidFill>
                <a:schemeClr val="bg1"/>
              </a:solidFill>
            </a:endParaRPr>
          </a:p>
        </p:txBody>
      </p:sp>
      <p:pic>
        <p:nvPicPr>
          <p:cNvPr id="19" name="Picture 18"/>
          <p:cNvPicPr>
            <a:picLocks noChangeAspect="1"/>
          </p:cNvPicPr>
          <p:nvPr/>
        </p:nvPicPr>
        <p:blipFill>
          <a:blip r:embed="rId5"/>
          <a:stretch>
            <a:fillRect/>
          </a:stretch>
        </p:blipFill>
        <p:spPr>
          <a:xfrm>
            <a:off x="3432724" y="4163030"/>
            <a:ext cx="1650206" cy="1314450"/>
          </a:xfrm>
          <a:prstGeom prst="rect">
            <a:avLst/>
          </a:prstGeom>
        </p:spPr>
      </p:pic>
    </p:spTree>
    <p:extLst>
      <p:ext uri="{BB962C8B-B14F-4D97-AF65-F5344CB8AC3E}">
        <p14:creationId xmlns:p14="http://schemas.microsoft.com/office/powerpoint/2010/main" val="35360268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GROUP BY Clause</a:t>
            </a:r>
            <a:endParaRPr lang="en-US" dirty="0"/>
          </a:p>
        </p:txBody>
      </p:sp>
      <p:graphicFrame>
        <p:nvGraphicFramePr>
          <p:cNvPr id="3" name="Diagram 2"/>
          <p:cNvGraphicFramePr/>
          <p:nvPr>
            <p:extLst>
              <p:ext uri="{D42A27DB-BD31-4B8C-83A1-F6EECF244321}">
                <p14:modId xmlns:p14="http://schemas.microsoft.com/office/powerpoint/2010/main" val="2179344276"/>
              </p:ext>
            </p:extLst>
          </p:nvPr>
        </p:nvGraphicFramePr>
        <p:xfrm>
          <a:off x="1021724" y="1948735"/>
          <a:ext cx="6782873" cy="34929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788169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Group By Clause</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990574300"/>
              </p:ext>
            </p:extLst>
          </p:nvPr>
        </p:nvGraphicFramePr>
        <p:xfrm>
          <a:off x="628648" y="2226468"/>
          <a:ext cx="7639588" cy="2986646"/>
        </p:xfrm>
        <a:graphic>
          <a:graphicData uri="http://schemas.openxmlformats.org/drawingml/2006/table">
            <a:tbl>
              <a:tblPr firstRow="1" bandRow="1">
                <a:tableStyleId>{5C22544A-7EE6-4342-B048-85BDC9FD1C3A}</a:tableStyleId>
              </a:tblPr>
              <a:tblGrid>
                <a:gridCol w="955469"/>
                <a:gridCol w="6684119"/>
              </a:tblGrid>
              <a:tr h="668964">
                <a:tc>
                  <a:txBody>
                    <a:bodyPr/>
                    <a:lstStyle/>
                    <a:p>
                      <a:r>
                        <a:rPr lang="en-US" sz="1000" dirty="0" smtClean="0"/>
                        <a:t>Syntax</a:t>
                      </a:r>
                      <a:endParaRPr lang="en-US" sz="1000" dirty="0"/>
                    </a:p>
                  </a:txBody>
                  <a:tcPr marL="68580" marR="68580" marT="34290" marB="34290"/>
                </a:tc>
                <a:tc>
                  <a:txBody>
                    <a:bodyPr/>
                    <a:lstStyle/>
                    <a:p>
                      <a:r>
                        <a:rPr lang="en-US" sz="1400" b="0" i="0" kern="1200" dirty="0" smtClean="0">
                          <a:solidFill>
                            <a:schemeClr val="lt1"/>
                          </a:solidFill>
                          <a:effectLst/>
                          <a:latin typeface="+mn-lt"/>
                          <a:ea typeface="+mn-ea"/>
                          <a:cs typeface="+mn-cs"/>
                        </a:rPr>
                        <a:t>SELECT column_name, </a:t>
                      </a:r>
                      <a:r>
                        <a:rPr lang="en-US" sz="1400" b="0" i="0" kern="1200" dirty="0" err="1" smtClean="0">
                          <a:solidFill>
                            <a:schemeClr val="lt1"/>
                          </a:solidFill>
                          <a:effectLst/>
                          <a:latin typeface="+mn-lt"/>
                          <a:ea typeface="+mn-ea"/>
                          <a:cs typeface="+mn-cs"/>
                        </a:rPr>
                        <a:t>aggregate_function</a:t>
                      </a:r>
                      <a:r>
                        <a:rPr lang="en-US" sz="1400" b="0" i="0" kern="1200" dirty="0" smtClean="0">
                          <a:solidFill>
                            <a:schemeClr val="lt1"/>
                          </a:solidFill>
                          <a:effectLst/>
                          <a:latin typeface="+mn-lt"/>
                          <a:ea typeface="+mn-ea"/>
                          <a:cs typeface="+mn-cs"/>
                        </a:rPr>
                        <a:t>(column_name)</a:t>
                      </a:r>
                      <a:r>
                        <a:rPr lang="en-US" sz="1000" dirty="0" smtClean="0"/>
                        <a:t/>
                      </a:r>
                      <a:br>
                        <a:rPr lang="en-US" sz="1000" dirty="0" smtClean="0"/>
                      </a:br>
                      <a:r>
                        <a:rPr lang="en-US" sz="1400" b="0" i="0" kern="1200" dirty="0" smtClean="0">
                          <a:solidFill>
                            <a:schemeClr val="lt1"/>
                          </a:solidFill>
                          <a:effectLst/>
                          <a:latin typeface="+mn-lt"/>
                          <a:ea typeface="+mn-ea"/>
                          <a:cs typeface="+mn-cs"/>
                        </a:rPr>
                        <a:t>FROM </a:t>
                      </a:r>
                      <a:r>
                        <a:rPr lang="en-US" sz="1400" b="0" i="0" kern="1200" dirty="0" err="1" smtClean="0">
                          <a:solidFill>
                            <a:schemeClr val="lt1"/>
                          </a:solidFill>
                          <a:effectLst/>
                          <a:latin typeface="+mn-lt"/>
                          <a:ea typeface="+mn-ea"/>
                          <a:cs typeface="+mn-cs"/>
                        </a:rPr>
                        <a:t>table_namecWHERE</a:t>
                      </a:r>
                      <a:r>
                        <a:rPr lang="en-US" sz="1400" b="0" i="0" kern="1200" dirty="0" smtClean="0">
                          <a:solidFill>
                            <a:schemeClr val="lt1"/>
                          </a:solidFill>
                          <a:effectLst/>
                          <a:latin typeface="+mn-lt"/>
                          <a:ea typeface="+mn-ea"/>
                          <a:cs typeface="+mn-cs"/>
                        </a:rPr>
                        <a:t> column_name operator </a:t>
                      </a:r>
                      <a:r>
                        <a:rPr lang="en-US" sz="1400" b="0" i="0" kern="1200" dirty="0" err="1" smtClean="0">
                          <a:solidFill>
                            <a:schemeClr val="lt1"/>
                          </a:solidFill>
                          <a:effectLst/>
                          <a:latin typeface="+mn-lt"/>
                          <a:ea typeface="+mn-ea"/>
                          <a:cs typeface="+mn-cs"/>
                        </a:rPr>
                        <a:t>valuecGROUP</a:t>
                      </a:r>
                      <a:r>
                        <a:rPr lang="en-US" sz="1400" b="0" i="0" kern="1200" dirty="0" smtClean="0">
                          <a:solidFill>
                            <a:schemeClr val="lt1"/>
                          </a:solidFill>
                          <a:effectLst/>
                          <a:latin typeface="+mn-lt"/>
                          <a:ea typeface="+mn-ea"/>
                          <a:cs typeface="+mn-cs"/>
                        </a:rPr>
                        <a:t> BY column_name;</a:t>
                      </a:r>
                      <a:endParaRPr lang="en-US" sz="1000" dirty="0"/>
                    </a:p>
                  </a:txBody>
                  <a:tcPr marL="68580" marR="68580" marT="34290" marB="34290"/>
                </a:tc>
              </a:tr>
              <a:tr h="2317682">
                <a:tc>
                  <a:txBody>
                    <a:bodyPr/>
                    <a:lstStyle/>
                    <a:p>
                      <a:r>
                        <a:rPr lang="en-US" sz="1000" dirty="0" smtClean="0"/>
                        <a:t>Result</a:t>
                      </a:r>
                      <a:endParaRPr lang="en-US" sz="1000" dirty="0"/>
                    </a:p>
                  </a:txBody>
                  <a:tcPr marL="68580" marR="68580" marT="34290" marB="34290"/>
                </a:tc>
                <a:tc>
                  <a:txBody>
                    <a:bodyPr/>
                    <a:lstStyle/>
                    <a:p>
                      <a:r>
                        <a:rPr lang="en-US" sz="3300" b="0" i="0" kern="1200" dirty="0" smtClean="0">
                          <a:solidFill>
                            <a:schemeClr val="dk1"/>
                          </a:solidFill>
                          <a:effectLst/>
                          <a:latin typeface="+mn-lt"/>
                          <a:ea typeface="+mn-ea"/>
                          <a:cs typeface="+mn-cs"/>
                        </a:rPr>
                        <a:t>The GROUP BY statement is used in conjunction with the aggregate functions to group the result-set by one or more columns.</a:t>
                      </a:r>
                      <a:endParaRPr lang="en-US" sz="3300" dirty="0"/>
                    </a:p>
                  </a:txBody>
                  <a:tcPr marL="68580" marR="68580" marT="34290" marB="34290"/>
                </a:tc>
              </a:tr>
            </a:tbl>
          </a:graphicData>
        </a:graphic>
      </p:graphicFrame>
    </p:spTree>
    <p:extLst>
      <p:ext uri="{BB962C8B-B14F-4D97-AF65-F5344CB8AC3E}">
        <p14:creationId xmlns:p14="http://schemas.microsoft.com/office/powerpoint/2010/main" val="28546972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Group By Clause</a:t>
            </a:r>
            <a:endParaRPr lang="en-US" dirty="0"/>
          </a:p>
        </p:txBody>
      </p:sp>
      <p:pic>
        <p:nvPicPr>
          <p:cNvPr id="6" name="Picture 5"/>
          <p:cNvPicPr>
            <a:picLocks noChangeAspect="1"/>
          </p:cNvPicPr>
          <p:nvPr/>
        </p:nvPicPr>
        <p:blipFill>
          <a:blip r:embed="rId2"/>
          <a:stretch>
            <a:fillRect/>
          </a:stretch>
        </p:blipFill>
        <p:spPr>
          <a:xfrm>
            <a:off x="856646" y="2125267"/>
            <a:ext cx="6657975" cy="1050131"/>
          </a:xfrm>
          <a:prstGeom prst="rect">
            <a:avLst/>
          </a:prstGeom>
        </p:spPr>
      </p:pic>
      <p:pic>
        <p:nvPicPr>
          <p:cNvPr id="7" name="Picture 6"/>
          <p:cNvPicPr>
            <a:picLocks noChangeAspect="1"/>
          </p:cNvPicPr>
          <p:nvPr/>
        </p:nvPicPr>
        <p:blipFill>
          <a:blip r:embed="rId3"/>
          <a:stretch>
            <a:fillRect/>
          </a:stretch>
        </p:blipFill>
        <p:spPr>
          <a:xfrm>
            <a:off x="1850232" y="3288238"/>
            <a:ext cx="6665119" cy="1028700"/>
          </a:xfrm>
          <a:prstGeom prst="rect">
            <a:avLst/>
          </a:prstGeom>
        </p:spPr>
      </p:pic>
      <p:pic>
        <p:nvPicPr>
          <p:cNvPr id="8" name="Picture 7"/>
          <p:cNvPicPr>
            <a:picLocks noChangeAspect="1"/>
          </p:cNvPicPr>
          <p:nvPr/>
        </p:nvPicPr>
        <p:blipFill>
          <a:blip r:embed="rId4"/>
          <a:stretch>
            <a:fillRect/>
          </a:stretch>
        </p:blipFill>
        <p:spPr>
          <a:xfrm>
            <a:off x="926776" y="4429779"/>
            <a:ext cx="6657975" cy="1035844"/>
          </a:xfrm>
          <a:prstGeom prst="rect">
            <a:avLst/>
          </a:prstGeom>
        </p:spPr>
      </p:pic>
    </p:spTree>
    <p:extLst>
      <p:ext uri="{BB962C8B-B14F-4D97-AF65-F5344CB8AC3E}">
        <p14:creationId xmlns:p14="http://schemas.microsoft.com/office/powerpoint/2010/main" val="8563769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Group By Clause</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71888694"/>
              </p:ext>
            </p:extLst>
          </p:nvPr>
        </p:nvGraphicFramePr>
        <p:xfrm>
          <a:off x="628648" y="2226468"/>
          <a:ext cx="7639588" cy="3199978"/>
        </p:xfrm>
        <a:graphic>
          <a:graphicData uri="http://schemas.openxmlformats.org/drawingml/2006/table">
            <a:tbl>
              <a:tblPr firstRow="1" bandRow="1">
                <a:tableStyleId>{5C22544A-7EE6-4342-B048-85BDC9FD1C3A}</a:tableStyleId>
              </a:tblPr>
              <a:tblGrid>
                <a:gridCol w="955469"/>
                <a:gridCol w="6684119"/>
              </a:tblGrid>
              <a:tr h="891540">
                <a:tc>
                  <a:txBody>
                    <a:bodyPr/>
                    <a:lstStyle/>
                    <a:p>
                      <a:r>
                        <a:rPr lang="en-US" sz="1000" dirty="0" smtClean="0"/>
                        <a:t>Syntax</a:t>
                      </a:r>
                      <a:endParaRPr lang="en-US" sz="1000" dirty="0"/>
                    </a:p>
                  </a:txBody>
                  <a:tcPr marL="68580" marR="68580" marT="34290" marB="34290"/>
                </a:tc>
                <a:tc>
                  <a:txBody>
                    <a:bodyPr/>
                    <a:lstStyle/>
                    <a:p>
                      <a:r>
                        <a:rPr lang="en-US" sz="1400" b="0" i="0" kern="1200" dirty="0" smtClean="0">
                          <a:solidFill>
                            <a:schemeClr val="lt1"/>
                          </a:solidFill>
                          <a:effectLst/>
                          <a:latin typeface="+mn-lt"/>
                          <a:ea typeface="+mn-ea"/>
                          <a:cs typeface="+mn-cs"/>
                        </a:rPr>
                        <a:t>SELECT </a:t>
                      </a:r>
                      <a:r>
                        <a:rPr lang="en-US" sz="1400" b="0" i="0" kern="1200" dirty="0" err="1" smtClean="0">
                          <a:solidFill>
                            <a:schemeClr val="lt1"/>
                          </a:solidFill>
                          <a:effectLst/>
                          <a:latin typeface="+mn-lt"/>
                          <a:ea typeface="+mn-ea"/>
                          <a:cs typeface="+mn-cs"/>
                        </a:rPr>
                        <a:t>Shippers.ShipperName,COUNT</a:t>
                      </a:r>
                      <a:r>
                        <a:rPr lang="en-US" sz="1400" b="0" i="0" kern="1200" dirty="0" smtClean="0">
                          <a:solidFill>
                            <a:schemeClr val="lt1"/>
                          </a:solidFill>
                          <a:effectLst/>
                          <a:latin typeface="+mn-lt"/>
                          <a:ea typeface="+mn-ea"/>
                          <a:cs typeface="+mn-cs"/>
                        </a:rPr>
                        <a:t>(Orders.OrderID) AS </a:t>
                      </a:r>
                      <a:r>
                        <a:rPr lang="en-US" sz="1400" b="0" i="0" kern="1200" dirty="0" err="1" smtClean="0">
                          <a:solidFill>
                            <a:schemeClr val="lt1"/>
                          </a:solidFill>
                          <a:effectLst/>
                          <a:latin typeface="+mn-lt"/>
                          <a:ea typeface="+mn-ea"/>
                          <a:cs typeface="+mn-cs"/>
                        </a:rPr>
                        <a:t>NumberOfOrders</a:t>
                      </a:r>
                      <a:r>
                        <a:rPr lang="en-US" sz="1400" b="0" i="0" kern="1200" dirty="0" smtClean="0">
                          <a:solidFill>
                            <a:schemeClr val="lt1"/>
                          </a:solidFill>
                          <a:effectLst/>
                          <a:latin typeface="+mn-lt"/>
                          <a:ea typeface="+mn-ea"/>
                          <a:cs typeface="+mn-cs"/>
                        </a:rPr>
                        <a:t> FROM Orders</a:t>
                      </a:r>
                      <a:r>
                        <a:rPr lang="en-US" sz="1000" dirty="0" smtClean="0"/>
                        <a:t/>
                      </a:r>
                      <a:br>
                        <a:rPr lang="en-US" sz="1000" dirty="0" smtClean="0"/>
                      </a:br>
                      <a:r>
                        <a:rPr lang="en-US" sz="1400" b="0" i="0" kern="1200" dirty="0" smtClean="0">
                          <a:solidFill>
                            <a:schemeClr val="lt1"/>
                          </a:solidFill>
                          <a:effectLst/>
                          <a:latin typeface="+mn-lt"/>
                          <a:ea typeface="+mn-ea"/>
                          <a:cs typeface="+mn-cs"/>
                        </a:rPr>
                        <a:t>LEFT JOIN Shippers</a:t>
                      </a:r>
                      <a:r>
                        <a:rPr lang="en-US" sz="1000" dirty="0" smtClean="0"/>
                        <a:t/>
                      </a:r>
                      <a:br>
                        <a:rPr lang="en-US" sz="1000" dirty="0" smtClean="0"/>
                      </a:br>
                      <a:r>
                        <a:rPr lang="en-US" sz="1400" b="0" i="0" kern="1200" dirty="0" smtClean="0">
                          <a:solidFill>
                            <a:schemeClr val="lt1"/>
                          </a:solidFill>
                          <a:effectLst/>
                          <a:latin typeface="+mn-lt"/>
                          <a:ea typeface="+mn-ea"/>
                          <a:cs typeface="+mn-cs"/>
                        </a:rPr>
                        <a:t>ON </a:t>
                      </a:r>
                      <a:r>
                        <a:rPr lang="en-US" sz="1400" b="0" i="0" kern="1200" dirty="0" err="1" smtClean="0">
                          <a:solidFill>
                            <a:schemeClr val="lt1"/>
                          </a:solidFill>
                          <a:effectLst/>
                          <a:latin typeface="+mn-lt"/>
                          <a:ea typeface="+mn-ea"/>
                          <a:cs typeface="+mn-cs"/>
                        </a:rPr>
                        <a:t>Orders.ShipperID</a:t>
                      </a:r>
                      <a:r>
                        <a:rPr lang="en-US" sz="1400" b="0" i="0" kern="1200" dirty="0" smtClean="0">
                          <a:solidFill>
                            <a:schemeClr val="lt1"/>
                          </a:solidFill>
                          <a:effectLst/>
                          <a:latin typeface="+mn-lt"/>
                          <a:ea typeface="+mn-ea"/>
                          <a:cs typeface="+mn-cs"/>
                        </a:rPr>
                        <a:t>=</a:t>
                      </a:r>
                      <a:r>
                        <a:rPr lang="en-US" sz="1400" b="0" i="0" kern="1200" dirty="0" err="1" smtClean="0">
                          <a:solidFill>
                            <a:schemeClr val="lt1"/>
                          </a:solidFill>
                          <a:effectLst/>
                          <a:latin typeface="+mn-lt"/>
                          <a:ea typeface="+mn-ea"/>
                          <a:cs typeface="+mn-cs"/>
                        </a:rPr>
                        <a:t>Shippers.ShipperID</a:t>
                      </a:r>
                      <a:r>
                        <a:rPr lang="en-US" sz="1000" dirty="0" smtClean="0"/>
                        <a:t/>
                      </a:r>
                      <a:br>
                        <a:rPr lang="en-US" sz="1000" dirty="0" smtClean="0"/>
                      </a:br>
                      <a:r>
                        <a:rPr lang="en-US" sz="1400" b="0" i="0" kern="1200" dirty="0" smtClean="0">
                          <a:solidFill>
                            <a:schemeClr val="lt1"/>
                          </a:solidFill>
                          <a:effectLst/>
                          <a:latin typeface="+mn-lt"/>
                          <a:ea typeface="+mn-ea"/>
                          <a:cs typeface="+mn-cs"/>
                        </a:rPr>
                        <a:t>GROUP BY </a:t>
                      </a:r>
                      <a:r>
                        <a:rPr lang="en-US" sz="1400" b="0" i="0" kern="1200" dirty="0" err="1" smtClean="0">
                          <a:solidFill>
                            <a:schemeClr val="lt1"/>
                          </a:solidFill>
                          <a:effectLst/>
                          <a:latin typeface="+mn-lt"/>
                          <a:ea typeface="+mn-ea"/>
                          <a:cs typeface="+mn-cs"/>
                        </a:rPr>
                        <a:t>ShipperName</a:t>
                      </a:r>
                      <a:r>
                        <a:rPr lang="en-US" sz="1400" b="0" i="0" kern="1200" dirty="0" smtClean="0">
                          <a:solidFill>
                            <a:schemeClr val="lt1"/>
                          </a:solidFill>
                          <a:effectLst/>
                          <a:latin typeface="+mn-lt"/>
                          <a:ea typeface="+mn-ea"/>
                          <a:cs typeface="+mn-cs"/>
                        </a:rPr>
                        <a:t>;</a:t>
                      </a:r>
                      <a:endParaRPr lang="en-US" sz="1000" dirty="0"/>
                    </a:p>
                  </a:txBody>
                  <a:tcPr marL="68580" marR="68580" marT="34290" marB="34290"/>
                </a:tc>
              </a:tr>
              <a:tr h="2308438">
                <a:tc>
                  <a:txBody>
                    <a:bodyPr/>
                    <a:lstStyle/>
                    <a:p>
                      <a:r>
                        <a:rPr lang="en-US" sz="1000" dirty="0" smtClean="0"/>
                        <a:t>Result</a:t>
                      </a:r>
                      <a:endParaRPr lang="en-US" sz="1000" dirty="0"/>
                    </a:p>
                  </a:txBody>
                  <a:tcPr marL="68580" marR="68580" marT="34290" marB="34290"/>
                </a:tc>
                <a:tc>
                  <a:txBody>
                    <a:bodyPr/>
                    <a:lstStyle/>
                    <a:p>
                      <a:endParaRPr lang="en-US" sz="1000" dirty="0"/>
                    </a:p>
                  </a:txBody>
                  <a:tcPr marL="68580" marR="68580" marT="34290" marB="34290"/>
                </a:tc>
              </a:tr>
            </a:tbl>
          </a:graphicData>
        </a:graphic>
      </p:graphicFrame>
      <p:pic>
        <p:nvPicPr>
          <p:cNvPr id="6" name="Picture 5"/>
          <p:cNvPicPr>
            <a:picLocks noChangeAspect="1"/>
          </p:cNvPicPr>
          <p:nvPr/>
        </p:nvPicPr>
        <p:blipFill>
          <a:blip r:embed="rId2"/>
          <a:stretch>
            <a:fillRect/>
          </a:stretch>
        </p:blipFill>
        <p:spPr>
          <a:xfrm>
            <a:off x="628651" y="3627969"/>
            <a:ext cx="7650956" cy="992981"/>
          </a:xfrm>
          <a:prstGeom prst="rect">
            <a:avLst/>
          </a:prstGeom>
        </p:spPr>
      </p:pic>
    </p:spTree>
    <p:extLst>
      <p:ext uri="{BB962C8B-B14F-4D97-AF65-F5344CB8AC3E}">
        <p14:creationId xmlns:p14="http://schemas.microsoft.com/office/powerpoint/2010/main" val="14002536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HAVING Clause</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544700851"/>
              </p:ext>
            </p:extLst>
          </p:nvPr>
        </p:nvGraphicFramePr>
        <p:xfrm>
          <a:off x="628648" y="2226468"/>
          <a:ext cx="7639588" cy="3414962"/>
        </p:xfrm>
        <a:graphic>
          <a:graphicData uri="http://schemas.openxmlformats.org/drawingml/2006/table">
            <a:tbl>
              <a:tblPr firstRow="1" bandRow="1">
                <a:tableStyleId>{5C22544A-7EE6-4342-B048-85BDC9FD1C3A}</a:tableStyleId>
              </a:tblPr>
              <a:tblGrid>
                <a:gridCol w="955469"/>
                <a:gridCol w="6684119"/>
              </a:tblGrid>
              <a:tr h="1097280">
                <a:tc>
                  <a:txBody>
                    <a:bodyPr/>
                    <a:lstStyle/>
                    <a:p>
                      <a:r>
                        <a:rPr lang="en-US" sz="1000" dirty="0" smtClean="0"/>
                        <a:t>Syntax</a:t>
                      </a:r>
                      <a:endParaRPr lang="en-US" sz="1000" dirty="0"/>
                    </a:p>
                  </a:txBody>
                  <a:tcPr marL="68580" marR="68580" marT="34290" marB="34290"/>
                </a:tc>
                <a:tc>
                  <a:txBody>
                    <a:bodyPr/>
                    <a:lstStyle/>
                    <a:p>
                      <a:r>
                        <a:rPr lang="en-US" sz="1400" b="0" i="0" kern="1200" dirty="0" smtClean="0">
                          <a:solidFill>
                            <a:schemeClr val="lt1"/>
                          </a:solidFill>
                          <a:effectLst/>
                          <a:latin typeface="+mn-lt"/>
                          <a:ea typeface="+mn-ea"/>
                          <a:cs typeface="+mn-cs"/>
                        </a:rPr>
                        <a:t>SELECT column_name, </a:t>
                      </a:r>
                      <a:r>
                        <a:rPr lang="en-US" sz="1400" b="0" i="0" kern="1200" dirty="0" err="1" smtClean="0">
                          <a:solidFill>
                            <a:schemeClr val="lt1"/>
                          </a:solidFill>
                          <a:effectLst/>
                          <a:latin typeface="+mn-lt"/>
                          <a:ea typeface="+mn-ea"/>
                          <a:cs typeface="+mn-cs"/>
                        </a:rPr>
                        <a:t>aggregate_function</a:t>
                      </a:r>
                      <a:r>
                        <a:rPr lang="en-US" sz="1400" b="0" i="0" kern="1200" dirty="0" smtClean="0">
                          <a:solidFill>
                            <a:schemeClr val="lt1"/>
                          </a:solidFill>
                          <a:effectLst/>
                          <a:latin typeface="+mn-lt"/>
                          <a:ea typeface="+mn-ea"/>
                          <a:cs typeface="+mn-cs"/>
                        </a:rPr>
                        <a:t>(column_name)</a:t>
                      </a:r>
                      <a:r>
                        <a:rPr lang="en-US" sz="1000" dirty="0" smtClean="0"/>
                        <a:t/>
                      </a:r>
                      <a:br>
                        <a:rPr lang="en-US" sz="1000" dirty="0" smtClean="0"/>
                      </a:br>
                      <a:r>
                        <a:rPr lang="en-US" sz="1400" b="0" i="0" kern="1200" dirty="0" smtClean="0">
                          <a:solidFill>
                            <a:schemeClr val="lt1"/>
                          </a:solidFill>
                          <a:effectLst/>
                          <a:latin typeface="+mn-lt"/>
                          <a:ea typeface="+mn-ea"/>
                          <a:cs typeface="+mn-cs"/>
                        </a:rPr>
                        <a:t>FROM </a:t>
                      </a:r>
                      <a:r>
                        <a:rPr lang="en-US" sz="1400" b="0" i="0" kern="1200" dirty="0" err="1" smtClean="0">
                          <a:solidFill>
                            <a:schemeClr val="lt1"/>
                          </a:solidFill>
                          <a:effectLst/>
                          <a:latin typeface="+mn-lt"/>
                          <a:ea typeface="+mn-ea"/>
                          <a:cs typeface="+mn-cs"/>
                        </a:rPr>
                        <a:t>table_name</a:t>
                      </a:r>
                      <a:r>
                        <a:rPr lang="en-US" sz="1000" dirty="0" smtClean="0"/>
                        <a:t/>
                      </a:r>
                      <a:br>
                        <a:rPr lang="en-US" sz="1000" dirty="0" smtClean="0"/>
                      </a:br>
                      <a:r>
                        <a:rPr lang="en-US" sz="1400" b="0" i="0" kern="1200" dirty="0" smtClean="0">
                          <a:solidFill>
                            <a:schemeClr val="lt1"/>
                          </a:solidFill>
                          <a:effectLst/>
                          <a:latin typeface="+mn-lt"/>
                          <a:ea typeface="+mn-ea"/>
                          <a:cs typeface="+mn-cs"/>
                        </a:rPr>
                        <a:t>WHERE column_name operator value</a:t>
                      </a:r>
                      <a:r>
                        <a:rPr lang="en-US" sz="1000" dirty="0" smtClean="0"/>
                        <a:t/>
                      </a:r>
                      <a:br>
                        <a:rPr lang="en-US" sz="1000" dirty="0" smtClean="0"/>
                      </a:br>
                      <a:r>
                        <a:rPr lang="en-US" sz="1400" b="0" i="0" kern="1200" dirty="0" smtClean="0">
                          <a:solidFill>
                            <a:schemeClr val="lt1"/>
                          </a:solidFill>
                          <a:effectLst/>
                          <a:latin typeface="+mn-lt"/>
                          <a:ea typeface="+mn-ea"/>
                          <a:cs typeface="+mn-cs"/>
                        </a:rPr>
                        <a:t>GROUP BY column_name</a:t>
                      </a:r>
                      <a:r>
                        <a:rPr lang="en-US" sz="1000" dirty="0" smtClean="0"/>
                        <a:t/>
                      </a:r>
                      <a:br>
                        <a:rPr lang="en-US" sz="1000" dirty="0" smtClean="0"/>
                      </a:br>
                      <a:r>
                        <a:rPr lang="en-US" sz="1400" b="0" i="0" kern="1200" dirty="0" smtClean="0">
                          <a:solidFill>
                            <a:schemeClr val="lt1"/>
                          </a:solidFill>
                          <a:effectLst/>
                          <a:latin typeface="+mn-lt"/>
                          <a:ea typeface="+mn-ea"/>
                          <a:cs typeface="+mn-cs"/>
                        </a:rPr>
                        <a:t>HAVING </a:t>
                      </a:r>
                      <a:r>
                        <a:rPr lang="en-US" sz="1400" b="0" i="0" kern="1200" dirty="0" err="1" smtClean="0">
                          <a:solidFill>
                            <a:schemeClr val="lt1"/>
                          </a:solidFill>
                          <a:effectLst/>
                          <a:latin typeface="+mn-lt"/>
                          <a:ea typeface="+mn-ea"/>
                          <a:cs typeface="+mn-cs"/>
                        </a:rPr>
                        <a:t>aggregate_function</a:t>
                      </a:r>
                      <a:r>
                        <a:rPr lang="en-US" sz="1400" b="0" i="0" kern="1200" dirty="0" smtClean="0">
                          <a:solidFill>
                            <a:schemeClr val="lt1"/>
                          </a:solidFill>
                          <a:effectLst/>
                          <a:latin typeface="+mn-lt"/>
                          <a:ea typeface="+mn-ea"/>
                          <a:cs typeface="+mn-cs"/>
                        </a:rPr>
                        <a:t>(column_name) operator value;</a:t>
                      </a:r>
                      <a:endParaRPr lang="en-US" sz="1000" dirty="0"/>
                    </a:p>
                  </a:txBody>
                  <a:tcPr marL="68580" marR="68580" marT="34290" marB="34290"/>
                </a:tc>
              </a:tr>
              <a:tr h="2317682">
                <a:tc>
                  <a:txBody>
                    <a:bodyPr/>
                    <a:lstStyle/>
                    <a:p>
                      <a:r>
                        <a:rPr lang="en-US" sz="1000" dirty="0" smtClean="0"/>
                        <a:t>Result</a:t>
                      </a:r>
                      <a:endParaRPr lang="en-US" sz="1000" dirty="0"/>
                    </a:p>
                  </a:txBody>
                  <a:tcPr marL="68580" marR="68580" marT="34290" marB="34290"/>
                </a:tc>
                <a:tc>
                  <a:txBody>
                    <a:bodyPr/>
                    <a:lstStyle/>
                    <a:p>
                      <a:r>
                        <a:rPr lang="en-US" sz="3300" b="0" i="0" kern="1200" dirty="0" smtClean="0">
                          <a:solidFill>
                            <a:schemeClr val="dk1"/>
                          </a:solidFill>
                          <a:effectLst/>
                          <a:latin typeface="+mn-lt"/>
                          <a:ea typeface="+mn-ea"/>
                          <a:cs typeface="+mn-cs"/>
                        </a:rPr>
                        <a:t>The HAVING clause was added to SQL because the WHERE keyword could not be used with aggregate functions.</a:t>
                      </a:r>
                      <a:endParaRPr lang="en-US" sz="6600" dirty="0"/>
                    </a:p>
                  </a:txBody>
                  <a:tcPr marL="68580" marR="68580" marT="34290" marB="34290"/>
                </a:tc>
              </a:tr>
            </a:tbl>
          </a:graphicData>
        </a:graphic>
      </p:graphicFrame>
    </p:spTree>
    <p:extLst>
      <p:ext uri="{BB962C8B-B14F-4D97-AF65-F5344CB8AC3E}">
        <p14:creationId xmlns:p14="http://schemas.microsoft.com/office/powerpoint/2010/main" val="24400989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HAVING Clause</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671801963"/>
              </p:ext>
            </p:extLst>
          </p:nvPr>
        </p:nvGraphicFramePr>
        <p:xfrm>
          <a:off x="628648" y="2226468"/>
          <a:ext cx="7639588" cy="3414962"/>
        </p:xfrm>
        <a:graphic>
          <a:graphicData uri="http://schemas.openxmlformats.org/drawingml/2006/table">
            <a:tbl>
              <a:tblPr firstRow="1" bandRow="1">
                <a:tableStyleId>{5C22544A-7EE6-4342-B048-85BDC9FD1C3A}</a:tableStyleId>
              </a:tblPr>
              <a:tblGrid>
                <a:gridCol w="955469"/>
                <a:gridCol w="6684119"/>
              </a:tblGrid>
              <a:tr h="1097280">
                <a:tc>
                  <a:txBody>
                    <a:bodyPr/>
                    <a:lstStyle/>
                    <a:p>
                      <a:r>
                        <a:rPr lang="en-US" sz="1000" dirty="0" smtClean="0"/>
                        <a:t>Syntax</a:t>
                      </a:r>
                      <a:endParaRPr lang="en-US" sz="1000" dirty="0"/>
                    </a:p>
                  </a:txBody>
                  <a:tcPr marL="68580" marR="68580" marT="34290" marB="34290"/>
                </a:tc>
                <a:tc>
                  <a:txBody>
                    <a:bodyPr/>
                    <a:lstStyle/>
                    <a:p>
                      <a:r>
                        <a:rPr lang="en-US" sz="1400" b="0" i="0" kern="1200" dirty="0" smtClean="0">
                          <a:solidFill>
                            <a:schemeClr val="lt1"/>
                          </a:solidFill>
                          <a:effectLst/>
                          <a:latin typeface="+mn-lt"/>
                          <a:ea typeface="+mn-ea"/>
                          <a:cs typeface="+mn-cs"/>
                        </a:rPr>
                        <a:t>SELECT </a:t>
                      </a:r>
                      <a:r>
                        <a:rPr lang="en-US" sz="1400" b="0" i="0" kern="1200" dirty="0" err="1" smtClean="0">
                          <a:solidFill>
                            <a:schemeClr val="lt1"/>
                          </a:solidFill>
                          <a:effectLst/>
                          <a:latin typeface="+mn-lt"/>
                          <a:ea typeface="+mn-ea"/>
                          <a:cs typeface="+mn-cs"/>
                        </a:rPr>
                        <a:t>Employees.LastName</a:t>
                      </a:r>
                      <a:r>
                        <a:rPr lang="en-US" sz="1400" b="0" i="0" kern="1200" dirty="0" smtClean="0">
                          <a:solidFill>
                            <a:schemeClr val="lt1"/>
                          </a:solidFill>
                          <a:effectLst/>
                          <a:latin typeface="+mn-lt"/>
                          <a:ea typeface="+mn-ea"/>
                          <a:cs typeface="+mn-cs"/>
                        </a:rPr>
                        <a:t>, COUNT(Orders.OrderID) AS </a:t>
                      </a:r>
                      <a:r>
                        <a:rPr lang="en-US" sz="1400" b="0" i="0" kern="1200" dirty="0" err="1" smtClean="0">
                          <a:solidFill>
                            <a:schemeClr val="lt1"/>
                          </a:solidFill>
                          <a:effectLst/>
                          <a:latin typeface="+mn-lt"/>
                          <a:ea typeface="+mn-ea"/>
                          <a:cs typeface="+mn-cs"/>
                        </a:rPr>
                        <a:t>NumberOfOrders</a:t>
                      </a:r>
                      <a:r>
                        <a:rPr lang="en-US" sz="1400" b="0" i="0" kern="1200" dirty="0" smtClean="0">
                          <a:solidFill>
                            <a:schemeClr val="lt1"/>
                          </a:solidFill>
                          <a:effectLst/>
                          <a:latin typeface="+mn-lt"/>
                          <a:ea typeface="+mn-ea"/>
                          <a:cs typeface="+mn-cs"/>
                        </a:rPr>
                        <a:t> FROM (Orders</a:t>
                      </a:r>
                      <a:r>
                        <a:rPr lang="en-US" sz="1000" dirty="0" smtClean="0"/>
                        <a:t/>
                      </a:r>
                      <a:br>
                        <a:rPr lang="en-US" sz="1000" dirty="0" smtClean="0"/>
                      </a:br>
                      <a:r>
                        <a:rPr lang="en-US" sz="1400" b="0" i="0" kern="1200" dirty="0" smtClean="0">
                          <a:solidFill>
                            <a:schemeClr val="lt1"/>
                          </a:solidFill>
                          <a:effectLst/>
                          <a:latin typeface="+mn-lt"/>
                          <a:ea typeface="+mn-ea"/>
                          <a:cs typeface="+mn-cs"/>
                        </a:rPr>
                        <a:t>INNER JOIN Employees</a:t>
                      </a:r>
                      <a:r>
                        <a:rPr lang="en-US" sz="1000" dirty="0" smtClean="0"/>
                        <a:t/>
                      </a:r>
                      <a:br>
                        <a:rPr lang="en-US" sz="1000" dirty="0" smtClean="0"/>
                      </a:br>
                      <a:r>
                        <a:rPr lang="en-US" sz="1400" b="0" i="0" kern="1200" dirty="0" smtClean="0">
                          <a:solidFill>
                            <a:schemeClr val="lt1"/>
                          </a:solidFill>
                          <a:effectLst/>
                          <a:latin typeface="+mn-lt"/>
                          <a:ea typeface="+mn-ea"/>
                          <a:cs typeface="+mn-cs"/>
                        </a:rPr>
                        <a:t>ON </a:t>
                      </a:r>
                      <a:r>
                        <a:rPr lang="en-US" sz="1400" b="0" i="0" kern="1200" dirty="0" err="1" smtClean="0">
                          <a:solidFill>
                            <a:schemeClr val="lt1"/>
                          </a:solidFill>
                          <a:effectLst/>
                          <a:latin typeface="+mn-lt"/>
                          <a:ea typeface="+mn-ea"/>
                          <a:cs typeface="+mn-cs"/>
                        </a:rPr>
                        <a:t>Orders.EmployeeID</a:t>
                      </a:r>
                      <a:r>
                        <a:rPr lang="en-US" sz="1400" b="0" i="0" kern="1200" dirty="0" smtClean="0">
                          <a:solidFill>
                            <a:schemeClr val="lt1"/>
                          </a:solidFill>
                          <a:effectLst/>
                          <a:latin typeface="+mn-lt"/>
                          <a:ea typeface="+mn-ea"/>
                          <a:cs typeface="+mn-cs"/>
                        </a:rPr>
                        <a:t>=</a:t>
                      </a:r>
                      <a:r>
                        <a:rPr lang="en-US" sz="1400" b="0" i="0" kern="1200" dirty="0" err="1" smtClean="0">
                          <a:solidFill>
                            <a:schemeClr val="lt1"/>
                          </a:solidFill>
                          <a:effectLst/>
                          <a:latin typeface="+mn-lt"/>
                          <a:ea typeface="+mn-ea"/>
                          <a:cs typeface="+mn-cs"/>
                        </a:rPr>
                        <a:t>Employees.EmployeeID</a:t>
                      </a:r>
                      <a:r>
                        <a:rPr lang="en-US" sz="1400" b="0" i="0" kern="1200" dirty="0" smtClean="0">
                          <a:solidFill>
                            <a:schemeClr val="lt1"/>
                          </a:solidFill>
                          <a:effectLst/>
                          <a:latin typeface="+mn-lt"/>
                          <a:ea typeface="+mn-ea"/>
                          <a:cs typeface="+mn-cs"/>
                        </a:rPr>
                        <a:t>)</a:t>
                      </a:r>
                      <a:r>
                        <a:rPr lang="en-US" sz="1000" dirty="0" smtClean="0"/>
                        <a:t/>
                      </a:r>
                      <a:br>
                        <a:rPr lang="en-US" sz="1000" dirty="0" smtClean="0"/>
                      </a:br>
                      <a:r>
                        <a:rPr lang="en-US" sz="1400" b="0" i="0" kern="1200" dirty="0" smtClean="0">
                          <a:solidFill>
                            <a:schemeClr val="lt1"/>
                          </a:solidFill>
                          <a:effectLst/>
                          <a:latin typeface="+mn-lt"/>
                          <a:ea typeface="+mn-ea"/>
                          <a:cs typeface="+mn-cs"/>
                        </a:rPr>
                        <a:t>GROUP BY </a:t>
                      </a:r>
                      <a:r>
                        <a:rPr lang="en-US" sz="1400" b="0" i="0" kern="1200" dirty="0" err="1" smtClean="0">
                          <a:solidFill>
                            <a:schemeClr val="lt1"/>
                          </a:solidFill>
                          <a:effectLst/>
                          <a:latin typeface="+mn-lt"/>
                          <a:ea typeface="+mn-ea"/>
                          <a:cs typeface="+mn-cs"/>
                        </a:rPr>
                        <a:t>LastName</a:t>
                      </a:r>
                      <a:r>
                        <a:rPr lang="en-US" sz="1000" dirty="0" smtClean="0"/>
                        <a:t/>
                      </a:r>
                      <a:br>
                        <a:rPr lang="en-US" sz="1000" dirty="0" smtClean="0"/>
                      </a:br>
                      <a:r>
                        <a:rPr lang="en-US" sz="1400" b="0" i="0" kern="1200" dirty="0" smtClean="0">
                          <a:solidFill>
                            <a:schemeClr val="lt1"/>
                          </a:solidFill>
                          <a:effectLst/>
                          <a:latin typeface="+mn-lt"/>
                          <a:ea typeface="+mn-ea"/>
                          <a:cs typeface="+mn-cs"/>
                        </a:rPr>
                        <a:t>HAVING COUNT(Orders.OrderID) &gt; 10;</a:t>
                      </a:r>
                      <a:endParaRPr lang="en-US" sz="1000" dirty="0"/>
                    </a:p>
                  </a:txBody>
                  <a:tcPr marL="68580" marR="68580" marT="34290" marB="34290"/>
                </a:tc>
              </a:tr>
              <a:tr h="2317682">
                <a:tc>
                  <a:txBody>
                    <a:bodyPr/>
                    <a:lstStyle/>
                    <a:p>
                      <a:r>
                        <a:rPr lang="en-US" sz="1000" dirty="0" smtClean="0"/>
                        <a:t>Result</a:t>
                      </a:r>
                      <a:endParaRPr lang="en-US" sz="1000" dirty="0"/>
                    </a:p>
                  </a:txBody>
                  <a:tcPr marL="68580" marR="68580" marT="34290" marB="34290"/>
                </a:tc>
                <a:tc>
                  <a:txBody>
                    <a:bodyPr/>
                    <a:lstStyle/>
                    <a:p>
                      <a:endParaRPr lang="en-US" sz="6600" dirty="0"/>
                    </a:p>
                  </a:txBody>
                  <a:tcPr marL="68580" marR="68580" marT="34290" marB="34290"/>
                </a:tc>
              </a:tr>
            </a:tbl>
          </a:graphicData>
        </a:graphic>
      </p:graphicFrame>
      <p:pic>
        <p:nvPicPr>
          <p:cNvPr id="3" name="Picture 2"/>
          <p:cNvPicPr>
            <a:picLocks noChangeAspect="1"/>
          </p:cNvPicPr>
          <p:nvPr/>
        </p:nvPicPr>
        <p:blipFill>
          <a:blip r:embed="rId2"/>
          <a:stretch>
            <a:fillRect/>
          </a:stretch>
        </p:blipFill>
        <p:spPr>
          <a:xfrm>
            <a:off x="657628" y="3797910"/>
            <a:ext cx="7550944" cy="1464469"/>
          </a:xfrm>
          <a:prstGeom prst="rect">
            <a:avLst/>
          </a:prstGeom>
        </p:spPr>
      </p:pic>
    </p:spTree>
    <p:extLst>
      <p:ext uri="{BB962C8B-B14F-4D97-AF65-F5344CB8AC3E}">
        <p14:creationId xmlns:p14="http://schemas.microsoft.com/office/powerpoint/2010/main" val="24632768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4" name="Rectangle 3"/>
          <p:cNvSpPr/>
          <p:nvPr/>
        </p:nvSpPr>
        <p:spPr>
          <a:xfrm>
            <a:off x="962696" y="1861638"/>
            <a:ext cx="7038303" cy="461665"/>
          </a:xfrm>
          <a:prstGeom prst="rect">
            <a:avLst/>
          </a:prstGeom>
          <a:solidFill>
            <a:schemeClr val="accent2"/>
          </a:solidFill>
          <a:ln w="76200">
            <a:solidFill>
              <a:schemeClr val="accent1">
                <a:lumMod val="75000"/>
              </a:schemeClr>
            </a:solidFill>
          </a:ln>
        </p:spPr>
        <p:txBody>
          <a:bodyPr wrap="square">
            <a:spAutoFit/>
          </a:bodyPr>
          <a:lstStyle/>
          <a:p>
            <a:pPr algn="ctr"/>
            <a:endParaRPr lang="en-US" sz="2400" dirty="0">
              <a:solidFill>
                <a:schemeClr val="bg1"/>
              </a:solidFill>
            </a:endParaRPr>
          </a:p>
        </p:txBody>
      </p:sp>
      <p:sp>
        <p:nvSpPr>
          <p:cNvPr id="5" name="Rectangle 4"/>
          <p:cNvSpPr/>
          <p:nvPr/>
        </p:nvSpPr>
        <p:spPr>
          <a:xfrm>
            <a:off x="962695" y="2657982"/>
            <a:ext cx="7038303" cy="461665"/>
          </a:xfrm>
          <a:prstGeom prst="rect">
            <a:avLst/>
          </a:prstGeom>
          <a:solidFill>
            <a:schemeClr val="accent2"/>
          </a:solidFill>
          <a:ln w="76200">
            <a:solidFill>
              <a:schemeClr val="accent1">
                <a:lumMod val="75000"/>
              </a:schemeClr>
            </a:solidFill>
          </a:ln>
        </p:spPr>
        <p:txBody>
          <a:bodyPr wrap="square">
            <a:spAutoFit/>
          </a:bodyPr>
          <a:lstStyle/>
          <a:p>
            <a:pPr algn="ctr"/>
            <a:endParaRPr lang="en-US" sz="2400" dirty="0">
              <a:solidFill>
                <a:schemeClr val="bg1"/>
              </a:solidFill>
            </a:endParaRPr>
          </a:p>
        </p:txBody>
      </p:sp>
      <p:sp>
        <p:nvSpPr>
          <p:cNvPr id="6" name="Rectangle 5"/>
          <p:cNvSpPr/>
          <p:nvPr/>
        </p:nvSpPr>
        <p:spPr>
          <a:xfrm>
            <a:off x="962695" y="3823658"/>
            <a:ext cx="7038303" cy="461665"/>
          </a:xfrm>
          <a:prstGeom prst="rect">
            <a:avLst/>
          </a:prstGeom>
          <a:solidFill>
            <a:schemeClr val="accent2"/>
          </a:solidFill>
          <a:ln w="76200">
            <a:solidFill>
              <a:schemeClr val="accent1">
                <a:lumMod val="75000"/>
              </a:schemeClr>
            </a:solidFill>
          </a:ln>
        </p:spPr>
        <p:txBody>
          <a:bodyPr wrap="square">
            <a:spAutoFit/>
          </a:bodyPr>
          <a:lstStyle/>
          <a:p>
            <a:pPr algn="ctr"/>
            <a:endParaRPr lang="en-US" sz="2400" dirty="0">
              <a:solidFill>
                <a:schemeClr val="bg1"/>
              </a:solidFill>
            </a:endParaRPr>
          </a:p>
        </p:txBody>
      </p:sp>
      <p:sp>
        <p:nvSpPr>
          <p:cNvPr id="7" name="Rectangle 6"/>
          <p:cNvSpPr/>
          <p:nvPr/>
        </p:nvSpPr>
        <p:spPr>
          <a:xfrm>
            <a:off x="962695" y="4656388"/>
            <a:ext cx="7038303" cy="461665"/>
          </a:xfrm>
          <a:prstGeom prst="rect">
            <a:avLst/>
          </a:prstGeom>
          <a:solidFill>
            <a:schemeClr val="accent2"/>
          </a:solidFill>
          <a:ln w="76200">
            <a:solidFill>
              <a:schemeClr val="accent1">
                <a:lumMod val="75000"/>
              </a:schemeClr>
            </a:solidFill>
          </a:ln>
        </p:spPr>
        <p:txBody>
          <a:bodyPr wrap="square">
            <a:spAutoFit/>
          </a:bodyPr>
          <a:lstStyle/>
          <a:p>
            <a:pPr algn="ctr"/>
            <a:endParaRPr lang="en-US" sz="2400" dirty="0">
              <a:solidFill>
                <a:schemeClr val="bg1"/>
              </a:solidFill>
            </a:endParaRPr>
          </a:p>
        </p:txBody>
      </p:sp>
      <p:sp>
        <p:nvSpPr>
          <p:cNvPr id="8" name="Rectangle 7"/>
          <p:cNvSpPr/>
          <p:nvPr/>
        </p:nvSpPr>
        <p:spPr>
          <a:xfrm>
            <a:off x="962695" y="5489118"/>
            <a:ext cx="7038303" cy="461665"/>
          </a:xfrm>
          <a:prstGeom prst="rect">
            <a:avLst/>
          </a:prstGeom>
          <a:solidFill>
            <a:schemeClr val="accent2"/>
          </a:solidFill>
          <a:ln w="76200">
            <a:solidFill>
              <a:schemeClr val="accent1">
                <a:lumMod val="75000"/>
              </a:schemeClr>
            </a:solidFill>
          </a:ln>
        </p:spPr>
        <p:txBody>
          <a:bodyPr wrap="square">
            <a:spAutoFit/>
          </a:bodyPr>
          <a:lstStyle/>
          <a:p>
            <a:pPr algn="ctr"/>
            <a:endParaRPr lang="en-US" sz="2400" dirty="0">
              <a:solidFill>
                <a:schemeClr val="bg1"/>
              </a:solidFill>
            </a:endParaRPr>
          </a:p>
        </p:txBody>
      </p:sp>
    </p:spTree>
    <p:extLst>
      <p:ext uri="{BB962C8B-B14F-4D97-AF65-F5344CB8AC3E}">
        <p14:creationId xmlns:p14="http://schemas.microsoft.com/office/powerpoint/2010/main" val="2335836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Laugh</a:t>
            </a:r>
            <a:endParaRPr lang="en-US" dirty="0"/>
          </a:p>
        </p:txBody>
      </p:sp>
      <p:pic>
        <p:nvPicPr>
          <p:cNvPr id="4" name="Picture 2" descr="https://lol.browserling.com/tabl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0777" y="1339404"/>
            <a:ext cx="5122604" cy="51226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313544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5878" y="4234507"/>
            <a:ext cx="7886700" cy="994172"/>
          </a:xfrm>
          <a:solidFill>
            <a:srgbClr val="FF9933"/>
          </a:solidFill>
        </p:spPr>
        <p:txBody>
          <a:bodyPr>
            <a:normAutofit/>
          </a:bodyPr>
          <a:lstStyle/>
          <a:p>
            <a:pPr algn="ctr"/>
            <a:r>
              <a:rPr lang="en-US" sz="3600" b="1" dirty="0">
                <a:solidFill>
                  <a:schemeClr val="bg1"/>
                </a:solidFill>
              </a:rPr>
              <a:t>End of Lecture for Week - </a:t>
            </a:r>
            <a:r>
              <a:rPr lang="en-US" sz="3600" b="1" dirty="0" smtClean="0">
                <a:solidFill>
                  <a:schemeClr val="bg1"/>
                </a:solidFill>
              </a:rPr>
              <a:t>5</a:t>
            </a:r>
            <a:endParaRPr lang="en-US" sz="3600" b="1" dirty="0">
              <a:solidFill>
                <a:schemeClr val="bg1"/>
              </a:solidFill>
            </a:endParaRPr>
          </a:p>
        </p:txBody>
      </p:sp>
      <p:pic>
        <p:nvPicPr>
          <p:cNvPr id="5122" name="Picture 2" descr="http://grasshopper.com/assets/img/jpg/thank-you-notes/card-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6844" y="1820780"/>
            <a:ext cx="2964767" cy="1976511"/>
          </a:xfrm>
          <a:prstGeom prst="rect">
            <a:avLst/>
          </a:prstGeom>
          <a:noFill/>
          <a:ln>
            <a:solidFill>
              <a:srgbClr val="FF9933"/>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6615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2102</TotalTime>
  <Words>533</Words>
  <Application>Microsoft Office PowerPoint</Application>
  <PresentationFormat>On-screen Show (4:3)</PresentationFormat>
  <Paragraphs>90</Paragraphs>
  <Slides>25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Calibri Light</vt:lpstr>
      <vt:lpstr>Times New Roman</vt:lpstr>
      <vt:lpstr>Verdana</vt:lpstr>
      <vt:lpstr>Office Theme</vt:lpstr>
      <vt:lpstr>An Introduction to Database</vt:lpstr>
      <vt:lpstr>SQL JOIN</vt:lpstr>
      <vt:lpstr>SQL JOINS</vt:lpstr>
      <vt:lpstr>JOINS</vt:lpstr>
      <vt:lpstr>Why should we JOIN tables ?</vt:lpstr>
      <vt:lpstr>JOIN - Types</vt:lpstr>
      <vt:lpstr>Example Tables</vt:lpstr>
      <vt:lpstr>Inner Join</vt:lpstr>
      <vt:lpstr>Inner Join - Syntax</vt:lpstr>
      <vt:lpstr>Inner Join - Demo</vt:lpstr>
      <vt:lpstr>Left Join - Demo</vt:lpstr>
      <vt:lpstr>Right Join - Demo</vt:lpstr>
      <vt:lpstr>Full Join - Demo</vt:lpstr>
      <vt:lpstr>Self Join - Demo</vt:lpstr>
      <vt:lpstr>Joining Three Tables</vt:lpstr>
      <vt:lpstr>Joining Three Tables</vt:lpstr>
      <vt:lpstr>GROUP BY Clause</vt:lpstr>
      <vt:lpstr>Group By Clause</vt:lpstr>
      <vt:lpstr>Group By Clause</vt:lpstr>
      <vt:lpstr>Group By Clause</vt:lpstr>
      <vt:lpstr>HAVING Clause</vt:lpstr>
      <vt:lpstr>HAVING Clause</vt:lpstr>
      <vt:lpstr>Key Points</vt:lpstr>
      <vt:lpstr>Laugh</vt:lpstr>
      <vt:lpstr>End of Lecture for Week - 5</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Database</dc:title>
  <dc:creator>Rohit</dc:creator>
  <cp:lastModifiedBy>Rohit</cp:lastModifiedBy>
  <cp:revision>395</cp:revision>
  <dcterms:created xsi:type="dcterms:W3CDTF">2016-03-01T04:18:16Z</dcterms:created>
  <dcterms:modified xsi:type="dcterms:W3CDTF">2016-07-02T09:39:57Z</dcterms:modified>
</cp:coreProperties>
</file>