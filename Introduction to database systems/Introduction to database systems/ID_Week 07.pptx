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360" r:id="rId2"/>
    <p:sldId id="257" r:id="rId3"/>
    <p:sldId id="320" r:id="rId4"/>
    <p:sldId id="331" r:id="rId5"/>
    <p:sldId id="342" r:id="rId6"/>
    <p:sldId id="343" r:id="rId7"/>
    <p:sldId id="332" r:id="rId8"/>
    <p:sldId id="344" r:id="rId9"/>
    <p:sldId id="345" r:id="rId10"/>
    <p:sldId id="346" r:id="rId11"/>
    <p:sldId id="348" r:id="rId12"/>
    <p:sldId id="349" r:id="rId13"/>
    <p:sldId id="350" r:id="rId14"/>
    <p:sldId id="351" r:id="rId15"/>
    <p:sldId id="352" r:id="rId16"/>
    <p:sldId id="353" r:id="rId17"/>
    <p:sldId id="354" r:id="rId18"/>
    <p:sldId id="355" r:id="rId19"/>
    <p:sldId id="356" r:id="rId20"/>
    <p:sldId id="357" r:id="rId21"/>
    <p:sldId id="358" r:id="rId22"/>
    <p:sldId id="361" r:id="rId23"/>
    <p:sldId id="362" r:id="rId24"/>
    <p:sldId id="363"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129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F03D4D-1392-4FAC-93D5-F8AA532AFF3A}" type="doc">
      <dgm:prSet loTypeId="urn:microsoft.com/office/officeart/2008/layout/VerticalCurvedList" loCatId="list" qsTypeId="urn:microsoft.com/office/officeart/2005/8/quickstyle/simple1" qsCatId="simple" csTypeId="urn:microsoft.com/office/officeart/2005/8/colors/colorful4" csCatId="colorful" phldr="1"/>
      <dgm:spPr/>
      <dgm:t>
        <a:bodyPr/>
        <a:lstStyle/>
        <a:p>
          <a:endParaRPr lang="en-US"/>
        </a:p>
      </dgm:t>
    </dgm:pt>
    <dgm:pt modelId="{70F68348-7BA1-4243-80A6-D430A85D819C}">
      <dgm:prSet phldrT="[Text]"/>
      <dgm:spPr/>
      <dgm:t>
        <a:bodyPr/>
        <a:lstStyle/>
        <a:p>
          <a:r>
            <a:rPr lang="en-US" dirty="0" smtClean="0"/>
            <a:t>ORDER BY Clauses</a:t>
          </a:r>
          <a:endParaRPr lang="en-US" dirty="0"/>
        </a:p>
      </dgm:t>
    </dgm:pt>
    <dgm:pt modelId="{2F04F65E-49B0-419B-865B-7E128A2EA072}" type="parTrans" cxnId="{851AAC8C-9CBF-42FD-97AF-1C7CE21BCF0A}">
      <dgm:prSet/>
      <dgm:spPr/>
      <dgm:t>
        <a:bodyPr/>
        <a:lstStyle/>
        <a:p>
          <a:endParaRPr lang="en-US"/>
        </a:p>
      </dgm:t>
    </dgm:pt>
    <dgm:pt modelId="{C000E651-2D16-469B-BE42-4C3B364AB813}" type="sibTrans" cxnId="{851AAC8C-9CBF-42FD-97AF-1C7CE21BCF0A}">
      <dgm:prSet/>
      <dgm:spPr/>
      <dgm:t>
        <a:bodyPr/>
        <a:lstStyle/>
        <a:p>
          <a:endParaRPr lang="en-US"/>
        </a:p>
      </dgm:t>
    </dgm:pt>
    <dgm:pt modelId="{20C4821B-D5D6-4119-9731-E7F2A32CBD79}">
      <dgm:prSet phldrT="[Text]"/>
      <dgm:spPr/>
      <dgm:t>
        <a:bodyPr/>
        <a:lstStyle/>
        <a:p>
          <a:r>
            <a:rPr lang="en-US" dirty="0" smtClean="0"/>
            <a:t>DISTINCT Clause</a:t>
          </a:r>
          <a:endParaRPr lang="en-US" dirty="0"/>
        </a:p>
      </dgm:t>
    </dgm:pt>
    <dgm:pt modelId="{44FFEFFD-AB99-4AEC-B0D9-87C8558F14EB}" type="parTrans" cxnId="{0A6A5584-58F5-4115-8AAC-A0EA1EA2321F}">
      <dgm:prSet/>
      <dgm:spPr/>
      <dgm:t>
        <a:bodyPr/>
        <a:lstStyle/>
        <a:p>
          <a:endParaRPr lang="en-US"/>
        </a:p>
      </dgm:t>
    </dgm:pt>
    <dgm:pt modelId="{C423561A-C1E5-4F75-A6C5-E49AEA9AC2B8}" type="sibTrans" cxnId="{0A6A5584-58F5-4115-8AAC-A0EA1EA2321F}">
      <dgm:prSet/>
      <dgm:spPr/>
      <dgm:t>
        <a:bodyPr/>
        <a:lstStyle/>
        <a:p>
          <a:endParaRPr lang="en-US"/>
        </a:p>
      </dgm:t>
    </dgm:pt>
    <dgm:pt modelId="{6C4D8159-CA82-47CC-8AAC-24EC7BB58712}">
      <dgm:prSet phldrT="[Text]"/>
      <dgm:spPr/>
      <dgm:t>
        <a:bodyPr/>
        <a:lstStyle/>
        <a:p>
          <a:r>
            <a:rPr lang="en-US" dirty="0" smtClean="0"/>
            <a:t>NULL value</a:t>
          </a:r>
          <a:endParaRPr lang="en-US" dirty="0"/>
        </a:p>
      </dgm:t>
    </dgm:pt>
    <dgm:pt modelId="{560D1F1D-36DE-40E0-B546-399AD2FBD6C9}" type="parTrans" cxnId="{CE623BB0-C0B6-4FE7-959F-AF127B8E1A2D}">
      <dgm:prSet/>
      <dgm:spPr/>
      <dgm:t>
        <a:bodyPr/>
        <a:lstStyle/>
        <a:p>
          <a:endParaRPr lang="en-US"/>
        </a:p>
      </dgm:t>
    </dgm:pt>
    <dgm:pt modelId="{7853F5D9-7940-4A77-91FD-21FCA57699C5}" type="sibTrans" cxnId="{CE623BB0-C0B6-4FE7-959F-AF127B8E1A2D}">
      <dgm:prSet/>
      <dgm:spPr/>
      <dgm:t>
        <a:bodyPr/>
        <a:lstStyle/>
        <a:p>
          <a:endParaRPr lang="en-US"/>
        </a:p>
      </dgm:t>
    </dgm:pt>
    <dgm:pt modelId="{B991B3BC-627D-46CC-A628-C468D5418597}" type="pres">
      <dgm:prSet presAssocID="{22F03D4D-1392-4FAC-93D5-F8AA532AFF3A}" presName="Name0" presStyleCnt="0">
        <dgm:presLayoutVars>
          <dgm:chMax val="7"/>
          <dgm:chPref val="7"/>
          <dgm:dir/>
        </dgm:presLayoutVars>
      </dgm:prSet>
      <dgm:spPr/>
      <dgm:t>
        <a:bodyPr/>
        <a:lstStyle/>
        <a:p>
          <a:endParaRPr lang="en-US"/>
        </a:p>
      </dgm:t>
    </dgm:pt>
    <dgm:pt modelId="{5FB46F13-59FE-42E8-B3B3-8A7F46193A8B}" type="pres">
      <dgm:prSet presAssocID="{22F03D4D-1392-4FAC-93D5-F8AA532AFF3A}" presName="Name1" presStyleCnt="0"/>
      <dgm:spPr/>
    </dgm:pt>
    <dgm:pt modelId="{AF92763A-5DE1-4541-BA8F-90DAF36171C8}" type="pres">
      <dgm:prSet presAssocID="{22F03D4D-1392-4FAC-93D5-F8AA532AFF3A}" presName="cycle" presStyleCnt="0"/>
      <dgm:spPr/>
    </dgm:pt>
    <dgm:pt modelId="{D633441A-1B74-4AA6-894A-4B0D44276CE0}" type="pres">
      <dgm:prSet presAssocID="{22F03D4D-1392-4FAC-93D5-F8AA532AFF3A}" presName="srcNode" presStyleLbl="node1" presStyleIdx="0" presStyleCnt="3"/>
      <dgm:spPr/>
    </dgm:pt>
    <dgm:pt modelId="{AED0408E-6582-4B01-AD74-689AB62DCDAE}" type="pres">
      <dgm:prSet presAssocID="{22F03D4D-1392-4FAC-93D5-F8AA532AFF3A}" presName="conn" presStyleLbl="parChTrans1D2" presStyleIdx="0" presStyleCnt="1"/>
      <dgm:spPr/>
      <dgm:t>
        <a:bodyPr/>
        <a:lstStyle/>
        <a:p>
          <a:endParaRPr lang="en-US"/>
        </a:p>
      </dgm:t>
    </dgm:pt>
    <dgm:pt modelId="{4B060B7E-B1B4-43CD-8749-7EA28716AD45}" type="pres">
      <dgm:prSet presAssocID="{22F03D4D-1392-4FAC-93D5-F8AA532AFF3A}" presName="extraNode" presStyleLbl="node1" presStyleIdx="0" presStyleCnt="3"/>
      <dgm:spPr/>
    </dgm:pt>
    <dgm:pt modelId="{7D7D352D-F336-444A-9ECB-DEA9644D9202}" type="pres">
      <dgm:prSet presAssocID="{22F03D4D-1392-4FAC-93D5-F8AA532AFF3A}" presName="dstNode" presStyleLbl="node1" presStyleIdx="0" presStyleCnt="3"/>
      <dgm:spPr/>
    </dgm:pt>
    <dgm:pt modelId="{2280B384-CC00-4566-9176-690D557EBCC2}" type="pres">
      <dgm:prSet presAssocID="{70F68348-7BA1-4243-80A6-D430A85D819C}" presName="text_1" presStyleLbl="node1" presStyleIdx="0" presStyleCnt="3">
        <dgm:presLayoutVars>
          <dgm:bulletEnabled val="1"/>
        </dgm:presLayoutVars>
      </dgm:prSet>
      <dgm:spPr/>
      <dgm:t>
        <a:bodyPr/>
        <a:lstStyle/>
        <a:p>
          <a:endParaRPr lang="en-US"/>
        </a:p>
      </dgm:t>
    </dgm:pt>
    <dgm:pt modelId="{1CC31124-8C77-4A12-B803-824A9F8DCE65}" type="pres">
      <dgm:prSet presAssocID="{70F68348-7BA1-4243-80A6-D430A85D819C}" presName="accent_1" presStyleCnt="0"/>
      <dgm:spPr/>
    </dgm:pt>
    <dgm:pt modelId="{2BBA3E43-F5A6-4154-A76B-4DD73EC77E10}" type="pres">
      <dgm:prSet presAssocID="{70F68348-7BA1-4243-80A6-D430A85D819C}" presName="accentRepeatNode" presStyleLbl="solidFgAcc1" presStyleIdx="0" presStyleCnt="3"/>
      <dgm:spPr/>
    </dgm:pt>
    <dgm:pt modelId="{D1745622-BE79-42FC-9C50-A6669D1767F2}" type="pres">
      <dgm:prSet presAssocID="{20C4821B-D5D6-4119-9731-E7F2A32CBD79}" presName="text_2" presStyleLbl="node1" presStyleIdx="1" presStyleCnt="3">
        <dgm:presLayoutVars>
          <dgm:bulletEnabled val="1"/>
        </dgm:presLayoutVars>
      </dgm:prSet>
      <dgm:spPr/>
      <dgm:t>
        <a:bodyPr/>
        <a:lstStyle/>
        <a:p>
          <a:endParaRPr lang="en-US"/>
        </a:p>
      </dgm:t>
    </dgm:pt>
    <dgm:pt modelId="{FFF2A25D-314B-4927-B4F4-1B61E7BE9778}" type="pres">
      <dgm:prSet presAssocID="{20C4821B-D5D6-4119-9731-E7F2A32CBD79}" presName="accent_2" presStyleCnt="0"/>
      <dgm:spPr/>
    </dgm:pt>
    <dgm:pt modelId="{582B57E9-C0F6-4FFC-9ABC-BC3A2993A59C}" type="pres">
      <dgm:prSet presAssocID="{20C4821B-D5D6-4119-9731-E7F2A32CBD79}" presName="accentRepeatNode" presStyleLbl="solidFgAcc1" presStyleIdx="1" presStyleCnt="3"/>
      <dgm:spPr/>
    </dgm:pt>
    <dgm:pt modelId="{52551EA3-7EBA-4CCA-AD33-7B8BFB2FFA94}" type="pres">
      <dgm:prSet presAssocID="{6C4D8159-CA82-47CC-8AAC-24EC7BB58712}" presName="text_3" presStyleLbl="node1" presStyleIdx="2" presStyleCnt="3">
        <dgm:presLayoutVars>
          <dgm:bulletEnabled val="1"/>
        </dgm:presLayoutVars>
      </dgm:prSet>
      <dgm:spPr/>
      <dgm:t>
        <a:bodyPr/>
        <a:lstStyle/>
        <a:p>
          <a:endParaRPr lang="en-US"/>
        </a:p>
      </dgm:t>
    </dgm:pt>
    <dgm:pt modelId="{9AB6B884-D769-440E-B4B8-179E369589B8}" type="pres">
      <dgm:prSet presAssocID="{6C4D8159-CA82-47CC-8AAC-24EC7BB58712}" presName="accent_3" presStyleCnt="0"/>
      <dgm:spPr/>
    </dgm:pt>
    <dgm:pt modelId="{E2CE3905-5FDD-422F-97A4-2161092EC16C}" type="pres">
      <dgm:prSet presAssocID="{6C4D8159-CA82-47CC-8AAC-24EC7BB58712}" presName="accentRepeatNode" presStyleLbl="solidFgAcc1" presStyleIdx="2" presStyleCnt="3"/>
      <dgm:spPr/>
    </dgm:pt>
  </dgm:ptLst>
  <dgm:cxnLst>
    <dgm:cxn modelId="{0A6A5584-58F5-4115-8AAC-A0EA1EA2321F}" srcId="{22F03D4D-1392-4FAC-93D5-F8AA532AFF3A}" destId="{20C4821B-D5D6-4119-9731-E7F2A32CBD79}" srcOrd="1" destOrd="0" parTransId="{44FFEFFD-AB99-4AEC-B0D9-87C8558F14EB}" sibTransId="{C423561A-C1E5-4F75-A6C5-E49AEA9AC2B8}"/>
    <dgm:cxn modelId="{CE623BB0-C0B6-4FE7-959F-AF127B8E1A2D}" srcId="{22F03D4D-1392-4FAC-93D5-F8AA532AFF3A}" destId="{6C4D8159-CA82-47CC-8AAC-24EC7BB58712}" srcOrd="2" destOrd="0" parTransId="{560D1F1D-36DE-40E0-B546-399AD2FBD6C9}" sibTransId="{7853F5D9-7940-4A77-91FD-21FCA57699C5}"/>
    <dgm:cxn modelId="{4998F868-3162-4CD0-9DB6-60A23A4C4BF7}" type="presOf" srcId="{22F03D4D-1392-4FAC-93D5-F8AA532AFF3A}" destId="{B991B3BC-627D-46CC-A628-C468D5418597}" srcOrd="0" destOrd="0" presId="urn:microsoft.com/office/officeart/2008/layout/VerticalCurvedList"/>
    <dgm:cxn modelId="{DB23AA8C-A8E1-45EC-8011-9FF07751D3C8}" type="presOf" srcId="{6C4D8159-CA82-47CC-8AAC-24EC7BB58712}" destId="{52551EA3-7EBA-4CCA-AD33-7B8BFB2FFA94}" srcOrd="0" destOrd="0" presId="urn:microsoft.com/office/officeart/2008/layout/VerticalCurvedList"/>
    <dgm:cxn modelId="{3FDFA291-D84A-4AC7-855D-35227D3B6BBC}" type="presOf" srcId="{70F68348-7BA1-4243-80A6-D430A85D819C}" destId="{2280B384-CC00-4566-9176-690D557EBCC2}" srcOrd="0" destOrd="0" presId="urn:microsoft.com/office/officeart/2008/layout/VerticalCurvedList"/>
    <dgm:cxn modelId="{851AAC8C-9CBF-42FD-97AF-1C7CE21BCF0A}" srcId="{22F03D4D-1392-4FAC-93D5-F8AA532AFF3A}" destId="{70F68348-7BA1-4243-80A6-D430A85D819C}" srcOrd="0" destOrd="0" parTransId="{2F04F65E-49B0-419B-865B-7E128A2EA072}" sibTransId="{C000E651-2D16-469B-BE42-4C3B364AB813}"/>
    <dgm:cxn modelId="{270D4865-66F2-4A45-A25F-AFB1EF26712B}" type="presOf" srcId="{20C4821B-D5D6-4119-9731-E7F2A32CBD79}" destId="{D1745622-BE79-42FC-9C50-A6669D1767F2}" srcOrd="0" destOrd="0" presId="urn:microsoft.com/office/officeart/2008/layout/VerticalCurvedList"/>
    <dgm:cxn modelId="{18508029-461F-4AB9-B917-42316E6593BA}" type="presOf" srcId="{C000E651-2D16-469B-BE42-4C3B364AB813}" destId="{AED0408E-6582-4B01-AD74-689AB62DCDAE}" srcOrd="0" destOrd="0" presId="urn:microsoft.com/office/officeart/2008/layout/VerticalCurvedList"/>
    <dgm:cxn modelId="{97C4065C-A5E7-4986-BE68-7B02F0C62831}" type="presParOf" srcId="{B991B3BC-627D-46CC-A628-C468D5418597}" destId="{5FB46F13-59FE-42E8-B3B3-8A7F46193A8B}" srcOrd="0" destOrd="0" presId="urn:microsoft.com/office/officeart/2008/layout/VerticalCurvedList"/>
    <dgm:cxn modelId="{71F17D38-855A-4D4F-9E6A-7B1A5265A514}" type="presParOf" srcId="{5FB46F13-59FE-42E8-B3B3-8A7F46193A8B}" destId="{AF92763A-5DE1-4541-BA8F-90DAF36171C8}" srcOrd="0" destOrd="0" presId="urn:microsoft.com/office/officeart/2008/layout/VerticalCurvedList"/>
    <dgm:cxn modelId="{CB0F1F77-DF55-46D8-A6D6-6B74545D8C9E}" type="presParOf" srcId="{AF92763A-5DE1-4541-BA8F-90DAF36171C8}" destId="{D633441A-1B74-4AA6-894A-4B0D44276CE0}" srcOrd="0" destOrd="0" presId="urn:microsoft.com/office/officeart/2008/layout/VerticalCurvedList"/>
    <dgm:cxn modelId="{63E7D00A-FA03-41A2-B3D8-B335F1CA4760}" type="presParOf" srcId="{AF92763A-5DE1-4541-BA8F-90DAF36171C8}" destId="{AED0408E-6582-4B01-AD74-689AB62DCDAE}" srcOrd="1" destOrd="0" presId="urn:microsoft.com/office/officeart/2008/layout/VerticalCurvedList"/>
    <dgm:cxn modelId="{ADB4A42A-B7D1-4E35-897B-7F2B9D6D9071}" type="presParOf" srcId="{AF92763A-5DE1-4541-BA8F-90DAF36171C8}" destId="{4B060B7E-B1B4-43CD-8749-7EA28716AD45}" srcOrd="2" destOrd="0" presId="urn:microsoft.com/office/officeart/2008/layout/VerticalCurvedList"/>
    <dgm:cxn modelId="{C93409B1-672F-4543-AAD5-D3681C907F92}" type="presParOf" srcId="{AF92763A-5DE1-4541-BA8F-90DAF36171C8}" destId="{7D7D352D-F336-444A-9ECB-DEA9644D9202}" srcOrd="3" destOrd="0" presId="urn:microsoft.com/office/officeart/2008/layout/VerticalCurvedList"/>
    <dgm:cxn modelId="{71B77F70-A463-4A4E-B9ED-D8778C4ECABB}" type="presParOf" srcId="{5FB46F13-59FE-42E8-B3B3-8A7F46193A8B}" destId="{2280B384-CC00-4566-9176-690D557EBCC2}" srcOrd="1" destOrd="0" presId="urn:microsoft.com/office/officeart/2008/layout/VerticalCurvedList"/>
    <dgm:cxn modelId="{C025C53E-388C-41DB-ACB5-9B35E3FFA375}" type="presParOf" srcId="{5FB46F13-59FE-42E8-B3B3-8A7F46193A8B}" destId="{1CC31124-8C77-4A12-B803-824A9F8DCE65}" srcOrd="2" destOrd="0" presId="urn:microsoft.com/office/officeart/2008/layout/VerticalCurvedList"/>
    <dgm:cxn modelId="{4029E73C-051D-4284-8E33-177FA99E9A92}" type="presParOf" srcId="{1CC31124-8C77-4A12-B803-824A9F8DCE65}" destId="{2BBA3E43-F5A6-4154-A76B-4DD73EC77E10}" srcOrd="0" destOrd="0" presId="urn:microsoft.com/office/officeart/2008/layout/VerticalCurvedList"/>
    <dgm:cxn modelId="{FE962A0F-B7CE-4550-B95D-AA4AECF3B935}" type="presParOf" srcId="{5FB46F13-59FE-42E8-B3B3-8A7F46193A8B}" destId="{D1745622-BE79-42FC-9C50-A6669D1767F2}" srcOrd="3" destOrd="0" presId="urn:microsoft.com/office/officeart/2008/layout/VerticalCurvedList"/>
    <dgm:cxn modelId="{5890F37C-C16F-4D82-BB7E-D66A368FBCF9}" type="presParOf" srcId="{5FB46F13-59FE-42E8-B3B3-8A7F46193A8B}" destId="{FFF2A25D-314B-4927-B4F4-1B61E7BE9778}" srcOrd="4" destOrd="0" presId="urn:microsoft.com/office/officeart/2008/layout/VerticalCurvedList"/>
    <dgm:cxn modelId="{6CBB3510-3639-4849-A0E4-88F1F2EE1D55}" type="presParOf" srcId="{FFF2A25D-314B-4927-B4F4-1B61E7BE9778}" destId="{582B57E9-C0F6-4FFC-9ABC-BC3A2993A59C}" srcOrd="0" destOrd="0" presId="urn:microsoft.com/office/officeart/2008/layout/VerticalCurvedList"/>
    <dgm:cxn modelId="{25C55FED-4BAB-4C4B-B2A2-5EFE677D031B}" type="presParOf" srcId="{5FB46F13-59FE-42E8-B3B3-8A7F46193A8B}" destId="{52551EA3-7EBA-4CCA-AD33-7B8BFB2FFA94}" srcOrd="5" destOrd="0" presId="urn:microsoft.com/office/officeart/2008/layout/VerticalCurvedList"/>
    <dgm:cxn modelId="{DA94FF32-9B05-4E70-B0EE-245C39BA9451}" type="presParOf" srcId="{5FB46F13-59FE-42E8-B3B3-8A7F46193A8B}" destId="{9AB6B884-D769-440E-B4B8-179E369589B8}" srcOrd="6" destOrd="0" presId="urn:microsoft.com/office/officeart/2008/layout/VerticalCurvedList"/>
    <dgm:cxn modelId="{52042F2A-0C13-4E47-ADA1-81C5EC8B7404}" type="presParOf" srcId="{9AB6B884-D769-440E-B4B8-179E369589B8}" destId="{E2CE3905-5FDD-422F-97A4-2161092EC16C}"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E1ADFDA-37C4-4974-BEBB-7CF38CE08BD5}" type="doc">
      <dgm:prSet loTypeId="urn:microsoft.com/office/officeart/2008/layout/VerticalCurvedList" loCatId="list" qsTypeId="urn:microsoft.com/office/officeart/2005/8/quickstyle/simple1" qsCatId="simple" csTypeId="urn:microsoft.com/office/officeart/2005/8/colors/colorful3" csCatId="colorful" phldr="1"/>
      <dgm:spPr/>
      <dgm:t>
        <a:bodyPr/>
        <a:lstStyle/>
        <a:p>
          <a:endParaRPr lang="en-US"/>
        </a:p>
      </dgm:t>
    </dgm:pt>
    <dgm:pt modelId="{9FFD7FB1-B5E9-4AD8-B6F9-C0063A38C63E}">
      <dgm:prSet phldrT="[Text]"/>
      <dgm:spPr/>
      <dgm:t>
        <a:bodyPr/>
        <a:lstStyle/>
        <a:p>
          <a:r>
            <a:rPr lang="en-US" dirty="0" smtClean="0"/>
            <a:t>Primary Key</a:t>
          </a:r>
          <a:endParaRPr lang="en-US" dirty="0"/>
        </a:p>
      </dgm:t>
    </dgm:pt>
    <dgm:pt modelId="{EC69F842-7257-4E7C-94E4-E4A128D8137F}" type="parTrans" cxnId="{717E5CBB-7368-497C-BC02-423B47841A72}">
      <dgm:prSet/>
      <dgm:spPr/>
      <dgm:t>
        <a:bodyPr/>
        <a:lstStyle/>
        <a:p>
          <a:endParaRPr lang="en-US"/>
        </a:p>
      </dgm:t>
    </dgm:pt>
    <dgm:pt modelId="{43E4AC49-35C2-45D5-B026-9734BD44BC77}" type="sibTrans" cxnId="{717E5CBB-7368-497C-BC02-423B47841A72}">
      <dgm:prSet/>
      <dgm:spPr/>
      <dgm:t>
        <a:bodyPr/>
        <a:lstStyle/>
        <a:p>
          <a:endParaRPr lang="en-US"/>
        </a:p>
      </dgm:t>
    </dgm:pt>
    <dgm:pt modelId="{A12F177D-1656-40E2-8567-5029037F4861}">
      <dgm:prSet phldrT="[Text]"/>
      <dgm:spPr/>
      <dgm:t>
        <a:bodyPr/>
        <a:lstStyle/>
        <a:p>
          <a:r>
            <a:rPr lang="en-US" dirty="0" smtClean="0"/>
            <a:t>Foreign Key</a:t>
          </a:r>
          <a:endParaRPr lang="en-US" dirty="0"/>
        </a:p>
      </dgm:t>
    </dgm:pt>
    <dgm:pt modelId="{42FBB3A1-9FF3-4D78-8D84-6FA2596C42C4}" type="parTrans" cxnId="{5A4369FF-F4D5-4F55-B416-26B0F1024E25}">
      <dgm:prSet/>
      <dgm:spPr/>
      <dgm:t>
        <a:bodyPr/>
        <a:lstStyle/>
        <a:p>
          <a:endParaRPr lang="en-US"/>
        </a:p>
      </dgm:t>
    </dgm:pt>
    <dgm:pt modelId="{4C2B2746-29AE-4F9A-82FA-F1DD0C1FD6FE}" type="sibTrans" cxnId="{5A4369FF-F4D5-4F55-B416-26B0F1024E25}">
      <dgm:prSet/>
      <dgm:spPr/>
      <dgm:t>
        <a:bodyPr/>
        <a:lstStyle/>
        <a:p>
          <a:endParaRPr lang="en-US"/>
        </a:p>
      </dgm:t>
    </dgm:pt>
    <dgm:pt modelId="{4CBAAB3D-8D14-401C-AB08-ED47825A5DF1}">
      <dgm:prSet phldrT="[Text]"/>
      <dgm:spPr/>
      <dgm:t>
        <a:bodyPr/>
        <a:lstStyle/>
        <a:p>
          <a:r>
            <a:rPr lang="en-US" dirty="0" smtClean="0"/>
            <a:t>Check</a:t>
          </a:r>
          <a:endParaRPr lang="en-US" dirty="0"/>
        </a:p>
      </dgm:t>
    </dgm:pt>
    <dgm:pt modelId="{1A250217-4CA3-4A43-ABF8-05905C1077E6}" type="parTrans" cxnId="{901FC324-EDA0-4C3C-8893-993A01ECD01E}">
      <dgm:prSet/>
      <dgm:spPr/>
      <dgm:t>
        <a:bodyPr/>
        <a:lstStyle/>
        <a:p>
          <a:endParaRPr lang="en-US"/>
        </a:p>
      </dgm:t>
    </dgm:pt>
    <dgm:pt modelId="{0E41E348-30F7-45B8-9641-B74038B0D7B7}" type="sibTrans" cxnId="{901FC324-EDA0-4C3C-8893-993A01ECD01E}">
      <dgm:prSet/>
      <dgm:spPr/>
      <dgm:t>
        <a:bodyPr/>
        <a:lstStyle/>
        <a:p>
          <a:endParaRPr lang="en-US"/>
        </a:p>
      </dgm:t>
    </dgm:pt>
    <dgm:pt modelId="{65CC338C-EC52-4BB8-A29B-E9A2CF0717BF}" type="pres">
      <dgm:prSet presAssocID="{7E1ADFDA-37C4-4974-BEBB-7CF38CE08BD5}" presName="Name0" presStyleCnt="0">
        <dgm:presLayoutVars>
          <dgm:chMax val="7"/>
          <dgm:chPref val="7"/>
          <dgm:dir/>
        </dgm:presLayoutVars>
      </dgm:prSet>
      <dgm:spPr/>
      <dgm:t>
        <a:bodyPr/>
        <a:lstStyle/>
        <a:p>
          <a:endParaRPr lang="en-US"/>
        </a:p>
      </dgm:t>
    </dgm:pt>
    <dgm:pt modelId="{FF8FC6C7-CDFF-43B1-9F6D-158ECD06D8F9}" type="pres">
      <dgm:prSet presAssocID="{7E1ADFDA-37C4-4974-BEBB-7CF38CE08BD5}" presName="Name1" presStyleCnt="0"/>
      <dgm:spPr/>
    </dgm:pt>
    <dgm:pt modelId="{BFCF0E9E-937A-42A9-ABC5-F5FA2B11C995}" type="pres">
      <dgm:prSet presAssocID="{7E1ADFDA-37C4-4974-BEBB-7CF38CE08BD5}" presName="cycle" presStyleCnt="0"/>
      <dgm:spPr/>
    </dgm:pt>
    <dgm:pt modelId="{753EFCE2-788C-4F95-9CEF-8996B827327D}" type="pres">
      <dgm:prSet presAssocID="{7E1ADFDA-37C4-4974-BEBB-7CF38CE08BD5}" presName="srcNode" presStyleLbl="node1" presStyleIdx="0" presStyleCnt="3"/>
      <dgm:spPr/>
    </dgm:pt>
    <dgm:pt modelId="{1D15D1FA-74E4-414F-9521-FA257B2373B7}" type="pres">
      <dgm:prSet presAssocID="{7E1ADFDA-37C4-4974-BEBB-7CF38CE08BD5}" presName="conn" presStyleLbl="parChTrans1D2" presStyleIdx="0" presStyleCnt="1"/>
      <dgm:spPr/>
      <dgm:t>
        <a:bodyPr/>
        <a:lstStyle/>
        <a:p>
          <a:endParaRPr lang="en-US"/>
        </a:p>
      </dgm:t>
    </dgm:pt>
    <dgm:pt modelId="{28870758-1470-4A50-841A-C815194A01D8}" type="pres">
      <dgm:prSet presAssocID="{7E1ADFDA-37C4-4974-BEBB-7CF38CE08BD5}" presName="extraNode" presStyleLbl="node1" presStyleIdx="0" presStyleCnt="3"/>
      <dgm:spPr/>
    </dgm:pt>
    <dgm:pt modelId="{9FE6C4C5-83C5-4391-B7B6-9DC5B6264B1B}" type="pres">
      <dgm:prSet presAssocID="{7E1ADFDA-37C4-4974-BEBB-7CF38CE08BD5}" presName="dstNode" presStyleLbl="node1" presStyleIdx="0" presStyleCnt="3"/>
      <dgm:spPr/>
    </dgm:pt>
    <dgm:pt modelId="{9165200F-ECA3-43AD-833E-386018FF2EC8}" type="pres">
      <dgm:prSet presAssocID="{9FFD7FB1-B5E9-4AD8-B6F9-C0063A38C63E}" presName="text_1" presStyleLbl="node1" presStyleIdx="0" presStyleCnt="3">
        <dgm:presLayoutVars>
          <dgm:bulletEnabled val="1"/>
        </dgm:presLayoutVars>
      </dgm:prSet>
      <dgm:spPr/>
      <dgm:t>
        <a:bodyPr/>
        <a:lstStyle/>
        <a:p>
          <a:endParaRPr lang="en-US"/>
        </a:p>
      </dgm:t>
    </dgm:pt>
    <dgm:pt modelId="{D418DD70-D231-4BF3-A394-C49A2CFBDE4E}" type="pres">
      <dgm:prSet presAssocID="{9FFD7FB1-B5E9-4AD8-B6F9-C0063A38C63E}" presName="accent_1" presStyleCnt="0"/>
      <dgm:spPr/>
    </dgm:pt>
    <dgm:pt modelId="{AC1B8001-7565-42E8-A39D-A42A91C3D7B5}" type="pres">
      <dgm:prSet presAssocID="{9FFD7FB1-B5E9-4AD8-B6F9-C0063A38C63E}" presName="accentRepeatNode" presStyleLbl="solidFgAcc1" presStyleIdx="0" presStyleCnt="3"/>
      <dgm:spPr/>
    </dgm:pt>
    <dgm:pt modelId="{206531F6-E917-4124-92C5-BAAA6A2356F3}" type="pres">
      <dgm:prSet presAssocID="{A12F177D-1656-40E2-8567-5029037F4861}" presName="text_2" presStyleLbl="node1" presStyleIdx="1" presStyleCnt="3">
        <dgm:presLayoutVars>
          <dgm:bulletEnabled val="1"/>
        </dgm:presLayoutVars>
      </dgm:prSet>
      <dgm:spPr/>
      <dgm:t>
        <a:bodyPr/>
        <a:lstStyle/>
        <a:p>
          <a:endParaRPr lang="en-US"/>
        </a:p>
      </dgm:t>
    </dgm:pt>
    <dgm:pt modelId="{89FF0055-CF8D-4FD9-AB93-FB2D80800AE8}" type="pres">
      <dgm:prSet presAssocID="{A12F177D-1656-40E2-8567-5029037F4861}" presName="accent_2" presStyleCnt="0"/>
      <dgm:spPr/>
    </dgm:pt>
    <dgm:pt modelId="{3304F0BC-EB4A-4290-892A-2738F2EABB5C}" type="pres">
      <dgm:prSet presAssocID="{A12F177D-1656-40E2-8567-5029037F4861}" presName="accentRepeatNode" presStyleLbl="solidFgAcc1" presStyleIdx="1" presStyleCnt="3"/>
      <dgm:spPr/>
    </dgm:pt>
    <dgm:pt modelId="{5FFDF0A8-4DDC-4E17-8677-FD6450D53B1B}" type="pres">
      <dgm:prSet presAssocID="{4CBAAB3D-8D14-401C-AB08-ED47825A5DF1}" presName="text_3" presStyleLbl="node1" presStyleIdx="2" presStyleCnt="3">
        <dgm:presLayoutVars>
          <dgm:bulletEnabled val="1"/>
        </dgm:presLayoutVars>
      </dgm:prSet>
      <dgm:spPr/>
      <dgm:t>
        <a:bodyPr/>
        <a:lstStyle/>
        <a:p>
          <a:endParaRPr lang="en-US"/>
        </a:p>
      </dgm:t>
    </dgm:pt>
    <dgm:pt modelId="{028EA1CC-7779-4081-9094-1A8F85293AC6}" type="pres">
      <dgm:prSet presAssocID="{4CBAAB3D-8D14-401C-AB08-ED47825A5DF1}" presName="accent_3" presStyleCnt="0"/>
      <dgm:spPr/>
    </dgm:pt>
    <dgm:pt modelId="{5B23F11F-4E6F-4A14-A31E-EB285D168684}" type="pres">
      <dgm:prSet presAssocID="{4CBAAB3D-8D14-401C-AB08-ED47825A5DF1}" presName="accentRepeatNode" presStyleLbl="solidFgAcc1" presStyleIdx="2" presStyleCnt="3"/>
      <dgm:spPr/>
    </dgm:pt>
  </dgm:ptLst>
  <dgm:cxnLst>
    <dgm:cxn modelId="{5F11C4BB-66A1-4536-82E3-C0370E479857}" type="presOf" srcId="{7E1ADFDA-37C4-4974-BEBB-7CF38CE08BD5}" destId="{65CC338C-EC52-4BB8-A29B-E9A2CF0717BF}" srcOrd="0" destOrd="0" presId="urn:microsoft.com/office/officeart/2008/layout/VerticalCurvedList"/>
    <dgm:cxn modelId="{CD04EF8A-B86A-44B2-8D3C-52859B622CE1}" type="presOf" srcId="{4CBAAB3D-8D14-401C-AB08-ED47825A5DF1}" destId="{5FFDF0A8-4DDC-4E17-8677-FD6450D53B1B}" srcOrd="0" destOrd="0" presId="urn:microsoft.com/office/officeart/2008/layout/VerticalCurvedList"/>
    <dgm:cxn modelId="{8671827C-C09F-4A09-B9E6-02DA5E42184D}" type="presOf" srcId="{9FFD7FB1-B5E9-4AD8-B6F9-C0063A38C63E}" destId="{9165200F-ECA3-43AD-833E-386018FF2EC8}" srcOrd="0" destOrd="0" presId="urn:microsoft.com/office/officeart/2008/layout/VerticalCurvedList"/>
    <dgm:cxn modelId="{5A4369FF-F4D5-4F55-B416-26B0F1024E25}" srcId="{7E1ADFDA-37C4-4974-BEBB-7CF38CE08BD5}" destId="{A12F177D-1656-40E2-8567-5029037F4861}" srcOrd="1" destOrd="0" parTransId="{42FBB3A1-9FF3-4D78-8D84-6FA2596C42C4}" sibTransId="{4C2B2746-29AE-4F9A-82FA-F1DD0C1FD6FE}"/>
    <dgm:cxn modelId="{A8B882D3-E8ED-4ECA-B032-2E5C0BB013B8}" type="presOf" srcId="{A12F177D-1656-40E2-8567-5029037F4861}" destId="{206531F6-E917-4124-92C5-BAAA6A2356F3}" srcOrd="0" destOrd="0" presId="urn:microsoft.com/office/officeart/2008/layout/VerticalCurvedList"/>
    <dgm:cxn modelId="{6B326B7F-1F6D-4ACB-8B39-F4F5DA288E8F}" type="presOf" srcId="{43E4AC49-35C2-45D5-B026-9734BD44BC77}" destId="{1D15D1FA-74E4-414F-9521-FA257B2373B7}" srcOrd="0" destOrd="0" presId="urn:microsoft.com/office/officeart/2008/layout/VerticalCurvedList"/>
    <dgm:cxn modelId="{717E5CBB-7368-497C-BC02-423B47841A72}" srcId="{7E1ADFDA-37C4-4974-BEBB-7CF38CE08BD5}" destId="{9FFD7FB1-B5E9-4AD8-B6F9-C0063A38C63E}" srcOrd="0" destOrd="0" parTransId="{EC69F842-7257-4E7C-94E4-E4A128D8137F}" sibTransId="{43E4AC49-35C2-45D5-B026-9734BD44BC77}"/>
    <dgm:cxn modelId="{901FC324-EDA0-4C3C-8893-993A01ECD01E}" srcId="{7E1ADFDA-37C4-4974-BEBB-7CF38CE08BD5}" destId="{4CBAAB3D-8D14-401C-AB08-ED47825A5DF1}" srcOrd="2" destOrd="0" parTransId="{1A250217-4CA3-4A43-ABF8-05905C1077E6}" sibTransId="{0E41E348-30F7-45B8-9641-B74038B0D7B7}"/>
    <dgm:cxn modelId="{6291EF49-FB7A-4C2A-9F74-EB0552717AD5}" type="presParOf" srcId="{65CC338C-EC52-4BB8-A29B-E9A2CF0717BF}" destId="{FF8FC6C7-CDFF-43B1-9F6D-158ECD06D8F9}" srcOrd="0" destOrd="0" presId="urn:microsoft.com/office/officeart/2008/layout/VerticalCurvedList"/>
    <dgm:cxn modelId="{C0EABBA4-A7A9-4EC9-AE49-4682F6E22F8D}" type="presParOf" srcId="{FF8FC6C7-CDFF-43B1-9F6D-158ECD06D8F9}" destId="{BFCF0E9E-937A-42A9-ABC5-F5FA2B11C995}" srcOrd="0" destOrd="0" presId="urn:microsoft.com/office/officeart/2008/layout/VerticalCurvedList"/>
    <dgm:cxn modelId="{6997F566-D405-47ED-A613-DD74ECBA59FB}" type="presParOf" srcId="{BFCF0E9E-937A-42A9-ABC5-F5FA2B11C995}" destId="{753EFCE2-788C-4F95-9CEF-8996B827327D}" srcOrd="0" destOrd="0" presId="urn:microsoft.com/office/officeart/2008/layout/VerticalCurvedList"/>
    <dgm:cxn modelId="{7D19C985-917C-4E0E-A88A-4AC521B55D57}" type="presParOf" srcId="{BFCF0E9E-937A-42A9-ABC5-F5FA2B11C995}" destId="{1D15D1FA-74E4-414F-9521-FA257B2373B7}" srcOrd="1" destOrd="0" presId="urn:microsoft.com/office/officeart/2008/layout/VerticalCurvedList"/>
    <dgm:cxn modelId="{881F8180-721B-4497-B313-018C60AE6257}" type="presParOf" srcId="{BFCF0E9E-937A-42A9-ABC5-F5FA2B11C995}" destId="{28870758-1470-4A50-841A-C815194A01D8}" srcOrd="2" destOrd="0" presId="urn:microsoft.com/office/officeart/2008/layout/VerticalCurvedList"/>
    <dgm:cxn modelId="{48D94DC3-A28F-42B4-B9B2-19C866E67546}" type="presParOf" srcId="{BFCF0E9E-937A-42A9-ABC5-F5FA2B11C995}" destId="{9FE6C4C5-83C5-4391-B7B6-9DC5B6264B1B}" srcOrd="3" destOrd="0" presId="urn:microsoft.com/office/officeart/2008/layout/VerticalCurvedList"/>
    <dgm:cxn modelId="{3DDE8904-91F0-40D4-953E-39B17DD8D578}" type="presParOf" srcId="{FF8FC6C7-CDFF-43B1-9F6D-158ECD06D8F9}" destId="{9165200F-ECA3-43AD-833E-386018FF2EC8}" srcOrd="1" destOrd="0" presId="urn:microsoft.com/office/officeart/2008/layout/VerticalCurvedList"/>
    <dgm:cxn modelId="{608358A2-9598-46E2-9704-1A179C26E422}" type="presParOf" srcId="{FF8FC6C7-CDFF-43B1-9F6D-158ECD06D8F9}" destId="{D418DD70-D231-4BF3-A394-C49A2CFBDE4E}" srcOrd="2" destOrd="0" presId="urn:microsoft.com/office/officeart/2008/layout/VerticalCurvedList"/>
    <dgm:cxn modelId="{FBAC6250-DF1D-4B54-A9C0-D90E0D139E75}" type="presParOf" srcId="{D418DD70-D231-4BF3-A394-C49A2CFBDE4E}" destId="{AC1B8001-7565-42E8-A39D-A42A91C3D7B5}" srcOrd="0" destOrd="0" presId="urn:microsoft.com/office/officeart/2008/layout/VerticalCurvedList"/>
    <dgm:cxn modelId="{F4727526-32DF-4503-8A5D-9AA0C7EA016C}" type="presParOf" srcId="{FF8FC6C7-CDFF-43B1-9F6D-158ECD06D8F9}" destId="{206531F6-E917-4124-92C5-BAAA6A2356F3}" srcOrd="3" destOrd="0" presId="urn:microsoft.com/office/officeart/2008/layout/VerticalCurvedList"/>
    <dgm:cxn modelId="{54260301-9221-427B-AA44-028CB332F368}" type="presParOf" srcId="{FF8FC6C7-CDFF-43B1-9F6D-158ECD06D8F9}" destId="{89FF0055-CF8D-4FD9-AB93-FB2D80800AE8}" srcOrd="4" destOrd="0" presId="urn:microsoft.com/office/officeart/2008/layout/VerticalCurvedList"/>
    <dgm:cxn modelId="{C11F4601-8F6C-495B-A8A2-C2F3A4B1301D}" type="presParOf" srcId="{89FF0055-CF8D-4FD9-AB93-FB2D80800AE8}" destId="{3304F0BC-EB4A-4290-892A-2738F2EABB5C}" srcOrd="0" destOrd="0" presId="urn:microsoft.com/office/officeart/2008/layout/VerticalCurvedList"/>
    <dgm:cxn modelId="{B1B83245-E221-40D6-8FB4-D6B2FACC96B2}" type="presParOf" srcId="{FF8FC6C7-CDFF-43B1-9F6D-158ECD06D8F9}" destId="{5FFDF0A8-4DDC-4E17-8677-FD6450D53B1B}" srcOrd="5" destOrd="0" presId="urn:microsoft.com/office/officeart/2008/layout/VerticalCurvedList"/>
    <dgm:cxn modelId="{740D6FD7-825B-47FA-BB2E-BE0792C340CB}" type="presParOf" srcId="{FF8FC6C7-CDFF-43B1-9F6D-158ECD06D8F9}" destId="{028EA1CC-7779-4081-9094-1A8F85293AC6}" srcOrd="6" destOrd="0" presId="urn:microsoft.com/office/officeart/2008/layout/VerticalCurvedList"/>
    <dgm:cxn modelId="{FABBD6F1-CF32-46EC-B95E-896EAFFDE714}" type="presParOf" srcId="{028EA1CC-7779-4081-9094-1A8F85293AC6}" destId="{5B23F11F-4E6F-4A14-A31E-EB285D168684}"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E1ADFDA-37C4-4974-BEBB-7CF38CE08BD5}" type="doc">
      <dgm:prSet loTypeId="urn:microsoft.com/office/officeart/2005/8/layout/hList1" loCatId="list" qsTypeId="urn:microsoft.com/office/officeart/2005/8/quickstyle/simple1" qsCatId="simple" csTypeId="urn:microsoft.com/office/officeart/2005/8/colors/colorful3" csCatId="colorful" phldr="1"/>
      <dgm:spPr/>
      <dgm:t>
        <a:bodyPr/>
        <a:lstStyle/>
        <a:p>
          <a:endParaRPr lang="en-US"/>
        </a:p>
      </dgm:t>
    </dgm:pt>
    <dgm:pt modelId="{9FFD7FB1-B5E9-4AD8-B6F9-C0063A38C63E}">
      <dgm:prSet phldrT="[Text]"/>
      <dgm:spPr/>
      <dgm:t>
        <a:bodyPr/>
        <a:lstStyle/>
        <a:p>
          <a:r>
            <a:rPr lang="en-US" dirty="0" smtClean="0"/>
            <a:t>AVG()</a:t>
          </a:r>
          <a:endParaRPr lang="en-US" dirty="0"/>
        </a:p>
      </dgm:t>
    </dgm:pt>
    <dgm:pt modelId="{EC69F842-7257-4E7C-94E4-E4A128D8137F}" type="parTrans" cxnId="{717E5CBB-7368-497C-BC02-423B47841A72}">
      <dgm:prSet/>
      <dgm:spPr/>
      <dgm:t>
        <a:bodyPr/>
        <a:lstStyle/>
        <a:p>
          <a:endParaRPr lang="en-US"/>
        </a:p>
      </dgm:t>
    </dgm:pt>
    <dgm:pt modelId="{43E4AC49-35C2-45D5-B026-9734BD44BC77}" type="sibTrans" cxnId="{717E5CBB-7368-497C-BC02-423B47841A72}">
      <dgm:prSet/>
      <dgm:spPr/>
      <dgm:t>
        <a:bodyPr/>
        <a:lstStyle/>
        <a:p>
          <a:endParaRPr lang="en-US"/>
        </a:p>
      </dgm:t>
    </dgm:pt>
    <dgm:pt modelId="{A12F177D-1656-40E2-8567-5029037F4861}">
      <dgm:prSet phldrT="[Text]"/>
      <dgm:spPr/>
      <dgm:t>
        <a:bodyPr/>
        <a:lstStyle/>
        <a:p>
          <a:r>
            <a:rPr lang="en-US" dirty="0" smtClean="0"/>
            <a:t>LEN()</a:t>
          </a:r>
          <a:endParaRPr lang="en-US" dirty="0"/>
        </a:p>
      </dgm:t>
    </dgm:pt>
    <dgm:pt modelId="{42FBB3A1-9FF3-4D78-8D84-6FA2596C42C4}" type="parTrans" cxnId="{5A4369FF-F4D5-4F55-B416-26B0F1024E25}">
      <dgm:prSet/>
      <dgm:spPr/>
      <dgm:t>
        <a:bodyPr/>
        <a:lstStyle/>
        <a:p>
          <a:endParaRPr lang="en-US"/>
        </a:p>
      </dgm:t>
    </dgm:pt>
    <dgm:pt modelId="{4C2B2746-29AE-4F9A-82FA-F1DD0C1FD6FE}" type="sibTrans" cxnId="{5A4369FF-F4D5-4F55-B416-26B0F1024E25}">
      <dgm:prSet/>
      <dgm:spPr/>
      <dgm:t>
        <a:bodyPr/>
        <a:lstStyle/>
        <a:p>
          <a:endParaRPr lang="en-US"/>
        </a:p>
      </dgm:t>
    </dgm:pt>
    <dgm:pt modelId="{4CBAAB3D-8D14-401C-AB08-ED47825A5DF1}">
      <dgm:prSet phldrT="[Text]"/>
      <dgm:spPr/>
      <dgm:t>
        <a:bodyPr/>
        <a:lstStyle/>
        <a:p>
          <a:r>
            <a:rPr lang="en-US" dirty="0" smtClean="0"/>
            <a:t>COUNT()</a:t>
          </a:r>
          <a:endParaRPr lang="en-US" dirty="0"/>
        </a:p>
      </dgm:t>
    </dgm:pt>
    <dgm:pt modelId="{1A250217-4CA3-4A43-ABF8-05905C1077E6}" type="parTrans" cxnId="{901FC324-EDA0-4C3C-8893-993A01ECD01E}">
      <dgm:prSet/>
      <dgm:spPr/>
      <dgm:t>
        <a:bodyPr/>
        <a:lstStyle/>
        <a:p>
          <a:endParaRPr lang="en-US"/>
        </a:p>
      </dgm:t>
    </dgm:pt>
    <dgm:pt modelId="{0E41E348-30F7-45B8-9641-B74038B0D7B7}" type="sibTrans" cxnId="{901FC324-EDA0-4C3C-8893-993A01ECD01E}">
      <dgm:prSet/>
      <dgm:spPr/>
      <dgm:t>
        <a:bodyPr/>
        <a:lstStyle/>
        <a:p>
          <a:endParaRPr lang="en-US"/>
        </a:p>
      </dgm:t>
    </dgm:pt>
    <dgm:pt modelId="{1C0C5994-0A94-42B6-A893-143CAEE26A17}">
      <dgm:prSet/>
      <dgm:spPr/>
      <dgm:t>
        <a:bodyPr/>
        <a:lstStyle/>
        <a:p>
          <a:r>
            <a:rPr lang="en-US" dirty="0" smtClean="0"/>
            <a:t>Returns the average value of numeric column</a:t>
          </a:r>
          <a:endParaRPr lang="en-US" dirty="0"/>
        </a:p>
      </dgm:t>
    </dgm:pt>
    <dgm:pt modelId="{6A45F7AB-E1B1-4085-92B3-718B261955EC}" type="parTrans" cxnId="{53E0EEB8-0FA9-44DD-8B34-BB89B0DAEB9B}">
      <dgm:prSet/>
      <dgm:spPr/>
    </dgm:pt>
    <dgm:pt modelId="{F8669FBC-6F69-464A-B0AD-94E7D2788F6B}" type="sibTrans" cxnId="{53E0EEB8-0FA9-44DD-8B34-BB89B0DAEB9B}">
      <dgm:prSet/>
      <dgm:spPr/>
    </dgm:pt>
    <dgm:pt modelId="{6575A970-B724-43B6-A7D7-0B8D8C6FC946}">
      <dgm:prSet/>
      <dgm:spPr/>
      <dgm:t>
        <a:bodyPr/>
        <a:lstStyle/>
        <a:p>
          <a:r>
            <a:rPr lang="en-US" b="0" i="0" dirty="0" smtClean="0"/>
            <a:t>SELECT AVG(</a:t>
          </a:r>
          <a:r>
            <a:rPr lang="en-US" b="0" i="0" dirty="0" err="1" smtClean="0"/>
            <a:t>column_name</a:t>
          </a:r>
          <a:r>
            <a:rPr lang="en-US" b="0" i="0" dirty="0" smtClean="0"/>
            <a:t>) FROM </a:t>
          </a:r>
          <a:r>
            <a:rPr lang="en-US" b="0" i="0" dirty="0" err="1" smtClean="0"/>
            <a:t>table_name</a:t>
          </a:r>
          <a:endParaRPr lang="en-US" dirty="0"/>
        </a:p>
      </dgm:t>
    </dgm:pt>
    <dgm:pt modelId="{35321AB1-2666-4350-8B6B-65A644507DF8}" type="parTrans" cxnId="{5453375E-487C-4001-8290-A0452C0EEF0A}">
      <dgm:prSet/>
      <dgm:spPr/>
    </dgm:pt>
    <dgm:pt modelId="{F6D95E53-7F7A-4AC2-A164-5A2E1640D189}" type="sibTrans" cxnId="{5453375E-487C-4001-8290-A0452C0EEF0A}">
      <dgm:prSet/>
      <dgm:spPr/>
    </dgm:pt>
    <dgm:pt modelId="{6D938E83-24AF-4A84-A678-88FE04C37584}">
      <dgm:prSet/>
      <dgm:spPr/>
      <dgm:t>
        <a:bodyPr/>
        <a:lstStyle/>
        <a:p>
          <a:r>
            <a:rPr lang="en-US" b="0" i="0" dirty="0" smtClean="0"/>
            <a:t>returns the length of the value in a text field.</a:t>
          </a:r>
          <a:endParaRPr lang="en-US" dirty="0"/>
        </a:p>
      </dgm:t>
    </dgm:pt>
    <dgm:pt modelId="{9A146E54-CE56-4770-8FF3-DC3D46A0A035}" type="parTrans" cxnId="{884FD743-3E54-418E-A5F3-E2ED95DEF9C2}">
      <dgm:prSet/>
      <dgm:spPr/>
    </dgm:pt>
    <dgm:pt modelId="{EBE7F2F8-55D4-46A0-9786-C4BFAB6D8ABC}" type="sibTrans" cxnId="{884FD743-3E54-418E-A5F3-E2ED95DEF9C2}">
      <dgm:prSet/>
      <dgm:spPr/>
    </dgm:pt>
    <dgm:pt modelId="{2A5D00B2-CC3E-4B35-A6AA-9B9A1925CB19}">
      <dgm:prSet/>
      <dgm:spPr/>
      <dgm:t>
        <a:bodyPr/>
        <a:lstStyle/>
        <a:p>
          <a:r>
            <a:rPr lang="en-US" b="0" i="0" smtClean="0"/>
            <a:t>SELECT LEN(column_name) FROM table_name;</a:t>
          </a:r>
          <a:endParaRPr lang="en-US"/>
        </a:p>
      </dgm:t>
    </dgm:pt>
    <dgm:pt modelId="{5C157B61-5787-4961-A628-FB467D47CBDD}" type="parTrans" cxnId="{F4F6C104-5BEF-4D8B-A1BC-D84723FDD8AD}">
      <dgm:prSet/>
      <dgm:spPr/>
      <dgm:t>
        <a:bodyPr/>
        <a:lstStyle/>
        <a:p>
          <a:endParaRPr lang="en-US"/>
        </a:p>
      </dgm:t>
    </dgm:pt>
    <dgm:pt modelId="{BFFE91A5-D354-4CCB-BA10-6918D360D9DA}" type="sibTrans" cxnId="{F4F6C104-5BEF-4D8B-A1BC-D84723FDD8AD}">
      <dgm:prSet/>
      <dgm:spPr/>
      <dgm:t>
        <a:bodyPr/>
        <a:lstStyle/>
        <a:p>
          <a:endParaRPr lang="en-US"/>
        </a:p>
      </dgm:t>
    </dgm:pt>
    <dgm:pt modelId="{7159AB8F-E1AE-4619-B7E0-42D53247F14A}">
      <dgm:prSet/>
      <dgm:spPr/>
      <dgm:t>
        <a:bodyPr/>
        <a:lstStyle/>
        <a:p>
          <a:r>
            <a:rPr lang="en-US" b="0" i="0" dirty="0" smtClean="0"/>
            <a:t>returns the number of rows that matches a specified criteria.</a:t>
          </a:r>
          <a:endParaRPr lang="en-US" dirty="0"/>
        </a:p>
      </dgm:t>
    </dgm:pt>
    <dgm:pt modelId="{8BEB504A-CECA-4305-B555-EFD4CD15E1F6}" type="parTrans" cxnId="{C0A6F759-1538-4432-A6DD-53A37E6C26F2}">
      <dgm:prSet/>
      <dgm:spPr/>
    </dgm:pt>
    <dgm:pt modelId="{27290603-5E4E-4C80-A804-B166E67A20E1}" type="sibTrans" cxnId="{C0A6F759-1538-4432-A6DD-53A37E6C26F2}">
      <dgm:prSet/>
      <dgm:spPr/>
    </dgm:pt>
    <dgm:pt modelId="{464B62EF-BEFC-4A9C-B606-CEF4319759BE}">
      <dgm:prSet/>
      <dgm:spPr/>
      <dgm:t>
        <a:bodyPr/>
        <a:lstStyle/>
        <a:p>
          <a:r>
            <a:rPr lang="en-US" b="0" i="0" dirty="0" smtClean="0"/>
            <a:t>SELECT COUNT(</a:t>
          </a:r>
          <a:r>
            <a:rPr lang="en-US" b="0" i="0" dirty="0" err="1" smtClean="0"/>
            <a:t>column_name</a:t>
          </a:r>
          <a:r>
            <a:rPr lang="en-US" b="0" i="0" dirty="0" smtClean="0"/>
            <a:t>) FROM </a:t>
          </a:r>
          <a:r>
            <a:rPr lang="en-US" b="0" i="0" dirty="0" err="1" smtClean="0"/>
            <a:t>table_name</a:t>
          </a:r>
          <a:r>
            <a:rPr lang="en-US" b="0" i="0" dirty="0" smtClean="0"/>
            <a:t>;</a:t>
          </a:r>
          <a:endParaRPr lang="en-US" dirty="0"/>
        </a:p>
      </dgm:t>
    </dgm:pt>
    <dgm:pt modelId="{84792B63-F30C-4C14-A7A8-2C74A0B13365}" type="parTrans" cxnId="{E80194C1-939F-4F0E-B96D-BEFDD451205B}">
      <dgm:prSet/>
      <dgm:spPr/>
    </dgm:pt>
    <dgm:pt modelId="{D5127915-7C43-4650-B207-D908F9DAC8E9}" type="sibTrans" cxnId="{E80194C1-939F-4F0E-B96D-BEFDD451205B}">
      <dgm:prSet/>
      <dgm:spPr/>
    </dgm:pt>
    <dgm:pt modelId="{E7DBC792-2332-4E98-9ACE-1AD270D83202}" type="pres">
      <dgm:prSet presAssocID="{7E1ADFDA-37C4-4974-BEBB-7CF38CE08BD5}" presName="Name0" presStyleCnt="0">
        <dgm:presLayoutVars>
          <dgm:dir/>
          <dgm:animLvl val="lvl"/>
          <dgm:resizeHandles val="exact"/>
        </dgm:presLayoutVars>
      </dgm:prSet>
      <dgm:spPr/>
      <dgm:t>
        <a:bodyPr/>
        <a:lstStyle/>
        <a:p>
          <a:endParaRPr lang="en-US"/>
        </a:p>
      </dgm:t>
    </dgm:pt>
    <dgm:pt modelId="{AE497B91-846B-4193-8688-A03667750BBD}" type="pres">
      <dgm:prSet presAssocID="{9FFD7FB1-B5E9-4AD8-B6F9-C0063A38C63E}" presName="composite" presStyleCnt="0"/>
      <dgm:spPr/>
    </dgm:pt>
    <dgm:pt modelId="{60EE3C28-1A43-45FC-977B-98E8B6B1DA74}" type="pres">
      <dgm:prSet presAssocID="{9FFD7FB1-B5E9-4AD8-B6F9-C0063A38C63E}" presName="parTx" presStyleLbl="alignNode1" presStyleIdx="0" presStyleCnt="3">
        <dgm:presLayoutVars>
          <dgm:chMax val="0"/>
          <dgm:chPref val="0"/>
          <dgm:bulletEnabled val="1"/>
        </dgm:presLayoutVars>
      </dgm:prSet>
      <dgm:spPr/>
      <dgm:t>
        <a:bodyPr/>
        <a:lstStyle/>
        <a:p>
          <a:endParaRPr lang="en-US"/>
        </a:p>
      </dgm:t>
    </dgm:pt>
    <dgm:pt modelId="{87580D52-1E2E-44F5-920E-D5A7E4E06918}" type="pres">
      <dgm:prSet presAssocID="{9FFD7FB1-B5E9-4AD8-B6F9-C0063A38C63E}" presName="desTx" presStyleLbl="alignAccFollowNode1" presStyleIdx="0" presStyleCnt="3">
        <dgm:presLayoutVars>
          <dgm:bulletEnabled val="1"/>
        </dgm:presLayoutVars>
      </dgm:prSet>
      <dgm:spPr/>
      <dgm:t>
        <a:bodyPr/>
        <a:lstStyle/>
        <a:p>
          <a:endParaRPr lang="en-US"/>
        </a:p>
      </dgm:t>
    </dgm:pt>
    <dgm:pt modelId="{F9C07D23-E4EB-4CD3-B5FA-B9A3250A9E54}" type="pres">
      <dgm:prSet presAssocID="{43E4AC49-35C2-45D5-B026-9734BD44BC77}" presName="space" presStyleCnt="0"/>
      <dgm:spPr/>
    </dgm:pt>
    <dgm:pt modelId="{FF7AC295-5A21-495D-A272-A37EB290B380}" type="pres">
      <dgm:prSet presAssocID="{A12F177D-1656-40E2-8567-5029037F4861}" presName="composite" presStyleCnt="0"/>
      <dgm:spPr/>
    </dgm:pt>
    <dgm:pt modelId="{4CEF46E6-D354-4643-A3A5-77D36F468B72}" type="pres">
      <dgm:prSet presAssocID="{A12F177D-1656-40E2-8567-5029037F4861}" presName="parTx" presStyleLbl="alignNode1" presStyleIdx="1" presStyleCnt="3">
        <dgm:presLayoutVars>
          <dgm:chMax val="0"/>
          <dgm:chPref val="0"/>
          <dgm:bulletEnabled val="1"/>
        </dgm:presLayoutVars>
      </dgm:prSet>
      <dgm:spPr/>
      <dgm:t>
        <a:bodyPr/>
        <a:lstStyle/>
        <a:p>
          <a:endParaRPr lang="en-US"/>
        </a:p>
      </dgm:t>
    </dgm:pt>
    <dgm:pt modelId="{E808F746-E006-4615-AEA4-EF129ABDB563}" type="pres">
      <dgm:prSet presAssocID="{A12F177D-1656-40E2-8567-5029037F4861}" presName="desTx" presStyleLbl="alignAccFollowNode1" presStyleIdx="1" presStyleCnt="3">
        <dgm:presLayoutVars>
          <dgm:bulletEnabled val="1"/>
        </dgm:presLayoutVars>
      </dgm:prSet>
      <dgm:spPr/>
      <dgm:t>
        <a:bodyPr/>
        <a:lstStyle/>
        <a:p>
          <a:endParaRPr lang="en-US"/>
        </a:p>
      </dgm:t>
    </dgm:pt>
    <dgm:pt modelId="{7F571CC1-ACAD-4307-A01F-437094F8079A}" type="pres">
      <dgm:prSet presAssocID="{4C2B2746-29AE-4F9A-82FA-F1DD0C1FD6FE}" presName="space" presStyleCnt="0"/>
      <dgm:spPr/>
    </dgm:pt>
    <dgm:pt modelId="{741F756D-9101-4682-9899-A2B9B726D4A3}" type="pres">
      <dgm:prSet presAssocID="{4CBAAB3D-8D14-401C-AB08-ED47825A5DF1}" presName="composite" presStyleCnt="0"/>
      <dgm:spPr/>
    </dgm:pt>
    <dgm:pt modelId="{C665EBAE-9E53-445A-BB78-20B97679441F}" type="pres">
      <dgm:prSet presAssocID="{4CBAAB3D-8D14-401C-AB08-ED47825A5DF1}" presName="parTx" presStyleLbl="alignNode1" presStyleIdx="2" presStyleCnt="3">
        <dgm:presLayoutVars>
          <dgm:chMax val="0"/>
          <dgm:chPref val="0"/>
          <dgm:bulletEnabled val="1"/>
        </dgm:presLayoutVars>
      </dgm:prSet>
      <dgm:spPr/>
      <dgm:t>
        <a:bodyPr/>
        <a:lstStyle/>
        <a:p>
          <a:endParaRPr lang="en-US"/>
        </a:p>
      </dgm:t>
    </dgm:pt>
    <dgm:pt modelId="{E52EA988-E7A4-4040-B276-B47F8CB14991}" type="pres">
      <dgm:prSet presAssocID="{4CBAAB3D-8D14-401C-AB08-ED47825A5DF1}" presName="desTx" presStyleLbl="alignAccFollowNode1" presStyleIdx="2" presStyleCnt="3">
        <dgm:presLayoutVars>
          <dgm:bulletEnabled val="1"/>
        </dgm:presLayoutVars>
      </dgm:prSet>
      <dgm:spPr/>
      <dgm:t>
        <a:bodyPr/>
        <a:lstStyle/>
        <a:p>
          <a:endParaRPr lang="en-US"/>
        </a:p>
      </dgm:t>
    </dgm:pt>
  </dgm:ptLst>
  <dgm:cxnLst>
    <dgm:cxn modelId="{391A7753-3F27-41F0-AC35-E059FA5D1194}" type="presOf" srcId="{2A5D00B2-CC3E-4B35-A6AA-9B9A1925CB19}" destId="{E808F746-E006-4615-AEA4-EF129ABDB563}" srcOrd="0" destOrd="1" presId="urn:microsoft.com/office/officeart/2005/8/layout/hList1"/>
    <dgm:cxn modelId="{C0A6F759-1538-4432-A6DD-53A37E6C26F2}" srcId="{4CBAAB3D-8D14-401C-AB08-ED47825A5DF1}" destId="{7159AB8F-E1AE-4619-B7E0-42D53247F14A}" srcOrd="0" destOrd="0" parTransId="{8BEB504A-CECA-4305-B555-EFD4CD15E1F6}" sibTransId="{27290603-5E4E-4C80-A804-B166E67A20E1}"/>
    <dgm:cxn modelId="{5A4369FF-F4D5-4F55-B416-26B0F1024E25}" srcId="{7E1ADFDA-37C4-4974-BEBB-7CF38CE08BD5}" destId="{A12F177D-1656-40E2-8567-5029037F4861}" srcOrd="1" destOrd="0" parTransId="{42FBB3A1-9FF3-4D78-8D84-6FA2596C42C4}" sibTransId="{4C2B2746-29AE-4F9A-82FA-F1DD0C1FD6FE}"/>
    <dgm:cxn modelId="{E80194C1-939F-4F0E-B96D-BEFDD451205B}" srcId="{4CBAAB3D-8D14-401C-AB08-ED47825A5DF1}" destId="{464B62EF-BEFC-4A9C-B606-CEF4319759BE}" srcOrd="1" destOrd="0" parTransId="{84792B63-F30C-4C14-A7A8-2C74A0B13365}" sibTransId="{D5127915-7C43-4650-B207-D908F9DAC8E9}"/>
    <dgm:cxn modelId="{884FD743-3E54-418E-A5F3-E2ED95DEF9C2}" srcId="{A12F177D-1656-40E2-8567-5029037F4861}" destId="{6D938E83-24AF-4A84-A678-88FE04C37584}" srcOrd="0" destOrd="0" parTransId="{9A146E54-CE56-4770-8FF3-DC3D46A0A035}" sibTransId="{EBE7F2F8-55D4-46A0-9786-C4BFAB6D8ABC}"/>
    <dgm:cxn modelId="{53E0EEB8-0FA9-44DD-8B34-BB89B0DAEB9B}" srcId="{9FFD7FB1-B5E9-4AD8-B6F9-C0063A38C63E}" destId="{1C0C5994-0A94-42B6-A893-143CAEE26A17}" srcOrd="0" destOrd="0" parTransId="{6A45F7AB-E1B1-4085-92B3-718B261955EC}" sibTransId="{F8669FBC-6F69-464A-B0AD-94E7D2788F6B}"/>
    <dgm:cxn modelId="{FC7C94D0-F7D5-4A00-9D1E-9054802EE45E}" type="presOf" srcId="{6D938E83-24AF-4A84-A678-88FE04C37584}" destId="{E808F746-E006-4615-AEA4-EF129ABDB563}" srcOrd="0" destOrd="0" presId="urn:microsoft.com/office/officeart/2005/8/layout/hList1"/>
    <dgm:cxn modelId="{C47DAD96-5CFD-4F30-96D2-510288F1BEA1}" type="presOf" srcId="{6575A970-B724-43B6-A7D7-0B8D8C6FC946}" destId="{87580D52-1E2E-44F5-920E-D5A7E4E06918}" srcOrd="0" destOrd="1" presId="urn:microsoft.com/office/officeart/2005/8/layout/hList1"/>
    <dgm:cxn modelId="{F4F6C104-5BEF-4D8B-A1BC-D84723FDD8AD}" srcId="{A12F177D-1656-40E2-8567-5029037F4861}" destId="{2A5D00B2-CC3E-4B35-A6AA-9B9A1925CB19}" srcOrd="1" destOrd="0" parTransId="{5C157B61-5787-4961-A628-FB467D47CBDD}" sibTransId="{BFFE91A5-D354-4CCB-BA10-6918D360D9DA}"/>
    <dgm:cxn modelId="{5453375E-487C-4001-8290-A0452C0EEF0A}" srcId="{9FFD7FB1-B5E9-4AD8-B6F9-C0063A38C63E}" destId="{6575A970-B724-43B6-A7D7-0B8D8C6FC946}" srcOrd="1" destOrd="0" parTransId="{35321AB1-2666-4350-8B6B-65A644507DF8}" sibTransId="{F6D95E53-7F7A-4AC2-A164-5A2E1640D189}"/>
    <dgm:cxn modelId="{717E5CBB-7368-497C-BC02-423B47841A72}" srcId="{7E1ADFDA-37C4-4974-BEBB-7CF38CE08BD5}" destId="{9FFD7FB1-B5E9-4AD8-B6F9-C0063A38C63E}" srcOrd="0" destOrd="0" parTransId="{EC69F842-7257-4E7C-94E4-E4A128D8137F}" sibTransId="{43E4AC49-35C2-45D5-B026-9734BD44BC77}"/>
    <dgm:cxn modelId="{F5CB79DB-960C-4F16-A232-03C8233674F1}" type="presOf" srcId="{A12F177D-1656-40E2-8567-5029037F4861}" destId="{4CEF46E6-D354-4643-A3A5-77D36F468B72}" srcOrd="0" destOrd="0" presId="urn:microsoft.com/office/officeart/2005/8/layout/hList1"/>
    <dgm:cxn modelId="{49DE4781-A5CF-432C-B1B4-D9ED0D1774F0}" type="presOf" srcId="{7159AB8F-E1AE-4619-B7E0-42D53247F14A}" destId="{E52EA988-E7A4-4040-B276-B47F8CB14991}" srcOrd="0" destOrd="0" presId="urn:microsoft.com/office/officeart/2005/8/layout/hList1"/>
    <dgm:cxn modelId="{67D22280-8BFC-41C1-9356-E3A17A252379}" type="presOf" srcId="{1C0C5994-0A94-42B6-A893-143CAEE26A17}" destId="{87580D52-1E2E-44F5-920E-D5A7E4E06918}" srcOrd="0" destOrd="0" presId="urn:microsoft.com/office/officeart/2005/8/layout/hList1"/>
    <dgm:cxn modelId="{D62626FA-EF36-4F13-8710-55A2B3A2944C}" type="presOf" srcId="{9FFD7FB1-B5E9-4AD8-B6F9-C0063A38C63E}" destId="{60EE3C28-1A43-45FC-977B-98E8B6B1DA74}" srcOrd="0" destOrd="0" presId="urn:microsoft.com/office/officeart/2005/8/layout/hList1"/>
    <dgm:cxn modelId="{F5F6AF45-3DD9-4A18-90CD-8E4B73E58626}" type="presOf" srcId="{7E1ADFDA-37C4-4974-BEBB-7CF38CE08BD5}" destId="{E7DBC792-2332-4E98-9ACE-1AD270D83202}" srcOrd="0" destOrd="0" presId="urn:microsoft.com/office/officeart/2005/8/layout/hList1"/>
    <dgm:cxn modelId="{BE18B9C3-92B4-42F1-8411-DAFFEF48C794}" type="presOf" srcId="{464B62EF-BEFC-4A9C-B606-CEF4319759BE}" destId="{E52EA988-E7A4-4040-B276-B47F8CB14991}" srcOrd="0" destOrd="1" presId="urn:microsoft.com/office/officeart/2005/8/layout/hList1"/>
    <dgm:cxn modelId="{901FC324-EDA0-4C3C-8893-993A01ECD01E}" srcId="{7E1ADFDA-37C4-4974-BEBB-7CF38CE08BD5}" destId="{4CBAAB3D-8D14-401C-AB08-ED47825A5DF1}" srcOrd="2" destOrd="0" parTransId="{1A250217-4CA3-4A43-ABF8-05905C1077E6}" sibTransId="{0E41E348-30F7-45B8-9641-B74038B0D7B7}"/>
    <dgm:cxn modelId="{3C353EDB-CFE8-4061-855B-BDAE619B904A}" type="presOf" srcId="{4CBAAB3D-8D14-401C-AB08-ED47825A5DF1}" destId="{C665EBAE-9E53-445A-BB78-20B97679441F}" srcOrd="0" destOrd="0" presId="urn:microsoft.com/office/officeart/2005/8/layout/hList1"/>
    <dgm:cxn modelId="{D995CC84-02F3-42F8-B876-3AE295911287}" type="presParOf" srcId="{E7DBC792-2332-4E98-9ACE-1AD270D83202}" destId="{AE497B91-846B-4193-8688-A03667750BBD}" srcOrd="0" destOrd="0" presId="urn:microsoft.com/office/officeart/2005/8/layout/hList1"/>
    <dgm:cxn modelId="{6CBDC703-D350-4878-A4C7-505C732CDF38}" type="presParOf" srcId="{AE497B91-846B-4193-8688-A03667750BBD}" destId="{60EE3C28-1A43-45FC-977B-98E8B6B1DA74}" srcOrd="0" destOrd="0" presId="urn:microsoft.com/office/officeart/2005/8/layout/hList1"/>
    <dgm:cxn modelId="{87F0DC1A-DE2C-4F58-B60C-6AE6C644C19C}" type="presParOf" srcId="{AE497B91-846B-4193-8688-A03667750BBD}" destId="{87580D52-1E2E-44F5-920E-D5A7E4E06918}" srcOrd="1" destOrd="0" presId="urn:microsoft.com/office/officeart/2005/8/layout/hList1"/>
    <dgm:cxn modelId="{21EA9AC4-82DE-4300-ACC2-FC24116A00FB}" type="presParOf" srcId="{E7DBC792-2332-4E98-9ACE-1AD270D83202}" destId="{F9C07D23-E4EB-4CD3-B5FA-B9A3250A9E54}" srcOrd="1" destOrd="0" presId="urn:microsoft.com/office/officeart/2005/8/layout/hList1"/>
    <dgm:cxn modelId="{F1E635A4-3E1E-4EC5-A706-69E1C77B6455}" type="presParOf" srcId="{E7DBC792-2332-4E98-9ACE-1AD270D83202}" destId="{FF7AC295-5A21-495D-A272-A37EB290B380}" srcOrd="2" destOrd="0" presId="urn:microsoft.com/office/officeart/2005/8/layout/hList1"/>
    <dgm:cxn modelId="{66392844-DD1C-43E0-8919-C8FDF0605ADA}" type="presParOf" srcId="{FF7AC295-5A21-495D-A272-A37EB290B380}" destId="{4CEF46E6-D354-4643-A3A5-77D36F468B72}" srcOrd="0" destOrd="0" presId="urn:microsoft.com/office/officeart/2005/8/layout/hList1"/>
    <dgm:cxn modelId="{1ED3D2B4-1E03-472E-8F33-62B24C447BE9}" type="presParOf" srcId="{FF7AC295-5A21-495D-A272-A37EB290B380}" destId="{E808F746-E006-4615-AEA4-EF129ABDB563}" srcOrd="1" destOrd="0" presId="urn:microsoft.com/office/officeart/2005/8/layout/hList1"/>
    <dgm:cxn modelId="{709C5461-D31F-45E2-A043-75AC52267287}" type="presParOf" srcId="{E7DBC792-2332-4E98-9ACE-1AD270D83202}" destId="{7F571CC1-ACAD-4307-A01F-437094F8079A}" srcOrd="3" destOrd="0" presId="urn:microsoft.com/office/officeart/2005/8/layout/hList1"/>
    <dgm:cxn modelId="{C4FBBA86-E96B-4C84-B79A-8139B0F73803}" type="presParOf" srcId="{E7DBC792-2332-4E98-9ACE-1AD270D83202}" destId="{741F756D-9101-4682-9899-A2B9B726D4A3}" srcOrd="4" destOrd="0" presId="urn:microsoft.com/office/officeart/2005/8/layout/hList1"/>
    <dgm:cxn modelId="{B4E0CCB8-8B67-47E6-B926-F99F6EB07D35}" type="presParOf" srcId="{741F756D-9101-4682-9899-A2B9B726D4A3}" destId="{C665EBAE-9E53-445A-BB78-20B97679441F}" srcOrd="0" destOrd="0" presId="urn:microsoft.com/office/officeart/2005/8/layout/hList1"/>
    <dgm:cxn modelId="{922F33CE-E5A2-4908-B401-72C8A526BC87}" type="presParOf" srcId="{741F756D-9101-4682-9899-A2B9B726D4A3}" destId="{E52EA988-E7A4-4040-B276-B47F8CB14991}"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D0408E-6582-4B01-AD74-689AB62DCDAE}">
      <dsp:nvSpPr>
        <dsp:cNvPr id="0" name=""/>
        <dsp:cNvSpPr/>
      </dsp:nvSpPr>
      <dsp:spPr>
        <a:xfrm>
          <a:off x="-3675051" y="-564652"/>
          <a:ext cx="4380772" cy="4380772"/>
        </a:xfrm>
        <a:prstGeom prst="blockArc">
          <a:avLst>
            <a:gd name="adj1" fmla="val 18900000"/>
            <a:gd name="adj2" fmla="val 2700000"/>
            <a:gd name="adj3" fmla="val 493"/>
          </a:avLst>
        </a:pr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80B384-CC00-4566-9176-690D557EBCC2}">
      <dsp:nvSpPr>
        <dsp:cNvPr id="0" name=""/>
        <dsp:cNvSpPr/>
      </dsp:nvSpPr>
      <dsp:spPr>
        <a:xfrm>
          <a:off x="453820" y="325146"/>
          <a:ext cx="5599825" cy="650293"/>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16171" tIns="86360" rIns="86360" bIns="86360" numCol="1" spcCol="1270" anchor="ctr" anchorCtr="0">
          <a:noAutofit/>
        </a:bodyPr>
        <a:lstStyle/>
        <a:p>
          <a:pPr lvl="0" algn="l" defTabSz="1511300">
            <a:lnSpc>
              <a:spcPct val="90000"/>
            </a:lnSpc>
            <a:spcBef>
              <a:spcPct val="0"/>
            </a:spcBef>
            <a:spcAft>
              <a:spcPct val="35000"/>
            </a:spcAft>
          </a:pPr>
          <a:r>
            <a:rPr lang="en-US" sz="3400" kern="1200" dirty="0" smtClean="0"/>
            <a:t>ORDER BY Clauses</a:t>
          </a:r>
          <a:endParaRPr lang="en-US" sz="3400" kern="1200" dirty="0"/>
        </a:p>
      </dsp:txBody>
      <dsp:txXfrm>
        <a:off x="453820" y="325146"/>
        <a:ext cx="5599825" cy="650293"/>
      </dsp:txXfrm>
    </dsp:sp>
    <dsp:sp modelId="{2BBA3E43-F5A6-4154-A76B-4DD73EC77E10}">
      <dsp:nvSpPr>
        <dsp:cNvPr id="0" name=""/>
        <dsp:cNvSpPr/>
      </dsp:nvSpPr>
      <dsp:spPr>
        <a:xfrm>
          <a:off x="47387" y="243860"/>
          <a:ext cx="812867" cy="812867"/>
        </a:xfrm>
        <a:prstGeom prst="ellipse">
          <a:avLst/>
        </a:prstGeom>
        <a:solidFill>
          <a:schemeClr val="lt1">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1745622-BE79-42FC-9C50-A6669D1767F2}">
      <dsp:nvSpPr>
        <dsp:cNvPr id="0" name=""/>
        <dsp:cNvSpPr/>
      </dsp:nvSpPr>
      <dsp:spPr>
        <a:xfrm>
          <a:off x="690202" y="1300587"/>
          <a:ext cx="5363444" cy="650293"/>
        </a:xfrm>
        <a:prstGeom prst="rect">
          <a:avLst/>
        </a:prstGeom>
        <a:solidFill>
          <a:schemeClr val="accent4">
            <a:hueOff val="5197846"/>
            <a:satOff val="-23984"/>
            <a:lumOff val="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16171" tIns="86360" rIns="86360" bIns="86360" numCol="1" spcCol="1270" anchor="ctr" anchorCtr="0">
          <a:noAutofit/>
        </a:bodyPr>
        <a:lstStyle/>
        <a:p>
          <a:pPr lvl="0" algn="l" defTabSz="1511300">
            <a:lnSpc>
              <a:spcPct val="90000"/>
            </a:lnSpc>
            <a:spcBef>
              <a:spcPct val="0"/>
            </a:spcBef>
            <a:spcAft>
              <a:spcPct val="35000"/>
            </a:spcAft>
          </a:pPr>
          <a:r>
            <a:rPr lang="en-US" sz="3400" kern="1200" dirty="0" smtClean="0"/>
            <a:t>DISTINCT Clause</a:t>
          </a:r>
          <a:endParaRPr lang="en-US" sz="3400" kern="1200" dirty="0"/>
        </a:p>
      </dsp:txBody>
      <dsp:txXfrm>
        <a:off x="690202" y="1300587"/>
        <a:ext cx="5363444" cy="650293"/>
      </dsp:txXfrm>
    </dsp:sp>
    <dsp:sp modelId="{582B57E9-C0F6-4FFC-9ABC-BC3A2993A59C}">
      <dsp:nvSpPr>
        <dsp:cNvPr id="0" name=""/>
        <dsp:cNvSpPr/>
      </dsp:nvSpPr>
      <dsp:spPr>
        <a:xfrm>
          <a:off x="283768" y="1219300"/>
          <a:ext cx="812867" cy="812867"/>
        </a:xfrm>
        <a:prstGeom prst="ellipse">
          <a:avLst/>
        </a:prstGeom>
        <a:solidFill>
          <a:schemeClr val="lt1">
            <a:hueOff val="0"/>
            <a:satOff val="0"/>
            <a:lumOff val="0"/>
            <a:alphaOff val="0"/>
          </a:schemeClr>
        </a:solidFill>
        <a:ln w="12700" cap="flat" cmpd="sng" algn="ctr">
          <a:solidFill>
            <a:schemeClr val="accent4">
              <a:hueOff val="5197846"/>
              <a:satOff val="-23984"/>
              <a:lumOff val="883"/>
              <a:alphaOff val="0"/>
            </a:schemeClr>
          </a:solidFill>
          <a:prstDash val="solid"/>
          <a:miter lim="800000"/>
        </a:ln>
        <a:effectLst/>
      </dsp:spPr>
      <dsp:style>
        <a:lnRef idx="2">
          <a:scrgbClr r="0" g="0" b="0"/>
        </a:lnRef>
        <a:fillRef idx="1">
          <a:scrgbClr r="0" g="0" b="0"/>
        </a:fillRef>
        <a:effectRef idx="0">
          <a:scrgbClr r="0" g="0" b="0"/>
        </a:effectRef>
        <a:fontRef idx="minor"/>
      </dsp:style>
    </dsp:sp>
    <dsp:sp modelId="{52551EA3-7EBA-4CCA-AD33-7B8BFB2FFA94}">
      <dsp:nvSpPr>
        <dsp:cNvPr id="0" name=""/>
        <dsp:cNvSpPr/>
      </dsp:nvSpPr>
      <dsp:spPr>
        <a:xfrm>
          <a:off x="453820" y="2276027"/>
          <a:ext cx="5599825" cy="650293"/>
        </a:xfrm>
        <a:prstGeom prst="rect">
          <a:avLst/>
        </a:prstGeom>
        <a:solidFill>
          <a:schemeClr val="accent4">
            <a:hueOff val="10395692"/>
            <a:satOff val="-47968"/>
            <a:lumOff val="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16171" tIns="86360" rIns="86360" bIns="86360" numCol="1" spcCol="1270" anchor="ctr" anchorCtr="0">
          <a:noAutofit/>
        </a:bodyPr>
        <a:lstStyle/>
        <a:p>
          <a:pPr lvl="0" algn="l" defTabSz="1511300">
            <a:lnSpc>
              <a:spcPct val="90000"/>
            </a:lnSpc>
            <a:spcBef>
              <a:spcPct val="0"/>
            </a:spcBef>
            <a:spcAft>
              <a:spcPct val="35000"/>
            </a:spcAft>
          </a:pPr>
          <a:r>
            <a:rPr lang="en-US" sz="3400" kern="1200" dirty="0" smtClean="0"/>
            <a:t>NULL value</a:t>
          </a:r>
          <a:endParaRPr lang="en-US" sz="3400" kern="1200" dirty="0"/>
        </a:p>
      </dsp:txBody>
      <dsp:txXfrm>
        <a:off x="453820" y="2276027"/>
        <a:ext cx="5599825" cy="650293"/>
      </dsp:txXfrm>
    </dsp:sp>
    <dsp:sp modelId="{E2CE3905-5FDD-422F-97A4-2161092EC16C}">
      <dsp:nvSpPr>
        <dsp:cNvPr id="0" name=""/>
        <dsp:cNvSpPr/>
      </dsp:nvSpPr>
      <dsp:spPr>
        <a:xfrm>
          <a:off x="47387" y="2194740"/>
          <a:ext cx="812867" cy="812867"/>
        </a:xfrm>
        <a:prstGeom prst="ellipse">
          <a:avLst/>
        </a:prstGeom>
        <a:solidFill>
          <a:schemeClr val="lt1">
            <a:hueOff val="0"/>
            <a:satOff val="0"/>
            <a:lumOff val="0"/>
            <a:alphaOff val="0"/>
          </a:schemeClr>
        </a:solidFill>
        <a:ln w="12700" cap="flat" cmpd="sng" algn="ctr">
          <a:solidFill>
            <a:schemeClr val="accent4">
              <a:hueOff val="10395692"/>
              <a:satOff val="-47968"/>
              <a:lumOff val="1765"/>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15D1FA-74E4-414F-9521-FA257B2373B7}">
      <dsp:nvSpPr>
        <dsp:cNvPr id="0" name=""/>
        <dsp:cNvSpPr/>
      </dsp:nvSpPr>
      <dsp:spPr>
        <a:xfrm>
          <a:off x="-3688669" y="-566722"/>
          <a:ext cx="4396949" cy="4396949"/>
        </a:xfrm>
        <a:prstGeom prst="blockArc">
          <a:avLst>
            <a:gd name="adj1" fmla="val 18900000"/>
            <a:gd name="adj2" fmla="val 2700000"/>
            <a:gd name="adj3" fmla="val 491"/>
          </a:avLst>
        </a:pr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65200F-ECA3-43AD-833E-386018FF2EC8}">
      <dsp:nvSpPr>
        <dsp:cNvPr id="0" name=""/>
        <dsp:cNvSpPr/>
      </dsp:nvSpPr>
      <dsp:spPr>
        <a:xfrm>
          <a:off x="455467" y="326350"/>
          <a:ext cx="7388689" cy="652700"/>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18081" tIns="86360" rIns="86360" bIns="86360" numCol="1" spcCol="1270" anchor="ctr" anchorCtr="0">
          <a:noAutofit/>
        </a:bodyPr>
        <a:lstStyle/>
        <a:p>
          <a:pPr lvl="0" algn="l" defTabSz="1511300">
            <a:lnSpc>
              <a:spcPct val="90000"/>
            </a:lnSpc>
            <a:spcBef>
              <a:spcPct val="0"/>
            </a:spcBef>
            <a:spcAft>
              <a:spcPct val="35000"/>
            </a:spcAft>
          </a:pPr>
          <a:r>
            <a:rPr lang="en-US" sz="3400" kern="1200" dirty="0" smtClean="0"/>
            <a:t>Primary Key</a:t>
          </a:r>
          <a:endParaRPr lang="en-US" sz="3400" kern="1200" dirty="0"/>
        </a:p>
      </dsp:txBody>
      <dsp:txXfrm>
        <a:off x="455467" y="326350"/>
        <a:ext cx="7388689" cy="652700"/>
      </dsp:txXfrm>
    </dsp:sp>
    <dsp:sp modelId="{AC1B8001-7565-42E8-A39D-A42A91C3D7B5}">
      <dsp:nvSpPr>
        <dsp:cNvPr id="0" name=""/>
        <dsp:cNvSpPr/>
      </dsp:nvSpPr>
      <dsp:spPr>
        <a:xfrm>
          <a:off x="47529" y="244762"/>
          <a:ext cx="815876" cy="815876"/>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6531F6-E917-4124-92C5-BAAA6A2356F3}">
      <dsp:nvSpPr>
        <dsp:cNvPr id="0" name=""/>
        <dsp:cNvSpPr/>
      </dsp:nvSpPr>
      <dsp:spPr>
        <a:xfrm>
          <a:off x="692723" y="1305401"/>
          <a:ext cx="7151432" cy="652700"/>
        </a:xfrm>
        <a:prstGeom prst="rect">
          <a:avLst/>
        </a:prstGeom>
        <a:solidFill>
          <a:schemeClr val="accent3">
            <a:hueOff val="1355300"/>
            <a:satOff val="50000"/>
            <a:lumOff val="-7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18081" tIns="86360" rIns="86360" bIns="86360" numCol="1" spcCol="1270" anchor="ctr" anchorCtr="0">
          <a:noAutofit/>
        </a:bodyPr>
        <a:lstStyle/>
        <a:p>
          <a:pPr lvl="0" algn="l" defTabSz="1511300">
            <a:lnSpc>
              <a:spcPct val="90000"/>
            </a:lnSpc>
            <a:spcBef>
              <a:spcPct val="0"/>
            </a:spcBef>
            <a:spcAft>
              <a:spcPct val="35000"/>
            </a:spcAft>
          </a:pPr>
          <a:r>
            <a:rPr lang="en-US" sz="3400" kern="1200" dirty="0" smtClean="0"/>
            <a:t>Foreign Key</a:t>
          </a:r>
          <a:endParaRPr lang="en-US" sz="3400" kern="1200" dirty="0"/>
        </a:p>
      </dsp:txBody>
      <dsp:txXfrm>
        <a:off x="692723" y="1305401"/>
        <a:ext cx="7151432" cy="652700"/>
      </dsp:txXfrm>
    </dsp:sp>
    <dsp:sp modelId="{3304F0BC-EB4A-4290-892A-2738F2EABB5C}">
      <dsp:nvSpPr>
        <dsp:cNvPr id="0" name=""/>
        <dsp:cNvSpPr/>
      </dsp:nvSpPr>
      <dsp:spPr>
        <a:xfrm>
          <a:off x="284785" y="1223814"/>
          <a:ext cx="815876" cy="815876"/>
        </a:xfrm>
        <a:prstGeom prst="ellipse">
          <a:avLst/>
        </a:prstGeom>
        <a:solidFill>
          <a:schemeClr val="lt1">
            <a:hueOff val="0"/>
            <a:satOff val="0"/>
            <a:lumOff val="0"/>
            <a:alphaOff val="0"/>
          </a:schemeClr>
        </a:solidFill>
        <a:ln w="12700" cap="flat" cmpd="sng" algn="ctr">
          <a:solidFill>
            <a:schemeClr val="accent3">
              <a:hueOff val="1355300"/>
              <a:satOff val="50000"/>
              <a:lumOff val="-7353"/>
              <a:alphaOff val="0"/>
            </a:schemeClr>
          </a:solidFill>
          <a:prstDash val="solid"/>
          <a:miter lim="800000"/>
        </a:ln>
        <a:effectLst/>
      </dsp:spPr>
      <dsp:style>
        <a:lnRef idx="2">
          <a:scrgbClr r="0" g="0" b="0"/>
        </a:lnRef>
        <a:fillRef idx="1">
          <a:scrgbClr r="0" g="0" b="0"/>
        </a:fillRef>
        <a:effectRef idx="0">
          <a:scrgbClr r="0" g="0" b="0"/>
        </a:effectRef>
        <a:fontRef idx="minor"/>
      </dsp:style>
    </dsp:sp>
    <dsp:sp modelId="{5FFDF0A8-4DDC-4E17-8677-FD6450D53B1B}">
      <dsp:nvSpPr>
        <dsp:cNvPr id="0" name=""/>
        <dsp:cNvSpPr/>
      </dsp:nvSpPr>
      <dsp:spPr>
        <a:xfrm>
          <a:off x="455467" y="2284452"/>
          <a:ext cx="7388689" cy="652700"/>
        </a:xfrm>
        <a:prstGeom prst="rect">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18081" tIns="86360" rIns="86360" bIns="86360" numCol="1" spcCol="1270" anchor="ctr" anchorCtr="0">
          <a:noAutofit/>
        </a:bodyPr>
        <a:lstStyle/>
        <a:p>
          <a:pPr lvl="0" algn="l" defTabSz="1511300">
            <a:lnSpc>
              <a:spcPct val="90000"/>
            </a:lnSpc>
            <a:spcBef>
              <a:spcPct val="0"/>
            </a:spcBef>
            <a:spcAft>
              <a:spcPct val="35000"/>
            </a:spcAft>
          </a:pPr>
          <a:r>
            <a:rPr lang="en-US" sz="3400" kern="1200" dirty="0" smtClean="0"/>
            <a:t>Check</a:t>
          </a:r>
          <a:endParaRPr lang="en-US" sz="3400" kern="1200" dirty="0"/>
        </a:p>
      </dsp:txBody>
      <dsp:txXfrm>
        <a:off x="455467" y="2284452"/>
        <a:ext cx="7388689" cy="652700"/>
      </dsp:txXfrm>
    </dsp:sp>
    <dsp:sp modelId="{5B23F11F-4E6F-4A14-A31E-EB285D168684}">
      <dsp:nvSpPr>
        <dsp:cNvPr id="0" name=""/>
        <dsp:cNvSpPr/>
      </dsp:nvSpPr>
      <dsp:spPr>
        <a:xfrm>
          <a:off x="47529" y="2202865"/>
          <a:ext cx="815876" cy="815876"/>
        </a:xfrm>
        <a:prstGeom prst="ellipse">
          <a:avLst/>
        </a:prstGeom>
        <a:solidFill>
          <a:schemeClr val="lt1">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EE3C28-1A43-45FC-977B-98E8B6B1DA74}">
      <dsp:nvSpPr>
        <dsp:cNvPr id="0" name=""/>
        <dsp:cNvSpPr/>
      </dsp:nvSpPr>
      <dsp:spPr>
        <a:xfrm>
          <a:off x="2464" y="588832"/>
          <a:ext cx="2402978" cy="460800"/>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lvl="0" algn="ctr" defTabSz="711200">
            <a:lnSpc>
              <a:spcPct val="90000"/>
            </a:lnSpc>
            <a:spcBef>
              <a:spcPct val="0"/>
            </a:spcBef>
            <a:spcAft>
              <a:spcPct val="35000"/>
            </a:spcAft>
          </a:pPr>
          <a:r>
            <a:rPr lang="en-US" sz="1600" kern="1200" dirty="0" smtClean="0"/>
            <a:t>AVG()</a:t>
          </a:r>
          <a:endParaRPr lang="en-US" sz="1600" kern="1200" dirty="0"/>
        </a:p>
      </dsp:txBody>
      <dsp:txXfrm>
        <a:off x="2464" y="588832"/>
        <a:ext cx="2402978" cy="460800"/>
      </dsp:txXfrm>
    </dsp:sp>
    <dsp:sp modelId="{87580D52-1E2E-44F5-920E-D5A7E4E06918}">
      <dsp:nvSpPr>
        <dsp:cNvPr id="0" name=""/>
        <dsp:cNvSpPr/>
      </dsp:nvSpPr>
      <dsp:spPr>
        <a:xfrm>
          <a:off x="2464" y="1049632"/>
          <a:ext cx="2402978" cy="1625040"/>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smtClean="0"/>
            <a:t>Returns the average value of numeric column</a:t>
          </a:r>
          <a:endParaRPr lang="en-US" sz="1600" kern="1200" dirty="0"/>
        </a:p>
        <a:p>
          <a:pPr marL="171450" lvl="1" indent="-171450" algn="l" defTabSz="711200">
            <a:lnSpc>
              <a:spcPct val="90000"/>
            </a:lnSpc>
            <a:spcBef>
              <a:spcPct val="0"/>
            </a:spcBef>
            <a:spcAft>
              <a:spcPct val="15000"/>
            </a:spcAft>
            <a:buChar char="••"/>
          </a:pPr>
          <a:r>
            <a:rPr lang="en-US" sz="1600" b="0" i="0" kern="1200" dirty="0" smtClean="0"/>
            <a:t>SELECT AVG(</a:t>
          </a:r>
          <a:r>
            <a:rPr lang="en-US" sz="1600" b="0" i="0" kern="1200" dirty="0" err="1" smtClean="0"/>
            <a:t>column_name</a:t>
          </a:r>
          <a:r>
            <a:rPr lang="en-US" sz="1600" b="0" i="0" kern="1200" dirty="0" smtClean="0"/>
            <a:t>) FROM </a:t>
          </a:r>
          <a:r>
            <a:rPr lang="en-US" sz="1600" b="0" i="0" kern="1200" dirty="0" err="1" smtClean="0"/>
            <a:t>table_name</a:t>
          </a:r>
          <a:endParaRPr lang="en-US" sz="1600" kern="1200" dirty="0"/>
        </a:p>
      </dsp:txBody>
      <dsp:txXfrm>
        <a:off x="2464" y="1049632"/>
        <a:ext cx="2402978" cy="1625040"/>
      </dsp:txXfrm>
    </dsp:sp>
    <dsp:sp modelId="{4CEF46E6-D354-4643-A3A5-77D36F468B72}">
      <dsp:nvSpPr>
        <dsp:cNvPr id="0" name=""/>
        <dsp:cNvSpPr/>
      </dsp:nvSpPr>
      <dsp:spPr>
        <a:xfrm>
          <a:off x="2741860" y="588832"/>
          <a:ext cx="2402978" cy="460800"/>
        </a:xfrm>
        <a:prstGeom prst="rect">
          <a:avLst/>
        </a:prstGeom>
        <a:solidFill>
          <a:schemeClr val="accent3">
            <a:hueOff val="1355300"/>
            <a:satOff val="50000"/>
            <a:lumOff val="-7353"/>
            <a:alphaOff val="0"/>
          </a:schemeClr>
        </a:solidFill>
        <a:ln w="12700" cap="flat" cmpd="sng" algn="ctr">
          <a:solidFill>
            <a:schemeClr val="accent3">
              <a:hueOff val="1355300"/>
              <a:satOff val="50000"/>
              <a:lumOff val="-735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lvl="0" algn="ctr" defTabSz="711200">
            <a:lnSpc>
              <a:spcPct val="90000"/>
            </a:lnSpc>
            <a:spcBef>
              <a:spcPct val="0"/>
            </a:spcBef>
            <a:spcAft>
              <a:spcPct val="35000"/>
            </a:spcAft>
          </a:pPr>
          <a:r>
            <a:rPr lang="en-US" sz="1600" kern="1200" dirty="0" smtClean="0"/>
            <a:t>LEN()</a:t>
          </a:r>
          <a:endParaRPr lang="en-US" sz="1600" kern="1200" dirty="0"/>
        </a:p>
      </dsp:txBody>
      <dsp:txXfrm>
        <a:off x="2741860" y="588832"/>
        <a:ext cx="2402978" cy="460800"/>
      </dsp:txXfrm>
    </dsp:sp>
    <dsp:sp modelId="{E808F746-E006-4615-AEA4-EF129ABDB563}">
      <dsp:nvSpPr>
        <dsp:cNvPr id="0" name=""/>
        <dsp:cNvSpPr/>
      </dsp:nvSpPr>
      <dsp:spPr>
        <a:xfrm>
          <a:off x="2741860" y="1049632"/>
          <a:ext cx="2402978" cy="1625040"/>
        </a:xfrm>
        <a:prstGeom prst="rect">
          <a:avLst/>
        </a:prstGeom>
        <a:solidFill>
          <a:schemeClr val="accent3">
            <a:tint val="40000"/>
            <a:alpha val="90000"/>
            <a:hueOff val="1014570"/>
            <a:satOff val="50000"/>
            <a:lumOff val="890"/>
            <a:alphaOff val="0"/>
          </a:schemeClr>
        </a:solidFill>
        <a:ln w="12700" cap="flat" cmpd="sng" algn="ctr">
          <a:solidFill>
            <a:schemeClr val="accent3">
              <a:tint val="40000"/>
              <a:alpha val="90000"/>
              <a:hueOff val="1014570"/>
              <a:satOff val="50000"/>
              <a:lumOff val="89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b="0" i="0" kern="1200" dirty="0" smtClean="0"/>
            <a:t>returns the length of the value in a text field.</a:t>
          </a:r>
          <a:endParaRPr lang="en-US" sz="1600" kern="1200" dirty="0"/>
        </a:p>
        <a:p>
          <a:pPr marL="171450" lvl="1" indent="-171450" algn="l" defTabSz="711200">
            <a:lnSpc>
              <a:spcPct val="90000"/>
            </a:lnSpc>
            <a:spcBef>
              <a:spcPct val="0"/>
            </a:spcBef>
            <a:spcAft>
              <a:spcPct val="15000"/>
            </a:spcAft>
            <a:buChar char="••"/>
          </a:pPr>
          <a:r>
            <a:rPr lang="en-US" sz="1600" b="0" i="0" kern="1200" smtClean="0"/>
            <a:t>SELECT LEN(column_name) FROM table_name;</a:t>
          </a:r>
          <a:endParaRPr lang="en-US" sz="1600" kern="1200"/>
        </a:p>
      </dsp:txBody>
      <dsp:txXfrm>
        <a:off x="2741860" y="1049632"/>
        <a:ext cx="2402978" cy="1625040"/>
      </dsp:txXfrm>
    </dsp:sp>
    <dsp:sp modelId="{C665EBAE-9E53-445A-BB78-20B97679441F}">
      <dsp:nvSpPr>
        <dsp:cNvPr id="0" name=""/>
        <dsp:cNvSpPr/>
      </dsp:nvSpPr>
      <dsp:spPr>
        <a:xfrm>
          <a:off x="5481256" y="588832"/>
          <a:ext cx="2402978" cy="460800"/>
        </a:xfrm>
        <a:prstGeom prst="rect">
          <a:avLst/>
        </a:prstGeom>
        <a:solidFill>
          <a:schemeClr val="accent3">
            <a:hueOff val="2710599"/>
            <a:satOff val="100000"/>
            <a:lumOff val="-14706"/>
            <a:alphaOff val="0"/>
          </a:schemeClr>
        </a:solidFill>
        <a:ln w="12700" cap="flat" cmpd="sng" algn="ctr">
          <a:solidFill>
            <a:schemeClr val="accent3">
              <a:hueOff val="2710599"/>
              <a:satOff val="100000"/>
              <a:lumOff val="-1470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lvl="0" algn="ctr" defTabSz="711200">
            <a:lnSpc>
              <a:spcPct val="90000"/>
            </a:lnSpc>
            <a:spcBef>
              <a:spcPct val="0"/>
            </a:spcBef>
            <a:spcAft>
              <a:spcPct val="35000"/>
            </a:spcAft>
          </a:pPr>
          <a:r>
            <a:rPr lang="en-US" sz="1600" kern="1200" dirty="0" smtClean="0"/>
            <a:t>COUNT()</a:t>
          </a:r>
          <a:endParaRPr lang="en-US" sz="1600" kern="1200" dirty="0"/>
        </a:p>
      </dsp:txBody>
      <dsp:txXfrm>
        <a:off x="5481256" y="588832"/>
        <a:ext cx="2402978" cy="460800"/>
      </dsp:txXfrm>
    </dsp:sp>
    <dsp:sp modelId="{E52EA988-E7A4-4040-B276-B47F8CB14991}">
      <dsp:nvSpPr>
        <dsp:cNvPr id="0" name=""/>
        <dsp:cNvSpPr/>
      </dsp:nvSpPr>
      <dsp:spPr>
        <a:xfrm>
          <a:off x="5481256" y="1049632"/>
          <a:ext cx="2402978" cy="1625040"/>
        </a:xfrm>
        <a:prstGeom prst="rect">
          <a:avLst/>
        </a:prstGeom>
        <a:solidFill>
          <a:schemeClr val="accent3">
            <a:tint val="40000"/>
            <a:alpha val="90000"/>
            <a:hueOff val="2029141"/>
            <a:satOff val="100000"/>
            <a:lumOff val="1779"/>
            <a:alphaOff val="0"/>
          </a:schemeClr>
        </a:solidFill>
        <a:ln w="12700" cap="flat" cmpd="sng" algn="ctr">
          <a:solidFill>
            <a:schemeClr val="accent3">
              <a:tint val="40000"/>
              <a:alpha val="90000"/>
              <a:hueOff val="2029141"/>
              <a:satOff val="100000"/>
              <a:lumOff val="177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b="0" i="0" kern="1200" dirty="0" smtClean="0"/>
            <a:t>returns the number of rows that matches a specified criteria.</a:t>
          </a:r>
          <a:endParaRPr lang="en-US" sz="1600" kern="1200" dirty="0"/>
        </a:p>
        <a:p>
          <a:pPr marL="171450" lvl="1" indent="-171450" algn="l" defTabSz="711200">
            <a:lnSpc>
              <a:spcPct val="90000"/>
            </a:lnSpc>
            <a:spcBef>
              <a:spcPct val="0"/>
            </a:spcBef>
            <a:spcAft>
              <a:spcPct val="15000"/>
            </a:spcAft>
            <a:buChar char="••"/>
          </a:pPr>
          <a:r>
            <a:rPr lang="en-US" sz="1600" b="0" i="0" kern="1200" dirty="0" smtClean="0"/>
            <a:t>SELECT COUNT(</a:t>
          </a:r>
          <a:r>
            <a:rPr lang="en-US" sz="1600" b="0" i="0" kern="1200" dirty="0" err="1" smtClean="0"/>
            <a:t>column_name</a:t>
          </a:r>
          <a:r>
            <a:rPr lang="en-US" sz="1600" b="0" i="0" kern="1200" dirty="0" smtClean="0"/>
            <a:t>) FROM </a:t>
          </a:r>
          <a:r>
            <a:rPr lang="en-US" sz="1600" b="0" i="0" kern="1200" dirty="0" err="1" smtClean="0"/>
            <a:t>table_name</a:t>
          </a:r>
          <a:r>
            <a:rPr lang="en-US" sz="1600" b="0" i="0" kern="1200" dirty="0" smtClean="0"/>
            <a:t>;</a:t>
          </a:r>
          <a:endParaRPr lang="en-US" sz="1600" kern="1200" dirty="0"/>
        </a:p>
      </dsp:txBody>
      <dsp:txXfrm>
        <a:off x="5481256" y="1049632"/>
        <a:ext cx="2402978" cy="1625040"/>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A2CA1C-82D6-4987-8272-09D44CFC9AAB}" type="datetimeFigureOut">
              <a:rPr lang="en-US" smtClean="0"/>
              <a:t>7/2/2016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6FA548-67E9-478F-A114-2BC23F15EB1B}" type="slidenum">
              <a:rPr lang="en-US" smtClean="0"/>
              <a:t>‹#›</a:t>
            </a:fld>
            <a:endParaRPr lang="en-US"/>
          </a:p>
        </p:txBody>
      </p:sp>
    </p:spTree>
    <p:extLst>
      <p:ext uri="{BB962C8B-B14F-4D97-AF65-F5344CB8AC3E}">
        <p14:creationId xmlns:p14="http://schemas.microsoft.com/office/powerpoint/2010/main" val="449978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898"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ln>
        </p:spPr>
      </p:sp>
      <p:sp>
        <p:nvSpPr>
          <p:cNvPr id="80899" name="Rectangle 2"/>
          <p:cNvSpPr>
            <a:spLocks noGrp="1" noChangeArrowheads="1"/>
          </p:cNvSpPr>
          <p:nvPr>
            <p:ph type="body" idx="1"/>
          </p:nvPr>
        </p:nvSpPr>
        <p:spPr>
          <a:xfrm>
            <a:off x="685800" y="4343400"/>
            <a:ext cx="5446713" cy="4076700"/>
          </a:xfrm>
          <a:noFill/>
          <a:ln/>
        </p:spPr>
        <p:txBody>
          <a:bodyPr wrap="none" anchor="ctr"/>
          <a:lstStyle/>
          <a:p>
            <a:endParaRPr lang="en-US" dirty="0" smtClean="0"/>
          </a:p>
        </p:txBody>
      </p:sp>
    </p:spTree>
    <p:extLst>
      <p:ext uri="{BB962C8B-B14F-4D97-AF65-F5344CB8AC3E}">
        <p14:creationId xmlns:p14="http://schemas.microsoft.com/office/powerpoint/2010/main" val="41880584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F98010B-FC5E-4C27-B43B-137998F61C16}" type="datetimeFigureOut">
              <a:rPr lang="en-US" smtClean="0"/>
              <a:t>7/2/2016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3102391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F98010B-FC5E-4C27-B43B-137998F61C16}" type="datetimeFigureOut">
              <a:rPr lang="en-US" smtClean="0"/>
              <a:t>7/2/2016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4055351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F98010B-FC5E-4C27-B43B-137998F61C16}" type="datetimeFigureOut">
              <a:rPr lang="en-US" smtClean="0"/>
              <a:t>7/2/2016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390149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F98010B-FC5E-4C27-B43B-137998F61C16}" type="datetimeFigureOut">
              <a:rPr lang="en-US" smtClean="0"/>
              <a:t>7/2/2016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1565839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F98010B-FC5E-4C27-B43B-137998F61C16}" type="datetimeFigureOut">
              <a:rPr lang="en-US" smtClean="0"/>
              <a:t>7/2/2016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3055900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F98010B-FC5E-4C27-B43B-137998F61C16}" type="datetimeFigureOut">
              <a:rPr lang="en-US" smtClean="0"/>
              <a:t>7/2/2016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119756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98010B-FC5E-4C27-B43B-137998F61C16}" type="datetimeFigureOut">
              <a:rPr lang="en-US" smtClean="0"/>
              <a:t>7/2/2016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2968716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F98010B-FC5E-4C27-B43B-137998F61C16}" type="datetimeFigureOut">
              <a:rPr lang="en-US" smtClean="0"/>
              <a:t>7/2/2016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164124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F98010B-FC5E-4C27-B43B-137998F61C16}" type="datetimeFigureOut">
              <a:rPr lang="en-US" smtClean="0"/>
              <a:t>7/2/2016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3665957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F98010B-FC5E-4C27-B43B-137998F61C16}" type="datetimeFigureOut">
              <a:rPr lang="en-US" smtClean="0"/>
              <a:t>7/2/2016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823003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F98010B-FC5E-4C27-B43B-137998F61C16}" type="datetimeFigureOut">
              <a:rPr lang="en-US" smtClean="0"/>
              <a:t>7/2/2016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583613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98010B-FC5E-4C27-B43B-137998F61C16}" type="datetimeFigureOut">
              <a:rPr lang="en-US" smtClean="0"/>
              <a:t>7/2/2016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954BEE-865D-433D-8F00-28C0A03EDA7A}" type="slidenum">
              <a:rPr lang="en-US" smtClean="0"/>
              <a:t>‹#›</a:t>
            </a:fld>
            <a:endParaRPr lang="en-US"/>
          </a:p>
        </p:txBody>
      </p:sp>
      <p:sp>
        <p:nvSpPr>
          <p:cNvPr id="7" name="Rectangle 6"/>
          <p:cNvSpPr>
            <a:spLocks noChangeArrowheads="1"/>
          </p:cNvSpPr>
          <p:nvPr userDrawn="1"/>
        </p:nvSpPr>
        <p:spPr bwMode="auto">
          <a:xfrm>
            <a:off x="0" y="1"/>
            <a:ext cx="9144000" cy="188586"/>
          </a:xfrm>
          <a:prstGeom prst="rect">
            <a:avLst/>
          </a:prstGeom>
          <a:solidFill>
            <a:srgbClr val="C00000"/>
          </a:solidFill>
          <a:ln w="9525">
            <a:noFill/>
            <a:round/>
            <a:headEnd/>
            <a:tailEnd/>
          </a:ln>
          <a:effectLst/>
        </p:spPr>
        <p:txBody>
          <a:bodyPr wrap="none" anchor="ctr"/>
          <a:lstStyle/>
          <a:p>
            <a:pPr algn="r">
              <a:defRPr/>
            </a:pPr>
            <a:r>
              <a:rPr lang="en-SG" sz="1350" dirty="0" err="1" smtClean="0">
                <a:solidFill>
                  <a:schemeClr val="bg1"/>
                </a:solidFill>
              </a:rPr>
              <a:t>iAcademy</a:t>
            </a:r>
            <a:endParaRPr lang="en-SG" sz="1350" dirty="0">
              <a:solidFill>
                <a:schemeClr val="bg1"/>
              </a:solidFill>
            </a:endParaRPr>
          </a:p>
        </p:txBody>
      </p:sp>
      <p:sp>
        <p:nvSpPr>
          <p:cNvPr id="8" name="Rectangle 6"/>
          <p:cNvSpPr>
            <a:spLocks noChangeArrowheads="1"/>
          </p:cNvSpPr>
          <p:nvPr userDrawn="1"/>
        </p:nvSpPr>
        <p:spPr bwMode="auto">
          <a:xfrm>
            <a:off x="-24" y="6654800"/>
            <a:ext cx="9144024" cy="203200"/>
          </a:xfrm>
          <a:prstGeom prst="rect">
            <a:avLst/>
          </a:prstGeom>
          <a:solidFill>
            <a:srgbClr val="C00000"/>
          </a:solidFill>
          <a:ln w="9525">
            <a:noFill/>
            <a:round/>
            <a:headEnd/>
            <a:tailEnd/>
          </a:ln>
          <a:effectLst/>
        </p:spPr>
        <p:txBody>
          <a:bodyPr wrap="none" anchor="ctr"/>
          <a:lstStyle/>
          <a:p>
            <a:pPr marL="0" marR="0" indent="0" algn="l" defTabSz="336947" rtl="0" eaLnBrk="1" fontAlgn="base" latinLnBrk="0" hangingPunct="1">
              <a:lnSpc>
                <a:spcPct val="100000"/>
              </a:lnSpc>
              <a:spcBef>
                <a:spcPct val="0"/>
              </a:spcBef>
              <a:spcAft>
                <a:spcPct val="0"/>
              </a:spcAft>
              <a:buClr>
                <a:srgbClr val="000000"/>
              </a:buClr>
              <a:buSzPct val="100000"/>
              <a:buFont typeface="Times New Roman" pitchFamily="16" charset="0"/>
              <a:buNone/>
              <a:tabLst/>
              <a:defRPr/>
            </a:pPr>
            <a:r>
              <a:rPr lang="en-SG" sz="1350" dirty="0" err="1" smtClean="0">
                <a:solidFill>
                  <a:schemeClr val="bg1"/>
                </a:solidFill>
              </a:rPr>
              <a:t>iAcademy</a:t>
            </a:r>
            <a:endParaRPr lang="en-SG" sz="1350" dirty="0" smtClean="0">
              <a:solidFill>
                <a:schemeClr val="bg1"/>
              </a:solidFill>
            </a:endParaRPr>
          </a:p>
        </p:txBody>
      </p:sp>
      <p:sp>
        <p:nvSpPr>
          <p:cNvPr id="9" name="Rectangle 7"/>
          <p:cNvSpPr>
            <a:spLocks noChangeArrowheads="1"/>
          </p:cNvSpPr>
          <p:nvPr userDrawn="1"/>
        </p:nvSpPr>
        <p:spPr bwMode="auto">
          <a:xfrm flipV="1">
            <a:off x="1" y="-3"/>
            <a:ext cx="8261252" cy="45719"/>
          </a:xfrm>
          <a:prstGeom prst="rect">
            <a:avLst/>
          </a:prstGeom>
          <a:solidFill>
            <a:srgbClr val="FFC000"/>
          </a:solidFill>
          <a:ln w="9525">
            <a:noFill/>
            <a:round/>
            <a:headEnd/>
            <a:tailEnd/>
          </a:ln>
          <a:effectLst/>
        </p:spPr>
        <p:txBody>
          <a:bodyPr wrap="none" anchor="ctr"/>
          <a:lstStyle/>
          <a:p>
            <a:pPr>
              <a:defRPr/>
            </a:pPr>
            <a:endParaRPr lang="en-SG" sz="1350" dirty="0"/>
          </a:p>
        </p:txBody>
      </p:sp>
      <p:sp>
        <p:nvSpPr>
          <p:cNvPr id="10" name="Rectangle 7"/>
          <p:cNvSpPr>
            <a:spLocks noChangeArrowheads="1"/>
          </p:cNvSpPr>
          <p:nvPr userDrawn="1"/>
        </p:nvSpPr>
        <p:spPr bwMode="auto">
          <a:xfrm flipV="1">
            <a:off x="910810" y="6786583"/>
            <a:ext cx="8233190" cy="71416"/>
          </a:xfrm>
          <a:prstGeom prst="rect">
            <a:avLst/>
          </a:prstGeom>
          <a:solidFill>
            <a:srgbClr val="FFC000"/>
          </a:solidFill>
          <a:ln w="9525">
            <a:noFill/>
            <a:round/>
            <a:headEnd/>
            <a:tailEnd/>
          </a:ln>
          <a:effectLst/>
        </p:spPr>
        <p:txBody>
          <a:bodyPr wrap="none" anchor="ctr"/>
          <a:lstStyle/>
          <a:p>
            <a:pPr>
              <a:defRPr/>
            </a:pPr>
            <a:endParaRPr lang="en-SG" sz="1350" dirty="0"/>
          </a:p>
        </p:txBody>
      </p:sp>
    </p:spTree>
    <p:extLst>
      <p:ext uri="{BB962C8B-B14F-4D97-AF65-F5344CB8AC3E}">
        <p14:creationId xmlns:p14="http://schemas.microsoft.com/office/powerpoint/2010/main" val="18137217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11480" y="982923"/>
            <a:ext cx="8366759" cy="1102519"/>
          </a:xfrm>
        </p:spPr>
        <p:txBody>
          <a:bodyPr>
            <a:normAutofit fontScale="90000"/>
          </a:bodyPr>
          <a:lstStyle/>
          <a:p>
            <a:pPr algn="ctr"/>
            <a:r>
              <a:rPr lang="en-US" dirty="0" smtClean="0"/>
              <a:t>An Introduction to Database</a:t>
            </a:r>
            <a:endParaRPr lang="en-GB" dirty="0"/>
          </a:p>
        </p:txBody>
      </p:sp>
      <p:sp>
        <p:nvSpPr>
          <p:cNvPr id="6" name="Subtitle 5"/>
          <p:cNvSpPr>
            <a:spLocks noGrp="1"/>
          </p:cNvSpPr>
          <p:nvPr>
            <p:ph type="subTitle" idx="1"/>
          </p:nvPr>
        </p:nvSpPr>
        <p:spPr>
          <a:xfrm>
            <a:off x="1410868" y="2870583"/>
            <a:ext cx="6303577" cy="2126420"/>
          </a:xfrm>
        </p:spPr>
        <p:txBody>
          <a:bodyPr>
            <a:normAutofit fontScale="92500" lnSpcReduction="20000"/>
          </a:bodyPr>
          <a:lstStyle/>
          <a:p>
            <a:r>
              <a:rPr lang="en-US" sz="2100" dirty="0"/>
              <a:t>Introduction to Database for Undergraduate Study</a:t>
            </a:r>
          </a:p>
          <a:p>
            <a:r>
              <a:rPr lang="en-US" sz="2100" dirty="0"/>
              <a:t>Lecture </a:t>
            </a:r>
            <a:r>
              <a:rPr lang="en-US" sz="2100" dirty="0" smtClean="0"/>
              <a:t>7</a:t>
            </a:r>
            <a:endParaRPr lang="en-US" sz="2100" dirty="0"/>
          </a:p>
          <a:p>
            <a:endParaRPr lang="en-US" sz="2100" dirty="0"/>
          </a:p>
          <a:p>
            <a:r>
              <a:rPr lang="en-US" i="1" dirty="0"/>
              <a:t>Arithmetic in Columns</a:t>
            </a:r>
          </a:p>
          <a:p>
            <a:r>
              <a:rPr lang="en-US" i="1" dirty="0"/>
              <a:t>Column Alias</a:t>
            </a:r>
          </a:p>
          <a:p>
            <a:r>
              <a:rPr lang="en-US" i="1" dirty="0"/>
              <a:t>String Concatenation</a:t>
            </a:r>
          </a:p>
          <a:p>
            <a:endParaRPr lang="en-US" i="1" dirty="0"/>
          </a:p>
        </p:txBody>
      </p:sp>
      <p:sp>
        <p:nvSpPr>
          <p:cNvPr id="7" name="TextBox 3"/>
          <p:cNvSpPr txBox="1">
            <a:spLocks noChangeArrowheads="1"/>
          </p:cNvSpPr>
          <p:nvPr/>
        </p:nvSpPr>
        <p:spPr bwMode="auto">
          <a:xfrm>
            <a:off x="411480" y="5129071"/>
            <a:ext cx="8366760" cy="964413"/>
          </a:xfrm>
          <a:prstGeom prst="rect">
            <a:avLst/>
          </a:prstGeom>
          <a:ln w="9525"/>
        </p:spPr>
        <p:style>
          <a:lnRef idx="2">
            <a:schemeClr val="dk1"/>
          </a:lnRef>
          <a:fillRef idx="1">
            <a:schemeClr val="lt1"/>
          </a:fillRef>
          <a:effectRef idx="0">
            <a:schemeClr val="dk1"/>
          </a:effectRef>
          <a:fontRef idx="minor">
            <a:schemeClr val="dk1"/>
          </a:fontRef>
        </p:style>
        <p:txBody>
          <a:bodyPr vert="horz" lIns="68580" tIns="34290" rIns="68580" bIns="34290" rtlCol="0">
            <a:noAutofit/>
          </a:bodyPr>
          <a:lstStyle/>
          <a:p>
            <a:pPr algn="just">
              <a:spcBef>
                <a:spcPct val="20000"/>
              </a:spcBef>
            </a:pPr>
            <a:r>
              <a:rPr lang="en-GB" sz="1050" dirty="0">
                <a:solidFill>
                  <a:schemeClr val="tx1"/>
                </a:solidFill>
              </a:rPr>
              <a:t>This lecture and its associated materials have been produced by </a:t>
            </a:r>
            <a:r>
              <a:rPr lang="en-GB" sz="1050" dirty="0" err="1">
                <a:solidFill>
                  <a:schemeClr val="tx1"/>
                </a:solidFill>
              </a:rPr>
              <a:t>Mr.</a:t>
            </a:r>
            <a:r>
              <a:rPr lang="en-GB" sz="1050" dirty="0">
                <a:solidFill>
                  <a:schemeClr val="tx1"/>
                </a:solidFill>
              </a:rPr>
              <a:t> Rohit Panday (M.Sc. IT, 10+ Years of Industry/Academic Experience) of </a:t>
            </a:r>
            <a:r>
              <a:rPr lang="en-GB" sz="1050" dirty="0" err="1">
                <a:solidFill>
                  <a:schemeClr val="tx1"/>
                </a:solidFill>
              </a:rPr>
              <a:t>iAcademy</a:t>
            </a:r>
            <a:r>
              <a:rPr lang="en-GB" sz="1050" dirty="0">
                <a:solidFill>
                  <a:schemeClr val="tx1"/>
                </a:solidFill>
              </a:rPr>
              <a:t> for the purposes of lecturing on the above described subject and the material should be viewed in this context. The work does not constitute professional advice and no warranties are made regarding the information presented. The Author and </a:t>
            </a:r>
            <a:r>
              <a:rPr lang="en-GB" sz="1050" dirty="0" err="1">
                <a:solidFill>
                  <a:schemeClr val="tx1"/>
                </a:solidFill>
              </a:rPr>
              <a:t>iAcademy</a:t>
            </a:r>
            <a:r>
              <a:rPr lang="en-GB" sz="1050" dirty="0">
                <a:solidFill>
                  <a:schemeClr val="tx1"/>
                </a:solidFill>
              </a:rPr>
              <a:t> do not accept any liability for the consequences of any action taken as a result of the work or any recommendations made or inferred. Permission to use any of these materials must be first granted by </a:t>
            </a:r>
            <a:r>
              <a:rPr lang="en-GB" sz="1050" dirty="0" err="1">
                <a:solidFill>
                  <a:schemeClr val="tx1"/>
                </a:solidFill>
              </a:rPr>
              <a:t>iAcademy</a:t>
            </a:r>
            <a:r>
              <a:rPr lang="en-GB" sz="1050" dirty="0">
                <a:solidFill>
                  <a:schemeClr val="tx1"/>
                </a:solidFill>
              </a:rPr>
              <a:t>.</a:t>
            </a:r>
            <a:endParaRPr lang="en-US" sz="1050" dirty="0">
              <a:solidFill>
                <a:schemeClr val="tx1"/>
              </a:solidFill>
            </a:endParaRPr>
          </a:p>
        </p:txBody>
      </p:sp>
    </p:spTree>
    <p:extLst>
      <p:ext uri="{BB962C8B-B14F-4D97-AF65-F5344CB8AC3E}">
        <p14:creationId xmlns:p14="http://schemas.microsoft.com/office/powerpoint/2010/main" val="419024451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ADVANCED SQL</a:t>
            </a:r>
            <a:endParaRPr lang="en-US" dirty="0"/>
          </a:p>
        </p:txBody>
      </p:sp>
      <p:sp>
        <p:nvSpPr>
          <p:cNvPr id="4" name="TextBox 3"/>
          <p:cNvSpPr txBox="1"/>
          <p:nvPr/>
        </p:nvSpPr>
        <p:spPr>
          <a:xfrm>
            <a:off x="1104367" y="2695059"/>
            <a:ext cx="2443763" cy="2308324"/>
          </a:xfrm>
          <a:prstGeom prst="rect">
            <a:avLst/>
          </a:prstGeom>
          <a:solidFill>
            <a:schemeClr val="accent2"/>
          </a:solidFill>
        </p:spPr>
        <p:txBody>
          <a:bodyPr wrap="square" rtlCol="0">
            <a:spAutoFit/>
          </a:bodyPr>
          <a:lstStyle/>
          <a:p>
            <a:r>
              <a:rPr lang="en-US" sz="2400" dirty="0">
                <a:solidFill>
                  <a:schemeClr val="bg1"/>
                </a:solidFill>
              </a:rPr>
              <a:t>SQL implements various other features to carry out actual business processes</a:t>
            </a:r>
            <a:endParaRPr lang="en-US" sz="2400" dirty="0">
              <a:solidFill>
                <a:schemeClr val="bg1"/>
              </a:solidFill>
            </a:endParaRPr>
          </a:p>
        </p:txBody>
      </p:sp>
      <p:pic>
        <p:nvPicPr>
          <p:cNvPr id="3" name="Picture 2" descr="http://blog.sqlauthority.com/i/b/dboptimizer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06099" y="2195486"/>
            <a:ext cx="4046414" cy="33074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3710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Arithmetic in Columns</a:t>
            </a:r>
            <a:endParaRPr lang="en-US" dirty="0"/>
          </a:p>
        </p:txBody>
      </p:sp>
      <p:sp>
        <p:nvSpPr>
          <p:cNvPr id="8" name="Content Placeholder 2"/>
          <p:cNvSpPr>
            <a:spLocks noGrp="1"/>
          </p:cNvSpPr>
          <p:nvPr>
            <p:ph idx="1"/>
          </p:nvPr>
        </p:nvSpPr>
        <p:spPr>
          <a:xfrm>
            <a:off x="4269346" y="2226469"/>
            <a:ext cx="4246004" cy="3263504"/>
          </a:xfrm>
          <a:ln>
            <a:solidFill>
              <a:schemeClr val="accent1"/>
            </a:solidFill>
          </a:ln>
        </p:spPr>
        <p:txBody>
          <a:bodyPr>
            <a:normAutofit fontScale="85000" lnSpcReduction="10000"/>
          </a:bodyPr>
          <a:lstStyle/>
          <a:p>
            <a:r>
              <a:rPr lang="en-US" dirty="0"/>
              <a:t>An expression is a combination of one or more values, operators, and SQL functions that evaluate to a value</a:t>
            </a:r>
            <a:r>
              <a:rPr lang="en-US" dirty="0" smtClean="0"/>
              <a:t>.</a:t>
            </a:r>
          </a:p>
          <a:p>
            <a:r>
              <a:rPr lang="en-US" dirty="0"/>
              <a:t>SQL EXPRESSIONs are like formulas and they are written in query language. You can also use them to query the database for specific set of data.</a:t>
            </a:r>
          </a:p>
        </p:txBody>
      </p:sp>
      <p:sp>
        <p:nvSpPr>
          <p:cNvPr id="7" name="TextBox 6"/>
          <p:cNvSpPr txBox="1"/>
          <p:nvPr/>
        </p:nvSpPr>
        <p:spPr>
          <a:xfrm>
            <a:off x="850810" y="2734836"/>
            <a:ext cx="2887283" cy="2246769"/>
          </a:xfrm>
          <a:prstGeom prst="rect">
            <a:avLst/>
          </a:prstGeom>
          <a:solidFill>
            <a:schemeClr val="accent2"/>
          </a:solidFill>
        </p:spPr>
        <p:txBody>
          <a:bodyPr wrap="square" rtlCol="0">
            <a:spAutoFit/>
          </a:bodyPr>
          <a:lstStyle/>
          <a:p>
            <a:r>
              <a:rPr lang="en-US" sz="2800" dirty="0">
                <a:solidFill>
                  <a:schemeClr val="bg1"/>
                </a:solidFill>
              </a:rPr>
              <a:t>Also understood as Calculated Columns or Derived Columns or Expressions</a:t>
            </a:r>
            <a:endParaRPr lang="en-US" sz="2800" dirty="0">
              <a:solidFill>
                <a:schemeClr val="bg1"/>
              </a:solidFill>
            </a:endParaRPr>
          </a:p>
        </p:txBody>
      </p:sp>
      <p:sp>
        <p:nvSpPr>
          <p:cNvPr id="6" name="Striped Right Arrow 5"/>
          <p:cNvSpPr/>
          <p:nvPr/>
        </p:nvSpPr>
        <p:spPr>
          <a:xfrm>
            <a:off x="3738093" y="3552155"/>
            <a:ext cx="531254" cy="618186"/>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3144038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Numeric Expressions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00408515"/>
              </p:ext>
            </p:extLst>
          </p:nvPr>
        </p:nvGraphicFramePr>
        <p:xfrm>
          <a:off x="628648" y="2226469"/>
          <a:ext cx="7639588" cy="1892828"/>
        </p:xfrm>
        <a:graphic>
          <a:graphicData uri="http://schemas.openxmlformats.org/drawingml/2006/table">
            <a:tbl>
              <a:tblPr firstRow="1" bandRow="1">
                <a:tableStyleId>{5C22544A-7EE6-4342-B048-85BDC9FD1C3A}</a:tableStyleId>
              </a:tblPr>
              <a:tblGrid>
                <a:gridCol w="955469"/>
                <a:gridCol w="6684119"/>
              </a:tblGrid>
              <a:tr h="388748">
                <a:tc>
                  <a:txBody>
                    <a:bodyPr/>
                    <a:lstStyle/>
                    <a:p>
                      <a:r>
                        <a:rPr lang="en-US" sz="1000" dirty="0" smtClean="0"/>
                        <a:t>Example</a:t>
                      </a:r>
                      <a:endParaRPr lang="en-US" sz="1000" dirty="0"/>
                    </a:p>
                  </a:txBody>
                  <a:tcPr marL="68580" marR="68580" marT="34290" marB="34290"/>
                </a:tc>
                <a:tc>
                  <a:txBody>
                    <a:bodyPr/>
                    <a:lstStyle/>
                    <a:p>
                      <a:r>
                        <a:rPr lang="en-US" sz="1000" dirty="0" smtClean="0">
                          <a:effectLst/>
                        </a:rPr>
                        <a:t>SELECT </a:t>
                      </a:r>
                      <a:r>
                        <a:rPr lang="en-US" sz="1000" dirty="0" err="1" smtClean="0">
                          <a:effectLst/>
                        </a:rPr>
                        <a:t>numerical_expression</a:t>
                      </a:r>
                      <a:r>
                        <a:rPr lang="en-US" sz="1000" dirty="0" smtClean="0">
                          <a:effectLst/>
                        </a:rPr>
                        <a:t> </a:t>
                      </a:r>
                      <a:r>
                        <a:rPr lang="en-US" sz="1400" b="1" kern="1200" dirty="0" smtClean="0">
                          <a:solidFill>
                            <a:schemeClr val="lt1"/>
                          </a:solidFill>
                          <a:effectLst/>
                          <a:latin typeface="+mn-lt"/>
                          <a:ea typeface="+mn-ea"/>
                          <a:cs typeface="+mn-cs"/>
                        </a:rPr>
                        <a:t>as</a:t>
                      </a:r>
                      <a:r>
                        <a:rPr lang="en-US" sz="1000" dirty="0" smtClean="0">
                          <a:effectLst/>
                        </a:rPr>
                        <a:t> OPERATION_NAME </a:t>
                      </a:r>
                      <a:r>
                        <a:rPr lang="en-US" sz="1400" b="1" kern="1200" dirty="0" smtClean="0">
                          <a:solidFill>
                            <a:schemeClr val="lt1"/>
                          </a:solidFill>
                          <a:effectLst/>
                          <a:latin typeface="+mn-lt"/>
                          <a:ea typeface="+mn-ea"/>
                          <a:cs typeface="+mn-cs"/>
                        </a:rPr>
                        <a:t>[</a:t>
                      </a:r>
                      <a:r>
                        <a:rPr lang="en-US" sz="1000" dirty="0" smtClean="0">
                          <a:effectLst/>
                        </a:rPr>
                        <a:t>FROM </a:t>
                      </a:r>
                      <a:r>
                        <a:rPr lang="en-US" sz="1000" dirty="0" err="1" smtClean="0">
                          <a:effectLst/>
                        </a:rPr>
                        <a:t>table_name</a:t>
                      </a:r>
                      <a:r>
                        <a:rPr lang="en-US" sz="1000" dirty="0" smtClean="0">
                          <a:effectLst/>
                        </a:rPr>
                        <a:t> WHERE CONDITION</a:t>
                      </a:r>
                      <a:r>
                        <a:rPr lang="en-US" sz="1400" b="1" kern="1200" dirty="0" smtClean="0">
                          <a:solidFill>
                            <a:schemeClr val="lt1"/>
                          </a:solidFill>
                          <a:effectLst/>
                          <a:latin typeface="+mn-lt"/>
                          <a:ea typeface="+mn-ea"/>
                          <a:cs typeface="+mn-cs"/>
                        </a:rPr>
                        <a:t>]</a:t>
                      </a:r>
                      <a:r>
                        <a:rPr lang="en-US" sz="1000" dirty="0" smtClean="0">
                          <a:effectLst/>
                        </a:rPr>
                        <a:t> </a:t>
                      </a:r>
                      <a:r>
                        <a:rPr lang="en-US" sz="1400" b="1" kern="1200" dirty="0" smtClean="0">
                          <a:solidFill>
                            <a:schemeClr val="lt1"/>
                          </a:solidFill>
                          <a:effectLst/>
                          <a:latin typeface="+mn-lt"/>
                          <a:ea typeface="+mn-ea"/>
                          <a:cs typeface="+mn-cs"/>
                        </a:rPr>
                        <a:t>;</a:t>
                      </a:r>
                      <a:endParaRPr lang="en-US" sz="1000" dirty="0"/>
                    </a:p>
                  </a:txBody>
                  <a:tcPr marL="68580" marR="68580" marT="34290" marB="34290"/>
                </a:tc>
              </a:tr>
              <a:tr h="1504080">
                <a:tc>
                  <a:txBody>
                    <a:bodyPr/>
                    <a:lstStyle/>
                    <a:p>
                      <a:r>
                        <a:rPr lang="en-US" sz="1000" dirty="0" smtClean="0"/>
                        <a:t>Result</a:t>
                      </a:r>
                      <a:endParaRPr lang="en-US" sz="1000" dirty="0"/>
                    </a:p>
                  </a:txBody>
                  <a:tcPr marL="68580" marR="68580" marT="34290" marB="34290"/>
                </a:tc>
                <a:tc>
                  <a:txBody>
                    <a:bodyPr/>
                    <a:lstStyle/>
                    <a:p>
                      <a:endParaRPr lang="en-US" sz="1000" dirty="0"/>
                    </a:p>
                  </a:txBody>
                  <a:tcPr marL="68580" marR="68580" marT="34290" marB="34290"/>
                </a:tc>
              </a:tr>
            </a:tbl>
          </a:graphicData>
        </a:graphic>
      </p:graphicFrame>
      <p:pic>
        <p:nvPicPr>
          <p:cNvPr id="5" name="Picture 4"/>
          <p:cNvPicPr>
            <a:picLocks noChangeAspect="1"/>
          </p:cNvPicPr>
          <p:nvPr/>
        </p:nvPicPr>
        <p:blipFill>
          <a:blip r:embed="rId2"/>
          <a:stretch>
            <a:fillRect/>
          </a:stretch>
        </p:blipFill>
        <p:spPr>
          <a:xfrm>
            <a:off x="1930574" y="2865337"/>
            <a:ext cx="5506976" cy="1179419"/>
          </a:xfrm>
          <a:prstGeom prst="rect">
            <a:avLst/>
          </a:prstGeom>
        </p:spPr>
      </p:pic>
    </p:spTree>
    <p:extLst>
      <p:ext uri="{BB962C8B-B14F-4D97-AF65-F5344CB8AC3E}">
        <p14:creationId xmlns:p14="http://schemas.microsoft.com/office/powerpoint/2010/main" val="2978090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Numeric Expressions</a:t>
            </a:r>
            <a:endParaRPr lang="en-US" dirty="0"/>
          </a:p>
        </p:txBody>
      </p:sp>
      <p:graphicFrame>
        <p:nvGraphicFramePr>
          <p:cNvPr id="4" name="Content Placeholder 3"/>
          <p:cNvGraphicFramePr>
            <a:graphicFrameLocks noGrp="1"/>
          </p:cNvGraphicFramePr>
          <p:nvPr>
            <p:ph idx="1"/>
            <p:extLst/>
          </p:nvPr>
        </p:nvGraphicFramePr>
        <p:xfrm>
          <a:off x="628648" y="2226469"/>
          <a:ext cx="7639588" cy="1892828"/>
        </p:xfrm>
        <a:graphic>
          <a:graphicData uri="http://schemas.openxmlformats.org/drawingml/2006/table">
            <a:tbl>
              <a:tblPr firstRow="1" bandRow="1">
                <a:tableStyleId>{5C22544A-7EE6-4342-B048-85BDC9FD1C3A}</a:tableStyleId>
              </a:tblPr>
              <a:tblGrid>
                <a:gridCol w="955469"/>
                <a:gridCol w="6684119"/>
              </a:tblGrid>
              <a:tr h="388748">
                <a:tc>
                  <a:txBody>
                    <a:bodyPr/>
                    <a:lstStyle/>
                    <a:p>
                      <a:r>
                        <a:rPr lang="en-US" sz="1000" dirty="0" smtClean="0"/>
                        <a:t>Example</a:t>
                      </a:r>
                      <a:endParaRPr lang="en-US" sz="1000" dirty="0"/>
                    </a:p>
                  </a:txBody>
                  <a:tcPr marL="68580" marR="68580" marT="34290" marB="34290"/>
                </a:tc>
                <a:tc>
                  <a:txBody>
                    <a:bodyPr/>
                    <a:lstStyle/>
                    <a:p>
                      <a:r>
                        <a:rPr lang="en-US" sz="1000" dirty="0" smtClean="0">
                          <a:effectLst/>
                        </a:rPr>
                        <a:t>SELECT </a:t>
                      </a:r>
                      <a:r>
                        <a:rPr lang="en-US" sz="1000" dirty="0" err="1" smtClean="0">
                          <a:effectLst/>
                        </a:rPr>
                        <a:t>numerical_expression</a:t>
                      </a:r>
                      <a:r>
                        <a:rPr lang="en-US" sz="1000" dirty="0" smtClean="0">
                          <a:effectLst/>
                        </a:rPr>
                        <a:t> </a:t>
                      </a:r>
                      <a:r>
                        <a:rPr lang="en-US" sz="1400" b="1" kern="1200" dirty="0" smtClean="0">
                          <a:solidFill>
                            <a:schemeClr val="lt1"/>
                          </a:solidFill>
                          <a:effectLst/>
                          <a:latin typeface="+mn-lt"/>
                          <a:ea typeface="+mn-ea"/>
                          <a:cs typeface="+mn-cs"/>
                        </a:rPr>
                        <a:t>as</a:t>
                      </a:r>
                      <a:r>
                        <a:rPr lang="en-US" sz="1000" dirty="0" smtClean="0">
                          <a:effectLst/>
                        </a:rPr>
                        <a:t> OPERATION_NAME </a:t>
                      </a:r>
                      <a:r>
                        <a:rPr lang="en-US" sz="1400" b="1" kern="1200" dirty="0" smtClean="0">
                          <a:solidFill>
                            <a:schemeClr val="lt1"/>
                          </a:solidFill>
                          <a:effectLst/>
                          <a:latin typeface="+mn-lt"/>
                          <a:ea typeface="+mn-ea"/>
                          <a:cs typeface="+mn-cs"/>
                        </a:rPr>
                        <a:t>[</a:t>
                      </a:r>
                      <a:r>
                        <a:rPr lang="en-US" sz="1000" dirty="0" smtClean="0">
                          <a:effectLst/>
                        </a:rPr>
                        <a:t>FROM </a:t>
                      </a:r>
                      <a:r>
                        <a:rPr lang="en-US" sz="1000" dirty="0" err="1" smtClean="0">
                          <a:effectLst/>
                        </a:rPr>
                        <a:t>table_name</a:t>
                      </a:r>
                      <a:r>
                        <a:rPr lang="en-US" sz="1000" dirty="0" smtClean="0">
                          <a:effectLst/>
                        </a:rPr>
                        <a:t> WHERE CONDITION</a:t>
                      </a:r>
                      <a:r>
                        <a:rPr lang="en-US" sz="1400" b="1" kern="1200" dirty="0" smtClean="0">
                          <a:solidFill>
                            <a:schemeClr val="lt1"/>
                          </a:solidFill>
                          <a:effectLst/>
                          <a:latin typeface="+mn-lt"/>
                          <a:ea typeface="+mn-ea"/>
                          <a:cs typeface="+mn-cs"/>
                        </a:rPr>
                        <a:t>]</a:t>
                      </a:r>
                      <a:r>
                        <a:rPr lang="en-US" sz="1000" dirty="0" smtClean="0">
                          <a:effectLst/>
                        </a:rPr>
                        <a:t> </a:t>
                      </a:r>
                      <a:r>
                        <a:rPr lang="en-US" sz="1400" b="1" kern="1200" dirty="0" smtClean="0">
                          <a:solidFill>
                            <a:schemeClr val="lt1"/>
                          </a:solidFill>
                          <a:effectLst/>
                          <a:latin typeface="+mn-lt"/>
                          <a:ea typeface="+mn-ea"/>
                          <a:cs typeface="+mn-cs"/>
                        </a:rPr>
                        <a:t>;</a:t>
                      </a:r>
                      <a:endParaRPr lang="en-US" sz="1000" dirty="0"/>
                    </a:p>
                  </a:txBody>
                  <a:tcPr marL="68580" marR="68580" marT="34290" marB="34290"/>
                </a:tc>
              </a:tr>
              <a:tr h="1504080">
                <a:tc>
                  <a:txBody>
                    <a:bodyPr/>
                    <a:lstStyle/>
                    <a:p>
                      <a:r>
                        <a:rPr lang="en-US" sz="1000" dirty="0" smtClean="0"/>
                        <a:t>Result</a:t>
                      </a:r>
                      <a:endParaRPr lang="en-US" sz="1000" dirty="0"/>
                    </a:p>
                  </a:txBody>
                  <a:tcPr marL="68580" marR="68580" marT="34290" marB="34290"/>
                </a:tc>
                <a:tc>
                  <a:txBody>
                    <a:bodyPr/>
                    <a:lstStyle/>
                    <a:p>
                      <a:endParaRPr lang="en-US" sz="1000" dirty="0"/>
                    </a:p>
                  </a:txBody>
                  <a:tcPr marL="68580" marR="68580" marT="34290" marB="34290"/>
                </a:tc>
              </a:tr>
            </a:tbl>
          </a:graphicData>
        </a:graphic>
      </p:graphicFrame>
      <p:pic>
        <p:nvPicPr>
          <p:cNvPr id="3" name="Picture 2"/>
          <p:cNvPicPr>
            <a:picLocks noChangeAspect="1"/>
          </p:cNvPicPr>
          <p:nvPr/>
        </p:nvPicPr>
        <p:blipFill>
          <a:blip r:embed="rId2"/>
          <a:stretch>
            <a:fillRect/>
          </a:stretch>
        </p:blipFill>
        <p:spPr>
          <a:xfrm>
            <a:off x="1908739" y="2826913"/>
            <a:ext cx="5664977" cy="1198541"/>
          </a:xfrm>
          <a:prstGeom prst="rect">
            <a:avLst/>
          </a:prstGeom>
        </p:spPr>
      </p:pic>
    </p:spTree>
    <p:extLst>
      <p:ext uri="{BB962C8B-B14F-4D97-AF65-F5344CB8AC3E}">
        <p14:creationId xmlns:p14="http://schemas.microsoft.com/office/powerpoint/2010/main" val="285469720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Numeric Expressions</a:t>
            </a:r>
            <a:endParaRPr lang="en-US" dirty="0"/>
          </a:p>
        </p:txBody>
      </p:sp>
      <p:graphicFrame>
        <p:nvGraphicFramePr>
          <p:cNvPr id="4" name="Content Placeholder 3"/>
          <p:cNvGraphicFramePr>
            <a:graphicFrameLocks noGrp="1"/>
          </p:cNvGraphicFramePr>
          <p:nvPr>
            <p:ph idx="1"/>
            <p:extLst/>
          </p:nvPr>
        </p:nvGraphicFramePr>
        <p:xfrm>
          <a:off x="628648" y="2226469"/>
          <a:ext cx="7639588" cy="1892828"/>
        </p:xfrm>
        <a:graphic>
          <a:graphicData uri="http://schemas.openxmlformats.org/drawingml/2006/table">
            <a:tbl>
              <a:tblPr firstRow="1" bandRow="1">
                <a:tableStyleId>{5C22544A-7EE6-4342-B048-85BDC9FD1C3A}</a:tableStyleId>
              </a:tblPr>
              <a:tblGrid>
                <a:gridCol w="955469"/>
                <a:gridCol w="6684119"/>
              </a:tblGrid>
              <a:tr h="388748">
                <a:tc>
                  <a:txBody>
                    <a:bodyPr/>
                    <a:lstStyle/>
                    <a:p>
                      <a:r>
                        <a:rPr lang="en-US" sz="1000" dirty="0" smtClean="0"/>
                        <a:t>Example</a:t>
                      </a:r>
                      <a:endParaRPr lang="en-US" sz="1000" dirty="0"/>
                    </a:p>
                  </a:txBody>
                  <a:tcPr marL="68580" marR="68580" marT="34290" marB="34290"/>
                </a:tc>
                <a:tc>
                  <a:txBody>
                    <a:bodyPr/>
                    <a:lstStyle/>
                    <a:p>
                      <a:r>
                        <a:rPr lang="en-US" sz="1000" dirty="0" smtClean="0">
                          <a:effectLst/>
                        </a:rPr>
                        <a:t>SELECT </a:t>
                      </a:r>
                      <a:r>
                        <a:rPr lang="en-US" sz="1000" dirty="0" err="1" smtClean="0">
                          <a:effectLst/>
                        </a:rPr>
                        <a:t>numerical_expression</a:t>
                      </a:r>
                      <a:r>
                        <a:rPr lang="en-US" sz="1000" dirty="0" smtClean="0">
                          <a:effectLst/>
                        </a:rPr>
                        <a:t> </a:t>
                      </a:r>
                      <a:r>
                        <a:rPr lang="en-US" sz="1400" b="1" kern="1200" dirty="0" smtClean="0">
                          <a:solidFill>
                            <a:schemeClr val="lt1"/>
                          </a:solidFill>
                          <a:effectLst/>
                          <a:latin typeface="+mn-lt"/>
                          <a:ea typeface="+mn-ea"/>
                          <a:cs typeface="+mn-cs"/>
                        </a:rPr>
                        <a:t>as</a:t>
                      </a:r>
                      <a:r>
                        <a:rPr lang="en-US" sz="1000" dirty="0" smtClean="0">
                          <a:effectLst/>
                        </a:rPr>
                        <a:t> OPERATION_NAME </a:t>
                      </a:r>
                      <a:r>
                        <a:rPr lang="en-US" sz="1400" b="1" kern="1200" dirty="0" smtClean="0">
                          <a:solidFill>
                            <a:schemeClr val="lt1"/>
                          </a:solidFill>
                          <a:effectLst/>
                          <a:latin typeface="+mn-lt"/>
                          <a:ea typeface="+mn-ea"/>
                          <a:cs typeface="+mn-cs"/>
                        </a:rPr>
                        <a:t>[</a:t>
                      </a:r>
                      <a:r>
                        <a:rPr lang="en-US" sz="1000" dirty="0" smtClean="0">
                          <a:effectLst/>
                        </a:rPr>
                        <a:t>FROM </a:t>
                      </a:r>
                      <a:r>
                        <a:rPr lang="en-US" sz="1000" dirty="0" err="1" smtClean="0">
                          <a:effectLst/>
                        </a:rPr>
                        <a:t>table_name</a:t>
                      </a:r>
                      <a:r>
                        <a:rPr lang="en-US" sz="1000" dirty="0" smtClean="0">
                          <a:effectLst/>
                        </a:rPr>
                        <a:t> WHERE CONDITION</a:t>
                      </a:r>
                      <a:r>
                        <a:rPr lang="en-US" sz="1400" b="1" kern="1200" dirty="0" smtClean="0">
                          <a:solidFill>
                            <a:schemeClr val="lt1"/>
                          </a:solidFill>
                          <a:effectLst/>
                          <a:latin typeface="+mn-lt"/>
                          <a:ea typeface="+mn-ea"/>
                          <a:cs typeface="+mn-cs"/>
                        </a:rPr>
                        <a:t>]</a:t>
                      </a:r>
                      <a:r>
                        <a:rPr lang="en-US" sz="1000" dirty="0" smtClean="0">
                          <a:effectLst/>
                        </a:rPr>
                        <a:t> </a:t>
                      </a:r>
                      <a:r>
                        <a:rPr lang="en-US" sz="1400" b="1" kern="1200" dirty="0" smtClean="0">
                          <a:solidFill>
                            <a:schemeClr val="lt1"/>
                          </a:solidFill>
                          <a:effectLst/>
                          <a:latin typeface="+mn-lt"/>
                          <a:ea typeface="+mn-ea"/>
                          <a:cs typeface="+mn-cs"/>
                        </a:rPr>
                        <a:t>;</a:t>
                      </a:r>
                      <a:endParaRPr lang="en-US" sz="1000" dirty="0"/>
                    </a:p>
                  </a:txBody>
                  <a:tcPr marL="68580" marR="68580" marT="34290" marB="34290"/>
                </a:tc>
              </a:tr>
              <a:tr h="1504080">
                <a:tc>
                  <a:txBody>
                    <a:bodyPr/>
                    <a:lstStyle/>
                    <a:p>
                      <a:r>
                        <a:rPr lang="en-US" sz="1000" dirty="0" smtClean="0"/>
                        <a:t>Result</a:t>
                      </a:r>
                      <a:endParaRPr lang="en-US" sz="1000" dirty="0"/>
                    </a:p>
                  </a:txBody>
                  <a:tcPr marL="68580" marR="68580" marT="34290" marB="34290"/>
                </a:tc>
                <a:tc>
                  <a:txBody>
                    <a:bodyPr/>
                    <a:lstStyle/>
                    <a:p>
                      <a:endParaRPr lang="en-US" sz="1000" dirty="0"/>
                    </a:p>
                  </a:txBody>
                  <a:tcPr marL="68580" marR="68580" marT="34290" marB="34290"/>
                </a:tc>
              </a:tr>
            </a:tbl>
          </a:graphicData>
        </a:graphic>
      </p:graphicFrame>
      <p:pic>
        <p:nvPicPr>
          <p:cNvPr id="5" name="Picture 4"/>
          <p:cNvPicPr>
            <a:picLocks noChangeAspect="1"/>
          </p:cNvPicPr>
          <p:nvPr/>
        </p:nvPicPr>
        <p:blipFill>
          <a:blip r:embed="rId2"/>
          <a:stretch>
            <a:fillRect/>
          </a:stretch>
        </p:blipFill>
        <p:spPr>
          <a:xfrm>
            <a:off x="2162393" y="2833000"/>
            <a:ext cx="5294475" cy="1125185"/>
          </a:xfrm>
          <a:prstGeom prst="rect">
            <a:avLst/>
          </a:prstGeom>
        </p:spPr>
      </p:pic>
    </p:spTree>
    <p:extLst>
      <p:ext uri="{BB962C8B-B14F-4D97-AF65-F5344CB8AC3E}">
        <p14:creationId xmlns:p14="http://schemas.microsoft.com/office/powerpoint/2010/main" val="3185908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Calculating Column Values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670514490"/>
              </p:ext>
            </p:extLst>
          </p:nvPr>
        </p:nvGraphicFramePr>
        <p:xfrm>
          <a:off x="628648" y="2226469"/>
          <a:ext cx="7639588" cy="1856940"/>
        </p:xfrm>
        <a:graphic>
          <a:graphicData uri="http://schemas.openxmlformats.org/drawingml/2006/table">
            <a:tbl>
              <a:tblPr firstRow="1" bandRow="1">
                <a:tableStyleId>{5C22544A-7EE6-4342-B048-85BDC9FD1C3A}</a:tableStyleId>
              </a:tblPr>
              <a:tblGrid>
                <a:gridCol w="955469"/>
                <a:gridCol w="6684119"/>
              </a:tblGrid>
              <a:tr h="542891">
                <a:tc>
                  <a:txBody>
                    <a:bodyPr/>
                    <a:lstStyle/>
                    <a:p>
                      <a:r>
                        <a:rPr lang="en-US" sz="1000" dirty="0" smtClean="0"/>
                        <a:t>Example</a:t>
                      </a:r>
                      <a:endParaRPr lang="en-US" sz="1000" dirty="0"/>
                    </a:p>
                  </a:txBody>
                  <a:tcPr marL="68580" marR="68580" marT="34290" marB="34290"/>
                </a:tc>
                <a:tc>
                  <a:txBody>
                    <a:bodyPr/>
                    <a:lstStyle/>
                    <a:p>
                      <a:r>
                        <a:rPr lang="en-US" sz="1000" dirty="0" smtClean="0">
                          <a:effectLst/>
                        </a:rPr>
                        <a:t>SELECT name, </a:t>
                      </a:r>
                      <a:r>
                        <a:rPr lang="en-US" sz="1000" dirty="0" err="1" smtClean="0">
                          <a:effectLst/>
                        </a:rPr>
                        <a:t>monthly_salary</a:t>
                      </a:r>
                      <a:r>
                        <a:rPr lang="en-US" sz="1000" dirty="0" smtClean="0">
                          <a:effectLst/>
                        </a:rPr>
                        <a:t>*12 </a:t>
                      </a:r>
                      <a:r>
                        <a:rPr lang="en-US" sz="1400" b="1" kern="1200" dirty="0" smtClean="0">
                          <a:solidFill>
                            <a:schemeClr val="lt1"/>
                          </a:solidFill>
                          <a:effectLst/>
                          <a:latin typeface="+mn-lt"/>
                          <a:ea typeface="+mn-ea"/>
                          <a:cs typeface="+mn-cs"/>
                        </a:rPr>
                        <a:t>as</a:t>
                      </a:r>
                      <a:r>
                        <a:rPr lang="en-US" sz="1000" dirty="0" smtClean="0">
                          <a:effectLst/>
                        </a:rPr>
                        <a:t> </a:t>
                      </a:r>
                      <a:r>
                        <a:rPr lang="en-US" sz="1000" dirty="0" err="1" smtClean="0">
                          <a:effectLst/>
                        </a:rPr>
                        <a:t>Annual_Salary</a:t>
                      </a:r>
                      <a:r>
                        <a:rPr lang="en-US" sz="1000" dirty="0" smtClean="0">
                          <a:effectLst/>
                        </a:rPr>
                        <a:t> </a:t>
                      </a:r>
                      <a:r>
                        <a:rPr lang="en-US" sz="1400" b="1" kern="1200" dirty="0" smtClean="0">
                          <a:solidFill>
                            <a:schemeClr val="lt1"/>
                          </a:solidFill>
                          <a:effectLst/>
                          <a:latin typeface="+mn-lt"/>
                          <a:ea typeface="+mn-ea"/>
                          <a:cs typeface="+mn-cs"/>
                        </a:rPr>
                        <a:t>[</a:t>
                      </a:r>
                      <a:r>
                        <a:rPr lang="en-US" sz="1000" dirty="0" smtClean="0">
                          <a:effectLst/>
                        </a:rPr>
                        <a:t>FROM staffs WHERE CONDITION</a:t>
                      </a:r>
                      <a:r>
                        <a:rPr lang="en-US" sz="1400" b="1" kern="1200" dirty="0" smtClean="0">
                          <a:solidFill>
                            <a:schemeClr val="lt1"/>
                          </a:solidFill>
                          <a:effectLst/>
                          <a:latin typeface="+mn-lt"/>
                          <a:ea typeface="+mn-ea"/>
                          <a:cs typeface="+mn-cs"/>
                        </a:rPr>
                        <a:t>]</a:t>
                      </a:r>
                      <a:r>
                        <a:rPr lang="en-US" sz="1000" dirty="0" smtClean="0">
                          <a:effectLst/>
                        </a:rPr>
                        <a:t> </a:t>
                      </a:r>
                      <a:r>
                        <a:rPr lang="en-US" sz="1400" b="1" kern="1200" dirty="0" smtClean="0">
                          <a:solidFill>
                            <a:schemeClr val="lt1"/>
                          </a:solidFill>
                          <a:effectLst/>
                          <a:latin typeface="+mn-lt"/>
                          <a:ea typeface="+mn-ea"/>
                          <a:cs typeface="+mn-cs"/>
                        </a:rPr>
                        <a:t>;</a:t>
                      </a:r>
                      <a:endParaRPr lang="en-US" sz="1000" dirty="0"/>
                    </a:p>
                  </a:txBody>
                  <a:tcPr marL="68580" marR="68580" marT="34290" marB="34290"/>
                </a:tc>
              </a:tr>
              <a:tr h="1314049">
                <a:tc>
                  <a:txBody>
                    <a:bodyPr/>
                    <a:lstStyle/>
                    <a:p>
                      <a:r>
                        <a:rPr lang="en-US" sz="1000" dirty="0" smtClean="0"/>
                        <a:t>Result</a:t>
                      </a:r>
                      <a:endParaRPr lang="en-US" sz="1000" dirty="0"/>
                    </a:p>
                  </a:txBody>
                  <a:tcPr marL="68580" marR="68580" marT="34290" marB="34290"/>
                </a:tc>
                <a:tc>
                  <a:txBody>
                    <a:bodyPr/>
                    <a:lstStyle/>
                    <a:p>
                      <a:endParaRPr lang="en-US" sz="1000" dirty="0"/>
                    </a:p>
                  </a:txBody>
                  <a:tcPr marL="68580" marR="68580" marT="34290" marB="34290"/>
                </a:tc>
              </a:tr>
            </a:tbl>
          </a:graphicData>
        </a:graphic>
      </p:graphicFrame>
      <p:sp>
        <p:nvSpPr>
          <p:cNvPr id="6" name="TextBox 5"/>
          <p:cNvSpPr txBox="1"/>
          <p:nvPr/>
        </p:nvSpPr>
        <p:spPr>
          <a:xfrm>
            <a:off x="628650" y="4411803"/>
            <a:ext cx="7611409" cy="369332"/>
          </a:xfrm>
          <a:prstGeom prst="rect">
            <a:avLst/>
          </a:prstGeom>
          <a:solidFill>
            <a:schemeClr val="accent2"/>
          </a:solidFill>
        </p:spPr>
        <p:txBody>
          <a:bodyPr wrap="square" rtlCol="0">
            <a:spAutoFit/>
          </a:bodyPr>
          <a:lstStyle/>
          <a:p>
            <a:r>
              <a:rPr lang="en-US" b="1" dirty="0">
                <a:solidFill>
                  <a:schemeClr val="bg1"/>
                </a:solidFill>
              </a:rPr>
              <a:t>SELECT id, value, (value/2) AS calculated FROM </a:t>
            </a:r>
            <a:r>
              <a:rPr lang="en-US" b="1" dirty="0" err="1">
                <a:solidFill>
                  <a:schemeClr val="bg1"/>
                </a:solidFill>
              </a:rPr>
              <a:t>mytable</a:t>
            </a:r>
            <a:r>
              <a:rPr lang="en-US" b="1" dirty="0">
                <a:solidFill>
                  <a:schemeClr val="bg1"/>
                </a:solidFill>
              </a:rPr>
              <a:t>;</a:t>
            </a:r>
            <a:endParaRPr lang="en-US" b="1" dirty="0">
              <a:solidFill>
                <a:schemeClr val="bg1"/>
              </a:solidFill>
            </a:endParaRPr>
          </a:p>
        </p:txBody>
      </p:sp>
      <p:pic>
        <p:nvPicPr>
          <p:cNvPr id="3" name="Picture 2"/>
          <p:cNvPicPr>
            <a:picLocks noChangeAspect="1"/>
          </p:cNvPicPr>
          <p:nvPr/>
        </p:nvPicPr>
        <p:blipFill>
          <a:blip r:embed="rId2"/>
          <a:stretch>
            <a:fillRect/>
          </a:stretch>
        </p:blipFill>
        <p:spPr>
          <a:xfrm>
            <a:off x="1714349" y="2989928"/>
            <a:ext cx="2151848" cy="852001"/>
          </a:xfrm>
          <a:prstGeom prst="rect">
            <a:avLst/>
          </a:prstGeom>
        </p:spPr>
      </p:pic>
      <p:pic>
        <p:nvPicPr>
          <p:cNvPr id="7" name="Picture 6"/>
          <p:cNvPicPr>
            <a:picLocks noChangeAspect="1"/>
          </p:cNvPicPr>
          <p:nvPr/>
        </p:nvPicPr>
        <p:blipFill>
          <a:blip r:embed="rId3"/>
          <a:stretch>
            <a:fillRect/>
          </a:stretch>
        </p:blipFill>
        <p:spPr>
          <a:xfrm>
            <a:off x="4434354" y="2989928"/>
            <a:ext cx="2601443" cy="852001"/>
          </a:xfrm>
          <a:prstGeom prst="rect">
            <a:avLst/>
          </a:prstGeom>
        </p:spPr>
      </p:pic>
    </p:spTree>
    <p:extLst>
      <p:ext uri="{BB962C8B-B14F-4D97-AF65-F5344CB8AC3E}">
        <p14:creationId xmlns:p14="http://schemas.microsoft.com/office/powerpoint/2010/main" val="375262882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Calculating Column Values</a:t>
            </a:r>
            <a:endParaRPr lang="en-US" dirty="0"/>
          </a:p>
        </p:txBody>
      </p:sp>
      <p:graphicFrame>
        <p:nvGraphicFramePr>
          <p:cNvPr id="4" name="Content Placeholder 3"/>
          <p:cNvGraphicFramePr>
            <a:graphicFrameLocks noGrp="1"/>
          </p:cNvGraphicFramePr>
          <p:nvPr>
            <p:ph idx="1"/>
            <p:extLst/>
          </p:nvPr>
        </p:nvGraphicFramePr>
        <p:xfrm>
          <a:off x="628648" y="2226469"/>
          <a:ext cx="7639588" cy="1856940"/>
        </p:xfrm>
        <a:graphic>
          <a:graphicData uri="http://schemas.openxmlformats.org/drawingml/2006/table">
            <a:tbl>
              <a:tblPr firstRow="1" bandRow="1">
                <a:tableStyleId>{5C22544A-7EE6-4342-B048-85BDC9FD1C3A}</a:tableStyleId>
              </a:tblPr>
              <a:tblGrid>
                <a:gridCol w="955469"/>
                <a:gridCol w="6684119"/>
              </a:tblGrid>
              <a:tr h="542891">
                <a:tc>
                  <a:txBody>
                    <a:bodyPr/>
                    <a:lstStyle/>
                    <a:p>
                      <a:r>
                        <a:rPr lang="en-US" sz="1000" dirty="0" smtClean="0"/>
                        <a:t>Example</a:t>
                      </a:r>
                      <a:endParaRPr lang="en-US" sz="1000" dirty="0"/>
                    </a:p>
                  </a:txBody>
                  <a:tcPr marL="68580" marR="68580" marT="34290" marB="34290"/>
                </a:tc>
                <a:tc>
                  <a:txBody>
                    <a:bodyPr/>
                    <a:lstStyle/>
                    <a:p>
                      <a:r>
                        <a:rPr lang="en-US" sz="1400" b="1" kern="1200" dirty="0" smtClean="0">
                          <a:solidFill>
                            <a:schemeClr val="lt1"/>
                          </a:solidFill>
                          <a:effectLst/>
                          <a:latin typeface="+mn-lt"/>
                          <a:ea typeface="+mn-ea"/>
                          <a:cs typeface="+mn-cs"/>
                        </a:rPr>
                        <a:t>CREATE TABLE </a:t>
                      </a:r>
                      <a:r>
                        <a:rPr lang="en-US" sz="1400" b="1" kern="1200" dirty="0" err="1" smtClean="0">
                          <a:solidFill>
                            <a:schemeClr val="lt1"/>
                          </a:solidFill>
                          <a:effectLst/>
                          <a:latin typeface="+mn-lt"/>
                          <a:ea typeface="+mn-ea"/>
                          <a:cs typeface="+mn-cs"/>
                        </a:rPr>
                        <a:t>order_details</a:t>
                      </a:r>
                      <a:r>
                        <a:rPr lang="en-US" sz="1400" b="1" kern="1200" dirty="0" smtClean="0">
                          <a:solidFill>
                            <a:schemeClr val="lt1"/>
                          </a:solidFill>
                          <a:effectLst/>
                          <a:latin typeface="+mn-lt"/>
                          <a:ea typeface="+mn-ea"/>
                          <a:cs typeface="+mn-cs"/>
                        </a:rPr>
                        <a:t> (price DOUBLE, quantity INT, amount DOUBLE AS (price * quantity));</a:t>
                      </a:r>
                      <a:endParaRPr lang="en-US" sz="1000" dirty="0"/>
                    </a:p>
                  </a:txBody>
                  <a:tcPr marL="68580" marR="68580" marT="34290" marB="34290"/>
                </a:tc>
              </a:tr>
              <a:tr h="1314049">
                <a:tc>
                  <a:txBody>
                    <a:bodyPr/>
                    <a:lstStyle/>
                    <a:p>
                      <a:r>
                        <a:rPr lang="en-US" sz="1000" dirty="0" smtClean="0"/>
                        <a:t>Result</a:t>
                      </a:r>
                      <a:endParaRPr lang="en-US" sz="1000" dirty="0"/>
                    </a:p>
                  </a:txBody>
                  <a:tcPr marL="68580" marR="68580" marT="34290" marB="34290"/>
                </a:tc>
                <a:tc>
                  <a:txBody>
                    <a:bodyPr/>
                    <a:lstStyle/>
                    <a:p>
                      <a:r>
                        <a:rPr lang="en-US" sz="1400" kern="1200" dirty="0" smtClean="0">
                          <a:solidFill>
                            <a:schemeClr val="dk1"/>
                          </a:solidFill>
                          <a:effectLst/>
                          <a:latin typeface="+mn-lt"/>
                          <a:ea typeface="+mn-ea"/>
                          <a:cs typeface="+mn-cs"/>
                        </a:rPr>
                        <a:t>INSERT INTO </a:t>
                      </a:r>
                      <a:r>
                        <a:rPr lang="en-US" sz="1400" kern="1200" dirty="0" err="1" smtClean="0">
                          <a:solidFill>
                            <a:schemeClr val="dk1"/>
                          </a:solidFill>
                          <a:effectLst/>
                          <a:latin typeface="+mn-lt"/>
                          <a:ea typeface="+mn-ea"/>
                          <a:cs typeface="+mn-cs"/>
                        </a:rPr>
                        <a:t>order_details</a:t>
                      </a:r>
                      <a:r>
                        <a:rPr lang="en-US" sz="1400" kern="1200" dirty="0" smtClean="0">
                          <a:solidFill>
                            <a:schemeClr val="dk1"/>
                          </a:solidFill>
                          <a:effectLst/>
                          <a:latin typeface="+mn-lt"/>
                          <a:ea typeface="+mn-ea"/>
                          <a:cs typeface="+mn-cs"/>
                        </a:rPr>
                        <a:t> (price, quantity) VALUES(100,1),(300,4),(60,8);</a:t>
                      </a:r>
                      <a:endParaRPr lang="en-US" sz="1000" dirty="0"/>
                    </a:p>
                  </a:txBody>
                  <a:tcPr marL="68580" marR="68580" marT="34290" marB="34290"/>
                </a:tc>
              </a:tr>
            </a:tbl>
          </a:graphicData>
        </a:graphic>
      </p:graphicFrame>
      <p:sp>
        <p:nvSpPr>
          <p:cNvPr id="6" name="TextBox 5"/>
          <p:cNvSpPr txBox="1"/>
          <p:nvPr/>
        </p:nvSpPr>
        <p:spPr>
          <a:xfrm>
            <a:off x="628650" y="4411803"/>
            <a:ext cx="7611409" cy="369332"/>
          </a:xfrm>
          <a:prstGeom prst="rect">
            <a:avLst/>
          </a:prstGeom>
          <a:solidFill>
            <a:schemeClr val="accent2"/>
          </a:solidFill>
        </p:spPr>
        <p:txBody>
          <a:bodyPr wrap="square" rtlCol="0">
            <a:spAutoFit/>
          </a:bodyPr>
          <a:lstStyle/>
          <a:p>
            <a:r>
              <a:rPr lang="en-US" b="1" dirty="0">
                <a:solidFill>
                  <a:schemeClr val="bg1"/>
                </a:solidFill>
              </a:rPr>
              <a:t>Can be even used during TABLE CREATION</a:t>
            </a:r>
            <a:endParaRPr lang="en-US" b="1" dirty="0">
              <a:solidFill>
                <a:schemeClr val="bg1"/>
              </a:solidFill>
            </a:endParaRPr>
          </a:p>
        </p:txBody>
      </p:sp>
    </p:spTree>
    <p:extLst>
      <p:ext uri="{BB962C8B-B14F-4D97-AF65-F5344CB8AC3E}">
        <p14:creationId xmlns:p14="http://schemas.microsoft.com/office/powerpoint/2010/main" val="299402526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Concatenation</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77183469"/>
              </p:ext>
            </p:extLst>
          </p:nvPr>
        </p:nvGraphicFramePr>
        <p:xfrm>
          <a:off x="628648" y="2226468"/>
          <a:ext cx="7639588" cy="2871151"/>
        </p:xfrm>
        <a:graphic>
          <a:graphicData uri="http://schemas.openxmlformats.org/drawingml/2006/table">
            <a:tbl>
              <a:tblPr firstRow="1" bandRow="1">
                <a:tableStyleId>{5C22544A-7EE6-4342-B048-85BDC9FD1C3A}</a:tableStyleId>
              </a:tblPr>
              <a:tblGrid>
                <a:gridCol w="955469"/>
                <a:gridCol w="6684119"/>
              </a:tblGrid>
              <a:tr h="542891">
                <a:tc>
                  <a:txBody>
                    <a:bodyPr/>
                    <a:lstStyle/>
                    <a:p>
                      <a:r>
                        <a:rPr lang="en-US" sz="1000" dirty="0" smtClean="0"/>
                        <a:t>Example</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a:t>
                      </a:r>
                      <a:r>
                        <a:rPr lang="en-US" sz="1400" b="0" i="0" kern="1200" dirty="0" err="1" smtClean="0">
                          <a:solidFill>
                            <a:schemeClr val="lt1"/>
                          </a:solidFill>
                          <a:effectLst/>
                          <a:latin typeface="+mn-lt"/>
                          <a:ea typeface="+mn-ea"/>
                          <a:cs typeface="+mn-cs"/>
                        </a:rPr>
                        <a:t>CustomerName</a:t>
                      </a:r>
                      <a:r>
                        <a:rPr lang="en-US" sz="1400" b="0" i="0" kern="1200" dirty="0" smtClean="0">
                          <a:solidFill>
                            <a:schemeClr val="lt1"/>
                          </a:solidFill>
                          <a:effectLst/>
                          <a:latin typeface="+mn-lt"/>
                          <a:ea typeface="+mn-ea"/>
                          <a:cs typeface="+mn-cs"/>
                        </a:rPr>
                        <a:t>, CONCAT(Address,', ',City,', ',</a:t>
                      </a:r>
                      <a:r>
                        <a:rPr lang="en-US" sz="1400" b="0" i="0" kern="1200" dirty="0" err="1" smtClean="0">
                          <a:solidFill>
                            <a:schemeClr val="lt1"/>
                          </a:solidFill>
                          <a:effectLst/>
                          <a:latin typeface="+mn-lt"/>
                          <a:ea typeface="+mn-ea"/>
                          <a:cs typeface="+mn-cs"/>
                        </a:rPr>
                        <a:t>PostalCode</a:t>
                      </a:r>
                      <a:r>
                        <a:rPr lang="en-US" sz="1400" b="0" i="0" kern="1200" dirty="0" smtClean="0">
                          <a:solidFill>
                            <a:schemeClr val="lt1"/>
                          </a:solidFill>
                          <a:effectLst/>
                          <a:latin typeface="+mn-lt"/>
                          <a:ea typeface="+mn-ea"/>
                          <a:cs typeface="+mn-cs"/>
                        </a:rPr>
                        <a:t>,', ',Country) AS Address</a:t>
                      </a:r>
                      <a:r>
                        <a:rPr lang="en-US" sz="1000" dirty="0" smtClean="0"/>
                        <a:t/>
                      </a:r>
                      <a:br>
                        <a:rPr lang="en-US" sz="1000" dirty="0" smtClean="0"/>
                      </a:br>
                      <a:r>
                        <a:rPr lang="en-US" sz="1400" b="0" i="0" kern="1200" dirty="0" smtClean="0">
                          <a:solidFill>
                            <a:schemeClr val="lt1"/>
                          </a:solidFill>
                          <a:effectLst/>
                          <a:latin typeface="+mn-lt"/>
                          <a:ea typeface="+mn-ea"/>
                          <a:cs typeface="+mn-cs"/>
                        </a:rPr>
                        <a:t>FROM Customers;</a:t>
                      </a:r>
                      <a:endParaRPr lang="en-US" sz="1000" dirty="0"/>
                    </a:p>
                  </a:txBody>
                  <a:tcPr marL="68580" marR="68580" marT="34290" marB="34290"/>
                </a:tc>
              </a:tr>
              <a:tr h="2328260">
                <a:tc>
                  <a:txBody>
                    <a:bodyPr/>
                    <a:lstStyle/>
                    <a:p>
                      <a:r>
                        <a:rPr lang="en-US" sz="1000" dirty="0" smtClean="0"/>
                        <a:t>Result</a:t>
                      </a:r>
                      <a:endParaRPr lang="en-US" sz="1000" dirty="0"/>
                    </a:p>
                  </a:txBody>
                  <a:tcPr marL="68580" marR="68580" marT="34290" marB="34290"/>
                </a:tc>
                <a:tc>
                  <a:txBody>
                    <a:bodyPr/>
                    <a:lstStyle/>
                    <a:p>
                      <a:endParaRPr lang="en-US" sz="1000" dirty="0"/>
                    </a:p>
                  </a:txBody>
                  <a:tcPr marL="68580" marR="68580" marT="34290" marB="34290"/>
                </a:tc>
              </a:tr>
            </a:tbl>
          </a:graphicData>
        </a:graphic>
      </p:graphicFrame>
      <p:pic>
        <p:nvPicPr>
          <p:cNvPr id="3" name="Picture 2"/>
          <p:cNvPicPr>
            <a:picLocks noChangeAspect="1"/>
          </p:cNvPicPr>
          <p:nvPr/>
        </p:nvPicPr>
        <p:blipFill>
          <a:blip r:embed="rId2"/>
          <a:stretch>
            <a:fillRect/>
          </a:stretch>
        </p:blipFill>
        <p:spPr>
          <a:xfrm>
            <a:off x="1870908" y="2958519"/>
            <a:ext cx="5807869" cy="1771650"/>
          </a:xfrm>
          <a:prstGeom prst="rect">
            <a:avLst/>
          </a:prstGeom>
        </p:spPr>
      </p:pic>
    </p:spTree>
    <p:extLst>
      <p:ext uri="{BB962C8B-B14F-4D97-AF65-F5344CB8AC3E}">
        <p14:creationId xmlns:p14="http://schemas.microsoft.com/office/powerpoint/2010/main" val="28499211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Advanced Features</a:t>
            </a:r>
            <a:endParaRPr lang="en-US" dirty="0"/>
          </a:p>
        </p:txBody>
      </p:sp>
      <p:graphicFrame>
        <p:nvGraphicFramePr>
          <p:cNvPr id="6" name="Diagram 5"/>
          <p:cNvGraphicFramePr/>
          <p:nvPr>
            <p:extLst>
              <p:ext uri="{D42A27DB-BD31-4B8C-83A1-F6EECF244321}">
                <p14:modId xmlns:p14="http://schemas.microsoft.com/office/powerpoint/2010/main" val="993246803"/>
              </p:ext>
            </p:extLst>
          </p:nvPr>
        </p:nvGraphicFramePr>
        <p:xfrm>
          <a:off x="1524000" y="2209532"/>
          <a:ext cx="6096000" cy="32514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36039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dgm id="{AED0408E-6582-4B01-AD74-689AB62DCDAE}"/>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graphicEl>
                                              <a:dgm id="{2BBA3E43-F5A6-4154-A76B-4DD73EC77E10}"/>
                                            </p:graphic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graphicEl>
                                              <a:dgm id="{2280B384-CC00-4566-9176-690D557EBCC2}"/>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graphicEl>
                                              <a:dgm id="{582B57E9-C0F6-4FFC-9ABC-BC3A2993A59C}"/>
                                            </p:graphic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graphicEl>
                                              <a:dgm id="{D1745622-BE79-42FC-9C50-A6669D1767F2}"/>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graphicEl>
                                              <a:dgm id="{E2CE3905-5FDD-422F-97A4-2161092EC16C}"/>
                                            </p:graphic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graphicEl>
                                              <a:dgm id="{52551EA3-7EBA-4CCA-AD33-7B8BFB2FFA94}"/>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ORDER BY</a:t>
            </a:r>
            <a:endParaRPr lang="en-US" dirty="0"/>
          </a:p>
        </p:txBody>
      </p:sp>
      <p:graphicFrame>
        <p:nvGraphicFramePr>
          <p:cNvPr id="4" name="Content Placeholder 3"/>
          <p:cNvGraphicFramePr>
            <a:graphicFrameLocks noGrp="1"/>
          </p:cNvGraphicFramePr>
          <p:nvPr>
            <p:ph idx="1"/>
            <p:extLst/>
          </p:nvPr>
        </p:nvGraphicFramePr>
        <p:xfrm>
          <a:off x="628648" y="2226469"/>
          <a:ext cx="7639588" cy="3036920"/>
        </p:xfrm>
        <a:graphic>
          <a:graphicData uri="http://schemas.openxmlformats.org/drawingml/2006/table">
            <a:tbl>
              <a:tblPr firstRow="1" bandRow="1">
                <a:tableStyleId>{5C22544A-7EE6-4342-B048-85BDC9FD1C3A}</a:tableStyleId>
              </a:tblPr>
              <a:tblGrid>
                <a:gridCol w="955469"/>
                <a:gridCol w="6684119"/>
              </a:tblGrid>
              <a:tr h="685800">
                <a:tc>
                  <a:txBody>
                    <a:bodyPr/>
                    <a:lstStyle/>
                    <a:p>
                      <a:r>
                        <a:rPr lang="en-US" sz="1000" smtClean="0"/>
                        <a:t>Example</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a:t>
                      </a:r>
                      <a:r>
                        <a:rPr lang="en-US" sz="1400" b="0" i="1" kern="1200" dirty="0" err="1" smtClean="0">
                          <a:solidFill>
                            <a:schemeClr val="lt1"/>
                          </a:solidFill>
                          <a:effectLst/>
                          <a:latin typeface="+mn-lt"/>
                          <a:ea typeface="+mn-ea"/>
                          <a:cs typeface="+mn-cs"/>
                        </a:rPr>
                        <a:t>column_name</a:t>
                      </a:r>
                      <a:r>
                        <a:rPr lang="en-US" sz="1400" b="0" i="0" kern="1200" dirty="0" smtClean="0">
                          <a:solidFill>
                            <a:schemeClr val="lt1"/>
                          </a:solidFill>
                          <a:effectLst/>
                          <a:latin typeface="+mn-lt"/>
                          <a:ea typeface="+mn-ea"/>
                          <a:cs typeface="+mn-cs"/>
                        </a:rPr>
                        <a:t>,</a:t>
                      </a:r>
                      <a:r>
                        <a:rPr lang="en-US" sz="1400" b="0" i="1" kern="1200" dirty="0" smtClean="0">
                          <a:solidFill>
                            <a:schemeClr val="lt1"/>
                          </a:solidFill>
                          <a:effectLst/>
                          <a:latin typeface="+mn-lt"/>
                          <a:ea typeface="+mn-ea"/>
                          <a:cs typeface="+mn-cs"/>
                        </a:rPr>
                        <a:t> </a:t>
                      </a:r>
                      <a:r>
                        <a:rPr lang="en-US" sz="1400" b="0" i="1" kern="1200" dirty="0" err="1" smtClean="0">
                          <a:solidFill>
                            <a:schemeClr val="lt1"/>
                          </a:solidFill>
                          <a:effectLst/>
                          <a:latin typeface="+mn-lt"/>
                          <a:ea typeface="+mn-ea"/>
                          <a:cs typeface="+mn-cs"/>
                        </a:rPr>
                        <a:t>column_name</a:t>
                      </a:r>
                      <a:r>
                        <a:rPr lang="en-US" sz="1000" dirty="0" smtClean="0"/>
                        <a:t/>
                      </a:r>
                      <a:br>
                        <a:rPr lang="en-US" sz="1000" dirty="0" smtClean="0"/>
                      </a:br>
                      <a:r>
                        <a:rPr lang="en-US" sz="1400" b="0" i="0" kern="1200" dirty="0" smtClean="0">
                          <a:solidFill>
                            <a:schemeClr val="lt1"/>
                          </a:solidFill>
                          <a:effectLst/>
                          <a:latin typeface="+mn-lt"/>
                          <a:ea typeface="+mn-ea"/>
                          <a:cs typeface="+mn-cs"/>
                        </a:rPr>
                        <a:t>FROM </a:t>
                      </a:r>
                      <a:r>
                        <a:rPr lang="en-US" sz="1400" b="0" i="1" kern="1200" dirty="0" err="1" smtClean="0">
                          <a:solidFill>
                            <a:schemeClr val="lt1"/>
                          </a:solidFill>
                          <a:effectLst/>
                          <a:latin typeface="+mn-lt"/>
                          <a:ea typeface="+mn-ea"/>
                          <a:cs typeface="+mn-cs"/>
                        </a:rPr>
                        <a:t>table_name</a:t>
                      </a:r>
                      <a:r>
                        <a:rPr lang="en-US" sz="1000" dirty="0" smtClean="0"/>
                        <a:t/>
                      </a:r>
                      <a:br>
                        <a:rPr lang="en-US" sz="1000" dirty="0" smtClean="0"/>
                      </a:br>
                      <a:r>
                        <a:rPr lang="en-US" sz="1400" b="0" i="0" kern="1200" dirty="0" smtClean="0">
                          <a:solidFill>
                            <a:schemeClr val="lt1"/>
                          </a:solidFill>
                          <a:effectLst/>
                          <a:latin typeface="+mn-lt"/>
                          <a:ea typeface="+mn-ea"/>
                          <a:cs typeface="+mn-cs"/>
                        </a:rPr>
                        <a:t>ORDER BY </a:t>
                      </a:r>
                      <a:r>
                        <a:rPr lang="en-US" sz="1400" b="0" i="1" kern="1200" dirty="0" err="1" smtClean="0">
                          <a:solidFill>
                            <a:schemeClr val="lt1"/>
                          </a:solidFill>
                          <a:effectLst/>
                          <a:latin typeface="+mn-lt"/>
                          <a:ea typeface="+mn-ea"/>
                          <a:cs typeface="+mn-cs"/>
                        </a:rPr>
                        <a:t>column_name</a:t>
                      </a:r>
                      <a:r>
                        <a:rPr lang="en-US" sz="1400" b="0" i="1" kern="1200" dirty="0" smtClean="0">
                          <a:solidFill>
                            <a:schemeClr val="lt1"/>
                          </a:solidFill>
                          <a:effectLst/>
                          <a:latin typeface="+mn-lt"/>
                          <a:ea typeface="+mn-ea"/>
                          <a:cs typeface="+mn-cs"/>
                        </a:rPr>
                        <a:t> </a:t>
                      </a:r>
                      <a:r>
                        <a:rPr lang="en-US" sz="1400" b="0" i="0" kern="1200" dirty="0" smtClean="0">
                          <a:solidFill>
                            <a:schemeClr val="lt1"/>
                          </a:solidFill>
                          <a:effectLst/>
                          <a:latin typeface="+mn-lt"/>
                          <a:ea typeface="+mn-ea"/>
                          <a:cs typeface="+mn-cs"/>
                        </a:rPr>
                        <a:t>ASC|DESC,</a:t>
                      </a:r>
                      <a:r>
                        <a:rPr lang="en-US" sz="1400" b="0" i="1" kern="1200" dirty="0" smtClean="0">
                          <a:solidFill>
                            <a:schemeClr val="lt1"/>
                          </a:solidFill>
                          <a:effectLst/>
                          <a:latin typeface="+mn-lt"/>
                          <a:ea typeface="+mn-ea"/>
                          <a:cs typeface="+mn-cs"/>
                        </a:rPr>
                        <a:t> </a:t>
                      </a:r>
                      <a:r>
                        <a:rPr lang="en-US" sz="1400" b="0" i="1" kern="1200" dirty="0" err="1" smtClean="0">
                          <a:solidFill>
                            <a:schemeClr val="lt1"/>
                          </a:solidFill>
                          <a:effectLst/>
                          <a:latin typeface="+mn-lt"/>
                          <a:ea typeface="+mn-ea"/>
                          <a:cs typeface="+mn-cs"/>
                        </a:rPr>
                        <a:t>column_name</a:t>
                      </a:r>
                      <a:r>
                        <a:rPr lang="en-US" sz="1400" b="0" i="0" kern="1200" dirty="0" smtClean="0">
                          <a:solidFill>
                            <a:schemeClr val="lt1"/>
                          </a:solidFill>
                          <a:effectLst/>
                          <a:latin typeface="+mn-lt"/>
                          <a:ea typeface="+mn-ea"/>
                          <a:cs typeface="+mn-cs"/>
                        </a:rPr>
                        <a:t> ASC|DESC;</a:t>
                      </a:r>
                      <a:endParaRPr lang="en-US" sz="1000" dirty="0"/>
                    </a:p>
                  </a:txBody>
                  <a:tcPr marL="68580" marR="68580" marT="34290" marB="34290"/>
                </a:tc>
              </a:tr>
              <a:tr h="2328260">
                <a:tc>
                  <a:txBody>
                    <a:bodyPr/>
                    <a:lstStyle/>
                    <a:p>
                      <a:r>
                        <a:rPr lang="en-US" sz="1000" dirty="0" smtClean="0"/>
                        <a:t>Result</a:t>
                      </a:r>
                      <a:endParaRPr lang="en-US" sz="1000" dirty="0"/>
                    </a:p>
                  </a:txBody>
                  <a:tcPr marL="68580" marR="68580" marT="34290" marB="34290"/>
                </a:tc>
                <a:tc>
                  <a:txBody>
                    <a:bodyPr/>
                    <a:lstStyle/>
                    <a:p>
                      <a:endParaRPr lang="en-US" sz="1000" dirty="0"/>
                    </a:p>
                  </a:txBody>
                  <a:tcPr marL="68580" marR="68580" marT="34290" marB="34290"/>
                </a:tc>
              </a:tr>
            </a:tbl>
          </a:graphicData>
        </a:graphic>
      </p:graphicFrame>
    </p:spTree>
    <p:extLst>
      <p:ext uri="{BB962C8B-B14F-4D97-AF65-F5344CB8AC3E}">
        <p14:creationId xmlns:p14="http://schemas.microsoft.com/office/powerpoint/2010/main" val="117649842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ORDER BY</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21566029"/>
              </p:ext>
            </p:extLst>
          </p:nvPr>
        </p:nvGraphicFramePr>
        <p:xfrm>
          <a:off x="628648" y="2226468"/>
          <a:ext cx="7639588" cy="2871151"/>
        </p:xfrm>
        <a:graphic>
          <a:graphicData uri="http://schemas.openxmlformats.org/drawingml/2006/table">
            <a:tbl>
              <a:tblPr firstRow="1" bandRow="1">
                <a:tableStyleId>{5C22544A-7EE6-4342-B048-85BDC9FD1C3A}</a:tableStyleId>
              </a:tblPr>
              <a:tblGrid>
                <a:gridCol w="955469"/>
                <a:gridCol w="6684119"/>
              </a:tblGrid>
              <a:tr h="542891">
                <a:tc>
                  <a:txBody>
                    <a:bodyPr/>
                    <a:lstStyle/>
                    <a:p>
                      <a:r>
                        <a:rPr lang="en-US" sz="1000" dirty="0" smtClean="0"/>
                        <a:t>Example</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 FROM Customers</a:t>
                      </a:r>
                    </a:p>
                    <a:p>
                      <a:r>
                        <a:rPr lang="en-US" sz="1400" b="0" i="0" kern="1200" dirty="0" smtClean="0">
                          <a:solidFill>
                            <a:schemeClr val="lt1"/>
                          </a:solidFill>
                          <a:effectLst/>
                          <a:latin typeface="+mn-lt"/>
                          <a:ea typeface="+mn-ea"/>
                          <a:cs typeface="+mn-cs"/>
                        </a:rPr>
                        <a:t>ORDER BY Country;</a:t>
                      </a:r>
                      <a:endParaRPr lang="en-US" sz="1000" dirty="0"/>
                    </a:p>
                  </a:txBody>
                  <a:tcPr marL="68580" marR="68580" marT="34290" marB="34290"/>
                </a:tc>
              </a:tr>
              <a:tr h="2328260">
                <a:tc>
                  <a:txBody>
                    <a:bodyPr/>
                    <a:lstStyle/>
                    <a:p>
                      <a:r>
                        <a:rPr lang="en-US" sz="1000" dirty="0" smtClean="0"/>
                        <a:t>Result</a:t>
                      </a:r>
                      <a:endParaRPr lang="en-US" sz="1000" dirty="0"/>
                    </a:p>
                  </a:txBody>
                  <a:tcPr marL="68580" marR="68580" marT="34290" marB="34290"/>
                </a:tc>
                <a:tc>
                  <a:txBody>
                    <a:bodyPr/>
                    <a:lstStyle/>
                    <a:p>
                      <a:endParaRPr lang="en-US" sz="1000" dirty="0"/>
                    </a:p>
                  </a:txBody>
                  <a:tcPr marL="68580" marR="68580" marT="34290" marB="34290"/>
                </a:tc>
              </a:tr>
            </a:tbl>
          </a:graphicData>
        </a:graphic>
      </p:graphicFrame>
      <p:pic>
        <p:nvPicPr>
          <p:cNvPr id="3" name="Picture 2"/>
          <p:cNvPicPr>
            <a:picLocks noChangeAspect="1"/>
          </p:cNvPicPr>
          <p:nvPr/>
        </p:nvPicPr>
        <p:blipFill>
          <a:blip r:embed="rId2"/>
          <a:stretch>
            <a:fillRect/>
          </a:stretch>
        </p:blipFill>
        <p:spPr>
          <a:xfrm>
            <a:off x="723883" y="3112814"/>
            <a:ext cx="7522369" cy="1907381"/>
          </a:xfrm>
          <a:prstGeom prst="rect">
            <a:avLst/>
          </a:prstGeom>
        </p:spPr>
      </p:pic>
    </p:spTree>
    <p:extLst>
      <p:ext uri="{BB962C8B-B14F-4D97-AF65-F5344CB8AC3E}">
        <p14:creationId xmlns:p14="http://schemas.microsoft.com/office/powerpoint/2010/main" val="273899807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ORDER BY</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11949291"/>
              </p:ext>
            </p:extLst>
          </p:nvPr>
        </p:nvGraphicFramePr>
        <p:xfrm>
          <a:off x="628648" y="2226468"/>
          <a:ext cx="7639588" cy="2871151"/>
        </p:xfrm>
        <a:graphic>
          <a:graphicData uri="http://schemas.openxmlformats.org/drawingml/2006/table">
            <a:tbl>
              <a:tblPr firstRow="1" bandRow="1">
                <a:tableStyleId>{5C22544A-7EE6-4342-B048-85BDC9FD1C3A}</a:tableStyleId>
              </a:tblPr>
              <a:tblGrid>
                <a:gridCol w="955469"/>
                <a:gridCol w="6684119"/>
              </a:tblGrid>
              <a:tr h="542891">
                <a:tc>
                  <a:txBody>
                    <a:bodyPr/>
                    <a:lstStyle/>
                    <a:p>
                      <a:r>
                        <a:rPr lang="en-US" sz="1000" dirty="0" smtClean="0"/>
                        <a:t>Example</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 FROM Customers</a:t>
                      </a:r>
                    </a:p>
                    <a:p>
                      <a:r>
                        <a:rPr lang="en-US" sz="1400" b="0" i="0" kern="1200" dirty="0" smtClean="0">
                          <a:solidFill>
                            <a:schemeClr val="lt1"/>
                          </a:solidFill>
                          <a:effectLst/>
                          <a:latin typeface="+mn-lt"/>
                          <a:ea typeface="+mn-ea"/>
                          <a:cs typeface="+mn-cs"/>
                        </a:rPr>
                        <a:t>ORDER BY Country DESC;</a:t>
                      </a:r>
                      <a:endParaRPr lang="en-US" sz="1000" dirty="0"/>
                    </a:p>
                  </a:txBody>
                  <a:tcPr marL="68580" marR="68580" marT="34290" marB="34290"/>
                </a:tc>
              </a:tr>
              <a:tr h="2328260">
                <a:tc>
                  <a:txBody>
                    <a:bodyPr/>
                    <a:lstStyle/>
                    <a:p>
                      <a:r>
                        <a:rPr lang="en-US" sz="1000" dirty="0" smtClean="0"/>
                        <a:t>Result</a:t>
                      </a:r>
                      <a:endParaRPr lang="en-US" sz="1000" dirty="0"/>
                    </a:p>
                  </a:txBody>
                  <a:tcPr marL="68580" marR="68580" marT="34290" marB="34290"/>
                </a:tc>
                <a:tc>
                  <a:txBody>
                    <a:bodyPr/>
                    <a:lstStyle/>
                    <a:p>
                      <a:endParaRPr lang="en-US" sz="1000" dirty="0"/>
                    </a:p>
                  </a:txBody>
                  <a:tcPr marL="68580" marR="68580" marT="34290" marB="34290"/>
                </a:tc>
              </a:tr>
            </a:tbl>
          </a:graphicData>
        </a:graphic>
      </p:graphicFrame>
      <p:pic>
        <p:nvPicPr>
          <p:cNvPr id="5" name="Picture 4"/>
          <p:cNvPicPr>
            <a:picLocks noChangeAspect="1"/>
          </p:cNvPicPr>
          <p:nvPr/>
        </p:nvPicPr>
        <p:blipFill>
          <a:blip r:embed="rId2"/>
          <a:stretch>
            <a:fillRect/>
          </a:stretch>
        </p:blipFill>
        <p:spPr>
          <a:xfrm>
            <a:off x="628650" y="3098527"/>
            <a:ext cx="7550944" cy="1935956"/>
          </a:xfrm>
          <a:prstGeom prst="rect">
            <a:avLst/>
          </a:prstGeom>
        </p:spPr>
      </p:pic>
    </p:spTree>
    <p:extLst>
      <p:ext uri="{BB962C8B-B14F-4D97-AF65-F5344CB8AC3E}">
        <p14:creationId xmlns:p14="http://schemas.microsoft.com/office/powerpoint/2010/main" val="49006033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DISTINCT</a:t>
            </a:r>
            <a:endParaRPr lang="en-US" dirty="0"/>
          </a:p>
        </p:txBody>
      </p:sp>
      <p:sp>
        <p:nvSpPr>
          <p:cNvPr id="8" name="Content Placeholder 2"/>
          <p:cNvSpPr>
            <a:spLocks noGrp="1"/>
          </p:cNvSpPr>
          <p:nvPr>
            <p:ph idx="1"/>
          </p:nvPr>
        </p:nvSpPr>
        <p:spPr>
          <a:xfrm>
            <a:off x="4269346" y="3336932"/>
            <a:ext cx="4246004" cy="1042577"/>
          </a:xfrm>
          <a:ln>
            <a:solidFill>
              <a:schemeClr val="accent1"/>
            </a:solidFill>
          </a:ln>
        </p:spPr>
        <p:txBody>
          <a:bodyPr>
            <a:normAutofit fontScale="85000" lnSpcReduction="10000"/>
          </a:bodyPr>
          <a:lstStyle/>
          <a:p>
            <a:pPr marL="0" indent="0">
              <a:buNone/>
            </a:pPr>
            <a:r>
              <a:rPr lang="en-US" dirty="0"/>
              <a:t>SELECT </a:t>
            </a:r>
            <a:r>
              <a:rPr lang="en-US" dirty="0" smtClean="0"/>
              <a:t>DISTINCT</a:t>
            </a:r>
            <a:r>
              <a:rPr lang="en-US" dirty="0"/>
              <a:t> </a:t>
            </a:r>
            <a:r>
              <a:rPr lang="en-US" i="1" dirty="0" err="1"/>
              <a:t>column_name</a:t>
            </a:r>
            <a:r>
              <a:rPr lang="en-US" dirty="0" smtClean="0"/>
              <a:t>, </a:t>
            </a:r>
            <a:r>
              <a:rPr lang="en-US" i="1" dirty="0" err="1" smtClean="0"/>
              <a:t>column_name</a:t>
            </a:r>
            <a:r>
              <a:rPr lang="en-US" dirty="0"/>
              <a:t/>
            </a:r>
            <a:br>
              <a:rPr lang="en-US" dirty="0"/>
            </a:br>
            <a:r>
              <a:rPr lang="en-US" dirty="0"/>
              <a:t>FROM </a:t>
            </a:r>
            <a:r>
              <a:rPr lang="en-US" i="1" dirty="0" err="1"/>
              <a:t>table_name</a:t>
            </a:r>
            <a:r>
              <a:rPr lang="en-US" dirty="0"/>
              <a:t>;</a:t>
            </a:r>
          </a:p>
        </p:txBody>
      </p:sp>
      <p:sp>
        <p:nvSpPr>
          <p:cNvPr id="7" name="TextBox 6"/>
          <p:cNvSpPr txBox="1"/>
          <p:nvPr/>
        </p:nvSpPr>
        <p:spPr>
          <a:xfrm>
            <a:off x="850810" y="3269598"/>
            <a:ext cx="2887283" cy="1200329"/>
          </a:xfrm>
          <a:prstGeom prst="rect">
            <a:avLst/>
          </a:prstGeom>
          <a:solidFill>
            <a:schemeClr val="accent2"/>
          </a:solidFill>
        </p:spPr>
        <p:txBody>
          <a:bodyPr wrap="square" rtlCol="0">
            <a:spAutoFit/>
          </a:bodyPr>
          <a:lstStyle/>
          <a:p>
            <a:r>
              <a:rPr lang="en-US" dirty="0">
                <a:solidFill>
                  <a:schemeClr val="bg1"/>
                </a:solidFill>
              </a:rPr>
              <a:t>The SELECT DISTINCT statement is used to return only distinct (different) values.</a:t>
            </a:r>
          </a:p>
        </p:txBody>
      </p:sp>
      <p:sp>
        <p:nvSpPr>
          <p:cNvPr id="6" name="Striped Right Arrow 5"/>
          <p:cNvSpPr/>
          <p:nvPr/>
        </p:nvSpPr>
        <p:spPr>
          <a:xfrm>
            <a:off x="3738093" y="3552155"/>
            <a:ext cx="531254" cy="618186"/>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180823300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DISTINCT </a:t>
            </a:r>
            <a:endParaRPr lang="en-US" dirty="0"/>
          </a:p>
        </p:txBody>
      </p:sp>
      <p:graphicFrame>
        <p:nvGraphicFramePr>
          <p:cNvPr id="4" name="Content Placeholder 3"/>
          <p:cNvGraphicFramePr>
            <a:graphicFrameLocks noGrp="1"/>
          </p:cNvGraphicFramePr>
          <p:nvPr>
            <p:ph idx="1"/>
            <p:extLst/>
          </p:nvPr>
        </p:nvGraphicFramePr>
        <p:xfrm>
          <a:off x="628648" y="2226468"/>
          <a:ext cx="7639588" cy="2871151"/>
        </p:xfrm>
        <a:graphic>
          <a:graphicData uri="http://schemas.openxmlformats.org/drawingml/2006/table">
            <a:tbl>
              <a:tblPr firstRow="1" bandRow="1">
                <a:tableStyleId>{5C22544A-7EE6-4342-B048-85BDC9FD1C3A}</a:tableStyleId>
              </a:tblPr>
              <a:tblGrid>
                <a:gridCol w="955469"/>
                <a:gridCol w="6684119"/>
              </a:tblGrid>
              <a:tr h="542891">
                <a:tc>
                  <a:txBody>
                    <a:bodyPr/>
                    <a:lstStyle/>
                    <a:p>
                      <a:r>
                        <a:rPr lang="en-US" sz="1000" dirty="0" smtClean="0"/>
                        <a:t>Example</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DISTINCT City FROM Customers;</a:t>
                      </a:r>
                      <a:endParaRPr lang="en-US" sz="1000" dirty="0"/>
                    </a:p>
                  </a:txBody>
                  <a:tcPr marL="68580" marR="68580" marT="34290" marB="34290"/>
                </a:tc>
              </a:tr>
              <a:tr h="2328260">
                <a:tc>
                  <a:txBody>
                    <a:bodyPr/>
                    <a:lstStyle/>
                    <a:p>
                      <a:r>
                        <a:rPr lang="en-US" sz="1000" dirty="0" smtClean="0"/>
                        <a:t>Result</a:t>
                      </a:r>
                      <a:endParaRPr lang="en-US" sz="1000" dirty="0"/>
                    </a:p>
                  </a:txBody>
                  <a:tcPr marL="68580" marR="68580" marT="34290" marB="34290"/>
                </a:tc>
                <a:tc>
                  <a:txBody>
                    <a:bodyPr/>
                    <a:lstStyle/>
                    <a:p>
                      <a:endParaRPr lang="en-US" sz="1000" dirty="0"/>
                    </a:p>
                  </a:txBody>
                  <a:tcPr marL="68580" marR="68580" marT="34290" marB="34290"/>
                </a:tc>
              </a:tr>
            </a:tbl>
          </a:graphicData>
        </a:graphic>
      </p:graphicFrame>
      <p:pic>
        <p:nvPicPr>
          <p:cNvPr id="3" name="Picture 2"/>
          <p:cNvPicPr>
            <a:picLocks noChangeAspect="1"/>
          </p:cNvPicPr>
          <p:nvPr/>
        </p:nvPicPr>
        <p:blipFill>
          <a:blip r:embed="rId2"/>
          <a:stretch>
            <a:fillRect/>
          </a:stretch>
        </p:blipFill>
        <p:spPr>
          <a:xfrm>
            <a:off x="1691158" y="2780803"/>
            <a:ext cx="6441851" cy="2242763"/>
          </a:xfrm>
          <a:prstGeom prst="rect">
            <a:avLst/>
          </a:prstGeom>
        </p:spPr>
      </p:pic>
    </p:spTree>
    <p:extLst>
      <p:ext uri="{BB962C8B-B14F-4D97-AF65-F5344CB8AC3E}">
        <p14:creationId xmlns:p14="http://schemas.microsoft.com/office/powerpoint/2010/main" val="38418539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NULL Values</a:t>
            </a:r>
            <a:endParaRPr lang="en-US" dirty="0"/>
          </a:p>
        </p:txBody>
      </p:sp>
      <p:sp>
        <p:nvSpPr>
          <p:cNvPr id="8" name="Content Placeholder 2"/>
          <p:cNvSpPr>
            <a:spLocks noGrp="1"/>
          </p:cNvSpPr>
          <p:nvPr>
            <p:ph idx="1"/>
          </p:nvPr>
        </p:nvSpPr>
        <p:spPr>
          <a:xfrm>
            <a:off x="4269346" y="2548503"/>
            <a:ext cx="4246004" cy="2620426"/>
          </a:xfrm>
          <a:ln>
            <a:solidFill>
              <a:schemeClr val="accent1"/>
            </a:solidFill>
          </a:ln>
        </p:spPr>
        <p:txBody>
          <a:bodyPr>
            <a:noAutofit/>
          </a:bodyPr>
          <a:lstStyle/>
          <a:p>
            <a:r>
              <a:rPr lang="en-US" sz="1800" dirty="0"/>
              <a:t>If a column in a table is optional, we can insert a new record or update an existing record without adding a value to this column. This means that the field will be saved with a NULL value.</a:t>
            </a:r>
          </a:p>
          <a:p>
            <a:r>
              <a:rPr lang="en-US" sz="1800" dirty="0"/>
              <a:t>NULL values are treated differently from other values.</a:t>
            </a:r>
          </a:p>
          <a:p>
            <a:r>
              <a:rPr lang="en-US" sz="1800" dirty="0"/>
              <a:t>NULL is used as a placeholder for unknown or inapplicable values.</a:t>
            </a:r>
          </a:p>
        </p:txBody>
      </p:sp>
      <p:sp>
        <p:nvSpPr>
          <p:cNvPr id="7" name="TextBox 6"/>
          <p:cNvSpPr txBox="1"/>
          <p:nvPr/>
        </p:nvSpPr>
        <p:spPr>
          <a:xfrm>
            <a:off x="850810" y="3547093"/>
            <a:ext cx="2887283" cy="646331"/>
          </a:xfrm>
          <a:prstGeom prst="rect">
            <a:avLst/>
          </a:prstGeom>
          <a:solidFill>
            <a:schemeClr val="accent2"/>
          </a:solidFill>
        </p:spPr>
        <p:txBody>
          <a:bodyPr wrap="square" rtlCol="0">
            <a:spAutoFit/>
          </a:bodyPr>
          <a:lstStyle/>
          <a:p>
            <a:r>
              <a:rPr lang="en-US" dirty="0">
                <a:solidFill>
                  <a:schemeClr val="bg1"/>
                </a:solidFill>
              </a:rPr>
              <a:t>NULL values represent missing unknown data.</a:t>
            </a:r>
          </a:p>
        </p:txBody>
      </p:sp>
      <p:sp>
        <p:nvSpPr>
          <p:cNvPr id="6" name="Striped Right Arrow 5"/>
          <p:cNvSpPr/>
          <p:nvPr/>
        </p:nvSpPr>
        <p:spPr>
          <a:xfrm>
            <a:off x="3738093" y="3552155"/>
            <a:ext cx="531254" cy="618186"/>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410012417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NULL</a:t>
            </a:r>
            <a:endParaRPr lang="en-US" dirty="0"/>
          </a:p>
        </p:txBody>
      </p:sp>
      <p:graphicFrame>
        <p:nvGraphicFramePr>
          <p:cNvPr id="4" name="Content Placeholder 3"/>
          <p:cNvGraphicFramePr>
            <a:graphicFrameLocks noGrp="1"/>
          </p:cNvGraphicFramePr>
          <p:nvPr>
            <p:ph idx="1"/>
            <p:extLst/>
          </p:nvPr>
        </p:nvGraphicFramePr>
        <p:xfrm>
          <a:off x="628648" y="2226468"/>
          <a:ext cx="7639588" cy="2871151"/>
        </p:xfrm>
        <a:graphic>
          <a:graphicData uri="http://schemas.openxmlformats.org/drawingml/2006/table">
            <a:tbl>
              <a:tblPr firstRow="1" bandRow="1">
                <a:tableStyleId>{5C22544A-7EE6-4342-B048-85BDC9FD1C3A}</a:tableStyleId>
              </a:tblPr>
              <a:tblGrid>
                <a:gridCol w="955469"/>
                <a:gridCol w="6684119"/>
              </a:tblGrid>
              <a:tr h="542891">
                <a:tc>
                  <a:txBody>
                    <a:bodyPr/>
                    <a:lstStyle/>
                    <a:p>
                      <a:r>
                        <a:rPr lang="en-US" sz="1000" dirty="0" smtClean="0"/>
                        <a:t>Example</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a:t>
                      </a:r>
                      <a:r>
                        <a:rPr lang="en-US" sz="1400" b="0" i="0" kern="1200" dirty="0" err="1" smtClean="0">
                          <a:solidFill>
                            <a:schemeClr val="lt1"/>
                          </a:solidFill>
                          <a:effectLst/>
                          <a:latin typeface="+mn-lt"/>
                          <a:ea typeface="+mn-ea"/>
                          <a:cs typeface="+mn-cs"/>
                        </a:rPr>
                        <a:t>LastName,FirstName,Address</a:t>
                      </a:r>
                      <a:r>
                        <a:rPr lang="en-US" sz="1400" b="0" i="0" kern="1200" dirty="0" smtClean="0">
                          <a:solidFill>
                            <a:schemeClr val="lt1"/>
                          </a:solidFill>
                          <a:effectLst/>
                          <a:latin typeface="+mn-lt"/>
                          <a:ea typeface="+mn-ea"/>
                          <a:cs typeface="+mn-cs"/>
                        </a:rPr>
                        <a:t> FROM Persons</a:t>
                      </a:r>
                      <a:r>
                        <a:rPr lang="en-US" sz="1000" dirty="0" smtClean="0"/>
                        <a:t/>
                      </a:r>
                      <a:br>
                        <a:rPr lang="en-US" sz="1000" dirty="0" smtClean="0"/>
                      </a:br>
                      <a:r>
                        <a:rPr lang="en-US" sz="1400" b="0" i="0" kern="1200" dirty="0" smtClean="0">
                          <a:solidFill>
                            <a:schemeClr val="lt1"/>
                          </a:solidFill>
                          <a:effectLst/>
                          <a:latin typeface="+mn-lt"/>
                          <a:ea typeface="+mn-ea"/>
                          <a:cs typeface="+mn-cs"/>
                        </a:rPr>
                        <a:t>WHERE Address IS NULL</a:t>
                      </a:r>
                      <a:endParaRPr lang="en-US" sz="1000" dirty="0"/>
                    </a:p>
                  </a:txBody>
                  <a:tcPr marL="68580" marR="68580" marT="34290" marB="34290"/>
                </a:tc>
              </a:tr>
              <a:tr h="2328260">
                <a:tc>
                  <a:txBody>
                    <a:bodyPr/>
                    <a:lstStyle/>
                    <a:p>
                      <a:r>
                        <a:rPr lang="en-US" sz="1000" dirty="0" smtClean="0"/>
                        <a:t>Result</a:t>
                      </a:r>
                      <a:endParaRPr lang="en-US" sz="1000" dirty="0"/>
                    </a:p>
                  </a:txBody>
                  <a:tcPr marL="68580" marR="68580" marT="34290" marB="34290"/>
                </a:tc>
                <a:tc>
                  <a:txBody>
                    <a:bodyPr/>
                    <a:lstStyle/>
                    <a:p>
                      <a:endParaRPr lang="en-US" sz="1000" dirty="0"/>
                    </a:p>
                  </a:txBody>
                  <a:tcPr marL="68580" marR="68580" marT="34290" marB="34290"/>
                </a:tc>
              </a:tr>
            </a:tbl>
          </a:graphicData>
        </a:graphic>
      </p:graphicFrame>
      <p:pic>
        <p:nvPicPr>
          <p:cNvPr id="5" name="Picture 4"/>
          <p:cNvPicPr>
            <a:picLocks noChangeAspect="1"/>
          </p:cNvPicPr>
          <p:nvPr/>
        </p:nvPicPr>
        <p:blipFill>
          <a:blip r:embed="rId2"/>
          <a:stretch>
            <a:fillRect/>
          </a:stretch>
        </p:blipFill>
        <p:spPr>
          <a:xfrm>
            <a:off x="1580027" y="2775850"/>
            <a:ext cx="6679406" cy="1035844"/>
          </a:xfrm>
          <a:prstGeom prst="rect">
            <a:avLst/>
          </a:prstGeom>
        </p:spPr>
      </p:pic>
      <p:pic>
        <p:nvPicPr>
          <p:cNvPr id="6" name="Picture 5"/>
          <p:cNvPicPr>
            <a:picLocks noChangeAspect="1"/>
          </p:cNvPicPr>
          <p:nvPr/>
        </p:nvPicPr>
        <p:blipFill>
          <a:blip r:embed="rId3"/>
          <a:stretch>
            <a:fillRect/>
          </a:stretch>
        </p:blipFill>
        <p:spPr>
          <a:xfrm>
            <a:off x="1594314" y="4058655"/>
            <a:ext cx="6665119" cy="807244"/>
          </a:xfrm>
          <a:prstGeom prst="rect">
            <a:avLst/>
          </a:prstGeom>
        </p:spPr>
      </p:pic>
    </p:spTree>
    <p:extLst>
      <p:ext uri="{BB962C8B-B14F-4D97-AF65-F5344CB8AC3E}">
        <p14:creationId xmlns:p14="http://schemas.microsoft.com/office/powerpoint/2010/main" val="376680119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VIEW</a:t>
            </a:r>
            <a:endParaRPr lang="en-US" dirty="0"/>
          </a:p>
        </p:txBody>
      </p:sp>
      <p:sp>
        <p:nvSpPr>
          <p:cNvPr id="8" name="Content Placeholder 2"/>
          <p:cNvSpPr>
            <a:spLocks noGrp="1"/>
          </p:cNvSpPr>
          <p:nvPr>
            <p:ph idx="1"/>
          </p:nvPr>
        </p:nvSpPr>
        <p:spPr>
          <a:xfrm>
            <a:off x="4269346" y="2431694"/>
            <a:ext cx="4246004" cy="2853146"/>
          </a:xfrm>
          <a:ln>
            <a:solidFill>
              <a:schemeClr val="accent1"/>
            </a:solidFill>
          </a:ln>
        </p:spPr>
        <p:txBody>
          <a:bodyPr>
            <a:noAutofit/>
          </a:bodyPr>
          <a:lstStyle/>
          <a:p>
            <a:r>
              <a:rPr lang="en-US" sz="1800" dirty="0"/>
              <a:t>In SQL, a view is a virtual table based on the result-set of an SQL statement.</a:t>
            </a:r>
          </a:p>
          <a:p>
            <a:r>
              <a:rPr lang="en-US" sz="1800" dirty="0"/>
              <a:t>A view contains rows and columns, just like a real table. The fields in a view are fields from one or more real tables in the database.</a:t>
            </a:r>
          </a:p>
          <a:p>
            <a:r>
              <a:rPr lang="en-US" sz="1800" dirty="0"/>
              <a:t>You can add SQL functions, WHERE, and JOIN statements to a view and present the data as if the data were coming from one single table.</a:t>
            </a:r>
          </a:p>
        </p:txBody>
      </p:sp>
      <p:sp>
        <p:nvSpPr>
          <p:cNvPr id="7" name="TextBox 6"/>
          <p:cNvSpPr txBox="1"/>
          <p:nvPr/>
        </p:nvSpPr>
        <p:spPr>
          <a:xfrm>
            <a:off x="850810" y="3691982"/>
            <a:ext cx="2887283" cy="369332"/>
          </a:xfrm>
          <a:prstGeom prst="rect">
            <a:avLst/>
          </a:prstGeom>
          <a:solidFill>
            <a:schemeClr val="accent2"/>
          </a:solidFill>
        </p:spPr>
        <p:txBody>
          <a:bodyPr wrap="square" rtlCol="0">
            <a:spAutoFit/>
          </a:bodyPr>
          <a:lstStyle/>
          <a:p>
            <a:r>
              <a:rPr lang="en-US" dirty="0">
                <a:solidFill>
                  <a:schemeClr val="bg1"/>
                </a:solidFill>
              </a:rPr>
              <a:t>A view is a virtual table.</a:t>
            </a:r>
          </a:p>
        </p:txBody>
      </p:sp>
      <p:sp>
        <p:nvSpPr>
          <p:cNvPr id="6" name="Striped Right Arrow 5"/>
          <p:cNvSpPr/>
          <p:nvPr/>
        </p:nvSpPr>
        <p:spPr>
          <a:xfrm>
            <a:off x="3738093" y="3552155"/>
            <a:ext cx="531254" cy="618186"/>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08690299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VIEW</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39824648"/>
              </p:ext>
            </p:extLst>
          </p:nvPr>
        </p:nvGraphicFramePr>
        <p:xfrm>
          <a:off x="628648" y="2226469"/>
          <a:ext cx="7639588" cy="3250280"/>
        </p:xfrm>
        <a:graphic>
          <a:graphicData uri="http://schemas.openxmlformats.org/drawingml/2006/table">
            <a:tbl>
              <a:tblPr firstRow="1" bandRow="1">
                <a:tableStyleId>{5C22544A-7EE6-4342-B048-85BDC9FD1C3A}</a:tableStyleId>
              </a:tblPr>
              <a:tblGrid>
                <a:gridCol w="955469"/>
                <a:gridCol w="6684119"/>
              </a:tblGrid>
              <a:tr h="891540">
                <a:tc>
                  <a:txBody>
                    <a:bodyPr/>
                    <a:lstStyle/>
                    <a:p>
                      <a:r>
                        <a:rPr lang="en-US" sz="1000" dirty="0" smtClean="0"/>
                        <a:t>Example</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CREATE VIEW </a:t>
                      </a:r>
                      <a:r>
                        <a:rPr lang="en-US" sz="1400" b="0" i="0" kern="1200" dirty="0" err="1" smtClean="0">
                          <a:solidFill>
                            <a:schemeClr val="lt1"/>
                          </a:solidFill>
                          <a:effectLst/>
                          <a:latin typeface="+mn-lt"/>
                          <a:ea typeface="+mn-ea"/>
                          <a:cs typeface="+mn-cs"/>
                        </a:rPr>
                        <a:t>view_name</a:t>
                      </a:r>
                      <a:r>
                        <a:rPr lang="en-US" sz="1400" b="0" i="0" kern="1200" dirty="0" smtClean="0">
                          <a:solidFill>
                            <a:schemeClr val="lt1"/>
                          </a:solidFill>
                          <a:effectLst/>
                          <a:latin typeface="+mn-lt"/>
                          <a:ea typeface="+mn-ea"/>
                          <a:cs typeface="+mn-cs"/>
                        </a:rPr>
                        <a:t> AS </a:t>
                      </a:r>
                    </a:p>
                    <a:p>
                      <a:r>
                        <a:rPr lang="en-US" sz="1400" b="0" i="0" kern="1200" dirty="0" smtClean="0">
                          <a:solidFill>
                            <a:schemeClr val="lt1"/>
                          </a:solidFill>
                          <a:effectLst/>
                          <a:latin typeface="+mn-lt"/>
                          <a:ea typeface="+mn-ea"/>
                          <a:cs typeface="+mn-cs"/>
                        </a:rPr>
                        <a:t>SELECT </a:t>
                      </a:r>
                      <a:r>
                        <a:rPr lang="en-US" sz="1400" b="0" i="0" kern="1200" dirty="0" err="1" smtClean="0">
                          <a:solidFill>
                            <a:schemeClr val="lt1"/>
                          </a:solidFill>
                          <a:effectLst/>
                          <a:latin typeface="+mn-lt"/>
                          <a:ea typeface="+mn-ea"/>
                          <a:cs typeface="+mn-cs"/>
                        </a:rPr>
                        <a:t>column_name</a:t>
                      </a:r>
                      <a:r>
                        <a:rPr lang="en-US" sz="1400" b="0" i="0" kern="1200" dirty="0" smtClean="0">
                          <a:solidFill>
                            <a:schemeClr val="lt1"/>
                          </a:solidFill>
                          <a:effectLst/>
                          <a:latin typeface="+mn-lt"/>
                          <a:ea typeface="+mn-ea"/>
                          <a:cs typeface="+mn-cs"/>
                        </a:rPr>
                        <a:t>(s)</a:t>
                      </a:r>
                      <a:r>
                        <a:rPr lang="en-US" sz="1000" dirty="0" smtClean="0"/>
                        <a:t/>
                      </a:r>
                      <a:br>
                        <a:rPr lang="en-US" sz="1000" dirty="0" smtClean="0"/>
                      </a:br>
                      <a:r>
                        <a:rPr lang="en-US" sz="1400" b="0" i="0" kern="1200" dirty="0" smtClean="0">
                          <a:solidFill>
                            <a:schemeClr val="lt1"/>
                          </a:solidFill>
                          <a:effectLst/>
                          <a:latin typeface="+mn-lt"/>
                          <a:ea typeface="+mn-ea"/>
                          <a:cs typeface="+mn-cs"/>
                        </a:rPr>
                        <a:t>FROM </a:t>
                      </a:r>
                      <a:r>
                        <a:rPr lang="en-US" sz="1400" b="0" i="0" kern="1200" dirty="0" err="1" smtClean="0">
                          <a:solidFill>
                            <a:schemeClr val="lt1"/>
                          </a:solidFill>
                          <a:effectLst/>
                          <a:latin typeface="+mn-lt"/>
                          <a:ea typeface="+mn-ea"/>
                          <a:cs typeface="+mn-cs"/>
                        </a:rPr>
                        <a:t>table_name</a:t>
                      </a:r>
                      <a:r>
                        <a:rPr lang="en-US" sz="1000" dirty="0" smtClean="0"/>
                        <a:t/>
                      </a:r>
                      <a:br>
                        <a:rPr lang="en-US" sz="1000" dirty="0" smtClean="0"/>
                      </a:br>
                      <a:r>
                        <a:rPr lang="en-US" sz="1400" b="0" i="0" kern="1200" dirty="0" smtClean="0">
                          <a:solidFill>
                            <a:schemeClr val="lt1"/>
                          </a:solidFill>
                          <a:effectLst/>
                          <a:latin typeface="+mn-lt"/>
                          <a:ea typeface="+mn-ea"/>
                          <a:cs typeface="+mn-cs"/>
                        </a:rPr>
                        <a:t>WHERE condition</a:t>
                      </a:r>
                      <a:endParaRPr lang="en-US" sz="1000" dirty="0"/>
                    </a:p>
                  </a:txBody>
                  <a:tcPr marL="68580" marR="68580" marT="34290" marB="34290"/>
                </a:tc>
              </a:tr>
              <a:tr h="2328260">
                <a:tc>
                  <a:txBody>
                    <a:bodyPr/>
                    <a:lstStyle/>
                    <a:p>
                      <a:r>
                        <a:rPr lang="en-US" sz="1000" dirty="0" smtClean="0"/>
                        <a:t>Result</a:t>
                      </a:r>
                      <a:endParaRPr lang="en-US" sz="1000" dirty="0"/>
                    </a:p>
                  </a:txBody>
                  <a:tcPr marL="68580" marR="68580" marT="34290" marB="34290"/>
                </a:tc>
                <a:tc>
                  <a:txBody>
                    <a:bodyPr/>
                    <a:lstStyle/>
                    <a:p>
                      <a:endParaRPr lang="en-US" sz="1000" dirty="0"/>
                    </a:p>
                  </a:txBody>
                  <a:tcPr marL="68580" marR="68580" marT="34290" marB="34290"/>
                </a:tc>
              </a:tr>
            </a:tbl>
          </a:graphicData>
        </a:graphic>
      </p:graphicFrame>
      <p:pic>
        <p:nvPicPr>
          <p:cNvPr id="3" name="Picture 2"/>
          <p:cNvPicPr>
            <a:picLocks noChangeAspect="1"/>
          </p:cNvPicPr>
          <p:nvPr/>
        </p:nvPicPr>
        <p:blipFill>
          <a:blip r:embed="rId2"/>
          <a:stretch>
            <a:fillRect/>
          </a:stretch>
        </p:blipFill>
        <p:spPr>
          <a:xfrm>
            <a:off x="1711079" y="3253877"/>
            <a:ext cx="6315679" cy="1351328"/>
          </a:xfrm>
          <a:prstGeom prst="rect">
            <a:avLst/>
          </a:prstGeom>
        </p:spPr>
      </p:pic>
    </p:spTree>
    <p:extLst>
      <p:ext uri="{BB962C8B-B14F-4D97-AF65-F5344CB8AC3E}">
        <p14:creationId xmlns:p14="http://schemas.microsoft.com/office/powerpoint/2010/main" val="354436048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Constraints</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394631160"/>
              </p:ext>
            </p:extLst>
          </p:nvPr>
        </p:nvGraphicFramePr>
        <p:xfrm>
          <a:off x="628650" y="2226469"/>
          <a:ext cx="7886700" cy="326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84785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dgm id="{1D15D1FA-74E4-414F-9521-FA257B2373B7}"/>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graphicEl>
                                              <a:dgm id="{AC1B8001-7565-42E8-A39D-A42A91C3D7B5}"/>
                                            </p:graphic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graphicEl>
                                              <a:dgm id="{9165200F-ECA3-43AD-833E-386018FF2EC8}"/>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graphicEl>
                                              <a:dgm id="{3304F0BC-EB4A-4290-892A-2738F2EABB5C}"/>
                                            </p:graphic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graphicEl>
                                              <a:dgm id="{206531F6-E917-4124-92C5-BAAA6A2356F3}"/>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graphicEl>
                                              <a:dgm id="{5B23F11F-4E6F-4A14-A31E-EB285D168684}"/>
                                            </p:graphic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graphicEl>
                                              <a:dgm id="{5FFDF0A8-4DDC-4E17-8677-FD6450D53B1B}"/>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167003574"/>
              </p:ext>
            </p:extLst>
          </p:nvPr>
        </p:nvGraphicFramePr>
        <p:xfrm>
          <a:off x="628650" y="2226469"/>
          <a:ext cx="7886700" cy="326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62226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dgm id="{60EE3C28-1A43-45FC-977B-98E8B6B1DA74}"/>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graphicEl>
                                              <a:dgm id="{4CEF46E6-D354-4643-A3A5-77D36F468B72}"/>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graphicEl>
                                              <a:dgm id="{C665EBAE-9E53-445A-BB78-20B97679441F}"/>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graphicEl>
                                              <a:dgm id="{87580D52-1E2E-44F5-920E-D5A7E4E06918}"/>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graphicEl>
                                              <a:dgm id="{E808F746-E006-4615-AEA4-EF129ABDB563}"/>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graphicEl>
                                              <a:dgm id="{E52EA988-E7A4-4040-B276-B47F8CB14991}"/>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lvlOne"/>
        </p:bldSub>
      </p:bldGraphic>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4" name="Rectangle 3"/>
          <p:cNvSpPr/>
          <p:nvPr/>
        </p:nvSpPr>
        <p:spPr>
          <a:xfrm>
            <a:off x="962696" y="1861638"/>
            <a:ext cx="7038303" cy="461665"/>
          </a:xfrm>
          <a:prstGeom prst="rect">
            <a:avLst/>
          </a:prstGeom>
          <a:solidFill>
            <a:schemeClr val="accent2"/>
          </a:solidFill>
          <a:ln w="76200">
            <a:solidFill>
              <a:schemeClr val="accent1">
                <a:lumMod val="75000"/>
              </a:schemeClr>
            </a:solidFill>
          </a:ln>
        </p:spPr>
        <p:txBody>
          <a:bodyPr wrap="square">
            <a:spAutoFit/>
          </a:bodyPr>
          <a:lstStyle/>
          <a:p>
            <a:pPr algn="ctr"/>
            <a:endParaRPr lang="en-US" sz="2400" dirty="0">
              <a:solidFill>
                <a:schemeClr val="bg1"/>
              </a:solidFill>
            </a:endParaRPr>
          </a:p>
        </p:txBody>
      </p:sp>
      <p:sp>
        <p:nvSpPr>
          <p:cNvPr id="5" name="Rectangle 4"/>
          <p:cNvSpPr/>
          <p:nvPr/>
        </p:nvSpPr>
        <p:spPr>
          <a:xfrm>
            <a:off x="962695" y="2657982"/>
            <a:ext cx="7038303" cy="461665"/>
          </a:xfrm>
          <a:prstGeom prst="rect">
            <a:avLst/>
          </a:prstGeom>
          <a:solidFill>
            <a:schemeClr val="accent2"/>
          </a:solidFill>
          <a:ln w="76200">
            <a:solidFill>
              <a:schemeClr val="accent1">
                <a:lumMod val="75000"/>
              </a:schemeClr>
            </a:solidFill>
          </a:ln>
        </p:spPr>
        <p:txBody>
          <a:bodyPr wrap="square">
            <a:spAutoFit/>
          </a:bodyPr>
          <a:lstStyle/>
          <a:p>
            <a:pPr algn="ctr"/>
            <a:endParaRPr lang="en-US" sz="2400" dirty="0">
              <a:solidFill>
                <a:schemeClr val="bg1"/>
              </a:solidFill>
            </a:endParaRPr>
          </a:p>
        </p:txBody>
      </p:sp>
      <p:sp>
        <p:nvSpPr>
          <p:cNvPr id="6" name="Rectangle 5"/>
          <p:cNvSpPr/>
          <p:nvPr/>
        </p:nvSpPr>
        <p:spPr>
          <a:xfrm>
            <a:off x="962695" y="3823658"/>
            <a:ext cx="7038303" cy="461665"/>
          </a:xfrm>
          <a:prstGeom prst="rect">
            <a:avLst/>
          </a:prstGeom>
          <a:solidFill>
            <a:schemeClr val="accent2"/>
          </a:solidFill>
          <a:ln w="76200">
            <a:solidFill>
              <a:schemeClr val="accent1">
                <a:lumMod val="75000"/>
              </a:schemeClr>
            </a:solidFill>
          </a:ln>
        </p:spPr>
        <p:txBody>
          <a:bodyPr wrap="square">
            <a:spAutoFit/>
          </a:bodyPr>
          <a:lstStyle/>
          <a:p>
            <a:pPr algn="ctr"/>
            <a:endParaRPr lang="en-US" sz="2400" dirty="0">
              <a:solidFill>
                <a:schemeClr val="bg1"/>
              </a:solidFill>
            </a:endParaRPr>
          </a:p>
        </p:txBody>
      </p:sp>
      <p:sp>
        <p:nvSpPr>
          <p:cNvPr id="7" name="Rectangle 6"/>
          <p:cNvSpPr/>
          <p:nvPr/>
        </p:nvSpPr>
        <p:spPr>
          <a:xfrm>
            <a:off x="962695" y="4656388"/>
            <a:ext cx="7038303" cy="461665"/>
          </a:xfrm>
          <a:prstGeom prst="rect">
            <a:avLst/>
          </a:prstGeom>
          <a:solidFill>
            <a:schemeClr val="accent2"/>
          </a:solidFill>
          <a:ln w="76200">
            <a:solidFill>
              <a:schemeClr val="accent1">
                <a:lumMod val="75000"/>
              </a:schemeClr>
            </a:solidFill>
          </a:ln>
        </p:spPr>
        <p:txBody>
          <a:bodyPr wrap="square">
            <a:spAutoFit/>
          </a:bodyPr>
          <a:lstStyle/>
          <a:p>
            <a:pPr algn="ctr"/>
            <a:endParaRPr lang="en-US" sz="2400" dirty="0">
              <a:solidFill>
                <a:schemeClr val="bg1"/>
              </a:solidFill>
            </a:endParaRPr>
          </a:p>
        </p:txBody>
      </p:sp>
      <p:sp>
        <p:nvSpPr>
          <p:cNvPr id="8" name="Rectangle 7"/>
          <p:cNvSpPr/>
          <p:nvPr/>
        </p:nvSpPr>
        <p:spPr>
          <a:xfrm>
            <a:off x="962695" y="5489118"/>
            <a:ext cx="7038303" cy="461665"/>
          </a:xfrm>
          <a:prstGeom prst="rect">
            <a:avLst/>
          </a:prstGeom>
          <a:solidFill>
            <a:schemeClr val="accent2"/>
          </a:solidFill>
          <a:ln w="76200">
            <a:solidFill>
              <a:schemeClr val="accent1">
                <a:lumMod val="75000"/>
              </a:schemeClr>
            </a:solidFill>
          </a:ln>
        </p:spPr>
        <p:txBody>
          <a:bodyPr wrap="square">
            <a:spAutoFit/>
          </a:bodyPr>
          <a:lstStyle/>
          <a:p>
            <a:pPr algn="ctr"/>
            <a:endParaRPr lang="en-US" sz="2400" dirty="0">
              <a:solidFill>
                <a:schemeClr val="bg1"/>
              </a:solidFill>
            </a:endParaRPr>
          </a:p>
        </p:txBody>
      </p:sp>
    </p:spTree>
    <p:extLst>
      <p:ext uri="{BB962C8B-B14F-4D97-AF65-F5344CB8AC3E}">
        <p14:creationId xmlns:p14="http://schemas.microsoft.com/office/powerpoint/2010/main" val="461445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Laugh</a:t>
            </a:r>
            <a:endParaRPr lang="en-US" dirty="0"/>
          </a:p>
        </p:txBody>
      </p:sp>
      <p:pic>
        <p:nvPicPr>
          <p:cNvPr id="4" name="Picture 2" descr="http://timoelliott.com/blog/wp-content/uploads/2013/07/bad-new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1580" y="1928930"/>
            <a:ext cx="4929188" cy="3328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546585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5878" y="4234507"/>
            <a:ext cx="7886700" cy="994172"/>
          </a:xfrm>
          <a:solidFill>
            <a:srgbClr val="FF9933"/>
          </a:solidFill>
        </p:spPr>
        <p:txBody>
          <a:bodyPr>
            <a:normAutofit/>
          </a:bodyPr>
          <a:lstStyle/>
          <a:p>
            <a:pPr algn="ctr"/>
            <a:r>
              <a:rPr lang="en-US" sz="3600" b="1" dirty="0">
                <a:solidFill>
                  <a:schemeClr val="bg1"/>
                </a:solidFill>
              </a:rPr>
              <a:t>End of Lecture for Week - </a:t>
            </a:r>
            <a:r>
              <a:rPr lang="en-US" sz="3600" b="1" dirty="0">
                <a:solidFill>
                  <a:schemeClr val="bg1"/>
                </a:solidFill>
              </a:rPr>
              <a:t>7</a:t>
            </a:r>
            <a:endParaRPr lang="en-US" sz="3600" b="1" dirty="0">
              <a:solidFill>
                <a:schemeClr val="bg1"/>
              </a:solidFill>
            </a:endParaRPr>
          </a:p>
        </p:txBody>
      </p:sp>
      <p:pic>
        <p:nvPicPr>
          <p:cNvPr id="5122" name="Picture 2" descr="http://grasshopper.com/assets/img/jpg/thank-you-notes/card-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6844" y="1820780"/>
            <a:ext cx="2964767" cy="1976511"/>
          </a:xfrm>
          <a:prstGeom prst="rect">
            <a:avLst/>
          </a:prstGeom>
          <a:noFill/>
          <a:ln>
            <a:solidFill>
              <a:srgbClr val="FF9933"/>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702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1637</TotalTime>
  <Words>651</Words>
  <Application>Microsoft Office PowerPoint</Application>
  <PresentationFormat>On-screen Show (4:3)</PresentationFormat>
  <Paragraphs>102</Paragraphs>
  <Slides>24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Times New Roman</vt:lpstr>
      <vt:lpstr>Office Theme</vt:lpstr>
      <vt:lpstr>An Introduction to Database</vt:lpstr>
      <vt:lpstr>ADVANCED SQL</vt:lpstr>
      <vt:lpstr>Arithmetic in Columns</vt:lpstr>
      <vt:lpstr>Numeric Expressions</vt:lpstr>
      <vt:lpstr>Numeric Expressions</vt:lpstr>
      <vt:lpstr>Numeric Expressions</vt:lpstr>
      <vt:lpstr>Calculating Column Values</vt:lpstr>
      <vt:lpstr>Calculating Column Values</vt:lpstr>
      <vt:lpstr>Concatenation</vt:lpstr>
      <vt:lpstr>Other Advanced Features</vt:lpstr>
      <vt:lpstr>ORDER BY</vt:lpstr>
      <vt:lpstr>ORDER BY</vt:lpstr>
      <vt:lpstr>ORDER BY</vt:lpstr>
      <vt:lpstr>DISTINCT</vt:lpstr>
      <vt:lpstr>DISTINCT </vt:lpstr>
      <vt:lpstr>NULL Values</vt:lpstr>
      <vt:lpstr>NULL</vt:lpstr>
      <vt:lpstr>VIEW</vt:lpstr>
      <vt:lpstr>VIEW</vt:lpstr>
      <vt:lpstr>Constraints</vt:lpstr>
      <vt:lpstr>Functions</vt:lpstr>
      <vt:lpstr>Key Points</vt:lpstr>
      <vt:lpstr>Laugh</vt:lpstr>
      <vt:lpstr>End of Lecture for Week - 7</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Database</dc:title>
  <dc:creator>Rohit</dc:creator>
  <cp:lastModifiedBy>Rohit</cp:lastModifiedBy>
  <cp:revision>311</cp:revision>
  <dcterms:created xsi:type="dcterms:W3CDTF">2016-03-01T04:18:16Z</dcterms:created>
  <dcterms:modified xsi:type="dcterms:W3CDTF">2016-07-02T09:34:06Z</dcterms:modified>
</cp:coreProperties>
</file>