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0" r:id="rId3"/>
    <p:sldId id="264" r:id="rId4"/>
    <p:sldId id="263" r:id="rId5"/>
    <p:sldId id="267" r:id="rId6"/>
    <p:sldId id="268" r:id="rId7"/>
    <p:sldId id="269" r:id="rId8"/>
    <p:sldId id="271" r:id="rId9"/>
    <p:sldId id="273" r:id="rId10"/>
    <p:sldId id="325" r:id="rId11"/>
    <p:sldId id="326" r:id="rId12"/>
    <p:sldId id="276" r:id="rId13"/>
    <p:sldId id="277" r:id="rId14"/>
    <p:sldId id="278" r:id="rId15"/>
    <p:sldId id="279" r:id="rId16"/>
    <p:sldId id="32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0D9A25DD-8644-49A9-9044-FF42CFBA62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ED43A58-42BF-4544-B411-9A57C257E2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7D743-DF63-4010-86C2-45EDE029D189}" type="datetimeFigureOut">
              <a:rPr lang="en-US" smtClean="0"/>
              <a:t>12/19/2019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62FD3B7-3809-41D1-A9C6-AD32BE426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8396954-81D9-41C9-933A-AD1190CB0E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F060A-BEC7-4230-9854-02F9CA563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466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CFF6B-943C-4681-864D-D49BF6B9501E}" type="datetimeFigureOut">
              <a:rPr lang="en-US" smtClean="0"/>
              <a:t>12/19/2019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0F3B-D70C-4D5E-B99B-3FE48113D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711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xmlns="" id="{E4C78276-FDF4-4E74-8ECA-2D87D43A27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xmlns="" id="{35AE802B-F775-4717-A665-14D192FCD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NCC Education - Slide Master</a:t>
            </a:r>
          </a:p>
        </p:txBody>
      </p:sp>
    </p:spTree>
    <p:extLst>
      <p:ext uri="{BB962C8B-B14F-4D97-AF65-F5344CB8AC3E}">
        <p14:creationId xmlns:p14="http://schemas.microsoft.com/office/powerpoint/2010/main" val="1747164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xmlns="" id="{32A39BC8-A44D-45E7-8E0E-40680091A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xmlns="" id="{F73EC0DC-4CA5-405B-A2AC-61CEB9A27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980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xmlns="" id="{5732F71C-1147-4578-80D0-A05A8DBAE0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xmlns="" id="{A639C1CF-87B5-4732-9B04-0ADBBDAD1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8465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xmlns="" id="{4F8CCDE8-217B-4FD4-9095-C2DB3C3FD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xmlns="" id="{FD49AA01-ABF0-4402-83FF-EEB2A1986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144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xmlns="" id="{0CF69D20-AB52-46D0-8E8A-C77153D13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81025" y="796925"/>
            <a:ext cx="5695950" cy="3205163"/>
          </a:xfr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xmlns="" id="{E9C7C121-B839-44EB-A907-C596B281A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335463"/>
            <a:ext cx="4975225" cy="38528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3629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xmlns="" id="{C1389F00-172C-4B80-A4BD-A52BBD9618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xmlns="" id="{884B603D-D6F8-4E86-8F16-5A07A73187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56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xmlns="" id="{60FA8365-3835-42FD-B414-FEAFDE73DF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xmlns="" id="{67BAD14B-6793-41CA-BA9A-08C741F05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41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xmlns="" id="{ED1776A8-8084-495D-A965-6BF1BB5ABA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xmlns="" id="{6BE48388-4139-4DB5-B4DF-5B5F3D438E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6461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xmlns="" id="{444D3474-5FAD-445B-A909-BDE6DB774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xmlns="" id="{D7E786BD-CC6F-4CAF-842B-745A0C7D96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533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xmlns="" id="{53F83274-6D5B-4CA4-9552-E1289F10D7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xmlns="" id="{CFE56E3B-7D45-4D72-B15B-38F3799EE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387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xmlns="" id="{1F451706-5A5C-413E-8D65-3982D9DAF1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xmlns="" id="{5BF8805C-4C63-401D-BB06-15A80669A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27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B3FF77-BA6B-4FC5-B1AB-D3565D008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200E80-6DA0-4867-BB2A-029822C85F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2C1A6A-CF05-44DB-B536-338D481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08990-74D9-4CA4-9533-3DE5CB1202B0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55E442-EC83-4A4A-8D0E-A73DA4D1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CEC075-30C2-4F80-B23F-4696AE89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BE3F2D-F426-414B-8459-F3BB322B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2AD7DD-41FC-4F58-A5D7-1AB9FFB3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D64FC1-DD2B-40EF-B4ED-EF5FC06C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60CA-9E9A-44B2-99B0-9CA51927D6AE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3107AB-A3DF-44A1-BF7E-7A8BC2D9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2FF080-246F-43D2-966B-DDB4F586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6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E209C4-4CE6-4416-8E16-FFCF375B8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CB20E4-1145-4BBF-90E7-2043D3258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D1E3D-0284-4278-9CDD-28517836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D2D4-8162-4E94-A85B-261CBAA6C590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CE0EF-311B-4320-948B-A7E16FAE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CF42ED-9F4A-462D-B4AF-7273DE71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0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819E23-BBD6-48BC-8C31-88C760E5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A4AE62-C82F-4761-8C46-1AFD04442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32838F3-5264-4B5D-A56E-E2B94A320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7FF58A1-78CF-489C-A934-F1CA503E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E8F15-DCE4-42AE-BD86-49B4421E01F5}" type="datetime1">
              <a:rPr lang="en-US" smtClean="0"/>
              <a:t>12/19/2019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232C1E0-E42B-4E8C-A50B-DC748C19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39DC3C-D5E4-4B08-918C-EB24D5E4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4DBA8-5CD2-4270-8192-70AC9B07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AA2F23-BB3B-4876-BEE0-BD649718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DC4B075-4A86-4088-8653-1FE6FEDD5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02A4EB3-7494-4126-ADA1-7C72AB74C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E6F5B88-74D4-4130-ADFE-E1B846104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F78AC17-538E-4CFE-A335-F00830A97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B8C2F-6FD2-435A-BB3D-BF36DC56870F}" type="datetime1">
              <a:rPr lang="en-US" smtClean="0"/>
              <a:t>12/19/2019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8E90F69-9BF8-45DC-A90F-9879EBAD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2AAF99C-9720-4D62-B806-7ACB6066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1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6A31B-42E3-411C-AF11-931243F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B9640F0-E8D1-481E-AB2B-BC485C9A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0D8A-EA0E-4653-A612-221E6CC6D85C}" type="datetime1">
              <a:rPr lang="en-US" smtClean="0"/>
              <a:t>12/19/2019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B3AA353-C481-4D1A-BFF3-0C7E98EA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BBC1754-D0CD-491F-971C-D904D47E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8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DA6A44B-11CB-4B98-BA97-40B26BF3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E14F7-CB53-428A-8A2D-405EE7145FC1}" type="datetime1">
              <a:rPr lang="en-US" smtClean="0"/>
              <a:t>12/19/2019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83A931-E466-4960-B950-86BD90A0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BB91E5-0A9D-4057-B4A5-C43A83A8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4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245B8C-A12A-417A-B58D-44E3E084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E265E8-F83C-4C62-842D-036470F55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B1FF749-8953-4988-BC6D-5F194DDB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C51E09D-8703-4359-A7E8-6564FB5D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F9450-E710-43E2-9487-8E9EFD2F6176}" type="datetime1">
              <a:rPr lang="en-US" smtClean="0"/>
              <a:t>12/19/2019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3660755-7B5D-4FF2-8948-9A305ACF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504F54-019F-4FFF-A560-C2E2C318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CA7CB-85FC-4545-992D-2F7ED320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5D88532-C399-44CA-89A5-102DE4931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2C0A3E2-8649-4A55-BD01-D51B9D5E9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C85A1AF-6D43-48E5-95A6-B6CD6B2A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5E2C-4955-4D0B-B8D0-AB622D44A105}" type="datetime1">
              <a:rPr lang="en-US" smtClean="0"/>
              <a:t>12/19/2019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F6EF7D-142D-4E7F-ABB2-12A87B0F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EEE9635-3439-42FE-8F55-896565DC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1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4223CC-54FE-440C-A65C-D8EAA1A8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D21E6E-BE63-4D1B-9DD1-0414DC7F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17EC02-4C1E-420C-BC03-C1CCEECE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5AB5-5833-48B8-BB2B-B44CC05DCE00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D844C6-A82E-46BF-8DF7-E4A18FF8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4848E6-4C47-4388-924D-8CD33816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18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9251429-1C2B-4CEF-9788-F842A6B36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F19692-519F-4DF0-B41D-F637E8FD7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8FE00D-D86F-44DA-A58E-F740F1E4E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EF39E-B069-44F4-80A7-DF6CECF33AA7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9BE037-CE50-4994-B45A-D2B7BE42A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250EBF-4C49-44FD-9F00-9A92F498B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23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F6A7EA1-87F1-4089-AE0B-13AE19F0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EDE96A-5957-4889-B71D-8063FEF1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A604720-998A-4BFA-A217-D237A0568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F5D75-309A-4C9E-945F-05641D0CAD5C}" type="datetime1">
              <a:rPr lang="en-US" smtClean="0"/>
              <a:t>12/19/2019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D89E370-F09A-4F89-A56D-096879088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EE34A5-2BA4-40BA-9A61-A2D6A72ED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9F5DB-05DA-4FD9-BCC0-5C97A39B7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3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76A6AC-E7BA-4D3C-ACB8-E27234513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b="1" dirty="0"/>
              <a:t>Database Design and Implementation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89A4B10-A1D7-447D-A2B5-0E24B7DFC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Lecture 4</a:t>
            </a:r>
          </a:p>
          <a:p>
            <a:r>
              <a:rPr lang="en-US" b="1" dirty="0"/>
              <a:t>Conceptual Database Design</a:t>
            </a:r>
          </a:p>
          <a:p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2BAC1D4-2A26-4274-B148-D4927A220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3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xmlns="" id="{B5565710-B852-46CB-8EFA-EF134A94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Learning Outcomes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xmlns="" id="{8946503B-EAE4-4B3C-AF21-06AAB6F1F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In this Lecture, students will learn: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use Entity–Relationship (ER) modeling to build a conceptual data model based on the data requirements of an enterprise.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/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to validate the resultant conceptual model to ensure it is a true and accurate representation of the data requirements of an enterprise.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marL="457200" lvl="1" indent="0">
              <a:spcBef>
                <a:spcPct val="0"/>
              </a:spcBef>
              <a:buNone/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How to document the process of conceptual database design.</a:t>
            </a:r>
          </a:p>
          <a:p>
            <a:pPr lvl="1">
              <a:spcBef>
                <a:spcPct val="0"/>
              </a:spcBef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How the end-users play an integral role throughout the process of conceptual database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78DCBB2F-EADB-400C-BEB9-05D6E88D4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b="1" dirty="0"/>
              <a:t>Agenda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xmlns="" id="{C4577AC5-AA27-42FE-83E4-0438D9A77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This Lecture will cover:</a:t>
            </a:r>
          </a:p>
          <a:p>
            <a:pPr lvl="1"/>
            <a:r>
              <a:rPr lang="en-GB" altLang="en-US" dirty="0"/>
              <a:t>Conceptual Database Design</a:t>
            </a:r>
          </a:p>
          <a:p>
            <a:pPr lvl="1"/>
            <a:r>
              <a:rPr lang="en-US" altLang="en-US" dirty="0"/>
              <a:t>Critical Success Factors in Database Design</a:t>
            </a:r>
          </a:p>
          <a:p>
            <a:pPr lvl="1"/>
            <a:r>
              <a:rPr lang="en-GB" altLang="en-US" dirty="0"/>
              <a:t>Database Design Methodology</a:t>
            </a:r>
          </a:p>
          <a:p>
            <a:pPr lvl="1"/>
            <a:r>
              <a:rPr lang="en-GB" altLang="en-US" dirty="0"/>
              <a:t>Build Conceptual Data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5168505-03C7-4043-83E9-A350CE9E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xmlns="" id="{15EE06E7-489C-46BB-80A7-05C283778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Conceptual Database Design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xmlns="" id="{5D161806-6EE8-42B7-B61E-427121A24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0488" tIns="44450" rIns="90488" bIns="44450" rtlCol="0">
            <a:normAutofit/>
          </a:bodyPr>
          <a:lstStyle/>
          <a:p>
            <a:pPr algn="just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process of constructing a model of the data used in an enterprise, independent of </a:t>
            </a:r>
            <a:r>
              <a:rPr lang="en-GB" altLang="en-US" i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all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physical considerations.</a:t>
            </a: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xmlns="" id="{0245B824-7A53-42CF-87E4-53BA4B78D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/>
              <a:t>   </a:t>
            </a:r>
            <a:endParaRPr lang="en-GB" altLang="en-US" sz="12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CB8465E9-7AC7-4533-BA22-962E4A88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xmlns="" id="{E7779E71-69B6-4876-B468-054A51467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Critical Success Factors in Database Design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xmlns="" id="{1CAE419F-981D-4A64-A763-C99ED95AD2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0488" tIns="44450" rIns="90488" bIns="44450" rtlCol="0">
            <a:normAutofit/>
          </a:bodyPr>
          <a:lstStyle/>
          <a:p>
            <a:pPr algn="just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Work interactively with the users as much as possible.</a:t>
            </a:r>
          </a:p>
          <a:p>
            <a:pPr algn="just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Follow a structured methodology throughout the data modelling process.</a:t>
            </a:r>
          </a:p>
          <a:p>
            <a:pPr algn="just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Employ a data-driven approach.</a:t>
            </a:r>
          </a:p>
          <a:p>
            <a:pPr algn="just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Incorporate structural and integrity considerations into the data models.</a:t>
            </a:r>
          </a:p>
          <a:p>
            <a:pPr algn="just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Combine conceptualization, normalization, and transaction validation techniques into the data modelling methodology.</a:t>
            </a:r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xmlns="" id="{60542219-0D85-4BEF-BFFF-4D85917DA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/>
              <a:t>   </a:t>
            </a:r>
            <a:endParaRPr lang="en-GB" altLang="en-US" sz="12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1478579-F346-4AE2-ACDB-F93599D4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83785418-B9ED-4015-B171-1338816C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Critical Success Factors in Database Design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412E467F-7B84-4B7B-8E0F-B9D7F1BDF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0488" tIns="44450" rIns="90488" bIns="44450" rtlCol="0">
            <a:normAutofit/>
          </a:bodyPr>
          <a:lstStyle/>
          <a:p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Use diagrams to represent as much of the data models as possible.</a:t>
            </a:r>
          </a:p>
          <a:p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Use a Database Design Language (DBDL) to represent additional data semantics.</a:t>
            </a:r>
          </a:p>
          <a:p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Build a data dictionary to supplement the data model diagrams.</a:t>
            </a:r>
          </a:p>
          <a:p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Be willing to repeat steps.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xmlns="" id="{9DB3522F-F72B-427D-90B1-481964C37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/>
              <a:t>   </a:t>
            </a:r>
            <a:endParaRPr lang="en-GB" altLang="en-US" sz="12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28C98D1-B832-42AA-A926-89A285EF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xmlns="" id="{FAA7379E-F36A-41D1-83B8-2D82A6AF0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199" y="365125"/>
            <a:ext cx="11244209" cy="1325563"/>
          </a:xfrm>
        </p:spPr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Database Design Methodology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xmlns="" id="{36E8367C-FF07-45A7-9CB2-48BA18C83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6853" y="1600199"/>
            <a:ext cx="11722813" cy="4955345"/>
          </a:xfrm>
        </p:spPr>
        <p:txBody>
          <a:bodyPr vert="horz" lIns="90488" tIns="44450" rIns="90488" bIns="44450" rtlCol="0">
            <a:normAutofit/>
          </a:bodyPr>
          <a:lstStyle/>
          <a:p>
            <a:pPr algn="ctr">
              <a:lnSpc>
                <a:spcPct val="90000"/>
              </a:lnSpc>
              <a:buFont typeface="Monotype Sorts"/>
              <a:buNone/>
            </a:pPr>
            <a:r>
              <a:rPr lang="en-GB" altLang="en-US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Conceptual database </a:t>
            </a:r>
            <a:r>
              <a:rPr lang="en-GB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design</a:t>
            </a:r>
            <a:br>
              <a:rPr lang="en-GB" altLang="en-US" b="1" dirty="0" smtClean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endParaRPr lang="en-GB" altLang="en-US" b="1" dirty="0">
              <a:solidFill>
                <a:srgbClr val="FF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   Build conceptual data  model</a:t>
            </a:r>
            <a:endParaRPr lang="en-GB" altLang="en-US" sz="3200" b="1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1.1  Identify entity types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1.2  Identify relationship types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1.3  Identify and associate attributes with entity or relationship types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1.4  Determine attribute domains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1.5  Determine candidate, primary, and alternate key </a:t>
            </a:r>
            <a:r>
              <a:rPr lang="en-GB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attributes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1.6  </a:t>
            </a: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Consider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use of enhanced modeling concepts (optional step)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1.7  </a:t>
            </a: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Check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model for redundancy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1.8  </a:t>
            </a: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Validate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conceptual model against user transactions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1.9  </a:t>
            </a:r>
            <a:r>
              <a:rPr lang="en-US" altLang="en-US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Review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conceptual data model with user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xmlns="" id="{A49FA939-8D46-4BE1-BED5-6FA86043D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/>
              <a:t>   </a:t>
            </a:r>
            <a:endParaRPr lang="en-GB" altLang="en-US" sz="12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968E8D6-50F2-4707-8F1B-B854E51D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xmlns="" id="{E631632B-F715-477C-BA29-86F87FD5F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8499" y="365125"/>
            <a:ext cx="11743361" cy="1052709"/>
          </a:xfrm>
        </p:spPr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Database Design Methodology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xmlns="" id="{0E429619-5EDD-4397-B90A-5E74CF798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306" y="1600200"/>
            <a:ext cx="11825554" cy="4114800"/>
          </a:xfrm>
        </p:spPr>
        <p:txBody>
          <a:bodyPr vert="horz" lIns="90488" tIns="44450" rIns="90488" bIns="44450" rtlCol="0">
            <a:normAutofit/>
          </a:bodyPr>
          <a:lstStyle/>
          <a:p>
            <a:pPr algn="ctr">
              <a:buFont typeface="Monotype Sorts"/>
              <a:buNone/>
            </a:pPr>
            <a:r>
              <a:rPr lang="en-GB" altLang="en-US" b="1" dirty="0">
                <a:solidFill>
                  <a:srgbClr val="00B0F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Logical database </a:t>
            </a:r>
            <a:r>
              <a:rPr lang="en-GB" altLang="en-US" b="1" dirty="0" smtClean="0">
                <a:solidFill>
                  <a:srgbClr val="00B0F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design</a:t>
            </a:r>
            <a:br>
              <a:rPr lang="en-GB" altLang="en-US" b="1" dirty="0" smtClean="0">
                <a:solidFill>
                  <a:srgbClr val="00B0F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endParaRPr lang="en-GB" altLang="en-US" b="1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GB" altLang="en-US" b="1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Step 2   </a:t>
            </a:r>
            <a:r>
              <a:rPr lang="en-US" altLang="en-US" b="1" dirty="0" smtClean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Build and validate logical data model</a:t>
            </a:r>
            <a:endParaRPr lang="en-GB" altLang="en-US" b="1" dirty="0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/>
            <a:r>
              <a:rPr lang="en-GB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Step 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2.1  Derive relations for logical data model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2.2  Validate relations using normalization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2.3  Validate relations against user transactions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2.4  Define integrity </a:t>
            </a:r>
            <a:r>
              <a:rPr lang="en-GB" altLang="en-US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constraints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2.5  Review logical data model with user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2.6  Check for future growth</a:t>
            </a:r>
          </a:p>
          <a:p>
            <a:pPr lvl="1"/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buFontTx/>
              <a:buNone/>
            </a:pPr>
            <a:endParaRPr lang="en-GB" altLang="en-US" b="1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/>
            <a:endParaRPr lang="en-GB" altLang="en-US" b="1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xmlns="" id="{72BB2B68-528D-470F-BEB3-5A2E92C9E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b="1"/>
              <a:t>   </a:t>
            </a:r>
            <a:endParaRPr lang="en-GB" altLang="en-US" sz="1200"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485A96E-A870-4224-B4B8-818C33A3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xmlns="" id="{170711E7-2043-4998-920E-B4B67DFC5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949967"/>
          </a:xfrm>
        </p:spPr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Database Design Methodology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xmlns="" id="{BE2BCCFE-F9E5-4B1D-B058-D0846ED85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757" y="1523999"/>
            <a:ext cx="11897474" cy="5017477"/>
          </a:xfrm>
        </p:spPr>
        <p:txBody>
          <a:bodyPr vert="horz" lIns="90488" tIns="44450" rIns="90488" bIns="44450" rtlCol="0">
            <a:normAutofit fontScale="85000" lnSpcReduction="20000"/>
          </a:bodyPr>
          <a:lstStyle/>
          <a:p>
            <a:pPr algn="ctr"/>
            <a:r>
              <a:rPr lang="en-GB" altLang="en-US" b="1" dirty="0" smtClean="0">
                <a:solidFill>
                  <a:srgbClr val="00B05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Physical Database Design</a:t>
            </a:r>
          </a:p>
          <a:p>
            <a:r>
              <a:rPr lang="en-GB" altLang="en-US" b="1" dirty="0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Step </a:t>
            </a:r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3  Translate logical data model for target DBMS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3.1  Design base relations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3.2 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Design representation of derived data 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3.3 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Design general constraints </a:t>
            </a:r>
            <a:endParaRPr lang="en-US" altLang="en-US" dirty="0" smtClean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  Design file organizations and indexes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4.1  Analyse transactions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4.2  Choose file organization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4.3  Choose indexes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4.4  Estimate disk space requirements</a:t>
            </a:r>
          </a:p>
          <a:p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5  Design user views</a:t>
            </a:r>
          </a:p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6  Design security mechanisms</a:t>
            </a:r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7  Consider the introduction of controlled redundancy </a:t>
            </a:r>
          </a:p>
          <a:p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8  Monitor and tune the operational system</a:t>
            </a:r>
          </a:p>
          <a:p>
            <a:pPr lvl="1"/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xmlns="" id="{2A7CB031-C3C4-42B0-BD92-65FA0FAAE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5816CB2-79D4-45CC-9012-2D423C01E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https://ehikioya.com/wp-content/uploads/2019/02/Understanding-Conceptual-Logical-And-Physical-Database-Modeling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35" y="254284"/>
            <a:ext cx="11312330" cy="628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63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of all, Lets look at the Conceptual Design Methodology in detail in this slide.</a:t>
            </a:r>
          </a:p>
          <a:p>
            <a:r>
              <a:rPr lang="en-US" dirty="0" smtClean="0"/>
              <a:t>Further, we will look at Logical and Physical Design Methodology in Lecture slide 5 and 6 respectively.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88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xmlns="" id="{F0C7CAD9-8DE5-4B3F-A58A-98211A82B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031" y="-76200"/>
            <a:ext cx="11620072" cy="931863"/>
          </a:xfrm>
        </p:spPr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n-GB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 Build Conceptual Data Model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xmlns="" id="{828BB5C2-B0E4-4E4B-8044-EFBE59877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6030" y="1143001"/>
            <a:ext cx="11620071" cy="4435475"/>
          </a:xfrm>
        </p:spPr>
        <p:txBody>
          <a:bodyPr vert="horz" lIns="90488" tIns="44450" rIns="90488" bIns="4445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To build a conceptual data model of the data requirements of the enterprise.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Model comprises entity types, relationship types, attributes and attribute domains, primary and alternate keys, and integrity constraints.</a:t>
            </a:r>
          </a:p>
          <a:p>
            <a:pPr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1.1  Identify entity types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identify the required entity types.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1.2  Identify relationship types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identify the important relationships that exist between the entity types.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xmlns="" id="{94475BB0-F920-4A0B-94D6-18EBCCB99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507164"/>
            <a:ext cx="3200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ECC92515-BCE9-4161-99E4-F05A267F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>
            <a:extLst>
              <a:ext uri="{FF2B5EF4-FFF2-40B4-BE49-F238E27FC236}">
                <a16:creationId xmlns:a16="http://schemas.microsoft.com/office/drawing/2014/main" xmlns="" id="{CCE4ECBE-8029-40B9-B200-1C86E3B43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67" y="1825625"/>
            <a:ext cx="11835830" cy="4351338"/>
          </a:xfrm>
        </p:spPr>
        <p:txBody>
          <a:bodyPr vert="horz" lIns="90488" tIns="44450" rIns="90488" bIns="44450" rtlCol="0">
            <a:normAutofit/>
          </a:bodyPr>
          <a:lstStyle/>
          <a:p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1.3  Identify and associate attributes with entity or relationship types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To associate attributes with the appropriate entity or relationship types and document the details of each attribute.</a:t>
            </a:r>
          </a:p>
          <a:p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1.4  Determine attribute domains</a:t>
            </a:r>
          </a:p>
          <a:p>
            <a:pPr lvl="1"/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To determine domains for the attributes in the data model and document the details of each domain.</a:t>
            </a:r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xmlns="" id="{5791EE20-F7FF-4149-855C-B21115D1F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63B05BA-D43F-4362-92FB-9DDE758E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3">
            <a:extLst>
              <a:ext uri="{FF2B5EF4-FFF2-40B4-BE49-F238E27FC236}">
                <a16:creationId xmlns:a16="http://schemas.microsoft.com/office/drawing/2014/main" xmlns="" id="{2C0AD16A-8CD0-4627-A15B-5A5B01D8C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0488" tIns="44450" rIns="90488" bIns="44450" rtlCol="0">
            <a:normAutofit/>
          </a:bodyPr>
          <a:lstStyle/>
          <a:p>
            <a:pPr>
              <a:lnSpc>
                <a:spcPct val="8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1.5  Determine candidate, primary, and alternate key attributes</a:t>
            </a:r>
          </a:p>
          <a:p>
            <a:pPr lvl="1">
              <a:lnSpc>
                <a:spcPct val="8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To identify the candidate key(s) for each entity and if there is more than one candidate key, to choose one to be the primary key and the others as alternate keys.</a:t>
            </a:r>
          </a:p>
          <a:p>
            <a:pPr>
              <a:lnSpc>
                <a:spcPct val="80000"/>
              </a:lnSpc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Step 1.6  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Consider use of enhanced modeling concepts (optional step)</a:t>
            </a:r>
            <a:r>
              <a:rPr lang="en-GB" altLang="en-US" sz="32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consider the use of enhanced modeling concepts, such as specialization / generalization, aggregation, and composition.</a:t>
            </a: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xmlns="" id="{BDDD1BF6-BABC-4C6F-B77B-0183C71DB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2F2922F9-E067-4F79-A0B7-68B81501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3">
            <a:extLst>
              <a:ext uri="{FF2B5EF4-FFF2-40B4-BE49-F238E27FC236}">
                <a16:creationId xmlns:a16="http://schemas.microsoft.com/office/drawing/2014/main" xmlns="" id="{36E408CA-126D-4032-9CAE-F9F781098A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0488" tIns="44450" rIns="90488" bIns="4445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Step 1.7  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Check model for redundancy</a:t>
            </a:r>
            <a:r>
              <a:rPr lang="en-GB" altLang="en-US" sz="240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check for the presence of any redundancy in the model and to remove any that does exist.</a:t>
            </a:r>
            <a:r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Step 1.8  Validate conceptual model against user transactions</a:t>
            </a:r>
            <a:r>
              <a:rPr lang="en-GB" altLang="en-US" sz="240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To ensure that the conceptual model supports the required transactions.</a:t>
            </a:r>
            <a:r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Step1.9   Review conceptual data model with user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To review the conceptual data model with the user to ensure that the model is a ‘true’ representation of the data requirements of the enterprise.</a:t>
            </a:r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xmlns="" id="{EAB2F470-095B-4E3C-8FC4-A6E80DA3E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6400800"/>
            <a:ext cx="3200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F60B3CF-6FF4-431A-ACD7-C5DEF5D5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31202D-7852-4C85-8889-08095249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A80AC8-69B3-4689-A186-EE34B35C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Systems A Practical Approach to Design, Implementation and Management by  Thomas Connolly and Carolyn </a:t>
            </a:r>
            <a:r>
              <a:rPr lang="en-US" dirty="0" err="1"/>
              <a:t>Begg</a:t>
            </a:r>
            <a:r>
              <a:rPr lang="en-US" dirty="0"/>
              <a:t>, Sixth Edition, Pearson, </a:t>
            </a:r>
            <a:r>
              <a:rPr lang="en-US"/>
              <a:t>Chapter 16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8369B31-20A4-4EE2-925F-7407C6C0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9F5DB-05DA-4FD9-BCC0-5C97A39B700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1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709</Words>
  <Application>Microsoft Office PowerPoint</Application>
  <PresentationFormat>Widescreen</PresentationFormat>
  <Paragraphs>121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ＭＳ Ｐゴシック</vt:lpstr>
      <vt:lpstr>Arial</vt:lpstr>
      <vt:lpstr>Calibri</vt:lpstr>
      <vt:lpstr>Calibri Light</vt:lpstr>
      <vt:lpstr>Monotype Sorts</vt:lpstr>
      <vt:lpstr>Times New Roman</vt:lpstr>
      <vt:lpstr>Office Theme</vt:lpstr>
      <vt:lpstr>Database Design and Implementation</vt:lpstr>
      <vt:lpstr>Learning Outcomes</vt:lpstr>
      <vt:lpstr>Agenda</vt:lpstr>
      <vt:lpstr>Conceptual Database Design</vt:lpstr>
      <vt:lpstr>Critical Success Factors in Database Design</vt:lpstr>
      <vt:lpstr>Critical Success Factors in Database Design</vt:lpstr>
      <vt:lpstr>Database Design Methodology</vt:lpstr>
      <vt:lpstr>Database Design Methodology</vt:lpstr>
      <vt:lpstr>Database Design Methodology</vt:lpstr>
      <vt:lpstr>PowerPoint Presentation</vt:lpstr>
      <vt:lpstr>PowerPoint Presentation</vt:lpstr>
      <vt:lpstr>Step 1 Build Conceptual Data Model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boharag</dc:creator>
  <cp:lastModifiedBy>Hemuni</cp:lastModifiedBy>
  <cp:revision>130</cp:revision>
  <dcterms:created xsi:type="dcterms:W3CDTF">2019-11-08T16:18:41Z</dcterms:created>
  <dcterms:modified xsi:type="dcterms:W3CDTF">2019-12-19T03:26:38Z</dcterms:modified>
</cp:coreProperties>
</file>