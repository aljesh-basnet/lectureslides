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45"/>
  </p:notesMasterIdLst>
  <p:sldIdLst>
    <p:sldId id="256" r:id="rId2"/>
    <p:sldId id="755" r:id="rId3"/>
    <p:sldId id="739" r:id="rId4"/>
    <p:sldId id="257" r:id="rId5"/>
    <p:sldId id="350" r:id="rId6"/>
    <p:sldId id="351" r:id="rId7"/>
    <p:sldId id="561" r:id="rId8"/>
    <p:sldId id="1145" r:id="rId9"/>
    <p:sldId id="354" r:id="rId10"/>
    <p:sldId id="1144" r:id="rId11"/>
    <p:sldId id="1132" r:id="rId12"/>
    <p:sldId id="521" r:id="rId13"/>
    <p:sldId id="531" r:id="rId14"/>
    <p:sldId id="1140" r:id="rId15"/>
    <p:sldId id="356" r:id="rId16"/>
    <p:sldId id="358" r:id="rId17"/>
    <p:sldId id="1057" r:id="rId18"/>
    <p:sldId id="1060" r:id="rId19"/>
    <p:sldId id="1103" r:id="rId20"/>
    <p:sldId id="1105" r:id="rId21"/>
    <p:sldId id="1120" r:id="rId22"/>
    <p:sldId id="1125" r:id="rId23"/>
    <p:sldId id="1146" r:id="rId24"/>
    <p:sldId id="1127" r:id="rId25"/>
    <p:sldId id="1122" r:id="rId26"/>
    <p:sldId id="1108" r:id="rId27"/>
    <p:sldId id="1147" r:id="rId28"/>
    <p:sldId id="1117" r:id="rId29"/>
    <p:sldId id="1118" r:id="rId30"/>
    <p:sldId id="1070" r:id="rId31"/>
    <p:sldId id="1061" r:id="rId32"/>
    <p:sldId id="1062" r:id="rId33"/>
    <p:sldId id="1063" r:id="rId34"/>
    <p:sldId id="1064" r:id="rId35"/>
    <p:sldId id="1065" r:id="rId36"/>
    <p:sldId id="1066" r:id="rId37"/>
    <p:sldId id="1067" r:id="rId38"/>
    <p:sldId id="1068" r:id="rId39"/>
    <p:sldId id="1047" r:id="rId40"/>
    <p:sldId id="1048" r:id="rId41"/>
    <p:sldId id="1049" r:id="rId42"/>
    <p:sldId id="1050" r:id="rId43"/>
    <p:sldId id="114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D6CE74-47EC-4F85-8917-308277D46E04}" type="doc">
      <dgm:prSet loTypeId="urn:microsoft.com/office/officeart/2005/8/layout/orgChart1" loCatId="hierarchy" qsTypeId="urn:microsoft.com/office/officeart/2005/8/quickstyle/simple1" qsCatId="simple" csTypeId="urn:microsoft.com/office/officeart/2005/8/colors/accent1_2" csCatId="accent1"/>
      <dgm:spPr/>
    </dgm:pt>
    <dgm:pt modelId="{05CB9D14-2843-4670-A29B-B20C95E06D8C}">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Data Mining Techniques</a:t>
          </a:r>
        </a:p>
      </dgm:t>
    </dgm:pt>
    <dgm:pt modelId="{814EC783-4D91-4454-B1FB-71463AAEC8C4}" type="parTrans" cxnId="{F90D32C2-D78D-4E5C-9818-476A661232C2}">
      <dgm:prSet/>
      <dgm:spPr/>
      <dgm:t>
        <a:bodyPr/>
        <a:lstStyle/>
        <a:p>
          <a:endParaRPr lang="en-US"/>
        </a:p>
      </dgm:t>
    </dgm:pt>
    <dgm:pt modelId="{03DD0BE6-9F3A-4D53-9A8E-8C1BEAB5B54D}" type="sibTrans" cxnId="{F90D32C2-D78D-4E5C-9818-476A661232C2}">
      <dgm:prSet/>
      <dgm:spPr/>
      <dgm:t>
        <a:bodyPr/>
        <a:lstStyle/>
        <a:p>
          <a:endParaRPr lang="en-US"/>
        </a:p>
      </dgm:t>
    </dgm:pt>
    <dgm:pt modelId="{CFCDA4FD-B237-4E44-98F6-268E724005A5}">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Descriptive</a:t>
          </a:r>
        </a:p>
      </dgm:t>
    </dgm:pt>
    <dgm:pt modelId="{7E97FC7A-BA5A-401B-9ACB-7381279924BC}" type="parTrans" cxnId="{15384575-8D8E-4F1E-8303-739AB45E943E}">
      <dgm:prSet/>
      <dgm:spPr/>
      <dgm:t>
        <a:bodyPr/>
        <a:lstStyle/>
        <a:p>
          <a:endParaRPr lang="en-US"/>
        </a:p>
      </dgm:t>
    </dgm:pt>
    <dgm:pt modelId="{2EA0D3DE-931B-4AC0-A849-75D18158374E}" type="sibTrans" cxnId="{15384575-8D8E-4F1E-8303-739AB45E943E}">
      <dgm:prSet/>
      <dgm:spPr/>
      <dgm:t>
        <a:bodyPr/>
        <a:lstStyle/>
        <a:p>
          <a:endParaRPr lang="en-US"/>
        </a:p>
      </dgm:t>
    </dgm:pt>
    <dgm:pt modelId="{703A4791-C436-4A52-8C26-7196FC961698}">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Clustering</a:t>
          </a:r>
        </a:p>
      </dgm:t>
    </dgm:pt>
    <dgm:pt modelId="{1D1D012C-4600-400D-8CE1-001FDF6412B6}" type="parTrans" cxnId="{E24A7A51-BE63-4446-A2EE-AB139C0C6FAA}">
      <dgm:prSet/>
      <dgm:spPr/>
      <dgm:t>
        <a:bodyPr/>
        <a:lstStyle/>
        <a:p>
          <a:endParaRPr lang="en-US"/>
        </a:p>
      </dgm:t>
    </dgm:pt>
    <dgm:pt modelId="{3AF1341E-B8F4-4BED-9643-8FF83FD52881}" type="sibTrans" cxnId="{E24A7A51-BE63-4446-A2EE-AB139C0C6FAA}">
      <dgm:prSet/>
      <dgm:spPr/>
      <dgm:t>
        <a:bodyPr/>
        <a:lstStyle/>
        <a:p>
          <a:endParaRPr lang="en-US"/>
        </a:p>
      </dgm:t>
    </dgm:pt>
    <dgm:pt modelId="{A86A1A14-4DC2-45F5-B75C-886D2B4C3F7B}">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Association</a:t>
          </a:r>
        </a:p>
      </dgm:t>
    </dgm:pt>
    <dgm:pt modelId="{7B2CBA9F-BDA1-4B73-9D8A-95399FD16492}" type="parTrans" cxnId="{F436B7DF-B7DA-4D08-B3FE-180631AD4F67}">
      <dgm:prSet/>
      <dgm:spPr/>
      <dgm:t>
        <a:bodyPr/>
        <a:lstStyle/>
        <a:p>
          <a:endParaRPr lang="en-US"/>
        </a:p>
      </dgm:t>
    </dgm:pt>
    <dgm:pt modelId="{1A55A31E-4EEA-4BE9-89F2-4FAC6A54F795}" type="sibTrans" cxnId="{F436B7DF-B7DA-4D08-B3FE-180631AD4F67}">
      <dgm:prSet/>
      <dgm:spPr/>
      <dgm:t>
        <a:bodyPr/>
        <a:lstStyle/>
        <a:p>
          <a:endParaRPr lang="en-US"/>
        </a:p>
      </dgm:t>
    </dgm:pt>
    <dgm:pt modelId="{F0C0F630-99C0-4B28-B765-A84FD3F74CD5}">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Sequential Analysis</a:t>
          </a:r>
        </a:p>
      </dgm:t>
    </dgm:pt>
    <dgm:pt modelId="{83E25AE8-AA96-4C63-AFE5-4842006763CF}" type="parTrans" cxnId="{0ED17FE1-1639-4D36-BFBB-453B58DE9AB5}">
      <dgm:prSet/>
      <dgm:spPr/>
      <dgm:t>
        <a:bodyPr/>
        <a:lstStyle/>
        <a:p>
          <a:endParaRPr lang="en-US"/>
        </a:p>
      </dgm:t>
    </dgm:pt>
    <dgm:pt modelId="{E1C18E21-2441-48A7-BB8B-41C025310C4F}" type="sibTrans" cxnId="{0ED17FE1-1639-4D36-BFBB-453B58DE9AB5}">
      <dgm:prSet/>
      <dgm:spPr/>
      <dgm:t>
        <a:bodyPr/>
        <a:lstStyle/>
        <a:p>
          <a:endParaRPr lang="en-US"/>
        </a:p>
      </dgm:t>
    </dgm:pt>
    <dgm:pt modelId="{B513968C-A9E7-4866-93FF-9ACA695BF47B}">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Predictive</a:t>
          </a:r>
        </a:p>
      </dgm:t>
    </dgm:pt>
    <dgm:pt modelId="{25B3066C-759C-47F3-8B56-68B0CFB70F37}" type="parTrans" cxnId="{C63F3620-5F9A-4260-B526-B270E8950931}">
      <dgm:prSet/>
      <dgm:spPr/>
      <dgm:t>
        <a:bodyPr/>
        <a:lstStyle/>
        <a:p>
          <a:endParaRPr lang="en-US"/>
        </a:p>
      </dgm:t>
    </dgm:pt>
    <dgm:pt modelId="{8CC683C6-DF94-40C5-9570-0771C3947ACA}" type="sibTrans" cxnId="{C63F3620-5F9A-4260-B526-B270E8950931}">
      <dgm:prSet/>
      <dgm:spPr/>
      <dgm:t>
        <a:bodyPr/>
        <a:lstStyle/>
        <a:p>
          <a:endParaRPr lang="en-US"/>
        </a:p>
      </dgm:t>
    </dgm:pt>
    <dgm:pt modelId="{5BBC56E2-A6D5-4063-A188-31F60159E2B5}">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Classification</a:t>
          </a:r>
        </a:p>
      </dgm:t>
    </dgm:pt>
    <dgm:pt modelId="{DA592E29-0FA0-431E-9A2D-09A88A942506}" type="parTrans" cxnId="{C145CC63-2E2F-4AC1-8440-AEBFF567BF4E}">
      <dgm:prSet/>
      <dgm:spPr/>
      <dgm:t>
        <a:bodyPr/>
        <a:lstStyle/>
        <a:p>
          <a:endParaRPr lang="en-US"/>
        </a:p>
      </dgm:t>
    </dgm:pt>
    <dgm:pt modelId="{26B57C8A-ED1A-49EF-B11C-FFA07A7B1BFF}" type="sibTrans" cxnId="{C145CC63-2E2F-4AC1-8440-AEBFF567BF4E}">
      <dgm:prSet/>
      <dgm:spPr/>
      <dgm:t>
        <a:bodyPr/>
        <a:lstStyle/>
        <a:p>
          <a:endParaRPr lang="en-US"/>
        </a:p>
      </dgm:t>
    </dgm:pt>
    <dgm:pt modelId="{6BE2FF68-8F51-4BB9-BD11-7E19D0D985C0}">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Decision Tree</a:t>
          </a:r>
        </a:p>
      </dgm:t>
    </dgm:pt>
    <dgm:pt modelId="{191A2828-165B-46D6-A1A8-672C51B208B6}" type="parTrans" cxnId="{B15C1064-F0F3-494A-88D0-A464A133CBE4}">
      <dgm:prSet/>
      <dgm:spPr/>
      <dgm:t>
        <a:bodyPr/>
        <a:lstStyle/>
        <a:p>
          <a:endParaRPr lang="en-US"/>
        </a:p>
      </dgm:t>
    </dgm:pt>
    <dgm:pt modelId="{48BFF271-A432-4792-AE51-31FF12542AC1}" type="sibTrans" cxnId="{B15C1064-F0F3-494A-88D0-A464A133CBE4}">
      <dgm:prSet/>
      <dgm:spPr/>
      <dgm:t>
        <a:bodyPr/>
        <a:lstStyle/>
        <a:p>
          <a:endParaRPr lang="en-US"/>
        </a:p>
      </dgm:t>
    </dgm:pt>
    <dgm:pt modelId="{D926C171-BE9A-4053-BA97-06EF264A296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Rule Induction</a:t>
          </a:r>
        </a:p>
      </dgm:t>
    </dgm:pt>
    <dgm:pt modelId="{3FD8405E-B698-45D8-AFAB-A45A612BED85}" type="parTrans" cxnId="{D0F096B8-D7C8-481B-8B08-3E474819A4F0}">
      <dgm:prSet/>
      <dgm:spPr/>
      <dgm:t>
        <a:bodyPr/>
        <a:lstStyle/>
        <a:p>
          <a:endParaRPr lang="en-US"/>
        </a:p>
      </dgm:t>
    </dgm:pt>
    <dgm:pt modelId="{28B94D24-9562-417A-8F48-6491575CDE0B}" type="sibTrans" cxnId="{D0F096B8-D7C8-481B-8B08-3E474819A4F0}">
      <dgm:prSet/>
      <dgm:spPr/>
      <dgm:t>
        <a:bodyPr/>
        <a:lstStyle/>
        <a:p>
          <a:endParaRPr lang="en-US"/>
        </a:p>
      </dgm:t>
    </dgm:pt>
    <dgm:pt modelId="{F8905274-FA7A-4869-B376-5431E8B9D63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Neural Networks</a:t>
          </a:r>
        </a:p>
      </dgm:t>
    </dgm:pt>
    <dgm:pt modelId="{450B553B-A06D-4A0D-A146-C4316C3A7A5C}" type="parTrans" cxnId="{3814F7A6-8E0D-4725-99A4-4114342EC60C}">
      <dgm:prSet/>
      <dgm:spPr/>
      <dgm:t>
        <a:bodyPr/>
        <a:lstStyle/>
        <a:p>
          <a:endParaRPr lang="en-US"/>
        </a:p>
      </dgm:t>
    </dgm:pt>
    <dgm:pt modelId="{B5C9B926-F171-48B1-8801-7B4D9DAA5B56}" type="sibTrans" cxnId="{3814F7A6-8E0D-4725-99A4-4114342EC60C}">
      <dgm:prSet/>
      <dgm:spPr/>
      <dgm:t>
        <a:bodyPr/>
        <a:lstStyle/>
        <a:p>
          <a:endParaRPr lang="en-US"/>
        </a:p>
      </dgm:t>
    </dgm:pt>
    <dgm:pt modelId="{FA720B20-C738-4094-81C3-969165DF98D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Nearest Neighbor Classification </a:t>
          </a:r>
        </a:p>
      </dgm:t>
    </dgm:pt>
    <dgm:pt modelId="{2DA24688-952D-4E8B-904B-A4DD863F01C9}" type="parTrans" cxnId="{9FF80CDE-30AF-4681-B933-B116DCF73CF4}">
      <dgm:prSet/>
      <dgm:spPr/>
      <dgm:t>
        <a:bodyPr/>
        <a:lstStyle/>
        <a:p>
          <a:endParaRPr lang="en-US"/>
        </a:p>
      </dgm:t>
    </dgm:pt>
    <dgm:pt modelId="{E6E9E208-C6A6-4CA1-9A97-CEA73D695789}" type="sibTrans" cxnId="{9FF80CDE-30AF-4681-B933-B116DCF73CF4}">
      <dgm:prSet/>
      <dgm:spPr/>
      <dgm:t>
        <a:bodyPr/>
        <a:lstStyle/>
        <a:p>
          <a:endParaRPr lang="en-US"/>
        </a:p>
      </dgm:t>
    </dgm:pt>
    <dgm:pt modelId="{FAFC0D30-11B0-4757-A125-B9EAD9CDBFA5}">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cs typeface="Arial" panose="020B0604020202020204" pitchFamily="34" charset="0"/>
            </a:rPr>
            <a:t>Regression</a:t>
          </a:r>
        </a:p>
      </dgm:t>
    </dgm:pt>
    <dgm:pt modelId="{A5DCA0F2-632D-4AF9-954A-C2D9E2231D27}" type="parTrans" cxnId="{CB24EB11-F9E0-423F-885E-8E6ECB665D1E}">
      <dgm:prSet/>
      <dgm:spPr/>
      <dgm:t>
        <a:bodyPr/>
        <a:lstStyle/>
        <a:p>
          <a:endParaRPr lang="en-US"/>
        </a:p>
      </dgm:t>
    </dgm:pt>
    <dgm:pt modelId="{B7C29A97-4375-4142-9171-ED00C4906C5B}" type="sibTrans" cxnId="{CB24EB11-F9E0-423F-885E-8E6ECB665D1E}">
      <dgm:prSet/>
      <dgm:spPr/>
      <dgm:t>
        <a:bodyPr/>
        <a:lstStyle/>
        <a:p>
          <a:endParaRPr lang="en-US"/>
        </a:p>
      </dgm:t>
    </dgm:pt>
    <dgm:pt modelId="{042DFE3D-85D4-484C-AE71-DD08E0A7AC4C}" type="pres">
      <dgm:prSet presAssocID="{21D6CE74-47EC-4F85-8917-308277D46E04}" presName="hierChild1" presStyleCnt="0">
        <dgm:presLayoutVars>
          <dgm:orgChart val="1"/>
          <dgm:chPref val="1"/>
          <dgm:dir/>
          <dgm:animOne val="branch"/>
          <dgm:animLvl val="lvl"/>
          <dgm:resizeHandles/>
        </dgm:presLayoutVars>
      </dgm:prSet>
      <dgm:spPr/>
    </dgm:pt>
    <dgm:pt modelId="{0225B303-F876-47C1-B403-1DE9071097F6}" type="pres">
      <dgm:prSet presAssocID="{05CB9D14-2843-4670-A29B-B20C95E06D8C}" presName="hierRoot1" presStyleCnt="0">
        <dgm:presLayoutVars>
          <dgm:hierBranch/>
        </dgm:presLayoutVars>
      </dgm:prSet>
      <dgm:spPr/>
    </dgm:pt>
    <dgm:pt modelId="{F8AD25D5-79E8-401F-AF92-B2C01320C232}" type="pres">
      <dgm:prSet presAssocID="{05CB9D14-2843-4670-A29B-B20C95E06D8C}" presName="rootComposite1" presStyleCnt="0"/>
      <dgm:spPr/>
    </dgm:pt>
    <dgm:pt modelId="{A294E9A7-ABFB-42B1-9EDA-1BA0CAFC8E60}" type="pres">
      <dgm:prSet presAssocID="{05CB9D14-2843-4670-A29B-B20C95E06D8C}" presName="rootText1" presStyleLbl="node0" presStyleIdx="0" presStyleCnt="1">
        <dgm:presLayoutVars>
          <dgm:chPref val="3"/>
        </dgm:presLayoutVars>
      </dgm:prSet>
      <dgm:spPr/>
      <dgm:t>
        <a:bodyPr/>
        <a:lstStyle/>
        <a:p>
          <a:endParaRPr lang="en-US"/>
        </a:p>
      </dgm:t>
    </dgm:pt>
    <dgm:pt modelId="{4640878D-5E37-429A-B503-D58A93287E73}" type="pres">
      <dgm:prSet presAssocID="{05CB9D14-2843-4670-A29B-B20C95E06D8C}" presName="rootConnector1" presStyleLbl="node1" presStyleIdx="0" presStyleCnt="0"/>
      <dgm:spPr/>
      <dgm:t>
        <a:bodyPr/>
        <a:lstStyle/>
        <a:p>
          <a:endParaRPr lang="en-US"/>
        </a:p>
      </dgm:t>
    </dgm:pt>
    <dgm:pt modelId="{185DC44B-B42B-4C12-BDC1-B7A54831B29B}" type="pres">
      <dgm:prSet presAssocID="{05CB9D14-2843-4670-A29B-B20C95E06D8C}" presName="hierChild2" presStyleCnt="0"/>
      <dgm:spPr/>
    </dgm:pt>
    <dgm:pt modelId="{C4E56150-1450-4723-B2A7-18FC83E03980}" type="pres">
      <dgm:prSet presAssocID="{7E97FC7A-BA5A-401B-9ACB-7381279924BC}" presName="Name35" presStyleLbl="parChTrans1D2" presStyleIdx="0" presStyleCnt="2"/>
      <dgm:spPr/>
      <dgm:t>
        <a:bodyPr/>
        <a:lstStyle/>
        <a:p>
          <a:endParaRPr lang="en-US"/>
        </a:p>
      </dgm:t>
    </dgm:pt>
    <dgm:pt modelId="{B12F39C3-4676-471F-B775-E986A9E0E8CE}" type="pres">
      <dgm:prSet presAssocID="{CFCDA4FD-B237-4E44-98F6-268E724005A5}" presName="hierRoot2" presStyleCnt="0">
        <dgm:presLayoutVars>
          <dgm:hierBranch val="r"/>
        </dgm:presLayoutVars>
      </dgm:prSet>
      <dgm:spPr/>
    </dgm:pt>
    <dgm:pt modelId="{2C94CF09-E21B-4495-9762-BF32DF397753}" type="pres">
      <dgm:prSet presAssocID="{CFCDA4FD-B237-4E44-98F6-268E724005A5}" presName="rootComposite" presStyleCnt="0"/>
      <dgm:spPr/>
    </dgm:pt>
    <dgm:pt modelId="{1A89261D-15F6-41A6-A880-7657656E56F6}" type="pres">
      <dgm:prSet presAssocID="{CFCDA4FD-B237-4E44-98F6-268E724005A5}" presName="rootText" presStyleLbl="node2" presStyleIdx="0" presStyleCnt="2" custLinFactX="-1047" custLinFactNeighborX="-100000">
        <dgm:presLayoutVars>
          <dgm:chPref val="3"/>
        </dgm:presLayoutVars>
      </dgm:prSet>
      <dgm:spPr/>
      <dgm:t>
        <a:bodyPr/>
        <a:lstStyle/>
        <a:p>
          <a:endParaRPr lang="en-US"/>
        </a:p>
      </dgm:t>
    </dgm:pt>
    <dgm:pt modelId="{D0CF9DA7-3964-459F-9404-410E066F2E28}" type="pres">
      <dgm:prSet presAssocID="{CFCDA4FD-B237-4E44-98F6-268E724005A5}" presName="rootConnector" presStyleLbl="node2" presStyleIdx="0" presStyleCnt="2"/>
      <dgm:spPr/>
      <dgm:t>
        <a:bodyPr/>
        <a:lstStyle/>
        <a:p>
          <a:endParaRPr lang="en-US"/>
        </a:p>
      </dgm:t>
    </dgm:pt>
    <dgm:pt modelId="{5F11EC43-D962-4E5D-BDBA-9C6B00053B24}" type="pres">
      <dgm:prSet presAssocID="{CFCDA4FD-B237-4E44-98F6-268E724005A5}" presName="hierChild4" presStyleCnt="0"/>
      <dgm:spPr/>
    </dgm:pt>
    <dgm:pt modelId="{E855D558-65A9-4CDD-B91B-0ADB339BA7FD}" type="pres">
      <dgm:prSet presAssocID="{1D1D012C-4600-400D-8CE1-001FDF6412B6}" presName="Name50" presStyleLbl="parChTrans1D3" presStyleIdx="0" presStyleCnt="5"/>
      <dgm:spPr/>
      <dgm:t>
        <a:bodyPr/>
        <a:lstStyle/>
        <a:p>
          <a:endParaRPr lang="en-US"/>
        </a:p>
      </dgm:t>
    </dgm:pt>
    <dgm:pt modelId="{67EC287A-16DD-4A08-A29F-4D16B0A5D102}" type="pres">
      <dgm:prSet presAssocID="{703A4791-C436-4A52-8C26-7196FC961698}" presName="hierRoot2" presStyleCnt="0">
        <dgm:presLayoutVars>
          <dgm:hierBranch val="r"/>
        </dgm:presLayoutVars>
      </dgm:prSet>
      <dgm:spPr/>
    </dgm:pt>
    <dgm:pt modelId="{AD62521B-9611-417A-B14A-F8F894A70E6B}" type="pres">
      <dgm:prSet presAssocID="{703A4791-C436-4A52-8C26-7196FC961698}" presName="rootComposite" presStyleCnt="0"/>
      <dgm:spPr/>
    </dgm:pt>
    <dgm:pt modelId="{67D0635A-55E9-480B-8516-82FF5795E2FB}" type="pres">
      <dgm:prSet presAssocID="{703A4791-C436-4A52-8C26-7196FC961698}" presName="rootText" presStyleLbl="node3" presStyleIdx="0" presStyleCnt="5" custLinFactNeighborX="-39296" custLinFactNeighborY="-5614">
        <dgm:presLayoutVars>
          <dgm:chPref val="3"/>
        </dgm:presLayoutVars>
      </dgm:prSet>
      <dgm:spPr/>
      <dgm:t>
        <a:bodyPr/>
        <a:lstStyle/>
        <a:p>
          <a:endParaRPr lang="en-US"/>
        </a:p>
      </dgm:t>
    </dgm:pt>
    <dgm:pt modelId="{A9547240-BD23-47CB-8DA1-D950EB9E54A4}" type="pres">
      <dgm:prSet presAssocID="{703A4791-C436-4A52-8C26-7196FC961698}" presName="rootConnector" presStyleLbl="node3" presStyleIdx="0" presStyleCnt="5"/>
      <dgm:spPr/>
      <dgm:t>
        <a:bodyPr/>
        <a:lstStyle/>
        <a:p>
          <a:endParaRPr lang="en-US"/>
        </a:p>
      </dgm:t>
    </dgm:pt>
    <dgm:pt modelId="{D598F6B4-F56B-41F1-88E6-4063DACEE694}" type="pres">
      <dgm:prSet presAssocID="{703A4791-C436-4A52-8C26-7196FC961698}" presName="hierChild4" presStyleCnt="0"/>
      <dgm:spPr/>
    </dgm:pt>
    <dgm:pt modelId="{4470F2BF-27BF-4997-8846-25AD868E5590}" type="pres">
      <dgm:prSet presAssocID="{703A4791-C436-4A52-8C26-7196FC961698}" presName="hierChild5" presStyleCnt="0"/>
      <dgm:spPr/>
    </dgm:pt>
    <dgm:pt modelId="{A1F201FA-A963-4405-8DEA-7B3191059945}" type="pres">
      <dgm:prSet presAssocID="{7B2CBA9F-BDA1-4B73-9D8A-95399FD16492}" presName="Name50" presStyleLbl="parChTrans1D3" presStyleIdx="1" presStyleCnt="5"/>
      <dgm:spPr/>
      <dgm:t>
        <a:bodyPr/>
        <a:lstStyle/>
        <a:p>
          <a:endParaRPr lang="en-US"/>
        </a:p>
      </dgm:t>
    </dgm:pt>
    <dgm:pt modelId="{CE448F79-1A75-4388-9720-AB3749D00673}" type="pres">
      <dgm:prSet presAssocID="{A86A1A14-4DC2-45F5-B75C-886D2B4C3F7B}" presName="hierRoot2" presStyleCnt="0">
        <dgm:presLayoutVars>
          <dgm:hierBranch val="r"/>
        </dgm:presLayoutVars>
      </dgm:prSet>
      <dgm:spPr/>
    </dgm:pt>
    <dgm:pt modelId="{4C508613-A1A8-45C3-9E20-C2E136A552D4}" type="pres">
      <dgm:prSet presAssocID="{A86A1A14-4DC2-45F5-B75C-886D2B4C3F7B}" presName="rootComposite" presStyleCnt="0"/>
      <dgm:spPr/>
    </dgm:pt>
    <dgm:pt modelId="{F379C5F2-9A54-46AD-A6A5-1E4BCC7DB5C1}" type="pres">
      <dgm:prSet presAssocID="{A86A1A14-4DC2-45F5-B75C-886D2B4C3F7B}" presName="rootText" presStyleLbl="node3" presStyleIdx="1" presStyleCnt="5" custLinFactNeighborX="-36489" custLinFactNeighborY="-14034">
        <dgm:presLayoutVars>
          <dgm:chPref val="3"/>
        </dgm:presLayoutVars>
      </dgm:prSet>
      <dgm:spPr/>
      <dgm:t>
        <a:bodyPr/>
        <a:lstStyle/>
        <a:p>
          <a:endParaRPr lang="en-US"/>
        </a:p>
      </dgm:t>
    </dgm:pt>
    <dgm:pt modelId="{DE1BBE24-D47E-4B12-906A-305F254183FE}" type="pres">
      <dgm:prSet presAssocID="{A86A1A14-4DC2-45F5-B75C-886D2B4C3F7B}" presName="rootConnector" presStyleLbl="node3" presStyleIdx="1" presStyleCnt="5"/>
      <dgm:spPr/>
      <dgm:t>
        <a:bodyPr/>
        <a:lstStyle/>
        <a:p>
          <a:endParaRPr lang="en-US"/>
        </a:p>
      </dgm:t>
    </dgm:pt>
    <dgm:pt modelId="{C59F4BCB-44D8-4C89-95B7-CFBA101B3681}" type="pres">
      <dgm:prSet presAssocID="{A86A1A14-4DC2-45F5-B75C-886D2B4C3F7B}" presName="hierChild4" presStyleCnt="0"/>
      <dgm:spPr/>
    </dgm:pt>
    <dgm:pt modelId="{346E39E5-094E-44A6-962B-B9449C862EDE}" type="pres">
      <dgm:prSet presAssocID="{A86A1A14-4DC2-45F5-B75C-886D2B4C3F7B}" presName="hierChild5" presStyleCnt="0"/>
      <dgm:spPr/>
    </dgm:pt>
    <dgm:pt modelId="{18295B68-5181-4EE1-8AAB-7DCE89A3E660}" type="pres">
      <dgm:prSet presAssocID="{83E25AE8-AA96-4C63-AFE5-4842006763CF}" presName="Name50" presStyleLbl="parChTrans1D3" presStyleIdx="2" presStyleCnt="5"/>
      <dgm:spPr/>
      <dgm:t>
        <a:bodyPr/>
        <a:lstStyle/>
        <a:p>
          <a:endParaRPr lang="en-US"/>
        </a:p>
      </dgm:t>
    </dgm:pt>
    <dgm:pt modelId="{B44032EA-AE31-4630-A696-BBE398C544D4}" type="pres">
      <dgm:prSet presAssocID="{F0C0F630-99C0-4B28-B765-A84FD3F74CD5}" presName="hierRoot2" presStyleCnt="0">
        <dgm:presLayoutVars>
          <dgm:hierBranch val="r"/>
        </dgm:presLayoutVars>
      </dgm:prSet>
      <dgm:spPr/>
    </dgm:pt>
    <dgm:pt modelId="{DC9C36B7-F7EB-4492-BBA0-497FF40507D2}" type="pres">
      <dgm:prSet presAssocID="{F0C0F630-99C0-4B28-B765-A84FD3F74CD5}" presName="rootComposite" presStyleCnt="0"/>
      <dgm:spPr/>
    </dgm:pt>
    <dgm:pt modelId="{BB84CA14-55D2-4756-B000-F13741C51F17}" type="pres">
      <dgm:prSet presAssocID="{F0C0F630-99C0-4B28-B765-A84FD3F74CD5}" presName="rootText" presStyleLbl="node3" presStyleIdx="2" presStyleCnt="5" custLinFactNeighborX="-35086" custLinFactNeighborY="-16841">
        <dgm:presLayoutVars>
          <dgm:chPref val="3"/>
        </dgm:presLayoutVars>
      </dgm:prSet>
      <dgm:spPr/>
      <dgm:t>
        <a:bodyPr/>
        <a:lstStyle/>
        <a:p>
          <a:endParaRPr lang="en-US"/>
        </a:p>
      </dgm:t>
    </dgm:pt>
    <dgm:pt modelId="{BBFF0DED-436F-441F-AB90-C65717CC8030}" type="pres">
      <dgm:prSet presAssocID="{F0C0F630-99C0-4B28-B765-A84FD3F74CD5}" presName="rootConnector" presStyleLbl="node3" presStyleIdx="2" presStyleCnt="5"/>
      <dgm:spPr/>
      <dgm:t>
        <a:bodyPr/>
        <a:lstStyle/>
        <a:p>
          <a:endParaRPr lang="en-US"/>
        </a:p>
      </dgm:t>
    </dgm:pt>
    <dgm:pt modelId="{F2845C88-CB67-4748-B662-B93F1A78D227}" type="pres">
      <dgm:prSet presAssocID="{F0C0F630-99C0-4B28-B765-A84FD3F74CD5}" presName="hierChild4" presStyleCnt="0"/>
      <dgm:spPr/>
    </dgm:pt>
    <dgm:pt modelId="{D7D065A5-871C-4FE8-B71D-6EC11188EC03}" type="pres">
      <dgm:prSet presAssocID="{F0C0F630-99C0-4B28-B765-A84FD3F74CD5}" presName="hierChild5" presStyleCnt="0"/>
      <dgm:spPr/>
    </dgm:pt>
    <dgm:pt modelId="{357A42D7-9F99-434D-ABEE-072EB60DF4B5}" type="pres">
      <dgm:prSet presAssocID="{CFCDA4FD-B237-4E44-98F6-268E724005A5}" presName="hierChild5" presStyleCnt="0"/>
      <dgm:spPr/>
    </dgm:pt>
    <dgm:pt modelId="{8FA74B11-A6E3-4B0D-BA59-A2CFA2531465}" type="pres">
      <dgm:prSet presAssocID="{25B3066C-759C-47F3-8B56-68B0CFB70F37}" presName="Name35" presStyleLbl="parChTrans1D2" presStyleIdx="1" presStyleCnt="2"/>
      <dgm:spPr/>
      <dgm:t>
        <a:bodyPr/>
        <a:lstStyle/>
        <a:p>
          <a:endParaRPr lang="en-US"/>
        </a:p>
      </dgm:t>
    </dgm:pt>
    <dgm:pt modelId="{32A73C19-AF9E-41BB-B3D6-F5CF95DE38D6}" type="pres">
      <dgm:prSet presAssocID="{B513968C-A9E7-4866-93FF-9ACA695BF47B}" presName="hierRoot2" presStyleCnt="0">
        <dgm:presLayoutVars>
          <dgm:hierBranch val="r"/>
        </dgm:presLayoutVars>
      </dgm:prSet>
      <dgm:spPr/>
    </dgm:pt>
    <dgm:pt modelId="{8B1EFA37-7D9D-49FB-BE40-88B920DD10A9}" type="pres">
      <dgm:prSet presAssocID="{B513968C-A9E7-4866-93FF-9ACA695BF47B}" presName="rootComposite" presStyleCnt="0"/>
      <dgm:spPr/>
    </dgm:pt>
    <dgm:pt modelId="{1E8277A2-B810-45C1-8794-771F80219A98}" type="pres">
      <dgm:prSet presAssocID="{B513968C-A9E7-4866-93FF-9ACA695BF47B}" presName="rootText" presStyleLbl="node2" presStyleIdx="1" presStyleCnt="2" custLinFactNeighborX="64557">
        <dgm:presLayoutVars>
          <dgm:chPref val="3"/>
        </dgm:presLayoutVars>
      </dgm:prSet>
      <dgm:spPr/>
      <dgm:t>
        <a:bodyPr/>
        <a:lstStyle/>
        <a:p>
          <a:endParaRPr lang="en-US"/>
        </a:p>
      </dgm:t>
    </dgm:pt>
    <dgm:pt modelId="{C8DD25F4-B59C-4C7E-8A7C-DD3BFA2DA25B}" type="pres">
      <dgm:prSet presAssocID="{B513968C-A9E7-4866-93FF-9ACA695BF47B}" presName="rootConnector" presStyleLbl="node2" presStyleIdx="1" presStyleCnt="2"/>
      <dgm:spPr/>
      <dgm:t>
        <a:bodyPr/>
        <a:lstStyle/>
        <a:p>
          <a:endParaRPr lang="en-US"/>
        </a:p>
      </dgm:t>
    </dgm:pt>
    <dgm:pt modelId="{7835AAF4-AC9E-46FF-A986-8EF2604FB21A}" type="pres">
      <dgm:prSet presAssocID="{B513968C-A9E7-4866-93FF-9ACA695BF47B}" presName="hierChild4" presStyleCnt="0"/>
      <dgm:spPr/>
    </dgm:pt>
    <dgm:pt modelId="{E9850E01-9C86-4458-9CA8-3CD15A6DBA35}" type="pres">
      <dgm:prSet presAssocID="{DA592E29-0FA0-431E-9A2D-09A88A942506}" presName="Name50" presStyleLbl="parChTrans1D3" presStyleIdx="3" presStyleCnt="5"/>
      <dgm:spPr/>
      <dgm:t>
        <a:bodyPr/>
        <a:lstStyle/>
        <a:p>
          <a:endParaRPr lang="en-US"/>
        </a:p>
      </dgm:t>
    </dgm:pt>
    <dgm:pt modelId="{ADFCDB08-C2CF-4797-8A61-F332E141A72D}" type="pres">
      <dgm:prSet presAssocID="{5BBC56E2-A6D5-4063-A188-31F60159E2B5}" presName="hierRoot2" presStyleCnt="0">
        <dgm:presLayoutVars>
          <dgm:hierBranch val="r"/>
        </dgm:presLayoutVars>
      </dgm:prSet>
      <dgm:spPr/>
    </dgm:pt>
    <dgm:pt modelId="{20386773-8314-4561-9C9E-EF537CC09D3B}" type="pres">
      <dgm:prSet presAssocID="{5BBC56E2-A6D5-4063-A188-31F60159E2B5}" presName="rootComposite" presStyleCnt="0"/>
      <dgm:spPr/>
    </dgm:pt>
    <dgm:pt modelId="{27C26C16-A173-4331-81C2-50338D02D221}" type="pres">
      <dgm:prSet presAssocID="{5BBC56E2-A6D5-4063-A188-31F60159E2B5}" presName="rootText" presStyleLbl="node3" presStyleIdx="3" presStyleCnt="5" custLinFactNeighborX="96727" custLinFactNeighborY="2807">
        <dgm:presLayoutVars>
          <dgm:chPref val="3"/>
        </dgm:presLayoutVars>
      </dgm:prSet>
      <dgm:spPr/>
      <dgm:t>
        <a:bodyPr/>
        <a:lstStyle/>
        <a:p>
          <a:endParaRPr lang="en-US"/>
        </a:p>
      </dgm:t>
    </dgm:pt>
    <dgm:pt modelId="{92077C78-F036-4A81-92B2-6ED75371BF6D}" type="pres">
      <dgm:prSet presAssocID="{5BBC56E2-A6D5-4063-A188-31F60159E2B5}" presName="rootConnector" presStyleLbl="node3" presStyleIdx="3" presStyleCnt="5"/>
      <dgm:spPr/>
      <dgm:t>
        <a:bodyPr/>
        <a:lstStyle/>
        <a:p>
          <a:endParaRPr lang="en-US"/>
        </a:p>
      </dgm:t>
    </dgm:pt>
    <dgm:pt modelId="{B85A663A-DA4D-4E08-9A3F-789E9F110BE7}" type="pres">
      <dgm:prSet presAssocID="{5BBC56E2-A6D5-4063-A188-31F60159E2B5}" presName="hierChild4" presStyleCnt="0"/>
      <dgm:spPr/>
    </dgm:pt>
    <dgm:pt modelId="{DDBBB339-D217-4128-8CED-CE15831C183B}" type="pres">
      <dgm:prSet presAssocID="{191A2828-165B-46D6-A1A8-672C51B208B6}" presName="Name50" presStyleLbl="parChTrans1D4" presStyleIdx="0" presStyleCnt="4"/>
      <dgm:spPr/>
      <dgm:t>
        <a:bodyPr/>
        <a:lstStyle/>
        <a:p>
          <a:endParaRPr lang="en-US"/>
        </a:p>
      </dgm:t>
    </dgm:pt>
    <dgm:pt modelId="{63DFB29C-C567-497E-989D-32AC07E9EEE1}" type="pres">
      <dgm:prSet presAssocID="{6BE2FF68-8F51-4BB9-BD11-7E19D0D985C0}" presName="hierRoot2" presStyleCnt="0">
        <dgm:presLayoutVars>
          <dgm:hierBranch val="r"/>
        </dgm:presLayoutVars>
      </dgm:prSet>
      <dgm:spPr/>
    </dgm:pt>
    <dgm:pt modelId="{4A31A6FA-674B-4BAF-B946-89DCBE17559C}" type="pres">
      <dgm:prSet presAssocID="{6BE2FF68-8F51-4BB9-BD11-7E19D0D985C0}" presName="rootComposite" presStyleCnt="0"/>
      <dgm:spPr/>
    </dgm:pt>
    <dgm:pt modelId="{02CFE435-91B0-47C0-90A6-EF4EE82A5D96}" type="pres">
      <dgm:prSet presAssocID="{6BE2FF68-8F51-4BB9-BD11-7E19D0D985C0}" presName="rootText" presStyleLbl="node4" presStyleIdx="0" presStyleCnt="4" custLinFactX="47360" custLinFactNeighborX="100000">
        <dgm:presLayoutVars>
          <dgm:chPref val="3"/>
        </dgm:presLayoutVars>
      </dgm:prSet>
      <dgm:spPr/>
      <dgm:t>
        <a:bodyPr/>
        <a:lstStyle/>
        <a:p>
          <a:endParaRPr lang="en-US"/>
        </a:p>
      </dgm:t>
    </dgm:pt>
    <dgm:pt modelId="{E3749E45-50D3-4EA7-8A31-5ED4E865810B}" type="pres">
      <dgm:prSet presAssocID="{6BE2FF68-8F51-4BB9-BD11-7E19D0D985C0}" presName="rootConnector" presStyleLbl="node4" presStyleIdx="0" presStyleCnt="4"/>
      <dgm:spPr/>
      <dgm:t>
        <a:bodyPr/>
        <a:lstStyle/>
        <a:p>
          <a:endParaRPr lang="en-US"/>
        </a:p>
      </dgm:t>
    </dgm:pt>
    <dgm:pt modelId="{94BF21E0-FAC7-4A13-97D3-00AC0338EE45}" type="pres">
      <dgm:prSet presAssocID="{6BE2FF68-8F51-4BB9-BD11-7E19D0D985C0}" presName="hierChild4" presStyleCnt="0"/>
      <dgm:spPr/>
    </dgm:pt>
    <dgm:pt modelId="{AB6FCB90-CD89-4CFC-BB54-940C20260D1F}" type="pres">
      <dgm:prSet presAssocID="{6BE2FF68-8F51-4BB9-BD11-7E19D0D985C0}" presName="hierChild5" presStyleCnt="0"/>
      <dgm:spPr/>
    </dgm:pt>
    <dgm:pt modelId="{8D8B25D3-E33E-488C-90FF-503277CF6007}" type="pres">
      <dgm:prSet presAssocID="{3FD8405E-B698-45D8-AFAB-A45A612BED85}" presName="Name50" presStyleLbl="parChTrans1D4" presStyleIdx="1" presStyleCnt="4"/>
      <dgm:spPr/>
      <dgm:t>
        <a:bodyPr/>
        <a:lstStyle/>
        <a:p>
          <a:endParaRPr lang="en-US"/>
        </a:p>
      </dgm:t>
    </dgm:pt>
    <dgm:pt modelId="{C1855074-4520-4693-BDB6-697864BCEC64}" type="pres">
      <dgm:prSet presAssocID="{D926C171-BE9A-4053-BA97-06EF264A2962}" presName="hierRoot2" presStyleCnt="0">
        <dgm:presLayoutVars>
          <dgm:hierBranch val="r"/>
        </dgm:presLayoutVars>
      </dgm:prSet>
      <dgm:spPr/>
    </dgm:pt>
    <dgm:pt modelId="{6990334D-9CFE-46B5-AE25-369D452D2F5C}" type="pres">
      <dgm:prSet presAssocID="{D926C171-BE9A-4053-BA97-06EF264A2962}" presName="rootComposite" presStyleCnt="0"/>
      <dgm:spPr/>
    </dgm:pt>
    <dgm:pt modelId="{BD4416D6-F87D-4B7E-AFF3-24AD0617F58E}" type="pres">
      <dgm:prSet presAssocID="{D926C171-BE9A-4053-BA97-06EF264A2962}" presName="rootText" presStyleLbl="node4" presStyleIdx="1" presStyleCnt="4" custLinFactX="48763" custLinFactNeighborX="100000" custLinFactNeighborY="-16840">
        <dgm:presLayoutVars>
          <dgm:chPref val="3"/>
        </dgm:presLayoutVars>
      </dgm:prSet>
      <dgm:spPr/>
      <dgm:t>
        <a:bodyPr/>
        <a:lstStyle/>
        <a:p>
          <a:endParaRPr lang="en-US"/>
        </a:p>
      </dgm:t>
    </dgm:pt>
    <dgm:pt modelId="{C5810959-1E96-4A30-8EA8-8B02208E4AE8}" type="pres">
      <dgm:prSet presAssocID="{D926C171-BE9A-4053-BA97-06EF264A2962}" presName="rootConnector" presStyleLbl="node4" presStyleIdx="1" presStyleCnt="4"/>
      <dgm:spPr/>
      <dgm:t>
        <a:bodyPr/>
        <a:lstStyle/>
        <a:p>
          <a:endParaRPr lang="en-US"/>
        </a:p>
      </dgm:t>
    </dgm:pt>
    <dgm:pt modelId="{FDBD8C4D-8A83-4F53-BC4E-35D339339E04}" type="pres">
      <dgm:prSet presAssocID="{D926C171-BE9A-4053-BA97-06EF264A2962}" presName="hierChild4" presStyleCnt="0"/>
      <dgm:spPr/>
    </dgm:pt>
    <dgm:pt modelId="{A5913666-F306-4B0F-AB5D-53222C54C990}" type="pres">
      <dgm:prSet presAssocID="{D926C171-BE9A-4053-BA97-06EF264A2962}" presName="hierChild5" presStyleCnt="0"/>
      <dgm:spPr/>
    </dgm:pt>
    <dgm:pt modelId="{C95A5972-529D-401E-B71E-783BC0DCDFFD}" type="pres">
      <dgm:prSet presAssocID="{450B553B-A06D-4A0D-A146-C4316C3A7A5C}" presName="Name50" presStyleLbl="parChTrans1D4" presStyleIdx="2" presStyleCnt="4"/>
      <dgm:spPr/>
      <dgm:t>
        <a:bodyPr/>
        <a:lstStyle/>
        <a:p>
          <a:endParaRPr lang="en-US"/>
        </a:p>
      </dgm:t>
    </dgm:pt>
    <dgm:pt modelId="{1C528F07-E8CC-4CD4-B774-8139E64FEEB8}" type="pres">
      <dgm:prSet presAssocID="{F8905274-FA7A-4869-B376-5431E8B9D632}" presName="hierRoot2" presStyleCnt="0">
        <dgm:presLayoutVars>
          <dgm:hierBranch val="r"/>
        </dgm:presLayoutVars>
      </dgm:prSet>
      <dgm:spPr/>
    </dgm:pt>
    <dgm:pt modelId="{BB453996-B7B8-40A7-B42D-5043967AAEE8}" type="pres">
      <dgm:prSet presAssocID="{F8905274-FA7A-4869-B376-5431E8B9D632}" presName="rootComposite" presStyleCnt="0"/>
      <dgm:spPr/>
    </dgm:pt>
    <dgm:pt modelId="{2B0F408D-15A9-4152-9891-F77C5B2FB2BE}" type="pres">
      <dgm:prSet presAssocID="{F8905274-FA7A-4869-B376-5431E8B9D632}" presName="rootText" presStyleLbl="node4" presStyleIdx="2" presStyleCnt="4" custLinFactX="49795" custLinFactNeighborX="100000" custLinFactNeighborY="-22455">
        <dgm:presLayoutVars>
          <dgm:chPref val="3"/>
        </dgm:presLayoutVars>
      </dgm:prSet>
      <dgm:spPr/>
      <dgm:t>
        <a:bodyPr/>
        <a:lstStyle/>
        <a:p>
          <a:endParaRPr lang="en-US"/>
        </a:p>
      </dgm:t>
    </dgm:pt>
    <dgm:pt modelId="{BE1E6660-8547-4CC6-9728-AA5340218BEF}" type="pres">
      <dgm:prSet presAssocID="{F8905274-FA7A-4869-B376-5431E8B9D632}" presName="rootConnector" presStyleLbl="node4" presStyleIdx="2" presStyleCnt="4"/>
      <dgm:spPr/>
      <dgm:t>
        <a:bodyPr/>
        <a:lstStyle/>
        <a:p>
          <a:endParaRPr lang="en-US"/>
        </a:p>
      </dgm:t>
    </dgm:pt>
    <dgm:pt modelId="{C80A5D02-55D9-42BE-9959-95040BD753C2}" type="pres">
      <dgm:prSet presAssocID="{F8905274-FA7A-4869-B376-5431E8B9D632}" presName="hierChild4" presStyleCnt="0"/>
      <dgm:spPr/>
    </dgm:pt>
    <dgm:pt modelId="{9701142D-A7E4-4A4A-9A5E-CF0EB0CB45F7}" type="pres">
      <dgm:prSet presAssocID="{F8905274-FA7A-4869-B376-5431E8B9D632}" presName="hierChild5" presStyleCnt="0"/>
      <dgm:spPr/>
    </dgm:pt>
    <dgm:pt modelId="{15137A42-FC9F-4290-813B-E22A1811A05E}" type="pres">
      <dgm:prSet presAssocID="{2DA24688-952D-4E8B-904B-A4DD863F01C9}" presName="Name50" presStyleLbl="parChTrans1D4" presStyleIdx="3" presStyleCnt="4"/>
      <dgm:spPr/>
      <dgm:t>
        <a:bodyPr/>
        <a:lstStyle/>
        <a:p>
          <a:endParaRPr lang="en-US"/>
        </a:p>
      </dgm:t>
    </dgm:pt>
    <dgm:pt modelId="{D26B506E-004D-4BF8-AA7D-022E9E7C6E3A}" type="pres">
      <dgm:prSet presAssocID="{FA720B20-C738-4094-81C3-969165DF98D2}" presName="hierRoot2" presStyleCnt="0">
        <dgm:presLayoutVars>
          <dgm:hierBranch val="r"/>
        </dgm:presLayoutVars>
      </dgm:prSet>
      <dgm:spPr/>
    </dgm:pt>
    <dgm:pt modelId="{DA5CEEC4-4E8E-4B39-BE17-011A7363A523}" type="pres">
      <dgm:prSet presAssocID="{FA720B20-C738-4094-81C3-969165DF98D2}" presName="rootComposite" presStyleCnt="0"/>
      <dgm:spPr/>
    </dgm:pt>
    <dgm:pt modelId="{7C93BD33-6FCD-4F89-BD3C-D14C716CBEE6}" type="pres">
      <dgm:prSet presAssocID="{FA720B20-C738-4094-81C3-969165DF98D2}" presName="rootText" presStyleLbl="node4" presStyleIdx="3" presStyleCnt="4" custLinFactX="52973" custLinFactNeighborX="100000" custLinFactNeighborY="-36490">
        <dgm:presLayoutVars>
          <dgm:chPref val="3"/>
        </dgm:presLayoutVars>
      </dgm:prSet>
      <dgm:spPr/>
      <dgm:t>
        <a:bodyPr/>
        <a:lstStyle/>
        <a:p>
          <a:endParaRPr lang="en-US"/>
        </a:p>
      </dgm:t>
    </dgm:pt>
    <dgm:pt modelId="{D54D84E8-AB89-4D6E-953D-31B53E4EFB1B}" type="pres">
      <dgm:prSet presAssocID="{FA720B20-C738-4094-81C3-969165DF98D2}" presName="rootConnector" presStyleLbl="node4" presStyleIdx="3" presStyleCnt="4"/>
      <dgm:spPr/>
      <dgm:t>
        <a:bodyPr/>
        <a:lstStyle/>
        <a:p>
          <a:endParaRPr lang="en-US"/>
        </a:p>
      </dgm:t>
    </dgm:pt>
    <dgm:pt modelId="{32B39A25-9F42-4E86-B7A6-C660F4AFCA66}" type="pres">
      <dgm:prSet presAssocID="{FA720B20-C738-4094-81C3-969165DF98D2}" presName="hierChild4" presStyleCnt="0"/>
      <dgm:spPr/>
    </dgm:pt>
    <dgm:pt modelId="{DBA66BCC-2E95-4D23-B29D-D0C36D00A2CC}" type="pres">
      <dgm:prSet presAssocID="{FA720B20-C738-4094-81C3-969165DF98D2}" presName="hierChild5" presStyleCnt="0"/>
      <dgm:spPr/>
    </dgm:pt>
    <dgm:pt modelId="{D4F8FAAD-FA2F-4E21-99F7-D312F3324647}" type="pres">
      <dgm:prSet presAssocID="{5BBC56E2-A6D5-4063-A188-31F60159E2B5}" presName="hierChild5" presStyleCnt="0"/>
      <dgm:spPr/>
    </dgm:pt>
    <dgm:pt modelId="{774BFDD7-2B94-4CC1-91B7-97AA36782C24}" type="pres">
      <dgm:prSet presAssocID="{A5DCA0F2-632D-4AF9-954A-C2D9E2231D27}" presName="Name50" presStyleLbl="parChTrans1D3" presStyleIdx="4" presStyleCnt="5"/>
      <dgm:spPr/>
      <dgm:t>
        <a:bodyPr/>
        <a:lstStyle/>
        <a:p>
          <a:endParaRPr lang="en-US"/>
        </a:p>
      </dgm:t>
    </dgm:pt>
    <dgm:pt modelId="{D2BDF1EC-FCFD-4677-955E-DE0110E9EC61}" type="pres">
      <dgm:prSet presAssocID="{FAFC0D30-11B0-4757-A125-B9EAD9CDBFA5}" presName="hierRoot2" presStyleCnt="0">
        <dgm:presLayoutVars>
          <dgm:hierBranch val="r"/>
        </dgm:presLayoutVars>
      </dgm:prSet>
      <dgm:spPr/>
    </dgm:pt>
    <dgm:pt modelId="{E27DC034-E6E8-4DBA-A41C-E675FD2FEC1D}" type="pres">
      <dgm:prSet presAssocID="{FAFC0D30-11B0-4757-A125-B9EAD9CDBFA5}" presName="rootComposite" presStyleCnt="0"/>
      <dgm:spPr/>
    </dgm:pt>
    <dgm:pt modelId="{8374616A-E096-47BC-86CB-06132D685D78}" type="pres">
      <dgm:prSet presAssocID="{FAFC0D30-11B0-4757-A125-B9EAD9CDBFA5}" presName="rootText" presStyleLbl="node3" presStyleIdx="4" presStyleCnt="5" custLinFactX="17778" custLinFactNeighborX="100000" custLinFactNeighborY="-9101">
        <dgm:presLayoutVars>
          <dgm:chPref val="3"/>
        </dgm:presLayoutVars>
      </dgm:prSet>
      <dgm:spPr/>
      <dgm:t>
        <a:bodyPr/>
        <a:lstStyle/>
        <a:p>
          <a:endParaRPr lang="en-US"/>
        </a:p>
      </dgm:t>
    </dgm:pt>
    <dgm:pt modelId="{E14F8E8E-3201-43DC-8029-0DE73979DC31}" type="pres">
      <dgm:prSet presAssocID="{FAFC0D30-11B0-4757-A125-B9EAD9CDBFA5}" presName="rootConnector" presStyleLbl="node3" presStyleIdx="4" presStyleCnt="5"/>
      <dgm:spPr/>
      <dgm:t>
        <a:bodyPr/>
        <a:lstStyle/>
        <a:p>
          <a:endParaRPr lang="en-US"/>
        </a:p>
      </dgm:t>
    </dgm:pt>
    <dgm:pt modelId="{7136ED85-5436-4FEB-B31F-8680D0C8016F}" type="pres">
      <dgm:prSet presAssocID="{FAFC0D30-11B0-4757-A125-B9EAD9CDBFA5}" presName="hierChild4" presStyleCnt="0"/>
      <dgm:spPr/>
    </dgm:pt>
    <dgm:pt modelId="{94CB0990-47F2-47B9-8C5A-7789C4274B55}" type="pres">
      <dgm:prSet presAssocID="{FAFC0D30-11B0-4757-A125-B9EAD9CDBFA5}" presName="hierChild5" presStyleCnt="0"/>
      <dgm:spPr/>
    </dgm:pt>
    <dgm:pt modelId="{296200BB-0358-4E88-95E3-3DF4A1604B22}" type="pres">
      <dgm:prSet presAssocID="{B513968C-A9E7-4866-93FF-9ACA695BF47B}" presName="hierChild5" presStyleCnt="0"/>
      <dgm:spPr/>
    </dgm:pt>
    <dgm:pt modelId="{D5FBACFD-299E-44A0-8FF8-33C0D35AC075}" type="pres">
      <dgm:prSet presAssocID="{05CB9D14-2843-4670-A29B-B20C95E06D8C}" presName="hierChild3" presStyleCnt="0"/>
      <dgm:spPr/>
    </dgm:pt>
  </dgm:ptLst>
  <dgm:cxnLst>
    <dgm:cxn modelId="{3814F7A6-8E0D-4725-99A4-4114342EC60C}" srcId="{5BBC56E2-A6D5-4063-A188-31F60159E2B5}" destId="{F8905274-FA7A-4869-B376-5431E8B9D632}" srcOrd="2" destOrd="0" parTransId="{450B553B-A06D-4A0D-A146-C4316C3A7A5C}" sibTransId="{B5C9B926-F171-48B1-8801-7B4D9DAA5B56}"/>
    <dgm:cxn modelId="{0B01B874-10BC-45CD-9ED6-89BF67A7DE5C}" type="presOf" srcId="{B513968C-A9E7-4866-93FF-9ACA695BF47B}" destId="{1E8277A2-B810-45C1-8794-771F80219A98}" srcOrd="0" destOrd="0" presId="urn:microsoft.com/office/officeart/2005/8/layout/orgChart1"/>
    <dgm:cxn modelId="{0ED17FE1-1639-4D36-BFBB-453B58DE9AB5}" srcId="{CFCDA4FD-B237-4E44-98F6-268E724005A5}" destId="{F0C0F630-99C0-4B28-B765-A84FD3F74CD5}" srcOrd="2" destOrd="0" parTransId="{83E25AE8-AA96-4C63-AFE5-4842006763CF}" sibTransId="{E1C18E21-2441-48A7-BB8B-41C025310C4F}"/>
    <dgm:cxn modelId="{D0A8ABFD-0566-4853-B098-99911C84526D}" type="presOf" srcId="{703A4791-C436-4A52-8C26-7196FC961698}" destId="{67D0635A-55E9-480B-8516-82FF5795E2FB}" srcOrd="0" destOrd="0" presId="urn:microsoft.com/office/officeart/2005/8/layout/orgChart1"/>
    <dgm:cxn modelId="{4A82DA86-6461-4C09-9852-6C9071EFDD46}" type="presOf" srcId="{450B553B-A06D-4A0D-A146-C4316C3A7A5C}" destId="{C95A5972-529D-401E-B71E-783BC0DCDFFD}" srcOrd="0" destOrd="0" presId="urn:microsoft.com/office/officeart/2005/8/layout/orgChart1"/>
    <dgm:cxn modelId="{9AE37393-D3DE-46DD-AF97-91272A2E6F20}" type="presOf" srcId="{D926C171-BE9A-4053-BA97-06EF264A2962}" destId="{BD4416D6-F87D-4B7E-AFF3-24AD0617F58E}" srcOrd="0" destOrd="0" presId="urn:microsoft.com/office/officeart/2005/8/layout/orgChart1"/>
    <dgm:cxn modelId="{65A033A2-FF05-427B-8254-AD8FE18B59B4}" type="presOf" srcId="{F8905274-FA7A-4869-B376-5431E8B9D632}" destId="{BE1E6660-8547-4CC6-9728-AA5340218BEF}" srcOrd="1" destOrd="0" presId="urn:microsoft.com/office/officeart/2005/8/layout/orgChart1"/>
    <dgm:cxn modelId="{A0C1434B-AFC4-4F1D-8DB6-3A21B7CC57CC}" type="presOf" srcId="{7B2CBA9F-BDA1-4B73-9D8A-95399FD16492}" destId="{A1F201FA-A963-4405-8DEA-7B3191059945}" srcOrd="0" destOrd="0" presId="urn:microsoft.com/office/officeart/2005/8/layout/orgChart1"/>
    <dgm:cxn modelId="{B15C1064-F0F3-494A-88D0-A464A133CBE4}" srcId="{5BBC56E2-A6D5-4063-A188-31F60159E2B5}" destId="{6BE2FF68-8F51-4BB9-BD11-7E19D0D985C0}" srcOrd="0" destOrd="0" parTransId="{191A2828-165B-46D6-A1A8-672C51B208B6}" sibTransId="{48BFF271-A432-4792-AE51-31FF12542AC1}"/>
    <dgm:cxn modelId="{F7C5686F-D3D0-427E-83C5-345969A7C6A2}" type="presOf" srcId="{83E25AE8-AA96-4C63-AFE5-4842006763CF}" destId="{18295B68-5181-4EE1-8AAB-7DCE89A3E660}" srcOrd="0" destOrd="0" presId="urn:microsoft.com/office/officeart/2005/8/layout/orgChart1"/>
    <dgm:cxn modelId="{C185A659-5FE8-49A1-9C39-5596CD71EEC4}" type="presOf" srcId="{D926C171-BE9A-4053-BA97-06EF264A2962}" destId="{C5810959-1E96-4A30-8EA8-8B02208E4AE8}" srcOrd="1" destOrd="0" presId="urn:microsoft.com/office/officeart/2005/8/layout/orgChart1"/>
    <dgm:cxn modelId="{0CD83A34-F544-4AF3-8FCC-D8579E2408E8}" type="presOf" srcId="{CFCDA4FD-B237-4E44-98F6-268E724005A5}" destId="{D0CF9DA7-3964-459F-9404-410E066F2E28}" srcOrd="1" destOrd="0" presId="urn:microsoft.com/office/officeart/2005/8/layout/orgChart1"/>
    <dgm:cxn modelId="{9FF80CDE-30AF-4681-B933-B116DCF73CF4}" srcId="{5BBC56E2-A6D5-4063-A188-31F60159E2B5}" destId="{FA720B20-C738-4094-81C3-969165DF98D2}" srcOrd="3" destOrd="0" parTransId="{2DA24688-952D-4E8B-904B-A4DD863F01C9}" sibTransId="{E6E9E208-C6A6-4CA1-9A97-CEA73D695789}"/>
    <dgm:cxn modelId="{F3369C0E-C75B-48D6-855D-4B1E6F0D8083}" type="presOf" srcId="{FAFC0D30-11B0-4757-A125-B9EAD9CDBFA5}" destId="{E14F8E8E-3201-43DC-8029-0DE73979DC31}" srcOrd="1" destOrd="0" presId="urn:microsoft.com/office/officeart/2005/8/layout/orgChart1"/>
    <dgm:cxn modelId="{BFEA55D7-9E14-49CA-AFA6-3C86ECD26E4E}" type="presOf" srcId="{F0C0F630-99C0-4B28-B765-A84FD3F74CD5}" destId="{BBFF0DED-436F-441F-AB90-C65717CC8030}" srcOrd="1" destOrd="0" presId="urn:microsoft.com/office/officeart/2005/8/layout/orgChart1"/>
    <dgm:cxn modelId="{309A70EF-1411-4EEC-9F07-998C0FBB62B4}" type="presOf" srcId="{6BE2FF68-8F51-4BB9-BD11-7E19D0D985C0}" destId="{02CFE435-91B0-47C0-90A6-EF4EE82A5D96}" srcOrd="0" destOrd="0" presId="urn:microsoft.com/office/officeart/2005/8/layout/orgChart1"/>
    <dgm:cxn modelId="{4DDDED44-543C-4D51-BAB1-0D1ADB20202A}" type="presOf" srcId="{6BE2FF68-8F51-4BB9-BD11-7E19D0D985C0}" destId="{E3749E45-50D3-4EA7-8A31-5ED4E865810B}" srcOrd="1" destOrd="0" presId="urn:microsoft.com/office/officeart/2005/8/layout/orgChart1"/>
    <dgm:cxn modelId="{925308EC-BAE2-4D6A-8EC1-812E80638BD3}" type="presOf" srcId="{21D6CE74-47EC-4F85-8917-308277D46E04}" destId="{042DFE3D-85D4-484C-AE71-DD08E0A7AC4C}" srcOrd="0" destOrd="0" presId="urn:microsoft.com/office/officeart/2005/8/layout/orgChart1"/>
    <dgm:cxn modelId="{26B07ABF-5D07-4250-B845-0A35241C2E77}" type="presOf" srcId="{3FD8405E-B698-45D8-AFAB-A45A612BED85}" destId="{8D8B25D3-E33E-488C-90FF-503277CF6007}" srcOrd="0" destOrd="0" presId="urn:microsoft.com/office/officeart/2005/8/layout/orgChart1"/>
    <dgm:cxn modelId="{AF6BFAFB-926B-4343-B83B-50128143AA9C}" type="presOf" srcId="{CFCDA4FD-B237-4E44-98F6-268E724005A5}" destId="{1A89261D-15F6-41A6-A880-7657656E56F6}" srcOrd="0" destOrd="0" presId="urn:microsoft.com/office/officeart/2005/8/layout/orgChart1"/>
    <dgm:cxn modelId="{C207C414-0B5B-4C0E-B2F3-BF040A0C4F29}" type="presOf" srcId="{191A2828-165B-46D6-A1A8-672C51B208B6}" destId="{DDBBB339-D217-4128-8CED-CE15831C183B}" srcOrd="0" destOrd="0" presId="urn:microsoft.com/office/officeart/2005/8/layout/orgChart1"/>
    <dgm:cxn modelId="{CB24EB11-F9E0-423F-885E-8E6ECB665D1E}" srcId="{B513968C-A9E7-4866-93FF-9ACA695BF47B}" destId="{FAFC0D30-11B0-4757-A125-B9EAD9CDBFA5}" srcOrd="1" destOrd="0" parTransId="{A5DCA0F2-632D-4AF9-954A-C2D9E2231D27}" sibTransId="{B7C29A97-4375-4142-9171-ED00C4906C5B}"/>
    <dgm:cxn modelId="{D13C8085-35A7-465C-8C3A-69C1500E1CAC}" type="presOf" srcId="{703A4791-C436-4A52-8C26-7196FC961698}" destId="{A9547240-BD23-47CB-8DA1-D950EB9E54A4}" srcOrd="1" destOrd="0" presId="urn:microsoft.com/office/officeart/2005/8/layout/orgChart1"/>
    <dgm:cxn modelId="{F610AE9A-6DCD-4911-A678-1F5408CDC14E}" type="presOf" srcId="{F8905274-FA7A-4869-B376-5431E8B9D632}" destId="{2B0F408D-15A9-4152-9891-F77C5B2FB2BE}" srcOrd="0" destOrd="0" presId="urn:microsoft.com/office/officeart/2005/8/layout/orgChart1"/>
    <dgm:cxn modelId="{041959F4-17B8-4F5A-B631-B7D7D559FD5A}" type="presOf" srcId="{1D1D012C-4600-400D-8CE1-001FDF6412B6}" destId="{E855D558-65A9-4CDD-B91B-0ADB339BA7FD}" srcOrd="0" destOrd="0" presId="urn:microsoft.com/office/officeart/2005/8/layout/orgChart1"/>
    <dgm:cxn modelId="{28F91ADA-E1A3-4724-928B-F5D0EB1C5ABB}" type="presOf" srcId="{7E97FC7A-BA5A-401B-9ACB-7381279924BC}" destId="{C4E56150-1450-4723-B2A7-18FC83E03980}" srcOrd="0" destOrd="0" presId="urn:microsoft.com/office/officeart/2005/8/layout/orgChart1"/>
    <dgm:cxn modelId="{8BEA57EA-0F27-463F-BE71-CA3EFFDC8B1A}" type="presOf" srcId="{5BBC56E2-A6D5-4063-A188-31F60159E2B5}" destId="{92077C78-F036-4A81-92B2-6ED75371BF6D}" srcOrd="1" destOrd="0" presId="urn:microsoft.com/office/officeart/2005/8/layout/orgChart1"/>
    <dgm:cxn modelId="{AAA8BCA7-FAC9-4609-85D8-31AF1280152F}" type="presOf" srcId="{A86A1A14-4DC2-45F5-B75C-886D2B4C3F7B}" destId="{DE1BBE24-D47E-4B12-906A-305F254183FE}" srcOrd="1" destOrd="0" presId="urn:microsoft.com/office/officeart/2005/8/layout/orgChart1"/>
    <dgm:cxn modelId="{F90D32C2-D78D-4E5C-9818-476A661232C2}" srcId="{21D6CE74-47EC-4F85-8917-308277D46E04}" destId="{05CB9D14-2843-4670-A29B-B20C95E06D8C}" srcOrd="0" destOrd="0" parTransId="{814EC783-4D91-4454-B1FB-71463AAEC8C4}" sibTransId="{03DD0BE6-9F3A-4D53-9A8E-8C1BEAB5B54D}"/>
    <dgm:cxn modelId="{059926AB-125E-4380-83C2-56A1D1A0142E}" type="presOf" srcId="{B513968C-A9E7-4866-93FF-9ACA695BF47B}" destId="{C8DD25F4-B59C-4C7E-8A7C-DD3BFA2DA25B}" srcOrd="1" destOrd="0" presId="urn:microsoft.com/office/officeart/2005/8/layout/orgChart1"/>
    <dgm:cxn modelId="{935BFC65-350C-4E74-9FD5-64C107D21618}" type="presOf" srcId="{FA720B20-C738-4094-81C3-969165DF98D2}" destId="{7C93BD33-6FCD-4F89-BD3C-D14C716CBEE6}" srcOrd="0" destOrd="0" presId="urn:microsoft.com/office/officeart/2005/8/layout/orgChart1"/>
    <dgm:cxn modelId="{54FBD07C-1E78-43BD-8A6E-30F61E08935A}" type="presOf" srcId="{2DA24688-952D-4E8B-904B-A4DD863F01C9}" destId="{15137A42-FC9F-4290-813B-E22A1811A05E}" srcOrd="0" destOrd="0" presId="urn:microsoft.com/office/officeart/2005/8/layout/orgChart1"/>
    <dgm:cxn modelId="{67AC8B43-C495-4F0C-9266-CF3E9553D2FF}" type="presOf" srcId="{A86A1A14-4DC2-45F5-B75C-886D2B4C3F7B}" destId="{F379C5F2-9A54-46AD-A6A5-1E4BCC7DB5C1}" srcOrd="0" destOrd="0" presId="urn:microsoft.com/office/officeart/2005/8/layout/orgChart1"/>
    <dgm:cxn modelId="{E24A7A51-BE63-4446-A2EE-AB139C0C6FAA}" srcId="{CFCDA4FD-B237-4E44-98F6-268E724005A5}" destId="{703A4791-C436-4A52-8C26-7196FC961698}" srcOrd="0" destOrd="0" parTransId="{1D1D012C-4600-400D-8CE1-001FDF6412B6}" sibTransId="{3AF1341E-B8F4-4BED-9643-8FF83FD52881}"/>
    <dgm:cxn modelId="{102E6D98-7D95-412B-8C08-22321601B3A6}" type="presOf" srcId="{05CB9D14-2843-4670-A29B-B20C95E06D8C}" destId="{A294E9A7-ABFB-42B1-9EDA-1BA0CAFC8E60}" srcOrd="0" destOrd="0" presId="urn:microsoft.com/office/officeart/2005/8/layout/orgChart1"/>
    <dgm:cxn modelId="{2CD4F953-D4A9-4E71-8699-3EF69F7E7C71}" type="presOf" srcId="{DA592E29-0FA0-431E-9A2D-09A88A942506}" destId="{E9850E01-9C86-4458-9CA8-3CD15A6DBA35}" srcOrd="0" destOrd="0" presId="urn:microsoft.com/office/officeart/2005/8/layout/orgChart1"/>
    <dgm:cxn modelId="{15384575-8D8E-4F1E-8303-739AB45E943E}" srcId="{05CB9D14-2843-4670-A29B-B20C95E06D8C}" destId="{CFCDA4FD-B237-4E44-98F6-268E724005A5}" srcOrd="0" destOrd="0" parTransId="{7E97FC7A-BA5A-401B-9ACB-7381279924BC}" sibTransId="{2EA0D3DE-931B-4AC0-A849-75D18158374E}"/>
    <dgm:cxn modelId="{F30D5E23-68C8-456E-9B37-7BC2153E6749}" type="presOf" srcId="{05CB9D14-2843-4670-A29B-B20C95E06D8C}" destId="{4640878D-5E37-429A-B503-D58A93287E73}" srcOrd="1" destOrd="0" presId="urn:microsoft.com/office/officeart/2005/8/layout/orgChart1"/>
    <dgm:cxn modelId="{E8139108-DFB2-4262-9377-B3E378149A1C}" type="presOf" srcId="{F0C0F630-99C0-4B28-B765-A84FD3F74CD5}" destId="{BB84CA14-55D2-4756-B000-F13741C51F17}" srcOrd="0" destOrd="0" presId="urn:microsoft.com/office/officeart/2005/8/layout/orgChart1"/>
    <dgm:cxn modelId="{F436B7DF-B7DA-4D08-B3FE-180631AD4F67}" srcId="{CFCDA4FD-B237-4E44-98F6-268E724005A5}" destId="{A86A1A14-4DC2-45F5-B75C-886D2B4C3F7B}" srcOrd="1" destOrd="0" parTransId="{7B2CBA9F-BDA1-4B73-9D8A-95399FD16492}" sibTransId="{1A55A31E-4EEA-4BE9-89F2-4FAC6A54F795}"/>
    <dgm:cxn modelId="{4A17188B-209B-443E-B853-16EEFC6B39A3}" type="presOf" srcId="{5BBC56E2-A6D5-4063-A188-31F60159E2B5}" destId="{27C26C16-A173-4331-81C2-50338D02D221}" srcOrd="0" destOrd="0" presId="urn:microsoft.com/office/officeart/2005/8/layout/orgChart1"/>
    <dgm:cxn modelId="{C145CC63-2E2F-4AC1-8440-AEBFF567BF4E}" srcId="{B513968C-A9E7-4866-93FF-9ACA695BF47B}" destId="{5BBC56E2-A6D5-4063-A188-31F60159E2B5}" srcOrd="0" destOrd="0" parTransId="{DA592E29-0FA0-431E-9A2D-09A88A942506}" sibTransId="{26B57C8A-ED1A-49EF-B11C-FFA07A7B1BFF}"/>
    <dgm:cxn modelId="{E40E13D7-5A2A-4B7D-8F26-2179AB47D4E8}" type="presOf" srcId="{FAFC0D30-11B0-4757-A125-B9EAD9CDBFA5}" destId="{8374616A-E096-47BC-86CB-06132D685D78}" srcOrd="0" destOrd="0" presId="urn:microsoft.com/office/officeart/2005/8/layout/orgChart1"/>
    <dgm:cxn modelId="{E8E24075-CF8F-40A5-AA18-01F5B524F297}" type="presOf" srcId="{25B3066C-759C-47F3-8B56-68B0CFB70F37}" destId="{8FA74B11-A6E3-4B0D-BA59-A2CFA2531465}" srcOrd="0" destOrd="0" presId="urn:microsoft.com/office/officeart/2005/8/layout/orgChart1"/>
    <dgm:cxn modelId="{00916AC3-8AC8-4D58-81F5-97C1DA25E094}" type="presOf" srcId="{FA720B20-C738-4094-81C3-969165DF98D2}" destId="{D54D84E8-AB89-4D6E-953D-31B53E4EFB1B}" srcOrd="1" destOrd="0" presId="urn:microsoft.com/office/officeart/2005/8/layout/orgChart1"/>
    <dgm:cxn modelId="{C63F3620-5F9A-4260-B526-B270E8950931}" srcId="{05CB9D14-2843-4670-A29B-B20C95E06D8C}" destId="{B513968C-A9E7-4866-93FF-9ACA695BF47B}" srcOrd="1" destOrd="0" parTransId="{25B3066C-759C-47F3-8B56-68B0CFB70F37}" sibTransId="{8CC683C6-DF94-40C5-9570-0771C3947ACA}"/>
    <dgm:cxn modelId="{D0F096B8-D7C8-481B-8B08-3E474819A4F0}" srcId="{5BBC56E2-A6D5-4063-A188-31F60159E2B5}" destId="{D926C171-BE9A-4053-BA97-06EF264A2962}" srcOrd="1" destOrd="0" parTransId="{3FD8405E-B698-45D8-AFAB-A45A612BED85}" sibTransId="{28B94D24-9562-417A-8F48-6491575CDE0B}"/>
    <dgm:cxn modelId="{3FA67EEB-0CD9-45DC-A779-B057E2274D2A}" type="presOf" srcId="{A5DCA0F2-632D-4AF9-954A-C2D9E2231D27}" destId="{774BFDD7-2B94-4CC1-91B7-97AA36782C24}" srcOrd="0" destOrd="0" presId="urn:microsoft.com/office/officeart/2005/8/layout/orgChart1"/>
    <dgm:cxn modelId="{71F30B2E-7094-4ABC-9C6C-328F778CF619}" type="presParOf" srcId="{042DFE3D-85D4-484C-AE71-DD08E0A7AC4C}" destId="{0225B303-F876-47C1-B403-1DE9071097F6}" srcOrd="0" destOrd="0" presId="urn:microsoft.com/office/officeart/2005/8/layout/orgChart1"/>
    <dgm:cxn modelId="{A1463F29-2B6D-4226-BB37-FA8D05590FE3}" type="presParOf" srcId="{0225B303-F876-47C1-B403-1DE9071097F6}" destId="{F8AD25D5-79E8-401F-AF92-B2C01320C232}" srcOrd="0" destOrd="0" presId="urn:microsoft.com/office/officeart/2005/8/layout/orgChart1"/>
    <dgm:cxn modelId="{4C015ABF-9AA7-4522-8892-4E2AA4C4FA75}" type="presParOf" srcId="{F8AD25D5-79E8-401F-AF92-B2C01320C232}" destId="{A294E9A7-ABFB-42B1-9EDA-1BA0CAFC8E60}" srcOrd="0" destOrd="0" presId="urn:microsoft.com/office/officeart/2005/8/layout/orgChart1"/>
    <dgm:cxn modelId="{A946E9B5-F4D0-473E-9FA3-A069ED5F795B}" type="presParOf" srcId="{F8AD25D5-79E8-401F-AF92-B2C01320C232}" destId="{4640878D-5E37-429A-B503-D58A93287E73}" srcOrd="1" destOrd="0" presId="urn:microsoft.com/office/officeart/2005/8/layout/orgChart1"/>
    <dgm:cxn modelId="{7E78A126-26F4-4E85-B998-CE0B93D8C639}" type="presParOf" srcId="{0225B303-F876-47C1-B403-1DE9071097F6}" destId="{185DC44B-B42B-4C12-BDC1-B7A54831B29B}" srcOrd="1" destOrd="0" presId="urn:microsoft.com/office/officeart/2005/8/layout/orgChart1"/>
    <dgm:cxn modelId="{6C04A474-4E94-4F9B-8CB6-470658458BB0}" type="presParOf" srcId="{185DC44B-B42B-4C12-BDC1-B7A54831B29B}" destId="{C4E56150-1450-4723-B2A7-18FC83E03980}" srcOrd="0" destOrd="0" presId="urn:microsoft.com/office/officeart/2005/8/layout/orgChart1"/>
    <dgm:cxn modelId="{D0669BCD-5F8B-47F8-831B-915F96D9F3BA}" type="presParOf" srcId="{185DC44B-B42B-4C12-BDC1-B7A54831B29B}" destId="{B12F39C3-4676-471F-B775-E986A9E0E8CE}" srcOrd="1" destOrd="0" presId="urn:microsoft.com/office/officeart/2005/8/layout/orgChart1"/>
    <dgm:cxn modelId="{C0D63474-C61F-482F-9F88-F75CEB2C6880}" type="presParOf" srcId="{B12F39C3-4676-471F-B775-E986A9E0E8CE}" destId="{2C94CF09-E21B-4495-9762-BF32DF397753}" srcOrd="0" destOrd="0" presId="urn:microsoft.com/office/officeart/2005/8/layout/orgChart1"/>
    <dgm:cxn modelId="{5273C605-C892-4B7B-AB61-35A0A1168D8A}" type="presParOf" srcId="{2C94CF09-E21B-4495-9762-BF32DF397753}" destId="{1A89261D-15F6-41A6-A880-7657656E56F6}" srcOrd="0" destOrd="0" presId="urn:microsoft.com/office/officeart/2005/8/layout/orgChart1"/>
    <dgm:cxn modelId="{74043B6F-13C6-4F5E-BF86-26D931D6989E}" type="presParOf" srcId="{2C94CF09-E21B-4495-9762-BF32DF397753}" destId="{D0CF9DA7-3964-459F-9404-410E066F2E28}" srcOrd="1" destOrd="0" presId="urn:microsoft.com/office/officeart/2005/8/layout/orgChart1"/>
    <dgm:cxn modelId="{9D39A7AF-F47E-45F7-A28A-1664359E3ED4}" type="presParOf" srcId="{B12F39C3-4676-471F-B775-E986A9E0E8CE}" destId="{5F11EC43-D962-4E5D-BDBA-9C6B00053B24}" srcOrd="1" destOrd="0" presId="urn:microsoft.com/office/officeart/2005/8/layout/orgChart1"/>
    <dgm:cxn modelId="{F4549EB7-BD7B-43C1-A350-C2DCFCE23432}" type="presParOf" srcId="{5F11EC43-D962-4E5D-BDBA-9C6B00053B24}" destId="{E855D558-65A9-4CDD-B91B-0ADB339BA7FD}" srcOrd="0" destOrd="0" presId="urn:microsoft.com/office/officeart/2005/8/layout/orgChart1"/>
    <dgm:cxn modelId="{BEE0941D-3B99-4E7E-B613-E96F02C60E93}" type="presParOf" srcId="{5F11EC43-D962-4E5D-BDBA-9C6B00053B24}" destId="{67EC287A-16DD-4A08-A29F-4D16B0A5D102}" srcOrd="1" destOrd="0" presId="urn:microsoft.com/office/officeart/2005/8/layout/orgChart1"/>
    <dgm:cxn modelId="{23E42F02-1CB3-4C80-A933-21A751D49B5C}" type="presParOf" srcId="{67EC287A-16DD-4A08-A29F-4D16B0A5D102}" destId="{AD62521B-9611-417A-B14A-F8F894A70E6B}" srcOrd="0" destOrd="0" presId="urn:microsoft.com/office/officeart/2005/8/layout/orgChart1"/>
    <dgm:cxn modelId="{4AEBF849-4437-4EEE-87C6-F0CCD3666C77}" type="presParOf" srcId="{AD62521B-9611-417A-B14A-F8F894A70E6B}" destId="{67D0635A-55E9-480B-8516-82FF5795E2FB}" srcOrd="0" destOrd="0" presId="urn:microsoft.com/office/officeart/2005/8/layout/orgChart1"/>
    <dgm:cxn modelId="{EAB9F23E-65B1-44B8-A2D3-546B6C084CA4}" type="presParOf" srcId="{AD62521B-9611-417A-B14A-F8F894A70E6B}" destId="{A9547240-BD23-47CB-8DA1-D950EB9E54A4}" srcOrd="1" destOrd="0" presId="urn:microsoft.com/office/officeart/2005/8/layout/orgChart1"/>
    <dgm:cxn modelId="{19809647-FBFB-477B-941B-2F887B0E7834}" type="presParOf" srcId="{67EC287A-16DD-4A08-A29F-4D16B0A5D102}" destId="{D598F6B4-F56B-41F1-88E6-4063DACEE694}" srcOrd="1" destOrd="0" presId="urn:microsoft.com/office/officeart/2005/8/layout/orgChart1"/>
    <dgm:cxn modelId="{F860B397-9868-492C-AE1A-3A8E8CF4BA93}" type="presParOf" srcId="{67EC287A-16DD-4A08-A29F-4D16B0A5D102}" destId="{4470F2BF-27BF-4997-8846-25AD868E5590}" srcOrd="2" destOrd="0" presId="urn:microsoft.com/office/officeart/2005/8/layout/orgChart1"/>
    <dgm:cxn modelId="{999B533A-8041-408F-92EA-3DE6EC98ECDF}" type="presParOf" srcId="{5F11EC43-D962-4E5D-BDBA-9C6B00053B24}" destId="{A1F201FA-A963-4405-8DEA-7B3191059945}" srcOrd="2" destOrd="0" presId="urn:microsoft.com/office/officeart/2005/8/layout/orgChart1"/>
    <dgm:cxn modelId="{F20AB308-734C-480B-8211-2A23595CC68F}" type="presParOf" srcId="{5F11EC43-D962-4E5D-BDBA-9C6B00053B24}" destId="{CE448F79-1A75-4388-9720-AB3749D00673}" srcOrd="3" destOrd="0" presId="urn:microsoft.com/office/officeart/2005/8/layout/orgChart1"/>
    <dgm:cxn modelId="{D3C7CDB4-25A7-4B07-BECA-ACF4BB5FBAF5}" type="presParOf" srcId="{CE448F79-1A75-4388-9720-AB3749D00673}" destId="{4C508613-A1A8-45C3-9E20-C2E136A552D4}" srcOrd="0" destOrd="0" presId="urn:microsoft.com/office/officeart/2005/8/layout/orgChart1"/>
    <dgm:cxn modelId="{E55A8A8D-C956-4CEF-A807-463A419CC03B}" type="presParOf" srcId="{4C508613-A1A8-45C3-9E20-C2E136A552D4}" destId="{F379C5F2-9A54-46AD-A6A5-1E4BCC7DB5C1}" srcOrd="0" destOrd="0" presId="urn:microsoft.com/office/officeart/2005/8/layout/orgChart1"/>
    <dgm:cxn modelId="{F41AC2B7-6E25-42BE-B9F7-E1AB6828AD75}" type="presParOf" srcId="{4C508613-A1A8-45C3-9E20-C2E136A552D4}" destId="{DE1BBE24-D47E-4B12-906A-305F254183FE}" srcOrd="1" destOrd="0" presId="urn:microsoft.com/office/officeart/2005/8/layout/orgChart1"/>
    <dgm:cxn modelId="{E3822860-6448-4BEE-B1F8-3263C702C3D6}" type="presParOf" srcId="{CE448F79-1A75-4388-9720-AB3749D00673}" destId="{C59F4BCB-44D8-4C89-95B7-CFBA101B3681}" srcOrd="1" destOrd="0" presId="urn:microsoft.com/office/officeart/2005/8/layout/orgChart1"/>
    <dgm:cxn modelId="{B4B0E0E6-5256-461F-8170-22A5174CD585}" type="presParOf" srcId="{CE448F79-1A75-4388-9720-AB3749D00673}" destId="{346E39E5-094E-44A6-962B-B9449C862EDE}" srcOrd="2" destOrd="0" presId="urn:microsoft.com/office/officeart/2005/8/layout/orgChart1"/>
    <dgm:cxn modelId="{9694B2B0-D2C2-4AB0-B23E-1A29BD01E986}" type="presParOf" srcId="{5F11EC43-D962-4E5D-BDBA-9C6B00053B24}" destId="{18295B68-5181-4EE1-8AAB-7DCE89A3E660}" srcOrd="4" destOrd="0" presId="urn:microsoft.com/office/officeart/2005/8/layout/orgChart1"/>
    <dgm:cxn modelId="{2BAE6F5E-B5B9-4BD6-AE6A-A7C3812E2F15}" type="presParOf" srcId="{5F11EC43-D962-4E5D-BDBA-9C6B00053B24}" destId="{B44032EA-AE31-4630-A696-BBE398C544D4}" srcOrd="5" destOrd="0" presId="urn:microsoft.com/office/officeart/2005/8/layout/orgChart1"/>
    <dgm:cxn modelId="{CFA3D004-D772-4B82-B4D9-9B98ED73EDBE}" type="presParOf" srcId="{B44032EA-AE31-4630-A696-BBE398C544D4}" destId="{DC9C36B7-F7EB-4492-BBA0-497FF40507D2}" srcOrd="0" destOrd="0" presId="urn:microsoft.com/office/officeart/2005/8/layout/orgChart1"/>
    <dgm:cxn modelId="{8A1F5292-77D3-49FC-AC94-1978AD00BD71}" type="presParOf" srcId="{DC9C36B7-F7EB-4492-BBA0-497FF40507D2}" destId="{BB84CA14-55D2-4756-B000-F13741C51F17}" srcOrd="0" destOrd="0" presId="urn:microsoft.com/office/officeart/2005/8/layout/orgChart1"/>
    <dgm:cxn modelId="{C0979812-9A38-4CE0-8BC2-69AA49392CD5}" type="presParOf" srcId="{DC9C36B7-F7EB-4492-BBA0-497FF40507D2}" destId="{BBFF0DED-436F-441F-AB90-C65717CC8030}" srcOrd="1" destOrd="0" presId="urn:microsoft.com/office/officeart/2005/8/layout/orgChart1"/>
    <dgm:cxn modelId="{290A2378-B7A8-4094-8C61-59392B38EEF2}" type="presParOf" srcId="{B44032EA-AE31-4630-A696-BBE398C544D4}" destId="{F2845C88-CB67-4748-B662-B93F1A78D227}" srcOrd="1" destOrd="0" presId="urn:microsoft.com/office/officeart/2005/8/layout/orgChart1"/>
    <dgm:cxn modelId="{EB2AB093-C07C-4AED-8496-55AC2EE7ECD0}" type="presParOf" srcId="{B44032EA-AE31-4630-A696-BBE398C544D4}" destId="{D7D065A5-871C-4FE8-B71D-6EC11188EC03}" srcOrd="2" destOrd="0" presId="urn:microsoft.com/office/officeart/2005/8/layout/orgChart1"/>
    <dgm:cxn modelId="{071BF429-5CF6-451F-B1CB-C6EA5F3F0A75}" type="presParOf" srcId="{B12F39C3-4676-471F-B775-E986A9E0E8CE}" destId="{357A42D7-9F99-434D-ABEE-072EB60DF4B5}" srcOrd="2" destOrd="0" presId="urn:microsoft.com/office/officeart/2005/8/layout/orgChart1"/>
    <dgm:cxn modelId="{3066569E-75A0-4283-83B6-9663339688C0}" type="presParOf" srcId="{185DC44B-B42B-4C12-BDC1-B7A54831B29B}" destId="{8FA74B11-A6E3-4B0D-BA59-A2CFA2531465}" srcOrd="2" destOrd="0" presId="urn:microsoft.com/office/officeart/2005/8/layout/orgChart1"/>
    <dgm:cxn modelId="{05449A5A-BD10-438A-8FB1-F49A861092FA}" type="presParOf" srcId="{185DC44B-B42B-4C12-BDC1-B7A54831B29B}" destId="{32A73C19-AF9E-41BB-B3D6-F5CF95DE38D6}" srcOrd="3" destOrd="0" presId="urn:microsoft.com/office/officeart/2005/8/layout/orgChart1"/>
    <dgm:cxn modelId="{786BF9A8-2CE7-4539-B1EE-CB49EF0B3785}" type="presParOf" srcId="{32A73C19-AF9E-41BB-B3D6-F5CF95DE38D6}" destId="{8B1EFA37-7D9D-49FB-BE40-88B920DD10A9}" srcOrd="0" destOrd="0" presId="urn:microsoft.com/office/officeart/2005/8/layout/orgChart1"/>
    <dgm:cxn modelId="{D54965ED-F16D-475C-82E9-64FC5CCA038F}" type="presParOf" srcId="{8B1EFA37-7D9D-49FB-BE40-88B920DD10A9}" destId="{1E8277A2-B810-45C1-8794-771F80219A98}" srcOrd="0" destOrd="0" presId="urn:microsoft.com/office/officeart/2005/8/layout/orgChart1"/>
    <dgm:cxn modelId="{5B607FCD-D54C-4F5A-BA83-F03E3FD066C6}" type="presParOf" srcId="{8B1EFA37-7D9D-49FB-BE40-88B920DD10A9}" destId="{C8DD25F4-B59C-4C7E-8A7C-DD3BFA2DA25B}" srcOrd="1" destOrd="0" presId="urn:microsoft.com/office/officeart/2005/8/layout/orgChart1"/>
    <dgm:cxn modelId="{A77F1D8A-3900-49B3-B0F9-54CFF9E4DCC5}" type="presParOf" srcId="{32A73C19-AF9E-41BB-B3D6-F5CF95DE38D6}" destId="{7835AAF4-AC9E-46FF-A986-8EF2604FB21A}" srcOrd="1" destOrd="0" presId="urn:microsoft.com/office/officeart/2005/8/layout/orgChart1"/>
    <dgm:cxn modelId="{CDF75AFC-CE7F-456E-BF1A-74F97AC424C7}" type="presParOf" srcId="{7835AAF4-AC9E-46FF-A986-8EF2604FB21A}" destId="{E9850E01-9C86-4458-9CA8-3CD15A6DBA35}" srcOrd="0" destOrd="0" presId="urn:microsoft.com/office/officeart/2005/8/layout/orgChart1"/>
    <dgm:cxn modelId="{5655C5CD-857D-4308-8B6D-D47CAD54490E}" type="presParOf" srcId="{7835AAF4-AC9E-46FF-A986-8EF2604FB21A}" destId="{ADFCDB08-C2CF-4797-8A61-F332E141A72D}" srcOrd="1" destOrd="0" presId="urn:microsoft.com/office/officeart/2005/8/layout/orgChart1"/>
    <dgm:cxn modelId="{275037EF-1EF0-43F0-B242-CF4627BA9AB5}" type="presParOf" srcId="{ADFCDB08-C2CF-4797-8A61-F332E141A72D}" destId="{20386773-8314-4561-9C9E-EF537CC09D3B}" srcOrd="0" destOrd="0" presId="urn:microsoft.com/office/officeart/2005/8/layout/orgChart1"/>
    <dgm:cxn modelId="{81948FCF-771D-4B82-9498-3A50FFDEB06D}" type="presParOf" srcId="{20386773-8314-4561-9C9E-EF537CC09D3B}" destId="{27C26C16-A173-4331-81C2-50338D02D221}" srcOrd="0" destOrd="0" presId="urn:microsoft.com/office/officeart/2005/8/layout/orgChart1"/>
    <dgm:cxn modelId="{364E666A-1C25-4FAA-9EC9-295D70567889}" type="presParOf" srcId="{20386773-8314-4561-9C9E-EF537CC09D3B}" destId="{92077C78-F036-4A81-92B2-6ED75371BF6D}" srcOrd="1" destOrd="0" presId="urn:microsoft.com/office/officeart/2005/8/layout/orgChart1"/>
    <dgm:cxn modelId="{21739516-13C0-44DB-9FD1-B4DF1FD53C24}" type="presParOf" srcId="{ADFCDB08-C2CF-4797-8A61-F332E141A72D}" destId="{B85A663A-DA4D-4E08-9A3F-789E9F110BE7}" srcOrd="1" destOrd="0" presId="urn:microsoft.com/office/officeart/2005/8/layout/orgChart1"/>
    <dgm:cxn modelId="{5B272F73-02F5-4E4E-B9A7-1EE89E603C92}" type="presParOf" srcId="{B85A663A-DA4D-4E08-9A3F-789E9F110BE7}" destId="{DDBBB339-D217-4128-8CED-CE15831C183B}" srcOrd="0" destOrd="0" presId="urn:microsoft.com/office/officeart/2005/8/layout/orgChart1"/>
    <dgm:cxn modelId="{B0D8E20B-9E9E-40DE-9D26-9DEA79D1D5C7}" type="presParOf" srcId="{B85A663A-DA4D-4E08-9A3F-789E9F110BE7}" destId="{63DFB29C-C567-497E-989D-32AC07E9EEE1}" srcOrd="1" destOrd="0" presId="urn:microsoft.com/office/officeart/2005/8/layout/orgChart1"/>
    <dgm:cxn modelId="{F94F7EC4-09B3-4739-BB2C-5A7186D154F5}" type="presParOf" srcId="{63DFB29C-C567-497E-989D-32AC07E9EEE1}" destId="{4A31A6FA-674B-4BAF-B946-89DCBE17559C}" srcOrd="0" destOrd="0" presId="urn:microsoft.com/office/officeart/2005/8/layout/orgChart1"/>
    <dgm:cxn modelId="{DF01201B-1043-4112-B2DD-62738419C2E7}" type="presParOf" srcId="{4A31A6FA-674B-4BAF-B946-89DCBE17559C}" destId="{02CFE435-91B0-47C0-90A6-EF4EE82A5D96}" srcOrd="0" destOrd="0" presId="urn:microsoft.com/office/officeart/2005/8/layout/orgChart1"/>
    <dgm:cxn modelId="{5A7280CF-C6A5-4EB1-8DCE-52909A659C59}" type="presParOf" srcId="{4A31A6FA-674B-4BAF-B946-89DCBE17559C}" destId="{E3749E45-50D3-4EA7-8A31-5ED4E865810B}" srcOrd="1" destOrd="0" presId="urn:microsoft.com/office/officeart/2005/8/layout/orgChart1"/>
    <dgm:cxn modelId="{152E41EF-198E-41AE-81C6-FCC6F8E768C7}" type="presParOf" srcId="{63DFB29C-C567-497E-989D-32AC07E9EEE1}" destId="{94BF21E0-FAC7-4A13-97D3-00AC0338EE45}" srcOrd="1" destOrd="0" presId="urn:microsoft.com/office/officeart/2005/8/layout/orgChart1"/>
    <dgm:cxn modelId="{2AF6EC58-501C-4F2A-8054-39AD6FCDA2BD}" type="presParOf" srcId="{63DFB29C-C567-497E-989D-32AC07E9EEE1}" destId="{AB6FCB90-CD89-4CFC-BB54-940C20260D1F}" srcOrd="2" destOrd="0" presId="urn:microsoft.com/office/officeart/2005/8/layout/orgChart1"/>
    <dgm:cxn modelId="{4AF3E9B6-BF0C-4EDC-86A7-FAE73789DEC0}" type="presParOf" srcId="{B85A663A-DA4D-4E08-9A3F-789E9F110BE7}" destId="{8D8B25D3-E33E-488C-90FF-503277CF6007}" srcOrd="2" destOrd="0" presId="urn:microsoft.com/office/officeart/2005/8/layout/orgChart1"/>
    <dgm:cxn modelId="{D184144A-07B7-466B-98F9-41E7F810C4B2}" type="presParOf" srcId="{B85A663A-DA4D-4E08-9A3F-789E9F110BE7}" destId="{C1855074-4520-4693-BDB6-697864BCEC64}" srcOrd="3" destOrd="0" presId="urn:microsoft.com/office/officeart/2005/8/layout/orgChart1"/>
    <dgm:cxn modelId="{EE65C1FD-6608-4270-97B9-8EEF448FC12B}" type="presParOf" srcId="{C1855074-4520-4693-BDB6-697864BCEC64}" destId="{6990334D-9CFE-46B5-AE25-369D452D2F5C}" srcOrd="0" destOrd="0" presId="urn:microsoft.com/office/officeart/2005/8/layout/orgChart1"/>
    <dgm:cxn modelId="{78E55810-27FE-451A-829A-44CFF3E013D7}" type="presParOf" srcId="{6990334D-9CFE-46B5-AE25-369D452D2F5C}" destId="{BD4416D6-F87D-4B7E-AFF3-24AD0617F58E}" srcOrd="0" destOrd="0" presId="urn:microsoft.com/office/officeart/2005/8/layout/orgChart1"/>
    <dgm:cxn modelId="{FE250DC7-7D97-4491-BABA-848BFBA98D52}" type="presParOf" srcId="{6990334D-9CFE-46B5-AE25-369D452D2F5C}" destId="{C5810959-1E96-4A30-8EA8-8B02208E4AE8}" srcOrd="1" destOrd="0" presId="urn:microsoft.com/office/officeart/2005/8/layout/orgChart1"/>
    <dgm:cxn modelId="{92BBF0A3-890B-4D18-8A1F-D84EA6A141F5}" type="presParOf" srcId="{C1855074-4520-4693-BDB6-697864BCEC64}" destId="{FDBD8C4D-8A83-4F53-BC4E-35D339339E04}" srcOrd="1" destOrd="0" presId="urn:microsoft.com/office/officeart/2005/8/layout/orgChart1"/>
    <dgm:cxn modelId="{53082C66-5C61-4928-AF56-61EC9C8E5442}" type="presParOf" srcId="{C1855074-4520-4693-BDB6-697864BCEC64}" destId="{A5913666-F306-4B0F-AB5D-53222C54C990}" srcOrd="2" destOrd="0" presId="urn:microsoft.com/office/officeart/2005/8/layout/orgChart1"/>
    <dgm:cxn modelId="{BCF5EDA5-F4D6-4B05-9E00-4FC11CF61752}" type="presParOf" srcId="{B85A663A-DA4D-4E08-9A3F-789E9F110BE7}" destId="{C95A5972-529D-401E-B71E-783BC0DCDFFD}" srcOrd="4" destOrd="0" presId="urn:microsoft.com/office/officeart/2005/8/layout/orgChart1"/>
    <dgm:cxn modelId="{21A0E97E-A66D-4AE6-B669-5C506C650119}" type="presParOf" srcId="{B85A663A-DA4D-4E08-9A3F-789E9F110BE7}" destId="{1C528F07-E8CC-4CD4-B774-8139E64FEEB8}" srcOrd="5" destOrd="0" presId="urn:microsoft.com/office/officeart/2005/8/layout/orgChart1"/>
    <dgm:cxn modelId="{93F98FE7-6D10-4A56-9522-5D918CEDA40E}" type="presParOf" srcId="{1C528F07-E8CC-4CD4-B774-8139E64FEEB8}" destId="{BB453996-B7B8-40A7-B42D-5043967AAEE8}" srcOrd="0" destOrd="0" presId="urn:microsoft.com/office/officeart/2005/8/layout/orgChart1"/>
    <dgm:cxn modelId="{13867B7A-9D84-4BA5-8397-40D1C23F0A36}" type="presParOf" srcId="{BB453996-B7B8-40A7-B42D-5043967AAEE8}" destId="{2B0F408D-15A9-4152-9891-F77C5B2FB2BE}" srcOrd="0" destOrd="0" presId="urn:microsoft.com/office/officeart/2005/8/layout/orgChart1"/>
    <dgm:cxn modelId="{8C99BF54-DA17-4117-A7E9-8A73367A56A6}" type="presParOf" srcId="{BB453996-B7B8-40A7-B42D-5043967AAEE8}" destId="{BE1E6660-8547-4CC6-9728-AA5340218BEF}" srcOrd="1" destOrd="0" presId="urn:microsoft.com/office/officeart/2005/8/layout/orgChart1"/>
    <dgm:cxn modelId="{45C1B201-0980-466C-ADA9-A98BCA64C96F}" type="presParOf" srcId="{1C528F07-E8CC-4CD4-B774-8139E64FEEB8}" destId="{C80A5D02-55D9-42BE-9959-95040BD753C2}" srcOrd="1" destOrd="0" presId="urn:microsoft.com/office/officeart/2005/8/layout/orgChart1"/>
    <dgm:cxn modelId="{DA4BAF9E-00EE-436E-A18A-181F4232FE90}" type="presParOf" srcId="{1C528F07-E8CC-4CD4-B774-8139E64FEEB8}" destId="{9701142D-A7E4-4A4A-9A5E-CF0EB0CB45F7}" srcOrd="2" destOrd="0" presId="urn:microsoft.com/office/officeart/2005/8/layout/orgChart1"/>
    <dgm:cxn modelId="{0812C90A-A637-4034-9DA0-EF49AB049E5C}" type="presParOf" srcId="{B85A663A-DA4D-4E08-9A3F-789E9F110BE7}" destId="{15137A42-FC9F-4290-813B-E22A1811A05E}" srcOrd="6" destOrd="0" presId="urn:microsoft.com/office/officeart/2005/8/layout/orgChart1"/>
    <dgm:cxn modelId="{DAC78FBF-B27B-458E-A754-ABEC8E915C8C}" type="presParOf" srcId="{B85A663A-DA4D-4E08-9A3F-789E9F110BE7}" destId="{D26B506E-004D-4BF8-AA7D-022E9E7C6E3A}" srcOrd="7" destOrd="0" presId="urn:microsoft.com/office/officeart/2005/8/layout/orgChart1"/>
    <dgm:cxn modelId="{B65F567E-8ED9-4BBB-8509-283B2786CBDA}" type="presParOf" srcId="{D26B506E-004D-4BF8-AA7D-022E9E7C6E3A}" destId="{DA5CEEC4-4E8E-4B39-BE17-011A7363A523}" srcOrd="0" destOrd="0" presId="urn:microsoft.com/office/officeart/2005/8/layout/orgChart1"/>
    <dgm:cxn modelId="{E863E624-2B25-4394-B314-F1D137C976AC}" type="presParOf" srcId="{DA5CEEC4-4E8E-4B39-BE17-011A7363A523}" destId="{7C93BD33-6FCD-4F89-BD3C-D14C716CBEE6}" srcOrd="0" destOrd="0" presId="urn:microsoft.com/office/officeart/2005/8/layout/orgChart1"/>
    <dgm:cxn modelId="{E4B6A927-1615-4DDE-9140-C0121D3E7AA9}" type="presParOf" srcId="{DA5CEEC4-4E8E-4B39-BE17-011A7363A523}" destId="{D54D84E8-AB89-4D6E-953D-31B53E4EFB1B}" srcOrd="1" destOrd="0" presId="urn:microsoft.com/office/officeart/2005/8/layout/orgChart1"/>
    <dgm:cxn modelId="{E89BFC56-182C-4911-8E96-0E686FF905FA}" type="presParOf" srcId="{D26B506E-004D-4BF8-AA7D-022E9E7C6E3A}" destId="{32B39A25-9F42-4E86-B7A6-C660F4AFCA66}" srcOrd="1" destOrd="0" presId="urn:microsoft.com/office/officeart/2005/8/layout/orgChart1"/>
    <dgm:cxn modelId="{F22FF5C3-06BA-4590-B4A6-84B4E24940D7}" type="presParOf" srcId="{D26B506E-004D-4BF8-AA7D-022E9E7C6E3A}" destId="{DBA66BCC-2E95-4D23-B29D-D0C36D00A2CC}" srcOrd="2" destOrd="0" presId="urn:microsoft.com/office/officeart/2005/8/layout/orgChart1"/>
    <dgm:cxn modelId="{3E49C6BA-BD48-4C68-B8D3-28505A1E3A93}" type="presParOf" srcId="{ADFCDB08-C2CF-4797-8A61-F332E141A72D}" destId="{D4F8FAAD-FA2F-4E21-99F7-D312F3324647}" srcOrd="2" destOrd="0" presId="urn:microsoft.com/office/officeart/2005/8/layout/orgChart1"/>
    <dgm:cxn modelId="{34605B51-2A12-44A5-85AC-7CA351E33E5B}" type="presParOf" srcId="{7835AAF4-AC9E-46FF-A986-8EF2604FB21A}" destId="{774BFDD7-2B94-4CC1-91B7-97AA36782C24}" srcOrd="2" destOrd="0" presId="urn:microsoft.com/office/officeart/2005/8/layout/orgChart1"/>
    <dgm:cxn modelId="{E64853C8-303F-4673-B81F-030B8C0CEA61}" type="presParOf" srcId="{7835AAF4-AC9E-46FF-A986-8EF2604FB21A}" destId="{D2BDF1EC-FCFD-4677-955E-DE0110E9EC61}" srcOrd="3" destOrd="0" presId="urn:microsoft.com/office/officeart/2005/8/layout/orgChart1"/>
    <dgm:cxn modelId="{7FEBE1D5-A78D-47CA-8D02-39CC9830B036}" type="presParOf" srcId="{D2BDF1EC-FCFD-4677-955E-DE0110E9EC61}" destId="{E27DC034-E6E8-4DBA-A41C-E675FD2FEC1D}" srcOrd="0" destOrd="0" presId="urn:microsoft.com/office/officeart/2005/8/layout/orgChart1"/>
    <dgm:cxn modelId="{751EE184-6333-482E-ACB7-53F396979D0F}" type="presParOf" srcId="{E27DC034-E6E8-4DBA-A41C-E675FD2FEC1D}" destId="{8374616A-E096-47BC-86CB-06132D685D78}" srcOrd="0" destOrd="0" presId="urn:microsoft.com/office/officeart/2005/8/layout/orgChart1"/>
    <dgm:cxn modelId="{E03AB671-B631-4ADE-AE4F-A5297D48C9DE}" type="presParOf" srcId="{E27DC034-E6E8-4DBA-A41C-E675FD2FEC1D}" destId="{E14F8E8E-3201-43DC-8029-0DE73979DC31}" srcOrd="1" destOrd="0" presId="urn:microsoft.com/office/officeart/2005/8/layout/orgChart1"/>
    <dgm:cxn modelId="{C0402C1A-AC97-456B-85FD-937A44ABECF6}" type="presParOf" srcId="{D2BDF1EC-FCFD-4677-955E-DE0110E9EC61}" destId="{7136ED85-5436-4FEB-B31F-8680D0C8016F}" srcOrd="1" destOrd="0" presId="urn:microsoft.com/office/officeart/2005/8/layout/orgChart1"/>
    <dgm:cxn modelId="{35AE3654-CF9E-464A-AC8F-D74C19017ABB}" type="presParOf" srcId="{D2BDF1EC-FCFD-4677-955E-DE0110E9EC61}" destId="{94CB0990-47F2-47B9-8C5A-7789C4274B55}" srcOrd="2" destOrd="0" presId="urn:microsoft.com/office/officeart/2005/8/layout/orgChart1"/>
    <dgm:cxn modelId="{13BE2395-608A-4F6A-B57C-7E1ECB91B59C}" type="presParOf" srcId="{32A73C19-AF9E-41BB-B3D6-F5CF95DE38D6}" destId="{296200BB-0358-4E88-95E3-3DF4A1604B22}" srcOrd="2" destOrd="0" presId="urn:microsoft.com/office/officeart/2005/8/layout/orgChart1"/>
    <dgm:cxn modelId="{9C37748D-E2D0-4ED2-B6A3-A167AACBCF1E}" type="presParOf" srcId="{0225B303-F876-47C1-B403-1DE9071097F6}" destId="{D5FBACFD-299E-44A0-8FF8-33C0D35AC07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19621D-2FDA-48BE-9115-F21C8D515F4D}" type="datetimeFigureOut">
              <a:rPr lang="en-US" smtClean="0"/>
              <a:t>1/8/2020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81812B-040E-4667-A781-EB402DC4913C}" type="slidenum">
              <a:rPr lang="en-US" smtClean="0"/>
              <a:t>‹#›</a:t>
            </a:fld>
            <a:endParaRPr lang="en-US"/>
          </a:p>
        </p:txBody>
      </p:sp>
    </p:spTree>
    <p:extLst>
      <p:ext uri="{BB962C8B-B14F-4D97-AF65-F5344CB8AC3E}">
        <p14:creationId xmlns:p14="http://schemas.microsoft.com/office/powerpoint/2010/main" val="3355174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a:extLst>
              <a:ext uri="{FF2B5EF4-FFF2-40B4-BE49-F238E27FC236}">
                <a16:creationId xmlns="" xmlns:a16="http://schemas.microsoft.com/office/drawing/2014/main" id="{EB823462-ECDC-4A9D-BCC7-04AFF7657B8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B738C97A-B11D-4122-8373-F0F445D07B00}" type="slidenum">
              <a:rPr lang="en-US" altLang="en-US" sz="1200">
                <a:solidFill>
                  <a:schemeClr val="tx1"/>
                </a:solidFill>
              </a:rPr>
              <a:pPr/>
              <a:t>19</a:t>
            </a:fld>
            <a:endParaRPr lang="en-US" altLang="en-US" sz="1200">
              <a:solidFill>
                <a:schemeClr val="tx1"/>
              </a:solidFill>
            </a:endParaRPr>
          </a:p>
        </p:txBody>
      </p:sp>
      <p:sp>
        <p:nvSpPr>
          <p:cNvPr id="315395" name="Rectangle 2">
            <a:extLst>
              <a:ext uri="{FF2B5EF4-FFF2-40B4-BE49-F238E27FC236}">
                <a16:creationId xmlns="" xmlns:a16="http://schemas.microsoft.com/office/drawing/2014/main" id="{86BBE462-ED98-4630-A669-017838AA89B2}"/>
              </a:ext>
            </a:extLst>
          </p:cNvPr>
          <p:cNvSpPr>
            <a:spLocks noGrp="1" noRot="1" noChangeAspect="1" noChangeArrowheads="1" noTextEdit="1"/>
          </p:cNvSpPr>
          <p:nvPr>
            <p:ph type="sldImg"/>
          </p:nvPr>
        </p:nvSpPr>
        <p:spPr>
          <a:xfrm>
            <a:off x="376238" y="687388"/>
            <a:ext cx="6107112" cy="3435350"/>
          </a:xfrm>
          <a:ln w="12700" cap="flat">
            <a:solidFill>
              <a:schemeClr val="tx1"/>
            </a:solidFill>
          </a:ln>
        </p:spPr>
      </p:sp>
      <p:sp>
        <p:nvSpPr>
          <p:cNvPr id="315396" name="Rectangle 3">
            <a:extLst>
              <a:ext uri="{FF2B5EF4-FFF2-40B4-BE49-F238E27FC236}">
                <a16:creationId xmlns="" xmlns:a16="http://schemas.microsoft.com/office/drawing/2014/main" id="{37686AB9-B43A-4C0C-A442-51FB3A081FB8}"/>
              </a:ext>
            </a:extLst>
          </p:cNvPr>
          <p:cNvSpPr>
            <a:spLocks noGrp="1" noChangeArrowheads="1"/>
          </p:cNvSpPr>
          <p:nvPr>
            <p:ph type="body" idx="1"/>
          </p:nvPr>
        </p:nvSpPr>
        <p:spPr>
          <a:xfrm>
            <a:off x="914400" y="4349750"/>
            <a:ext cx="5029200" cy="411321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0" tIns="63500" rIns="127000" bIns="63500"/>
          <a:lstStyle/>
          <a:p>
            <a:pPr defTabSz="1914525" eaLnBrk="1" hangingPunct="1"/>
            <a:endParaRPr lang="en-US" altLang="en-US"/>
          </a:p>
        </p:txBody>
      </p:sp>
    </p:spTree>
    <p:extLst>
      <p:ext uri="{BB962C8B-B14F-4D97-AF65-F5344CB8AC3E}">
        <p14:creationId xmlns:p14="http://schemas.microsoft.com/office/powerpoint/2010/main" val="2489424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a:extLst>
              <a:ext uri="{FF2B5EF4-FFF2-40B4-BE49-F238E27FC236}">
                <a16:creationId xmlns="" xmlns:a16="http://schemas.microsoft.com/office/drawing/2014/main" id="{70AE7D89-FF2B-44C9-84A4-D5758E39933F}"/>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F88F28CE-BBE1-40FA-ABE1-EDEF91B793B0}" type="slidenum">
              <a:rPr lang="en-US" altLang="en-US" sz="1200">
                <a:solidFill>
                  <a:schemeClr val="tx1"/>
                </a:solidFill>
              </a:rPr>
              <a:pPr/>
              <a:t>25</a:t>
            </a:fld>
            <a:endParaRPr lang="en-US" altLang="en-US" sz="1200">
              <a:solidFill>
                <a:schemeClr val="tx1"/>
              </a:solidFill>
            </a:endParaRPr>
          </a:p>
        </p:txBody>
      </p:sp>
      <p:sp>
        <p:nvSpPr>
          <p:cNvPr id="316419" name="Rectangle 2">
            <a:extLst>
              <a:ext uri="{FF2B5EF4-FFF2-40B4-BE49-F238E27FC236}">
                <a16:creationId xmlns="" xmlns:a16="http://schemas.microsoft.com/office/drawing/2014/main" id="{EFA70442-89A3-438B-9C8D-5FD6608B6995}"/>
              </a:ext>
            </a:extLst>
          </p:cNvPr>
          <p:cNvSpPr>
            <a:spLocks noGrp="1" noRot="1" noChangeAspect="1" noChangeArrowheads="1" noTextEdit="1"/>
          </p:cNvSpPr>
          <p:nvPr>
            <p:ph type="sldImg"/>
          </p:nvPr>
        </p:nvSpPr>
        <p:spPr>
          <a:xfrm>
            <a:off x="376238" y="687388"/>
            <a:ext cx="6107112" cy="3435350"/>
          </a:xfrm>
          <a:ln w="12700" cap="flat">
            <a:solidFill>
              <a:schemeClr val="tx1"/>
            </a:solidFill>
          </a:ln>
        </p:spPr>
      </p:sp>
      <p:sp>
        <p:nvSpPr>
          <p:cNvPr id="316420" name="Rectangle 3">
            <a:extLst>
              <a:ext uri="{FF2B5EF4-FFF2-40B4-BE49-F238E27FC236}">
                <a16:creationId xmlns="" xmlns:a16="http://schemas.microsoft.com/office/drawing/2014/main" id="{39848E27-EB53-4E29-9EC7-87B19FBF234D}"/>
              </a:ext>
            </a:extLst>
          </p:cNvPr>
          <p:cNvSpPr>
            <a:spLocks noGrp="1" noChangeArrowheads="1"/>
          </p:cNvSpPr>
          <p:nvPr>
            <p:ph type="body" idx="1"/>
          </p:nvPr>
        </p:nvSpPr>
        <p:spPr>
          <a:xfrm>
            <a:off x="914400" y="4349750"/>
            <a:ext cx="5029200" cy="41148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0" tIns="63500" rIns="127000" bIns="63500"/>
          <a:lstStyle/>
          <a:p>
            <a:pPr defTabSz="1914525" eaLnBrk="1" hangingPunct="1"/>
            <a:endParaRPr lang="en-US" altLang="en-US"/>
          </a:p>
        </p:txBody>
      </p:sp>
    </p:spTree>
    <p:extLst>
      <p:ext uri="{BB962C8B-B14F-4D97-AF65-F5344CB8AC3E}">
        <p14:creationId xmlns:p14="http://schemas.microsoft.com/office/powerpoint/2010/main" val="1224216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2CC9AC9-8A9A-4C5E-A856-B3F557C86C84}" type="datetime1">
              <a:rPr lang="en-US" smtClean="0"/>
              <a:t>1/8/2020</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B3A56E86-3D7C-4541-92E7-267EC584995E}"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4230234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BFBA592-FF0C-4EA8-94DF-3CB096FA9151}" type="datetime1">
              <a:rPr lang="en-US" smtClean="0"/>
              <a:t>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A56E86-3D7C-4541-92E7-267EC584995E}" type="slidenum">
              <a:rPr lang="en-US" smtClean="0"/>
              <a:t>‹#›</a:t>
            </a:fld>
            <a:endParaRPr lang="en-US"/>
          </a:p>
        </p:txBody>
      </p:sp>
    </p:spTree>
    <p:extLst>
      <p:ext uri="{BB962C8B-B14F-4D97-AF65-F5344CB8AC3E}">
        <p14:creationId xmlns:p14="http://schemas.microsoft.com/office/powerpoint/2010/main" val="3333136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2D75AC8-07B9-4308-91F1-9ADDA3227A2F}" type="datetime1">
              <a:rPr lang="en-US" smtClean="0"/>
              <a:t>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A56E86-3D7C-4541-92E7-267EC584995E}"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38497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B7B1FB7-C50F-426C-BBBB-0653668E27F2}" type="datetime1">
              <a:rPr lang="en-US" smtClean="0"/>
              <a:t>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A56E86-3D7C-4541-92E7-267EC584995E}" type="slidenum">
              <a:rPr lang="en-US" smtClean="0"/>
              <a:t>‹#›</a:t>
            </a:fld>
            <a:endParaRPr lang="en-US"/>
          </a:p>
        </p:txBody>
      </p:sp>
    </p:spTree>
    <p:extLst>
      <p:ext uri="{BB962C8B-B14F-4D97-AF65-F5344CB8AC3E}">
        <p14:creationId xmlns:p14="http://schemas.microsoft.com/office/powerpoint/2010/main" val="2340424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28240E5-BD8D-4B06-9BED-2E8C04440CAD}" type="datetime1">
              <a:rPr lang="en-US" smtClean="0"/>
              <a:t>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A56E86-3D7C-4541-92E7-267EC584995E}" type="slidenum">
              <a:rPr lang="en-US" smtClean="0"/>
              <a:t>‹#›</a:t>
            </a:fld>
            <a:endParaRPr lang="en-US"/>
          </a:p>
        </p:txBody>
      </p:sp>
    </p:spTree>
    <p:extLst>
      <p:ext uri="{BB962C8B-B14F-4D97-AF65-F5344CB8AC3E}">
        <p14:creationId xmlns:p14="http://schemas.microsoft.com/office/powerpoint/2010/main" val="1387367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B8373B2-8F65-4A92-B37C-9DBB7E02A7FA}" type="datetime1">
              <a:rPr lang="en-US" smtClean="0"/>
              <a:t>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A56E86-3D7C-4541-92E7-267EC584995E}" type="slidenum">
              <a:rPr lang="en-US" smtClean="0"/>
              <a:t>‹#›</a:t>
            </a:fld>
            <a:endParaRPr lang="en-US"/>
          </a:p>
        </p:txBody>
      </p:sp>
    </p:spTree>
    <p:extLst>
      <p:ext uri="{BB962C8B-B14F-4D97-AF65-F5344CB8AC3E}">
        <p14:creationId xmlns:p14="http://schemas.microsoft.com/office/powerpoint/2010/main" val="2666133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42EDA5-B0A9-4292-A1F5-92E2EF1A5EC8}" type="datetime1">
              <a:rPr lang="en-US" smtClean="0"/>
              <a:t>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A56E86-3D7C-4541-92E7-267EC584995E}" type="slidenum">
              <a:rPr lang="en-US" smtClean="0"/>
              <a:t>‹#›</a:t>
            </a:fld>
            <a:endParaRPr lang="en-US"/>
          </a:p>
        </p:txBody>
      </p:sp>
    </p:spTree>
    <p:extLst>
      <p:ext uri="{BB962C8B-B14F-4D97-AF65-F5344CB8AC3E}">
        <p14:creationId xmlns:p14="http://schemas.microsoft.com/office/powerpoint/2010/main" val="1402655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943957-6F25-4D05-8ECF-33C493935BF3}" type="datetime1">
              <a:rPr lang="en-US" smtClean="0"/>
              <a:t>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A56E86-3D7C-4541-92E7-267EC584995E}" type="slidenum">
              <a:rPr lang="en-US" smtClean="0"/>
              <a:t>‹#›</a:t>
            </a:fld>
            <a:endParaRPr lang="en-US"/>
          </a:p>
        </p:txBody>
      </p:sp>
    </p:spTree>
    <p:extLst>
      <p:ext uri="{BB962C8B-B14F-4D97-AF65-F5344CB8AC3E}">
        <p14:creationId xmlns:p14="http://schemas.microsoft.com/office/powerpoint/2010/main" val="3298020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7A4A4E1-82A5-4981-B97A-EFC07A2396E5}" type="datetime1">
              <a:rPr lang="en-US" smtClean="0"/>
              <a:t>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A56E86-3D7C-4541-92E7-267EC584995E}" type="slidenum">
              <a:rPr lang="en-US" smtClean="0"/>
              <a:t>‹#›</a:t>
            </a:fld>
            <a:endParaRPr lang="en-US"/>
          </a:p>
        </p:txBody>
      </p:sp>
    </p:spTree>
    <p:extLst>
      <p:ext uri="{BB962C8B-B14F-4D97-AF65-F5344CB8AC3E}">
        <p14:creationId xmlns:p14="http://schemas.microsoft.com/office/powerpoint/2010/main" val="3875904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B8FE934-3A9E-417E-855F-8F22224E0F5E}" type="datetime1">
              <a:rPr lang="en-US" smtClean="0"/>
              <a:t>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A56E86-3D7C-4541-92E7-267EC584995E}" type="slidenum">
              <a:rPr lang="en-US" smtClean="0"/>
              <a:t>‹#›</a:t>
            </a:fld>
            <a:endParaRPr lang="en-US"/>
          </a:p>
        </p:txBody>
      </p:sp>
    </p:spTree>
    <p:extLst>
      <p:ext uri="{BB962C8B-B14F-4D97-AF65-F5344CB8AC3E}">
        <p14:creationId xmlns:p14="http://schemas.microsoft.com/office/powerpoint/2010/main" val="2780979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BB75119-FAB7-40F5-81CD-4FC069CF5A1B}" type="datetime1">
              <a:rPr lang="en-US" smtClean="0"/>
              <a:t>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A56E86-3D7C-4541-92E7-267EC584995E}" type="slidenum">
              <a:rPr lang="en-US" smtClean="0"/>
              <a:t>‹#›</a:t>
            </a:fld>
            <a:endParaRPr lang="en-US"/>
          </a:p>
        </p:txBody>
      </p:sp>
    </p:spTree>
    <p:extLst>
      <p:ext uri="{BB962C8B-B14F-4D97-AF65-F5344CB8AC3E}">
        <p14:creationId xmlns:p14="http://schemas.microsoft.com/office/powerpoint/2010/main" val="874916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E6364CB-ED5C-404E-9325-91EFDA0687CE}"/>
              </a:ext>
            </a:extLst>
          </p:cNvPr>
          <p:cNvSpPr>
            <a:spLocks noGrp="1"/>
          </p:cNvSpPr>
          <p:nvPr>
            <p:ph type="title"/>
          </p:nvPr>
        </p:nvSpPr>
        <p:spPr>
          <a:xfrm>
            <a:off x="541867" y="228600"/>
            <a:ext cx="10363200" cy="1066800"/>
          </a:xfrm>
        </p:spPr>
        <p:txBody>
          <a:bodyPr/>
          <a:lstStyle/>
          <a:p>
            <a:r>
              <a:rPr lang="en-US"/>
              <a:t>Click to edit Master title style</a:t>
            </a:r>
          </a:p>
        </p:txBody>
      </p:sp>
      <p:sp>
        <p:nvSpPr>
          <p:cNvPr id="3" name="Online Image Placeholder 2">
            <a:extLst>
              <a:ext uri="{FF2B5EF4-FFF2-40B4-BE49-F238E27FC236}">
                <a16:creationId xmlns="" xmlns:a16="http://schemas.microsoft.com/office/drawing/2014/main" id="{08AEF499-2F94-4971-97DF-CE56A7DAE09C}"/>
              </a:ext>
            </a:extLst>
          </p:cNvPr>
          <p:cNvSpPr>
            <a:spLocks noGrp="1"/>
          </p:cNvSpPr>
          <p:nvPr>
            <p:ph type="clipArt" sz="half" idx="1"/>
          </p:nvPr>
        </p:nvSpPr>
        <p:spPr>
          <a:xfrm>
            <a:off x="609600" y="1676400"/>
            <a:ext cx="5350933" cy="4419600"/>
          </a:xfrm>
        </p:spPr>
        <p:txBody>
          <a:bodyPr/>
          <a:lstStyle/>
          <a:p>
            <a:endParaRPr lang="en-US"/>
          </a:p>
        </p:txBody>
      </p:sp>
      <p:sp>
        <p:nvSpPr>
          <p:cNvPr id="4" name="Text Placeholder 3">
            <a:extLst>
              <a:ext uri="{FF2B5EF4-FFF2-40B4-BE49-F238E27FC236}">
                <a16:creationId xmlns="" xmlns:a16="http://schemas.microsoft.com/office/drawing/2014/main" id="{D0AEC53D-03DA-4ED8-9E03-94BF298E031A}"/>
              </a:ext>
            </a:extLst>
          </p:cNvPr>
          <p:cNvSpPr>
            <a:spLocks noGrp="1"/>
          </p:cNvSpPr>
          <p:nvPr>
            <p:ph type="body" sz="half" idx="2"/>
          </p:nvPr>
        </p:nvSpPr>
        <p:spPr>
          <a:xfrm>
            <a:off x="6163734" y="1676400"/>
            <a:ext cx="5350933"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 xmlns:a16="http://schemas.microsoft.com/office/drawing/2014/main" id="{B3D4A54A-5943-41EC-A85E-68852FB133A2}"/>
              </a:ext>
            </a:extLst>
          </p:cNvPr>
          <p:cNvSpPr>
            <a:spLocks noGrp="1"/>
          </p:cNvSpPr>
          <p:nvPr>
            <p:ph type="ftr" sz="quarter" idx="10"/>
          </p:nvPr>
        </p:nvSpPr>
        <p:spPr>
          <a:xfrm>
            <a:off x="4165600" y="6229350"/>
            <a:ext cx="3860800" cy="457200"/>
          </a:xfrm>
        </p:spPr>
        <p:txBody>
          <a:bodyPr/>
          <a:lstStyle>
            <a:lvl1pPr>
              <a:defRPr/>
            </a:lvl1pPr>
          </a:lstStyle>
          <a:p>
            <a:endParaRPr lang="en-US" altLang="en-US"/>
          </a:p>
        </p:txBody>
      </p:sp>
      <p:sp>
        <p:nvSpPr>
          <p:cNvPr id="6" name="Slide Number Placeholder 5">
            <a:extLst>
              <a:ext uri="{FF2B5EF4-FFF2-40B4-BE49-F238E27FC236}">
                <a16:creationId xmlns="" xmlns:a16="http://schemas.microsoft.com/office/drawing/2014/main" id="{C427896F-21BF-44CD-8584-6CF552799BE8}"/>
              </a:ext>
            </a:extLst>
          </p:cNvPr>
          <p:cNvSpPr>
            <a:spLocks noGrp="1"/>
          </p:cNvSpPr>
          <p:nvPr>
            <p:ph type="sldNum" sz="quarter" idx="11"/>
          </p:nvPr>
        </p:nvSpPr>
        <p:spPr>
          <a:xfrm>
            <a:off x="8974667" y="6229350"/>
            <a:ext cx="2540000" cy="457200"/>
          </a:xfrm>
        </p:spPr>
        <p:txBody>
          <a:bodyPr/>
          <a:lstStyle>
            <a:lvl1pPr>
              <a:defRPr/>
            </a:lvl1pPr>
          </a:lstStyle>
          <a:p>
            <a:fld id="{073E98CE-4144-4A57-8EE9-449E6E5ECBAC}" type="slidenum">
              <a:rPr lang="en-US" altLang="en-US"/>
              <a:pPr/>
              <a:t>‹#›</a:t>
            </a:fld>
            <a:endParaRPr lang="en-US" altLang="en-US"/>
          </a:p>
        </p:txBody>
      </p:sp>
    </p:spTree>
    <p:extLst>
      <p:ext uri="{BB962C8B-B14F-4D97-AF65-F5344CB8AC3E}">
        <p14:creationId xmlns:p14="http://schemas.microsoft.com/office/powerpoint/2010/main" val="2956472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51A01A-15E1-49B0-B70C-E913474F2791}"/>
              </a:ext>
            </a:extLst>
          </p:cNvPr>
          <p:cNvSpPr>
            <a:spLocks noGrp="1"/>
          </p:cNvSpPr>
          <p:nvPr>
            <p:ph type="title"/>
          </p:nvPr>
        </p:nvSpPr>
        <p:spPr>
          <a:xfrm>
            <a:off x="541867" y="228600"/>
            <a:ext cx="10363200" cy="1066800"/>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CB1D4167-1AEA-47F6-A676-9AD3266E1471}"/>
              </a:ext>
            </a:extLst>
          </p:cNvPr>
          <p:cNvSpPr>
            <a:spLocks noGrp="1"/>
          </p:cNvSpPr>
          <p:nvPr>
            <p:ph type="body" sz="half" idx="1"/>
          </p:nvPr>
        </p:nvSpPr>
        <p:spPr>
          <a:xfrm>
            <a:off x="609600" y="1676400"/>
            <a:ext cx="5350933"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Online Image Placeholder 3">
            <a:extLst>
              <a:ext uri="{FF2B5EF4-FFF2-40B4-BE49-F238E27FC236}">
                <a16:creationId xmlns="" xmlns:a16="http://schemas.microsoft.com/office/drawing/2014/main" id="{1EE15ADA-D671-44CF-A231-EE631B8C0A5E}"/>
              </a:ext>
            </a:extLst>
          </p:cNvPr>
          <p:cNvSpPr>
            <a:spLocks noGrp="1"/>
          </p:cNvSpPr>
          <p:nvPr>
            <p:ph type="clipArt" sz="half" idx="2"/>
          </p:nvPr>
        </p:nvSpPr>
        <p:spPr>
          <a:xfrm>
            <a:off x="6163734" y="1676400"/>
            <a:ext cx="5350933" cy="4419600"/>
          </a:xfrm>
        </p:spPr>
        <p:txBody>
          <a:bodyPr/>
          <a:lstStyle/>
          <a:p>
            <a:endParaRPr lang="en-US"/>
          </a:p>
        </p:txBody>
      </p:sp>
      <p:sp>
        <p:nvSpPr>
          <p:cNvPr id="5" name="Footer Placeholder 4">
            <a:extLst>
              <a:ext uri="{FF2B5EF4-FFF2-40B4-BE49-F238E27FC236}">
                <a16:creationId xmlns="" xmlns:a16="http://schemas.microsoft.com/office/drawing/2014/main" id="{DCF7B5A8-D9B7-487B-945D-582BF30FFD1F}"/>
              </a:ext>
            </a:extLst>
          </p:cNvPr>
          <p:cNvSpPr>
            <a:spLocks noGrp="1"/>
          </p:cNvSpPr>
          <p:nvPr>
            <p:ph type="ftr" sz="quarter" idx="10"/>
          </p:nvPr>
        </p:nvSpPr>
        <p:spPr>
          <a:xfrm>
            <a:off x="4165600" y="6229350"/>
            <a:ext cx="3860800" cy="457200"/>
          </a:xfrm>
        </p:spPr>
        <p:txBody>
          <a:bodyPr/>
          <a:lstStyle>
            <a:lvl1pPr>
              <a:defRPr/>
            </a:lvl1pPr>
          </a:lstStyle>
          <a:p>
            <a:endParaRPr lang="en-US" altLang="en-US"/>
          </a:p>
        </p:txBody>
      </p:sp>
      <p:sp>
        <p:nvSpPr>
          <p:cNvPr id="6" name="Slide Number Placeholder 5">
            <a:extLst>
              <a:ext uri="{FF2B5EF4-FFF2-40B4-BE49-F238E27FC236}">
                <a16:creationId xmlns="" xmlns:a16="http://schemas.microsoft.com/office/drawing/2014/main" id="{CE5AC9BF-531E-4333-8440-963443BBC30C}"/>
              </a:ext>
            </a:extLst>
          </p:cNvPr>
          <p:cNvSpPr>
            <a:spLocks noGrp="1"/>
          </p:cNvSpPr>
          <p:nvPr>
            <p:ph type="sldNum" sz="quarter" idx="11"/>
          </p:nvPr>
        </p:nvSpPr>
        <p:spPr>
          <a:xfrm>
            <a:off x="8974667" y="6229350"/>
            <a:ext cx="2540000" cy="457200"/>
          </a:xfrm>
        </p:spPr>
        <p:txBody>
          <a:bodyPr/>
          <a:lstStyle>
            <a:lvl1pPr>
              <a:defRPr/>
            </a:lvl1pPr>
          </a:lstStyle>
          <a:p>
            <a:fld id="{897CC4C0-4CE2-483D-8772-5D194AA408FB}" type="slidenum">
              <a:rPr lang="en-US" altLang="en-US"/>
              <a:pPr/>
              <a:t>‹#›</a:t>
            </a:fld>
            <a:endParaRPr lang="en-US" altLang="en-US"/>
          </a:p>
        </p:txBody>
      </p:sp>
    </p:spTree>
    <p:extLst>
      <p:ext uri="{BB962C8B-B14F-4D97-AF65-F5344CB8AC3E}">
        <p14:creationId xmlns:p14="http://schemas.microsoft.com/office/powerpoint/2010/main" val="26220878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p>
        </p:txBody>
      </p:sp>
      <p:sp>
        <p:nvSpPr>
          <p:cNvPr id="3" name="SmartArt Placeholder 2"/>
          <p:cNvSpPr>
            <a:spLocks noGrp="1"/>
          </p:cNvSpPr>
          <p:nvPr>
            <p:ph type="dgm" idx="1"/>
          </p:nvPr>
        </p:nvSpPr>
        <p:spPr>
          <a:xfrm>
            <a:off x="609600" y="1719263"/>
            <a:ext cx="10972800" cy="4411662"/>
          </a:xfrm>
        </p:spPr>
        <p:txBody>
          <a:bodyPr/>
          <a:lstStyle/>
          <a:p>
            <a:pPr lvl="0"/>
            <a:endParaRPr lang="en-US" noProof="0"/>
          </a:p>
        </p:txBody>
      </p:sp>
      <p:sp>
        <p:nvSpPr>
          <p:cNvPr id="4" name="Date Placeholder 3">
            <a:extLst>
              <a:ext uri="{FF2B5EF4-FFF2-40B4-BE49-F238E27FC236}">
                <a16:creationId xmlns="" xmlns:a16="http://schemas.microsoft.com/office/drawing/2014/main" id="{28FA2BF5-943C-4130-ABC9-D735D265A65C}"/>
              </a:ext>
            </a:extLst>
          </p:cNvPr>
          <p:cNvSpPr>
            <a:spLocks noGrp="1" noChangeArrowheads="1"/>
          </p:cNvSpPr>
          <p:nvPr>
            <p:ph type="dt" sz="half" idx="10"/>
          </p:nvPr>
        </p:nvSpPr>
        <p:spPr>
          <a:xfrm>
            <a:off x="609600" y="6248400"/>
            <a:ext cx="2844800" cy="457200"/>
          </a:xfrm>
          <a:prstGeom prst="rect">
            <a:avLst/>
          </a:prstGeom>
        </p:spPr>
        <p:txBody>
          <a:bodyPr/>
          <a:lstStyle>
            <a:lvl1pPr>
              <a:defRPr/>
            </a:lvl1pPr>
          </a:lstStyle>
          <a:p>
            <a:pPr>
              <a:defRPr/>
            </a:pPr>
            <a:fld id="{6D7554B2-B38D-4459-B411-449802F4E27A}" type="datetime1">
              <a:rPr lang="en-US" altLang="en-US" smtClean="0"/>
              <a:t>1/8/2020</a:t>
            </a:fld>
            <a:endParaRPr lang="en-US" altLang="en-US"/>
          </a:p>
        </p:txBody>
      </p:sp>
      <p:sp>
        <p:nvSpPr>
          <p:cNvPr id="5" name="Slide Number Placeholder 4">
            <a:extLst>
              <a:ext uri="{FF2B5EF4-FFF2-40B4-BE49-F238E27FC236}">
                <a16:creationId xmlns="" xmlns:a16="http://schemas.microsoft.com/office/drawing/2014/main" id="{8FE7A592-83D5-4C85-AAE0-9C6D85F20492}"/>
              </a:ext>
            </a:extLst>
          </p:cNvPr>
          <p:cNvSpPr>
            <a:spLocks noGrp="1" noChangeArrowheads="1"/>
          </p:cNvSpPr>
          <p:nvPr>
            <p:ph type="sldNum" sz="quarter" idx="11"/>
          </p:nvPr>
        </p:nvSpPr>
        <p:spPr/>
        <p:txBody>
          <a:bodyPr/>
          <a:lstStyle>
            <a:lvl1pPr>
              <a:defRPr/>
            </a:lvl1pPr>
          </a:lstStyle>
          <a:p>
            <a:fld id="{83A8ABAA-5784-4381-83DA-F58F9E894D09}" type="slidenum">
              <a:rPr lang="en-US" altLang="en-US"/>
              <a:pPr/>
              <a:t>‹#›</a:t>
            </a:fld>
            <a:endParaRPr lang="en-US" altLang="en-US"/>
          </a:p>
        </p:txBody>
      </p:sp>
    </p:spTree>
    <p:extLst>
      <p:ext uri="{BB962C8B-B14F-4D97-AF65-F5344CB8AC3E}">
        <p14:creationId xmlns:p14="http://schemas.microsoft.com/office/powerpoint/2010/main" val="2065240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7DAE5E1A-6FB5-4934-8467-73CC1B16DF79}" type="datetime1">
              <a:rPr lang="en-US" smtClean="0"/>
              <a:t>1/8/2020</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B3A56E86-3D7C-4541-92E7-267EC584995E}" type="slidenum">
              <a:rPr lang="en-US" smtClean="0"/>
              <a:t>‹#›</a:t>
            </a:fld>
            <a:endParaRPr lang="en-US"/>
          </a:p>
        </p:txBody>
      </p:sp>
    </p:spTree>
    <p:extLst>
      <p:ext uri="{BB962C8B-B14F-4D97-AF65-F5344CB8AC3E}">
        <p14:creationId xmlns:p14="http://schemas.microsoft.com/office/powerpoint/2010/main" val="340375748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oleObject" Target="../embeddings/oleObject4.bin"/><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9.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3.xml"/><Relationship Id="rId1" Type="http://schemas.openxmlformats.org/officeDocument/2006/relationships/vmlDrawing" Target="../drawings/vmlDrawing5.vml"/><Relationship Id="rId4" Type="http://schemas.openxmlformats.org/officeDocument/2006/relationships/image" Target="../media/image12.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C15A6D-CB0A-4AD0-84F9-EE8C953EA840}"/>
              </a:ext>
            </a:extLst>
          </p:cNvPr>
          <p:cNvSpPr>
            <a:spLocks noGrp="1"/>
          </p:cNvSpPr>
          <p:nvPr>
            <p:ph type="ctrTitle"/>
          </p:nvPr>
        </p:nvSpPr>
        <p:spPr/>
        <p:txBody>
          <a:bodyPr/>
          <a:lstStyle/>
          <a:p>
            <a:r>
              <a:rPr lang="en-US" dirty="0"/>
              <a:t>Lecture 8</a:t>
            </a:r>
          </a:p>
        </p:txBody>
      </p:sp>
      <p:sp>
        <p:nvSpPr>
          <p:cNvPr id="3" name="Subtitle 2">
            <a:extLst>
              <a:ext uri="{FF2B5EF4-FFF2-40B4-BE49-F238E27FC236}">
                <a16:creationId xmlns="" xmlns:a16="http://schemas.microsoft.com/office/drawing/2014/main" id="{C9B2EF14-7701-4434-B57B-DD934E3CFBB4}"/>
              </a:ext>
            </a:extLst>
          </p:cNvPr>
          <p:cNvSpPr>
            <a:spLocks noGrp="1"/>
          </p:cNvSpPr>
          <p:nvPr>
            <p:ph type="subTitle" idx="1"/>
          </p:nvPr>
        </p:nvSpPr>
        <p:spPr/>
        <p:txBody>
          <a:bodyPr/>
          <a:lstStyle/>
          <a:p>
            <a:r>
              <a:rPr lang="en-GB" dirty="0"/>
              <a:t>Data Warehousing and Data Mining</a:t>
            </a:r>
            <a:endParaRPr lang="en-US" dirty="0"/>
          </a:p>
          <a:p>
            <a:endParaRPr lang="en-US" dirty="0"/>
          </a:p>
        </p:txBody>
      </p:sp>
      <p:sp>
        <p:nvSpPr>
          <p:cNvPr id="4" name="Slide Number Placeholder 3">
            <a:extLst>
              <a:ext uri="{FF2B5EF4-FFF2-40B4-BE49-F238E27FC236}">
                <a16:creationId xmlns="" xmlns:a16="http://schemas.microsoft.com/office/drawing/2014/main" id="{894A794D-EBE5-48AD-8937-6EC77928E1B0}"/>
              </a:ext>
            </a:extLst>
          </p:cNvPr>
          <p:cNvSpPr>
            <a:spLocks noGrp="1"/>
          </p:cNvSpPr>
          <p:nvPr>
            <p:ph type="sldNum" sz="quarter" idx="12"/>
          </p:nvPr>
        </p:nvSpPr>
        <p:spPr>
          <a:xfrm>
            <a:off x="7680960" y="165227"/>
            <a:ext cx="4387010" cy="593725"/>
          </a:xfrm>
        </p:spPr>
        <p:txBody>
          <a:bodyPr>
            <a:normAutofit fontScale="47500" lnSpcReduction="20000"/>
          </a:bodyPr>
          <a:lstStyle/>
          <a:p>
            <a:pPr algn="r"/>
            <a:r>
              <a:rPr lang="en-US" dirty="0" smtClean="0"/>
              <a:t>Mr. </a:t>
            </a:r>
            <a:r>
              <a:rPr lang="en-US" dirty="0" err="1" smtClean="0"/>
              <a:t>Hemanga</a:t>
            </a:r>
            <a:r>
              <a:rPr lang="en-US" dirty="0" smtClean="0"/>
              <a:t> </a:t>
            </a:r>
            <a:r>
              <a:rPr lang="en-US" dirty="0" err="1" smtClean="0"/>
              <a:t>Gautam</a:t>
            </a:r>
            <a:endParaRPr lang="en-US" dirty="0" smtClean="0"/>
          </a:p>
          <a:p>
            <a:pPr algn="r"/>
            <a:r>
              <a:rPr lang="en-US" dirty="0"/>
              <a:t>h</a:t>
            </a:r>
            <a:r>
              <a:rPr lang="en-US" dirty="0" smtClean="0"/>
              <a:t>emanga.gautam@heraldcollege.edu.np</a:t>
            </a:r>
            <a:endParaRPr lang="en-US" dirty="0"/>
          </a:p>
        </p:txBody>
      </p:sp>
    </p:spTree>
    <p:extLst>
      <p:ext uri="{BB962C8B-B14F-4D97-AF65-F5344CB8AC3E}">
        <p14:creationId xmlns:p14="http://schemas.microsoft.com/office/powerpoint/2010/main" val="32982450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1" name="Rectangle 21">
            <a:extLst>
              <a:ext uri="{FF2B5EF4-FFF2-40B4-BE49-F238E27FC236}">
                <a16:creationId xmlns="" xmlns:a16="http://schemas.microsoft.com/office/drawing/2014/main" id="{BD5A251A-C63C-4971-A4F9-012487E20750}"/>
              </a:ext>
            </a:extLst>
          </p:cNvPr>
          <p:cNvSpPr>
            <a:spLocks noGrp="1" noChangeArrowheads="1"/>
          </p:cNvSpPr>
          <p:nvPr>
            <p:ph type="title"/>
          </p:nvPr>
        </p:nvSpPr>
        <p:spPr/>
        <p:txBody>
          <a:bodyPr/>
          <a:lstStyle/>
          <a:p>
            <a:pPr algn="ctr"/>
            <a:r>
              <a:rPr lang="en-US" altLang="en-US" b="1" dirty="0">
                <a:solidFill>
                  <a:srgbClr val="000000"/>
                </a:solidFill>
              </a:rPr>
              <a:t>A producer wants to know….</a:t>
            </a:r>
          </a:p>
        </p:txBody>
      </p:sp>
      <p:sp>
        <p:nvSpPr>
          <p:cNvPr id="22" name="Slide Number Placeholder 3">
            <a:extLst>
              <a:ext uri="{FF2B5EF4-FFF2-40B4-BE49-F238E27FC236}">
                <a16:creationId xmlns="" xmlns:a16="http://schemas.microsoft.com/office/drawing/2014/main" id="{40B95D78-05F3-486D-BA9B-D44ED8D4D336}"/>
              </a:ext>
            </a:extLst>
          </p:cNvPr>
          <p:cNvSpPr>
            <a:spLocks noGrp="1"/>
          </p:cNvSpPr>
          <p:nvPr>
            <p:ph type="sldNum" sz="quarter" idx="12"/>
          </p:nvPr>
        </p:nvSpPr>
        <p:spPr/>
        <p:txBody>
          <a:bodyPr>
            <a:normAutofit lnSpcReduction="10000"/>
          </a:bodyPr>
          <a:lstStyle/>
          <a:p>
            <a:fld id="{C752C901-1961-4D40-A194-274D1B922000}" type="slidenum">
              <a:rPr lang="en-US" altLang="en-US"/>
              <a:pPr/>
              <a:t>2</a:t>
            </a:fld>
            <a:endParaRPr lang="en-US" altLang="en-US"/>
          </a:p>
        </p:txBody>
      </p:sp>
      <p:graphicFrame>
        <p:nvGraphicFramePr>
          <p:cNvPr id="1105922" name="Object 2">
            <a:extLst>
              <a:ext uri="{FF2B5EF4-FFF2-40B4-BE49-F238E27FC236}">
                <a16:creationId xmlns="" xmlns:a16="http://schemas.microsoft.com/office/drawing/2014/main" id="{9F3CFAD6-C1CA-460B-982F-593BB391C1EA}"/>
              </a:ext>
            </a:extLst>
          </p:cNvPr>
          <p:cNvGraphicFramePr>
            <a:graphicFrameLocks noChangeAspect="1"/>
          </p:cNvGraphicFramePr>
          <p:nvPr/>
        </p:nvGraphicFramePr>
        <p:xfrm>
          <a:off x="4648200" y="2895601"/>
          <a:ext cx="2622550" cy="2263775"/>
        </p:xfrm>
        <a:graphic>
          <a:graphicData uri="http://schemas.openxmlformats.org/presentationml/2006/ole">
            <mc:AlternateContent xmlns:mc="http://schemas.openxmlformats.org/markup-compatibility/2006">
              <mc:Choice xmlns:v="urn:schemas-microsoft-com:vml" Requires="v">
                <p:oleObj spid="_x0000_s1082" name="Clip" r:id="rId3" imgW="3946320" imgH="3970080" progId="MS_ClipArt_Gallery.2">
                  <p:embed/>
                </p:oleObj>
              </mc:Choice>
              <mc:Fallback>
                <p:oleObj name="Clip" r:id="rId3" imgW="3946320" imgH="3970080" progId="MS_ClipArt_Gallery.2">
                  <p:embed/>
                  <p:pic>
                    <p:nvPicPr>
                      <p:cNvPr id="1105922" name="Object 2">
                        <a:extLst>
                          <a:ext uri="{FF2B5EF4-FFF2-40B4-BE49-F238E27FC236}">
                            <a16:creationId xmlns="" xmlns:a16="http://schemas.microsoft.com/office/drawing/2014/main" id="{9F3CFAD6-C1CA-460B-982F-593BB391C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895601"/>
                        <a:ext cx="2622550" cy="226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05923" name="Group 3">
            <a:extLst>
              <a:ext uri="{FF2B5EF4-FFF2-40B4-BE49-F238E27FC236}">
                <a16:creationId xmlns="" xmlns:a16="http://schemas.microsoft.com/office/drawing/2014/main" id="{0A292563-81BD-4A43-9CFF-7876D5D4885A}"/>
              </a:ext>
            </a:extLst>
          </p:cNvPr>
          <p:cNvGrpSpPr>
            <a:grpSpLocks/>
          </p:cNvGrpSpPr>
          <p:nvPr/>
        </p:nvGrpSpPr>
        <p:grpSpPr bwMode="auto">
          <a:xfrm>
            <a:off x="4572000" y="1600200"/>
            <a:ext cx="2452688" cy="1423988"/>
            <a:chOff x="1920" y="1008"/>
            <a:chExt cx="1545" cy="897"/>
          </a:xfrm>
        </p:grpSpPr>
        <p:sp>
          <p:nvSpPr>
            <p:cNvPr id="1105924" name="Oval 4">
              <a:extLst>
                <a:ext uri="{FF2B5EF4-FFF2-40B4-BE49-F238E27FC236}">
                  <a16:creationId xmlns="" xmlns:a16="http://schemas.microsoft.com/office/drawing/2014/main" id="{E2562348-F6F0-4D43-AD43-528A3F0A9E56}"/>
                </a:ext>
              </a:extLst>
            </p:cNvPr>
            <p:cNvSpPr>
              <a:spLocks noChangeArrowheads="1"/>
            </p:cNvSpPr>
            <p:nvPr/>
          </p:nvSpPr>
          <p:spPr bwMode="auto">
            <a:xfrm>
              <a:off x="1920" y="1008"/>
              <a:ext cx="1545" cy="686"/>
            </a:xfrm>
            <a:prstGeom prst="ellipse">
              <a:avLst/>
            </a:prstGeom>
            <a:solidFill>
              <a:schemeClr val="bg1"/>
            </a:solidFill>
            <a:ln w="9525">
              <a:solidFill>
                <a:schemeClr val="tx1"/>
              </a:solidFill>
              <a:round/>
              <a:headEnd/>
              <a:tailEnd/>
            </a:ln>
            <a:effectLst>
              <a:outerShdw dist="107763" dir="2700000" algn="ctr" rotWithShape="0">
                <a:schemeClr val="bg2"/>
              </a:outerShdw>
            </a:effectLst>
          </p:spPr>
          <p:txBody>
            <a:bodyPr wrap="none" anchor="ctr"/>
            <a:lstStyle/>
            <a:p>
              <a:pPr algn="ctr"/>
              <a:r>
                <a:rPr lang="en-US" altLang="en-US" dirty="0">
                  <a:latin typeface="Tahoma" panose="020B0604030504040204" pitchFamily="34" charset="0"/>
                </a:rPr>
                <a:t>Which are our</a:t>
              </a:r>
              <a:br>
                <a:rPr lang="en-US" altLang="en-US" dirty="0">
                  <a:latin typeface="Tahoma" panose="020B0604030504040204" pitchFamily="34" charset="0"/>
                </a:rPr>
              </a:br>
              <a:r>
                <a:rPr lang="en-US" altLang="en-US" dirty="0">
                  <a:latin typeface="Tahoma" panose="020B0604030504040204" pitchFamily="34" charset="0"/>
                </a:rPr>
                <a:t> lowest/highest margin </a:t>
              </a:r>
              <a:br>
                <a:rPr lang="en-US" altLang="en-US" dirty="0">
                  <a:latin typeface="Tahoma" panose="020B0604030504040204" pitchFamily="34" charset="0"/>
                </a:rPr>
              </a:br>
              <a:r>
                <a:rPr lang="en-US" altLang="en-US" dirty="0">
                  <a:latin typeface="Tahoma" panose="020B0604030504040204" pitchFamily="34" charset="0"/>
                </a:rPr>
                <a:t>customers ?</a:t>
              </a:r>
              <a:endParaRPr lang="en-US" altLang="en-US" sz="1400" dirty="0"/>
            </a:p>
          </p:txBody>
        </p:sp>
        <p:sp>
          <p:nvSpPr>
            <p:cNvPr id="1105925" name="Line 5">
              <a:extLst>
                <a:ext uri="{FF2B5EF4-FFF2-40B4-BE49-F238E27FC236}">
                  <a16:creationId xmlns="" xmlns:a16="http://schemas.microsoft.com/office/drawing/2014/main" id="{E1E04433-3246-4393-BBC8-2FA0C76301BE}"/>
                </a:ext>
              </a:extLst>
            </p:cNvPr>
            <p:cNvSpPr>
              <a:spLocks noChangeShapeType="1"/>
            </p:cNvSpPr>
            <p:nvPr/>
          </p:nvSpPr>
          <p:spPr bwMode="auto">
            <a:xfrm>
              <a:off x="2688" y="1680"/>
              <a:ext cx="0" cy="2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05926" name="Group 6">
            <a:extLst>
              <a:ext uri="{FF2B5EF4-FFF2-40B4-BE49-F238E27FC236}">
                <a16:creationId xmlns="" xmlns:a16="http://schemas.microsoft.com/office/drawing/2014/main" id="{4CEE1F04-CDE1-4144-9A88-33B860D52BE6}"/>
              </a:ext>
            </a:extLst>
          </p:cNvPr>
          <p:cNvGrpSpPr>
            <a:grpSpLocks/>
          </p:cNvGrpSpPr>
          <p:nvPr/>
        </p:nvGrpSpPr>
        <p:grpSpPr bwMode="auto">
          <a:xfrm>
            <a:off x="7010400" y="2286000"/>
            <a:ext cx="3048000" cy="1447800"/>
            <a:chOff x="3456" y="1440"/>
            <a:chExt cx="1920" cy="912"/>
          </a:xfrm>
        </p:grpSpPr>
        <p:sp>
          <p:nvSpPr>
            <p:cNvPr id="1105927" name="Oval 7">
              <a:extLst>
                <a:ext uri="{FF2B5EF4-FFF2-40B4-BE49-F238E27FC236}">
                  <a16:creationId xmlns="" xmlns:a16="http://schemas.microsoft.com/office/drawing/2014/main" id="{16403D58-FB54-4312-98F7-3F137BA7406A}"/>
                </a:ext>
              </a:extLst>
            </p:cNvPr>
            <p:cNvSpPr>
              <a:spLocks noChangeArrowheads="1"/>
            </p:cNvSpPr>
            <p:nvPr/>
          </p:nvSpPr>
          <p:spPr bwMode="auto">
            <a:xfrm>
              <a:off x="3600" y="1440"/>
              <a:ext cx="1776" cy="912"/>
            </a:xfrm>
            <a:prstGeom prst="ellipse">
              <a:avLst/>
            </a:prstGeom>
            <a:solidFill>
              <a:schemeClr val="bg1"/>
            </a:solidFill>
            <a:ln w="9525">
              <a:solidFill>
                <a:schemeClr val="tx1"/>
              </a:solidFill>
              <a:round/>
              <a:headEnd/>
              <a:tailEnd/>
            </a:ln>
            <a:effectLst>
              <a:outerShdw dist="107763" dir="2700000" algn="ctr" rotWithShape="0">
                <a:schemeClr val="bg2"/>
              </a:outerShdw>
            </a:effectLst>
          </p:spPr>
          <p:txBody>
            <a:bodyPr wrap="none" anchor="ctr"/>
            <a:lstStyle/>
            <a:p>
              <a:pPr algn="ctr"/>
              <a:r>
                <a:rPr lang="en-US" altLang="en-US" dirty="0">
                  <a:latin typeface="Tahoma" panose="020B0604030504040204" pitchFamily="34" charset="0"/>
                </a:rPr>
                <a:t>Who are my customers </a:t>
              </a:r>
              <a:br>
                <a:rPr lang="en-US" altLang="en-US" dirty="0">
                  <a:latin typeface="Tahoma" panose="020B0604030504040204" pitchFamily="34" charset="0"/>
                </a:rPr>
              </a:br>
              <a:r>
                <a:rPr lang="en-US" altLang="en-US" dirty="0">
                  <a:latin typeface="Tahoma" panose="020B0604030504040204" pitchFamily="34" charset="0"/>
                </a:rPr>
                <a:t>and what products </a:t>
              </a:r>
              <a:br>
                <a:rPr lang="en-US" altLang="en-US" dirty="0">
                  <a:latin typeface="Tahoma" panose="020B0604030504040204" pitchFamily="34" charset="0"/>
                </a:rPr>
              </a:br>
              <a:r>
                <a:rPr lang="en-US" altLang="en-US" dirty="0">
                  <a:latin typeface="Tahoma" panose="020B0604030504040204" pitchFamily="34" charset="0"/>
                </a:rPr>
                <a:t>are they buying?</a:t>
              </a:r>
              <a:endParaRPr lang="en-US" altLang="en-US" sz="1400" dirty="0"/>
            </a:p>
          </p:txBody>
        </p:sp>
        <p:sp>
          <p:nvSpPr>
            <p:cNvPr id="1105928" name="Line 8">
              <a:extLst>
                <a:ext uri="{FF2B5EF4-FFF2-40B4-BE49-F238E27FC236}">
                  <a16:creationId xmlns="" xmlns:a16="http://schemas.microsoft.com/office/drawing/2014/main" id="{F49860F8-4BDC-4D34-9C47-85F2195868FC}"/>
                </a:ext>
              </a:extLst>
            </p:cNvPr>
            <p:cNvSpPr>
              <a:spLocks noChangeShapeType="1"/>
            </p:cNvSpPr>
            <p:nvPr/>
          </p:nvSpPr>
          <p:spPr bwMode="auto">
            <a:xfrm flipH="1">
              <a:off x="3456" y="2112"/>
              <a:ext cx="254" cy="9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05929" name="Group 9">
            <a:extLst>
              <a:ext uri="{FF2B5EF4-FFF2-40B4-BE49-F238E27FC236}">
                <a16:creationId xmlns="" xmlns:a16="http://schemas.microsoft.com/office/drawing/2014/main" id="{8C3B1675-C11C-48F9-AF90-0FF9BF934195}"/>
              </a:ext>
            </a:extLst>
          </p:cNvPr>
          <p:cNvGrpSpPr>
            <a:grpSpLocks/>
          </p:cNvGrpSpPr>
          <p:nvPr/>
        </p:nvGrpSpPr>
        <p:grpSpPr bwMode="auto">
          <a:xfrm>
            <a:off x="6858001" y="4267200"/>
            <a:ext cx="3554413" cy="1239838"/>
            <a:chOff x="3360" y="2688"/>
            <a:chExt cx="2239" cy="781"/>
          </a:xfrm>
        </p:grpSpPr>
        <p:sp>
          <p:nvSpPr>
            <p:cNvPr id="1105930" name="Oval 10">
              <a:extLst>
                <a:ext uri="{FF2B5EF4-FFF2-40B4-BE49-F238E27FC236}">
                  <a16:creationId xmlns="" xmlns:a16="http://schemas.microsoft.com/office/drawing/2014/main" id="{CAC4BB62-BEA9-4A28-989E-5F4267B2DEAE}"/>
                </a:ext>
              </a:extLst>
            </p:cNvPr>
            <p:cNvSpPr>
              <a:spLocks noChangeArrowheads="1"/>
            </p:cNvSpPr>
            <p:nvPr/>
          </p:nvSpPr>
          <p:spPr bwMode="auto">
            <a:xfrm>
              <a:off x="3840" y="2688"/>
              <a:ext cx="1759" cy="781"/>
            </a:xfrm>
            <a:prstGeom prst="ellipse">
              <a:avLst/>
            </a:prstGeom>
            <a:solidFill>
              <a:schemeClr val="bg1"/>
            </a:solidFill>
            <a:ln w="9525">
              <a:solidFill>
                <a:schemeClr val="tx1"/>
              </a:solidFill>
              <a:round/>
              <a:headEnd/>
              <a:tailEnd/>
            </a:ln>
            <a:effectLst>
              <a:outerShdw dist="107763" dir="2700000" algn="ctr" rotWithShape="0">
                <a:schemeClr val="bg2"/>
              </a:outerShdw>
            </a:effectLst>
          </p:spPr>
          <p:txBody>
            <a:bodyPr wrap="none" anchor="ctr"/>
            <a:lstStyle/>
            <a:p>
              <a:pPr algn="ctr"/>
              <a:r>
                <a:rPr lang="en-US" altLang="en-US" dirty="0">
                  <a:latin typeface="Tahoma" panose="020B0604030504040204" pitchFamily="34" charset="0"/>
                </a:rPr>
                <a:t>Which customers</a:t>
              </a:r>
              <a:br>
                <a:rPr lang="en-US" altLang="en-US" dirty="0">
                  <a:latin typeface="Tahoma" panose="020B0604030504040204" pitchFamily="34" charset="0"/>
                </a:rPr>
              </a:br>
              <a:r>
                <a:rPr lang="en-US" altLang="en-US" dirty="0">
                  <a:latin typeface="Tahoma" panose="020B0604030504040204" pitchFamily="34" charset="0"/>
                </a:rPr>
                <a:t> are most likely to go </a:t>
              </a:r>
              <a:br>
                <a:rPr lang="en-US" altLang="en-US" dirty="0">
                  <a:latin typeface="Tahoma" panose="020B0604030504040204" pitchFamily="34" charset="0"/>
                </a:rPr>
              </a:br>
              <a:r>
                <a:rPr lang="en-US" altLang="en-US" dirty="0">
                  <a:latin typeface="Tahoma" panose="020B0604030504040204" pitchFamily="34" charset="0"/>
                </a:rPr>
                <a:t>to the competition ?</a:t>
              </a:r>
              <a:r>
                <a:rPr lang="en-US" altLang="en-US" sz="1400" dirty="0"/>
                <a:t> </a:t>
              </a:r>
            </a:p>
          </p:txBody>
        </p:sp>
        <p:sp>
          <p:nvSpPr>
            <p:cNvPr id="1105931" name="Line 11">
              <a:extLst>
                <a:ext uri="{FF2B5EF4-FFF2-40B4-BE49-F238E27FC236}">
                  <a16:creationId xmlns="" xmlns:a16="http://schemas.microsoft.com/office/drawing/2014/main" id="{2ED9324A-A610-46A5-9214-AF8D893C8F71}"/>
                </a:ext>
              </a:extLst>
            </p:cNvPr>
            <p:cNvSpPr>
              <a:spLocks noChangeShapeType="1"/>
            </p:cNvSpPr>
            <p:nvPr/>
          </p:nvSpPr>
          <p:spPr bwMode="auto">
            <a:xfrm flipH="1" flipV="1">
              <a:off x="3360" y="3024"/>
              <a:ext cx="480" cy="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05932" name="Group 12">
            <a:extLst>
              <a:ext uri="{FF2B5EF4-FFF2-40B4-BE49-F238E27FC236}">
                <a16:creationId xmlns="" xmlns:a16="http://schemas.microsoft.com/office/drawing/2014/main" id="{C43C2607-2ACE-4D8F-A626-317EA1B463E6}"/>
              </a:ext>
            </a:extLst>
          </p:cNvPr>
          <p:cNvGrpSpPr>
            <a:grpSpLocks/>
          </p:cNvGrpSpPr>
          <p:nvPr/>
        </p:nvGrpSpPr>
        <p:grpSpPr bwMode="auto">
          <a:xfrm>
            <a:off x="4648201" y="5029200"/>
            <a:ext cx="2570163" cy="1676400"/>
            <a:chOff x="1968" y="3168"/>
            <a:chExt cx="1619" cy="1056"/>
          </a:xfrm>
        </p:grpSpPr>
        <p:sp>
          <p:nvSpPr>
            <p:cNvPr id="1105933" name="Oval 13">
              <a:extLst>
                <a:ext uri="{FF2B5EF4-FFF2-40B4-BE49-F238E27FC236}">
                  <a16:creationId xmlns="" xmlns:a16="http://schemas.microsoft.com/office/drawing/2014/main" id="{B5FDC472-F91C-49A2-B72F-01ACC24D3C09}"/>
                </a:ext>
              </a:extLst>
            </p:cNvPr>
            <p:cNvSpPr>
              <a:spLocks noChangeArrowheads="1"/>
            </p:cNvSpPr>
            <p:nvPr/>
          </p:nvSpPr>
          <p:spPr bwMode="auto">
            <a:xfrm>
              <a:off x="1968" y="3360"/>
              <a:ext cx="1619" cy="864"/>
            </a:xfrm>
            <a:prstGeom prst="ellipse">
              <a:avLst/>
            </a:prstGeom>
            <a:solidFill>
              <a:schemeClr val="bg1"/>
            </a:solidFill>
            <a:ln w="9525">
              <a:solidFill>
                <a:schemeClr val="tx1"/>
              </a:solidFill>
              <a:round/>
              <a:headEnd/>
              <a:tailEnd/>
            </a:ln>
            <a:effectLst>
              <a:outerShdw dist="107763" dir="2700000" algn="ctr" rotWithShape="0">
                <a:schemeClr val="bg2"/>
              </a:outerShdw>
            </a:effectLst>
          </p:spPr>
          <p:txBody>
            <a:bodyPr wrap="none" anchor="ctr"/>
            <a:lstStyle/>
            <a:p>
              <a:pPr algn="ctr"/>
              <a:r>
                <a:rPr lang="en-US" altLang="en-US" dirty="0">
                  <a:latin typeface="Tahoma" panose="020B0604030504040204" pitchFamily="34" charset="0"/>
                </a:rPr>
                <a:t>What impact will </a:t>
              </a:r>
              <a:br>
                <a:rPr lang="en-US" altLang="en-US" dirty="0">
                  <a:latin typeface="Tahoma" panose="020B0604030504040204" pitchFamily="34" charset="0"/>
                </a:rPr>
              </a:br>
              <a:r>
                <a:rPr lang="en-US" altLang="en-US" dirty="0">
                  <a:latin typeface="Tahoma" panose="020B0604030504040204" pitchFamily="34" charset="0"/>
                </a:rPr>
                <a:t>new products/services </a:t>
              </a:r>
            </a:p>
            <a:p>
              <a:pPr algn="ctr"/>
              <a:r>
                <a:rPr lang="en-US" altLang="en-US" dirty="0">
                  <a:latin typeface="Tahoma" panose="020B0604030504040204" pitchFamily="34" charset="0"/>
                </a:rPr>
                <a:t>have on revenue </a:t>
              </a:r>
              <a:br>
                <a:rPr lang="en-US" altLang="en-US" dirty="0">
                  <a:latin typeface="Tahoma" panose="020B0604030504040204" pitchFamily="34" charset="0"/>
                </a:rPr>
              </a:br>
              <a:r>
                <a:rPr lang="en-US" altLang="en-US" dirty="0">
                  <a:latin typeface="Tahoma" panose="020B0604030504040204" pitchFamily="34" charset="0"/>
                </a:rPr>
                <a:t>and margins?</a:t>
              </a:r>
              <a:endParaRPr lang="en-US" altLang="en-US" sz="1400" dirty="0"/>
            </a:p>
          </p:txBody>
        </p:sp>
        <p:sp>
          <p:nvSpPr>
            <p:cNvPr id="1105934" name="Line 14">
              <a:extLst>
                <a:ext uri="{FF2B5EF4-FFF2-40B4-BE49-F238E27FC236}">
                  <a16:creationId xmlns="" xmlns:a16="http://schemas.microsoft.com/office/drawing/2014/main" id="{2CC0AAFE-A0B8-41CB-BF72-E10AA2B91B21}"/>
                </a:ext>
              </a:extLst>
            </p:cNvPr>
            <p:cNvSpPr>
              <a:spLocks noChangeShapeType="1"/>
            </p:cNvSpPr>
            <p:nvPr/>
          </p:nvSpPr>
          <p:spPr bwMode="auto">
            <a:xfrm flipV="1">
              <a:off x="2784" y="3168"/>
              <a:ext cx="0"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05935" name="Group 15">
            <a:extLst>
              <a:ext uri="{FF2B5EF4-FFF2-40B4-BE49-F238E27FC236}">
                <a16:creationId xmlns="" xmlns:a16="http://schemas.microsoft.com/office/drawing/2014/main" id="{1E3D6462-D7CF-4FC1-ACC6-5087D2D7FDD4}"/>
              </a:ext>
            </a:extLst>
          </p:cNvPr>
          <p:cNvGrpSpPr>
            <a:grpSpLocks/>
          </p:cNvGrpSpPr>
          <p:nvPr/>
        </p:nvGrpSpPr>
        <p:grpSpPr bwMode="auto">
          <a:xfrm>
            <a:off x="1326466" y="4114801"/>
            <a:ext cx="3040063" cy="1450975"/>
            <a:chOff x="168" y="2592"/>
            <a:chExt cx="1915" cy="914"/>
          </a:xfrm>
        </p:grpSpPr>
        <p:sp>
          <p:nvSpPr>
            <p:cNvPr id="1105936" name="Oval 16">
              <a:extLst>
                <a:ext uri="{FF2B5EF4-FFF2-40B4-BE49-F238E27FC236}">
                  <a16:creationId xmlns="" xmlns:a16="http://schemas.microsoft.com/office/drawing/2014/main" id="{50A21B54-4546-4FD9-9C66-C2165EE84CBB}"/>
                </a:ext>
              </a:extLst>
            </p:cNvPr>
            <p:cNvSpPr>
              <a:spLocks noChangeArrowheads="1"/>
            </p:cNvSpPr>
            <p:nvPr/>
          </p:nvSpPr>
          <p:spPr bwMode="auto">
            <a:xfrm>
              <a:off x="168" y="2592"/>
              <a:ext cx="1619" cy="914"/>
            </a:xfrm>
            <a:prstGeom prst="ellipse">
              <a:avLst/>
            </a:prstGeom>
            <a:solidFill>
              <a:schemeClr val="bg1"/>
            </a:solidFill>
            <a:ln w="9525">
              <a:solidFill>
                <a:schemeClr val="tx1"/>
              </a:solidFill>
              <a:round/>
              <a:headEnd/>
              <a:tailEnd/>
            </a:ln>
            <a:effectLst>
              <a:outerShdw dist="107763" dir="2700000" algn="ctr" rotWithShape="0">
                <a:schemeClr val="bg2"/>
              </a:outerShdw>
            </a:effectLst>
          </p:spPr>
          <p:txBody>
            <a:bodyPr wrap="none" anchor="ctr"/>
            <a:lstStyle/>
            <a:p>
              <a:pPr algn="ctr"/>
              <a:r>
                <a:rPr lang="en-US" altLang="en-US" dirty="0">
                  <a:latin typeface="Tahoma" panose="020B0604030504040204" pitchFamily="34" charset="0"/>
                </a:rPr>
                <a:t>What product prom-</a:t>
              </a:r>
              <a:br>
                <a:rPr lang="en-US" altLang="en-US" dirty="0">
                  <a:latin typeface="Tahoma" panose="020B0604030504040204" pitchFamily="34" charset="0"/>
                </a:rPr>
              </a:br>
              <a:r>
                <a:rPr lang="en-US" altLang="en-US" dirty="0">
                  <a:latin typeface="Tahoma" panose="020B0604030504040204" pitchFamily="34" charset="0"/>
                </a:rPr>
                <a:t>-</a:t>
              </a:r>
              <a:r>
                <a:rPr lang="en-US" altLang="en-US" dirty="0" err="1">
                  <a:latin typeface="Tahoma" panose="020B0604030504040204" pitchFamily="34" charset="0"/>
                </a:rPr>
                <a:t>otions</a:t>
              </a:r>
              <a:r>
                <a:rPr lang="en-US" altLang="en-US" dirty="0">
                  <a:latin typeface="Tahoma" panose="020B0604030504040204" pitchFamily="34" charset="0"/>
                </a:rPr>
                <a:t> have the biggest </a:t>
              </a:r>
              <a:br>
                <a:rPr lang="en-US" altLang="en-US" dirty="0">
                  <a:latin typeface="Tahoma" panose="020B0604030504040204" pitchFamily="34" charset="0"/>
                </a:rPr>
              </a:br>
              <a:r>
                <a:rPr lang="en-US" altLang="en-US" dirty="0">
                  <a:latin typeface="Tahoma" panose="020B0604030504040204" pitchFamily="34" charset="0"/>
                </a:rPr>
                <a:t>impact on revenue?</a:t>
              </a:r>
              <a:endParaRPr lang="en-US" altLang="en-US" sz="1400" dirty="0"/>
            </a:p>
          </p:txBody>
        </p:sp>
        <p:sp>
          <p:nvSpPr>
            <p:cNvPr id="1105937" name="Line 17">
              <a:extLst>
                <a:ext uri="{FF2B5EF4-FFF2-40B4-BE49-F238E27FC236}">
                  <a16:creationId xmlns="" xmlns:a16="http://schemas.microsoft.com/office/drawing/2014/main" id="{295A84DB-3BAE-4B15-A4CD-7CF6FA0917B3}"/>
                </a:ext>
              </a:extLst>
            </p:cNvPr>
            <p:cNvSpPr>
              <a:spLocks noChangeShapeType="1"/>
            </p:cNvSpPr>
            <p:nvPr/>
          </p:nvSpPr>
          <p:spPr bwMode="auto">
            <a:xfrm flipV="1">
              <a:off x="1728" y="3024"/>
              <a:ext cx="35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05938" name="Group 18">
            <a:extLst>
              <a:ext uri="{FF2B5EF4-FFF2-40B4-BE49-F238E27FC236}">
                <a16:creationId xmlns="" xmlns:a16="http://schemas.microsoft.com/office/drawing/2014/main" id="{7B237C0B-645E-46CE-A0B8-EB9983BD01A0}"/>
              </a:ext>
            </a:extLst>
          </p:cNvPr>
          <p:cNvGrpSpPr>
            <a:grpSpLocks/>
          </p:cNvGrpSpPr>
          <p:nvPr/>
        </p:nvGrpSpPr>
        <p:grpSpPr bwMode="auto">
          <a:xfrm>
            <a:off x="1981200" y="2743201"/>
            <a:ext cx="2819400" cy="1196975"/>
            <a:chOff x="288" y="1728"/>
            <a:chExt cx="1776" cy="754"/>
          </a:xfrm>
        </p:grpSpPr>
        <p:sp>
          <p:nvSpPr>
            <p:cNvPr id="1105939" name="Oval 19">
              <a:extLst>
                <a:ext uri="{FF2B5EF4-FFF2-40B4-BE49-F238E27FC236}">
                  <a16:creationId xmlns="" xmlns:a16="http://schemas.microsoft.com/office/drawing/2014/main" id="{658806E7-5B61-4F4C-BE2B-0E1A8FCAAC15}"/>
                </a:ext>
              </a:extLst>
            </p:cNvPr>
            <p:cNvSpPr>
              <a:spLocks noChangeArrowheads="1"/>
            </p:cNvSpPr>
            <p:nvPr/>
          </p:nvSpPr>
          <p:spPr bwMode="auto">
            <a:xfrm>
              <a:off x="288" y="1728"/>
              <a:ext cx="1536" cy="754"/>
            </a:xfrm>
            <a:prstGeom prst="ellipse">
              <a:avLst/>
            </a:prstGeom>
            <a:solidFill>
              <a:schemeClr val="bg1"/>
            </a:solidFill>
            <a:ln w="9525">
              <a:solidFill>
                <a:schemeClr val="tx1"/>
              </a:solidFill>
              <a:round/>
              <a:headEnd/>
              <a:tailEnd/>
            </a:ln>
            <a:effectLst>
              <a:outerShdw dist="107763" dir="2700000" algn="ctr" rotWithShape="0">
                <a:schemeClr val="bg2"/>
              </a:outerShdw>
            </a:effectLst>
          </p:spPr>
          <p:txBody>
            <a:bodyPr wrap="none" anchor="ctr"/>
            <a:lstStyle/>
            <a:p>
              <a:pPr algn="ctr"/>
              <a:r>
                <a:rPr lang="en-US" altLang="en-US" dirty="0">
                  <a:latin typeface="Tahoma" panose="020B0604030504040204" pitchFamily="34" charset="0"/>
                </a:rPr>
                <a:t>What is the most </a:t>
              </a:r>
              <a:br>
                <a:rPr lang="en-US" altLang="en-US" dirty="0">
                  <a:latin typeface="Tahoma" panose="020B0604030504040204" pitchFamily="34" charset="0"/>
                </a:rPr>
              </a:br>
              <a:r>
                <a:rPr lang="en-US" altLang="en-US" dirty="0">
                  <a:latin typeface="Tahoma" panose="020B0604030504040204" pitchFamily="34" charset="0"/>
                </a:rPr>
                <a:t>effective distribution </a:t>
              </a:r>
              <a:br>
                <a:rPr lang="en-US" altLang="en-US" dirty="0">
                  <a:latin typeface="Tahoma" panose="020B0604030504040204" pitchFamily="34" charset="0"/>
                </a:rPr>
              </a:br>
              <a:r>
                <a:rPr lang="en-US" altLang="en-US" dirty="0">
                  <a:latin typeface="Tahoma" panose="020B0604030504040204" pitchFamily="34" charset="0"/>
                </a:rPr>
                <a:t>channel?</a:t>
              </a:r>
              <a:endParaRPr lang="en-US" altLang="en-US" sz="1400" dirty="0"/>
            </a:p>
          </p:txBody>
        </p:sp>
        <p:sp>
          <p:nvSpPr>
            <p:cNvPr id="1105940" name="Line 20">
              <a:extLst>
                <a:ext uri="{FF2B5EF4-FFF2-40B4-BE49-F238E27FC236}">
                  <a16:creationId xmlns="" xmlns:a16="http://schemas.microsoft.com/office/drawing/2014/main" id="{7DF6A44A-40AD-4F03-B402-824C64D754E8}"/>
                </a:ext>
              </a:extLst>
            </p:cNvPr>
            <p:cNvSpPr>
              <a:spLocks noChangeShapeType="1"/>
            </p:cNvSpPr>
            <p:nvPr/>
          </p:nvSpPr>
          <p:spPr bwMode="auto">
            <a:xfrm>
              <a:off x="1824" y="2160"/>
              <a:ext cx="240" cy="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0592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1059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1059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10593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10593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1059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8516" name="Rectangle 4">
            <a:extLst>
              <a:ext uri="{FF2B5EF4-FFF2-40B4-BE49-F238E27FC236}">
                <a16:creationId xmlns="" xmlns:a16="http://schemas.microsoft.com/office/drawing/2014/main" id="{1E4136DB-4C13-4EF1-BB44-3ED3B132F162}"/>
              </a:ext>
            </a:extLst>
          </p:cNvPr>
          <p:cNvSpPr>
            <a:spLocks noGrp="1" noChangeArrowheads="1"/>
          </p:cNvSpPr>
          <p:nvPr>
            <p:ph type="title"/>
          </p:nvPr>
        </p:nvSpPr>
        <p:spPr>
          <a:xfrm>
            <a:off x="-245242" y="313006"/>
            <a:ext cx="11155071" cy="627063"/>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0488" tIns="44450" rIns="90488" bIns="44450" rtlCol="0" anchor="ctr">
            <a:noAutofit/>
          </a:bodyPr>
          <a:lstStyle/>
          <a:p>
            <a:pPr algn="ctr"/>
            <a:r>
              <a:rPr lang="en-US" altLang="en-US" b="1" dirty="0">
                <a:solidFill>
                  <a:srgbClr val="000000"/>
                </a:solidFill>
              </a:rPr>
              <a:t>Data, Data </a:t>
            </a:r>
            <a:r>
              <a:rPr lang="en-US" altLang="en-US" b="1" dirty="0" smtClean="0">
                <a:solidFill>
                  <a:srgbClr val="000000"/>
                </a:solidFill>
              </a:rPr>
              <a:t>everywhere yet </a:t>
            </a:r>
            <a:r>
              <a:rPr lang="en-US" altLang="en-US" b="1" dirty="0">
                <a:solidFill>
                  <a:srgbClr val="000000"/>
                </a:solidFill>
              </a:rPr>
              <a:t>...</a:t>
            </a:r>
          </a:p>
        </p:txBody>
      </p:sp>
      <p:sp>
        <p:nvSpPr>
          <p:cNvPr id="114" name="Slide Number Placeholder 5">
            <a:extLst>
              <a:ext uri="{FF2B5EF4-FFF2-40B4-BE49-F238E27FC236}">
                <a16:creationId xmlns="" xmlns:a16="http://schemas.microsoft.com/office/drawing/2014/main" id="{1B4987DF-A5F5-4585-BEC1-1623CC96AE91}"/>
              </a:ext>
            </a:extLst>
          </p:cNvPr>
          <p:cNvSpPr>
            <a:spLocks noGrp="1"/>
          </p:cNvSpPr>
          <p:nvPr>
            <p:ph type="sldNum" sz="quarter" idx="11"/>
          </p:nvPr>
        </p:nvSpPr>
        <p:spPr/>
        <p:txBody>
          <a:bodyPr>
            <a:normAutofit fontScale="77500" lnSpcReduction="20000"/>
          </a:bodyPr>
          <a:lstStyle/>
          <a:p>
            <a:fld id="{1774F8C6-6A66-41D8-AA40-322846939927}" type="slidenum">
              <a:rPr lang="en-US" altLang="en-US"/>
              <a:pPr/>
              <a:t>3</a:t>
            </a:fld>
            <a:endParaRPr lang="en-US" altLang="en-US"/>
          </a:p>
        </p:txBody>
      </p:sp>
      <p:sp>
        <p:nvSpPr>
          <p:cNvPr id="1088514" name="Rectangle 2">
            <a:extLst>
              <a:ext uri="{FF2B5EF4-FFF2-40B4-BE49-F238E27FC236}">
                <a16:creationId xmlns="" xmlns:a16="http://schemas.microsoft.com/office/drawing/2014/main" id="{F18F2E09-C50F-4398-AA9A-129296B23FB5}"/>
              </a:ext>
            </a:extLst>
          </p:cNvPr>
          <p:cNvSpPr>
            <a:spLocks noChangeArrowheads="1"/>
          </p:cNvSpPr>
          <p:nvPr/>
        </p:nvSpPr>
        <p:spPr bwMode="auto">
          <a:xfrm>
            <a:off x="1955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8515" name="Rectangle 3">
            <a:extLst>
              <a:ext uri="{FF2B5EF4-FFF2-40B4-BE49-F238E27FC236}">
                <a16:creationId xmlns="" xmlns:a16="http://schemas.microsoft.com/office/drawing/2014/main" id="{DA7D5609-D476-4076-A6AB-6D0A83EBD3A1}"/>
              </a:ext>
            </a:extLst>
          </p:cNvPr>
          <p:cNvSpPr>
            <a:spLocks noChangeArrowheads="1"/>
          </p:cNvSpPr>
          <p:nvPr/>
        </p:nvSpPr>
        <p:spPr bwMode="auto">
          <a:xfrm>
            <a:off x="4648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088518" name="Group 6">
            <a:extLst>
              <a:ext uri="{FF2B5EF4-FFF2-40B4-BE49-F238E27FC236}">
                <a16:creationId xmlns="" xmlns:a16="http://schemas.microsoft.com/office/drawing/2014/main" id="{19A601A1-9B6C-4167-9797-E655A24BC417}"/>
              </a:ext>
            </a:extLst>
          </p:cNvPr>
          <p:cNvGrpSpPr>
            <a:grpSpLocks/>
          </p:cNvGrpSpPr>
          <p:nvPr/>
        </p:nvGrpSpPr>
        <p:grpSpPr bwMode="auto">
          <a:xfrm>
            <a:off x="2608924" y="3090226"/>
            <a:ext cx="450850" cy="831850"/>
            <a:chOff x="1286" y="2177"/>
            <a:chExt cx="284" cy="524"/>
          </a:xfrm>
        </p:grpSpPr>
        <p:sp>
          <p:nvSpPr>
            <p:cNvPr id="1088519" name="Freeform 7">
              <a:extLst>
                <a:ext uri="{FF2B5EF4-FFF2-40B4-BE49-F238E27FC236}">
                  <a16:creationId xmlns="" xmlns:a16="http://schemas.microsoft.com/office/drawing/2014/main" id="{E965674E-647A-4FFE-A3D2-7CF2D29EDA4F}"/>
                </a:ext>
              </a:extLst>
            </p:cNvPr>
            <p:cNvSpPr>
              <a:spLocks/>
            </p:cNvSpPr>
            <p:nvPr/>
          </p:nvSpPr>
          <p:spPr bwMode="auto">
            <a:xfrm>
              <a:off x="1426" y="2391"/>
              <a:ext cx="144" cy="273"/>
            </a:xfrm>
            <a:custGeom>
              <a:avLst/>
              <a:gdLst>
                <a:gd name="T0" fmla="*/ 96 w 287"/>
                <a:gd name="T1" fmla="*/ 22 h 547"/>
                <a:gd name="T2" fmla="*/ 61 w 287"/>
                <a:gd name="T3" fmla="*/ 0 h 547"/>
                <a:gd name="T4" fmla="*/ 16 w 287"/>
                <a:gd name="T5" fmla="*/ 0 h 547"/>
                <a:gd name="T6" fmla="*/ 0 w 287"/>
                <a:gd name="T7" fmla="*/ 29 h 547"/>
                <a:gd name="T8" fmla="*/ 7 w 287"/>
                <a:gd name="T9" fmla="*/ 74 h 547"/>
                <a:gd name="T10" fmla="*/ 46 w 287"/>
                <a:gd name="T11" fmla="*/ 118 h 547"/>
                <a:gd name="T12" fmla="*/ 127 w 287"/>
                <a:gd name="T13" fmla="*/ 157 h 547"/>
                <a:gd name="T14" fmla="*/ 220 w 287"/>
                <a:gd name="T15" fmla="*/ 242 h 547"/>
                <a:gd name="T16" fmla="*/ 235 w 287"/>
                <a:gd name="T17" fmla="*/ 279 h 547"/>
                <a:gd name="T18" fmla="*/ 228 w 287"/>
                <a:gd name="T19" fmla="*/ 297 h 547"/>
                <a:gd name="T20" fmla="*/ 157 w 287"/>
                <a:gd name="T21" fmla="*/ 353 h 547"/>
                <a:gd name="T22" fmla="*/ 74 w 287"/>
                <a:gd name="T23" fmla="*/ 420 h 547"/>
                <a:gd name="T24" fmla="*/ 53 w 287"/>
                <a:gd name="T25" fmla="*/ 449 h 547"/>
                <a:gd name="T26" fmla="*/ 53 w 287"/>
                <a:gd name="T27" fmla="*/ 479 h 547"/>
                <a:gd name="T28" fmla="*/ 117 w 287"/>
                <a:gd name="T29" fmla="*/ 510 h 547"/>
                <a:gd name="T30" fmla="*/ 216 w 287"/>
                <a:gd name="T31" fmla="*/ 547 h 547"/>
                <a:gd name="T32" fmla="*/ 250 w 287"/>
                <a:gd name="T33" fmla="*/ 547 h 547"/>
                <a:gd name="T34" fmla="*/ 287 w 287"/>
                <a:gd name="T35" fmla="*/ 522 h 547"/>
                <a:gd name="T36" fmla="*/ 287 w 287"/>
                <a:gd name="T37" fmla="*/ 503 h 547"/>
                <a:gd name="T38" fmla="*/ 260 w 287"/>
                <a:gd name="T39" fmla="*/ 492 h 547"/>
                <a:gd name="T40" fmla="*/ 135 w 287"/>
                <a:gd name="T41" fmla="*/ 479 h 547"/>
                <a:gd name="T42" fmla="*/ 89 w 287"/>
                <a:gd name="T43" fmla="*/ 466 h 547"/>
                <a:gd name="T44" fmla="*/ 83 w 287"/>
                <a:gd name="T45" fmla="*/ 445 h 547"/>
                <a:gd name="T46" fmla="*/ 164 w 287"/>
                <a:gd name="T47" fmla="*/ 383 h 547"/>
                <a:gd name="T48" fmla="*/ 253 w 287"/>
                <a:gd name="T49" fmla="*/ 324 h 547"/>
                <a:gd name="T50" fmla="*/ 272 w 287"/>
                <a:gd name="T51" fmla="*/ 302 h 547"/>
                <a:gd name="T52" fmla="*/ 280 w 287"/>
                <a:gd name="T53" fmla="*/ 272 h 547"/>
                <a:gd name="T54" fmla="*/ 272 w 287"/>
                <a:gd name="T55" fmla="*/ 231 h 547"/>
                <a:gd name="T56" fmla="*/ 245 w 287"/>
                <a:gd name="T57" fmla="*/ 198 h 547"/>
                <a:gd name="T58" fmla="*/ 157 w 287"/>
                <a:gd name="T59" fmla="*/ 90 h 547"/>
                <a:gd name="T60" fmla="*/ 96 w 287"/>
                <a:gd name="T61" fmla="*/ 22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7" h="547">
                  <a:moveTo>
                    <a:pt x="96" y="22"/>
                  </a:moveTo>
                  <a:lnTo>
                    <a:pt x="61" y="0"/>
                  </a:lnTo>
                  <a:lnTo>
                    <a:pt x="16" y="0"/>
                  </a:lnTo>
                  <a:lnTo>
                    <a:pt x="0" y="29"/>
                  </a:lnTo>
                  <a:lnTo>
                    <a:pt x="7" y="74"/>
                  </a:lnTo>
                  <a:lnTo>
                    <a:pt x="46" y="118"/>
                  </a:lnTo>
                  <a:lnTo>
                    <a:pt x="127" y="157"/>
                  </a:lnTo>
                  <a:lnTo>
                    <a:pt x="220" y="242"/>
                  </a:lnTo>
                  <a:lnTo>
                    <a:pt x="235" y="279"/>
                  </a:lnTo>
                  <a:lnTo>
                    <a:pt x="228" y="297"/>
                  </a:lnTo>
                  <a:lnTo>
                    <a:pt x="157" y="353"/>
                  </a:lnTo>
                  <a:lnTo>
                    <a:pt x="74" y="420"/>
                  </a:lnTo>
                  <a:lnTo>
                    <a:pt x="53" y="449"/>
                  </a:lnTo>
                  <a:lnTo>
                    <a:pt x="53" y="479"/>
                  </a:lnTo>
                  <a:lnTo>
                    <a:pt x="117" y="510"/>
                  </a:lnTo>
                  <a:lnTo>
                    <a:pt x="216" y="547"/>
                  </a:lnTo>
                  <a:lnTo>
                    <a:pt x="250" y="547"/>
                  </a:lnTo>
                  <a:lnTo>
                    <a:pt x="287" y="522"/>
                  </a:lnTo>
                  <a:lnTo>
                    <a:pt x="287" y="503"/>
                  </a:lnTo>
                  <a:lnTo>
                    <a:pt x="260" y="492"/>
                  </a:lnTo>
                  <a:lnTo>
                    <a:pt x="135" y="479"/>
                  </a:lnTo>
                  <a:lnTo>
                    <a:pt x="89" y="466"/>
                  </a:lnTo>
                  <a:lnTo>
                    <a:pt x="83" y="445"/>
                  </a:lnTo>
                  <a:lnTo>
                    <a:pt x="164" y="383"/>
                  </a:lnTo>
                  <a:lnTo>
                    <a:pt x="253" y="324"/>
                  </a:lnTo>
                  <a:lnTo>
                    <a:pt x="272" y="302"/>
                  </a:lnTo>
                  <a:lnTo>
                    <a:pt x="280" y="272"/>
                  </a:lnTo>
                  <a:lnTo>
                    <a:pt x="272" y="231"/>
                  </a:lnTo>
                  <a:lnTo>
                    <a:pt x="245" y="198"/>
                  </a:lnTo>
                  <a:lnTo>
                    <a:pt x="157" y="90"/>
                  </a:lnTo>
                  <a:lnTo>
                    <a:pt x="96"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20" name="Freeform 8">
              <a:extLst>
                <a:ext uri="{FF2B5EF4-FFF2-40B4-BE49-F238E27FC236}">
                  <a16:creationId xmlns="" xmlns:a16="http://schemas.microsoft.com/office/drawing/2014/main" id="{DD749D4D-AEAE-4309-9F30-3BB51BE11DCC}"/>
                </a:ext>
              </a:extLst>
            </p:cNvPr>
            <p:cNvSpPr>
              <a:spLocks/>
            </p:cNvSpPr>
            <p:nvPr/>
          </p:nvSpPr>
          <p:spPr bwMode="auto">
            <a:xfrm>
              <a:off x="1350" y="2428"/>
              <a:ext cx="144" cy="273"/>
            </a:xfrm>
            <a:custGeom>
              <a:avLst/>
              <a:gdLst>
                <a:gd name="T0" fmla="*/ 96 w 287"/>
                <a:gd name="T1" fmla="*/ 22 h 547"/>
                <a:gd name="T2" fmla="*/ 62 w 287"/>
                <a:gd name="T3" fmla="*/ 0 h 547"/>
                <a:gd name="T4" fmla="*/ 16 w 287"/>
                <a:gd name="T5" fmla="*/ 0 h 547"/>
                <a:gd name="T6" fmla="*/ 0 w 287"/>
                <a:gd name="T7" fmla="*/ 29 h 547"/>
                <a:gd name="T8" fmla="*/ 7 w 287"/>
                <a:gd name="T9" fmla="*/ 74 h 547"/>
                <a:gd name="T10" fmla="*/ 46 w 287"/>
                <a:gd name="T11" fmla="*/ 118 h 547"/>
                <a:gd name="T12" fmla="*/ 127 w 287"/>
                <a:gd name="T13" fmla="*/ 157 h 547"/>
                <a:gd name="T14" fmla="*/ 220 w 287"/>
                <a:gd name="T15" fmla="*/ 242 h 547"/>
                <a:gd name="T16" fmla="*/ 235 w 287"/>
                <a:gd name="T17" fmla="*/ 279 h 547"/>
                <a:gd name="T18" fmla="*/ 228 w 287"/>
                <a:gd name="T19" fmla="*/ 297 h 547"/>
                <a:gd name="T20" fmla="*/ 157 w 287"/>
                <a:gd name="T21" fmla="*/ 353 h 547"/>
                <a:gd name="T22" fmla="*/ 74 w 287"/>
                <a:gd name="T23" fmla="*/ 420 h 547"/>
                <a:gd name="T24" fmla="*/ 53 w 287"/>
                <a:gd name="T25" fmla="*/ 448 h 547"/>
                <a:gd name="T26" fmla="*/ 53 w 287"/>
                <a:gd name="T27" fmla="*/ 479 h 547"/>
                <a:gd name="T28" fmla="*/ 118 w 287"/>
                <a:gd name="T29" fmla="*/ 510 h 547"/>
                <a:gd name="T30" fmla="*/ 216 w 287"/>
                <a:gd name="T31" fmla="*/ 547 h 547"/>
                <a:gd name="T32" fmla="*/ 250 w 287"/>
                <a:gd name="T33" fmla="*/ 547 h 547"/>
                <a:gd name="T34" fmla="*/ 287 w 287"/>
                <a:gd name="T35" fmla="*/ 522 h 547"/>
                <a:gd name="T36" fmla="*/ 287 w 287"/>
                <a:gd name="T37" fmla="*/ 503 h 547"/>
                <a:gd name="T38" fmla="*/ 260 w 287"/>
                <a:gd name="T39" fmla="*/ 492 h 547"/>
                <a:gd name="T40" fmla="*/ 135 w 287"/>
                <a:gd name="T41" fmla="*/ 479 h 547"/>
                <a:gd name="T42" fmla="*/ 89 w 287"/>
                <a:gd name="T43" fmla="*/ 466 h 547"/>
                <a:gd name="T44" fmla="*/ 83 w 287"/>
                <a:gd name="T45" fmla="*/ 444 h 547"/>
                <a:gd name="T46" fmla="*/ 164 w 287"/>
                <a:gd name="T47" fmla="*/ 383 h 547"/>
                <a:gd name="T48" fmla="*/ 253 w 287"/>
                <a:gd name="T49" fmla="*/ 324 h 547"/>
                <a:gd name="T50" fmla="*/ 272 w 287"/>
                <a:gd name="T51" fmla="*/ 302 h 547"/>
                <a:gd name="T52" fmla="*/ 280 w 287"/>
                <a:gd name="T53" fmla="*/ 272 h 547"/>
                <a:gd name="T54" fmla="*/ 272 w 287"/>
                <a:gd name="T55" fmla="*/ 231 h 547"/>
                <a:gd name="T56" fmla="*/ 245 w 287"/>
                <a:gd name="T57" fmla="*/ 198 h 547"/>
                <a:gd name="T58" fmla="*/ 157 w 287"/>
                <a:gd name="T59" fmla="*/ 90 h 547"/>
                <a:gd name="T60" fmla="*/ 96 w 287"/>
                <a:gd name="T61" fmla="*/ 22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7" h="547">
                  <a:moveTo>
                    <a:pt x="96" y="22"/>
                  </a:moveTo>
                  <a:lnTo>
                    <a:pt x="62" y="0"/>
                  </a:lnTo>
                  <a:lnTo>
                    <a:pt x="16" y="0"/>
                  </a:lnTo>
                  <a:lnTo>
                    <a:pt x="0" y="29"/>
                  </a:lnTo>
                  <a:lnTo>
                    <a:pt x="7" y="74"/>
                  </a:lnTo>
                  <a:lnTo>
                    <a:pt x="46" y="118"/>
                  </a:lnTo>
                  <a:lnTo>
                    <a:pt x="127" y="157"/>
                  </a:lnTo>
                  <a:lnTo>
                    <a:pt x="220" y="242"/>
                  </a:lnTo>
                  <a:lnTo>
                    <a:pt x="235" y="279"/>
                  </a:lnTo>
                  <a:lnTo>
                    <a:pt x="228" y="297"/>
                  </a:lnTo>
                  <a:lnTo>
                    <a:pt x="157" y="353"/>
                  </a:lnTo>
                  <a:lnTo>
                    <a:pt x="74" y="420"/>
                  </a:lnTo>
                  <a:lnTo>
                    <a:pt x="53" y="448"/>
                  </a:lnTo>
                  <a:lnTo>
                    <a:pt x="53" y="479"/>
                  </a:lnTo>
                  <a:lnTo>
                    <a:pt x="118" y="510"/>
                  </a:lnTo>
                  <a:lnTo>
                    <a:pt x="216" y="547"/>
                  </a:lnTo>
                  <a:lnTo>
                    <a:pt x="250" y="547"/>
                  </a:lnTo>
                  <a:lnTo>
                    <a:pt x="287" y="522"/>
                  </a:lnTo>
                  <a:lnTo>
                    <a:pt x="287" y="503"/>
                  </a:lnTo>
                  <a:lnTo>
                    <a:pt x="260" y="492"/>
                  </a:lnTo>
                  <a:lnTo>
                    <a:pt x="135" y="479"/>
                  </a:lnTo>
                  <a:lnTo>
                    <a:pt x="89" y="466"/>
                  </a:lnTo>
                  <a:lnTo>
                    <a:pt x="83" y="444"/>
                  </a:lnTo>
                  <a:lnTo>
                    <a:pt x="164" y="383"/>
                  </a:lnTo>
                  <a:lnTo>
                    <a:pt x="253" y="324"/>
                  </a:lnTo>
                  <a:lnTo>
                    <a:pt x="272" y="302"/>
                  </a:lnTo>
                  <a:lnTo>
                    <a:pt x="280" y="272"/>
                  </a:lnTo>
                  <a:lnTo>
                    <a:pt x="272" y="231"/>
                  </a:lnTo>
                  <a:lnTo>
                    <a:pt x="245" y="198"/>
                  </a:lnTo>
                  <a:lnTo>
                    <a:pt x="157" y="90"/>
                  </a:lnTo>
                  <a:lnTo>
                    <a:pt x="96"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21" name="Freeform 9">
              <a:extLst>
                <a:ext uri="{FF2B5EF4-FFF2-40B4-BE49-F238E27FC236}">
                  <a16:creationId xmlns="" xmlns:a16="http://schemas.microsoft.com/office/drawing/2014/main" id="{7A440E73-4002-4CBA-9337-5DDCE7D05566}"/>
                </a:ext>
              </a:extLst>
            </p:cNvPr>
            <p:cNvSpPr>
              <a:spLocks/>
            </p:cNvSpPr>
            <p:nvPr/>
          </p:nvSpPr>
          <p:spPr bwMode="auto">
            <a:xfrm>
              <a:off x="1286" y="2177"/>
              <a:ext cx="169" cy="261"/>
            </a:xfrm>
            <a:custGeom>
              <a:avLst/>
              <a:gdLst>
                <a:gd name="T0" fmla="*/ 41 w 338"/>
                <a:gd name="T1" fmla="*/ 168 h 523"/>
                <a:gd name="T2" fmla="*/ 59 w 338"/>
                <a:gd name="T3" fmla="*/ 71 h 523"/>
                <a:gd name="T4" fmla="*/ 129 w 338"/>
                <a:gd name="T5" fmla="*/ 9 h 523"/>
                <a:gd name="T6" fmla="*/ 166 w 338"/>
                <a:gd name="T7" fmla="*/ 0 h 523"/>
                <a:gd name="T8" fmla="*/ 212 w 338"/>
                <a:gd name="T9" fmla="*/ 11 h 523"/>
                <a:gd name="T10" fmla="*/ 249 w 338"/>
                <a:gd name="T11" fmla="*/ 47 h 523"/>
                <a:gd name="T12" fmla="*/ 266 w 338"/>
                <a:gd name="T13" fmla="*/ 91 h 523"/>
                <a:gd name="T14" fmla="*/ 275 w 338"/>
                <a:gd name="T15" fmla="*/ 126 h 523"/>
                <a:gd name="T16" fmla="*/ 266 w 338"/>
                <a:gd name="T17" fmla="*/ 174 h 523"/>
                <a:gd name="T18" fmla="*/ 264 w 338"/>
                <a:gd name="T19" fmla="*/ 215 h 523"/>
                <a:gd name="T20" fmla="*/ 237 w 338"/>
                <a:gd name="T21" fmla="*/ 253 h 523"/>
                <a:gd name="T22" fmla="*/ 236 w 338"/>
                <a:gd name="T23" fmla="*/ 298 h 523"/>
                <a:gd name="T24" fmla="*/ 249 w 338"/>
                <a:gd name="T25" fmla="*/ 330 h 523"/>
                <a:gd name="T26" fmla="*/ 301 w 338"/>
                <a:gd name="T27" fmla="*/ 341 h 523"/>
                <a:gd name="T28" fmla="*/ 333 w 338"/>
                <a:gd name="T29" fmla="*/ 376 h 523"/>
                <a:gd name="T30" fmla="*/ 338 w 338"/>
                <a:gd name="T31" fmla="*/ 450 h 523"/>
                <a:gd name="T32" fmla="*/ 316 w 338"/>
                <a:gd name="T33" fmla="*/ 495 h 523"/>
                <a:gd name="T34" fmla="*/ 237 w 338"/>
                <a:gd name="T35" fmla="*/ 518 h 523"/>
                <a:gd name="T36" fmla="*/ 159 w 338"/>
                <a:gd name="T37" fmla="*/ 523 h 523"/>
                <a:gd name="T38" fmla="*/ 96 w 338"/>
                <a:gd name="T39" fmla="*/ 499 h 523"/>
                <a:gd name="T40" fmla="*/ 33 w 338"/>
                <a:gd name="T41" fmla="*/ 441 h 523"/>
                <a:gd name="T42" fmla="*/ 11 w 338"/>
                <a:gd name="T43" fmla="*/ 383 h 523"/>
                <a:gd name="T44" fmla="*/ 0 w 338"/>
                <a:gd name="T45" fmla="*/ 313 h 523"/>
                <a:gd name="T46" fmla="*/ 9 w 338"/>
                <a:gd name="T47" fmla="*/ 238 h 523"/>
                <a:gd name="T48" fmla="*/ 28 w 338"/>
                <a:gd name="T49" fmla="*/ 193 h 523"/>
                <a:gd name="T50" fmla="*/ 41 w 338"/>
                <a:gd name="T51" fmla="*/ 168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8" h="523">
                  <a:moveTo>
                    <a:pt x="41" y="168"/>
                  </a:moveTo>
                  <a:lnTo>
                    <a:pt x="59" y="71"/>
                  </a:lnTo>
                  <a:lnTo>
                    <a:pt x="129" y="9"/>
                  </a:lnTo>
                  <a:lnTo>
                    <a:pt x="166" y="0"/>
                  </a:lnTo>
                  <a:lnTo>
                    <a:pt x="212" y="11"/>
                  </a:lnTo>
                  <a:lnTo>
                    <a:pt x="249" y="47"/>
                  </a:lnTo>
                  <a:lnTo>
                    <a:pt x="266" y="91"/>
                  </a:lnTo>
                  <a:lnTo>
                    <a:pt x="275" y="126"/>
                  </a:lnTo>
                  <a:lnTo>
                    <a:pt x="266" y="174"/>
                  </a:lnTo>
                  <a:lnTo>
                    <a:pt x="264" y="215"/>
                  </a:lnTo>
                  <a:lnTo>
                    <a:pt x="237" y="253"/>
                  </a:lnTo>
                  <a:lnTo>
                    <a:pt x="236" y="298"/>
                  </a:lnTo>
                  <a:lnTo>
                    <a:pt x="249" y="330"/>
                  </a:lnTo>
                  <a:lnTo>
                    <a:pt x="301" y="341"/>
                  </a:lnTo>
                  <a:lnTo>
                    <a:pt x="333" y="376"/>
                  </a:lnTo>
                  <a:lnTo>
                    <a:pt x="338" y="450"/>
                  </a:lnTo>
                  <a:lnTo>
                    <a:pt x="316" y="495"/>
                  </a:lnTo>
                  <a:lnTo>
                    <a:pt x="237" y="518"/>
                  </a:lnTo>
                  <a:lnTo>
                    <a:pt x="159" y="523"/>
                  </a:lnTo>
                  <a:lnTo>
                    <a:pt x="96" y="499"/>
                  </a:lnTo>
                  <a:lnTo>
                    <a:pt x="33" y="441"/>
                  </a:lnTo>
                  <a:lnTo>
                    <a:pt x="11" y="383"/>
                  </a:lnTo>
                  <a:lnTo>
                    <a:pt x="0" y="313"/>
                  </a:lnTo>
                  <a:lnTo>
                    <a:pt x="9" y="238"/>
                  </a:lnTo>
                  <a:lnTo>
                    <a:pt x="28" y="193"/>
                  </a:lnTo>
                  <a:lnTo>
                    <a:pt x="41" y="1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88522" name="Group 10">
            <a:extLst>
              <a:ext uri="{FF2B5EF4-FFF2-40B4-BE49-F238E27FC236}">
                <a16:creationId xmlns="" xmlns:a16="http://schemas.microsoft.com/office/drawing/2014/main" id="{D63ACABC-6C51-4CD4-8120-37F7A2FBD888}"/>
              </a:ext>
            </a:extLst>
          </p:cNvPr>
          <p:cNvGrpSpPr>
            <a:grpSpLocks/>
          </p:cNvGrpSpPr>
          <p:nvPr/>
        </p:nvGrpSpPr>
        <p:grpSpPr bwMode="auto">
          <a:xfrm>
            <a:off x="1679529" y="3034664"/>
            <a:ext cx="2193925" cy="1808163"/>
            <a:chOff x="736" y="2142"/>
            <a:chExt cx="1382" cy="1139"/>
          </a:xfrm>
        </p:grpSpPr>
        <p:grpSp>
          <p:nvGrpSpPr>
            <p:cNvPr id="1088523" name="Group 11">
              <a:extLst>
                <a:ext uri="{FF2B5EF4-FFF2-40B4-BE49-F238E27FC236}">
                  <a16:creationId xmlns="" xmlns:a16="http://schemas.microsoft.com/office/drawing/2014/main" id="{1172229A-1FDE-46DB-8FE9-1CD7C23E438C}"/>
                </a:ext>
              </a:extLst>
            </p:cNvPr>
            <p:cNvGrpSpPr>
              <a:grpSpLocks/>
            </p:cNvGrpSpPr>
            <p:nvPr/>
          </p:nvGrpSpPr>
          <p:grpSpPr bwMode="auto">
            <a:xfrm>
              <a:off x="736" y="2142"/>
              <a:ext cx="1382" cy="1139"/>
              <a:chOff x="736" y="2142"/>
              <a:chExt cx="1382" cy="1139"/>
            </a:xfrm>
          </p:grpSpPr>
          <p:sp>
            <p:nvSpPr>
              <p:cNvPr id="1088524" name="Freeform 12">
                <a:extLst>
                  <a:ext uri="{FF2B5EF4-FFF2-40B4-BE49-F238E27FC236}">
                    <a16:creationId xmlns="" xmlns:a16="http://schemas.microsoft.com/office/drawing/2014/main" id="{B1641D05-EDD7-4CBE-A6B6-CB231F90C4DC}"/>
                  </a:ext>
                </a:extLst>
              </p:cNvPr>
              <p:cNvSpPr>
                <a:spLocks/>
              </p:cNvSpPr>
              <p:nvPr/>
            </p:nvSpPr>
            <p:spPr bwMode="auto">
              <a:xfrm>
                <a:off x="736" y="2142"/>
                <a:ext cx="1382" cy="1139"/>
              </a:xfrm>
              <a:custGeom>
                <a:avLst/>
                <a:gdLst>
                  <a:gd name="T0" fmla="*/ 15 w 2765"/>
                  <a:gd name="T1" fmla="*/ 1449 h 2279"/>
                  <a:gd name="T2" fmla="*/ 37 w 2765"/>
                  <a:gd name="T3" fmla="*/ 1177 h 2279"/>
                  <a:gd name="T4" fmla="*/ 0 w 2765"/>
                  <a:gd name="T5" fmla="*/ 890 h 2279"/>
                  <a:gd name="T6" fmla="*/ 37 w 2765"/>
                  <a:gd name="T7" fmla="*/ 676 h 2279"/>
                  <a:gd name="T8" fmla="*/ 220 w 2765"/>
                  <a:gd name="T9" fmla="*/ 544 h 2279"/>
                  <a:gd name="T10" fmla="*/ 705 w 2765"/>
                  <a:gd name="T11" fmla="*/ 404 h 2279"/>
                  <a:gd name="T12" fmla="*/ 1095 w 2765"/>
                  <a:gd name="T13" fmla="*/ 361 h 2279"/>
                  <a:gd name="T14" fmla="*/ 1412 w 2765"/>
                  <a:gd name="T15" fmla="*/ 272 h 2279"/>
                  <a:gd name="T16" fmla="*/ 1602 w 2765"/>
                  <a:gd name="T17" fmla="*/ 206 h 2279"/>
                  <a:gd name="T18" fmla="*/ 1802 w 2765"/>
                  <a:gd name="T19" fmla="*/ 67 h 2279"/>
                  <a:gd name="T20" fmla="*/ 2051 w 2765"/>
                  <a:gd name="T21" fmla="*/ 0 h 2279"/>
                  <a:gd name="T22" fmla="*/ 2177 w 2765"/>
                  <a:gd name="T23" fmla="*/ 60 h 2279"/>
                  <a:gd name="T24" fmla="*/ 2558 w 2765"/>
                  <a:gd name="T25" fmla="*/ 412 h 2279"/>
                  <a:gd name="T26" fmla="*/ 2765 w 2765"/>
                  <a:gd name="T27" fmla="*/ 626 h 2279"/>
                  <a:gd name="T28" fmla="*/ 2735 w 2765"/>
                  <a:gd name="T29" fmla="*/ 735 h 2279"/>
                  <a:gd name="T30" fmla="*/ 2706 w 2765"/>
                  <a:gd name="T31" fmla="*/ 1074 h 2279"/>
                  <a:gd name="T32" fmla="*/ 2669 w 2765"/>
                  <a:gd name="T33" fmla="*/ 1405 h 2279"/>
                  <a:gd name="T34" fmla="*/ 2566 w 2765"/>
                  <a:gd name="T35" fmla="*/ 1529 h 2279"/>
                  <a:gd name="T36" fmla="*/ 2551 w 2765"/>
                  <a:gd name="T37" fmla="*/ 1449 h 2279"/>
                  <a:gd name="T38" fmla="*/ 2397 w 2765"/>
                  <a:gd name="T39" fmla="*/ 1397 h 2279"/>
                  <a:gd name="T40" fmla="*/ 2177 w 2765"/>
                  <a:gd name="T41" fmla="*/ 1477 h 2279"/>
                  <a:gd name="T42" fmla="*/ 1963 w 2765"/>
                  <a:gd name="T43" fmla="*/ 1603 h 2279"/>
                  <a:gd name="T44" fmla="*/ 1683 w 2765"/>
                  <a:gd name="T45" fmla="*/ 1743 h 2279"/>
                  <a:gd name="T46" fmla="*/ 1412 w 2765"/>
                  <a:gd name="T47" fmla="*/ 1853 h 2279"/>
                  <a:gd name="T48" fmla="*/ 1095 w 2765"/>
                  <a:gd name="T49" fmla="*/ 1926 h 2279"/>
                  <a:gd name="T50" fmla="*/ 875 w 2765"/>
                  <a:gd name="T51" fmla="*/ 2000 h 2279"/>
                  <a:gd name="T52" fmla="*/ 838 w 2765"/>
                  <a:gd name="T53" fmla="*/ 2184 h 2279"/>
                  <a:gd name="T54" fmla="*/ 750 w 2765"/>
                  <a:gd name="T55" fmla="*/ 2279 h 2279"/>
                  <a:gd name="T56" fmla="*/ 618 w 2765"/>
                  <a:gd name="T57" fmla="*/ 2132 h 2279"/>
                  <a:gd name="T58" fmla="*/ 631 w 2765"/>
                  <a:gd name="T59" fmla="*/ 2015 h 2279"/>
                  <a:gd name="T60" fmla="*/ 294 w 2765"/>
                  <a:gd name="T61" fmla="*/ 1677 h 2279"/>
                  <a:gd name="T62" fmla="*/ 117 w 2765"/>
                  <a:gd name="T63" fmla="*/ 1529 h 2279"/>
                  <a:gd name="T64" fmla="*/ 117 w 2765"/>
                  <a:gd name="T65" fmla="*/ 1677 h 2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65" h="2279">
                    <a:moveTo>
                      <a:pt x="22" y="1610"/>
                    </a:moveTo>
                    <a:lnTo>
                      <a:pt x="15" y="1449"/>
                    </a:lnTo>
                    <a:lnTo>
                      <a:pt x="37" y="1309"/>
                    </a:lnTo>
                    <a:lnTo>
                      <a:pt x="37" y="1177"/>
                    </a:lnTo>
                    <a:lnTo>
                      <a:pt x="7" y="1015"/>
                    </a:lnTo>
                    <a:lnTo>
                      <a:pt x="0" y="890"/>
                    </a:lnTo>
                    <a:lnTo>
                      <a:pt x="7" y="757"/>
                    </a:lnTo>
                    <a:lnTo>
                      <a:pt x="37" y="676"/>
                    </a:lnTo>
                    <a:lnTo>
                      <a:pt x="117" y="618"/>
                    </a:lnTo>
                    <a:lnTo>
                      <a:pt x="220" y="544"/>
                    </a:lnTo>
                    <a:lnTo>
                      <a:pt x="463" y="463"/>
                    </a:lnTo>
                    <a:lnTo>
                      <a:pt x="705" y="404"/>
                    </a:lnTo>
                    <a:lnTo>
                      <a:pt x="919" y="367"/>
                    </a:lnTo>
                    <a:lnTo>
                      <a:pt x="1095" y="361"/>
                    </a:lnTo>
                    <a:lnTo>
                      <a:pt x="1265" y="309"/>
                    </a:lnTo>
                    <a:lnTo>
                      <a:pt x="1412" y="272"/>
                    </a:lnTo>
                    <a:lnTo>
                      <a:pt x="1485" y="243"/>
                    </a:lnTo>
                    <a:lnTo>
                      <a:pt x="1602" y="206"/>
                    </a:lnTo>
                    <a:lnTo>
                      <a:pt x="1706" y="154"/>
                    </a:lnTo>
                    <a:lnTo>
                      <a:pt x="1802" y="67"/>
                    </a:lnTo>
                    <a:lnTo>
                      <a:pt x="1911" y="37"/>
                    </a:lnTo>
                    <a:lnTo>
                      <a:pt x="2051" y="0"/>
                    </a:lnTo>
                    <a:lnTo>
                      <a:pt x="2118" y="8"/>
                    </a:lnTo>
                    <a:lnTo>
                      <a:pt x="2177" y="60"/>
                    </a:lnTo>
                    <a:lnTo>
                      <a:pt x="2353" y="206"/>
                    </a:lnTo>
                    <a:lnTo>
                      <a:pt x="2558" y="412"/>
                    </a:lnTo>
                    <a:lnTo>
                      <a:pt x="2699" y="537"/>
                    </a:lnTo>
                    <a:lnTo>
                      <a:pt x="2765" y="626"/>
                    </a:lnTo>
                    <a:lnTo>
                      <a:pt x="2765" y="685"/>
                    </a:lnTo>
                    <a:lnTo>
                      <a:pt x="2735" y="735"/>
                    </a:lnTo>
                    <a:lnTo>
                      <a:pt x="2706" y="831"/>
                    </a:lnTo>
                    <a:lnTo>
                      <a:pt x="2706" y="1074"/>
                    </a:lnTo>
                    <a:lnTo>
                      <a:pt x="2691" y="1264"/>
                    </a:lnTo>
                    <a:lnTo>
                      <a:pt x="2669" y="1405"/>
                    </a:lnTo>
                    <a:lnTo>
                      <a:pt x="2632" y="1508"/>
                    </a:lnTo>
                    <a:lnTo>
                      <a:pt x="2566" y="1529"/>
                    </a:lnTo>
                    <a:lnTo>
                      <a:pt x="2536" y="1499"/>
                    </a:lnTo>
                    <a:lnTo>
                      <a:pt x="2551" y="1449"/>
                    </a:lnTo>
                    <a:lnTo>
                      <a:pt x="2558" y="1323"/>
                    </a:lnTo>
                    <a:lnTo>
                      <a:pt x="2397" y="1397"/>
                    </a:lnTo>
                    <a:lnTo>
                      <a:pt x="2301" y="1449"/>
                    </a:lnTo>
                    <a:lnTo>
                      <a:pt x="2177" y="1477"/>
                    </a:lnTo>
                    <a:lnTo>
                      <a:pt x="2081" y="1523"/>
                    </a:lnTo>
                    <a:lnTo>
                      <a:pt x="1963" y="1603"/>
                    </a:lnTo>
                    <a:lnTo>
                      <a:pt x="1853" y="1662"/>
                    </a:lnTo>
                    <a:lnTo>
                      <a:pt x="1683" y="1743"/>
                    </a:lnTo>
                    <a:lnTo>
                      <a:pt x="1574" y="1780"/>
                    </a:lnTo>
                    <a:lnTo>
                      <a:pt x="1412" y="1853"/>
                    </a:lnTo>
                    <a:lnTo>
                      <a:pt x="1228" y="1889"/>
                    </a:lnTo>
                    <a:lnTo>
                      <a:pt x="1095" y="1926"/>
                    </a:lnTo>
                    <a:lnTo>
                      <a:pt x="949" y="1963"/>
                    </a:lnTo>
                    <a:lnTo>
                      <a:pt x="875" y="2000"/>
                    </a:lnTo>
                    <a:lnTo>
                      <a:pt x="845" y="2074"/>
                    </a:lnTo>
                    <a:lnTo>
                      <a:pt x="838" y="2184"/>
                    </a:lnTo>
                    <a:lnTo>
                      <a:pt x="816" y="2243"/>
                    </a:lnTo>
                    <a:lnTo>
                      <a:pt x="750" y="2279"/>
                    </a:lnTo>
                    <a:lnTo>
                      <a:pt x="646" y="2220"/>
                    </a:lnTo>
                    <a:lnTo>
                      <a:pt x="618" y="2132"/>
                    </a:lnTo>
                    <a:lnTo>
                      <a:pt x="655" y="2059"/>
                    </a:lnTo>
                    <a:lnTo>
                      <a:pt x="631" y="2015"/>
                    </a:lnTo>
                    <a:lnTo>
                      <a:pt x="492" y="1860"/>
                    </a:lnTo>
                    <a:lnTo>
                      <a:pt x="294" y="1677"/>
                    </a:lnTo>
                    <a:lnTo>
                      <a:pt x="169" y="1559"/>
                    </a:lnTo>
                    <a:lnTo>
                      <a:pt x="117" y="1529"/>
                    </a:lnTo>
                    <a:lnTo>
                      <a:pt x="95" y="1581"/>
                    </a:lnTo>
                    <a:lnTo>
                      <a:pt x="117" y="1677"/>
                    </a:lnTo>
                    <a:lnTo>
                      <a:pt x="22" y="1610"/>
                    </a:lnTo>
                    <a:close/>
                  </a:path>
                </a:pathLst>
              </a:custGeom>
              <a:solidFill>
                <a:srgbClr val="996633"/>
              </a:solidFill>
              <a:ln w="7938">
                <a:solidFill>
                  <a:srgbClr val="000000"/>
                </a:solidFill>
                <a:prstDash val="solid"/>
                <a:round/>
                <a:headEnd/>
                <a:tailEnd/>
              </a:ln>
            </p:spPr>
            <p:txBody>
              <a:bodyPr/>
              <a:lstStyle/>
              <a:p>
                <a:endParaRPr lang="en-US"/>
              </a:p>
            </p:txBody>
          </p:sp>
          <p:sp>
            <p:nvSpPr>
              <p:cNvPr id="1088525" name="Freeform 13">
                <a:extLst>
                  <a:ext uri="{FF2B5EF4-FFF2-40B4-BE49-F238E27FC236}">
                    <a16:creationId xmlns="" xmlns:a16="http://schemas.microsoft.com/office/drawing/2014/main" id="{BA862AF1-E288-4C7C-8613-143B00D0A239}"/>
                  </a:ext>
                </a:extLst>
              </p:cNvPr>
              <p:cNvSpPr>
                <a:spLocks/>
              </p:cNvSpPr>
              <p:nvPr/>
            </p:nvSpPr>
            <p:spPr bwMode="auto">
              <a:xfrm>
                <a:off x="755" y="2474"/>
                <a:ext cx="1356" cy="805"/>
              </a:xfrm>
              <a:custGeom>
                <a:avLst/>
                <a:gdLst>
                  <a:gd name="T0" fmla="*/ 691 w 2713"/>
                  <a:gd name="T1" fmla="*/ 1580 h 1611"/>
                  <a:gd name="T2" fmla="*/ 699 w 2713"/>
                  <a:gd name="T3" fmla="*/ 1426 h 1611"/>
                  <a:gd name="T4" fmla="*/ 691 w 2713"/>
                  <a:gd name="T5" fmla="*/ 1088 h 1611"/>
                  <a:gd name="T6" fmla="*/ 691 w 2713"/>
                  <a:gd name="T7" fmla="*/ 838 h 1611"/>
                  <a:gd name="T8" fmla="*/ 654 w 2713"/>
                  <a:gd name="T9" fmla="*/ 772 h 1611"/>
                  <a:gd name="T10" fmla="*/ 381 w 2713"/>
                  <a:gd name="T11" fmla="*/ 485 h 1611"/>
                  <a:gd name="T12" fmla="*/ 205 w 2713"/>
                  <a:gd name="T13" fmla="*/ 309 h 1611"/>
                  <a:gd name="T14" fmla="*/ 59 w 2713"/>
                  <a:gd name="T15" fmla="*/ 183 h 1611"/>
                  <a:gd name="T16" fmla="*/ 0 w 2713"/>
                  <a:gd name="T17" fmla="*/ 118 h 1611"/>
                  <a:gd name="T18" fmla="*/ 15 w 2713"/>
                  <a:gd name="T19" fmla="*/ 81 h 1611"/>
                  <a:gd name="T20" fmla="*/ 37 w 2713"/>
                  <a:gd name="T21" fmla="*/ 81 h 1611"/>
                  <a:gd name="T22" fmla="*/ 139 w 2713"/>
                  <a:gd name="T23" fmla="*/ 191 h 1611"/>
                  <a:gd name="T24" fmla="*/ 279 w 2713"/>
                  <a:gd name="T25" fmla="*/ 301 h 1611"/>
                  <a:gd name="T26" fmla="*/ 412 w 2713"/>
                  <a:gd name="T27" fmla="*/ 479 h 1611"/>
                  <a:gd name="T28" fmla="*/ 536 w 2713"/>
                  <a:gd name="T29" fmla="*/ 610 h 1611"/>
                  <a:gd name="T30" fmla="*/ 654 w 2713"/>
                  <a:gd name="T31" fmla="*/ 699 h 1611"/>
                  <a:gd name="T32" fmla="*/ 727 w 2713"/>
                  <a:gd name="T33" fmla="*/ 764 h 1611"/>
                  <a:gd name="T34" fmla="*/ 779 w 2713"/>
                  <a:gd name="T35" fmla="*/ 751 h 1611"/>
                  <a:gd name="T36" fmla="*/ 830 w 2713"/>
                  <a:gd name="T37" fmla="*/ 714 h 1611"/>
                  <a:gd name="T38" fmla="*/ 993 w 2713"/>
                  <a:gd name="T39" fmla="*/ 677 h 1611"/>
                  <a:gd name="T40" fmla="*/ 1287 w 2713"/>
                  <a:gd name="T41" fmla="*/ 596 h 1611"/>
                  <a:gd name="T42" fmla="*/ 1463 w 2713"/>
                  <a:gd name="T43" fmla="*/ 500 h 1611"/>
                  <a:gd name="T44" fmla="*/ 1668 w 2713"/>
                  <a:gd name="T45" fmla="*/ 412 h 1611"/>
                  <a:gd name="T46" fmla="*/ 1882 w 2713"/>
                  <a:gd name="T47" fmla="*/ 331 h 1611"/>
                  <a:gd name="T48" fmla="*/ 2103 w 2713"/>
                  <a:gd name="T49" fmla="*/ 235 h 1611"/>
                  <a:gd name="T50" fmla="*/ 2258 w 2713"/>
                  <a:gd name="T51" fmla="*/ 183 h 1611"/>
                  <a:gd name="T52" fmla="*/ 2441 w 2713"/>
                  <a:gd name="T53" fmla="*/ 103 h 1611"/>
                  <a:gd name="T54" fmla="*/ 2587 w 2713"/>
                  <a:gd name="T55" fmla="*/ 66 h 1611"/>
                  <a:gd name="T56" fmla="*/ 2713 w 2713"/>
                  <a:gd name="T57" fmla="*/ 0 h 1611"/>
                  <a:gd name="T58" fmla="*/ 2669 w 2713"/>
                  <a:gd name="T59" fmla="*/ 118 h 1611"/>
                  <a:gd name="T60" fmla="*/ 2595 w 2713"/>
                  <a:gd name="T61" fmla="*/ 118 h 1611"/>
                  <a:gd name="T62" fmla="*/ 2500 w 2713"/>
                  <a:gd name="T63" fmla="*/ 139 h 1611"/>
                  <a:gd name="T64" fmla="*/ 2330 w 2713"/>
                  <a:gd name="T65" fmla="*/ 191 h 1611"/>
                  <a:gd name="T66" fmla="*/ 2206 w 2713"/>
                  <a:gd name="T67" fmla="*/ 242 h 1611"/>
                  <a:gd name="T68" fmla="*/ 2051 w 2713"/>
                  <a:gd name="T69" fmla="*/ 294 h 1611"/>
                  <a:gd name="T70" fmla="*/ 1949 w 2713"/>
                  <a:gd name="T71" fmla="*/ 346 h 1611"/>
                  <a:gd name="T72" fmla="*/ 1779 w 2713"/>
                  <a:gd name="T73" fmla="*/ 412 h 1611"/>
                  <a:gd name="T74" fmla="*/ 1668 w 2713"/>
                  <a:gd name="T75" fmla="*/ 412 h 1611"/>
                  <a:gd name="T76" fmla="*/ 1507 w 2713"/>
                  <a:gd name="T77" fmla="*/ 529 h 1611"/>
                  <a:gd name="T78" fmla="*/ 1396 w 2713"/>
                  <a:gd name="T79" fmla="*/ 581 h 1611"/>
                  <a:gd name="T80" fmla="*/ 1257 w 2713"/>
                  <a:gd name="T81" fmla="*/ 632 h 1611"/>
                  <a:gd name="T82" fmla="*/ 1080 w 2713"/>
                  <a:gd name="T83" fmla="*/ 692 h 1611"/>
                  <a:gd name="T84" fmla="*/ 941 w 2713"/>
                  <a:gd name="T85" fmla="*/ 727 h 1611"/>
                  <a:gd name="T86" fmla="*/ 845 w 2713"/>
                  <a:gd name="T87" fmla="*/ 772 h 1611"/>
                  <a:gd name="T88" fmla="*/ 758 w 2713"/>
                  <a:gd name="T89" fmla="*/ 816 h 1611"/>
                  <a:gd name="T90" fmla="*/ 736 w 2713"/>
                  <a:gd name="T91" fmla="*/ 934 h 1611"/>
                  <a:gd name="T92" fmla="*/ 736 w 2713"/>
                  <a:gd name="T93" fmla="*/ 1213 h 1611"/>
                  <a:gd name="T94" fmla="*/ 736 w 2713"/>
                  <a:gd name="T95" fmla="*/ 1404 h 1611"/>
                  <a:gd name="T96" fmla="*/ 749 w 2713"/>
                  <a:gd name="T97" fmla="*/ 1567 h 1611"/>
                  <a:gd name="T98" fmla="*/ 706 w 2713"/>
                  <a:gd name="T99" fmla="*/ 1611 h 1611"/>
                  <a:gd name="T100" fmla="*/ 691 w 2713"/>
                  <a:gd name="T101" fmla="*/ 1580 h 1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713" h="1611">
                    <a:moveTo>
                      <a:pt x="691" y="1580"/>
                    </a:moveTo>
                    <a:lnTo>
                      <a:pt x="699" y="1426"/>
                    </a:lnTo>
                    <a:lnTo>
                      <a:pt x="691" y="1088"/>
                    </a:lnTo>
                    <a:lnTo>
                      <a:pt x="691" y="838"/>
                    </a:lnTo>
                    <a:lnTo>
                      <a:pt x="654" y="772"/>
                    </a:lnTo>
                    <a:lnTo>
                      <a:pt x="381" y="485"/>
                    </a:lnTo>
                    <a:lnTo>
                      <a:pt x="205" y="309"/>
                    </a:lnTo>
                    <a:lnTo>
                      <a:pt x="59" y="183"/>
                    </a:lnTo>
                    <a:lnTo>
                      <a:pt x="0" y="118"/>
                    </a:lnTo>
                    <a:lnTo>
                      <a:pt x="15" y="81"/>
                    </a:lnTo>
                    <a:lnTo>
                      <a:pt x="37" y="81"/>
                    </a:lnTo>
                    <a:lnTo>
                      <a:pt x="139" y="191"/>
                    </a:lnTo>
                    <a:lnTo>
                      <a:pt x="279" y="301"/>
                    </a:lnTo>
                    <a:lnTo>
                      <a:pt x="412" y="479"/>
                    </a:lnTo>
                    <a:lnTo>
                      <a:pt x="536" y="610"/>
                    </a:lnTo>
                    <a:lnTo>
                      <a:pt x="654" y="699"/>
                    </a:lnTo>
                    <a:lnTo>
                      <a:pt x="727" y="764"/>
                    </a:lnTo>
                    <a:lnTo>
                      <a:pt x="779" y="751"/>
                    </a:lnTo>
                    <a:lnTo>
                      <a:pt x="830" y="714"/>
                    </a:lnTo>
                    <a:lnTo>
                      <a:pt x="993" y="677"/>
                    </a:lnTo>
                    <a:lnTo>
                      <a:pt x="1287" y="596"/>
                    </a:lnTo>
                    <a:lnTo>
                      <a:pt x="1463" y="500"/>
                    </a:lnTo>
                    <a:lnTo>
                      <a:pt x="1668" y="412"/>
                    </a:lnTo>
                    <a:lnTo>
                      <a:pt x="1882" y="331"/>
                    </a:lnTo>
                    <a:lnTo>
                      <a:pt x="2103" y="235"/>
                    </a:lnTo>
                    <a:lnTo>
                      <a:pt x="2258" y="183"/>
                    </a:lnTo>
                    <a:lnTo>
                      <a:pt x="2441" y="103"/>
                    </a:lnTo>
                    <a:lnTo>
                      <a:pt x="2587" y="66"/>
                    </a:lnTo>
                    <a:lnTo>
                      <a:pt x="2713" y="0"/>
                    </a:lnTo>
                    <a:lnTo>
                      <a:pt x="2669" y="118"/>
                    </a:lnTo>
                    <a:lnTo>
                      <a:pt x="2595" y="118"/>
                    </a:lnTo>
                    <a:lnTo>
                      <a:pt x="2500" y="139"/>
                    </a:lnTo>
                    <a:lnTo>
                      <a:pt x="2330" y="191"/>
                    </a:lnTo>
                    <a:lnTo>
                      <a:pt x="2206" y="242"/>
                    </a:lnTo>
                    <a:lnTo>
                      <a:pt x="2051" y="294"/>
                    </a:lnTo>
                    <a:lnTo>
                      <a:pt x="1949" y="346"/>
                    </a:lnTo>
                    <a:lnTo>
                      <a:pt x="1779" y="412"/>
                    </a:lnTo>
                    <a:lnTo>
                      <a:pt x="1668" y="412"/>
                    </a:lnTo>
                    <a:lnTo>
                      <a:pt x="1507" y="529"/>
                    </a:lnTo>
                    <a:lnTo>
                      <a:pt x="1396" y="581"/>
                    </a:lnTo>
                    <a:lnTo>
                      <a:pt x="1257" y="632"/>
                    </a:lnTo>
                    <a:lnTo>
                      <a:pt x="1080" y="692"/>
                    </a:lnTo>
                    <a:lnTo>
                      <a:pt x="941" y="727"/>
                    </a:lnTo>
                    <a:lnTo>
                      <a:pt x="845" y="772"/>
                    </a:lnTo>
                    <a:lnTo>
                      <a:pt x="758" y="816"/>
                    </a:lnTo>
                    <a:lnTo>
                      <a:pt x="736" y="934"/>
                    </a:lnTo>
                    <a:lnTo>
                      <a:pt x="736" y="1213"/>
                    </a:lnTo>
                    <a:lnTo>
                      <a:pt x="736" y="1404"/>
                    </a:lnTo>
                    <a:lnTo>
                      <a:pt x="749" y="1567"/>
                    </a:lnTo>
                    <a:lnTo>
                      <a:pt x="706" y="1611"/>
                    </a:lnTo>
                    <a:lnTo>
                      <a:pt x="691" y="15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88526" name="Freeform 14">
              <a:extLst>
                <a:ext uri="{FF2B5EF4-FFF2-40B4-BE49-F238E27FC236}">
                  <a16:creationId xmlns="" xmlns:a16="http://schemas.microsoft.com/office/drawing/2014/main" id="{4001D85F-FC1D-43FD-9652-447C8D75458E}"/>
                </a:ext>
              </a:extLst>
            </p:cNvPr>
            <p:cNvSpPr>
              <a:spLocks/>
            </p:cNvSpPr>
            <p:nvPr/>
          </p:nvSpPr>
          <p:spPr bwMode="auto">
            <a:xfrm>
              <a:off x="1309" y="2326"/>
              <a:ext cx="328" cy="227"/>
            </a:xfrm>
            <a:custGeom>
              <a:avLst/>
              <a:gdLst>
                <a:gd name="T0" fmla="*/ 8 w 655"/>
                <a:gd name="T1" fmla="*/ 133 h 456"/>
                <a:gd name="T2" fmla="*/ 170 w 655"/>
                <a:gd name="T3" fmla="*/ 96 h 456"/>
                <a:gd name="T4" fmla="*/ 265 w 655"/>
                <a:gd name="T5" fmla="*/ 52 h 456"/>
                <a:gd name="T6" fmla="*/ 332 w 655"/>
                <a:gd name="T7" fmla="*/ 0 h 456"/>
                <a:gd name="T8" fmla="*/ 398 w 655"/>
                <a:gd name="T9" fmla="*/ 67 h 456"/>
                <a:gd name="T10" fmla="*/ 500 w 655"/>
                <a:gd name="T11" fmla="*/ 163 h 456"/>
                <a:gd name="T12" fmla="*/ 589 w 655"/>
                <a:gd name="T13" fmla="*/ 214 h 456"/>
                <a:gd name="T14" fmla="*/ 655 w 655"/>
                <a:gd name="T15" fmla="*/ 281 h 456"/>
                <a:gd name="T16" fmla="*/ 618 w 655"/>
                <a:gd name="T17" fmla="*/ 339 h 456"/>
                <a:gd name="T18" fmla="*/ 487 w 655"/>
                <a:gd name="T19" fmla="*/ 398 h 456"/>
                <a:gd name="T20" fmla="*/ 354 w 655"/>
                <a:gd name="T21" fmla="*/ 456 h 456"/>
                <a:gd name="T22" fmla="*/ 295 w 655"/>
                <a:gd name="T23" fmla="*/ 456 h 456"/>
                <a:gd name="T24" fmla="*/ 213 w 655"/>
                <a:gd name="T25" fmla="*/ 353 h 456"/>
                <a:gd name="T26" fmla="*/ 133 w 655"/>
                <a:gd name="T27" fmla="*/ 287 h 456"/>
                <a:gd name="T28" fmla="*/ 52 w 655"/>
                <a:gd name="T29" fmla="*/ 244 h 456"/>
                <a:gd name="T30" fmla="*/ 0 w 655"/>
                <a:gd name="T31" fmla="*/ 170 h 456"/>
                <a:gd name="T32" fmla="*/ 8 w 655"/>
                <a:gd name="T33" fmla="*/ 133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55" h="456">
                  <a:moveTo>
                    <a:pt x="8" y="133"/>
                  </a:moveTo>
                  <a:lnTo>
                    <a:pt x="170" y="96"/>
                  </a:lnTo>
                  <a:lnTo>
                    <a:pt x="265" y="52"/>
                  </a:lnTo>
                  <a:lnTo>
                    <a:pt x="332" y="0"/>
                  </a:lnTo>
                  <a:lnTo>
                    <a:pt x="398" y="67"/>
                  </a:lnTo>
                  <a:lnTo>
                    <a:pt x="500" y="163"/>
                  </a:lnTo>
                  <a:lnTo>
                    <a:pt x="589" y="214"/>
                  </a:lnTo>
                  <a:lnTo>
                    <a:pt x="655" y="281"/>
                  </a:lnTo>
                  <a:lnTo>
                    <a:pt x="618" y="339"/>
                  </a:lnTo>
                  <a:lnTo>
                    <a:pt x="487" y="398"/>
                  </a:lnTo>
                  <a:lnTo>
                    <a:pt x="354" y="456"/>
                  </a:lnTo>
                  <a:lnTo>
                    <a:pt x="295" y="456"/>
                  </a:lnTo>
                  <a:lnTo>
                    <a:pt x="213" y="353"/>
                  </a:lnTo>
                  <a:lnTo>
                    <a:pt x="133" y="287"/>
                  </a:lnTo>
                  <a:lnTo>
                    <a:pt x="52" y="244"/>
                  </a:lnTo>
                  <a:lnTo>
                    <a:pt x="0" y="170"/>
                  </a:lnTo>
                  <a:lnTo>
                    <a:pt x="8" y="133"/>
                  </a:lnTo>
                  <a:close/>
                </a:path>
              </a:pathLst>
            </a:custGeom>
            <a:solidFill>
              <a:srgbClr val="F8F8F8"/>
            </a:solidFill>
            <a:ln w="7938">
              <a:solidFill>
                <a:srgbClr val="000000"/>
              </a:solidFill>
              <a:prstDash val="solid"/>
              <a:round/>
              <a:headEnd/>
              <a:tailEnd/>
            </a:ln>
          </p:spPr>
          <p:txBody>
            <a:bodyPr/>
            <a:lstStyle/>
            <a:p>
              <a:endParaRPr lang="en-US"/>
            </a:p>
          </p:txBody>
        </p:sp>
        <p:sp>
          <p:nvSpPr>
            <p:cNvPr id="1088527" name="Freeform 15">
              <a:extLst>
                <a:ext uri="{FF2B5EF4-FFF2-40B4-BE49-F238E27FC236}">
                  <a16:creationId xmlns="" xmlns:a16="http://schemas.microsoft.com/office/drawing/2014/main" id="{1477BA43-956F-4408-B8CD-C8F36759D7EA}"/>
                </a:ext>
              </a:extLst>
            </p:cNvPr>
            <p:cNvSpPr>
              <a:spLocks/>
            </p:cNvSpPr>
            <p:nvPr/>
          </p:nvSpPr>
          <p:spPr bwMode="auto">
            <a:xfrm>
              <a:off x="1372" y="2326"/>
              <a:ext cx="70" cy="115"/>
            </a:xfrm>
            <a:custGeom>
              <a:avLst/>
              <a:gdLst>
                <a:gd name="T0" fmla="*/ 134 w 141"/>
                <a:gd name="T1" fmla="*/ 191 h 228"/>
                <a:gd name="T2" fmla="*/ 24 w 141"/>
                <a:gd name="T3" fmla="*/ 0 h 228"/>
                <a:gd name="T4" fmla="*/ 0 w 141"/>
                <a:gd name="T5" fmla="*/ 15 h 228"/>
                <a:gd name="T6" fmla="*/ 9 w 141"/>
                <a:gd name="T7" fmla="*/ 37 h 228"/>
                <a:gd name="T8" fmla="*/ 113 w 141"/>
                <a:gd name="T9" fmla="*/ 221 h 228"/>
                <a:gd name="T10" fmla="*/ 141 w 141"/>
                <a:gd name="T11" fmla="*/ 228 h 228"/>
                <a:gd name="T12" fmla="*/ 134 w 141"/>
                <a:gd name="T13" fmla="*/ 191 h 228"/>
              </a:gdLst>
              <a:ahLst/>
              <a:cxnLst>
                <a:cxn ang="0">
                  <a:pos x="T0" y="T1"/>
                </a:cxn>
                <a:cxn ang="0">
                  <a:pos x="T2" y="T3"/>
                </a:cxn>
                <a:cxn ang="0">
                  <a:pos x="T4" y="T5"/>
                </a:cxn>
                <a:cxn ang="0">
                  <a:pos x="T6" y="T7"/>
                </a:cxn>
                <a:cxn ang="0">
                  <a:pos x="T8" y="T9"/>
                </a:cxn>
                <a:cxn ang="0">
                  <a:pos x="T10" y="T11"/>
                </a:cxn>
                <a:cxn ang="0">
                  <a:pos x="T12" y="T13"/>
                </a:cxn>
              </a:cxnLst>
              <a:rect l="0" t="0" r="r" b="b"/>
              <a:pathLst>
                <a:path w="141" h="228">
                  <a:moveTo>
                    <a:pt x="134" y="191"/>
                  </a:moveTo>
                  <a:lnTo>
                    <a:pt x="24" y="0"/>
                  </a:lnTo>
                  <a:lnTo>
                    <a:pt x="0" y="15"/>
                  </a:lnTo>
                  <a:lnTo>
                    <a:pt x="9" y="37"/>
                  </a:lnTo>
                  <a:lnTo>
                    <a:pt x="113" y="221"/>
                  </a:lnTo>
                  <a:lnTo>
                    <a:pt x="141" y="228"/>
                  </a:lnTo>
                  <a:lnTo>
                    <a:pt x="134" y="1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88528" name="Group 16">
            <a:extLst>
              <a:ext uri="{FF2B5EF4-FFF2-40B4-BE49-F238E27FC236}">
                <a16:creationId xmlns="" xmlns:a16="http://schemas.microsoft.com/office/drawing/2014/main" id="{F179CA38-DF6B-4327-9635-91B1ADF6AF64}"/>
              </a:ext>
            </a:extLst>
          </p:cNvPr>
          <p:cNvGrpSpPr>
            <a:grpSpLocks/>
          </p:cNvGrpSpPr>
          <p:nvPr/>
        </p:nvGrpSpPr>
        <p:grpSpPr bwMode="auto">
          <a:xfrm>
            <a:off x="2494624" y="2788601"/>
            <a:ext cx="514350" cy="781050"/>
            <a:chOff x="1214" y="1987"/>
            <a:chExt cx="324" cy="492"/>
          </a:xfrm>
        </p:grpSpPr>
        <p:sp>
          <p:nvSpPr>
            <p:cNvPr id="1088529" name="Freeform 17">
              <a:extLst>
                <a:ext uri="{FF2B5EF4-FFF2-40B4-BE49-F238E27FC236}">
                  <a16:creationId xmlns="" xmlns:a16="http://schemas.microsoft.com/office/drawing/2014/main" id="{4B4B4318-3EC8-4C51-8C43-B55F810DE75C}"/>
                </a:ext>
              </a:extLst>
            </p:cNvPr>
            <p:cNvSpPr>
              <a:spLocks/>
            </p:cNvSpPr>
            <p:nvPr/>
          </p:nvSpPr>
          <p:spPr bwMode="auto">
            <a:xfrm>
              <a:off x="1327" y="1987"/>
              <a:ext cx="145" cy="199"/>
            </a:xfrm>
            <a:custGeom>
              <a:avLst/>
              <a:gdLst>
                <a:gd name="T0" fmla="*/ 22 w 290"/>
                <a:gd name="T1" fmla="*/ 103 h 398"/>
                <a:gd name="T2" fmla="*/ 45 w 290"/>
                <a:gd name="T3" fmla="*/ 62 h 398"/>
                <a:gd name="T4" fmla="*/ 86 w 290"/>
                <a:gd name="T5" fmla="*/ 17 h 398"/>
                <a:gd name="T6" fmla="*/ 129 w 290"/>
                <a:gd name="T7" fmla="*/ 2 h 398"/>
                <a:gd name="T8" fmla="*/ 166 w 290"/>
                <a:gd name="T9" fmla="*/ 0 h 398"/>
                <a:gd name="T10" fmla="*/ 208 w 290"/>
                <a:gd name="T11" fmla="*/ 23 h 398"/>
                <a:gd name="T12" fmla="*/ 235 w 290"/>
                <a:gd name="T13" fmla="*/ 75 h 398"/>
                <a:gd name="T14" fmla="*/ 249 w 290"/>
                <a:gd name="T15" fmla="*/ 118 h 398"/>
                <a:gd name="T16" fmla="*/ 245 w 290"/>
                <a:gd name="T17" fmla="*/ 162 h 398"/>
                <a:gd name="T18" fmla="*/ 235 w 290"/>
                <a:gd name="T19" fmla="*/ 215 h 398"/>
                <a:gd name="T20" fmla="*/ 223 w 290"/>
                <a:gd name="T21" fmla="*/ 263 h 398"/>
                <a:gd name="T22" fmla="*/ 223 w 290"/>
                <a:gd name="T23" fmla="*/ 274 h 398"/>
                <a:gd name="T24" fmla="*/ 242 w 290"/>
                <a:gd name="T25" fmla="*/ 323 h 398"/>
                <a:gd name="T26" fmla="*/ 280 w 290"/>
                <a:gd name="T27" fmla="*/ 367 h 398"/>
                <a:gd name="T28" fmla="*/ 290 w 290"/>
                <a:gd name="T29" fmla="*/ 380 h 398"/>
                <a:gd name="T30" fmla="*/ 279 w 290"/>
                <a:gd name="T31" fmla="*/ 395 h 398"/>
                <a:gd name="T32" fmla="*/ 260 w 290"/>
                <a:gd name="T33" fmla="*/ 398 h 398"/>
                <a:gd name="T34" fmla="*/ 224 w 290"/>
                <a:gd name="T35" fmla="*/ 338 h 398"/>
                <a:gd name="T36" fmla="*/ 207 w 290"/>
                <a:gd name="T37" fmla="*/ 298 h 398"/>
                <a:gd name="T38" fmla="*/ 185 w 290"/>
                <a:gd name="T39" fmla="*/ 331 h 398"/>
                <a:gd name="T40" fmla="*/ 167 w 290"/>
                <a:gd name="T41" fmla="*/ 358 h 398"/>
                <a:gd name="T42" fmla="*/ 125 w 290"/>
                <a:gd name="T43" fmla="*/ 384 h 398"/>
                <a:gd name="T44" fmla="*/ 93 w 290"/>
                <a:gd name="T45" fmla="*/ 391 h 398"/>
                <a:gd name="T46" fmla="*/ 37 w 290"/>
                <a:gd name="T47" fmla="*/ 378 h 398"/>
                <a:gd name="T48" fmla="*/ 8 w 290"/>
                <a:gd name="T49" fmla="*/ 312 h 398"/>
                <a:gd name="T50" fmla="*/ 0 w 290"/>
                <a:gd name="T51" fmla="*/ 220 h 398"/>
                <a:gd name="T52" fmla="*/ 4 w 290"/>
                <a:gd name="T53" fmla="*/ 131 h 398"/>
                <a:gd name="T54" fmla="*/ 22 w 290"/>
                <a:gd name="T55" fmla="*/ 103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90" h="398">
                  <a:moveTo>
                    <a:pt x="22" y="103"/>
                  </a:moveTo>
                  <a:lnTo>
                    <a:pt x="45" y="62"/>
                  </a:lnTo>
                  <a:lnTo>
                    <a:pt x="86" y="17"/>
                  </a:lnTo>
                  <a:lnTo>
                    <a:pt x="129" y="2"/>
                  </a:lnTo>
                  <a:lnTo>
                    <a:pt x="166" y="0"/>
                  </a:lnTo>
                  <a:lnTo>
                    <a:pt x="208" y="23"/>
                  </a:lnTo>
                  <a:lnTo>
                    <a:pt x="235" y="75"/>
                  </a:lnTo>
                  <a:lnTo>
                    <a:pt x="249" y="118"/>
                  </a:lnTo>
                  <a:lnTo>
                    <a:pt x="245" y="162"/>
                  </a:lnTo>
                  <a:lnTo>
                    <a:pt x="235" y="215"/>
                  </a:lnTo>
                  <a:lnTo>
                    <a:pt x="223" y="263"/>
                  </a:lnTo>
                  <a:lnTo>
                    <a:pt x="223" y="274"/>
                  </a:lnTo>
                  <a:lnTo>
                    <a:pt x="242" y="323"/>
                  </a:lnTo>
                  <a:lnTo>
                    <a:pt x="280" y="367"/>
                  </a:lnTo>
                  <a:lnTo>
                    <a:pt x="290" y="380"/>
                  </a:lnTo>
                  <a:lnTo>
                    <a:pt x="279" y="395"/>
                  </a:lnTo>
                  <a:lnTo>
                    <a:pt x="260" y="398"/>
                  </a:lnTo>
                  <a:lnTo>
                    <a:pt x="224" y="338"/>
                  </a:lnTo>
                  <a:lnTo>
                    <a:pt x="207" y="298"/>
                  </a:lnTo>
                  <a:lnTo>
                    <a:pt x="185" y="331"/>
                  </a:lnTo>
                  <a:lnTo>
                    <a:pt x="167" y="358"/>
                  </a:lnTo>
                  <a:lnTo>
                    <a:pt x="125" y="384"/>
                  </a:lnTo>
                  <a:lnTo>
                    <a:pt x="93" y="391"/>
                  </a:lnTo>
                  <a:lnTo>
                    <a:pt x="37" y="378"/>
                  </a:lnTo>
                  <a:lnTo>
                    <a:pt x="8" y="312"/>
                  </a:lnTo>
                  <a:lnTo>
                    <a:pt x="0" y="220"/>
                  </a:lnTo>
                  <a:lnTo>
                    <a:pt x="4" y="131"/>
                  </a:lnTo>
                  <a:lnTo>
                    <a:pt x="22"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30" name="Freeform 18">
              <a:extLst>
                <a:ext uri="{FF2B5EF4-FFF2-40B4-BE49-F238E27FC236}">
                  <a16:creationId xmlns="" xmlns:a16="http://schemas.microsoft.com/office/drawing/2014/main" id="{656B1439-8A02-42A1-BD0E-A54C6E3C99F4}"/>
                </a:ext>
              </a:extLst>
            </p:cNvPr>
            <p:cNvSpPr>
              <a:spLocks/>
            </p:cNvSpPr>
            <p:nvPr/>
          </p:nvSpPr>
          <p:spPr bwMode="auto">
            <a:xfrm>
              <a:off x="1214" y="2205"/>
              <a:ext cx="277" cy="274"/>
            </a:xfrm>
            <a:custGeom>
              <a:avLst/>
              <a:gdLst>
                <a:gd name="T0" fmla="*/ 170 w 553"/>
                <a:gd name="T1" fmla="*/ 22 h 548"/>
                <a:gd name="T2" fmla="*/ 222 w 553"/>
                <a:gd name="T3" fmla="*/ 4 h 548"/>
                <a:gd name="T4" fmla="*/ 258 w 553"/>
                <a:gd name="T5" fmla="*/ 0 h 548"/>
                <a:gd name="T6" fmla="*/ 288 w 553"/>
                <a:gd name="T7" fmla="*/ 4 h 548"/>
                <a:gd name="T8" fmla="*/ 303 w 553"/>
                <a:gd name="T9" fmla="*/ 19 h 548"/>
                <a:gd name="T10" fmla="*/ 295 w 553"/>
                <a:gd name="T11" fmla="*/ 57 h 548"/>
                <a:gd name="T12" fmla="*/ 244 w 553"/>
                <a:gd name="T13" fmla="*/ 78 h 548"/>
                <a:gd name="T14" fmla="*/ 190 w 553"/>
                <a:gd name="T15" fmla="*/ 78 h 548"/>
                <a:gd name="T16" fmla="*/ 131 w 553"/>
                <a:gd name="T17" fmla="*/ 87 h 548"/>
                <a:gd name="T18" fmla="*/ 87 w 553"/>
                <a:gd name="T19" fmla="*/ 106 h 548"/>
                <a:gd name="T20" fmla="*/ 46 w 553"/>
                <a:gd name="T21" fmla="*/ 136 h 548"/>
                <a:gd name="T22" fmla="*/ 43 w 553"/>
                <a:gd name="T23" fmla="*/ 180 h 548"/>
                <a:gd name="T24" fmla="*/ 60 w 553"/>
                <a:gd name="T25" fmla="*/ 224 h 548"/>
                <a:gd name="T26" fmla="*/ 102 w 553"/>
                <a:gd name="T27" fmla="*/ 261 h 548"/>
                <a:gd name="T28" fmla="*/ 168 w 553"/>
                <a:gd name="T29" fmla="*/ 291 h 548"/>
                <a:gd name="T30" fmla="*/ 257 w 553"/>
                <a:gd name="T31" fmla="*/ 322 h 548"/>
                <a:gd name="T32" fmla="*/ 347 w 553"/>
                <a:gd name="T33" fmla="*/ 348 h 548"/>
                <a:gd name="T34" fmla="*/ 406 w 553"/>
                <a:gd name="T35" fmla="*/ 373 h 548"/>
                <a:gd name="T36" fmla="*/ 434 w 553"/>
                <a:gd name="T37" fmla="*/ 381 h 548"/>
                <a:gd name="T38" fmla="*/ 425 w 553"/>
                <a:gd name="T39" fmla="*/ 415 h 548"/>
                <a:gd name="T40" fmla="*/ 434 w 553"/>
                <a:gd name="T41" fmla="*/ 462 h 548"/>
                <a:gd name="T42" fmla="*/ 486 w 553"/>
                <a:gd name="T43" fmla="*/ 484 h 548"/>
                <a:gd name="T44" fmla="*/ 551 w 553"/>
                <a:gd name="T45" fmla="*/ 512 h 548"/>
                <a:gd name="T46" fmla="*/ 553 w 553"/>
                <a:gd name="T47" fmla="*/ 548 h 548"/>
                <a:gd name="T48" fmla="*/ 486 w 553"/>
                <a:gd name="T49" fmla="*/ 518 h 548"/>
                <a:gd name="T50" fmla="*/ 406 w 553"/>
                <a:gd name="T51" fmla="*/ 484 h 548"/>
                <a:gd name="T52" fmla="*/ 388 w 553"/>
                <a:gd name="T53" fmla="*/ 447 h 548"/>
                <a:gd name="T54" fmla="*/ 388 w 553"/>
                <a:gd name="T55" fmla="*/ 403 h 548"/>
                <a:gd name="T56" fmla="*/ 347 w 553"/>
                <a:gd name="T57" fmla="*/ 381 h 548"/>
                <a:gd name="T58" fmla="*/ 242 w 553"/>
                <a:gd name="T59" fmla="*/ 351 h 548"/>
                <a:gd name="T60" fmla="*/ 164 w 553"/>
                <a:gd name="T61" fmla="*/ 322 h 548"/>
                <a:gd name="T62" fmla="*/ 75 w 553"/>
                <a:gd name="T63" fmla="*/ 283 h 548"/>
                <a:gd name="T64" fmla="*/ 13 w 553"/>
                <a:gd name="T65" fmla="*/ 239 h 548"/>
                <a:gd name="T66" fmla="*/ 1 w 553"/>
                <a:gd name="T67" fmla="*/ 198 h 548"/>
                <a:gd name="T68" fmla="*/ 0 w 553"/>
                <a:gd name="T69" fmla="*/ 165 h 548"/>
                <a:gd name="T70" fmla="*/ 1 w 553"/>
                <a:gd name="T71" fmla="*/ 116 h 548"/>
                <a:gd name="T72" fmla="*/ 38 w 553"/>
                <a:gd name="T73" fmla="*/ 80 h 548"/>
                <a:gd name="T74" fmla="*/ 94 w 553"/>
                <a:gd name="T75" fmla="*/ 56 h 548"/>
                <a:gd name="T76" fmla="*/ 140 w 553"/>
                <a:gd name="T77" fmla="*/ 34 h 548"/>
                <a:gd name="T78" fmla="*/ 170 w 553"/>
                <a:gd name="T79" fmla="*/ 22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53" h="548">
                  <a:moveTo>
                    <a:pt x="170" y="22"/>
                  </a:moveTo>
                  <a:lnTo>
                    <a:pt x="222" y="4"/>
                  </a:lnTo>
                  <a:lnTo>
                    <a:pt x="258" y="0"/>
                  </a:lnTo>
                  <a:lnTo>
                    <a:pt x="288" y="4"/>
                  </a:lnTo>
                  <a:lnTo>
                    <a:pt x="303" y="19"/>
                  </a:lnTo>
                  <a:lnTo>
                    <a:pt x="295" y="57"/>
                  </a:lnTo>
                  <a:lnTo>
                    <a:pt x="244" y="78"/>
                  </a:lnTo>
                  <a:lnTo>
                    <a:pt x="190" y="78"/>
                  </a:lnTo>
                  <a:lnTo>
                    <a:pt x="131" y="87"/>
                  </a:lnTo>
                  <a:lnTo>
                    <a:pt x="87" y="106"/>
                  </a:lnTo>
                  <a:lnTo>
                    <a:pt x="46" y="136"/>
                  </a:lnTo>
                  <a:lnTo>
                    <a:pt x="43" y="180"/>
                  </a:lnTo>
                  <a:lnTo>
                    <a:pt x="60" y="224"/>
                  </a:lnTo>
                  <a:lnTo>
                    <a:pt x="102" y="261"/>
                  </a:lnTo>
                  <a:lnTo>
                    <a:pt x="168" y="291"/>
                  </a:lnTo>
                  <a:lnTo>
                    <a:pt x="257" y="322"/>
                  </a:lnTo>
                  <a:lnTo>
                    <a:pt x="347" y="348"/>
                  </a:lnTo>
                  <a:lnTo>
                    <a:pt x="406" y="373"/>
                  </a:lnTo>
                  <a:lnTo>
                    <a:pt x="434" y="381"/>
                  </a:lnTo>
                  <a:lnTo>
                    <a:pt x="425" y="415"/>
                  </a:lnTo>
                  <a:lnTo>
                    <a:pt x="434" y="462"/>
                  </a:lnTo>
                  <a:lnTo>
                    <a:pt x="486" y="484"/>
                  </a:lnTo>
                  <a:lnTo>
                    <a:pt x="551" y="512"/>
                  </a:lnTo>
                  <a:lnTo>
                    <a:pt x="553" y="548"/>
                  </a:lnTo>
                  <a:lnTo>
                    <a:pt x="486" y="518"/>
                  </a:lnTo>
                  <a:lnTo>
                    <a:pt x="406" y="484"/>
                  </a:lnTo>
                  <a:lnTo>
                    <a:pt x="388" y="447"/>
                  </a:lnTo>
                  <a:lnTo>
                    <a:pt x="388" y="403"/>
                  </a:lnTo>
                  <a:lnTo>
                    <a:pt x="347" y="381"/>
                  </a:lnTo>
                  <a:lnTo>
                    <a:pt x="242" y="351"/>
                  </a:lnTo>
                  <a:lnTo>
                    <a:pt x="164" y="322"/>
                  </a:lnTo>
                  <a:lnTo>
                    <a:pt x="75" y="283"/>
                  </a:lnTo>
                  <a:lnTo>
                    <a:pt x="13" y="239"/>
                  </a:lnTo>
                  <a:lnTo>
                    <a:pt x="1" y="198"/>
                  </a:lnTo>
                  <a:lnTo>
                    <a:pt x="0" y="165"/>
                  </a:lnTo>
                  <a:lnTo>
                    <a:pt x="1" y="116"/>
                  </a:lnTo>
                  <a:lnTo>
                    <a:pt x="38" y="80"/>
                  </a:lnTo>
                  <a:lnTo>
                    <a:pt x="94" y="56"/>
                  </a:lnTo>
                  <a:lnTo>
                    <a:pt x="140" y="34"/>
                  </a:lnTo>
                  <a:lnTo>
                    <a:pt x="17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31" name="Freeform 19">
              <a:extLst>
                <a:ext uri="{FF2B5EF4-FFF2-40B4-BE49-F238E27FC236}">
                  <a16:creationId xmlns="" xmlns:a16="http://schemas.microsoft.com/office/drawing/2014/main" id="{46B72662-7FB8-43FD-9285-94518265ED29}"/>
                </a:ext>
              </a:extLst>
            </p:cNvPr>
            <p:cNvSpPr>
              <a:spLocks/>
            </p:cNvSpPr>
            <p:nvPr/>
          </p:nvSpPr>
          <p:spPr bwMode="auto">
            <a:xfrm>
              <a:off x="1386" y="2202"/>
              <a:ext cx="152" cy="162"/>
            </a:xfrm>
            <a:custGeom>
              <a:avLst/>
              <a:gdLst>
                <a:gd name="T0" fmla="*/ 133 w 304"/>
                <a:gd name="T1" fmla="*/ 22 h 324"/>
                <a:gd name="T2" fmla="*/ 81 w 304"/>
                <a:gd name="T3" fmla="*/ 4 h 324"/>
                <a:gd name="T4" fmla="*/ 45 w 304"/>
                <a:gd name="T5" fmla="*/ 0 h 324"/>
                <a:gd name="T6" fmla="*/ 15 w 304"/>
                <a:gd name="T7" fmla="*/ 4 h 324"/>
                <a:gd name="T8" fmla="*/ 0 w 304"/>
                <a:gd name="T9" fmla="*/ 19 h 324"/>
                <a:gd name="T10" fmla="*/ 12 w 304"/>
                <a:gd name="T11" fmla="*/ 40 h 324"/>
                <a:gd name="T12" fmla="*/ 70 w 304"/>
                <a:gd name="T13" fmla="*/ 48 h 324"/>
                <a:gd name="T14" fmla="*/ 127 w 304"/>
                <a:gd name="T15" fmla="*/ 72 h 324"/>
                <a:gd name="T16" fmla="*/ 172 w 304"/>
                <a:gd name="T17" fmla="*/ 87 h 324"/>
                <a:gd name="T18" fmla="*/ 216 w 304"/>
                <a:gd name="T19" fmla="*/ 108 h 324"/>
                <a:gd name="T20" fmla="*/ 257 w 304"/>
                <a:gd name="T21" fmla="*/ 137 h 324"/>
                <a:gd name="T22" fmla="*/ 260 w 304"/>
                <a:gd name="T23" fmla="*/ 182 h 324"/>
                <a:gd name="T24" fmla="*/ 242 w 304"/>
                <a:gd name="T25" fmla="*/ 225 h 324"/>
                <a:gd name="T26" fmla="*/ 201 w 304"/>
                <a:gd name="T27" fmla="*/ 262 h 324"/>
                <a:gd name="T28" fmla="*/ 135 w 304"/>
                <a:gd name="T29" fmla="*/ 291 h 324"/>
                <a:gd name="T30" fmla="*/ 140 w 304"/>
                <a:gd name="T31" fmla="*/ 324 h 324"/>
                <a:gd name="T32" fmla="*/ 228 w 304"/>
                <a:gd name="T33" fmla="*/ 284 h 324"/>
                <a:gd name="T34" fmla="*/ 289 w 304"/>
                <a:gd name="T35" fmla="*/ 241 h 324"/>
                <a:gd name="T36" fmla="*/ 301 w 304"/>
                <a:gd name="T37" fmla="*/ 198 h 324"/>
                <a:gd name="T38" fmla="*/ 304 w 304"/>
                <a:gd name="T39" fmla="*/ 167 h 324"/>
                <a:gd name="T40" fmla="*/ 301 w 304"/>
                <a:gd name="T41" fmla="*/ 117 h 324"/>
                <a:gd name="T42" fmla="*/ 264 w 304"/>
                <a:gd name="T43" fmla="*/ 81 h 324"/>
                <a:gd name="T44" fmla="*/ 208 w 304"/>
                <a:gd name="T45" fmla="*/ 56 h 324"/>
                <a:gd name="T46" fmla="*/ 161 w 304"/>
                <a:gd name="T47" fmla="*/ 34 h 324"/>
                <a:gd name="T48" fmla="*/ 133 w 304"/>
                <a:gd name="T49" fmla="*/ 22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04" h="324">
                  <a:moveTo>
                    <a:pt x="133" y="22"/>
                  </a:moveTo>
                  <a:lnTo>
                    <a:pt x="81" y="4"/>
                  </a:lnTo>
                  <a:lnTo>
                    <a:pt x="45" y="0"/>
                  </a:lnTo>
                  <a:lnTo>
                    <a:pt x="15" y="4"/>
                  </a:lnTo>
                  <a:lnTo>
                    <a:pt x="0" y="19"/>
                  </a:lnTo>
                  <a:lnTo>
                    <a:pt x="12" y="40"/>
                  </a:lnTo>
                  <a:lnTo>
                    <a:pt x="70" y="48"/>
                  </a:lnTo>
                  <a:lnTo>
                    <a:pt x="127" y="72"/>
                  </a:lnTo>
                  <a:lnTo>
                    <a:pt x="172" y="87"/>
                  </a:lnTo>
                  <a:lnTo>
                    <a:pt x="216" y="108"/>
                  </a:lnTo>
                  <a:lnTo>
                    <a:pt x="257" y="137"/>
                  </a:lnTo>
                  <a:lnTo>
                    <a:pt x="260" y="182"/>
                  </a:lnTo>
                  <a:lnTo>
                    <a:pt x="242" y="225"/>
                  </a:lnTo>
                  <a:lnTo>
                    <a:pt x="201" y="262"/>
                  </a:lnTo>
                  <a:lnTo>
                    <a:pt x="135" y="291"/>
                  </a:lnTo>
                  <a:lnTo>
                    <a:pt x="140" y="324"/>
                  </a:lnTo>
                  <a:lnTo>
                    <a:pt x="228" y="284"/>
                  </a:lnTo>
                  <a:lnTo>
                    <a:pt x="289" y="241"/>
                  </a:lnTo>
                  <a:lnTo>
                    <a:pt x="301" y="198"/>
                  </a:lnTo>
                  <a:lnTo>
                    <a:pt x="304" y="167"/>
                  </a:lnTo>
                  <a:lnTo>
                    <a:pt x="301" y="117"/>
                  </a:lnTo>
                  <a:lnTo>
                    <a:pt x="264" y="81"/>
                  </a:lnTo>
                  <a:lnTo>
                    <a:pt x="208" y="56"/>
                  </a:lnTo>
                  <a:lnTo>
                    <a:pt x="161" y="34"/>
                  </a:lnTo>
                  <a:lnTo>
                    <a:pt x="133"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88532" name="Group 20">
            <a:extLst>
              <a:ext uri="{FF2B5EF4-FFF2-40B4-BE49-F238E27FC236}">
                <a16:creationId xmlns="" xmlns:a16="http://schemas.microsoft.com/office/drawing/2014/main" id="{DD8496DC-9713-42D3-8060-C1F60C37E217}"/>
              </a:ext>
            </a:extLst>
          </p:cNvPr>
          <p:cNvGrpSpPr>
            <a:grpSpLocks/>
          </p:cNvGrpSpPr>
          <p:nvPr/>
        </p:nvGrpSpPr>
        <p:grpSpPr bwMode="auto">
          <a:xfrm>
            <a:off x="1902488" y="2150427"/>
            <a:ext cx="1927225" cy="1754187"/>
            <a:chOff x="841" y="1585"/>
            <a:chExt cx="1214" cy="1105"/>
          </a:xfrm>
        </p:grpSpPr>
        <p:grpSp>
          <p:nvGrpSpPr>
            <p:cNvPr id="1088533" name="Group 21">
              <a:extLst>
                <a:ext uri="{FF2B5EF4-FFF2-40B4-BE49-F238E27FC236}">
                  <a16:creationId xmlns="" xmlns:a16="http://schemas.microsoft.com/office/drawing/2014/main" id="{DF922672-99EE-4DCA-AD83-B9B28A6E167E}"/>
                </a:ext>
              </a:extLst>
            </p:cNvPr>
            <p:cNvGrpSpPr>
              <a:grpSpLocks/>
            </p:cNvGrpSpPr>
            <p:nvPr/>
          </p:nvGrpSpPr>
          <p:grpSpPr bwMode="auto">
            <a:xfrm>
              <a:off x="1651" y="1585"/>
              <a:ext cx="404" cy="911"/>
              <a:chOff x="1651" y="1585"/>
              <a:chExt cx="404" cy="911"/>
            </a:xfrm>
          </p:grpSpPr>
          <p:sp>
            <p:nvSpPr>
              <p:cNvPr id="1088534" name="Freeform 22">
                <a:extLst>
                  <a:ext uri="{FF2B5EF4-FFF2-40B4-BE49-F238E27FC236}">
                    <a16:creationId xmlns="" xmlns:a16="http://schemas.microsoft.com/office/drawing/2014/main" id="{E04402A1-1502-4EB9-85A6-8C9437B9918B}"/>
                  </a:ext>
                </a:extLst>
              </p:cNvPr>
              <p:cNvSpPr>
                <a:spLocks/>
              </p:cNvSpPr>
              <p:nvPr/>
            </p:nvSpPr>
            <p:spPr bwMode="auto">
              <a:xfrm>
                <a:off x="1660" y="1625"/>
                <a:ext cx="211" cy="859"/>
              </a:xfrm>
              <a:custGeom>
                <a:avLst/>
                <a:gdLst>
                  <a:gd name="T0" fmla="*/ 417 w 424"/>
                  <a:gd name="T1" fmla="*/ 309 h 1717"/>
                  <a:gd name="T2" fmla="*/ 424 w 424"/>
                  <a:gd name="T3" fmla="*/ 372 h 1717"/>
                  <a:gd name="T4" fmla="*/ 424 w 424"/>
                  <a:gd name="T5" fmla="*/ 712 h 1717"/>
                  <a:gd name="T6" fmla="*/ 394 w 424"/>
                  <a:gd name="T7" fmla="*/ 1169 h 1717"/>
                  <a:gd name="T8" fmla="*/ 397 w 424"/>
                  <a:gd name="T9" fmla="*/ 1460 h 1717"/>
                  <a:gd name="T10" fmla="*/ 412 w 424"/>
                  <a:gd name="T11" fmla="*/ 1661 h 1717"/>
                  <a:gd name="T12" fmla="*/ 397 w 424"/>
                  <a:gd name="T13" fmla="*/ 1717 h 1717"/>
                  <a:gd name="T14" fmla="*/ 372 w 424"/>
                  <a:gd name="T15" fmla="*/ 1705 h 1717"/>
                  <a:gd name="T16" fmla="*/ 228 w 424"/>
                  <a:gd name="T17" fmla="*/ 1594 h 1717"/>
                  <a:gd name="T18" fmla="*/ 192 w 424"/>
                  <a:gd name="T19" fmla="*/ 1572 h 1717"/>
                  <a:gd name="T20" fmla="*/ 170 w 424"/>
                  <a:gd name="T21" fmla="*/ 1541 h 1717"/>
                  <a:gd name="T22" fmla="*/ 133 w 424"/>
                  <a:gd name="T23" fmla="*/ 1498 h 1717"/>
                  <a:gd name="T24" fmla="*/ 83 w 424"/>
                  <a:gd name="T25" fmla="*/ 1455 h 1717"/>
                  <a:gd name="T26" fmla="*/ 59 w 424"/>
                  <a:gd name="T27" fmla="*/ 1396 h 1717"/>
                  <a:gd name="T28" fmla="*/ 0 w 424"/>
                  <a:gd name="T29" fmla="*/ 1345 h 1717"/>
                  <a:gd name="T30" fmla="*/ 0 w 424"/>
                  <a:gd name="T31" fmla="*/ 1315 h 1717"/>
                  <a:gd name="T32" fmla="*/ 32 w 424"/>
                  <a:gd name="T33" fmla="*/ 1276 h 1717"/>
                  <a:gd name="T34" fmla="*/ 44 w 424"/>
                  <a:gd name="T35" fmla="*/ 1225 h 1717"/>
                  <a:gd name="T36" fmla="*/ 37 w 424"/>
                  <a:gd name="T37" fmla="*/ 1198 h 1717"/>
                  <a:gd name="T38" fmla="*/ 22 w 424"/>
                  <a:gd name="T39" fmla="*/ 1154 h 1717"/>
                  <a:gd name="T40" fmla="*/ 16 w 424"/>
                  <a:gd name="T41" fmla="*/ 1122 h 1717"/>
                  <a:gd name="T42" fmla="*/ 40 w 424"/>
                  <a:gd name="T43" fmla="*/ 1073 h 1717"/>
                  <a:gd name="T44" fmla="*/ 40 w 424"/>
                  <a:gd name="T45" fmla="*/ 1040 h 1717"/>
                  <a:gd name="T46" fmla="*/ 15 w 424"/>
                  <a:gd name="T47" fmla="*/ 975 h 1717"/>
                  <a:gd name="T48" fmla="*/ 15 w 424"/>
                  <a:gd name="T49" fmla="*/ 938 h 1717"/>
                  <a:gd name="T50" fmla="*/ 29 w 424"/>
                  <a:gd name="T51" fmla="*/ 909 h 1717"/>
                  <a:gd name="T52" fmla="*/ 53 w 424"/>
                  <a:gd name="T53" fmla="*/ 875 h 1717"/>
                  <a:gd name="T54" fmla="*/ 52 w 424"/>
                  <a:gd name="T55" fmla="*/ 816 h 1717"/>
                  <a:gd name="T56" fmla="*/ 37 w 424"/>
                  <a:gd name="T57" fmla="*/ 768 h 1717"/>
                  <a:gd name="T58" fmla="*/ 52 w 424"/>
                  <a:gd name="T59" fmla="*/ 712 h 1717"/>
                  <a:gd name="T60" fmla="*/ 66 w 424"/>
                  <a:gd name="T61" fmla="*/ 699 h 1717"/>
                  <a:gd name="T62" fmla="*/ 53 w 424"/>
                  <a:gd name="T63" fmla="*/ 647 h 1717"/>
                  <a:gd name="T64" fmla="*/ 22 w 424"/>
                  <a:gd name="T65" fmla="*/ 592 h 1717"/>
                  <a:gd name="T66" fmla="*/ 15 w 424"/>
                  <a:gd name="T67" fmla="*/ 556 h 1717"/>
                  <a:gd name="T68" fmla="*/ 22 w 424"/>
                  <a:gd name="T69" fmla="*/ 522 h 1717"/>
                  <a:gd name="T70" fmla="*/ 62 w 424"/>
                  <a:gd name="T71" fmla="*/ 492 h 1717"/>
                  <a:gd name="T72" fmla="*/ 59 w 424"/>
                  <a:gd name="T73" fmla="*/ 468 h 1717"/>
                  <a:gd name="T74" fmla="*/ 16 w 424"/>
                  <a:gd name="T75" fmla="*/ 390 h 1717"/>
                  <a:gd name="T76" fmla="*/ 3 w 424"/>
                  <a:gd name="T77" fmla="*/ 328 h 1717"/>
                  <a:gd name="T78" fmla="*/ 15 w 424"/>
                  <a:gd name="T79" fmla="*/ 294 h 1717"/>
                  <a:gd name="T80" fmla="*/ 53 w 424"/>
                  <a:gd name="T81" fmla="*/ 263 h 1717"/>
                  <a:gd name="T82" fmla="*/ 44 w 424"/>
                  <a:gd name="T83" fmla="*/ 235 h 1717"/>
                  <a:gd name="T84" fmla="*/ 16 w 424"/>
                  <a:gd name="T85" fmla="*/ 204 h 1717"/>
                  <a:gd name="T86" fmla="*/ 16 w 424"/>
                  <a:gd name="T87" fmla="*/ 170 h 1717"/>
                  <a:gd name="T88" fmla="*/ 62 w 424"/>
                  <a:gd name="T89" fmla="*/ 146 h 1717"/>
                  <a:gd name="T90" fmla="*/ 81 w 424"/>
                  <a:gd name="T91" fmla="*/ 122 h 1717"/>
                  <a:gd name="T92" fmla="*/ 44 w 424"/>
                  <a:gd name="T93" fmla="*/ 71 h 1717"/>
                  <a:gd name="T94" fmla="*/ 44 w 424"/>
                  <a:gd name="T95" fmla="*/ 44 h 1717"/>
                  <a:gd name="T96" fmla="*/ 88 w 424"/>
                  <a:gd name="T97" fmla="*/ 27 h 1717"/>
                  <a:gd name="T98" fmla="*/ 90 w 424"/>
                  <a:gd name="T99" fmla="*/ 0 h 1717"/>
                  <a:gd name="T100" fmla="*/ 140 w 424"/>
                  <a:gd name="T101" fmla="*/ 71 h 1717"/>
                  <a:gd name="T102" fmla="*/ 198 w 424"/>
                  <a:gd name="T103" fmla="*/ 145 h 1717"/>
                  <a:gd name="T104" fmla="*/ 272 w 424"/>
                  <a:gd name="T105" fmla="*/ 204 h 1717"/>
                  <a:gd name="T106" fmla="*/ 331 w 424"/>
                  <a:gd name="T107" fmla="*/ 250 h 1717"/>
                  <a:gd name="T108" fmla="*/ 394 w 424"/>
                  <a:gd name="T109" fmla="*/ 287 h 1717"/>
                  <a:gd name="T110" fmla="*/ 417 w 424"/>
                  <a:gd name="T111" fmla="*/ 309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4" h="1717">
                    <a:moveTo>
                      <a:pt x="417" y="309"/>
                    </a:moveTo>
                    <a:lnTo>
                      <a:pt x="424" y="372"/>
                    </a:lnTo>
                    <a:lnTo>
                      <a:pt x="424" y="712"/>
                    </a:lnTo>
                    <a:lnTo>
                      <a:pt x="394" y="1169"/>
                    </a:lnTo>
                    <a:lnTo>
                      <a:pt x="397" y="1460"/>
                    </a:lnTo>
                    <a:lnTo>
                      <a:pt x="412" y="1661"/>
                    </a:lnTo>
                    <a:lnTo>
                      <a:pt x="397" y="1717"/>
                    </a:lnTo>
                    <a:lnTo>
                      <a:pt x="372" y="1705"/>
                    </a:lnTo>
                    <a:lnTo>
                      <a:pt x="228" y="1594"/>
                    </a:lnTo>
                    <a:lnTo>
                      <a:pt x="192" y="1572"/>
                    </a:lnTo>
                    <a:lnTo>
                      <a:pt x="170" y="1541"/>
                    </a:lnTo>
                    <a:lnTo>
                      <a:pt x="133" y="1498"/>
                    </a:lnTo>
                    <a:lnTo>
                      <a:pt x="83" y="1455"/>
                    </a:lnTo>
                    <a:lnTo>
                      <a:pt x="59" y="1396"/>
                    </a:lnTo>
                    <a:lnTo>
                      <a:pt x="0" y="1345"/>
                    </a:lnTo>
                    <a:lnTo>
                      <a:pt x="0" y="1315"/>
                    </a:lnTo>
                    <a:lnTo>
                      <a:pt x="32" y="1276"/>
                    </a:lnTo>
                    <a:lnTo>
                      <a:pt x="44" y="1225"/>
                    </a:lnTo>
                    <a:lnTo>
                      <a:pt x="37" y="1198"/>
                    </a:lnTo>
                    <a:lnTo>
                      <a:pt x="22" y="1154"/>
                    </a:lnTo>
                    <a:lnTo>
                      <a:pt x="16" y="1122"/>
                    </a:lnTo>
                    <a:lnTo>
                      <a:pt x="40" y="1073"/>
                    </a:lnTo>
                    <a:lnTo>
                      <a:pt x="40" y="1040"/>
                    </a:lnTo>
                    <a:lnTo>
                      <a:pt x="15" y="975"/>
                    </a:lnTo>
                    <a:lnTo>
                      <a:pt x="15" y="938"/>
                    </a:lnTo>
                    <a:lnTo>
                      <a:pt x="29" y="909"/>
                    </a:lnTo>
                    <a:lnTo>
                      <a:pt x="53" y="875"/>
                    </a:lnTo>
                    <a:lnTo>
                      <a:pt x="52" y="816"/>
                    </a:lnTo>
                    <a:lnTo>
                      <a:pt x="37" y="768"/>
                    </a:lnTo>
                    <a:lnTo>
                      <a:pt x="52" y="712"/>
                    </a:lnTo>
                    <a:lnTo>
                      <a:pt x="66" y="699"/>
                    </a:lnTo>
                    <a:lnTo>
                      <a:pt x="53" y="647"/>
                    </a:lnTo>
                    <a:lnTo>
                      <a:pt x="22" y="592"/>
                    </a:lnTo>
                    <a:lnTo>
                      <a:pt x="15" y="556"/>
                    </a:lnTo>
                    <a:lnTo>
                      <a:pt x="22" y="522"/>
                    </a:lnTo>
                    <a:lnTo>
                      <a:pt x="62" y="492"/>
                    </a:lnTo>
                    <a:lnTo>
                      <a:pt x="59" y="468"/>
                    </a:lnTo>
                    <a:lnTo>
                      <a:pt x="16" y="390"/>
                    </a:lnTo>
                    <a:lnTo>
                      <a:pt x="3" y="328"/>
                    </a:lnTo>
                    <a:lnTo>
                      <a:pt x="15" y="294"/>
                    </a:lnTo>
                    <a:lnTo>
                      <a:pt x="53" y="263"/>
                    </a:lnTo>
                    <a:lnTo>
                      <a:pt x="44" y="235"/>
                    </a:lnTo>
                    <a:lnTo>
                      <a:pt x="16" y="204"/>
                    </a:lnTo>
                    <a:lnTo>
                      <a:pt x="16" y="170"/>
                    </a:lnTo>
                    <a:lnTo>
                      <a:pt x="62" y="146"/>
                    </a:lnTo>
                    <a:lnTo>
                      <a:pt x="81" y="122"/>
                    </a:lnTo>
                    <a:lnTo>
                      <a:pt x="44" y="71"/>
                    </a:lnTo>
                    <a:lnTo>
                      <a:pt x="44" y="44"/>
                    </a:lnTo>
                    <a:lnTo>
                      <a:pt x="88" y="27"/>
                    </a:lnTo>
                    <a:lnTo>
                      <a:pt x="90" y="0"/>
                    </a:lnTo>
                    <a:lnTo>
                      <a:pt x="140" y="71"/>
                    </a:lnTo>
                    <a:lnTo>
                      <a:pt x="198" y="145"/>
                    </a:lnTo>
                    <a:lnTo>
                      <a:pt x="272" y="204"/>
                    </a:lnTo>
                    <a:lnTo>
                      <a:pt x="331" y="250"/>
                    </a:lnTo>
                    <a:lnTo>
                      <a:pt x="394" y="287"/>
                    </a:lnTo>
                    <a:lnTo>
                      <a:pt x="417" y="309"/>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35" name="Freeform 23">
                <a:extLst>
                  <a:ext uri="{FF2B5EF4-FFF2-40B4-BE49-F238E27FC236}">
                    <a16:creationId xmlns="" xmlns:a16="http://schemas.microsoft.com/office/drawing/2014/main" id="{EBD909DE-085E-4E57-950D-713C1129E5ED}"/>
                  </a:ext>
                </a:extLst>
              </p:cNvPr>
              <p:cNvSpPr>
                <a:spLocks/>
              </p:cNvSpPr>
              <p:nvPr/>
            </p:nvSpPr>
            <p:spPr bwMode="auto">
              <a:xfrm>
                <a:off x="1651" y="1638"/>
                <a:ext cx="62" cy="654"/>
              </a:xfrm>
              <a:custGeom>
                <a:avLst/>
                <a:gdLst>
                  <a:gd name="T0" fmla="*/ 83 w 123"/>
                  <a:gd name="T1" fmla="*/ 44 h 1308"/>
                  <a:gd name="T2" fmla="*/ 123 w 123"/>
                  <a:gd name="T3" fmla="*/ 90 h 1308"/>
                  <a:gd name="T4" fmla="*/ 98 w 123"/>
                  <a:gd name="T5" fmla="*/ 127 h 1308"/>
                  <a:gd name="T6" fmla="*/ 46 w 123"/>
                  <a:gd name="T7" fmla="*/ 153 h 1308"/>
                  <a:gd name="T8" fmla="*/ 67 w 123"/>
                  <a:gd name="T9" fmla="*/ 190 h 1308"/>
                  <a:gd name="T10" fmla="*/ 91 w 123"/>
                  <a:gd name="T11" fmla="*/ 237 h 1308"/>
                  <a:gd name="T12" fmla="*/ 61 w 123"/>
                  <a:gd name="T13" fmla="*/ 267 h 1308"/>
                  <a:gd name="T14" fmla="*/ 37 w 123"/>
                  <a:gd name="T15" fmla="*/ 304 h 1308"/>
                  <a:gd name="T16" fmla="*/ 61 w 123"/>
                  <a:gd name="T17" fmla="*/ 369 h 1308"/>
                  <a:gd name="T18" fmla="*/ 91 w 123"/>
                  <a:gd name="T19" fmla="*/ 428 h 1308"/>
                  <a:gd name="T20" fmla="*/ 83 w 123"/>
                  <a:gd name="T21" fmla="*/ 480 h 1308"/>
                  <a:gd name="T22" fmla="*/ 46 w 123"/>
                  <a:gd name="T23" fmla="*/ 524 h 1308"/>
                  <a:gd name="T24" fmla="*/ 89 w 123"/>
                  <a:gd name="T25" fmla="*/ 617 h 1308"/>
                  <a:gd name="T26" fmla="*/ 105 w 123"/>
                  <a:gd name="T27" fmla="*/ 675 h 1308"/>
                  <a:gd name="T28" fmla="*/ 74 w 123"/>
                  <a:gd name="T29" fmla="*/ 719 h 1308"/>
                  <a:gd name="T30" fmla="*/ 80 w 123"/>
                  <a:gd name="T31" fmla="*/ 786 h 1308"/>
                  <a:gd name="T32" fmla="*/ 104 w 123"/>
                  <a:gd name="T33" fmla="*/ 852 h 1308"/>
                  <a:gd name="T34" fmla="*/ 76 w 123"/>
                  <a:gd name="T35" fmla="*/ 889 h 1308"/>
                  <a:gd name="T36" fmla="*/ 39 w 123"/>
                  <a:gd name="T37" fmla="*/ 932 h 1308"/>
                  <a:gd name="T38" fmla="*/ 76 w 123"/>
                  <a:gd name="T39" fmla="*/ 1013 h 1308"/>
                  <a:gd name="T40" fmla="*/ 91 w 123"/>
                  <a:gd name="T41" fmla="*/ 1068 h 1308"/>
                  <a:gd name="T42" fmla="*/ 58 w 123"/>
                  <a:gd name="T43" fmla="*/ 1080 h 1308"/>
                  <a:gd name="T44" fmla="*/ 67 w 123"/>
                  <a:gd name="T45" fmla="*/ 1168 h 1308"/>
                  <a:gd name="T46" fmla="*/ 83 w 123"/>
                  <a:gd name="T47" fmla="*/ 1214 h 1308"/>
                  <a:gd name="T48" fmla="*/ 58 w 123"/>
                  <a:gd name="T49" fmla="*/ 1266 h 1308"/>
                  <a:gd name="T50" fmla="*/ 2 w 123"/>
                  <a:gd name="T51" fmla="*/ 1293 h 1308"/>
                  <a:gd name="T52" fmla="*/ 43 w 123"/>
                  <a:gd name="T53" fmla="*/ 1204 h 1308"/>
                  <a:gd name="T54" fmla="*/ 24 w 123"/>
                  <a:gd name="T55" fmla="*/ 1131 h 1308"/>
                  <a:gd name="T56" fmla="*/ 30 w 123"/>
                  <a:gd name="T57" fmla="*/ 1068 h 1308"/>
                  <a:gd name="T58" fmla="*/ 46 w 123"/>
                  <a:gd name="T59" fmla="*/ 1036 h 1308"/>
                  <a:gd name="T60" fmla="*/ 9 w 123"/>
                  <a:gd name="T61" fmla="*/ 957 h 1308"/>
                  <a:gd name="T62" fmla="*/ 9 w 123"/>
                  <a:gd name="T63" fmla="*/ 876 h 1308"/>
                  <a:gd name="T64" fmla="*/ 54 w 123"/>
                  <a:gd name="T65" fmla="*/ 839 h 1308"/>
                  <a:gd name="T66" fmla="*/ 43 w 123"/>
                  <a:gd name="T67" fmla="*/ 781 h 1308"/>
                  <a:gd name="T68" fmla="*/ 31 w 123"/>
                  <a:gd name="T69" fmla="*/ 712 h 1308"/>
                  <a:gd name="T70" fmla="*/ 67 w 123"/>
                  <a:gd name="T71" fmla="*/ 669 h 1308"/>
                  <a:gd name="T72" fmla="*/ 52 w 123"/>
                  <a:gd name="T73" fmla="*/ 619 h 1308"/>
                  <a:gd name="T74" fmla="*/ 9 w 123"/>
                  <a:gd name="T75" fmla="*/ 543 h 1308"/>
                  <a:gd name="T76" fmla="*/ 17 w 123"/>
                  <a:gd name="T77" fmla="*/ 492 h 1308"/>
                  <a:gd name="T78" fmla="*/ 54 w 123"/>
                  <a:gd name="T79" fmla="*/ 450 h 1308"/>
                  <a:gd name="T80" fmla="*/ 15 w 123"/>
                  <a:gd name="T81" fmla="*/ 353 h 1308"/>
                  <a:gd name="T82" fmla="*/ 0 w 123"/>
                  <a:gd name="T83" fmla="*/ 295 h 1308"/>
                  <a:gd name="T84" fmla="*/ 31 w 123"/>
                  <a:gd name="T85" fmla="*/ 252 h 1308"/>
                  <a:gd name="T86" fmla="*/ 46 w 123"/>
                  <a:gd name="T87" fmla="*/ 223 h 1308"/>
                  <a:gd name="T88" fmla="*/ 9 w 123"/>
                  <a:gd name="T89" fmla="*/ 176 h 1308"/>
                  <a:gd name="T90" fmla="*/ 24 w 123"/>
                  <a:gd name="T91" fmla="*/ 131 h 1308"/>
                  <a:gd name="T92" fmla="*/ 67 w 123"/>
                  <a:gd name="T93" fmla="*/ 103 h 1308"/>
                  <a:gd name="T94" fmla="*/ 68 w 123"/>
                  <a:gd name="T95" fmla="*/ 68 h 1308"/>
                  <a:gd name="T96" fmla="*/ 46 w 123"/>
                  <a:gd name="T97" fmla="*/ 23 h 1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3" h="1308">
                    <a:moveTo>
                      <a:pt x="61" y="0"/>
                    </a:moveTo>
                    <a:lnTo>
                      <a:pt x="83" y="44"/>
                    </a:lnTo>
                    <a:lnTo>
                      <a:pt x="104" y="72"/>
                    </a:lnTo>
                    <a:lnTo>
                      <a:pt x="123" y="90"/>
                    </a:lnTo>
                    <a:lnTo>
                      <a:pt x="117" y="112"/>
                    </a:lnTo>
                    <a:lnTo>
                      <a:pt x="98" y="127"/>
                    </a:lnTo>
                    <a:lnTo>
                      <a:pt x="68" y="134"/>
                    </a:lnTo>
                    <a:lnTo>
                      <a:pt x="46" y="153"/>
                    </a:lnTo>
                    <a:lnTo>
                      <a:pt x="52" y="176"/>
                    </a:lnTo>
                    <a:lnTo>
                      <a:pt x="67" y="190"/>
                    </a:lnTo>
                    <a:lnTo>
                      <a:pt x="91" y="220"/>
                    </a:lnTo>
                    <a:lnTo>
                      <a:pt x="91" y="237"/>
                    </a:lnTo>
                    <a:lnTo>
                      <a:pt x="83" y="252"/>
                    </a:lnTo>
                    <a:lnTo>
                      <a:pt x="61" y="267"/>
                    </a:lnTo>
                    <a:lnTo>
                      <a:pt x="39" y="282"/>
                    </a:lnTo>
                    <a:lnTo>
                      <a:pt x="37" y="304"/>
                    </a:lnTo>
                    <a:lnTo>
                      <a:pt x="43" y="325"/>
                    </a:lnTo>
                    <a:lnTo>
                      <a:pt x="61" y="369"/>
                    </a:lnTo>
                    <a:lnTo>
                      <a:pt x="76" y="403"/>
                    </a:lnTo>
                    <a:lnTo>
                      <a:pt x="91" y="428"/>
                    </a:lnTo>
                    <a:lnTo>
                      <a:pt x="91" y="455"/>
                    </a:lnTo>
                    <a:lnTo>
                      <a:pt x="83" y="480"/>
                    </a:lnTo>
                    <a:lnTo>
                      <a:pt x="61" y="502"/>
                    </a:lnTo>
                    <a:lnTo>
                      <a:pt x="46" y="524"/>
                    </a:lnTo>
                    <a:lnTo>
                      <a:pt x="52" y="561"/>
                    </a:lnTo>
                    <a:lnTo>
                      <a:pt x="89" y="617"/>
                    </a:lnTo>
                    <a:lnTo>
                      <a:pt x="104" y="647"/>
                    </a:lnTo>
                    <a:lnTo>
                      <a:pt x="105" y="675"/>
                    </a:lnTo>
                    <a:lnTo>
                      <a:pt x="91" y="697"/>
                    </a:lnTo>
                    <a:lnTo>
                      <a:pt x="74" y="719"/>
                    </a:lnTo>
                    <a:lnTo>
                      <a:pt x="68" y="749"/>
                    </a:lnTo>
                    <a:lnTo>
                      <a:pt x="80" y="786"/>
                    </a:lnTo>
                    <a:lnTo>
                      <a:pt x="95" y="824"/>
                    </a:lnTo>
                    <a:lnTo>
                      <a:pt x="104" y="852"/>
                    </a:lnTo>
                    <a:lnTo>
                      <a:pt x="95" y="870"/>
                    </a:lnTo>
                    <a:lnTo>
                      <a:pt x="76" y="889"/>
                    </a:lnTo>
                    <a:lnTo>
                      <a:pt x="52" y="911"/>
                    </a:lnTo>
                    <a:lnTo>
                      <a:pt x="39" y="932"/>
                    </a:lnTo>
                    <a:lnTo>
                      <a:pt x="52" y="972"/>
                    </a:lnTo>
                    <a:lnTo>
                      <a:pt x="76" y="1013"/>
                    </a:lnTo>
                    <a:lnTo>
                      <a:pt x="89" y="1043"/>
                    </a:lnTo>
                    <a:lnTo>
                      <a:pt x="91" y="1068"/>
                    </a:lnTo>
                    <a:lnTo>
                      <a:pt x="83" y="1080"/>
                    </a:lnTo>
                    <a:lnTo>
                      <a:pt x="58" y="1080"/>
                    </a:lnTo>
                    <a:lnTo>
                      <a:pt x="52" y="1133"/>
                    </a:lnTo>
                    <a:lnTo>
                      <a:pt x="67" y="1168"/>
                    </a:lnTo>
                    <a:lnTo>
                      <a:pt x="80" y="1192"/>
                    </a:lnTo>
                    <a:lnTo>
                      <a:pt x="83" y="1214"/>
                    </a:lnTo>
                    <a:lnTo>
                      <a:pt x="83" y="1235"/>
                    </a:lnTo>
                    <a:lnTo>
                      <a:pt x="58" y="1266"/>
                    </a:lnTo>
                    <a:lnTo>
                      <a:pt x="24" y="1308"/>
                    </a:lnTo>
                    <a:lnTo>
                      <a:pt x="2" y="1293"/>
                    </a:lnTo>
                    <a:lnTo>
                      <a:pt x="9" y="1259"/>
                    </a:lnTo>
                    <a:lnTo>
                      <a:pt x="43" y="1204"/>
                    </a:lnTo>
                    <a:lnTo>
                      <a:pt x="39" y="1170"/>
                    </a:lnTo>
                    <a:lnTo>
                      <a:pt x="24" y="1131"/>
                    </a:lnTo>
                    <a:lnTo>
                      <a:pt x="15" y="1096"/>
                    </a:lnTo>
                    <a:lnTo>
                      <a:pt x="30" y="1068"/>
                    </a:lnTo>
                    <a:lnTo>
                      <a:pt x="43" y="1058"/>
                    </a:lnTo>
                    <a:lnTo>
                      <a:pt x="46" y="1036"/>
                    </a:lnTo>
                    <a:lnTo>
                      <a:pt x="30" y="994"/>
                    </a:lnTo>
                    <a:lnTo>
                      <a:pt x="9" y="957"/>
                    </a:lnTo>
                    <a:lnTo>
                      <a:pt x="0" y="920"/>
                    </a:lnTo>
                    <a:lnTo>
                      <a:pt x="9" y="876"/>
                    </a:lnTo>
                    <a:lnTo>
                      <a:pt x="43" y="860"/>
                    </a:lnTo>
                    <a:lnTo>
                      <a:pt x="54" y="839"/>
                    </a:lnTo>
                    <a:lnTo>
                      <a:pt x="52" y="811"/>
                    </a:lnTo>
                    <a:lnTo>
                      <a:pt x="43" y="781"/>
                    </a:lnTo>
                    <a:lnTo>
                      <a:pt x="31" y="742"/>
                    </a:lnTo>
                    <a:lnTo>
                      <a:pt x="31" y="712"/>
                    </a:lnTo>
                    <a:lnTo>
                      <a:pt x="46" y="693"/>
                    </a:lnTo>
                    <a:lnTo>
                      <a:pt x="67" y="669"/>
                    </a:lnTo>
                    <a:lnTo>
                      <a:pt x="67" y="653"/>
                    </a:lnTo>
                    <a:lnTo>
                      <a:pt x="52" y="619"/>
                    </a:lnTo>
                    <a:lnTo>
                      <a:pt x="22" y="576"/>
                    </a:lnTo>
                    <a:lnTo>
                      <a:pt x="9" y="543"/>
                    </a:lnTo>
                    <a:lnTo>
                      <a:pt x="9" y="517"/>
                    </a:lnTo>
                    <a:lnTo>
                      <a:pt x="17" y="492"/>
                    </a:lnTo>
                    <a:lnTo>
                      <a:pt x="37" y="472"/>
                    </a:lnTo>
                    <a:lnTo>
                      <a:pt x="54" y="450"/>
                    </a:lnTo>
                    <a:lnTo>
                      <a:pt x="54" y="433"/>
                    </a:lnTo>
                    <a:lnTo>
                      <a:pt x="15" y="353"/>
                    </a:lnTo>
                    <a:lnTo>
                      <a:pt x="7" y="323"/>
                    </a:lnTo>
                    <a:lnTo>
                      <a:pt x="0" y="295"/>
                    </a:lnTo>
                    <a:lnTo>
                      <a:pt x="15" y="271"/>
                    </a:lnTo>
                    <a:lnTo>
                      <a:pt x="31" y="252"/>
                    </a:lnTo>
                    <a:lnTo>
                      <a:pt x="46" y="237"/>
                    </a:lnTo>
                    <a:lnTo>
                      <a:pt x="46" y="223"/>
                    </a:lnTo>
                    <a:lnTo>
                      <a:pt x="31" y="200"/>
                    </a:lnTo>
                    <a:lnTo>
                      <a:pt x="9" y="176"/>
                    </a:lnTo>
                    <a:lnTo>
                      <a:pt x="9" y="153"/>
                    </a:lnTo>
                    <a:lnTo>
                      <a:pt x="24" y="131"/>
                    </a:lnTo>
                    <a:lnTo>
                      <a:pt x="46" y="112"/>
                    </a:lnTo>
                    <a:lnTo>
                      <a:pt x="67" y="103"/>
                    </a:lnTo>
                    <a:lnTo>
                      <a:pt x="76" y="88"/>
                    </a:lnTo>
                    <a:lnTo>
                      <a:pt x="68" y="68"/>
                    </a:lnTo>
                    <a:lnTo>
                      <a:pt x="54" y="46"/>
                    </a:lnTo>
                    <a:lnTo>
                      <a:pt x="46" y="23"/>
                    </a:lnTo>
                    <a:lnTo>
                      <a:pt x="6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36" name="Freeform 24">
                <a:extLst>
                  <a:ext uri="{FF2B5EF4-FFF2-40B4-BE49-F238E27FC236}">
                    <a16:creationId xmlns="" xmlns:a16="http://schemas.microsoft.com/office/drawing/2014/main" id="{184C1ADA-64B7-4E34-83B9-E8515F6E1423}"/>
                  </a:ext>
                </a:extLst>
              </p:cNvPr>
              <p:cNvSpPr>
                <a:spLocks/>
              </p:cNvSpPr>
              <p:nvPr/>
            </p:nvSpPr>
            <p:spPr bwMode="auto">
              <a:xfrm>
                <a:off x="1817" y="1797"/>
                <a:ext cx="58" cy="529"/>
              </a:xfrm>
              <a:custGeom>
                <a:avLst/>
                <a:gdLst>
                  <a:gd name="T0" fmla="*/ 103 w 115"/>
                  <a:gd name="T1" fmla="*/ 28 h 1058"/>
                  <a:gd name="T2" fmla="*/ 108 w 115"/>
                  <a:gd name="T3" fmla="*/ 102 h 1058"/>
                  <a:gd name="T4" fmla="*/ 59 w 115"/>
                  <a:gd name="T5" fmla="*/ 132 h 1058"/>
                  <a:gd name="T6" fmla="*/ 74 w 115"/>
                  <a:gd name="T7" fmla="*/ 213 h 1058"/>
                  <a:gd name="T8" fmla="*/ 96 w 115"/>
                  <a:gd name="T9" fmla="*/ 291 h 1058"/>
                  <a:gd name="T10" fmla="*/ 66 w 115"/>
                  <a:gd name="T11" fmla="*/ 330 h 1058"/>
                  <a:gd name="T12" fmla="*/ 74 w 115"/>
                  <a:gd name="T13" fmla="*/ 396 h 1058"/>
                  <a:gd name="T14" fmla="*/ 96 w 115"/>
                  <a:gd name="T15" fmla="*/ 467 h 1058"/>
                  <a:gd name="T16" fmla="*/ 81 w 115"/>
                  <a:gd name="T17" fmla="*/ 519 h 1058"/>
                  <a:gd name="T18" fmla="*/ 56 w 115"/>
                  <a:gd name="T19" fmla="*/ 566 h 1058"/>
                  <a:gd name="T20" fmla="*/ 87 w 115"/>
                  <a:gd name="T21" fmla="*/ 659 h 1058"/>
                  <a:gd name="T22" fmla="*/ 96 w 115"/>
                  <a:gd name="T23" fmla="*/ 720 h 1058"/>
                  <a:gd name="T24" fmla="*/ 41 w 115"/>
                  <a:gd name="T25" fmla="*/ 764 h 1058"/>
                  <a:gd name="T26" fmla="*/ 56 w 115"/>
                  <a:gd name="T27" fmla="*/ 857 h 1058"/>
                  <a:gd name="T28" fmla="*/ 71 w 115"/>
                  <a:gd name="T29" fmla="*/ 937 h 1058"/>
                  <a:gd name="T30" fmla="*/ 41 w 115"/>
                  <a:gd name="T31" fmla="*/ 984 h 1058"/>
                  <a:gd name="T32" fmla="*/ 27 w 115"/>
                  <a:gd name="T33" fmla="*/ 1048 h 1058"/>
                  <a:gd name="T34" fmla="*/ 12 w 115"/>
                  <a:gd name="T35" fmla="*/ 1021 h 1058"/>
                  <a:gd name="T36" fmla="*/ 41 w 115"/>
                  <a:gd name="T37" fmla="*/ 947 h 1058"/>
                  <a:gd name="T38" fmla="*/ 27 w 115"/>
                  <a:gd name="T39" fmla="*/ 838 h 1058"/>
                  <a:gd name="T40" fmla="*/ 19 w 115"/>
                  <a:gd name="T41" fmla="*/ 757 h 1058"/>
                  <a:gd name="T42" fmla="*/ 59 w 115"/>
                  <a:gd name="T43" fmla="*/ 702 h 1058"/>
                  <a:gd name="T44" fmla="*/ 27 w 115"/>
                  <a:gd name="T45" fmla="*/ 624 h 1058"/>
                  <a:gd name="T46" fmla="*/ 19 w 115"/>
                  <a:gd name="T47" fmla="*/ 551 h 1058"/>
                  <a:gd name="T48" fmla="*/ 49 w 115"/>
                  <a:gd name="T49" fmla="*/ 492 h 1058"/>
                  <a:gd name="T50" fmla="*/ 63 w 115"/>
                  <a:gd name="T51" fmla="*/ 448 h 1058"/>
                  <a:gd name="T52" fmla="*/ 34 w 115"/>
                  <a:gd name="T53" fmla="*/ 374 h 1058"/>
                  <a:gd name="T54" fmla="*/ 41 w 115"/>
                  <a:gd name="T55" fmla="*/ 313 h 1058"/>
                  <a:gd name="T56" fmla="*/ 59 w 115"/>
                  <a:gd name="T57" fmla="*/ 269 h 1058"/>
                  <a:gd name="T58" fmla="*/ 37 w 115"/>
                  <a:gd name="T59" fmla="*/ 203 h 1058"/>
                  <a:gd name="T60" fmla="*/ 29 w 115"/>
                  <a:gd name="T61" fmla="*/ 129 h 1058"/>
                  <a:gd name="T62" fmla="*/ 63 w 115"/>
                  <a:gd name="T63" fmla="*/ 80 h 1058"/>
                  <a:gd name="T64" fmla="*/ 66 w 115"/>
                  <a:gd name="T65" fmla="*/ 34 h 1058"/>
                  <a:gd name="T66" fmla="*/ 87 w 115"/>
                  <a:gd name="T67" fmla="*/ 0 h 1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5" h="1058">
                    <a:moveTo>
                      <a:pt x="87" y="0"/>
                    </a:moveTo>
                    <a:lnTo>
                      <a:pt x="103" y="28"/>
                    </a:lnTo>
                    <a:lnTo>
                      <a:pt x="115" y="80"/>
                    </a:lnTo>
                    <a:lnTo>
                      <a:pt x="108" y="102"/>
                    </a:lnTo>
                    <a:lnTo>
                      <a:pt x="78" y="117"/>
                    </a:lnTo>
                    <a:lnTo>
                      <a:pt x="59" y="132"/>
                    </a:lnTo>
                    <a:lnTo>
                      <a:pt x="59" y="173"/>
                    </a:lnTo>
                    <a:lnTo>
                      <a:pt x="74" y="213"/>
                    </a:lnTo>
                    <a:lnTo>
                      <a:pt x="93" y="240"/>
                    </a:lnTo>
                    <a:lnTo>
                      <a:pt x="96" y="291"/>
                    </a:lnTo>
                    <a:lnTo>
                      <a:pt x="85" y="309"/>
                    </a:lnTo>
                    <a:lnTo>
                      <a:pt x="66" y="330"/>
                    </a:lnTo>
                    <a:lnTo>
                      <a:pt x="63" y="365"/>
                    </a:lnTo>
                    <a:lnTo>
                      <a:pt x="74" y="396"/>
                    </a:lnTo>
                    <a:lnTo>
                      <a:pt x="87" y="423"/>
                    </a:lnTo>
                    <a:lnTo>
                      <a:pt x="96" y="467"/>
                    </a:lnTo>
                    <a:lnTo>
                      <a:pt x="96" y="492"/>
                    </a:lnTo>
                    <a:lnTo>
                      <a:pt x="81" y="519"/>
                    </a:lnTo>
                    <a:lnTo>
                      <a:pt x="56" y="544"/>
                    </a:lnTo>
                    <a:lnTo>
                      <a:pt x="56" y="566"/>
                    </a:lnTo>
                    <a:lnTo>
                      <a:pt x="63" y="631"/>
                    </a:lnTo>
                    <a:lnTo>
                      <a:pt x="87" y="659"/>
                    </a:lnTo>
                    <a:lnTo>
                      <a:pt x="103" y="687"/>
                    </a:lnTo>
                    <a:lnTo>
                      <a:pt x="96" y="720"/>
                    </a:lnTo>
                    <a:lnTo>
                      <a:pt x="59" y="742"/>
                    </a:lnTo>
                    <a:lnTo>
                      <a:pt x="41" y="764"/>
                    </a:lnTo>
                    <a:lnTo>
                      <a:pt x="37" y="805"/>
                    </a:lnTo>
                    <a:lnTo>
                      <a:pt x="56" y="857"/>
                    </a:lnTo>
                    <a:lnTo>
                      <a:pt x="71" y="909"/>
                    </a:lnTo>
                    <a:lnTo>
                      <a:pt x="71" y="937"/>
                    </a:lnTo>
                    <a:lnTo>
                      <a:pt x="63" y="977"/>
                    </a:lnTo>
                    <a:lnTo>
                      <a:pt x="41" y="984"/>
                    </a:lnTo>
                    <a:lnTo>
                      <a:pt x="27" y="1014"/>
                    </a:lnTo>
                    <a:lnTo>
                      <a:pt x="27" y="1048"/>
                    </a:lnTo>
                    <a:lnTo>
                      <a:pt x="0" y="1058"/>
                    </a:lnTo>
                    <a:lnTo>
                      <a:pt x="12" y="1021"/>
                    </a:lnTo>
                    <a:lnTo>
                      <a:pt x="34" y="977"/>
                    </a:lnTo>
                    <a:lnTo>
                      <a:pt x="41" y="947"/>
                    </a:lnTo>
                    <a:lnTo>
                      <a:pt x="41" y="888"/>
                    </a:lnTo>
                    <a:lnTo>
                      <a:pt x="27" y="838"/>
                    </a:lnTo>
                    <a:lnTo>
                      <a:pt x="22" y="798"/>
                    </a:lnTo>
                    <a:lnTo>
                      <a:pt x="19" y="757"/>
                    </a:lnTo>
                    <a:lnTo>
                      <a:pt x="44" y="724"/>
                    </a:lnTo>
                    <a:lnTo>
                      <a:pt x="59" y="702"/>
                    </a:lnTo>
                    <a:lnTo>
                      <a:pt x="49" y="659"/>
                    </a:lnTo>
                    <a:lnTo>
                      <a:pt x="27" y="624"/>
                    </a:lnTo>
                    <a:lnTo>
                      <a:pt x="22" y="594"/>
                    </a:lnTo>
                    <a:lnTo>
                      <a:pt x="19" y="551"/>
                    </a:lnTo>
                    <a:lnTo>
                      <a:pt x="29" y="522"/>
                    </a:lnTo>
                    <a:lnTo>
                      <a:pt x="49" y="492"/>
                    </a:lnTo>
                    <a:lnTo>
                      <a:pt x="63" y="470"/>
                    </a:lnTo>
                    <a:lnTo>
                      <a:pt x="63" y="448"/>
                    </a:lnTo>
                    <a:lnTo>
                      <a:pt x="49" y="423"/>
                    </a:lnTo>
                    <a:lnTo>
                      <a:pt x="34" y="374"/>
                    </a:lnTo>
                    <a:lnTo>
                      <a:pt x="34" y="343"/>
                    </a:lnTo>
                    <a:lnTo>
                      <a:pt x="41" y="313"/>
                    </a:lnTo>
                    <a:lnTo>
                      <a:pt x="56" y="291"/>
                    </a:lnTo>
                    <a:lnTo>
                      <a:pt x="59" y="269"/>
                    </a:lnTo>
                    <a:lnTo>
                      <a:pt x="56" y="242"/>
                    </a:lnTo>
                    <a:lnTo>
                      <a:pt x="37" y="203"/>
                    </a:lnTo>
                    <a:lnTo>
                      <a:pt x="27" y="176"/>
                    </a:lnTo>
                    <a:lnTo>
                      <a:pt x="29" y="129"/>
                    </a:lnTo>
                    <a:lnTo>
                      <a:pt x="44" y="110"/>
                    </a:lnTo>
                    <a:lnTo>
                      <a:pt x="63" y="80"/>
                    </a:lnTo>
                    <a:lnTo>
                      <a:pt x="74" y="56"/>
                    </a:lnTo>
                    <a:lnTo>
                      <a:pt x="66" y="34"/>
                    </a:lnTo>
                    <a:lnTo>
                      <a:pt x="71" y="12"/>
                    </a:lnTo>
                    <a:lnTo>
                      <a:pt x="8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37" name="Freeform 25">
                <a:extLst>
                  <a:ext uri="{FF2B5EF4-FFF2-40B4-BE49-F238E27FC236}">
                    <a16:creationId xmlns="" xmlns:a16="http://schemas.microsoft.com/office/drawing/2014/main" id="{66D9E2A5-FE0B-40FA-8759-FC8C8000A57B}"/>
                  </a:ext>
                </a:extLst>
              </p:cNvPr>
              <p:cNvSpPr>
                <a:spLocks/>
              </p:cNvSpPr>
              <p:nvPr/>
            </p:nvSpPr>
            <p:spPr bwMode="auto">
              <a:xfrm>
                <a:off x="1725" y="1734"/>
                <a:ext cx="132" cy="114"/>
              </a:xfrm>
              <a:custGeom>
                <a:avLst/>
                <a:gdLst>
                  <a:gd name="T0" fmla="*/ 264 w 264"/>
                  <a:gd name="T1" fmla="*/ 183 h 227"/>
                  <a:gd name="T2" fmla="*/ 184 w 264"/>
                  <a:gd name="T3" fmla="*/ 117 h 227"/>
                  <a:gd name="T4" fmla="*/ 117 w 264"/>
                  <a:gd name="T5" fmla="*/ 59 h 227"/>
                  <a:gd name="T6" fmla="*/ 56 w 264"/>
                  <a:gd name="T7" fmla="*/ 0 h 227"/>
                  <a:gd name="T8" fmla="*/ 0 w 264"/>
                  <a:gd name="T9" fmla="*/ 0 h 227"/>
                  <a:gd name="T10" fmla="*/ 132 w 264"/>
                  <a:gd name="T11" fmla="*/ 95 h 227"/>
                  <a:gd name="T12" fmla="*/ 195 w 264"/>
                  <a:gd name="T13" fmla="*/ 153 h 227"/>
                  <a:gd name="T14" fmla="*/ 249 w 264"/>
                  <a:gd name="T15" fmla="*/ 227 h 227"/>
                  <a:gd name="T16" fmla="*/ 264 w 264"/>
                  <a:gd name="T17" fmla="*/ 18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4" h="227">
                    <a:moveTo>
                      <a:pt x="264" y="183"/>
                    </a:moveTo>
                    <a:lnTo>
                      <a:pt x="184" y="117"/>
                    </a:lnTo>
                    <a:lnTo>
                      <a:pt x="117" y="59"/>
                    </a:lnTo>
                    <a:lnTo>
                      <a:pt x="56" y="0"/>
                    </a:lnTo>
                    <a:lnTo>
                      <a:pt x="0" y="0"/>
                    </a:lnTo>
                    <a:lnTo>
                      <a:pt x="132" y="95"/>
                    </a:lnTo>
                    <a:lnTo>
                      <a:pt x="195" y="153"/>
                    </a:lnTo>
                    <a:lnTo>
                      <a:pt x="249" y="227"/>
                    </a:lnTo>
                    <a:lnTo>
                      <a:pt x="264" y="1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38" name="Freeform 26">
                <a:extLst>
                  <a:ext uri="{FF2B5EF4-FFF2-40B4-BE49-F238E27FC236}">
                    <a16:creationId xmlns="" xmlns:a16="http://schemas.microsoft.com/office/drawing/2014/main" id="{FCFCE3F7-0607-4ED0-A6E9-0852792A6AFE}"/>
                  </a:ext>
                </a:extLst>
              </p:cNvPr>
              <p:cNvSpPr>
                <a:spLocks/>
              </p:cNvSpPr>
              <p:nvPr/>
            </p:nvSpPr>
            <p:spPr bwMode="auto">
              <a:xfrm>
                <a:off x="1724" y="1799"/>
                <a:ext cx="114" cy="94"/>
              </a:xfrm>
              <a:custGeom>
                <a:avLst/>
                <a:gdLst>
                  <a:gd name="T0" fmla="*/ 228 w 228"/>
                  <a:gd name="T1" fmla="*/ 117 h 187"/>
                  <a:gd name="T2" fmla="*/ 169 w 228"/>
                  <a:gd name="T3" fmla="*/ 95 h 187"/>
                  <a:gd name="T4" fmla="*/ 125 w 228"/>
                  <a:gd name="T5" fmla="*/ 58 h 187"/>
                  <a:gd name="T6" fmla="*/ 45 w 228"/>
                  <a:gd name="T7" fmla="*/ 0 h 187"/>
                  <a:gd name="T8" fmla="*/ 0 w 228"/>
                  <a:gd name="T9" fmla="*/ 0 h 187"/>
                  <a:gd name="T10" fmla="*/ 104 w 228"/>
                  <a:gd name="T11" fmla="*/ 58 h 187"/>
                  <a:gd name="T12" fmla="*/ 143 w 228"/>
                  <a:gd name="T13" fmla="*/ 98 h 187"/>
                  <a:gd name="T14" fmla="*/ 228 w 228"/>
                  <a:gd name="T15" fmla="*/ 187 h 187"/>
                  <a:gd name="T16" fmla="*/ 224 w 228"/>
                  <a:gd name="T17" fmla="*/ 132 h 187"/>
                  <a:gd name="T18" fmla="*/ 228 w 228"/>
                  <a:gd name="T19" fmla="*/ 11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187">
                    <a:moveTo>
                      <a:pt x="228" y="117"/>
                    </a:moveTo>
                    <a:lnTo>
                      <a:pt x="169" y="95"/>
                    </a:lnTo>
                    <a:lnTo>
                      <a:pt x="125" y="58"/>
                    </a:lnTo>
                    <a:lnTo>
                      <a:pt x="45" y="0"/>
                    </a:lnTo>
                    <a:lnTo>
                      <a:pt x="0" y="0"/>
                    </a:lnTo>
                    <a:lnTo>
                      <a:pt x="104" y="58"/>
                    </a:lnTo>
                    <a:lnTo>
                      <a:pt x="143" y="98"/>
                    </a:lnTo>
                    <a:lnTo>
                      <a:pt x="228" y="187"/>
                    </a:lnTo>
                    <a:lnTo>
                      <a:pt x="224" y="132"/>
                    </a:lnTo>
                    <a:lnTo>
                      <a:pt x="228" y="1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39" name="Freeform 27">
                <a:extLst>
                  <a:ext uri="{FF2B5EF4-FFF2-40B4-BE49-F238E27FC236}">
                    <a16:creationId xmlns="" xmlns:a16="http://schemas.microsoft.com/office/drawing/2014/main" id="{DEDE180C-CAC7-47D0-ABB6-F73359FFEBF4}"/>
                  </a:ext>
                </a:extLst>
              </p:cNvPr>
              <p:cNvSpPr>
                <a:spLocks/>
              </p:cNvSpPr>
              <p:nvPr/>
            </p:nvSpPr>
            <p:spPr bwMode="auto">
              <a:xfrm>
                <a:off x="1707" y="1855"/>
                <a:ext cx="134" cy="145"/>
              </a:xfrm>
              <a:custGeom>
                <a:avLst/>
                <a:gdLst>
                  <a:gd name="T0" fmla="*/ 264 w 270"/>
                  <a:gd name="T1" fmla="*/ 216 h 290"/>
                  <a:gd name="T2" fmla="*/ 191 w 270"/>
                  <a:gd name="T3" fmla="*/ 151 h 290"/>
                  <a:gd name="T4" fmla="*/ 162 w 270"/>
                  <a:gd name="T5" fmla="*/ 106 h 290"/>
                  <a:gd name="T6" fmla="*/ 103 w 270"/>
                  <a:gd name="T7" fmla="*/ 62 h 290"/>
                  <a:gd name="T8" fmla="*/ 51 w 270"/>
                  <a:gd name="T9" fmla="*/ 22 h 290"/>
                  <a:gd name="T10" fmla="*/ 14 w 270"/>
                  <a:gd name="T11" fmla="*/ 0 h 290"/>
                  <a:gd name="T12" fmla="*/ 0 w 270"/>
                  <a:gd name="T13" fmla="*/ 0 h 290"/>
                  <a:gd name="T14" fmla="*/ 0 w 270"/>
                  <a:gd name="T15" fmla="*/ 22 h 290"/>
                  <a:gd name="T16" fmla="*/ 44 w 270"/>
                  <a:gd name="T17" fmla="*/ 52 h 290"/>
                  <a:gd name="T18" fmla="*/ 125 w 270"/>
                  <a:gd name="T19" fmla="*/ 103 h 290"/>
                  <a:gd name="T20" fmla="*/ 184 w 270"/>
                  <a:gd name="T21" fmla="*/ 163 h 290"/>
                  <a:gd name="T22" fmla="*/ 225 w 270"/>
                  <a:gd name="T23" fmla="*/ 229 h 290"/>
                  <a:gd name="T24" fmla="*/ 270 w 270"/>
                  <a:gd name="T25" fmla="*/ 290 h 290"/>
                  <a:gd name="T26" fmla="*/ 264 w 270"/>
                  <a:gd name="T27" fmla="*/ 21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0" h="290">
                    <a:moveTo>
                      <a:pt x="264" y="216"/>
                    </a:moveTo>
                    <a:lnTo>
                      <a:pt x="191" y="151"/>
                    </a:lnTo>
                    <a:lnTo>
                      <a:pt x="162" y="106"/>
                    </a:lnTo>
                    <a:lnTo>
                      <a:pt x="103" y="62"/>
                    </a:lnTo>
                    <a:lnTo>
                      <a:pt x="51" y="22"/>
                    </a:lnTo>
                    <a:lnTo>
                      <a:pt x="14" y="0"/>
                    </a:lnTo>
                    <a:lnTo>
                      <a:pt x="0" y="0"/>
                    </a:lnTo>
                    <a:lnTo>
                      <a:pt x="0" y="22"/>
                    </a:lnTo>
                    <a:lnTo>
                      <a:pt x="44" y="52"/>
                    </a:lnTo>
                    <a:lnTo>
                      <a:pt x="125" y="103"/>
                    </a:lnTo>
                    <a:lnTo>
                      <a:pt x="184" y="163"/>
                    </a:lnTo>
                    <a:lnTo>
                      <a:pt x="225" y="229"/>
                    </a:lnTo>
                    <a:lnTo>
                      <a:pt x="270" y="290"/>
                    </a:lnTo>
                    <a:lnTo>
                      <a:pt x="264" y="2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40" name="Freeform 28">
                <a:extLst>
                  <a:ext uri="{FF2B5EF4-FFF2-40B4-BE49-F238E27FC236}">
                    <a16:creationId xmlns="" xmlns:a16="http://schemas.microsoft.com/office/drawing/2014/main" id="{BFF9E191-7831-4DDD-94CD-47D205467859}"/>
                  </a:ext>
                </a:extLst>
              </p:cNvPr>
              <p:cNvSpPr>
                <a:spLocks/>
              </p:cNvSpPr>
              <p:nvPr/>
            </p:nvSpPr>
            <p:spPr bwMode="auto">
              <a:xfrm>
                <a:off x="1720" y="1973"/>
                <a:ext cx="104" cy="85"/>
              </a:xfrm>
              <a:custGeom>
                <a:avLst/>
                <a:gdLst>
                  <a:gd name="T0" fmla="*/ 210 w 210"/>
                  <a:gd name="T1" fmla="*/ 139 h 169"/>
                  <a:gd name="T2" fmla="*/ 151 w 210"/>
                  <a:gd name="T3" fmla="*/ 76 h 169"/>
                  <a:gd name="T4" fmla="*/ 89 w 210"/>
                  <a:gd name="T5" fmla="*/ 37 h 169"/>
                  <a:gd name="T6" fmla="*/ 37 w 210"/>
                  <a:gd name="T7" fmla="*/ 9 h 169"/>
                  <a:gd name="T8" fmla="*/ 0 w 210"/>
                  <a:gd name="T9" fmla="*/ 0 h 169"/>
                  <a:gd name="T10" fmla="*/ 24 w 210"/>
                  <a:gd name="T11" fmla="*/ 37 h 169"/>
                  <a:gd name="T12" fmla="*/ 89 w 210"/>
                  <a:gd name="T13" fmla="*/ 74 h 169"/>
                  <a:gd name="T14" fmla="*/ 141 w 210"/>
                  <a:gd name="T15" fmla="*/ 127 h 169"/>
                  <a:gd name="T16" fmla="*/ 166 w 210"/>
                  <a:gd name="T17" fmla="*/ 163 h 169"/>
                  <a:gd name="T18" fmla="*/ 188 w 210"/>
                  <a:gd name="T19" fmla="*/ 169 h 169"/>
                  <a:gd name="T20" fmla="*/ 208 w 210"/>
                  <a:gd name="T21" fmla="*/ 157 h 169"/>
                  <a:gd name="T22" fmla="*/ 210 w 210"/>
                  <a:gd name="T23" fmla="*/ 139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169">
                    <a:moveTo>
                      <a:pt x="210" y="139"/>
                    </a:moveTo>
                    <a:lnTo>
                      <a:pt x="151" y="76"/>
                    </a:lnTo>
                    <a:lnTo>
                      <a:pt x="89" y="37"/>
                    </a:lnTo>
                    <a:lnTo>
                      <a:pt x="37" y="9"/>
                    </a:lnTo>
                    <a:lnTo>
                      <a:pt x="0" y="0"/>
                    </a:lnTo>
                    <a:lnTo>
                      <a:pt x="24" y="37"/>
                    </a:lnTo>
                    <a:lnTo>
                      <a:pt x="89" y="74"/>
                    </a:lnTo>
                    <a:lnTo>
                      <a:pt x="141" y="127"/>
                    </a:lnTo>
                    <a:lnTo>
                      <a:pt x="166" y="163"/>
                    </a:lnTo>
                    <a:lnTo>
                      <a:pt x="188" y="169"/>
                    </a:lnTo>
                    <a:lnTo>
                      <a:pt x="208" y="157"/>
                    </a:lnTo>
                    <a:lnTo>
                      <a:pt x="210" y="1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41" name="Freeform 29">
                <a:extLst>
                  <a:ext uri="{FF2B5EF4-FFF2-40B4-BE49-F238E27FC236}">
                    <a16:creationId xmlns="" xmlns:a16="http://schemas.microsoft.com/office/drawing/2014/main" id="{8B6CDD3C-99A2-4D02-8621-BE83799A0224}"/>
                  </a:ext>
                </a:extLst>
              </p:cNvPr>
              <p:cNvSpPr>
                <a:spLocks/>
              </p:cNvSpPr>
              <p:nvPr/>
            </p:nvSpPr>
            <p:spPr bwMode="auto">
              <a:xfrm>
                <a:off x="1707" y="2032"/>
                <a:ext cx="116" cy="106"/>
              </a:xfrm>
              <a:custGeom>
                <a:avLst/>
                <a:gdLst>
                  <a:gd name="T0" fmla="*/ 231 w 231"/>
                  <a:gd name="T1" fmla="*/ 195 h 210"/>
                  <a:gd name="T2" fmla="*/ 171 w 231"/>
                  <a:gd name="T3" fmla="*/ 132 h 210"/>
                  <a:gd name="T4" fmla="*/ 97 w 231"/>
                  <a:gd name="T5" fmla="*/ 56 h 210"/>
                  <a:gd name="T6" fmla="*/ 53 w 231"/>
                  <a:gd name="T7" fmla="*/ 19 h 210"/>
                  <a:gd name="T8" fmla="*/ 19 w 231"/>
                  <a:gd name="T9" fmla="*/ 0 h 210"/>
                  <a:gd name="T10" fmla="*/ 0 w 231"/>
                  <a:gd name="T11" fmla="*/ 12 h 210"/>
                  <a:gd name="T12" fmla="*/ 38 w 231"/>
                  <a:gd name="T13" fmla="*/ 44 h 210"/>
                  <a:gd name="T14" fmla="*/ 105 w 231"/>
                  <a:gd name="T15" fmla="*/ 111 h 210"/>
                  <a:gd name="T16" fmla="*/ 167 w 231"/>
                  <a:gd name="T17" fmla="*/ 176 h 210"/>
                  <a:gd name="T18" fmla="*/ 208 w 231"/>
                  <a:gd name="T19" fmla="*/ 210 h 210"/>
                  <a:gd name="T20" fmla="*/ 219 w 231"/>
                  <a:gd name="T21" fmla="*/ 210 h 210"/>
                  <a:gd name="T22" fmla="*/ 231 w 231"/>
                  <a:gd name="T23" fmla="*/ 19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1" h="210">
                    <a:moveTo>
                      <a:pt x="231" y="195"/>
                    </a:moveTo>
                    <a:lnTo>
                      <a:pt x="171" y="132"/>
                    </a:lnTo>
                    <a:lnTo>
                      <a:pt x="97" y="56"/>
                    </a:lnTo>
                    <a:lnTo>
                      <a:pt x="53" y="19"/>
                    </a:lnTo>
                    <a:lnTo>
                      <a:pt x="19" y="0"/>
                    </a:lnTo>
                    <a:lnTo>
                      <a:pt x="0" y="12"/>
                    </a:lnTo>
                    <a:lnTo>
                      <a:pt x="38" y="44"/>
                    </a:lnTo>
                    <a:lnTo>
                      <a:pt x="105" y="111"/>
                    </a:lnTo>
                    <a:lnTo>
                      <a:pt x="167" y="176"/>
                    </a:lnTo>
                    <a:lnTo>
                      <a:pt x="208" y="210"/>
                    </a:lnTo>
                    <a:lnTo>
                      <a:pt x="219" y="210"/>
                    </a:lnTo>
                    <a:lnTo>
                      <a:pt x="231" y="1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42" name="Freeform 30">
                <a:extLst>
                  <a:ext uri="{FF2B5EF4-FFF2-40B4-BE49-F238E27FC236}">
                    <a16:creationId xmlns="" xmlns:a16="http://schemas.microsoft.com/office/drawing/2014/main" id="{339F5588-B3D9-406F-B6F3-4E769CAB0C53}"/>
                  </a:ext>
                </a:extLst>
              </p:cNvPr>
              <p:cNvSpPr>
                <a:spLocks/>
              </p:cNvSpPr>
              <p:nvPr/>
            </p:nvSpPr>
            <p:spPr bwMode="auto">
              <a:xfrm>
                <a:off x="1721" y="2121"/>
                <a:ext cx="81" cy="83"/>
              </a:xfrm>
              <a:custGeom>
                <a:avLst/>
                <a:gdLst>
                  <a:gd name="T0" fmla="*/ 160 w 163"/>
                  <a:gd name="T1" fmla="*/ 140 h 167"/>
                  <a:gd name="T2" fmla="*/ 93 w 163"/>
                  <a:gd name="T3" fmla="*/ 43 h 167"/>
                  <a:gd name="T4" fmla="*/ 29 w 163"/>
                  <a:gd name="T5" fmla="*/ 6 h 167"/>
                  <a:gd name="T6" fmla="*/ 0 w 163"/>
                  <a:gd name="T7" fmla="*/ 0 h 167"/>
                  <a:gd name="T8" fmla="*/ 7 w 163"/>
                  <a:gd name="T9" fmla="*/ 19 h 167"/>
                  <a:gd name="T10" fmla="*/ 81 w 163"/>
                  <a:gd name="T11" fmla="*/ 74 h 167"/>
                  <a:gd name="T12" fmla="*/ 152 w 163"/>
                  <a:gd name="T13" fmla="*/ 160 h 167"/>
                  <a:gd name="T14" fmla="*/ 163 w 163"/>
                  <a:gd name="T15" fmla="*/ 167 h 167"/>
                  <a:gd name="T16" fmla="*/ 160 w 163"/>
                  <a:gd name="T17" fmla="*/ 14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167">
                    <a:moveTo>
                      <a:pt x="160" y="140"/>
                    </a:moveTo>
                    <a:lnTo>
                      <a:pt x="93" y="43"/>
                    </a:lnTo>
                    <a:lnTo>
                      <a:pt x="29" y="6"/>
                    </a:lnTo>
                    <a:lnTo>
                      <a:pt x="0" y="0"/>
                    </a:lnTo>
                    <a:lnTo>
                      <a:pt x="7" y="19"/>
                    </a:lnTo>
                    <a:lnTo>
                      <a:pt x="81" y="74"/>
                    </a:lnTo>
                    <a:lnTo>
                      <a:pt x="152" y="160"/>
                    </a:lnTo>
                    <a:lnTo>
                      <a:pt x="163" y="167"/>
                    </a:lnTo>
                    <a:lnTo>
                      <a:pt x="160"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43" name="Freeform 31">
                <a:extLst>
                  <a:ext uri="{FF2B5EF4-FFF2-40B4-BE49-F238E27FC236}">
                    <a16:creationId xmlns="" xmlns:a16="http://schemas.microsoft.com/office/drawing/2014/main" id="{1828A67A-239A-4204-902F-C1E9F0BD381D}"/>
                  </a:ext>
                </a:extLst>
              </p:cNvPr>
              <p:cNvSpPr>
                <a:spLocks/>
              </p:cNvSpPr>
              <p:nvPr/>
            </p:nvSpPr>
            <p:spPr bwMode="auto">
              <a:xfrm>
                <a:off x="1724" y="2202"/>
                <a:ext cx="55" cy="63"/>
              </a:xfrm>
              <a:custGeom>
                <a:avLst/>
                <a:gdLst>
                  <a:gd name="T0" fmla="*/ 104 w 109"/>
                  <a:gd name="T1" fmla="*/ 96 h 126"/>
                  <a:gd name="T2" fmla="*/ 51 w 109"/>
                  <a:gd name="T3" fmla="*/ 22 h 126"/>
                  <a:gd name="T4" fmla="*/ 3 w 109"/>
                  <a:gd name="T5" fmla="*/ 0 h 126"/>
                  <a:gd name="T6" fmla="*/ 0 w 109"/>
                  <a:gd name="T7" fmla="*/ 22 h 126"/>
                  <a:gd name="T8" fmla="*/ 22 w 109"/>
                  <a:gd name="T9" fmla="*/ 59 h 126"/>
                  <a:gd name="T10" fmla="*/ 81 w 109"/>
                  <a:gd name="T11" fmla="*/ 108 h 126"/>
                  <a:gd name="T12" fmla="*/ 97 w 109"/>
                  <a:gd name="T13" fmla="*/ 126 h 126"/>
                  <a:gd name="T14" fmla="*/ 109 w 109"/>
                  <a:gd name="T15" fmla="*/ 117 h 126"/>
                  <a:gd name="T16" fmla="*/ 104 w 109"/>
                  <a:gd name="T17" fmla="*/ 9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126">
                    <a:moveTo>
                      <a:pt x="104" y="96"/>
                    </a:moveTo>
                    <a:lnTo>
                      <a:pt x="51" y="22"/>
                    </a:lnTo>
                    <a:lnTo>
                      <a:pt x="3" y="0"/>
                    </a:lnTo>
                    <a:lnTo>
                      <a:pt x="0" y="22"/>
                    </a:lnTo>
                    <a:lnTo>
                      <a:pt x="22" y="59"/>
                    </a:lnTo>
                    <a:lnTo>
                      <a:pt x="81" y="108"/>
                    </a:lnTo>
                    <a:lnTo>
                      <a:pt x="97" y="126"/>
                    </a:lnTo>
                    <a:lnTo>
                      <a:pt x="109" y="117"/>
                    </a:lnTo>
                    <a:lnTo>
                      <a:pt x="104"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44" name="Freeform 32">
                <a:extLst>
                  <a:ext uri="{FF2B5EF4-FFF2-40B4-BE49-F238E27FC236}">
                    <a16:creationId xmlns="" xmlns:a16="http://schemas.microsoft.com/office/drawing/2014/main" id="{7DA6086D-9E6B-4DCF-A356-B41BEB790E98}"/>
                  </a:ext>
                </a:extLst>
              </p:cNvPr>
              <p:cNvSpPr>
                <a:spLocks/>
              </p:cNvSpPr>
              <p:nvPr/>
            </p:nvSpPr>
            <p:spPr bwMode="auto">
              <a:xfrm>
                <a:off x="1728" y="2285"/>
                <a:ext cx="70" cy="71"/>
              </a:xfrm>
              <a:custGeom>
                <a:avLst/>
                <a:gdLst>
                  <a:gd name="T0" fmla="*/ 139 w 139"/>
                  <a:gd name="T1" fmla="*/ 143 h 143"/>
                  <a:gd name="T2" fmla="*/ 120 w 139"/>
                  <a:gd name="T3" fmla="*/ 121 h 143"/>
                  <a:gd name="T4" fmla="*/ 81 w 139"/>
                  <a:gd name="T5" fmla="*/ 62 h 143"/>
                  <a:gd name="T6" fmla="*/ 24 w 139"/>
                  <a:gd name="T7" fmla="*/ 0 h 143"/>
                  <a:gd name="T8" fmla="*/ 0 w 139"/>
                  <a:gd name="T9" fmla="*/ 0 h 143"/>
                  <a:gd name="T10" fmla="*/ 9 w 139"/>
                  <a:gd name="T11" fmla="*/ 22 h 143"/>
                  <a:gd name="T12" fmla="*/ 53 w 139"/>
                  <a:gd name="T13" fmla="*/ 81 h 143"/>
                  <a:gd name="T14" fmla="*/ 97 w 139"/>
                  <a:gd name="T15" fmla="*/ 140 h 143"/>
                  <a:gd name="T16" fmla="*/ 139 w 139"/>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9" h="143">
                    <a:moveTo>
                      <a:pt x="139" y="143"/>
                    </a:moveTo>
                    <a:lnTo>
                      <a:pt x="120" y="121"/>
                    </a:lnTo>
                    <a:lnTo>
                      <a:pt x="81" y="62"/>
                    </a:lnTo>
                    <a:lnTo>
                      <a:pt x="24" y="0"/>
                    </a:lnTo>
                    <a:lnTo>
                      <a:pt x="0" y="0"/>
                    </a:lnTo>
                    <a:lnTo>
                      <a:pt x="9" y="22"/>
                    </a:lnTo>
                    <a:lnTo>
                      <a:pt x="53" y="81"/>
                    </a:lnTo>
                    <a:lnTo>
                      <a:pt x="97" y="140"/>
                    </a:lnTo>
                    <a:lnTo>
                      <a:pt x="139" y="1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45" name="Freeform 33">
                <a:extLst>
                  <a:ext uri="{FF2B5EF4-FFF2-40B4-BE49-F238E27FC236}">
                    <a16:creationId xmlns="" xmlns:a16="http://schemas.microsoft.com/office/drawing/2014/main" id="{E7EAB2ED-1D48-4155-828E-72EAFC613100}"/>
                  </a:ext>
                </a:extLst>
              </p:cNvPr>
              <p:cNvSpPr>
                <a:spLocks/>
              </p:cNvSpPr>
              <p:nvPr/>
            </p:nvSpPr>
            <p:spPr bwMode="auto">
              <a:xfrm>
                <a:off x="1823" y="1693"/>
                <a:ext cx="213" cy="791"/>
              </a:xfrm>
              <a:custGeom>
                <a:avLst/>
                <a:gdLst>
                  <a:gd name="T0" fmla="*/ 61 w 427"/>
                  <a:gd name="T1" fmla="*/ 193 h 1582"/>
                  <a:gd name="T2" fmla="*/ 76 w 427"/>
                  <a:gd name="T3" fmla="*/ 280 h 1582"/>
                  <a:gd name="T4" fmla="*/ 40 w 427"/>
                  <a:gd name="T5" fmla="*/ 339 h 1582"/>
                  <a:gd name="T6" fmla="*/ 44 w 427"/>
                  <a:gd name="T7" fmla="*/ 421 h 1582"/>
                  <a:gd name="T8" fmla="*/ 66 w 427"/>
                  <a:gd name="T9" fmla="*/ 486 h 1582"/>
                  <a:gd name="T10" fmla="*/ 31 w 427"/>
                  <a:gd name="T11" fmla="*/ 552 h 1582"/>
                  <a:gd name="T12" fmla="*/ 68 w 427"/>
                  <a:gd name="T13" fmla="*/ 667 h 1582"/>
                  <a:gd name="T14" fmla="*/ 25 w 427"/>
                  <a:gd name="T15" fmla="*/ 763 h 1582"/>
                  <a:gd name="T16" fmla="*/ 46 w 427"/>
                  <a:gd name="T17" fmla="*/ 858 h 1582"/>
                  <a:gd name="T18" fmla="*/ 59 w 427"/>
                  <a:gd name="T19" fmla="*/ 927 h 1582"/>
                  <a:gd name="T20" fmla="*/ 15 w 427"/>
                  <a:gd name="T21" fmla="*/ 985 h 1582"/>
                  <a:gd name="T22" fmla="*/ 40 w 427"/>
                  <a:gd name="T23" fmla="*/ 1108 h 1582"/>
                  <a:gd name="T24" fmla="*/ 37 w 427"/>
                  <a:gd name="T25" fmla="*/ 1174 h 1582"/>
                  <a:gd name="T26" fmla="*/ 0 w 427"/>
                  <a:gd name="T27" fmla="*/ 1255 h 1582"/>
                  <a:gd name="T28" fmla="*/ 22 w 427"/>
                  <a:gd name="T29" fmla="*/ 1323 h 1582"/>
                  <a:gd name="T30" fmla="*/ 25 w 427"/>
                  <a:gd name="T31" fmla="*/ 1387 h 1582"/>
                  <a:gd name="T32" fmla="*/ 31 w 427"/>
                  <a:gd name="T33" fmla="*/ 1453 h 1582"/>
                  <a:gd name="T34" fmla="*/ 61 w 427"/>
                  <a:gd name="T35" fmla="*/ 1512 h 1582"/>
                  <a:gd name="T36" fmla="*/ 66 w 427"/>
                  <a:gd name="T37" fmla="*/ 1582 h 1582"/>
                  <a:gd name="T38" fmla="*/ 161 w 427"/>
                  <a:gd name="T39" fmla="*/ 1523 h 1582"/>
                  <a:gd name="T40" fmla="*/ 275 w 427"/>
                  <a:gd name="T41" fmla="*/ 1508 h 1582"/>
                  <a:gd name="T42" fmla="*/ 353 w 427"/>
                  <a:gd name="T43" fmla="*/ 1475 h 1582"/>
                  <a:gd name="T44" fmla="*/ 377 w 427"/>
                  <a:gd name="T45" fmla="*/ 1431 h 1582"/>
                  <a:gd name="T46" fmla="*/ 386 w 427"/>
                  <a:gd name="T47" fmla="*/ 1344 h 1582"/>
                  <a:gd name="T48" fmla="*/ 368 w 427"/>
                  <a:gd name="T49" fmla="*/ 1229 h 1582"/>
                  <a:gd name="T50" fmla="*/ 349 w 427"/>
                  <a:gd name="T51" fmla="*/ 1167 h 1582"/>
                  <a:gd name="T52" fmla="*/ 361 w 427"/>
                  <a:gd name="T53" fmla="*/ 1093 h 1582"/>
                  <a:gd name="T54" fmla="*/ 325 w 427"/>
                  <a:gd name="T55" fmla="*/ 1013 h 1582"/>
                  <a:gd name="T56" fmla="*/ 375 w 427"/>
                  <a:gd name="T57" fmla="*/ 949 h 1582"/>
                  <a:gd name="T58" fmla="*/ 338 w 427"/>
                  <a:gd name="T59" fmla="*/ 858 h 1582"/>
                  <a:gd name="T60" fmla="*/ 319 w 427"/>
                  <a:gd name="T61" fmla="*/ 772 h 1582"/>
                  <a:gd name="T62" fmla="*/ 392 w 427"/>
                  <a:gd name="T63" fmla="*/ 707 h 1582"/>
                  <a:gd name="T64" fmla="*/ 368 w 427"/>
                  <a:gd name="T65" fmla="*/ 660 h 1582"/>
                  <a:gd name="T66" fmla="*/ 368 w 427"/>
                  <a:gd name="T67" fmla="*/ 579 h 1582"/>
                  <a:gd name="T68" fmla="*/ 334 w 427"/>
                  <a:gd name="T69" fmla="*/ 527 h 1582"/>
                  <a:gd name="T70" fmla="*/ 361 w 427"/>
                  <a:gd name="T71" fmla="*/ 465 h 1582"/>
                  <a:gd name="T72" fmla="*/ 338 w 427"/>
                  <a:gd name="T73" fmla="*/ 413 h 1582"/>
                  <a:gd name="T74" fmla="*/ 338 w 427"/>
                  <a:gd name="T75" fmla="*/ 369 h 1582"/>
                  <a:gd name="T76" fmla="*/ 362 w 427"/>
                  <a:gd name="T77" fmla="*/ 329 h 1582"/>
                  <a:gd name="T78" fmla="*/ 331 w 427"/>
                  <a:gd name="T79" fmla="*/ 279 h 1582"/>
                  <a:gd name="T80" fmla="*/ 325 w 427"/>
                  <a:gd name="T81" fmla="*/ 205 h 1582"/>
                  <a:gd name="T82" fmla="*/ 407 w 427"/>
                  <a:gd name="T83" fmla="*/ 112 h 1582"/>
                  <a:gd name="T84" fmla="*/ 427 w 427"/>
                  <a:gd name="T85" fmla="*/ 13 h 1582"/>
                  <a:gd name="T86" fmla="*/ 377 w 427"/>
                  <a:gd name="T87" fmla="*/ 13 h 1582"/>
                  <a:gd name="T88" fmla="*/ 235 w 427"/>
                  <a:gd name="T89" fmla="*/ 90 h 1582"/>
                  <a:gd name="T90" fmla="*/ 117 w 427"/>
                  <a:gd name="T91" fmla="*/ 134 h 1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27" h="1582">
                    <a:moveTo>
                      <a:pt x="76" y="149"/>
                    </a:moveTo>
                    <a:lnTo>
                      <a:pt x="61" y="193"/>
                    </a:lnTo>
                    <a:lnTo>
                      <a:pt x="74" y="236"/>
                    </a:lnTo>
                    <a:lnTo>
                      <a:pt x="76" y="280"/>
                    </a:lnTo>
                    <a:lnTo>
                      <a:pt x="61" y="307"/>
                    </a:lnTo>
                    <a:lnTo>
                      <a:pt x="40" y="339"/>
                    </a:lnTo>
                    <a:lnTo>
                      <a:pt x="30" y="388"/>
                    </a:lnTo>
                    <a:lnTo>
                      <a:pt x="44" y="421"/>
                    </a:lnTo>
                    <a:lnTo>
                      <a:pt x="66" y="456"/>
                    </a:lnTo>
                    <a:lnTo>
                      <a:pt x="66" y="486"/>
                    </a:lnTo>
                    <a:lnTo>
                      <a:pt x="52" y="515"/>
                    </a:lnTo>
                    <a:lnTo>
                      <a:pt x="31" y="552"/>
                    </a:lnTo>
                    <a:lnTo>
                      <a:pt x="40" y="589"/>
                    </a:lnTo>
                    <a:lnTo>
                      <a:pt x="68" y="667"/>
                    </a:lnTo>
                    <a:lnTo>
                      <a:pt x="66" y="700"/>
                    </a:lnTo>
                    <a:lnTo>
                      <a:pt x="25" y="763"/>
                    </a:lnTo>
                    <a:lnTo>
                      <a:pt x="25" y="817"/>
                    </a:lnTo>
                    <a:lnTo>
                      <a:pt x="46" y="858"/>
                    </a:lnTo>
                    <a:lnTo>
                      <a:pt x="61" y="895"/>
                    </a:lnTo>
                    <a:lnTo>
                      <a:pt x="59" y="927"/>
                    </a:lnTo>
                    <a:lnTo>
                      <a:pt x="22" y="961"/>
                    </a:lnTo>
                    <a:lnTo>
                      <a:pt x="15" y="985"/>
                    </a:lnTo>
                    <a:lnTo>
                      <a:pt x="22" y="1044"/>
                    </a:lnTo>
                    <a:lnTo>
                      <a:pt x="40" y="1108"/>
                    </a:lnTo>
                    <a:lnTo>
                      <a:pt x="40" y="1145"/>
                    </a:lnTo>
                    <a:lnTo>
                      <a:pt x="37" y="1174"/>
                    </a:lnTo>
                    <a:lnTo>
                      <a:pt x="9" y="1218"/>
                    </a:lnTo>
                    <a:lnTo>
                      <a:pt x="0" y="1255"/>
                    </a:lnTo>
                    <a:lnTo>
                      <a:pt x="3" y="1294"/>
                    </a:lnTo>
                    <a:lnTo>
                      <a:pt x="22" y="1323"/>
                    </a:lnTo>
                    <a:lnTo>
                      <a:pt x="44" y="1350"/>
                    </a:lnTo>
                    <a:lnTo>
                      <a:pt x="25" y="1387"/>
                    </a:lnTo>
                    <a:lnTo>
                      <a:pt x="15" y="1424"/>
                    </a:lnTo>
                    <a:lnTo>
                      <a:pt x="31" y="1453"/>
                    </a:lnTo>
                    <a:lnTo>
                      <a:pt x="59" y="1475"/>
                    </a:lnTo>
                    <a:lnTo>
                      <a:pt x="61" y="1512"/>
                    </a:lnTo>
                    <a:lnTo>
                      <a:pt x="61" y="1542"/>
                    </a:lnTo>
                    <a:lnTo>
                      <a:pt x="66" y="1582"/>
                    </a:lnTo>
                    <a:lnTo>
                      <a:pt x="112" y="1549"/>
                    </a:lnTo>
                    <a:lnTo>
                      <a:pt x="161" y="1523"/>
                    </a:lnTo>
                    <a:lnTo>
                      <a:pt x="206" y="1508"/>
                    </a:lnTo>
                    <a:lnTo>
                      <a:pt x="275" y="1508"/>
                    </a:lnTo>
                    <a:lnTo>
                      <a:pt x="324" y="1499"/>
                    </a:lnTo>
                    <a:lnTo>
                      <a:pt x="353" y="1475"/>
                    </a:lnTo>
                    <a:lnTo>
                      <a:pt x="405" y="1461"/>
                    </a:lnTo>
                    <a:lnTo>
                      <a:pt x="377" y="1431"/>
                    </a:lnTo>
                    <a:lnTo>
                      <a:pt x="368" y="1390"/>
                    </a:lnTo>
                    <a:lnTo>
                      <a:pt x="386" y="1344"/>
                    </a:lnTo>
                    <a:lnTo>
                      <a:pt x="383" y="1277"/>
                    </a:lnTo>
                    <a:lnTo>
                      <a:pt x="368" y="1229"/>
                    </a:lnTo>
                    <a:lnTo>
                      <a:pt x="353" y="1204"/>
                    </a:lnTo>
                    <a:lnTo>
                      <a:pt x="349" y="1167"/>
                    </a:lnTo>
                    <a:lnTo>
                      <a:pt x="368" y="1124"/>
                    </a:lnTo>
                    <a:lnTo>
                      <a:pt x="361" y="1093"/>
                    </a:lnTo>
                    <a:lnTo>
                      <a:pt x="324" y="1042"/>
                    </a:lnTo>
                    <a:lnTo>
                      <a:pt x="325" y="1013"/>
                    </a:lnTo>
                    <a:lnTo>
                      <a:pt x="340" y="985"/>
                    </a:lnTo>
                    <a:lnTo>
                      <a:pt x="375" y="949"/>
                    </a:lnTo>
                    <a:lnTo>
                      <a:pt x="362" y="920"/>
                    </a:lnTo>
                    <a:lnTo>
                      <a:pt x="338" y="858"/>
                    </a:lnTo>
                    <a:lnTo>
                      <a:pt x="319" y="817"/>
                    </a:lnTo>
                    <a:lnTo>
                      <a:pt x="319" y="772"/>
                    </a:lnTo>
                    <a:lnTo>
                      <a:pt x="386" y="749"/>
                    </a:lnTo>
                    <a:lnTo>
                      <a:pt x="392" y="707"/>
                    </a:lnTo>
                    <a:lnTo>
                      <a:pt x="386" y="682"/>
                    </a:lnTo>
                    <a:lnTo>
                      <a:pt x="368" y="660"/>
                    </a:lnTo>
                    <a:lnTo>
                      <a:pt x="370" y="623"/>
                    </a:lnTo>
                    <a:lnTo>
                      <a:pt x="368" y="579"/>
                    </a:lnTo>
                    <a:lnTo>
                      <a:pt x="349" y="558"/>
                    </a:lnTo>
                    <a:lnTo>
                      <a:pt x="334" y="527"/>
                    </a:lnTo>
                    <a:lnTo>
                      <a:pt x="346" y="499"/>
                    </a:lnTo>
                    <a:lnTo>
                      <a:pt x="361" y="465"/>
                    </a:lnTo>
                    <a:lnTo>
                      <a:pt x="361" y="443"/>
                    </a:lnTo>
                    <a:lnTo>
                      <a:pt x="338" y="413"/>
                    </a:lnTo>
                    <a:lnTo>
                      <a:pt x="331" y="388"/>
                    </a:lnTo>
                    <a:lnTo>
                      <a:pt x="338" y="369"/>
                    </a:lnTo>
                    <a:lnTo>
                      <a:pt x="361" y="354"/>
                    </a:lnTo>
                    <a:lnTo>
                      <a:pt x="362" y="329"/>
                    </a:lnTo>
                    <a:lnTo>
                      <a:pt x="355" y="316"/>
                    </a:lnTo>
                    <a:lnTo>
                      <a:pt x="331" y="279"/>
                    </a:lnTo>
                    <a:lnTo>
                      <a:pt x="324" y="236"/>
                    </a:lnTo>
                    <a:lnTo>
                      <a:pt x="325" y="205"/>
                    </a:lnTo>
                    <a:lnTo>
                      <a:pt x="349" y="175"/>
                    </a:lnTo>
                    <a:lnTo>
                      <a:pt x="407" y="112"/>
                    </a:lnTo>
                    <a:lnTo>
                      <a:pt x="427" y="57"/>
                    </a:lnTo>
                    <a:lnTo>
                      <a:pt x="427" y="13"/>
                    </a:lnTo>
                    <a:lnTo>
                      <a:pt x="407" y="0"/>
                    </a:lnTo>
                    <a:lnTo>
                      <a:pt x="377" y="13"/>
                    </a:lnTo>
                    <a:lnTo>
                      <a:pt x="303" y="60"/>
                    </a:lnTo>
                    <a:lnTo>
                      <a:pt x="235" y="90"/>
                    </a:lnTo>
                    <a:lnTo>
                      <a:pt x="164" y="119"/>
                    </a:lnTo>
                    <a:lnTo>
                      <a:pt x="117" y="134"/>
                    </a:lnTo>
                    <a:lnTo>
                      <a:pt x="76" y="149"/>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46" name="Freeform 34">
                <a:extLst>
                  <a:ext uri="{FF2B5EF4-FFF2-40B4-BE49-F238E27FC236}">
                    <a16:creationId xmlns="" xmlns:a16="http://schemas.microsoft.com/office/drawing/2014/main" id="{A591B9DB-62F0-49AF-8C16-C7A08DF6EC2A}"/>
                  </a:ext>
                </a:extLst>
              </p:cNvPr>
              <p:cNvSpPr>
                <a:spLocks/>
              </p:cNvSpPr>
              <p:nvPr/>
            </p:nvSpPr>
            <p:spPr bwMode="auto">
              <a:xfrm>
                <a:off x="1674" y="1687"/>
                <a:ext cx="381" cy="809"/>
              </a:xfrm>
              <a:custGeom>
                <a:avLst/>
                <a:gdLst>
                  <a:gd name="T0" fmla="*/ 498 w 763"/>
                  <a:gd name="T1" fmla="*/ 1520 h 1619"/>
                  <a:gd name="T2" fmla="*/ 350 w 763"/>
                  <a:gd name="T3" fmla="*/ 1572 h 1619"/>
                  <a:gd name="T4" fmla="*/ 61 w 763"/>
                  <a:gd name="T5" fmla="*/ 1310 h 1619"/>
                  <a:gd name="T6" fmla="*/ 46 w 763"/>
                  <a:gd name="T7" fmla="*/ 1354 h 1619"/>
                  <a:gd name="T8" fmla="*/ 361 w 763"/>
                  <a:gd name="T9" fmla="*/ 1619 h 1619"/>
                  <a:gd name="T10" fmla="*/ 513 w 763"/>
                  <a:gd name="T11" fmla="*/ 1538 h 1619"/>
                  <a:gd name="T12" fmla="*/ 720 w 763"/>
                  <a:gd name="T13" fmla="*/ 1470 h 1619"/>
                  <a:gd name="T14" fmla="*/ 711 w 763"/>
                  <a:gd name="T15" fmla="*/ 1354 h 1619"/>
                  <a:gd name="T16" fmla="*/ 670 w 763"/>
                  <a:gd name="T17" fmla="*/ 1226 h 1619"/>
                  <a:gd name="T18" fmla="*/ 689 w 763"/>
                  <a:gd name="T19" fmla="*/ 1124 h 1619"/>
                  <a:gd name="T20" fmla="*/ 645 w 763"/>
                  <a:gd name="T21" fmla="*/ 1024 h 1619"/>
                  <a:gd name="T22" fmla="*/ 667 w 763"/>
                  <a:gd name="T23" fmla="*/ 906 h 1619"/>
                  <a:gd name="T24" fmla="*/ 684 w 763"/>
                  <a:gd name="T25" fmla="*/ 789 h 1619"/>
                  <a:gd name="T26" fmla="*/ 689 w 763"/>
                  <a:gd name="T27" fmla="*/ 641 h 1619"/>
                  <a:gd name="T28" fmla="*/ 660 w 763"/>
                  <a:gd name="T29" fmla="*/ 517 h 1619"/>
                  <a:gd name="T30" fmla="*/ 645 w 763"/>
                  <a:gd name="T31" fmla="*/ 418 h 1619"/>
                  <a:gd name="T32" fmla="*/ 682 w 763"/>
                  <a:gd name="T33" fmla="*/ 334 h 1619"/>
                  <a:gd name="T34" fmla="*/ 662 w 763"/>
                  <a:gd name="T35" fmla="*/ 191 h 1619"/>
                  <a:gd name="T36" fmla="*/ 756 w 763"/>
                  <a:gd name="T37" fmla="*/ 16 h 1619"/>
                  <a:gd name="T38" fmla="*/ 714 w 763"/>
                  <a:gd name="T39" fmla="*/ 53 h 1619"/>
                  <a:gd name="T40" fmla="*/ 618 w 763"/>
                  <a:gd name="T41" fmla="*/ 213 h 1619"/>
                  <a:gd name="T42" fmla="*/ 478 w 763"/>
                  <a:gd name="T43" fmla="*/ 345 h 1619"/>
                  <a:gd name="T44" fmla="*/ 623 w 763"/>
                  <a:gd name="T45" fmla="*/ 297 h 1619"/>
                  <a:gd name="T46" fmla="*/ 611 w 763"/>
                  <a:gd name="T47" fmla="*/ 390 h 1619"/>
                  <a:gd name="T48" fmla="*/ 541 w 763"/>
                  <a:gd name="T49" fmla="*/ 487 h 1619"/>
                  <a:gd name="T50" fmla="*/ 640 w 763"/>
                  <a:gd name="T51" fmla="*/ 465 h 1619"/>
                  <a:gd name="T52" fmla="*/ 615 w 763"/>
                  <a:gd name="T53" fmla="*/ 539 h 1619"/>
                  <a:gd name="T54" fmla="*/ 608 w 763"/>
                  <a:gd name="T55" fmla="*/ 619 h 1619"/>
                  <a:gd name="T56" fmla="*/ 463 w 763"/>
                  <a:gd name="T57" fmla="*/ 727 h 1619"/>
                  <a:gd name="T58" fmla="*/ 625 w 763"/>
                  <a:gd name="T59" fmla="*/ 654 h 1619"/>
                  <a:gd name="T60" fmla="*/ 684 w 763"/>
                  <a:gd name="T61" fmla="*/ 727 h 1619"/>
                  <a:gd name="T62" fmla="*/ 586 w 763"/>
                  <a:gd name="T63" fmla="*/ 796 h 1619"/>
                  <a:gd name="T64" fmla="*/ 405 w 763"/>
                  <a:gd name="T65" fmla="*/ 885 h 1619"/>
                  <a:gd name="T66" fmla="*/ 611 w 763"/>
                  <a:gd name="T67" fmla="*/ 848 h 1619"/>
                  <a:gd name="T68" fmla="*/ 652 w 763"/>
                  <a:gd name="T69" fmla="*/ 984 h 1619"/>
                  <a:gd name="T70" fmla="*/ 410 w 763"/>
                  <a:gd name="T71" fmla="*/ 1050 h 1619"/>
                  <a:gd name="T72" fmla="*/ 541 w 763"/>
                  <a:gd name="T73" fmla="*/ 1046 h 1619"/>
                  <a:gd name="T74" fmla="*/ 625 w 763"/>
                  <a:gd name="T75" fmla="*/ 1087 h 1619"/>
                  <a:gd name="T76" fmla="*/ 623 w 763"/>
                  <a:gd name="T77" fmla="*/ 1168 h 1619"/>
                  <a:gd name="T78" fmla="*/ 390 w 763"/>
                  <a:gd name="T79" fmla="*/ 1214 h 1619"/>
                  <a:gd name="T80" fmla="*/ 506 w 763"/>
                  <a:gd name="T81" fmla="*/ 1214 h 1619"/>
                  <a:gd name="T82" fmla="*/ 637 w 763"/>
                  <a:gd name="T83" fmla="*/ 1192 h 1619"/>
                  <a:gd name="T84" fmla="*/ 522 w 763"/>
                  <a:gd name="T85" fmla="*/ 1303 h 1619"/>
                  <a:gd name="T86" fmla="*/ 390 w 763"/>
                  <a:gd name="T87" fmla="*/ 1366 h 1619"/>
                  <a:gd name="T88" fmla="*/ 556 w 763"/>
                  <a:gd name="T89" fmla="*/ 1307 h 1619"/>
                  <a:gd name="T90" fmla="*/ 655 w 763"/>
                  <a:gd name="T91" fmla="*/ 1285 h 1619"/>
                  <a:gd name="T92" fmla="*/ 652 w 763"/>
                  <a:gd name="T93" fmla="*/ 1381 h 1619"/>
                  <a:gd name="T94" fmla="*/ 667 w 763"/>
                  <a:gd name="T95" fmla="*/ 1462 h 1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63" h="1619">
                    <a:moveTo>
                      <a:pt x="648" y="1464"/>
                    </a:moveTo>
                    <a:lnTo>
                      <a:pt x="615" y="1501"/>
                    </a:lnTo>
                    <a:lnTo>
                      <a:pt x="565" y="1513"/>
                    </a:lnTo>
                    <a:lnTo>
                      <a:pt x="498" y="1520"/>
                    </a:lnTo>
                    <a:lnTo>
                      <a:pt x="426" y="1535"/>
                    </a:lnTo>
                    <a:lnTo>
                      <a:pt x="380" y="1564"/>
                    </a:lnTo>
                    <a:lnTo>
                      <a:pt x="365" y="1579"/>
                    </a:lnTo>
                    <a:lnTo>
                      <a:pt x="350" y="1572"/>
                    </a:lnTo>
                    <a:lnTo>
                      <a:pt x="265" y="1508"/>
                    </a:lnTo>
                    <a:lnTo>
                      <a:pt x="154" y="1421"/>
                    </a:lnTo>
                    <a:lnTo>
                      <a:pt x="117" y="1366"/>
                    </a:lnTo>
                    <a:lnTo>
                      <a:pt x="61" y="1310"/>
                    </a:lnTo>
                    <a:lnTo>
                      <a:pt x="44" y="1266"/>
                    </a:lnTo>
                    <a:lnTo>
                      <a:pt x="0" y="1259"/>
                    </a:lnTo>
                    <a:lnTo>
                      <a:pt x="22" y="1307"/>
                    </a:lnTo>
                    <a:lnTo>
                      <a:pt x="46" y="1354"/>
                    </a:lnTo>
                    <a:lnTo>
                      <a:pt x="117" y="1405"/>
                    </a:lnTo>
                    <a:lnTo>
                      <a:pt x="167" y="1470"/>
                    </a:lnTo>
                    <a:lnTo>
                      <a:pt x="287" y="1545"/>
                    </a:lnTo>
                    <a:lnTo>
                      <a:pt x="361" y="1619"/>
                    </a:lnTo>
                    <a:lnTo>
                      <a:pt x="390" y="1612"/>
                    </a:lnTo>
                    <a:lnTo>
                      <a:pt x="420" y="1575"/>
                    </a:lnTo>
                    <a:lnTo>
                      <a:pt x="461" y="1553"/>
                    </a:lnTo>
                    <a:lnTo>
                      <a:pt x="513" y="1538"/>
                    </a:lnTo>
                    <a:lnTo>
                      <a:pt x="623" y="1529"/>
                    </a:lnTo>
                    <a:lnTo>
                      <a:pt x="655" y="1508"/>
                    </a:lnTo>
                    <a:lnTo>
                      <a:pt x="711" y="1494"/>
                    </a:lnTo>
                    <a:lnTo>
                      <a:pt x="720" y="1470"/>
                    </a:lnTo>
                    <a:lnTo>
                      <a:pt x="704" y="1440"/>
                    </a:lnTo>
                    <a:lnTo>
                      <a:pt x="684" y="1411"/>
                    </a:lnTo>
                    <a:lnTo>
                      <a:pt x="696" y="1374"/>
                    </a:lnTo>
                    <a:lnTo>
                      <a:pt x="711" y="1354"/>
                    </a:lnTo>
                    <a:lnTo>
                      <a:pt x="711" y="1322"/>
                    </a:lnTo>
                    <a:lnTo>
                      <a:pt x="696" y="1273"/>
                    </a:lnTo>
                    <a:lnTo>
                      <a:pt x="689" y="1248"/>
                    </a:lnTo>
                    <a:lnTo>
                      <a:pt x="670" y="1226"/>
                    </a:lnTo>
                    <a:lnTo>
                      <a:pt x="660" y="1200"/>
                    </a:lnTo>
                    <a:lnTo>
                      <a:pt x="670" y="1176"/>
                    </a:lnTo>
                    <a:lnTo>
                      <a:pt x="692" y="1155"/>
                    </a:lnTo>
                    <a:lnTo>
                      <a:pt x="689" y="1124"/>
                    </a:lnTo>
                    <a:lnTo>
                      <a:pt x="677" y="1102"/>
                    </a:lnTo>
                    <a:lnTo>
                      <a:pt x="652" y="1068"/>
                    </a:lnTo>
                    <a:lnTo>
                      <a:pt x="637" y="1050"/>
                    </a:lnTo>
                    <a:lnTo>
                      <a:pt x="645" y="1024"/>
                    </a:lnTo>
                    <a:lnTo>
                      <a:pt x="682" y="1002"/>
                    </a:lnTo>
                    <a:lnTo>
                      <a:pt x="696" y="972"/>
                    </a:lnTo>
                    <a:lnTo>
                      <a:pt x="692" y="948"/>
                    </a:lnTo>
                    <a:lnTo>
                      <a:pt x="667" y="906"/>
                    </a:lnTo>
                    <a:lnTo>
                      <a:pt x="640" y="855"/>
                    </a:lnTo>
                    <a:lnTo>
                      <a:pt x="630" y="818"/>
                    </a:lnTo>
                    <a:lnTo>
                      <a:pt x="645" y="803"/>
                    </a:lnTo>
                    <a:lnTo>
                      <a:pt x="684" y="789"/>
                    </a:lnTo>
                    <a:lnTo>
                      <a:pt x="707" y="774"/>
                    </a:lnTo>
                    <a:lnTo>
                      <a:pt x="711" y="727"/>
                    </a:lnTo>
                    <a:lnTo>
                      <a:pt x="684" y="675"/>
                    </a:lnTo>
                    <a:lnTo>
                      <a:pt x="689" y="641"/>
                    </a:lnTo>
                    <a:lnTo>
                      <a:pt x="699" y="610"/>
                    </a:lnTo>
                    <a:lnTo>
                      <a:pt x="674" y="573"/>
                    </a:lnTo>
                    <a:lnTo>
                      <a:pt x="652" y="539"/>
                    </a:lnTo>
                    <a:lnTo>
                      <a:pt x="660" y="517"/>
                    </a:lnTo>
                    <a:lnTo>
                      <a:pt x="674" y="495"/>
                    </a:lnTo>
                    <a:lnTo>
                      <a:pt x="674" y="458"/>
                    </a:lnTo>
                    <a:lnTo>
                      <a:pt x="660" y="436"/>
                    </a:lnTo>
                    <a:lnTo>
                      <a:pt x="645" y="418"/>
                    </a:lnTo>
                    <a:lnTo>
                      <a:pt x="648" y="391"/>
                    </a:lnTo>
                    <a:lnTo>
                      <a:pt x="674" y="377"/>
                    </a:lnTo>
                    <a:lnTo>
                      <a:pt x="689" y="362"/>
                    </a:lnTo>
                    <a:lnTo>
                      <a:pt x="682" y="334"/>
                    </a:lnTo>
                    <a:lnTo>
                      <a:pt x="652" y="297"/>
                    </a:lnTo>
                    <a:lnTo>
                      <a:pt x="640" y="264"/>
                    </a:lnTo>
                    <a:lnTo>
                      <a:pt x="637" y="227"/>
                    </a:lnTo>
                    <a:lnTo>
                      <a:pt x="662" y="191"/>
                    </a:lnTo>
                    <a:lnTo>
                      <a:pt x="714" y="134"/>
                    </a:lnTo>
                    <a:lnTo>
                      <a:pt x="741" y="90"/>
                    </a:lnTo>
                    <a:lnTo>
                      <a:pt x="763" y="53"/>
                    </a:lnTo>
                    <a:lnTo>
                      <a:pt x="756" y="16"/>
                    </a:lnTo>
                    <a:lnTo>
                      <a:pt x="735" y="0"/>
                    </a:lnTo>
                    <a:lnTo>
                      <a:pt x="720" y="3"/>
                    </a:lnTo>
                    <a:lnTo>
                      <a:pt x="696" y="32"/>
                    </a:lnTo>
                    <a:lnTo>
                      <a:pt x="714" y="53"/>
                    </a:lnTo>
                    <a:lnTo>
                      <a:pt x="711" y="90"/>
                    </a:lnTo>
                    <a:lnTo>
                      <a:pt x="677" y="155"/>
                    </a:lnTo>
                    <a:lnTo>
                      <a:pt x="633" y="191"/>
                    </a:lnTo>
                    <a:lnTo>
                      <a:pt x="618" y="213"/>
                    </a:lnTo>
                    <a:lnTo>
                      <a:pt x="608" y="242"/>
                    </a:lnTo>
                    <a:lnTo>
                      <a:pt x="603" y="260"/>
                    </a:lnTo>
                    <a:lnTo>
                      <a:pt x="537" y="310"/>
                    </a:lnTo>
                    <a:lnTo>
                      <a:pt x="478" y="345"/>
                    </a:lnTo>
                    <a:lnTo>
                      <a:pt x="470" y="369"/>
                    </a:lnTo>
                    <a:lnTo>
                      <a:pt x="491" y="375"/>
                    </a:lnTo>
                    <a:lnTo>
                      <a:pt x="578" y="310"/>
                    </a:lnTo>
                    <a:lnTo>
                      <a:pt x="623" y="297"/>
                    </a:lnTo>
                    <a:lnTo>
                      <a:pt x="645" y="338"/>
                    </a:lnTo>
                    <a:lnTo>
                      <a:pt x="652" y="356"/>
                    </a:lnTo>
                    <a:lnTo>
                      <a:pt x="630" y="375"/>
                    </a:lnTo>
                    <a:lnTo>
                      <a:pt x="611" y="390"/>
                    </a:lnTo>
                    <a:lnTo>
                      <a:pt x="608" y="414"/>
                    </a:lnTo>
                    <a:lnTo>
                      <a:pt x="615" y="440"/>
                    </a:lnTo>
                    <a:lnTo>
                      <a:pt x="596" y="462"/>
                    </a:lnTo>
                    <a:lnTo>
                      <a:pt x="541" y="487"/>
                    </a:lnTo>
                    <a:lnTo>
                      <a:pt x="461" y="521"/>
                    </a:lnTo>
                    <a:lnTo>
                      <a:pt x="491" y="532"/>
                    </a:lnTo>
                    <a:lnTo>
                      <a:pt x="574" y="499"/>
                    </a:lnTo>
                    <a:lnTo>
                      <a:pt x="640" y="465"/>
                    </a:lnTo>
                    <a:lnTo>
                      <a:pt x="652" y="473"/>
                    </a:lnTo>
                    <a:lnTo>
                      <a:pt x="645" y="495"/>
                    </a:lnTo>
                    <a:lnTo>
                      <a:pt x="623" y="517"/>
                    </a:lnTo>
                    <a:lnTo>
                      <a:pt x="615" y="539"/>
                    </a:lnTo>
                    <a:lnTo>
                      <a:pt x="625" y="567"/>
                    </a:lnTo>
                    <a:lnTo>
                      <a:pt x="652" y="591"/>
                    </a:lnTo>
                    <a:lnTo>
                      <a:pt x="652" y="610"/>
                    </a:lnTo>
                    <a:lnTo>
                      <a:pt x="608" y="619"/>
                    </a:lnTo>
                    <a:lnTo>
                      <a:pt x="571" y="669"/>
                    </a:lnTo>
                    <a:lnTo>
                      <a:pt x="528" y="697"/>
                    </a:lnTo>
                    <a:lnTo>
                      <a:pt x="469" y="712"/>
                    </a:lnTo>
                    <a:lnTo>
                      <a:pt x="463" y="727"/>
                    </a:lnTo>
                    <a:lnTo>
                      <a:pt x="500" y="722"/>
                    </a:lnTo>
                    <a:lnTo>
                      <a:pt x="578" y="697"/>
                    </a:lnTo>
                    <a:lnTo>
                      <a:pt x="608" y="675"/>
                    </a:lnTo>
                    <a:lnTo>
                      <a:pt x="625" y="654"/>
                    </a:lnTo>
                    <a:lnTo>
                      <a:pt x="652" y="649"/>
                    </a:lnTo>
                    <a:lnTo>
                      <a:pt x="652" y="675"/>
                    </a:lnTo>
                    <a:lnTo>
                      <a:pt x="670" y="700"/>
                    </a:lnTo>
                    <a:lnTo>
                      <a:pt x="684" y="727"/>
                    </a:lnTo>
                    <a:lnTo>
                      <a:pt x="674" y="749"/>
                    </a:lnTo>
                    <a:lnTo>
                      <a:pt x="640" y="764"/>
                    </a:lnTo>
                    <a:lnTo>
                      <a:pt x="608" y="774"/>
                    </a:lnTo>
                    <a:lnTo>
                      <a:pt x="586" y="796"/>
                    </a:lnTo>
                    <a:lnTo>
                      <a:pt x="485" y="826"/>
                    </a:lnTo>
                    <a:lnTo>
                      <a:pt x="411" y="852"/>
                    </a:lnTo>
                    <a:lnTo>
                      <a:pt x="383" y="867"/>
                    </a:lnTo>
                    <a:lnTo>
                      <a:pt x="405" y="885"/>
                    </a:lnTo>
                    <a:lnTo>
                      <a:pt x="448" y="874"/>
                    </a:lnTo>
                    <a:lnTo>
                      <a:pt x="537" y="839"/>
                    </a:lnTo>
                    <a:lnTo>
                      <a:pt x="596" y="823"/>
                    </a:lnTo>
                    <a:lnTo>
                      <a:pt x="611" y="848"/>
                    </a:lnTo>
                    <a:lnTo>
                      <a:pt x="625" y="891"/>
                    </a:lnTo>
                    <a:lnTo>
                      <a:pt x="652" y="928"/>
                    </a:lnTo>
                    <a:lnTo>
                      <a:pt x="655" y="957"/>
                    </a:lnTo>
                    <a:lnTo>
                      <a:pt x="652" y="984"/>
                    </a:lnTo>
                    <a:lnTo>
                      <a:pt x="623" y="994"/>
                    </a:lnTo>
                    <a:lnTo>
                      <a:pt x="571" y="1006"/>
                    </a:lnTo>
                    <a:lnTo>
                      <a:pt x="506" y="1036"/>
                    </a:lnTo>
                    <a:lnTo>
                      <a:pt x="410" y="1050"/>
                    </a:lnTo>
                    <a:lnTo>
                      <a:pt x="373" y="1068"/>
                    </a:lnTo>
                    <a:lnTo>
                      <a:pt x="398" y="1080"/>
                    </a:lnTo>
                    <a:lnTo>
                      <a:pt x="483" y="1068"/>
                    </a:lnTo>
                    <a:lnTo>
                      <a:pt x="541" y="1046"/>
                    </a:lnTo>
                    <a:lnTo>
                      <a:pt x="581" y="1031"/>
                    </a:lnTo>
                    <a:lnTo>
                      <a:pt x="615" y="1024"/>
                    </a:lnTo>
                    <a:lnTo>
                      <a:pt x="611" y="1050"/>
                    </a:lnTo>
                    <a:lnTo>
                      <a:pt x="625" y="1087"/>
                    </a:lnTo>
                    <a:lnTo>
                      <a:pt x="648" y="1109"/>
                    </a:lnTo>
                    <a:lnTo>
                      <a:pt x="652" y="1133"/>
                    </a:lnTo>
                    <a:lnTo>
                      <a:pt x="652" y="1155"/>
                    </a:lnTo>
                    <a:lnTo>
                      <a:pt x="623" y="1168"/>
                    </a:lnTo>
                    <a:lnTo>
                      <a:pt x="566" y="1170"/>
                    </a:lnTo>
                    <a:lnTo>
                      <a:pt x="528" y="1183"/>
                    </a:lnTo>
                    <a:lnTo>
                      <a:pt x="439" y="1213"/>
                    </a:lnTo>
                    <a:lnTo>
                      <a:pt x="390" y="1214"/>
                    </a:lnTo>
                    <a:lnTo>
                      <a:pt x="373" y="1236"/>
                    </a:lnTo>
                    <a:lnTo>
                      <a:pt x="395" y="1244"/>
                    </a:lnTo>
                    <a:lnTo>
                      <a:pt x="439" y="1235"/>
                    </a:lnTo>
                    <a:lnTo>
                      <a:pt x="506" y="1214"/>
                    </a:lnTo>
                    <a:lnTo>
                      <a:pt x="541" y="1200"/>
                    </a:lnTo>
                    <a:lnTo>
                      <a:pt x="589" y="1189"/>
                    </a:lnTo>
                    <a:lnTo>
                      <a:pt x="625" y="1192"/>
                    </a:lnTo>
                    <a:lnTo>
                      <a:pt x="637" y="1192"/>
                    </a:lnTo>
                    <a:lnTo>
                      <a:pt x="637" y="1226"/>
                    </a:lnTo>
                    <a:lnTo>
                      <a:pt x="648" y="1244"/>
                    </a:lnTo>
                    <a:lnTo>
                      <a:pt x="581" y="1259"/>
                    </a:lnTo>
                    <a:lnTo>
                      <a:pt x="522" y="1303"/>
                    </a:lnTo>
                    <a:lnTo>
                      <a:pt x="457" y="1325"/>
                    </a:lnTo>
                    <a:lnTo>
                      <a:pt x="411" y="1332"/>
                    </a:lnTo>
                    <a:lnTo>
                      <a:pt x="374" y="1352"/>
                    </a:lnTo>
                    <a:lnTo>
                      <a:pt x="390" y="1366"/>
                    </a:lnTo>
                    <a:lnTo>
                      <a:pt x="426" y="1354"/>
                    </a:lnTo>
                    <a:lnTo>
                      <a:pt x="469" y="1340"/>
                    </a:lnTo>
                    <a:lnTo>
                      <a:pt x="515" y="1332"/>
                    </a:lnTo>
                    <a:lnTo>
                      <a:pt x="556" y="1307"/>
                    </a:lnTo>
                    <a:lnTo>
                      <a:pt x="578" y="1285"/>
                    </a:lnTo>
                    <a:lnTo>
                      <a:pt x="608" y="1281"/>
                    </a:lnTo>
                    <a:lnTo>
                      <a:pt x="645" y="1281"/>
                    </a:lnTo>
                    <a:lnTo>
                      <a:pt x="655" y="1285"/>
                    </a:lnTo>
                    <a:lnTo>
                      <a:pt x="667" y="1310"/>
                    </a:lnTo>
                    <a:lnTo>
                      <a:pt x="674" y="1340"/>
                    </a:lnTo>
                    <a:lnTo>
                      <a:pt x="667" y="1366"/>
                    </a:lnTo>
                    <a:lnTo>
                      <a:pt x="652" y="1381"/>
                    </a:lnTo>
                    <a:lnTo>
                      <a:pt x="640" y="1418"/>
                    </a:lnTo>
                    <a:lnTo>
                      <a:pt x="652" y="1433"/>
                    </a:lnTo>
                    <a:lnTo>
                      <a:pt x="667" y="1448"/>
                    </a:lnTo>
                    <a:lnTo>
                      <a:pt x="667" y="1462"/>
                    </a:lnTo>
                    <a:lnTo>
                      <a:pt x="648" y="14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47" name="Freeform 35">
                <a:extLst>
                  <a:ext uri="{FF2B5EF4-FFF2-40B4-BE49-F238E27FC236}">
                    <a16:creationId xmlns="" xmlns:a16="http://schemas.microsoft.com/office/drawing/2014/main" id="{8AC0E345-3F49-46A8-B1C5-EDE5A605D442}"/>
                  </a:ext>
                </a:extLst>
              </p:cNvPr>
              <p:cNvSpPr>
                <a:spLocks/>
              </p:cNvSpPr>
              <p:nvPr/>
            </p:nvSpPr>
            <p:spPr bwMode="auto">
              <a:xfrm>
                <a:off x="1876" y="2381"/>
                <a:ext cx="110" cy="36"/>
              </a:xfrm>
              <a:custGeom>
                <a:avLst/>
                <a:gdLst>
                  <a:gd name="T0" fmla="*/ 0 w 220"/>
                  <a:gd name="T1" fmla="*/ 59 h 73"/>
                  <a:gd name="T2" fmla="*/ 88 w 220"/>
                  <a:gd name="T3" fmla="*/ 56 h 73"/>
                  <a:gd name="T4" fmla="*/ 122 w 220"/>
                  <a:gd name="T5" fmla="*/ 37 h 73"/>
                  <a:gd name="T6" fmla="*/ 151 w 220"/>
                  <a:gd name="T7" fmla="*/ 15 h 73"/>
                  <a:gd name="T8" fmla="*/ 205 w 220"/>
                  <a:gd name="T9" fmla="*/ 0 h 73"/>
                  <a:gd name="T10" fmla="*/ 220 w 220"/>
                  <a:gd name="T11" fmla="*/ 15 h 73"/>
                  <a:gd name="T12" fmla="*/ 197 w 220"/>
                  <a:gd name="T13" fmla="*/ 22 h 73"/>
                  <a:gd name="T14" fmla="*/ 159 w 220"/>
                  <a:gd name="T15" fmla="*/ 42 h 73"/>
                  <a:gd name="T16" fmla="*/ 138 w 220"/>
                  <a:gd name="T17" fmla="*/ 56 h 73"/>
                  <a:gd name="T18" fmla="*/ 103 w 220"/>
                  <a:gd name="T19" fmla="*/ 66 h 73"/>
                  <a:gd name="T20" fmla="*/ 48 w 220"/>
                  <a:gd name="T21" fmla="*/ 71 h 73"/>
                  <a:gd name="T22" fmla="*/ 4 w 220"/>
                  <a:gd name="T23" fmla="*/ 73 h 73"/>
                  <a:gd name="T24" fmla="*/ 0 w 220"/>
                  <a:gd name="T25" fmla="*/ 5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73">
                    <a:moveTo>
                      <a:pt x="0" y="59"/>
                    </a:moveTo>
                    <a:lnTo>
                      <a:pt x="88" y="56"/>
                    </a:lnTo>
                    <a:lnTo>
                      <a:pt x="122" y="37"/>
                    </a:lnTo>
                    <a:lnTo>
                      <a:pt x="151" y="15"/>
                    </a:lnTo>
                    <a:lnTo>
                      <a:pt x="205" y="0"/>
                    </a:lnTo>
                    <a:lnTo>
                      <a:pt x="220" y="15"/>
                    </a:lnTo>
                    <a:lnTo>
                      <a:pt x="197" y="22"/>
                    </a:lnTo>
                    <a:lnTo>
                      <a:pt x="159" y="42"/>
                    </a:lnTo>
                    <a:lnTo>
                      <a:pt x="138" y="56"/>
                    </a:lnTo>
                    <a:lnTo>
                      <a:pt x="103" y="66"/>
                    </a:lnTo>
                    <a:lnTo>
                      <a:pt x="48" y="71"/>
                    </a:lnTo>
                    <a:lnTo>
                      <a:pt x="4" y="73"/>
                    </a:lnTo>
                    <a:lnTo>
                      <a:pt x="0"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48" name="Freeform 36">
                <a:extLst>
                  <a:ext uri="{FF2B5EF4-FFF2-40B4-BE49-F238E27FC236}">
                    <a16:creationId xmlns="" xmlns:a16="http://schemas.microsoft.com/office/drawing/2014/main" id="{21157571-A6ED-400C-96C8-D3E20B7FA2B1}"/>
                  </a:ext>
                </a:extLst>
              </p:cNvPr>
              <p:cNvSpPr>
                <a:spLocks/>
              </p:cNvSpPr>
              <p:nvPr/>
            </p:nvSpPr>
            <p:spPr bwMode="auto">
              <a:xfrm>
                <a:off x="1707" y="1590"/>
                <a:ext cx="320" cy="174"/>
              </a:xfrm>
              <a:custGeom>
                <a:avLst/>
                <a:gdLst>
                  <a:gd name="T0" fmla="*/ 19 w 640"/>
                  <a:gd name="T1" fmla="*/ 40 h 348"/>
                  <a:gd name="T2" fmla="*/ 96 w 640"/>
                  <a:gd name="T3" fmla="*/ 44 h 348"/>
                  <a:gd name="T4" fmla="*/ 176 w 640"/>
                  <a:gd name="T5" fmla="*/ 47 h 348"/>
                  <a:gd name="T6" fmla="*/ 228 w 640"/>
                  <a:gd name="T7" fmla="*/ 47 h 348"/>
                  <a:gd name="T8" fmla="*/ 269 w 640"/>
                  <a:gd name="T9" fmla="*/ 37 h 348"/>
                  <a:gd name="T10" fmla="*/ 336 w 640"/>
                  <a:gd name="T11" fmla="*/ 18 h 348"/>
                  <a:gd name="T12" fmla="*/ 368 w 640"/>
                  <a:gd name="T13" fmla="*/ 0 h 348"/>
                  <a:gd name="T14" fmla="*/ 411 w 640"/>
                  <a:gd name="T15" fmla="*/ 25 h 348"/>
                  <a:gd name="T16" fmla="*/ 483 w 640"/>
                  <a:gd name="T17" fmla="*/ 74 h 348"/>
                  <a:gd name="T18" fmla="*/ 534 w 640"/>
                  <a:gd name="T19" fmla="*/ 110 h 348"/>
                  <a:gd name="T20" fmla="*/ 600 w 640"/>
                  <a:gd name="T21" fmla="*/ 156 h 348"/>
                  <a:gd name="T22" fmla="*/ 640 w 640"/>
                  <a:gd name="T23" fmla="*/ 192 h 348"/>
                  <a:gd name="T24" fmla="*/ 603 w 640"/>
                  <a:gd name="T25" fmla="*/ 223 h 348"/>
                  <a:gd name="T26" fmla="*/ 566 w 640"/>
                  <a:gd name="T27" fmla="*/ 257 h 348"/>
                  <a:gd name="T28" fmla="*/ 507 w 640"/>
                  <a:gd name="T29" fmla="*/ 282 h 348"/>
                  <a:gd name="T30" fmla="*/ 446 w 640"/>
                  <a:gd name="T31" fmla="*/ 308 h 348"/>
                  <a:gd name="T32" fmla="*/ 390 w 640"/>
                  <a:gd name="T33" fmla="*/ 330 h 348"/>
                  <a:gd name="T34" fmla="*/ 338 w 640"/>
                  <a:gd name="T35" fmla="*/ 338 h 348"/>
                  <a:gd name="T36" fmla="*/ 284 w 640"/>
                  <a:gd name="T37" fmla="*/ 348 h 348"/>
                  <a:gd name="T38" fmla="*/ 217 w 640"/>
                  <a:gd name="T39" fmla="*/ 301 h 348"/>
                  <a:gd name="T40" fmla="*/ 167 w 640"/>
                  <a:gd name="T41" fmla="*/ 260 h 348"/>
                  <a:gd name="T42" fmla="*/ 108 w 640"/>
                  <a:gd name="T43" fmla="*/ 208 h 348"/>
                  <a:gd name="T44" fmla="*/ 59 w 640"/>
                  <a:gd name="T45" fmla="*/ 156 h 348"/>
                  <a:gd name="T46" fmla="*/ 22 w 640"/>
                  <a:gd name="T47" fmla="*/ 121 h 348"/>
                  <a:gd name="T48" fmla="*/ 0 w 640"/>
                  <a:gd name="T49" fmla="*/ 69 h 348"/>
                  <a:gd name="T50" fmla="*/ 19 w 640"/>
                  <a:gd name="T51" fmla="*/ 4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0" h="348">
                    <a:moveTo>
                      <a:pt x="19" y="40"/>
                    </a:moveTo>
                    <a:lnTo>
                      <a:pt x="96" y="44"/>
                    </a:lnTo>
                    <a:lnTo>
                      <a:pt x="176" y="47"/>
                    </a:lnTo>
                    <a:lnTo>
                      <a:pt x="228" y="47"/>
                    </a:lnTo>
                    <a:lnTo>
                      <a:pt x="269" y="37"/>
                    </a:lnTo>
                    <a:lnTo>
                      <a:pt x="336" y="18"/>
                    </a:lnTo>
                    <a:lnTo>
                      <a:pt x="368" y="0"/>
                    </a:lnTo>
                    <a:lnTo>
                      <a:pt x="411" y="25"/>
                    </a:lnTo>
                    <a:lnTo>
                      <a:pt x="483" y="74"/>
                    </a:lnTo>
                    <a:lnTo>
                      <a:pt x="534" y="110"/>
                    </a:lnTo>
                    <a:lnTo>
                      <a:pt x="600" y="156"/>
                    </a:lnTo>
                    <a:lnTo>
                      <a:pt x="640" y="192"/>
                    </a:lnTo>
                    <a:lnTo>
                      <a:pt x="603" y="223"/>
                    </a:lnTo>
                    <a:lnTo>
                      <a:pt x="566" y="257"/>
                    </a:lnTo>
                    <a:lnTo>
                      <a:pt x="507" y="282"/>
                    </a:lnTo>
                    <a:lnTo>
                      <a:pt x="446" y="308"/>
                    </a:lnTo>
                    <a:lnTo>
                      <a:pt x="390" y="330"/>
                    </a:lnTo>
                    <a:lnTo>
                      <a:pt x="338" y="338"/>
                    </a:lnTo>
                    <a:lnTo>
                      <a:pt x="284" y="348"/>
                    </a:lnTo>
                    <a:lnTo>
                      <a:pt x="217" y="301"/>
                    </a:lnTo>
                    <a:lnTo>
                      <a:pt x="167" y="260"/>
                    </a:lnTo>
                    <a:lnTo>
                      <a:pt x="108" y="208"/>
                    </a:lnTo>
                    <a:lnTo>
                      <a:pt x="59" y="156"/>
                    </a:lnTo>
                    <a:lnTo>
                      <a:pt x="22" y="121"/>
                    </a:lnTo>
                    <a:lnTo>
                      <a:pt x="0" y="69"/>
                    </a:lnTo>
                    <a:lnTo>
                      <a:pt x="19" y="4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49" name="Freeform 37">
                <a:extLst>
                  <a:ext uri="{FF2B5EF4-FFF2-40B4-BE49-F238E27FC236}">
                    <a16:creationId xmlns="" xmlns:a16="http://schemas.microsoft.com/office/drawing/2014/main" id="{C8A3EBF5-B5A6-4CD4-88FA-CA850139AA61}"/>
                  </a:ext>
                </a:extLst>
              </p:cNvPr>
              <p:cNvSpPr>
                <a:spLocks/>
              </p:cNvSpPr>
              <p:nvPr/>
            </p:nvSpPr>
            <p:spPr bwMode="auto">
              <a:xfrm>
                <a:off x="1699" y="1585"/>
                <a:ext cx="345" cy="202"/>
              </a:xfrm>
              <a:custGeom>
                <a:avLst/>
                <a:gdLst>
                  <a:gd name="T0" fmla="*/ 338 w 691"/>
                  <a:gd name="T1" fmla="*/ 346 h 405"/>
                  <a:gd name="T2" fmla="*/ 448 w 691"/>
                  <a:gd name="T3" fmla="*/ 316 h 405"/>
                  <a:gd name="T4" fmla="*/ 536 w 691"/>
                  <a:gd name="T5" fmla="*/ 278 h 405"/>
                  <a:gd name="T6" fmla="*/ 599 w 691"/>
                  <a:gd name="T7" fmla="*/ 233 h 405"/>
                  <a:gd name="T8" fmla="*/ 624 w 691"/>
                  <a:gd name="T9" fmla="*/ 207 h 405"/>
                  <a:gd name="T10" fmla="*/ 534 w 691"/>
                  <a:gd name="T11" fmla="*/ 123 h 405"/>
                  <a:gd name="T12" fmla="*/ 460 w 691"/>
                  <a:gd name="T13" fmla="*/ 78 h 405"/>
                  <a:gd name="T14" fmla="*/ 389 w 691"/>
                  <a:gd name="T15" fmla="*/ 35 h 405"/>
                  <a:gd name="T16" fmla="*/ 374 w 691"/>
                  <a:gd name="T17" fmla="*/ 35 h 405"/>
                  <a:gd name="T18" fmla="*/ 330 w 691"/>
                  <a:gd name="T19" fmla="*/ 50 h 405"/>
                  <a:gd name="T20" fmla="*/ 271 w 691"/>
                  <a:gd name="T21" fmla="*/ 66 h 405"/>
                  <a:gd name="T22" fmla="*/ 166 w 691"/>
                  <a:gd name="T23" fmla="*/ 74 h 405"/>
                  <a:gd name="T24" fmla="*/ 63 w 691"/>
                  <a:gd name="T25" fmla="*/ 71 h 405"/>
                  <a:gd name="T26" fmla="*/ 36 w 691"/>
                  <a:gd name="T27" fmla="*/ 74 h 405"/>
                  <a:gd name="T28" fmla="*/ 36 w 691"/>
                  <a:gd name="T29" fmla="*/ 93 h 405"/>
                  <a:gd name="T30" fmla="*/ 58 w 691"/>
                  <a:gd name="T31" fmla="*/ 123 h 405"/>
                  <a:gd name="T32" fmla="*/ 100 w 691"/>
                  <a:gd name="T33" fmla="*/ 177 h 405"/>
                  <a:gd name="T34" fmla="*/ 154 w 691"/>
                  <a:gd name="T35" fmla="*/ 220 h 405"/>
                  <a:gd name="T36" fmla="*/ 221 w 691"/>
                  <a:gd name="T37" fmla="*/ 285 h 405"/>
                  <a:gd name="T38" fmla="*/ 283 w 691"/>
                  <a:gd name="T39" fmla="*/ 331 h 405"/>
                  <a:gd name="T40" fmla="*/ 323 w 691"/>
                  <a:gd name="T41" fmla="*/ 359 h 405"/>
                  <a:gd name="T42" fmla="*/ 335 w 691"/>
                  <a:gd name="T43" fmla="*/ 387 h 405"/>
                  <a:gd name="T44" fmla="*/ 320 w 691"/>
                  <a:gd name="T45" fmla="*/ 405 h 405"/>
                  <a:gd name="T46" fmla="*/ 298 w 691"/>
                  <a:gd name="T47" fmla="*/ 395 h 405"/>
                  <a:gd name="T48" fmla="*/ 234 w 691"/>
                  <a:gd name="T49" fmla="*/ 337 h 405"/>
                  <a:gd name="T50" fmla="*/ 154 w 691"/>
                  <a:gd name="T51" fmla="*/ 270 h 405"/>
                  <a:gd name="T52" fmla="*/ 95 w 691"/>
                  <a:gd name="T53" fmla="*/ 220 h 405"/>
                  <a:gd name="T54" fmla="*/ 56 w 691"/>
                  <a:gd name="T55" fmla="*/ 177 h 405"/>
                  <a:gd name="T56" fmla="*/ 22 w 691"/>
                  <a:gd name="T57" fmla="*/ 130 h 405"/>
                  <a:gd name="T58" fmla="*/ 7 w 691"/>
                  <a:gd name="T59" fmla="*/ 100 h 405"/>
                  <a:gd name="T60" fmla="*/ 0 w 691"/>
                  <a:gd name="T61" fmla="*/ 66 h 405"/>
                  <a:gd name="T62" fmla="*/ 10 w 691"/>
                  <a:gd name="T63" fmla="*/ 44 h 405"/>
                  <a:gd name="T64" fmla="*/ 35 w 691"/>
                  <a:gd name="T65" fmla="*/ 35 h 405"/>
                  <a:gd name="T66" fmla="*/ 78 w 691"/>
                  <a:gd name="T67" fmla="*/ 37 h 405"/>
                  <a:gd name="T68" fmla="*/ 162 w 691"/>
                  <a:gd name="T69" fmla="*/ 50 h 405"/>
                  <a:gd name="T70" fmla="*/ 233 w 691"/>
                  <a:gd name="T71" fmla="*/ 50 h 405"/>
                  <a:gd name="T72" fmla="*/ 283 w 691"/>
                  <a:gd name="T73" fmla="*/ 35 h 405"/>
                  <a:gd name="T74" fmla="*/ 342 w 691"/>
                  <a:gd name="T75" fmla="*/ 22 h 405"/>
                  <a:gd name="T76" fmla="*/ 367 w 691"/>
                  <a:gd name="T77" fmla="*/ 0 h 405"/>
                  <a:gd name="T78" fmla="*/ 394 w 691"/>
                  <a:gd name="T79" fmla="*/ 0 h 405"/>
                  <a:gd name="T80" fmla="*/ 456 w 691"/>
                  <a:gd name="T81" fmla="*/ 37 h 405"/>
                  <a:gd name="T82" fmla="*/ 521 w 691"/>
                  <a:gd name="T83" fmla="*/ 88 h 405"/>
                  <a:gd name="T84" fmla="*/ 592 w 691"/>
                  <a:gd name="T85" fmla="*/ 133 h 405"/>
                  <a:gd name="T86" fmla="*/ 632 w 691"/>
                  <a:gd name="T87" fmla="*/ 162 h 405"/>
                  <a:gd name="T88" fmla="*/ 673 w 691"/>
                  <a:gd name="T89" fmla="*/ 189 h 405"/>
                  <a:gd name="T90" fmla="*/ 691 w 691"/>
                  <a:gd name="T91" fmla="*/ 199 h 405"/>
                  <a:gd name="T92" fmla="*/ 680 w 691"/>
                  <a:gd name="T93" fmla="*/ 219 h 405"/>
                  <a:gd name="T94" fmla="*/ 651 w 691"/>
                  <a:gd name="T95" fmla="*/ 236 h 405"/>
                  <a:gd name="T96" fmla="*/ 617 w 691"/>
                  <a:gd name="T97" fmla="*/ 266 h 405"/>
                  <a:gd name="T98" fmla="*/ 584 w 691"/>
                  <a:gd name="T99" fmla="*/ 278 h 405"/>
                  <a:gd name="T100" fmla="*/ 527 w 691"/>
                  <a:gd name="T101" fmla="*/ 303 h 405"/>
                  <a:gd name="T102" fmla="*/ 484 w 691"/>
                  <a:gd name="T103" fmla="*/ 322 h 405"/>
                  <a:gd name="T104" fmla="*/ 438 w 691"/>
                  <a:gd name="T105" fmla="*/ 350 h 405"/>
                  <a:gd name="T106" fmla="*/ 389 w 691"/>
                  <a:gd name="T107" fmla="*/ 359 h 405"/>
                  <a:gd name="T108" fmla="*/ 350 w 691"/>
                  <a:gd name="T109" fmla="*/ 361 h 405"/>
                  <a:gd name="T110" fmla="*/ 338 w 691"/>
                  <a:gd name="T111" fmla="*/ 346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1" h="405">
                    <a:moveTo>
                      <a:pt x="338" y="346"/>
                    </a:moveTo>
                    <a:lnTo>
                      <a:pt x="448" y="316"/>
                    </a:lnTo>
                    <a:lnTo>
                      <a:pt x="536" y="278"/>
                    </a:lnTo>
                    <a:lnTo>
                      <a:pt x="599" y="233"/>
                    </a:lnTo>
                    <a:lnTo>
                      <a:pt x="624" y="207"/>
                    </a:lnTo>
                    <a:lnTo>
                      <a:pt x="534" y="123"/>
                    </a:lnTo>
                    <a:lnTo>
                      <a:pt x="460" y="78"/>
                    </a:lnTo>
                    <a:lnTo>
                      <a:pt x="389" y="35"/>
                    </a:lnTo>
                    <a:lnTo>
                      <a:pt x="374" y="35"/>
                    </a:lnTo>
                    <a:lnTo>
                      <a:pt x="330" y="50"/>
                    </a:lnTo>
                    <a:lnTo>
                      <a:pt x="271" y="66"/>
                    </a:lnTo>
                    <a:lnTo>
                      <a:pt x="166" y="74"/>
                    </a:lnTo>
                    <a:lnTo>
                      <a:pt x="63" y="71"/>
                    </a:lnTo>
                    <a:lnTo>
                      <a:pt x="36" y="74"/>
                    </a:lnTo>
                    <a:lnTo>
                      <a:pt x="36" y="93"/>
                    </a:lnTo>
                    <a:lnTo>
                      <a:pt x="58" y="123"/>
                    </a:lnTo>
                    <a:lnTo>
                      <a:pt x="100" y="177"/>
                    </a:lnTo>
                    <a:lnTo>
                      <a:pt x="154" y="220"/>
                    </a:lnTo>
                    <a:lnTo>
                      <a:pt x="221" y="285"/>
                    </a:lnTo>
                    <a:lnTo>
                      <a:pt x="283" y="331"/>
                    </a:lnTo>
                    <a:lnTo>
                      <a:pt x="323" y="359"/>
                    </a:lnTo>
                    <a:lnTo>
                      <a:pt x="335" y="387"/>
                    </a:lnTo>
                    <a:lnTo>
                      <a:pt x="320" y="405"/>
                    </a:lnTo>
                    <a:lnTo>
                      <a:pt x="298" y="395"/>
                    </a:lnTo>
                    <a:lnTo>
                      <a:pt x="234" y="337"/>
                    </a:lnTo>
                    <a:lnTo>
                      <a:pt x="154" y="270"/>
                    </a:lnTo>
                    <a:lnTo>
                      <a:pt x="95" y="220"/>
                    </a:lnTo>
                    <a:lnTo>
                      <a:pt x="56" y="177"/>
                    </a:lnTo>
                    <a:lnTo>
                      <a:pt x="22" y="130"/>
                    </a:lnTo>
                    <a:lnTo>
                      <a:pt x="7" y="100"/>
                    </a:lnTo>
                    <a:lnTo>
                      <a:pt x="0" y="66"/>
                    </a:lnTo>
                    <a:lnTo>
                      <a:pt x="10" y="44"/>
                    </a:lnTo>
                    <a:lnTo>
                      <a:pt x="35" y="35"/>
                    </a:lnTo>
                    <a:lnTo>
                      <a:pt x="78" y="37"/>
                    </a:lnTo>
                    <a:lnTo>
                      <a:pt x="162" y="50"/>
                    </a:lnTo>
                    <a:lnTo>
                      <a:pt x="233" y="50"/>
                    </a:lnTo>
                    <a:lnTo>
                      <a:pt x="283" y="35"/>
                    </a:lnTo>
                    <a:lnTo>
                      <a:pt x="342" y="22"/>
                    </a:lnTo>
                    <a:lnTo>
                      <a:pt x="367" y="0"/>
                    </a:lnTo>
                    <a:lnTo>
                      <a:pt x="394" y="0"/>
                    </a:lnTo>
                    <a:lnTo>
                      <a:pt x="456" y="37"/>
                    </a:lnTo>
                    <a:lnTo>
                      <a:pt x="521" y="88"/>
                    </a:lnTo>
                    <a:lnTo>
                      <a:pt x="592" y="133"/>
                    </a:lnTo>
                    <a:lnTo>
                      <a:pt x="632" y="162"/>
                    </a:lnTo>
                    <a:lnTo>
                      <a:pt x="673" y="189"/>
                    </a:lnTo>
                    <a:lnTo>
                      <a:pt x="691" y="199"/>
                    </a:lnTo>
                    <a:lnTo>
                      <a:pt x="680" y="219"/>
                    </a:lnTo>
                    <a:lnTo>
                      <a:pt x="651" y="236"/>
                    </a:lnTo>
                    <a:lnTo>
                      <a:pt x="617" y="266"/>
                    </a:lnTo>
                    <a:lnTo>
                      <a:pt x="584" y="278"/>
                    </a:lnTo>
                    <a:lnTo>
                      <a:pt x="527" y="303"/>
                    </a:lnTo>
                    <a:lnTo>
                      <a:pt x="484" y="322"/>
                    </a:lnTo>
                    <a:lnTo>
                      <a:pt x="438" y="350"/>
                    </a:lnTo>
                    <a:lnTo>
                      <a:pt x="389" y="359"/>
                    </a:lnTo>
                    <a:lnTo>
                      <a:pt x="350" y="361"/>
                    </a:lnTo>
                    <a:lnTo>
                      <a:pt x="338" y="3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50" name="Freeform 38">
                <a:extLst>
                  <a:ext uri="{FF2B5EF4-FFF2-40B4-BE49-F238E27FC236}">
                    <a16:creationId xmlns="" xmlns:a16="http://schemas.microsoft.com/office/drawing/2014/main" id="{43F1F0B0-0534-43F0-87C7-AE1661EF8EE1}"/>
                  </a:ext>
                </a:extLst>
              </p:cNvPr>
              <p:cNvSpPr>
                <a:spLocks/>
              </p:cNvSpPr>
              <p:nvPr/>
            </p:nvSpPr>
            <p:spPr bwMode="auto">
              <a:xfrm>
                <a:off x="1895" y="1738"/>
                <a:ext cx="109" cy="70"/>
              </a:xfrm>
              <a:custGeom>
                <a:avLst/>
                <a:gdLst>
                  <a:gd name="T0" fmla="*/ 185 w 219"/>
                  <a:gd name="T1" fmla="*/ 16 h 139"/>
                  <a:gd name="T2" fmla="*/ 139 w 219"/>
                  <a:gd name="T3" fmla="*/ 53 h 139"/>
                  <a:gd name="T4" fmla="*/ 96 w 219"/>
                  <a:gd name="T5" fmla="*/ 87 h 139"/>
                  <a:gd name="T6" fmla="*/ 35 w 219"/>
                  <a:gd name="T7" fmla="*/ 109 h 139"/>
                  <a:gd name="T8" fmla="*/ 0 w 219"/>
                  <a:gd name="T9" fmla="*/ 120 h 139"/>
                  <a:gd name="T10" fmla="*/ 28 w 219"/>
                  <a:gd name="T11" fmla="*/ 139 h 139"/>
                  <a:gd name="T12" fmla="*/ 72 w 219"/>
                  <a:gd name="T13" fmla="*/ 132 h 139"/>
                  <a:gd name="T14" fmla="*/ 140 w 219"/>
                  <a:gd name="T15" fmla="*/ 87 h 139"/>
                  <a:gd name="T16" fmla="*/ 219 w 219"/>
                  <a:gd name="T17" fmla="*/ 0 h 139"/>
                  <a:gd name="T18" fmla="*/ 185 w 219"/>
                  <a:gd name="T19" fmla="*/ 16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139">
                    <a:moveTo>
                      <a:pt x="185" y="16"/>
                    </a:moveTo>
                    <a:lnTo>
                      <a:pt x="139" y="53"/>
                    </a:lnTo>
                    <a:lnTo>
                      <a:pt x="96" y="87"/>
                    </a:lnTo>
                    <a:lnTo>
                      <a:pt x="35" y="109"/>
                    </a:lnTo>
                    <a:lnTo>
                      <a:pt x="0" y="120"/>
                    </a:lnTo>
                    <a:lnTo>
                      <a:pt x="28" y="139"/>
                    </a:lnTo>
                    <a:lnTo>
                      <a:pt x="72" y="132"/>
                    </a:lnTo>
                    <a:lnTo>
                      <a:pt x="140" y="87"/>
                    </a:lnTo>
                    <a:lnTo>
                      <a:pt x="219" y="0"/>
                    </a:lnTo>
                    <a:lnTo>
                      <a:pt x="185"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88551" name="Group 39">
              <a:extLst>
                <a:ext uri="{FF2B5EF4-FFF2-40B4-BE49-F238E27FC236}">
                  <a16:creationId xmlns="" xmlns:a16="http://schemas.microsoft.com/office/drawing/2014/main" id="{7A9AC0AF-02E8-4857-8C4A-977224A29B23}"/>
                </a:ext>
              </a:extLst>
            </p:cNvPr>
            <p:cNvGrpSpPr>
              <a:grpSpLocks/>
            </p:cNvGrpSpPr>
            <p:nvPr/>
          </p:nvGrpSpPr>
          <p:grpSpPr bwMode="auto">
            <a:xfrm>
              <a:off x="841" y="1779"/>
              <a:ext cx="403" cy="911"/>
              <a:chOff x="841" y="1779"/>
              <a:chExt cx="403" cy="911"/>
            </a:xfrm>
          </p:grpSpPr>
          <p:sp>
            <p:nvSpPr>
              <p:cNvPr id="1088552" name="Freeform 40">
                <a:extLst>
                  <a:ext uri="{FF2B5EF4-FFF2-40B4-BE49-F238E27FC236}">
                    <a16:creationId xmlns="" xmlns:a16="http://schemas.microsoft.com/office/drawing/2014/main" id="{2BEBA481-819C-470B-9D52-D3BAE04C24B0}"/>
                  </a:ext>
                </a:extLst>
              </p:cNvPr>
              <p:cNvSpPr>
                <a:spLocks/>
              </p:cNvSpPr>
              <p:nvPr/>
            </p:nvSpPr>
            <p:spPr bwMode="auto">
              <a:xfrm>
                <a:off x="849" y="1819"/>
                <a:ext cx="212" cy="859"/>
              </a:xfrm>
              <a:custGeom>
                <a:avLst/>
                <a:gdLst>
                  <a:gd name="T0" fmla="*/ 417 w 424"/>
                  <a:gd name="T1" fmla="*/ 309 h 1717"/>
                  <a:gd name="T2" fmla="*/ 424 w 424"/>
                  <a:gd name="T3" fmla="*/ 372 h 1717"/>
                  <a:gd name="T4" fmla="*/ 424 w 424"/>
                  <a:gd name="T5" fmla="*/ 713 h 1717"/>
                  <a:gd name="T6" fmla="*/ 394 w 424"/>
                  <a:gd name="T7" fmla="*/ 1169 h 1717"/>
                  <a:gd name="T8" fmla="*/ 397 w 424"/>
                  <a:gd name="T9" fmla="*/ 1460 h 1717"/>
                  <a:gd name="T10" fmla="*/ 412 w 424"/>
                  <a:gd name="T11" fmla="*/ 1661 h 1717"/>
                  <a:gd name="T12" fmla="*/ 397 w 424"/>
                  <a:gd name="T13" fmla="*/ 1717 h 1717"/>
                  <a:gd name="T14" fmla="*/ 372 w 424"/>
                  <a:gd name="T15" fmla="*/ 1705 h 1717"/>
                  <a:gd name="T16" fmla="*/ 229 w 424"/>
                  <a:gd name="T17" fmla="*/ 1594 h 1717"/>
                  <a:gd name="T18" fmla="*/ 192 w 424"/>
                  <a:gd name="T19" fmla="*/ 1573 h 1717"/>
                  <a:gd name="T20" fmla="*/ 170 w 424"/>
                  <a:gd name="T21" fmla="*/ 1541 h 1717"/>
                  <a:gd name="T22" fmla="*/ 133 w 424"/>
                  <a:gd name="T23" fmla="*/ 1499 h 1717"/>
                  <a:gd name="T24" fmla="*/ 84 w 424"/>
                  <a:gd name="T25" fmla="*/ 1455 h 1717"/>
                  <a:gd name="T26" fmla="*/ 59 w 424"/>
                  <a:gd name="T27" fmla="*/ 1396 h 1717"/>
                  <a:gd name="T28" fmla="*/ 0 w 424"/>
                  <a:gd name="T29" fmla="*/ 1346 h 1717"/>
                  <a:gd name="T30" fmla="*/ 0 w 424"/>
                  <a:gd name="T31" fmla="*/ 1315 h 1717"/>
                  <a:gd name="T32" fmla="*/ 32 w 424"/>
                  <a:gd name="T33" fmla="*/ 1276 h 1717"/>
                  <a:gd name="T34" fmla="*/ 44 w 424"/>
                  <a:gd name="T35" fmla="*/ 1225 h 1717"/>
                  <a:gd name="T36" fmla="*/ 37 w 424"/>
                  <a:gd name="T37" fmla="*/ 1198 h 1717"/>
                  <a:gd name="T38" fmla="*/ 22 w 424"/>
                  <a:gd name="T39" fmla="*/ 1154 h 1717"/>
                  <a:gd name="T40" fmla="*/ 17 w 424"/>
                  <a:gd name="T41" fmla="*/ 1123 h 1717"/>
                  <a:gd name="T42" fmla="*/ 40 w 424"/>
                  <a:gd name="T43" fmla="*/ 1074 h 1717"/>
                  <a:gd name="T44" fmla="*/ 40 w 424"/>
                  <a:gd name="T45" fmla="*/ 1041 h 1717"/>
                  <a:gd name="T46" fmla="*/ 15 w 424"/>
                  <a:gd name="T47" fmla="*/ 975 h 1717"/>
                  <a:gd name="T48" fmla="*/ 15 w 424"/>
                  <a:gd name="T49" fmla="*/ 938 h 1717"/>
                  <a:gd name="T50" fmla="*/ 29 w 424"/>
                  <a:gd name="T51" fmla="*/ 909 h 1717"/>
                  <a:gd name="T52" fmla="*/ 54 w 424"/>
                  <a:gd name="T53" fmla="*/ 875 h 1717"/>
                  <a:gd name="T54" fmla="*/ 52 w 424"/>
                  <a:gd name="T55" fmla="*/ 816 h 1717"/>
                  <a:gd name="T56" fmla="*/ 37 w 424"/>
                  <a:gd name="T57" fmla="*/ 769 h 1717"/>
                  <a:gd name="T58" fmla="*/ 52 w 424"/>
                  <a:gd name="T59" fmla="*/ 713 h 1717"/>
                  <a:gd name="T60" fmla="*/ 66 w 424"/>
                  <a:gd name="T61" fmla="*/ 699 h 1717"/>
                  <a:gd name="T62" fmla="*/ 54 w 424"/>
                  <a:gd name="T63" fmla="*/ 647 h 1717"/>
                  <a:gd name="T64" fmla="*/ 22 w 424"/>
                  <a:gd name="T65" fmla="*/ 592 h 1717"/>
                  <a:gd name="T66" fmla="*/ 15 w 424"/>
                  <a:gd name="T67" fmla="*/ 557 h 1717"/>
                  <a:gd name="T68" fmla="*/ 22 w 424"/>
                  <a:gd name="T69" fmla="*/ 523 h 1717"/>
                  <a:gd name="T70" fmla="*/ 62 w 424"/>
                  <a:gd name="T71" fmla="*/ 492 h 1717"/>
                  <a:gd name="T72" fmla="*/ 59 w 424"/>
                  <a:gd name="T73" fmla="*/ 468 h 1717"/>
                  <a:gd name="T74" fmla="*/ 17 w 424"/>
                  <a:gd name="T75" fmla="*/ 390 h 1717"/>
                  <a:gd name="T76" fmla="*/ 3 w 424"/>
                  <a:gd name="T77" fmla="*/ 328 h 1717"/>
                  <a:gd name="T78" fmla="*/ 15 w 424"/>
                  <a:gd name="T79" fmla="*/ 294 h 1717"/>
                  <a:gd name="T80" fmla="*/ 54 w 424"/>
                  <a:gd name="T81" fmla="*/ 263 h 1717"/>
                  <a:gd name="T82" fmla="*/ 44 w 424"/>
                  <a:gd name="T83" fmla="*/ 235 h 1717"/>
                  <a:gd name="T84" fmla="*/ 17 w 424"/>
                  <a:gd name="T85" fmla="*/ 204 h 1717"/>
                  <a:gd name="T86" fmla="*/ 17 w 424"/>
                  <a:gd name="T87" fmla="*/ 170 h 1717"/>
                  <a:gd name="T88" fmla="*/ 62 w 424"/>
                  <a:gd name="T89" fmla="*/ 147 h 1717"/>
                  <a:gd name="T90" fmla="*/ 81 w 424"/>
                  <a:gd name="T91" fmla="*/ 122 h 1717"/>
                  <a:gd name="T92" fmla="*/ 44 w 424"/>
                  <a:gd name="T93" fmla="*/ 71 h 1717"/>
                  <a:gd name="T94" fmla="*/ 44 w 424"/>
                  <a:gd name="T95" fmla="*/ 44 h 1717"/>
                  <a:gd name="T96" fmla="*/ 88 w 424"/>
                  <a:gd name="T97" fmla="*/ 28 h 1717"/>
                  <a:gd name="T98" fmla="*/ 91 w 424"/>
                  <a:gd name="T99" fmla="*/ 0 h 1717"/>
                  <a:gd name="T100" fmla="*/ 140 w 424"/>
                  <a:gd name="T101" fmla="*/ 71 h 1717"/>
                  <a:gd name="T102" fmla="*/ 199 w 424"/>
                  <a:gd name="T103" fmla="*/ 145 h 1717"/>
                  <a:gd name="T104" fmla="*/ 272 w 424"/>
                  <a:gd name="T105" fmla="*/ 204 h 1717"/>
                  <a:gd name="T106" fmla="*/ 331 w 424"/>
                  <a:gd name="T107" fmla="*/ 250 h 1717"/>
                  <a:gd name="T108" fmla="*/ 394 w 424"/>
                  <a:gd name="T109" fmla="*/ 287 h 1717"/>
                  <a:gd name="T110" fmla="*/ 417 w 424"/>
                  <a:gd name="T111" fmla="*/ 309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4" h="1717">
                    <a:moveTo>
                      <a:pt x="417" y="309"/>
                    </a:moveTo>
                    <a:lnTo>
                      <a:pt x="424" y="372"/>
                    </a:lnTo>
                    <a:lnTo>
                      <a:pt x="424" y="713"/>
                    </a:lnTo>
                    <a:lnTo>
                      <a:pt x="394" y="1169"/>
                    </a:lnTo>
                    <a:lnTo>
                      <a:pt x="397" y="1460"/>
                    </a:lnTo>
                    <a:lnTo>
                      <a:pt x="412" y="1661"/>
                    </a:lnTo>
                    <a:lnTo>
                      <a:pt x="397" y="1717"/>
                    </a:lnTo>
                    <a:lnTo>
                      <a:pt x="372" y="1705"/>
                    </a:lnTo>
                    <a:lnTo>
                      <a:pt x="229" y="1594"/>
                    </a:lnTo>
                    <a:lnTo>
                      <a:pt x="192" y="1573"/>
                    </a:lnTo>
                    <a:lnTo>
                      <a:pt x="170" y="1541"/>
                    </a:lnTo>
                    <a:lnTo>
                      <a:pt x="133" y="1499"/>
                    </a:lnTo>
                    <a:lnTo>
                      <a:pt x="84" y="1455"/>
                    </a:lnTo>
                    <a:lnTo>
                      <a:pt x="59" y="1396"/>
                    </a:lnTo>
                    <a:lnTo>
                      <a:pt x="0" y="1346"/>
                    </a:lnTo>
                    <a:lnTo>
                      <a:pt x="0" y="1315"/>
                    </a:lnTo>
                    <a:lnTo>
                      <a:pt x="32" y="1276"/>
                    </a:lnTo>
                    <a:lnTo>
                      <a:pt x="44" y="1225"/>
                    </a:lnTo>
                    <a:lnTo>
                      <a:pt x="37" y="1198"/>
                    </a:lnTo>
                    <a:lnTo>
                      <a:pt x="22" y="1154"/>
                    </a:lnTo>
                    <a:lnTo>
                      <a:pt x="17" y="1123"/>
                    </a:lnTo>
                    <a:lnTo>
                      <a:pt x="40" y="1074"/>
                    </a:lnTo>
                    <a:lnTo>
                      <a:pt x="40" y="1041"/>
                    </a:lnTo>
                    <a:lnTo>
                      <a:pt x="15" y="975"/>
                    </a:lnTo>
                    <a:lnTo>
                      <a:pt x="15" y="938"/>
                    </a:lnTo>
                    <a:lnTo>
                      <a:pt x="29" y="909"/>
                    </a:lnTo>
                    <a:lnTo>
                      <a:pt x="54" y="875"/>
                    </a:lnTo>
                    <a:lnTo>
                      <a:pt x="52" y="816"/>
                    </a:lnTo>
                    <a:lnTo>
                      <a:pt x="37" y="769"/>
                    </a:lnTo>
                    <a:lnTo>
                      <a:pt x="52" y="713"/>
                    </a:lnTo>
                    <a:lnTo>
                      <a:pt x="66" y="699"/>
                    </a:lnTo>
                    <a:lnTo>
                      <a:pt x="54" y="647"/>
                    </a:lnTo>
                    <a:lnTo>
                      <a:pt x="22" y="592"/>
                    </a:lnTo>
                    <a:lnTo>
                      <a:pt x="15" y="557"/>
                    </a:lnTo>
                    <a:lnTo>
                      <a:pt x="22" y="523"/>
                    </a:lnTo>
                    <a:lnTo>
                      <a:pt x="62" y="492"/>
                    </a:lnTo>
                    <a:lnTo>
                      <a:pt x="59" y="468"/>
                    </a:lnTo>
                    <a:lnTo>
                      <a:pt x="17" y="390"/>
                    </a:lnTo>
                    <a:lnTo>
                      <a:pt x="3" y="328"/>
                    </a:lnTo>
                    <a:lnTo>
                      <a:pt x="15" y="294"/>
                    </a:lnTo>
                    <a:lnTo>
                      <a:pt x="54" y="263"/>
                    </a:lnTo>
                    <a:lnTo>
                      <a:pt x="44" y="235"/>
                    </a:lnTo>
                    <a:lnTo>
                      <a:pt x="17" y="204"/>
                    </a:lnTo>
                    <a:lnTo>
                      <a:pt x="17" y="170"/>
                    </a:lnTo>
                    <a:lnTo>
                      <a:pt x="62" y="147"/>
                    </a:lnTo>
                    <a:lnTo>
                      <a:pt x="81" y="122"/>
                    </a:lnTo>
                    <a:lnTo>
                      <a:pt x="44" y="71"/>
                    </a:lnTo>
                    <a:lnTo>
                      <a:pt x="44" y="44"/>
                    </a:lnTo>
                    <a:lnTo>
                      <a:pt x="88" y="28"/>
                    </a:lnTo>
                    <a:lnTo>
                      <a:pt x="91" y="0"/>
                    </a:lnTo>
                    <a:lnTo>
                      <a:pt x="140" y="71"/>
                    </a:lnTo>
                    <a:lnTo>
                      <a:pt x="199" y="145"/>
                    </a:lnTo>
                    <a:lnTo>
                      <a:pt x="272" y="204"/>
                    </a:lnTo>
                    <a:lnTo>
                      <a:pt x="331" y="250"/>
                    </a:lnTo>
                    <a:lnTo>
                      <a:pt x="394" y="287"/>
                    </a:lnTo>
                    <a:lnTo>
                      <a:pt x="417" y="309"/>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53" name="Freeform 41">
                <a:extLst>
                  <a:ext uri="{FF2B5EF4-FFF2-40B4-BE49-F238E27FC236}">
                    <a16:creationId xmlns="" xmlns:a16="http://schemas.microsoft.com/office/drawing/2014/main" id="{8AA17348-3824-41EC-A8CE-447E9EEF6267}"/>
                  </a:ext>
                </a:extLst>
              </p:cNvPr>
              <p:cNvSpPr>
                <a:spLocks/>
              </p:cNvSpPr>
              <p:nvPr/>
            </p:nvSpPr>
            <p:spPr bwMode="auto">
              <a:xfrm>
                <a:off x="841" y="1832"/>
                <a:ext cx="61" cy="654"/>
              </a:xfrm>
              <a:custGeom>
                <a:avLst/>
                <a:gdLst>
                  <a:gd name="T0" fmla="*/ 82 w 122"/>
                  <a:gd name="T1" fmla="*/ 44 h 1309"/>
                  <a:gd name="T2" fmla="*/ 122 w 122"/>
                  <a:gd name="T3" fmla="*/ 91 h 1309"/>
                  <a:gd name="T4" fmla="*/ 97 w 122"/>
                  <a:gd name="T5" fmla="*/ 127 h 1309"/>
                  <a:gd name="T6" fmla="*/ 45 w 122"/>
                  <a:gd name="T7" fmla="*/ 153 h 1309"/>
                  <a:gd name="T8" fmla="*/ 66 w 122"/>
                  <a:gd name="T9" fmla="*/ 190 h 1309"/>
                  <a:gd name="T10" fmla="*/ 89 w 122"/>
                  <a:gd name="T11" fmla="*/ 237 h 1309"/>
                  <a:gd name="T12" fmla="*/ 60 w 122"/>
                  <a:gd name="T13" fmla="*/ 267 h 1309"/>
                  <a:gd name="T14" fmla="*/ 36 w 122"/>
                  <a:gd name="T15" fmla="*/ 304 h 1309"/>
                  <a:gd name="T16" fmla="*/ 60 w 122"/>
                  <a:gd name="T17" fmla="*/ 369 h 1309"/>
                  <a:gd name="T18" fmla="*/ 89 w 122"/>
                  <a:gd name="T19" fmla="*/ 428 h 1309"/>
                  <a:gd name="T20" fmla="*/ 82 w 122"/>
                  <a:gd name="T21" fmla="*/ 480 h 1309"/>
                  <a:gd name="T22" fmla="*/ 45 w 122"/>
                  <a:gd name="T23" fmla="*/ 524 h 1309"/>
                  <a:gd name="T24" fmla="*/ 88 w 122"/>
                  <a:gd name="T25" fmla="*/ 617 h 1309"/>
                  <a:gd name="T26" fmla="*/ 104 w 122"/>
                  <a:gd name="T27" fmla="*/ 676 h 1309"/>
                  <a:gd name="T28" fmla="*/ 73 w 122"/>
                  <a:gd name="T29" fmla="*/ 719 h 1309"/>
                  <a:gd name="T30" fmla="*/ 80 w 122"/>
                  <a:gd name="T31" fmla="*/ 786 h 1309"/>
                  <a:gd name="T32" fmla="*/ 101 w 122"/>
                  <a:gd name="T33" fmla="*/ 852 h 1309"/>
                  <a:gd name="T34" fmla="*/ 75 w 122"/>
                  <a:gd name="T35" fmla="*/ 889 h 1309"/>
                  <a:gd name="T36" fmla="*/ 39 w 122"/>
                  <a:gd name="T37" fmla="*/ 933 h 1309"/>
                  <a:gd name="T38" fmla="*/ 75 w 122"/>
                  <a:gd name="T39" fmla="*/ 1013 h 1309"/>
                  <a:gd name="T40" fmla="*/ 89 w 122"/>
                  <a:gd name="T41" fmla="*/ 1068 h 1309"/>
                  <a:gd name="T42" fmla="*/ 58 w 122"/>
                  <a:gd name="T43" fmla="*/ 1080 h 1309"/>
                  <a:gd name="T44" fmla="*/ 66 w 122"/>
                  <a:gd name="T45" fmla="*/ 1168 h 1309"/>
                  <a:gd name="T46" fmla="*/ 82 w 122"/>
                  <a:gd name="T47" fmla="*/ 1214 h 1309"/>
                  <a:gd name="T48" fmla="*/ 58 w 122"/>
                  <a:gd name="T49" fmla="*/ 1266 h 1309"/>
                  <a:gd name="T50" fmla="*/ 2 w 122"/>
                  <a:gd name="T51" fmla="*/ 1294 h 1309"/>
                  <a:gd name="T52" fmla="*/ 44 w 122"/>
                  <a:gd name="T53" fmla="*/ 1205 h 1309"/>
                  <a:gd name="T54" fmla="*/ 24 w 122"/>
                  <a:gd name="T55" fmla="*/ 1131 h 1309"/>
                  <a:gd name="T56" fmla="*/ 29 w 122"/>
                  <a:gd name="T57" fmla="*/ 1068 h 1309"/>
                  <a:gd name="T58" fmla="*/ 45 w 122"/>
                  <a:gd name="T59" fmla="*/ 1037 h 1309"/>
                  <a:gd name="T60" fmla="*/ 10 w 122"/>
                  <a:gd name="T61" fmla="*/ 957 h 1309"/>
                  <a:gd name="T62" fmla="*/ 10 w 122"/>
                  <a:gd name="T63" fmla="*/ 877 h 1309"/>
                  <a:gd name="T64" fmla="*/ 54 w 122"/>
                  <a:gd name="T65" fmla="*/ 840 h 1309"/>
                  <a:gd name="T66" fmla="*/ 44 w 122"/>
                  <a:gd name="T67" fmla="*/ 781 h 1309"/>
                  <a:gd name="T68" fmla="*/ 32 w 122"/>
                  <a:gd name="T69" fmla="*/ 713 h 1309"/>
                  <a:gd name="T70" fmla="*/ 66 w 122"/>
                  <a:gd name="T71" fmla="*/ 669 h 1309"/>
                  <a:gd name="T72" fmla="*/ 51 w 122"/>
                  <a:gd name="T73" fmla="*/ 620 h 1309"/>
                  <a:gd name="T74" fmla="*/ 10 w 122"/>
                  <a:gd name="T75" fmla="*/ 543 h 1309"/>
                  <a:gd name="T76" fmla="*/ 17 w 122"/>
                  <a:gd name="T77" fmla="*/ 492 h 1309"/>
                  <a:gd name="T78" fmla="*/ 54 w 122"/>
                  <a:gd name="T79" fmla="*/ 450 h 1309"/>
                  <a:gd name="T80" fmla="*/ 14 w 122"/>
                  <a:gd name="T81" fmla="*/ 353 h 1309"/>
                  <a:gd name="T82" fmla="*/ 0 w 122"/>
                  <a:gd name="T83" fmla="*/ 296 h 1309"/>
                  <a:gd name="T84" fmla="*/ 32 w 122"/>
                  <a:gd name="T85" fmla="*/ 252 h 1309"/>
                  <a:gd name="T86" fmla="*/ 45 w 122"/>
                  <a:gd name="T87" fmla="*/ 223 h 1309"/>
                  <a:gd name="T88" fmla="*/ 10 w 122"/>
                  <a:gd name="T89" fmla="*/ 177 h 1309"/>
                  <a:gd name="T90" fmla="*/ 24 w 122"/>
                  <a:gd name="T91" fmla="*/ 132 h 1309"/>
                  <a:gd name="T92" fmla="*/ 66 w 122"/>
                  <a:gd name="T93" fmla="*/ 103 h 1309"/>
                  <a:gd name="T94" fmla="*/ 67 w 122"/>
                  <a:gd name="T95" fmla="*/ 69 h 1309"/>
                  <a:gd name="T96" fmla="*/ 45 w 122"/>
                  <a:gd name="T97" fmla="*/ 24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309">
                    <a:moveTo>
                      <a:pt x="60" y="0"/>
                    </a:moveTo>
                    <a:lnTo>
                      <a:pt x="82" y="44"/>
                    </a:lnTo>
                    <a:lnTo>
                      <a:pt x="101" y="73"/>
                    </a:lnTo>
                    <a:lnTo>
                      <a:pt x="122" y="91"/>
                    </a:lnTo>
                    <a:lnTo>
                      <a:pt x="116" y="112"/>
                    </a:lnTo>
                    <a:lnTo>
                      <a:pt x="97" y="127"/>
                    </a:lnTo>
                    <a:lnTo>
                      <a:pt x="67" y="134"/>
                    </a:lnTo>
                    <a:lnTo>
                      <a:pt x="45" y="153"/>
                    </a:lnTo>
                    <a:lnTo>
                      <a:pt x="51" y="177"/>
                    </a:lnTo>
                    <a:lnTo>
                      <a:pt x="66" y="190"/>
                    </a:lnTo>
                    <a:lnTo>
                      <a:pt x="89" y="220"/>
                    </a:lnTo>
                    <a:lnTo>
                      <a:pt x="89" y="237"/>
                    </a:lnTo>
                    <a:lnTo>
                      <a:pt x="82" y="252"/>
                    </a:lnTo>
                    <a:lnTo>
                      <a:pt x="60" y="267"/>
                    </a:lnTo>
                    <a:lnTo>
                      <a:pt x="39" y="282"/>
                    </a:lnTo>
                    <a:lnTo>
                      <a:pt x="36" y="304"/>
                    </a:lnTo>
                    <a:lnTo>
                      <a:pt x="44" y="326"/>
                    </a:lnTo>
                    <a:lnTo>
                      <a:pt x="60" y="369"/>
                    </a:lnTo>
                    <a:lnTo>
                      <a:pt x="75" y="404"/>
                    </a:lnTo>
                    <a:lnTo>
                      <a:pt x="89" y="428"/>
                    </a:lnTo>
                    <a:lnTo>
                      <a:pt x="89" y="456"/>
                    </a:lnTo>
                    <a:lnTo>
                      <a:pt x="82" y="480"/>
                    </a:lnTo>
                    <a:lnTo>
                      <a:pt x="60" y="502"/>
                    </a:lnTo>
                    <a:lnTo>
                      <a:pt x="45" y="524"/>
                    </a:lnTo>
                    <a:lnTo>
                      <a:pt x="51" y="561"/>
                    </a:lnTo>
                    <a:lnTo>
                      <a:pt x="88" y="617"/>
                    </a:lnTo>
                    <a:lnTo>
                      <a:pt x="101" y="647"/>
                    </a:lnTo>
                    <a:lnTo>
                      <a:pt x="104" y="676"/>
                    </a:lnTo>
                    <a:lnTo>
                      <a:pt x="89" y="698"/>
                    </a:lnTo>
                    <a:lnTo>
                      <a:pt x="73" y="719"/>
                    </a:lnTo>
                    <a:lnTo>
                      <a:pt x="67" y="749"/>
                    </a:lnTo>
                    <a:lnTo>
                      <a:pt x="80" y="786"/>
                    </a:lnTo>
                    <a:lnTo>
                      <a:pt x="95" y="825"/>
                    </a:lnTo>
                    <a:lnTo>
                      <a:pt x="101" y="852"/>
                    </a:lnTo>
                    <a:lnTo>
                      <a:pt x="95" y="870"/>
                    </a:lnTo>
                    <a:lnTo>
                      <a:pt x="75" y="889"/>
                    </a:lnTo>
                    <a:lnTo>
                      <a:pt x="51" y="911"/>
                    </a:lnTo>
                    <a:lnTo>
                      <a:pt x="39" y="933"/>
                    </a:lnTo>
                    <a:lnTo>
                      <a:pt x="51" y="972"/>
                    </a:lnTo>
                    <a:lnTo>
                      <a:pt x="75" y="1013"/>
                    </a:lnTo>
                    <a:lnTo>
                      <a:pt x="88" y="1043"/>
                    </a:lnTo>
                    <a:lnTo>
                      <a:pt x="89" y="1068"/>
                    </a:lnTo>
                    <a:lnTo>
                      <a:pt x="82" y="1080"/>
                    </a:lnTo>
                    <a:lnTo>
                      <a:pt x="58" y="1080"/>
                    </a:lnTo>
                    <a:lnTo>
                      <a:pt x="51" y="1134"/>
                    </a:lnTo>
                    <a:lnTo>
                      <a:pt x="66" y="1168"/>
                    </a:lnTo>
                    <a:lnTo>
                      <a:pt x="80" y="1192"/>
                    </a:lnTo>
                    <a:lnTo>
                      <a:pt x="82" y="1214"/>
                    </a:lnTo>
                    <a:lnTo>
                      <a:pt x="82" y="1235"/>
                    </a:lnTo>
                    <a:lnTo>
                      <a:pt x="58" y="1266"/>
                    </a:lnTo>
                    <a:lnTo>
                      <a:pt x="24" y="1309"/>
                    </a:lnTo>
                    <a:lnTo>
                      <a:pt x="2" y="1294"/>
                    </a:lnTo>
                    <a:lnTo>
                      <a:pt x="10" y="1259"/>
                    </a:lnTo>
                    <a:lnTo>
                      <a:pt x="44" y="1205"/>
                    </a:lnTo>
                    <a:lnTo>
                      <a:pt x="39" y="1171"/>
                    </a:lnTo>
                    <a:lnTo>
                      <a:pt x="24" y="1131"/>
                    </a:lnTo>
                    <a:lnTo>
                      <a:pt x="14" y="1097"/>
                    </a:lnTo>
                    <a:lnTo>
                      <a:pt x="29" y="1068"/>
                    </a:lnTo>
                    <a:lnTo>
                      <a:pt x="44" y="1058"/>
                    </a:lnTo>
                    <a:lnTo>
                      <a:pt x="45" y="1037"/>
                    </a:lnTo>
                    <a:lnTo>
                      <a:pt x="29" y="994"/>
                    </a:lnTo>
                    <a:lnTo>
                      <a:pt x="10" y="957"/>
                    </a:lnTo>
                    <a:lnTo>
                      <a:pt x="0" y="920"/>
                    </a:lnTo>
                    <a:lnTo>
                      <a:pt x="10" y="877"/>
                    </a:lnTo>
                    <a:lnTo>
                      <a:pt x="44" y="860"/>
                    </a:lnTo>
                    <a:lnTo>
                      <a:pt x="54" y="840"/>
                    </a:lnTo>
                    <a:lnTo>
                      <a:pt x="51" y="811"/>
                    </a:lnTo>
                    <a:lnTo>
                      <a:pt x="44" y="781"/>
                    </a:lnTo>
                    <a:lnTo>
                      <a:pt x="32" y="743"/>
                    </a:lnTo>
                    <a:lnTo>
                      <a:pt x="32" y="713"/>
                    </a:lnTo>
                    <a:lnTo>
                      <a:pt x="45" y="693"/>
                    </a:lnTo>
                    <a:lnTo>
                      <a:pt x="66" y="669"/>
                    </a:lnTo>
                    <a:lnTo>
                      <a:pt x="66" y="654"/>
                    </a:lnTo>
                    <a:lnTo>
                      <a:pt x="51" y="620"/>
                    </a:lnTo>
                    <a:lnTo>
                      <a:pt x="22" y="576"/>
                    </a:lnTo>
                    <a:lnTo>
                      <a:pt x="10" y="543"/>
                    </a:lnTo>
                    <a:lnTo>
                      <a:pt x="10" y="517"/>
                    </a:lnTo>
                    <a:lnTo>
                      <a:pt x="17" y="492"/>
                    </a:lnTo>
                    <a:lnTo>
                      <a:pt x="36" y="472"/>
                    </a:lnTo>
                    <a:lnTo>
                      <a:pt x="54" y="450"/>
                    </a:lnTo>
                    <a:lnTo>
                      <a:pt x="54" y="434"/>
                    </a:lnTo>
                    <a:lnTo>
                      <a:pt x="14" y="353"/>
                    </a:lnTo>
                    <a:lnTo>
                      <a:pt x="7" y="323"/>
                    </a:lnTo>
                    <a:lnTo>
                      <a:pt x="0" y="296"/>
                    </a:lnTo>
                    <a:lnTo>
                      <a:pt x="14" y="271"/>
                    </a:lnTo>
                    <a:lnTo>
                      <a:pt x="32" y="252"/>
                    </a:lnTo>
                    <a:lnTo>
                      <a:pt x="45" y="237"/>
                    </a:lnTo>
                    <a:lnTo>
                      <a:pt x="45" y="223"/>
                    </a:lnTo>
                    <a:lnTo>
                      <a:pt x="32" y="200"/>
                    </a:lnTo>
                    <a:lnTo>
                      <a:pt x="10" y="177"/>
                    </a:lnTo>
                    <a:lnTo>
                      <a:pt x="10" y="153"/>
                    </a:lnTo>
                    <a:lnTo>
                      <a:pt x="24" y="132"/>
                    </a:lnTo>
                    <a:lnTo>
                      <a:pt x="45" y="112"/>
                    </a:lnTo>
                    <a:lnTo>
                      <a:pt x="66" y="103"/>
                    </a:lnTo>
                    <a:lnTo>
                      <a:pt x="75" y="88"/>
                    </a:lnTo>
                    <a:lnTo>
                      <a:pt x="67" y="69"/>
                    </a:lnTo>
                    <a:lnTo>
                      <a:pt x="54" y="47"/>
                    </a:lnTo>
                    <a:lnTo>
                      <a:pt x="45" y="24"/>
                    </a:lnTo>
                    <a:lnTo>
                      <a:pt x="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54" name="Freeform 42">
                <a:extLst>
                  <a:ext uri="{FF2B5EF4-FFF2-40B4-BE49-F238E27FC236}">
                    <a16:creationId xmlns="" xmlns:a16="http://schemas.microsoft.com/office/drawing/2014/main" id="{85DBD9C1-6644-49FC-8492-97CED3FC9D9A}"/>
                  </a:ext>
                </a:extLst>
              </p:cNvPr>
              <p:cNvSpPr>
                <a:spLocks/>
              </p:cNvSpPr>
              <p:nvPr/>
            </p:nvSpPr>
            <p:spPr bwMode="auto">
              <a:xfrm>
                <a:off x="1006" y="1991"/>
                <a:ext cx="58" cy="529"/>
              </a:xfrm>
              <a:custGeom>
                <a:avLst/>
                <a:gdLst>
                  <a:gd name="T0" fmla="*/ 104 w 116"/>
                  <a:gd name="T1" fmla="*/ 29 h 1058"/>
                  <a:gd name="T2" fmla="*/ 109 w 116"/>
                  <a:gd name="T3" fmla="*/ 102 h 1058"/>
                  <a:gd name="T4" fmla="*/ 60 w 116"/>
                  <a:gd name="T5" fmla="*/ 132 h 1058"/>
                  <a:gd name="T6" fmla="*/ 75 w 116"/>
                  <a:gd name="T7" fmla="*/ 213 h 1058"/>
                  <a:gd name="T8" fmla="*/ 97 w 116"/>
                  <a:gd name="T9" fmla="*/ 291 h 1058"/>
                  <a:gd name="T10" fmla="*/ 67 w 116"/>
                  <a:gd name="T11" fmla="*/ 331 h 1058"/>
                  <a:gd name="T12" fmla="*/ 75 w 116"/>
                  <a:gd name="T13" fmla="*/ 396 h 1058"/>
                  <a:gd name="T14" fmla="*/ 97 w 116"/>
                  <a:gd name="T15" fmla="*/ 467 h 1058"/>
                  <a:gd name="T16" fmla="*/ 82 w 116"/>
                  <a:gd name="T17" fmla="*/ 519 h 1058"/>
                  <a:gd name="T18" fmla="*/ 57 w 116"/>
                  <a:gd name="T19" fmla="*/ 566 h 1058"/>
                  <a:gd name="T20" fmla="*/ 90 w 116"/>
                  <a:gd name="T21" fmla="*/ 659 h 1058"/>
                  <a:gd name="T22" fmla="*/ 97 w 116"/>
                  <a:gd name="T23" fmla="*/ 720 h 1058"/>
                  <a:gd name="T24" fmla="*/ 42 w 116"/>
                  <a:gd name="T25" fmla="*/ 764 h 1058"/>
                  <a:gd name="T26" fmla="*/ 57 w 116"/>
                  <a:gd name="T27" fmla="*/ 857 h 1058"/>
                  <a:gd name="T28" fmla="*/ 72 w 116"/>
                  <a:gd name="T29" fmla="*/ 938 h 1058"/>
                  <a:gd name="T30" fmla="*/ 42 w 116"/>
                  <a:gd name="T31" fmla="*/ 984 h 1058"/>
                  <a:gd name="T32" fmla="*/ 27 w 116"/>
                  <a:gd name="T33" fmla="*/ 1048 h 1058"/>
                  <a:gd name="T34" fmla="*/ 12 w 116"/>
                  <a:gd name="T35" fmla="*/ 1021 h 1058"/>
                  <a:gd name="T36" fmla="*/ 42 w 116"/>
                  <a:gd name="T37" fmla="*/ 947 h 1058"/>
                  <a:gd name="T38" fmla="*/ 27 w 116"/>
                  <a:gd name="T39" fmla="*/ 838 h 1058"/>
                  <a:gd name="T40" fmla="*/ 20 w 116"/>
                  <a:gd name="T41" fmla="*/ 757 h 1058"/>
                  <a:gd name="T42" fmla="*/ 60 w 116"/>
                  <a:gd name="T43" fmla="*/ 703 h 1058"/>
                  <a:gd name="T44" fmla="*/ 27 w 116"/>
                  <a:gd name="T45" fmla="*/ 625 h 1058"/>
                  <a:gd name="T46" fmla="*/ 20 w 116"/>
                  <a:gd name="T47" fmla="*/ 551 h 1058"/>
                  <a:gd name="T48" fmla="*/ 50 w 116"/>
                  <a:gd name="T49" fmla="*/ 492 h 1058"/>
                  <a:gd name="T50" fmla="*/ 64 w 116"/>
                  <a:gd name="T51" fmla="*/ 448 h 1058"/>
                  <a:gd name="T52" fmla="*/ 35 w 116"/>
                  <a:gd name="T53" fmla="*/ 374 h 1058"/>
                  <a:gd name="T54" fmla="*/ 42 w 116"/>
                  <a:gd name="T55" fmla="*/ 313 h 1058"/>
                  <a:gd name="T56" fmla="*/ 60 w 116"/>
                  <a:gd name="T57" fmla="*/ 269 h 1058"/>
                  <a:gd name="T58" fmla="*/ 38 w 116"/>
                  <a:gd name="T59" fmla="*/ 204 h 1058"/>
                  <a:gd name="T60" fmla="*/ 30 w 116"/>
                  <a:gd name="T61" fmla="*/ 130 h 1058"/>
                  <a:gd name="T62" fmla="*/ 64 w 116"/>
                  <a:gd name="T63" fmla="*/ 80 h 1058"/>
                  <a:gd name="T64" fmla="*/ 67 w 116"/>
                  <a:gd name="T65" fmla="*/ 34 h 1058"/>
                  <a:gd name="T66" fmla="*/ 90 w 116"/>
                  <a:gd name="T67" fmla="*/ 0 h 1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6" h="1058">
                    <a:moveTo>
                      <a:pt x="90" y="0"/>
                    </a:moveTo>
                    <a:lnTo>
                      <a:pt x="104" y="29"/>
                    </a:lnTo>
                    <a:lnTo>
                      <a:pt x="116" y="80"/>
                    </a:lnTo>
                    <a:lnTo>
                      <a:pt x="109" y="102"/>
                    </a:lnTo>
                    <a:lnTo>
                      <a:pt x="79" y="117"/>
                    </a:lnTo>
                    <a:lnTo>
                      <a:pt x="60" y="132"/>
                    </a:lnTo>
                    <a:lnTo>
                      <a:pt x="60" y="173"/>
                    </a:lnTo>
                    <a:lnTo>
                      <a:pt x="75" y="213"/>
                    </a:lnTo>
                    <a:lnTo>
                      <a:pt x="94" y="240"/>
                    </a:lnTo>
                    <a:lnTo>
                      <a:pt x="97" y="291"/>
                    </a:lnTo>
                    <a:lnTo>
                      <a:pt x="87" y="309"/>
                    </a:lnTo>
                    <a:lnTo>
                      <a:pt x="67" y="331"/>
                    </a:lnTo>
                    <a:lnTo>
                      <a:pt x="64" y="365"/>
                    </a:lnTo>
                    <a:lnTo>
                      <a:pt x="75" y="396"/>
                    </a:lnTo>
                    <a:lnTo>
                      <a:pt x="90" y="424"/>
                    </a:lnTo>
                    <a:lnTo>
                      <a:pt x="97" y="467"/>
                    </a:lnTo>
                    <a:lnTo>
                      <a:pt x="97" y="492"/>
                    </a:lnTo>
                    <a:lnTo>
                      <a:pt x="82" y="519"/>
                    </a:lnTo>
                    <a:lnTo>
                      <a:pt x="57" y="544"/>
                    </a:lnTo>
                    <a:lnTo>
                      <a:pt x="57" y="566"/>
                    </a:lnTo>
                    <a:lnTo>
                      <a:pt x="64" y="631"/>
                    </a:lnTo>
                    <a:lnTo>
                      <a:pt x="90" y="659"/>
                    </a:lnTo>
                    <a:lnTo>
                      <a:pt x="104" y="687"/>
                    </a:lnTo>
                    <a:lnTo>
                      <a:pt x="97" y="720"/>
                    </a:lnTo>
                    <a:lnTo>
                      <a:pt x="60" y="742"/>
                    </a:lnTo>
                    <a:lnTo>
                      <a:pt x="42" y="764"/>
                    </a:lnTo>
                    <a:lnTo>
                      <a:pt x="38" y="805"/>
                    </a:lnTo>
                    <a:lnTo>
                      <a:pt x="57" y="857"/>
                    </a:lnTo>
                    <a:lnTo>
                      <a:pt x="72" y="909"/>
                    </a:lnTo>
                    <a:lnTo>
                      <a:pt x="72" y="938"/>
                    </a:lnTo>
                    <a:lnTo>
                      <a:pt x="64" y="977"/>
                    </a:lnTo>
                    <a:lnTo>
                      <a:pt x="42" y="984"/>
                    </a:lnTo>
                    <a:lnTo>
                      <a:pt x="27" y="1014"/>
                    </a:lnTo>
                    <a:lnTo>
                      <a:pt x="27" y="1048"/>
                    </a:lnTo>
                    <a:lnTo>
                      <a:pt x="0" y="1058"/>
                    </a:lnTo>
                    <a:lnTo>
                      <a:pt x="12" y="1021"/>
                    </a:lnTo>
                    <a:lnTo>
                      <a:pt x="35" y="977"/>
                    </a:lnTo>
                    <a:lnTo>
                      <a:pt x="42" y="947"/>
                    </a:lnTo>
                    <a:lnTo>
                      <a:pt x="42" y="888"/>
                    </a:lnTo>
                    <a:lnTo>
                      <a:pt x="27" y="838"/>
                    </a:lnTo>
                    <a:lnTo>
                      <a:pt x="23" y="798"/>
                    </a:lnTo>
                    <a:lnTo>
                      <a:pt x="20" y="757"/>
                    </a:lnTo>
                    <a:lnTo>
                      <a:pt x="45" y="724"/>
                    </a:lnTo>
                    <a:lnTo>
                      <a:pt x="60" y="703"/>
                    </a:lnTo>
                    <a:lnTo>
                      <a:pt x="50" y="659"/>
                    </a:lnTo>
                    <a:lnTo>
                      <a:pt x="27" y="625"/>
                    </a:lnTo>
                    <a:lnTo>
                      <a:pt x="23" y="595"/>
                    </a:lnTo>
                    <a:lnTo>
                      <a:pt x="20" y="551"/>
                    </a:lnTo>
                    <a:lnTo>
                      <a:pt x="30" y="522"/>
                    </a:lnTo>
                    <a:lnTo>
                      <a:pt x="50" y="492"/>
                    </a:lnTo>
                    <a:lnTo>
                      <a:pt x="64" y="470"/>
                    </a:lnTo>
                    <a:lnTo>
                      <a:pt x="64" y="448"/>
                    </a:lnTo>
                    <a:lnTo>
                      <a:pt x="50" y="424"/>
                    </a:lnTo>
                    <a:lnTo>
                      <a:pt x="35" y="374"/>
                    </a:lnTo>
                    <a:lnTo>
                      <a:pt x="35" y="343"/>
                    </a:lnTo>
                    <a:lnTo>
                      <a:pt x="42" y="313"/>
                    </a:lnTo>
                    <a:lnTo>
                      <a:pt x="57" y="291"/>
                    </a:lnTo>
                    <a:lnTo>
                      <a:pt x="60" y="269"/>
                    </a:lnTo>
                    <a:lnTo>
                      <a:pt x="57" y="242"/>
                    </a:lnTo>
                    <a:lnTo>
                      <a:pt x="38" y="204"/>
                    </a:lnTo>
                    <a:lnTo>
                      <a:pt x="27" y="176"/>
                    </a:lnTo>
                    <a:lnTo>
                      <a:pt x="30" y="130"/>
                    </a:lnTo>
                    <a:lnTo>
                      <a:pt x="45" y="111"/>
                    </a:lnTo>
                    <a:lnTo>
                      <a:pt x="64" y="80"/>
                    </a:lnTo>
                    <a:lnTo>
                      <a:pt x="75" y="56"/>
                    </a:lnTo>
                    <a:lnTo>
                      <a:pt x="67" y="34"/>
                    </a:lnTo>
                    <a:lnTo>
                      <a:pt x="72" y="12"/>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55" name="Freeform 43">
                <a:extLst>
                  <a:ext uri="{FF2B5EF4-FFF2-40B4-BE49-F238E27FC236}">
                    <a16:creationId xmlns="" xmlns:a16="http://schemas.microsoft.com/office/drawing/2014/main" id="{B6E64F75-7EFF-488C-AB4F-AA613616191C}"/>
                  </a:ext>
                </a:extLst>
              </p:cNvPr>
              <p:cNvSpPr>
                <a:spLocks/>
              </p:cNvSpPr>
              <p:nvPr/>
            </p:nvSpPr>
            <p:spPr bwMode="auto">
              <a:xfrm>
                <a:off x="914" y="1927"/>
                <a:ext cx="133" cy="114"/>
              </a:xfrm>
              <a:custGeom>
                <a:avLst/>
                <a:gdLst>
                  <a:gd name="T0" fmla="*/ 265 w 265"/>
                  <a:gd name="T1" fmla="*/ 185 h 229"/>
                  <a:gd name="T2" fmla="*/ 184 w 265"/>
                  <a:gd name="T3" fmla="*/ 119 h 229"/>
                  <a:gd name="T4" fmla="*/ 117 w 265"/>
                  <a:gd name="T5" fmla="*/ 59 h 229"/>
                  <a:gd name="T6" fmla="*/ 56 w 265"/>
                  <a:gd name="T7" fmla="*/ 0 h 229"/>
                  <a:gd name="T8" fmla="*/ 0 w 265"/>
                  <a:gd name="T9" fmla="*/ 0 h 229"/>
                  <a:gd name="T10" fmla="*/ 132 w 265"/>
                  <a:gd name="T11" fmla="*/ 96 h 229"/>
                  <a:gd name="T12" fmla="*/ 196 w 265"/>
                  <a:gd name="T13" fmla="*/ 156 h 229"/>
                  <a:gd name="T14" fmla="*/ 250 w 265"/>
                  <a:gd name="T15" fmla="*/ 229 h 229"/>
                  <a:gd name="T16" fmla="*/ 265 w 265"/>
                  <a:gd name="T17" fmla="*/ 18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5" h="229">
                    <a:moveTo>
                      <a:pt x="265" y="185"/>
                    </a:moveTo>
                    <a:lnTo>
                      <a:pt x="184" y="119"/>
                    </a:lnTo>
                    <a:lnTo>
                      <a:pt x="117" y="59"/>
                    </a:lnTo>
                    <a:lnTo>
                      <a:pt x="56" y="0"/>
                    </a:lnTo>
                    <a:lnTo>
                      <a:pt x="0" y="0"/>
                    </a:lnTo>
                    <a:lnTo>
                      <a:pt x="132" y="96"/>
                    </a:lnTo>
                    <a:lnTo>
                      <a:pt x="196" y="156"/>
                    </a:lnTo>
                    <a:lnTo>
                      <a:pt x="250" y="229"/>
                    </a:lnTo>
                    <a:lnTo>
                      <a:pt x="265" y="1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56" name="Freeform 44">
                <a:extLst>
                  <a:ext uri="{FF2B5EF4-FFF2-40B4-BE49-F238E27FC236}">
                    <a16:creationId xmlns="" xmlns:a16="http://schemas.microsoft.com/office/drawing/2014/main" id="{89FA9F43-13D9-4C17-A94A-2315803BA42A}"/>
                  </a:ext>
                </a:extLst>
              </p:cNvPr>
              <p:cNvSpPr>
                <a:spLocks/>
              </p:cNvSpPr>
              <p:nvPr/>
            </p:nvSpPr>
            <p:spPr bwMode="auto">
              <a:xfrm>
                <a:off x="913" y="1993"/>
                <a:ext cx="114" cy="93"/>
              </a:xfrm>
              <a:custGeom>
                <a:avLst/>
                <a:gdLst>
                  <a:gd name="T0" fmla="*/ 228 w 228"/>
                  <a:gd name="T1" fmla="*/ 117 h 186"/>
                  <a:gd name="T2" fmla="*/ 169 w 228"/>
                  <a:gd name="T3" fmla="*/ 96 h 186"/>
                  <a:gd name="T4" fmla="*/ 126 w 228"/>
                  <a:gd name="T5" fmla="*/ 59 h 186"/>
                  <a:gd name="T6" fmla="*/ 45 w 228"/>
                  <a:gd name="T7" fmla="*/ 0 h 186"/>
                  <a:gd name="T8" fmla="*/ 0 w 228"/>
                  <a:gd name="T9" fmla="*/ 0 h 186"/>
                  <a:gd name="T10" fmla="*/ 104 w 228"/>
                  <a:gd name="T11" fmla="*/ 59 h 186"/>
                  <a:gd name="T12" fmla="*/ 143 w 228"/>
                  <a:gd name="T13" fmla="*/ 98 h 186"/>
                  <a:gd name="T14" fmla="*/ 228 w 228"/>
                  <a:gd name="T15" fmla="*/ 186 h 186"/>
                  <a:gd name="T16" fmla="*/ 224 w 228"/>
                  <a:gd name="T17" fmla="*/ 133 h 186"/>
                  <a:gd name="T18" fmla="*/ 228 w 228"/>
                  <a:gd name="T1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186">
                    <a:moveTo>
                      <a:pt x="228" y="117"/>
                    </a:moveTo>
                    <a:lnTo>
                      <a:pt x="169" y="96"/>
                    </a:lnTo>
                    <a:lnTo>
                      <a:pt x="126" y="59"/>
                    </a:lnTo>
                    <a:lnTo>
                      <a:pt x="45" y="0"/>
                    </a:lnTo>
                    <a:lnTo>
                      <a:pt x="0" y="0"/>
                    </a:lnTo>
                    <a:lnTo>
                      <a:pt x="104" y="59"/>
                    </a:lnTo>
                    <a:lnTo>
                      <a:pt x="143" y="98"/>
                    </a:lnTo>
                    <a:lnTo>
                      <a:pt x="228" y="186"/>
                    </a:lnTo>
                    <a:lnTo>
                      <a:pt x="224" y="133"/>
                    </a:lnTo>
                    <a:lnTo>
                      <a:pt x="228" y="1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57" name="Freeform 45">
                <a:extLst>
                  <a:ext uri="{FF2B5EF4-FFF2-40B4-BE49-F238E27FC236}">
                    <a16:creationId xmlns="" xmlns:a16="http://schemas.microsoft.com/office/drawing/2014/main" id="{13D042C8-BDDA-41CD-9B5A-C3317F438E41}"/>
                  </a:ext>
                </a:extLst>
              </p:cNvPr>
              <p:cNvSpPr>
                <a:spLocks/>
              </p:cNvSpPr>
              <p:nvPr/>
            </p:nvSpPr>
            <p:spPr bwMode="auto">
              <a:xfrm>
                <a:off x="896" y="2048"/>
                <a:ext cx="135" cy="144"/>
              </a:xfrm>
              <a:custGeom>
                <a:avLst/>
                <a:gdLst>
                  <a:gd name="T0" fmla="*/ 264 w 269"/>
                  <a:gd name="T1" fmla="*/ 216 h 289"/>
                  <a:gd name="T2" fmla="*/ 190 w 269"/>
                  <a:gd name="T3" fmla="*/ 151 h 289"/>
                  <a:gd name="T4" fmla="*/ 161 w 269"/>
                  <a:gd name="T5" fmla="*/ 106 h 289"/>
                  <a:gd name="T6" fmla="*/ 102 w 269"/>
                  <a:gd name="T7" fmla="*/ 62 h 289"/>
                  <a:gd name="T8" fmla="*/ 50 w 269"/>
                  <a:gd name="T9" fmla="*/ 24 h 289"/>
                  <a:gd name="T10" fmla="*/ 13 w 269"/>
                  <a:gd name="T11" fmla="*/ 0 h 289"/>
                  <a:gd name="T12" fmla="*/ 0 w 269"/>
                  <a:gd name="T13" fmla="*/ 0 h 289"/>
                  <a:gd name="T14" fmla="*/ 0 w 269"/>
                  <a:gd name="T15" fmla="*/ 24 h 289"/>
                  <a:gd name="T16" fmla="*/ 43 w 269"/>
                  <a:gd name="T17" fmla="*/ 52 h 289"/>
                  <a:gd name="T18" fmla="*/ 124 w 269"/>
                  <a:gd name="T19" fmla="*/ 104 h 289"/>
                  <a:gd name="T20" fmla="*/ 183 w 269"/>
                  <a:gd name="T21" fmla="*/ 163 h 289"/>
                  <a:gd name="T22" fmla="*/ 224 w 269"/>
                  <a:gd name="T23" fmla="*/ 229 h 289"/>
                  <a:gd name="T24" fmla="*/ 269 w 269"/>
                  <a:gd name="T25" fmla="*/ 289 h 289"/>
                  <a:gd name="T26" fmla="*/ 264 w 269"/>
                  <a:gd name="T27" fmla="*/ 216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9" h="289">
                    <a:moveTo>
                      <a:pt x="264" y="216"/>
                    </a:moveTo>
                    <a:lnTo>
                      <a:pt x="190" y="151"/>
                    </a:lnTo>
                    <a:lnTo>
                      <a:pt x="161" y="106"/>
                    </a:lnTo>
                    <a:lnTo>
                      <a:pt x="102" y="62"/>
                    </a:lnTo>
                    <a:lnTo>
                      <a:pt x="50" y="24"/>
                    </a:lnTo>
                    <a:lnTo>
                      <a:pt x="13" y="0"/>
                    </a:lnTo>
                    <a:lnTo>
                      <a:pt x="0" y="0"/>
                    </a:lnTo>
                    <a:lnTo>
                      <a:pt x="0" y="24"/>
                    </a:lnTo>
                    <a:lnTo>
                      <a:pt x="43" y="52"/>
                    </a:lnTo>
                    <a:lnTo>
                      <a:pt x="124" y="104"/>
                    </a:lnTo>
                    <a:lnTo>
                      <a:pt x="183" y="163"/>
                    </a:lnTo>
                    <a:lnTo>
                      <a:pt x="224" y="229"/>
                    </a:lnTo>
                    <a:lnTo>
                      <a:pt x="269" y="289"/>
                    </a:lnTo>
                    <a:lnTo>
                      <a:pt x="264" y="2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58" name="Freeform 46">
                <a:extLst>
                  <a:ext uri="{FF2B5EF4-FFF2-40B4-BE49-F238E27FC236}">
                    <a16:creationId xmlns="" xmlns:a16="http://schemas.microsoft.com/office/drawing/2014/main" id="{D0EE9BDF-1F2C-4F51-A06D-EB474D914A43}"/>
                  </a:ext>
                </a:extLst>
              </p:cNvPr>
              <p:cNvSpPr>
                <a:spLocks/>
              </p:cNvSpPr>
              <p:nvPr/>
            </p:nvSpPr>
            <p:spPr bwMode="auto">
              <a:xfrm>
                <a:off x="910" y="2167"/>
                <a:ext cx="104" cy="85"/>
              </a:xfrm>
              <a:custGeom>
                <a:avLst/>
                <a:gdLst>
                  <a:gd name="T0" fmla="*/ 208 w 208"/>
                  <a:gd name="T1" fmla="*/ 140 h 170"/>
                  <a:gd name="T2" fmla="*/ 149 w 208"/>
                  <a:gd name="T3" fmla="*/ 77 h 170"/>
                  <a:gd name="T4" fmla="*/ 88 w 208"/>
                  <a:gd name="T5" fmla="*/ 37 h 170"/>
                  <a:gd name="T6" fmla="*/ 37 w 208"/>
                  <a:gd name="T7" fmla="*/ 10 h 170"/>
                  <a:gd name="T8" fmla="*/ 0 w 208"/>
                  <a:gd name="T9" fmla="*/ 0 h 170"/>
                  <a:gd name="T10" fmla="*/ 22 w 208"/>
                  <a:gd name="T11" fmla="*/ 37 h 170"/>
                  <a:gd name="T12" fmla="*/ 88 w 208"/>
                  <a:gd name="T13" fmla="*/ 74 h 170"/>
                  <a:gd name="T14" fmla="*/ 140 w 208"/>
                  <a:gd name="T15" fmla="*/ 127 h 170"/>
                  <a:gd name="T16" fmla="*/ 164 w 208"/>
                  <a:gd name="T17" fmla="*/ 163 h 170"/>
                  <a:gd name="T18" fmla="*/ 186 w 208"/>
                  <a:gd name="T19" fmla="*/ 170 h 170"/>
                  <a:gd name="T20" fmla="*/ 205 w 208"/>
                  <a:gd name="T21" fmla="*/ 157 h 170"/>
                  <a:gd name="T22" fmla="*/ 208 w 208"/>
                  <a:gd name="T23" fmla="*/ 14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170">
                    <a:moveTo>
                      <a:pt x="208" y="140"/>
                    </a:moveTo>
                    <a:lnTo>
                      <a:pt x="149" y="77"/>
                    </a:lnTo>
                    <a:lnTo>
                      <a:pt x="88" y="37"/>
                    </a:lnTo>
                    <a:lnTo>
                      <a:pt x="37" y="10"/>
                    </a:lnTo>
                    <a:lnTo>
                      <a:pt x="0" y="0"/>
                    </a:lnTo>
                    <a:lnTo>
                      <a:pt x="22" y="37"/>
                    </a:lnTo>
                    <a:lnTo>
                      <a:pt x="88" y="74"/>
                    </a:lnTo>
                    <a:lnTo>
                      <a:pt x="140" y="127"/>
                    </a:lnTo>
                    <a:lnTo>
                      <a:pt x="164" y="163"/>
                    </a:lnTo>
                    <a:lnTo>
                      <a:pt x="186" y="170"/>
                    </a:lnTo>
                    <a:lnTo>
                      <a:pt x="205" y="157"/>
                    </a:lnTo>
                    <a:lnTo>
                      <a:pt x="208"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59" name="Freeform 47">
                <a:extLst>
                  <a:ext uri="{FF2B5EF4-FFF2-40B4-BE49-F238E27FC236}">
                    <a16:creationId xmlns="" xmlns:a16="http://schemas.microsoft.com/office/drawing/2014/main" id="{212235B6-794B-414A-BF7A-EF12D24C8985}"/>
                  </a:ext>
                </a:extLst>
              </p:cNvPr>
              <p:cNvSpPr>
                <a:spLocks/>
              </p:cNvSpPr>
              <p:nvPr/>
            </p:nvSpPr>
            <p:spPr bwMode="auto">
              <a:xfrm>
                <a:off x="897" y="2227"/>
                <a:ext cx="115" cy="105"/>
              </a:xfrm>
              <a:custGeom>
                <a:avLst/>
                <a:gdLst>
                  <a:gd name="T0" fmla="*/ 230 w 230"/>
                  <a:gd name="T1" fmla="*/ 196 h 211"/>
                  <a:gd name="T2" fmla="*/ 171 w 230"/>
                  <a:gd name="T3" fmla="*/ 133 h 211"/>
                  <a:gd name="T4" fmla="*/ 97 w 230"/>
                  <a:gd name="T5" fmla="*/ 56 h 211"/>
                  <a:gd name="T6" fmla="*/ 54 w 230"/>
                  <a:gd name="T7" fmla="*/ 19 h 211"/>
                  <a:gd name="T8" fmla="*/ 20 w 230"/>
                  <a:gd name="T9" fmla="*/ 0 h 211"/>
                  <a:gd name="T10" fmla="*/ 0 w 230"/>
                  <a:gd name="T11" fmla="*/ 12 h 211"/>
                  <a:gd name="T12" fmla="*/ 40 w 230"/>
                  <a:gd name="T13" fmla="*/ 44 h 211"/>
                  <a:gd name="T14" fmla="*/ 106 w 230"/>
                  <a:gd name="T15" fmla="*/ 111 h 211"/>
                  <a:gd name="T16" fmla="*/ 167 w 230"/>
                  <a:gd name="T17" fmla="*/ 176 h 211"/>
                  <a:gd name="T18" fmla="*/ 208 w 230"/>
                  <a:gd name="T19" fmla="*/ 211 h 211"/>
                  <a:gd name="T20" fmla="*/ 218 w 230"/>
                  <a:gd name="T21" fmla="*/ 211 h 211"/>
                  <a:gd name="T22" fmla="*/ 230 w 230"/>
                  <a:gd name="T23" fmla="*/ 19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0" h="211">
                    <a:moveTo>
                      <a:pt x="230" y="196"/>
                    </a:moveTo>
                    <a:lnTo>
                      <a:pt x="171" y="133"/>
                    </a:lnTo>
                    <a:lnTo>
                      <a:pt x="97" y="56"/>
                    </a:lnTo>
                    <a:lnTo>
                      <a:pt x="54" y="19"/>
                    </a:lnTo>
                    <a:lnTo>
                      <a:pt x="20" y="0"/>
                    </a:lnTo>
                    <a:lnTo>
                      <a:pt x="0" y="12"/>
                    </a:lnTo>
                    <a:lnTo>
                      <a:pt x="40" y="44"/>
                    </a:lnTo>
                    <a:lnTo>
                      <a:pt x="106" y="111"/>
                    </a:lnTo>
                    <a:lnTo>
                      <a:pt x="167" y="176"/>
                    </a:lnTo>
                    <a:lnTo>
                      <a:pt x="208" y="211"/>
                    </a:lnTo>
                    <a:lnTo>
                      <a:pt x="218" y="211"/>
                    </a:lnTo>
                    <a:lnTo>
                      <a:pt x="230" y="1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60" name="Freeform 48">
                <a:extLst>
                  <a:ext uri="{FF2B5EF4-FFF2-40B4-BE49-F238E27FC236}">
                    <a16:creationId xmlns="" xmlns:a16="http://schemas.microsoft.com/office/drawing/2014/main" id="{F19045FB-E51F-4067-A234-2A8D73B7A268}"/>
                  </a:ext>
                </a:extLst>
              </p:cNvPr>
              <p:cNvSpPr>
                <a:spLocks/>
              </p:cNvSpPr>
              <p:nvPr/>
            </p:nvSpPr>
            <p:spPr bwMode="auto">
              <a:xfrm>
                <a:off x="911" y="2315"/>
                <a:ext cx="81" cy="83"/>
              </a:xfrm>
              <a:custGeom>
                <a:avLst/>
                <a:gdLst>
                  <a:gd name="T0" fmla="*/ 158 w 161"/>
                  <a:gd name="T1" fmla="*/ 140 h 167"/>
                  <a:gd name="T2" fmla="*/ 93 w 161"/>
                  <a:gd name="T3" fmla="*/ 43 h 167"/>
                  <a:gd name="T4" fmla="*/ 28 w 161"/>
                  <a:gd name="T5" fmla="*/ 6 h 167"/>
                  <a:gd name="T6" fmla="*/ 0 w 161"/>
                  <a:gd name="T7" fmla="*/ 0 h 167"/>
                  <a:gd name="T8" fmla="*/ 7 w 161"/>
                  <a:gd name="T9" fmla="*/ 20 h 167"/>
                  <a:gd name="T10" fmla="*/ 80 w 161"/>
                  <a:gd name="T11" fmla="*/ 74 h 167"/>
                  <a:gd name="T12" fmla="*/ 152 w 161"/>
                  <a:gd name="T13" fmla="*/ 160 h 167"/>
                  <a:gd name="T14" fmla="*/ 161 w 161"/>
                  <a:gd name="T15" fmla="*/ 167 h 167"/>
                  <a:gd name="T16" fmla="*/ 158 w 161"/>
                  <a:gd name="T17" fmla="*/ 14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1" h="167">
                    <a:moveTo>
                      <a:pt x="158" y="140"/>
                    </a:moveTo>
                    <a:lnTo>
                      <a:pt x="93" y="43"/>
                    </a:lnTo>
                    <a:lnTo>
                      <a:pt x="28" y="6"/>
                    </a:lnTo>
                    <a:lnTo>
                      <a:pt x="0" y="0"/>
                    </a:lnTo>
                    <a:lnTo>
                      <a:pt x="7" y="20"/>
                    </a:lnTo>
                    <a:lnTo>
                      <a:pt x="80" y="74"/>
                    </a:lnTo>
                    <a:lnTo>
                      <a:pt x="152" y="160"/>
                    </a:lnTo>
                    <a:lnTo>
                      <a:pt x="161" y="167"/>
                    </a:lnTo>
                    <a:lnTo>
                      <a:pt x="158"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61" name="Freeform 49">
                <a:extLst>
                  <a:ext uri="{FF2B5EF4-FFF2-40B4-BE49-F238E27FC236}">
                    <a16:creationId xmlns="" xmlns:a16="http://schemas.microsoft.com/office/drawing/2014/main" id="{ECCB8823-33DA-4064-B8F9-538ADBB64B91}"/>
                  </a:ext>
                </a:extLst>
              </p:cNvPr>
              <p:cNvSpPr>
                <a:spLocks/>
              </p:cNvSpPr>
              <p:nvPr/>
            </p:nvSpPr>
            <p:spPr bwMode="auto">
              <a:xfrm>
                <a:off x="913" y="2396"/>
                <a:ext cx="55" cy="63"/>
              </a:xfrm>
              <a:custGeom>
                <a:avLst/>
                <a:gdLst>
                  <a:gd name="T0" fmla="*/ 106 w 111"/>
                  <a:gd name="T1" fmla="*/ 96 h 126"/>
                  <a:gd name="T2" fmla="*/ 52 w 111"/>
                  <a:gd name="T3" fmla="*/ 22 h 126"/>
                  <a:gd name="T4" fmla="*/ 3 w 111"/>
                  <a:gd name="T5" fmla="*/ 0 h 126"/>
                  <a:gd name="T6" fmla="*/ 0 w 111"/>
                  <a:gd name="T7" fmla="*/ 22 h 126"/>
                  <a:gd name="T8" fmla="*/ 23 w 111"/>
                  <a:gd name="T9" fmla="*/ 59 h 126"/>
                  <a:gd name="T10" fmla="*/ 82 w 111"/>
                  <a:gd name="T11" fmla="*/ 108 h 126"/>
                  <a:gd name="T12" fmla="*/ 98 w 111"/>
                  <a:gd name="T13" fmla="*/ 126 h 126"/>
                  <a:gd name="T14" fmla="*/ 111 w 111"/>
                  <a:gd name="T15" fmla="*/ 118 h 126"/>
                  <a:gd name="T16" fmla="*/ 106 w 111"/>
                  <a:gd name="T17" fmla="*/ 9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26">
                    <a:moveTo>
                      <a:pt x="106" y="96"/>
                    </a:moveTo>
                    <a:lnTo>
                      <a:pt x="52" y="22"/>
                    </a:lnTo>
                    <a:lnTo>
                      <a:pt x="3" y="0"/>
                    </a:lnTo>
                    <a:lnTo>
                      <a:pt x="0" y="22"/>
                    </a:lnTo>
                    <a:lnTo>
                      <a:pt x="23" y="59"/>
                    </a:lnTo>
                    <a:lnTo>
                      <a:pt x="82" y="108"/>
                    </a:lnTo>
                    <a:lnTo>
                      <a:pt x="98" y="126"/>
                    </a:lnTo>
                    <a:lnTo>
                      <a:pt x="111" y="118"/>
                    </a:lnTo>
                    <a:lnTo>
                      <a:pt x="106"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62" name="Freeform 50">
                <a:extLst>
                  <a:ext uri="{FF2B5EF4-FFF2-40B4-BE49-F238E27FC236}">
                    <a16:creationId xmlns="" xmlns:a16="http://schemas.microsoft.com/office/drawing/2014/main" id="{213CBF2B-CDAF-4D33-992D-2F15402A480E}"/>
                  </a:ext>
                </a:extLst>
              </p:cNvPr>
              <p:cNvSpPr>
                <a:spLocks/>
              </p:cNvSpPr>
              <p:nvPr/>
            </p:nvSpPr>
            <p:spPr bwMode="auto">
              <a:xfrm>
                <a:off x="918" y="2479"/>
                <a:ext cx="69" cy="71"/>
              </a:xfrm>
              <a:custGeom>
                <a:avLst/>
                <a:gdLst>
                  <a:gd name="T0" fmla="*/ 140 w 140"/>
                  <a:gd name="T1" fmla="*/ 142 h 142"/>
                  <a:gd name="T2" fmla="*/ 121 w 140"/>
                  <a:gd name="T3" fmla="*/ 120 h 142"/>
                  <a:gd name="T4" fmla="*/ 81 w 140"/>
                  <a:gd name="T5" fmla="*/ 61 h 142"/>
                  <a:gd name="T6" fmla="*/ 25 w 140"/>
                  <a:gd name="T7" fmla="*/ 0 h 142"/>
                  <a:gd name="T8" fmla="*/ 0 w 140"/>
                  <a:gd name="T9" fmla="*/ 0 h 142"/>
                  <a:gd name="T10" fmla="*/ 10 w 140"/>
                  <a:gd name="T11" fmla="*/ 21 h 142"/>
                  <a:gd name="T12" fmla="*/ 54 w 140"/>
                  <a:gd name="T13" fmla="*/ 80 h 142"/>
                  <a:gd name="T14" fmla="*/ 97 w 140"/>
                  <a:gd name="T15" fmla="*/ 139 h 142"/>
                  <a:gd name="T16" fmla="*/ 140 w 140"/>
                  <a:gd name="T17" fmla="*/ 14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 h="142">
                    <a:moveTo>
                      <a:pt x="140" y="142"/>
                    </a:moveTo>
                    <a:lnTo>
                      <a:pt x="121" y="120"/>
                    </a:lnTo>
                    <a:lnTo>
                      <a:pt x="81" y="61"/>
                    </a:lnTo>
                    <a:lnTo>
                      <a:pt x="25" y="0"/>
                    </a:lnTo>
                    <a:lnTo>
                      <a:pt x="0" y="0"/>
                    </a:lnTo>
                    <a:lnTo>
                      <a:pt x="10" y="21"/>
                    </a:lnTo>
                    <a:lnTo>
                      <a:pt x="54" y="80"/>
                    </a:lnTo>
                    <a:lnTo>
                      <a:pt x="97" y="139"/>
                    </a:lnTo>
                    <a:lnTo>
                      <a:pt x="140" y="1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63" name="Freeform 51">
                <a:extLst>
                  <a:ext uri="{FF2B5EF4-FFF2-40B4-BE49-F238E27FC236}">
                    <a16:creationId xmlns="" xmlns:a16="http://schemas.microsoft.com/office/drawing/2014/main" id="{FA9BE915-1D3F-4D13-800A-89FF5ED7FE72}"/>
                  </a:ext>
                </a:extLst>
              </p:cNvPr>
              <p:cNvSpPr>
                <a:spLocks/>
              </p:cNvSpPr>
              <p:nvPr/>
            </p:nvSpPr>
            <p:spPr bwMode="auto">
              <a:xfrm>
                <a:off x="1012" y="1887"/>
                <a:ext cx="213" cy="791"/>
              </a:xfrm>
              <a:custGeom>
                <a:avLst/>
                <a:gdLst>
                  <a:gd name="T0" fmla="*/ 62 w 427"/>
                  <a:gd name="T1" fmla="*/ 194 h 1583"/>
                  <a:gd name="T2" fmla="*/ 77 w 427"/>
                  <a:gd name="T3" fmla="*/ 281 h 1583"/>
                  <a:gd name="T4" fmla="*/ 40 w 427"/>
                  <a:gd name="T5" fmla="*/ 340 h 1583"/>
                  <a:gd name="T6" fmla="*/ 44 w 427"/>
                  <a:gd name="T7" fmla="*/ 421 h 1583"/>
                  <a:gd name="T8" fmla="*/ 66 w 427"/>
                  <a:gd name="T9" fmla="*/ 488 h 1583"/>
                  <a:gd name="T10" fmla="*/ 32 w 427"/>
                  <a:gd name="T11" fmla="*/ 553 h 1583"/>
                  <a:gd name="T12" fmla="*/ 68 w 427"/>
                  <a:gd name="T13" fmla="*/ 668 h 1583"/>
                  <a:gd name="T14" fmla="*/ 25 w 427"/>
                  <a:gd name="T15" fmla="*/ 764 h 1583"/>
                  <a:gd name="T16" fmla="*/ 47 w 427"/>
                  <a:gd name="T17" fmla="*/ 860 h 1583"/>
                  <a:gd name="T18" fmla="*/ 59 w 427"/>
                  <a:gd name="T19" fmla="*/ 928 h 1583"/>
                  <a:gd name="T20" fmla="*/ 15 w 427"/>
                  <a:gd name="T21" fmla="*/ 987 h 1583"/>
                  <a:gd name="T22" fmla="*/ 40 w 427"/>
                  <a:gd name="T23" fmla="*/ 1110 h 1583"/>
                  <a:gd name="T24" fmla="*/ 37 w 427"/>
                  <a:gd name="T25" fmla="*/ 1175 h 1583"/>
                  <a:gd name="T26" fmla="*/ 0 w 427"/>
                  <a:gd name="T27" fmla="*/ 1257 h 1583"/>
                  <a:gd name="T28" fmla="*/ 22 w 427"/>
                  <a:gd name="T29" fmla="*/ 1326 h 1583"/>
                  <a:gd name="T30" fmla="*/ 25 w 427"/>
                  <a:gd name="T31" fmla="*/ 1389 h 1583"/>
                  <a:gd name="T32" fmla="*/ 32 w 427"/>
                  <a:gd name="T33" fmla="*/ 1456 h 1583"/>
                  <a:gd name="T34" fmla="*/ 62 w 427"/>
                  <a:gd name="T35" fmla="*/ 1514 h 1583"/>
                  <a:gd name="T36" fmla="*/ 66 w 427"/>
                  <a:gd name="T37" fmla="*/ 1583 h 1583"/>
                  <a:gd name="T38" fmla="*/ 161 w 427"/>
                  <a:gd name="T39" fmla="*/ 1524 h 1583"/>
                  <a:gd name="T40" fmla="*/ 275 w 427"/>
                  <a:gd name="T41" fmla="*/ 1509 h 1583"/>
                  <a:gd name="T42" fmla="*/ 353 w 427"/>
                  <a:gd name="T43" fmla="*/ 1478 h 1583"/>
                  <a:gd name="T44" fmla="*/ 378 w 427"/>
                  <a:gd name="T45" fmla="*/ 1434 h 1583"/>
                  <a:gd name="T46" fmla="*/ 386 w 427"/>
                  <a:gd name="T47" fmla="*/ 1345 h 1583"/>
                  <a:gd name="T48" fmla="*/ 368 w 427"/>
                  <a:gd name="T49" fmla="*/ 1230 h 1583"/>
                  <a:gd name="T50" fmla="*/ 349 w 427"/>
                  <a:gd name="T51" fmla="*/ 1169 h 1583"/>
                  <a:gd name="T52" fmla="*/ 361 w 427"/>
                  <a:gd name="T53" fmla="*/ 1095 h 1583"/>
                  <a:gd name="T54" fmla="*/ 326 w 427"/>
                  <a:gd name="T55" fmla="*/ 1014 h 1583"/>
                  <a:gd name="T56" fmla="*/ 375 w 427"/>
                  <a:gd name="T57" fmla="*/ 951 h 1583"/>
                  <a:gd name="T58" fmla="*/ 338 w 427"/>
                  <a:gd name="T59" fmla="*/ 860 h 1583"/>
                  <a:gd name="T60" fmla="*/ 319 w 427"/>
                  <a:gd name="T61" fmla="*/ 773 h 1583"/>
                  <a:gd name="T62" fmla="*/ 393 w 427"/>
                  <a:gd name="T63" fmla="*/ 708 h 1583"/>
                  <a:gd name="T64" fmla="*/ 368 w 427"/>
                  <a:gd name="T65" fmla="*/ 661 h 1583"/>
                  <a:gd name="T66" fmla="*/ 368 w 427"/>
                  <a:gd name="T67" fmla="*/ 581 h 1583"/>
                  <a:gd name="T68" fmla="*/ 334 w 427"/>
                  <a:gd name="T69" fmla="*/ 529 h 1583"/>
                  <a:gd name="T70" fmla="*/ 361 w 427"/>
                  <a:gd name="T71" fmla="*/ 466 h 1583"/>
                  <a:gd name="T72" fmla="*/ 338 w 427"/>
                  <a:gd name="T73" fmla="*/ 414 h 1583"/>
                  <a:gd name="T74" fmla="*/ 338 w 427"/>
                  <a:gd name="T75" fmla="*/ 370 h 1583"/>
                  <a:gd name="T76" fmla="*/ 362 w 427"/>
                  <a:gd name="T77" fmla="*/ 330 h 1583"/>
                  <a:gd name="T78" fmla="*/ 331 w 427"/>
                  <a:gd name="T79" fmla="*/ 279 h 1583"/>
                  <a:gd name="T80" fmla="*/ 326 w 427"/>
                  <a:gd name="T81" fmla="*/ 206 h 1583"/>
                  <a:gd name="T82" fmla="*/ 408 w 427"/>
                  <a:gd name="T83" fmla="*/ 112 h 1583"/>
                  <a:gd name="T84" fmla="*/ 427 w 427"/>
                  <a:gd name="T85" fmla="*/ 15 h 1583"/>
                  <a:gd name="T86" fmla="*/ 378 w 427"/>
                  <a:gd name="T87" fmla="*/ 15 h 1583"/>
                  <a:gd name="T88" fmla="*/ 235 w 427"/>
                  <a:gd name="T89" fmla="*/ 90 h 1583"/>
                  <a:gd name="T90" fmla="*/ 118 w 427"/>
                  <a:gd name="T91" fmla="*/ 135 h 1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27" h="1583">
                    <a:moveTo>
                      <a:pt x="77" y="149"/>
                    </a:moveTo>
                    <a:lnTo>
                      <a:pt x="62" y="194"/>
                    </a:lnTo>
                    <a:lnTo>
                      <a:pt x="74" y="238"/>
                    </a:lnTo>
                    <a:lnTo>
                      <a:pt x="77" y="281"/>
                    </a:lnTo>
                    <a:lnTo>
                      <a:pt x="62" y="309"/>
                    </a:lnTo>
                    <a:lnTo>
                      <a:pt x="40" y="340"/>
                    </a:lnTo>
                    <a:lnTo>
                      <a:pt x="30" y="389"/>
                    </a:lnTo>
                    <a:lnTo>
                      <a:pt x="44" y="421"/>
                    </a:lnTo>
                    <a:lnTo>
                      <a:pt x="66" y="458"/>
                    </a:lnTo>
                    <a:lnTo>
                      <a:pt x="66" y="488"/>
                    </a:lnTo>
                    <a:lnTo>
                      <a:pt x="52" y="516"/>
                    </a:lnTo>
                    <a:lnTo>
                      <a:pt x="32" y="553"/>
                    </a:lnTo>
                    <a:lnTo>
                      <a:pt x="40" y="590"/>
                    </a:lnTo>
                    <a:lnTo>
                      <a:pt x="68" y="668"/>
                    </a:lnTo>
                    <a:lnTo>
                      <a:pt x="66" y="701"/>
                    </a:lnTo>
                    <a:lnTo>
                      <a:pt x="25" y="764"/>
                    </a:lnTo>
                    <a:lnTo>
                      <a:pt x="25" y="819"/>
                    </a:lnTo>
                    <a:lnTo>
                      <a:pt x="47" y="860"/>
                    </a:lnTo>
                    <a:lnTo>
                      <a:pt x="62" y="896"/>
                    </a:lnTo>
                    <a:lnTo>
                      <a:pt x="59" y="928"/>
                    </a:lnTo>
                    <a:lnTo>
                      <a:pt x="22" y="962"/>
                    </a:lnTo>
                    <a:lnTo>
                      <a:pt x="15" y="987"/>
                    </a:lnTo>
                    <a:lnTo>
                      <a:pt x="22" y="1046"/>
                    </a:lnTo>
                    <a:lnTo>
                      <a:pt x="40" y="1110"/>
                    </a:lnTo>
                    <a:lnTo>
                      <a:pt x="40" y="1147"/>
                    </a:lnTo>
                    <a:lnTo>
                      <a:pt x="37" y="1175"/>
                    </a:lnTo>
                    <a:lnTo>
                      <a:pt x="10" y="1221"/>
                    </a:lnTo>
                    <a:lnTo>
                      <a:pt x="0" y="1257"/>
                    </a:lnTo>
                    <a:lnTo>
                      <a:pt x="3" y="1296"/>
                    </a:lnTo>
                    <a:lnTo>
                      <a:pt x="22" y="1326"/>
                    </a:lnTo>
                    <a:lnTo>
                      <a:pt x="44" y="1352"/>
                    </a:lnTo>
                    <a:lnTo>
                      <a:pt x="25" y="1389"/>
                    </a:lnTo>
                    <a:lnTo>
                      <a:pt x="15" y="1426"/>
                    </a:lnTo>
                    <a:lnTo>
                      <a:pt x="32" y="1456"/>
                    </a:lnTo>
                    <a:lnTo>
                      <a:pt x="59" y="1478"/>
                    </a:lnTo>
                    <a:lnTo>
                      <a:pt x="62" y="1514"/>
                    </a:lnTo>
                    <a:lnTo>
                      <a:pt x="62" y="1543"/>
                    </a:lnTo>
                    <a:lnTo>
                      <a:pt x="66" y="1583"/>
                    </a:lnTo>
                    <a:lnTo>
                      <a:pt x="112" y="1551"/>
                    </a:lnTo>
                    <a:lnTo>
                      <a:pt x="161" y="1524"/>
                    </a:lnTo>
                    <a:lnTo>
                      <a:pt x="207" y="1509"/>
                    </a:lnTo>
                    <a:lnTo>
                      <a:pt x="275" y="1509"/>
                    </a:lnTo>
                    <a:lnTo>
                      <a:pt x="324" y="1502"/>
                    </a:lnTo>
                    <a:lnTo>
                      <a:pt x="353" y="1478"/>
                    </a:lnTo>
                    <a:lnTo>
                      <a:pt x="405" y="1462"/>
                    </a:lnTo>
                    <a:lnTo>
                      <a:pt x="378" y="1434"/>
                    </a:lnTo>
                    <a:lnTo>
                      <a:pt x="368" y="1391"/>
                    </a:lnTo>
                    <a:lnTo>
                      <a:pt x="386" y="1345"/>
                    </a:lnTo>
                    <a:lnTo>
                      <a:pt x="383" y="1279"/>
                    </a:lnTo>
                    <a:lnTo>
                      <a:pt x="368" y="1230"/>
                    </a:lnTo>
                    <a:lnTo>
                      <a:pt x="353" y="1205"/>
                    </a:lnTo>
                    <a:lnTo>
                      <a:pt x="349" y="1169"/>
                    </a:lnTo>
                    <a:lnTo>
                      <a:pt x="368" y="1125"/>
                    </a:lnTo>
                    <a:lnTo>
                      <a:pt x="361" y="1095"/>
                    </a:lnTo>
                    <a:lnTo>
                      <a:pt x="324" y="1044"/>
                    </a:lnTo>
                    <a:lnTo>
                      <a:pt x="326" y="1014"/>
                    </a:lnTo>
                    <a:lnTo>
                      <a:pt x="341" y="987"/>
                    </a:lnTo>
                    <a:lnTo>
                      <a:pt x="375" y="951"/>
                    </a:lnTo>
                    <a:lnTo>
                      <a:pt x="362" y="921"/>
                    </a:lnTo>
                    <a:lnTo>
                      <a:pt x="338" y="860"/>
                    </a:lnTo>
                    <a:lnTo>
                      <a:pt x="319" y="819"/>
                    </a:lnTo>
                    <a:lnTo>
                      <a:pt x="319" y="773"/>
                    </a:lnTo>
                    <a:lnTo>
                      <a:pt x="386" y="750"/>
                    </a:lnTo>
                    <a:lnTo>
                      <a:pt x="393" y="708"/>
                    </a:lnTo>
                    <a:lnTo>
                      <a:pt x="386" y="683"/>
                    </a:lnTo>
                    <a:lnTo>
                      <a:pt x="368" y="661"/>
                    </a:lnTo>
                    <a:lnTo>
                      <a:pt x="371" y="624"/>
                    </a:lnTo>
                    <a:lnTo>
                      <a:pt x="368" y="581"/>
                    </a:lnTo>
                    <a:lnTo>
                      <a:pt x="349" y="559"/>
                    </a:lnTo>
                    <a:lnTo>
                      <a:pt x="334" y="529"/>
                    </a:lnTo>
                    <a:lnTo>
                      <a:pt x="346" y="500"/>
                    </a:lnTo>
                    <a:lnTo>
                      <a:pt x="361" y="466"/>
                    </a:lnTo>
                    <a:lnTo>
                      <a:pt x="361" y="443"/>
                    </a:lnTo>
                    <a:lnTo>
                      <a:pt x="338" y="414"/>
                    </a:lnTo>
                    <a:lnTo>
                      <a:pt x="331" y="389"/>
                    </a:lnTo>
                    <a:lnTo>
                      <a:pt x="338" y="370"/>
                    </a:lnTo>
                    <a:lnTo>
                      <a:pt x="361" y="355"/>
                    </a:lnTo>
                    <a:lnTo>
                      <a:pt x="362" y="330"/>
                    </a:lnTo>
                    <a:lnTo>
                      <a:pt x="356" y="315"/>
                    </a:lnTo>
                    <a:lnTo>
                      <a:pt x="331" y="279"/>
                    </a:lnTo>
                    <a:lnTo>
                      <a:pt x="324" y="238"/>
                    </a:lnTo>
                    <a:lnTo>
                      <a:pt x="326" y="206"/>
                    </a:lnTo>
                    <a:lnTo>
                      <a:pt x="349" y="176"/>
                    </a:lnTo>
                    <a:lnTo>
                      <a:pt x="408" y="112"/>
                    </a:lnTo>
                    <a:lnTo>
                      <a:pt x="427" y="58"/>
                    </a:lnTo>
                    <a:lnTo>
                      <a:pt x="427" y="15"/>
                    </a:lnTo>
                    <a:lnTo>
                      <a:pt x="408" y="0"/>
                    </a:lnTo>
                    <a:lnTo>
                      <a:pt x="378" y="15"/>
                    </a:lnTo>
                    <a:lnTo>
                      <a:pt x="304" y="61"/>
                    </a:lnTo>
                    <a:lnTo>
                      <a:pt x="235" y="90"/>
                    </a:lnTo>
                    <a:lnTo>
                      <a:pt x="164" y="120"/>
                    </a:lnTo>
                    <a:lnTo>
                      <a:pt x="118" y="135"/>
                    </a:lnTo>
                    <a:lnTo>
                      <a:pt x="77" y="149"/>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64" name="Freeform 52">
                <a:extLst>
                  <a:ext uri="{FF2B5EF4-FFF2-40B4-BE49-F238E27FC236}">
                    <a16:creationId xmlns="" xmlns:a16="http://schemas.microsoft.com/office/drawing/2014/main" id="{49980278-B92C-4945-AC13-9F0401441EC4}"/>
                  </a:ext>
                </a:extLst>
              </p:cNvPr>
              <p:cNvSpPr>
                <a:spLocks/>
              </p:cNvSpPr>
              <p:nvPr/>
            </p:nvSpPr>
            <p:spPr bwMode="auto">
              <a:xfrm>
                <a:off x="863" y="1881"/>
                <a:ext cx="381" cy="809"/>
              </a:xfrm>
              <a:custGeom>
                <a:avLst/>
                <a:gdLst>
                  <a:gd name="T0" fmla="*/ 498 w 762"/>
                  <a:gd name="T1" fmla="*/ 1521 h 1619"/>
                  <a:gd name="T2" fmla="*/ 351 w 762"/>
                  <a:gd name="T3" fmla="*/ 1573 h 1619"/>
                  <a:gd name="T4" fmla="*/ 62 w 762"/>
                  <a:gd name="T5" fmla="*/ 1310 h 1619"/>
                  <a:gd name="T6" fmla="*/ 47 w 762"/>
                  <a:gd name="T7" fmla="*/ 1354 h 1619"/>
                  <a:gd name="T8" fmla="*/ 361 w 762"/>
                  <a:gd name="T9" fmla="*/ 1619 h 1619"/>
                  <a:gd name="T10" fmla="*/ 513 w 762"/>
                  <a:gd name="T11" fmla="*/ 1538 h 1619"/>
                  <a:gd name="T12" fmla="*/ 721 w 762"/>
                  <a:gd name="T13" fmla="*/ 1470 h 1619"/>
                  <a:gd name="T14" fmla="*/ 711 w 762"/>
                  <a:gd name="T15" fmla="*/ 1354 h 1619"/>
                  <a:gd name="T16" fmla="*/ 669 w 762"/>
                  <a:gd name="T17" fmla="*/ 1227 h 1619"/>
                  <a:gd name="T18" fmla="*/ 689 w 762"/>
                  <a:gd name="T19" fmla="*/ 1124 h 1619"/>
                  <a:gd name="T20" fmla="*/ 644 w 762"/>
                  <a:gd name="T21" fmla="*/ 1024 h 1619"/>
                  <a:gd name="T22" fmla="*/ 667 w 762"/>
                  <a:gd name="T23" fmla="*/ 907 h 1619"/>
                  <a:gd name="T24" fmla="*/ 684 w 762"/>
                  <a:gd name="T25" fmla="*/ 789 h 1619"/>
                  <a:gd name="T26" fmla="*/ 689 w 762"/>
                  <a:gd name="T27" fmla="*/ 642 h 1619"/>
                  <a:gd name="T28" fmla="*/ 659 w 762"/>
                  <a:gd name="T29" fmla="*/ 517 h 1619"/>
                  <a:gd name="T30" fmla="*/ 644 w 762"/>
                  <a:gd name="T31" fmla="*/ 419 h 1619"/>
                  <a:gd name="T32" fmla="*/ 681 w 762"/>
                  <a:gd name="T33" fmla="*/ 334 h 1619"/>
                  <a:gd name="T34" fmla="*/ 662 w 762"/>
                  <a:gd name="T35" fmla="*/ 192 h 1619"/>
                  <a:gd name="T36" fmla="*/ 755 w 762"/>
                  <a:gd name="T37" fmla="*/ 17 h 1619"/>
                  <a:gd name="T38" fmla="*/ 714 w 762"/>
                  <a:gd name="T39" fmla="*/ 54 h 1619"/>
                  <a:gd name="T40" fmla="*/ 618 w 762"/>
                  <a:gd name="T41" fmla="*/ 214 h 1619"/>
                  <a:gd name="T42" fmla="*/ 479 w 762"/>
                  <a:gd name="T43" fmla="*/ 345 h 1619"/>
                  <a:gd name="T44" fmla="*/ 622 w 762"/>
                  <a:gd name="T45" fmla="*/ 297 h 1619"/>
                  <a:gd name="T46" fmla="*/ 610 w 762"/>
                  <a:gd name="T47" fmla="*/ 390 h 1619"/>
                  <a:gd name="T48" fmla="*/ 542 w 762"/>
                  <a:gd name="T49" fmla="*/ 487 h 1619"/>
                  <a:gd name="T50" fmla="*/ 640 w 762"/>
                  <a:gd name="T51" fmla="*/ 465 h 1619"/>
                  <a:gd name="T52" fmla="*/ 615 w 762"/>
                  <a:gd name="T53" fmla="*/ 539 h 1619"/>
                  <a:gd name="T54" fmla="*/ 609 w 762"/>
                  <a:gd name="T55" fmla="*/ 620 h 1619"/>
                  <a:gd name="T56" fmla="*/ 464 w 762"/>
                  <a:gd name="T57" fmla="*/ 728 h 1619"/>
                  <a:gd name="T58" fmla="*/ 625 w 762"/>
                  <a:gd name="T59" fmla="*/ 654 h 1619"/>
                  <a:gd name="T60" fmla="*/ 684 w 762"/>
                  <a:gd name="T61" fmla="*/ 728 h 1619"/>
                  <a:gd name="T62" fmla="*/ 585 w 762"/>
                  <a:gd name="T63" fmla="*/ 796 h 1619"/>
                  <a:gd name="T64" fmla="*/ 405 w 762"/>
                  <a:gd name="T65" fmla="*/ 885 h 1619"/>
                  <a:gd name="T66" fmla="*/ 610 w 762"/>
                  <a:gd name="T67" fmla="*/ 848 h 1619"/>
                  <a:gd name="T68" fmla="*/ 652 w 762"/>
                  <a:gd name="T69" fmla="*/ 985 h 1619"/>
                  <a:gd name="T70" fmla="*/ 409 w 762"/>
                  <a:gd name="T71" fmla="*/ 1050 h 1619"/>
                  <a:gd name="T72" fmla="*/ 542 w 762"/>
                  <a:gd name="T73" fmla="*/ 1046 h 1619"/>
                  <a:gd name="T74" fmla="*/ 625 w 762"/>
                  <a:gd name="T75" fmla="*/ 1087 h 1619"/>
                  <a:gd name="T76" fmla="*/ 622 w 762"/>
                  <a:gd name="T77" fmla="*/ 1168 h 1619"/>
                  <a:gd name="T78" fmla="*/ 390 w 762"/>
                  <a:gd name="T79" fmla="*/ 1214 h 1619"/>
                  <a:gd name="T80" fmla="*/ 505 w 762"/>
                  <a:gd name="T81" fmla="*/ 1214 h 1619"/>
                  <a:gd name="T82" fmla="*/ 637 w 762"/>
                  <a:gd name="T83" fmla="*/ 1192 h 1619"/>
                  <a:gd name="T84" fmla="*/ 522 w 762"/>
                  <a:gd name="T85" fmla="*/ 1303 h 1619"/>
                  <a:gd name="T86" fmla="*/ 390 w 762"/>
                  <a:gd name="T87" fmla="*/ 1366 h 1619"/>
                  <a:gd name="T88" fmla="*/ 557 w 762"/>
                  <a:gd name="T89" fmla="*/ 1307 h 1619"/>
                  <a:gd name="T90" fmla="*/ 655 w 762"/>
                  <a:gd name="T91" fmla="*/ 1285 h 1619"/>
                  <a:gd name="T92" fmla="*/ 652 w 762"/>
                  <a:gd name="T93" fmla="*/ 1381 h 1619"/>
                  <a:gd name="T94" fmla="*/ 667 w 762"/>
                  <a:gd name="T95" fmla="*/ 1462 h 1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62" h="1619">
                    <a:moveTo>
                      <a:pt x="647" y="1465"/>
                    </a:moveTo>
                    <a:lnTo>
                      <a:pt x="615" y="1501"/>
                    </a:lnTo>
                    <a:lnTo>
                      <a:pt x="563" y="1514"/>
                    </a:lnTo>
                    <a:lnTo>
                      <a:pt x="498" y="1521"/>
                    </a:lnTo>
                    <a:lnTo>
                      <a:pt x="427" y="1536"/>
                    </a:lnTo>
                    <a:lnTo>
                      <a:pt x="380" y="1564"/>
                    </a:lnTo>
                    <a:lnTo>
                      <a:pt x="365" y="1579"/>
                    </a:lnTo>
                    <a:lnTo>
                      <a:pt x="351" y="1573"/>
                    </a:lnTo>
                    <a:lnTo>
                      <a:pt x="265" y="1508"/>
                    </a:lnTo>
                    <a:lnTo>
                      <a:pt x="155" y="1421"/>
                    </a:lnTo>
                    <a:lnTo>
                      <a:pt x="118" y="1366"/>
                    </a:lnTo>
                    <a:lnTo>
                      <a:pt x="62" y="1310"/>
                    </a:lnTo>
                    <a:lnTo>
                      <a:pt x="45" y="1266"/>
                    </a:lnTo>
                    <a:lnTo>
                      <a:pt x="0" y="1259"/>
                    </a:lnTo>
                    <a:lnTo>
                      <a:pt x="23" y="1307"/>
                    </a:lnTo>
                    <a:lnTo>
                      <a:pt x="47" y="1354"/>
                    </a:lnTo>
                    <a:lnTo>
                      <a:pt x="118" y="1406"/>
                    </a:lnTo>
                    <a:lnTo>
                      <a:pt x="167" y="1470"/>
                    </a:lnTo>
                    <a:lnTo>
                      <a:pt x="287" y="1545"/>
                    </a:lnTo>
                    <a:lnTo>
                      <a:pt x="361" y="1619"/>
                    </a:lnTo>
                    <a:lnTo>
                      <a:pt x="390" y="1612"/>
                    </a:lnTo>
                    <a:lnTo>
                      <a:pt x="420" y="1575"/>
                    </a:lnTo>
                    <a:lnTo>
                      <a:pt x="461" y="1553"/>
                    </a:lnTo>
                    <a:lnTo>
                      <a:pt x="513" y="1538"/>
                    </a:lnTo>
                    <a:lnTo>
                      <a:pt x="622" y="1529"/>
                    </a:lnTo>
                    <a:lnTo>
                      <a:pt x="655" y="1508"/>
                    </a:lnTo>
                    <a:lnTo>
                      <a:pt x="711" y="1495"/>
                    </a:lnTo>
                    <a:lnTo>
                      <a:pt x="721" y="1470"/>
                    </a:lnTo>
                    <a:lnTo>
                      <a:pt x="703" y="1440"/>
                    </a:lnTo>
                    <a:lnTo>
                      <a:pt x="684" y="1411"/>
                    </a:lnTo>
                    <a:lnTo>
                      <a:pt x="696" y="1374"/>
                    </a:lnTo>
                    <a:lnTo>
                      <a:pt x="711" y="1354"/>
                    </a:lnTo>
                    <a:lnTo>
                      <a:pt x="711" y="1322"/>
                    </a:lnTo>
                    <a:lnTo>
                      <a:pt x="696" y="1273"/>
                    </a:lnTo>
                    <a:lnTo>
                      <a:pt x="689" y="1249"/>
                    </a:lnTo>
                    <a:lnTo>
                      <a:pt x="669" y="1227"/>
                    </a:lnTo>
                    <a:lnTo>
                      <a:pt x="659" y="1201"/>
                    </a:lnTo>
                    <a:lnTo>
                      <a:pt x="669" y="1176"/>
                    </a:lnTo>
                    <a:lnTo>
                      <a:pt x="691" y="1156"/>
                    </a:lnTo>
                    <a:lnTo>
                      <a:pt x="689" y="1124"/>
                    </a:lnTo>
                    <a:lnTo>
                      <a:pt x="677" y="1102"/>
                    </a:lnTo>
                    <a:lnTo>
                      <a:pt x="652" y="1068"/>
                    </a:lnTo>
                    <a:lnTo>
                      <a:pt x="637" y="1050"/>
                    </a:lnTo>
                    <a:lnTo>
                      <a:pt x="644" y="1024"/>
                    </a:lnTo>
                    <a:lnTo>
                      <a:pt x="681" y="1002"/>
                    </a:lnTo>
                    <a:lnTo>
                      <a:pt x="696" y="972"/>
                    </a:lnTo>
                    <a:lnTo>
                      <a:pt x="691" y="948"/>
                    </a:lnTo>
                    <a:lnTo>
                      <a:pt x="667" y="907"/>
                    </a:lnTo>
                    <a:lnTo>
                      <a:pt x="640" y="855"/>
                    </a:lnTo>
                    <a:lnTo>
                      <a:pt x="630" y="818"/>
                    </a:lnTo>
                    <a:lnTo>
                      <a:pt x="644" y="803"/>
                    </a:lnTo>
                    <a:lnTo>
                      <a:pt x="684" y="789"/>
                    </a:lnTo>
                    <a:lnTo>
                      <a:pt x="706" y="774"/>
                    </a:lnTo>
                    <a:lnTo>
                      <a:pt x="711" y="728"/>
                    </a:lnTo>
                    <a:lnTo>
                      <a:pt x="684" y="676"/>
                    </a:lnTo>
                    <a:lnTo>
                      <a:pt x="689" y="642"/>
                    </a:lnTo>
                    <a:lnTo>
                      <a:pt x="699" y="610"/>
                    </a:lnTo>
                    <a:lnTo>
                      <a:pt x="674" y="573"/>
                    </a:lnTo>
                    <a:lnTo>
                      <a:pt x="652" y="539"/>
                    </a:lnTo>
                    <a:lnTo>
                      <a:pt x="659" y="517"/>
                    </a:lnTo>
                    <a:lnTo>
                      <a:pt x="674" y="495"/>
                    </a:lnTo>
                    <a:lnTo>
                      <a:pt x="674" y="458"/>
                    </a:lnTo>
                    <a:lnTo>
                      <a:pt x="659" y="436"/>
                    </a:lnTo>
                    <a:lnTo>
                      <a:pt x="644" y="419"/>
                    </a:lnTo>
                    <a:lnTo>
                      <a:pt x="647" y="391"/>
                    </a:lnTo>
                    <a:lnTo>
                      <a:pt x="674" y="378"/>
                    </a:lnTo>
                    <a:lnTo>
                      <a:pt x="689" y="363"/>
                    </a:lnTo>
                    <a:lnTo>
                      <a:pt x="681" y="334"/>
                    </a:lnTo>
                    <a:lnTo>
                      <a:pt x="652" y="297"/>
                    </a:lnTo>
                    <a:lnTo>
                      <a:pt x="640" y="264"/>
                    </a:lnTo>
                    <a:lnTo>
                      <a:pt x="637" y="227"/>
                    </a:lnTo>
                    <a:lnTo>
                      <a:pt x="662" y="192"/>
                    </a:lnTo>
                    <a:lnTo>
                      <a:pt x="714" y="134"/>
                    </a:lnTo>
                    <a:lnTo>
                      <a:pt x="740" y="91"/>
                    </a:lnTo>
                    <a:lnTo>
                      <a:pt x="762" y="54"/>
                    </a:lnTo>
                    <a:lnTo>
                      <a:pt x="755" y="17"/>
                    </a:lnTo>
                    <a:lnTo>
                      <a:pt x="736" y="0"/>
                    </a:lnTo>
                    <a:lnTo>
                      <a:pt x="721" y="3"/>
                    </a:lnTo>
                    <a:lnTo>
                      <a:pt x="696" y="32"/>
                    </a:lnTo>
                    <a:lnTo>
                      <a:pt x="714" y="54"/>
                    </a:lnTo>
                    <a:lnTo>
                      <a:pt x="711" y="91"/>
                    </a:lnTo>
                    <a:lnTo>
                      <a:pt x="677" y="155"/>
                    </a:lnTo>
                    <a:lnTo>
                      <a:pt x="632" y="192"/>
                    </a:lnTo>
                    <a:lnTo>
                      <a:pt x="618" y="214"/>
                    </a:lnTo>
                    <a:lnTo>
                      <a:pt x="609" y="242"/>
                    </a:lnTo>
                    <a:lnTo>
                      <a:pt x="603" y="260"/>
                    </a:lnTo>
                    <a:lnTo>
                      <a:pt x="537" y="311"/>
                    </a:lnTo>
                    <a:lnTo>
                      <a:pt x="479" y="345"/>
                    </a:lnTo>
                    <a:lnTo>
                      <a:pt x="470" y="369"/>
                    </a:lnTo>
                    <a:lnTo>
                      <a:pt x="491" y="375"/>
                    </a:lnTo>
                    <a:lnTo>
                      <a:pt x="578" y="311"/>
                    </a:lnTo>
                    <a:lnTo>
                      <a:pt x="622" y="297"/>
                    </a:lnTo>
                    <a:lnTo>
                      <a:pt x="644" y="338"/>
                    </a:lnTo>
                    <a:lnTo>
                      <a:pt x="652" y="356"/>
                    </a:lnTo>
                    <a:lnTo>
                      <a:pt x="630" y="375"/>
                    </a:lnTo>
                    <a:lnTo>
                      <a:pt x="610" y="390"/>
                    </a:lnTo>
                    <a:lnTo>
                      <a:pt x="609" y="415"/>
                    </a:lnTo>
                    <a:lnTo>
                      <a:pt x="615" y="441"/>
                    </a:lnTo>
                    <a:lnTo>
                      <a:pt x="596" y="462"/>
                    </a:lnTo>
                    <a:lnTo>
                      <a:pt x="542" y="487"/>
                    </a:lnTo>
                    <a:lnTo>
                      <a:pt x="461" y="521"/>
                    </a:lnTo>
                    <a:lnTo>
                      <a:pt x="491" y="532"/>
                    </a:lnTo>
                    <a:lnTo>
                      <a:pt x="573" y="499"/>
                    </a:lnTo>
                    <a:lnTo>
                      <a:pt x="640" y="465"/>
                    </a:lnTo>
                    <a:lnTo>
                      <a:pt x="652" y="473"/>
                    </a:lnTo>
                    <a:lnTo>
                      <a:pt x="644" y="495"/>
                    </a:lnTo>
                    <a:lnTo>
                      <a:pt x="622" y="517"/>
                    </a:lnTo>
                    <a:lnTo>
                      <a:pt x="615" y="539"/>
                    </a:lnTo>
                    <a:lnTo>
                      <a:pt x="625" y="568"/>
                    </a:lnTo>
                    <a:lnTo>
                      <a:pt x="652" y="591"/>
                    </a:lnTo>
                    <a:lnTo>
                      <a:pt x="652" y="610"/>
                    </a:lnTo>
                    <a:lnTo>
                      <a:pt x="609" y="620"/>
                    </a:lnTo>
                    <a:lnTo>
                      <a:pt x="572" y="669"/>
                    </a:lnTo>
                    <a:lnTo>
                      <a:pt x="526" y="698"/>
                    </a:lnTo>
                    <a:lnTo>
                      <a:pt x="468" y="713"/>
                    </a:lnTo>
                    <a:lnTo>
                      <a:pt x="464" y="728"/>
                    </a:lnTo>
                    <a:lnTo>
                      <a:pt x="500" y="722"/>
                    </a:lnTo>
                    <a:lnTo>
                      <a:pt x="578" y="698"/>
                    </a:lnTo>
                    <a:lnTo>
                      <a:pt x="609" y="676"/>
                    </a:lnTo>
                    <a:lnTo>
                      <a:pt x="625" y="654"/>
                    </a:lnTo>
                    <a:lnTo>
                      <a:pt x="652" y="650"/>
                    </a:lnTo>
                    <a:lnTo>
                      <a:pt x="652" y="676"/>
                    </a:lnTo>
                    <a:lnTo>
                      <a:pt x="669" y="700"/>
                    </a:lnTo>
                    <a:lnTo>
                      <a:pt x="684" y="728"/>
                    </a:lnTo>
                    <a:lnTo>
                      <a:pt x="674" y="750"/>
                    </a:lnTo>
                    <a:lnTo>
                      <a:pt x="640" y="765"/>
                    </a:lnTo>
                    <a:lnTo>
                      <a:pt x="609" y="774"/>
                    </a:lnTo>
                    <a:lnTo>
                      <a:pt x="585" y="796"/>
                    </a:lnTo>
                    <a:lnTo>
                      <a:pt x="485" y="826"/>
                    </a:lnTo>
                    <a:lnTo>
                      <a:pt x="412" y="852"/>
                    </a:lnTo>
                    <a:lnTo>
                      <a:pt x="383" y="867"/>
                    </a:lnTo>
                    <a:lnTo>
                      <a:pt x="405" y="885"/>
                    </a:lnTo>
                    <a:lnTo>
                      <a:pt x="449" y="874"/>
                    </a:lnTo>
                    <a:lnTo>
                      <a:pt x="537" y="840"/>
                    </a:lnTo>
                    <a:lnTo>
                      <a:pt x="596" y="823"/>
                    </a:lnTo>
                    <a:lnTo>
                      <a:pt x="610" y="848"/>
                    </a:lnTo>
                    <a:lnTo>
                      <a:pt x="625" y="892"/>
                    </a:lnTo>
                    <a:lnTo>
                      <a:pt x="652" y="929"/>
                    </a:lnTo>
                    <a:lnTo>
                      <a:pt x="655" y="957"/>
                    </a:lnTo>
                    <a:lnTo>
                      <a:pt x="652" y="985"/>
                    </a:lnTo>
                    <a:lnTo>
                      <a:pt x="622" y="994"/>
                    </a:lnTo>
                    <a:lnTo>
                      <a:pt x="572" y="1007"/>
                    </a:lnTo>
                    <a:lnTo>
                      <a:pt x="505" y="1037"/>
                    </a:lnTo>
                    <a:lnTo>
                      <a:pt x="409" y="1050"/>
                    </a:lnTo>
                    <a:lnTo>
                      <a:pt x="373" y="1068"/>
                    </a:lnTo>
                    <a:lnTo>
                      <a:pt x="398" y="1080"/>
                    </a:lnTo>
                    <a:lnTo>
                      <a:pt x="483" y="1068"/>
                    </a:lnTo>
                    <a:lnTo>
                      <a:pt x="542" y="1046"/>
                    </a:lnTo>
                    <a:lnTo>
                      <a:pt x="581" y="1031"/>
                    </a:lnTo>
                    <a:lnTo>
                      <a:pt x="615" y="1024"/>
                    </a:lnTo>
                    <a:lnTo>
                      <a:pt x="610" y="1050"/>
                    </a:lnTo>
                    <a:lnTo>
                      <a:pt x="625" y="1087"/>
                    </a:lnTo>
                    <a:lnTo>
                      <a:pt x="647" y="1109"/>
                    </a:lnTo>
                    <a:lnTo>
                      <a:pt x="652" y="1134"/>
                    </a:lnTo>
                    <a:lnTo>
                      <a:pt x="652" y="1156"/>
                    </a:lnTo>
                    <a:lnTo>
                      <a:pt x="622" y="1168"/>
                    </a:lnTo>
                    <a:lnTo>
                      <a:pt x="566" y="1171"/>
                    </a:lnTo>
                    <a:lnTo>
                      <a:pt x="526" y="1183"/>
                    </a:lnTo>
                    <a:lnTo>
                      <a:pt x="439" y="1213"/>
                    </a:lnTo>
                    <a:lnTo>
                      <a:pt x="390" y="1214"/>
                    </a:lnTo>
                    <a:lnTo>
                      <a:pt x="373" y="1236"/>
                    </a:lnTo>
                    <a:lnTo>
                      <a:pt x="395" y="1244"/>
                    </a:lnTo>
                    <a:lnTo>
                      <a:pt x="439" y="1235"/>
                    </a:lnTo>
                    <a:lnTo>
                      <a:pt x="505" y="1214"/>
                    </a:lnTo>
                    <a:lnTo>
                      <a:pt x="542" y="1201"/>
                    </a:lnTo>
                    <a:lnTo>
                      <a:pt x="588" y="1190"/>
                    </a:lnTo>
                    <a:lnTo>
                      <a:pt x="625" y="1192"/>
                    </a:lnTo>
                    <a:lnTo>
                      <a:pt x="637" y="1192"/>
                    </a:lnTo>
                    <a:lnTo>
                      <a:pt x="637" y="1227"/>
                    </a:lnTo>
                    <a:lnTo>
                      <a:pt x="647" y="1244"/>
                    </a:lnTo>
                    <a:lnTo>
                      <a:pt x="581" y="1259"/>
                    </a:lnTo>
                    <a:lnTo>
                      <a:pt x="522" y="1303"/>
                    </a:lnTo>
                    <a:lnTo>
                      <a:pt x="457" y="1325"/>
                    </a:lnTo>
                    <a:lnTo>
                      <a:pt x="412" y="1332"/>
                    </a:lnTo>
                    <a:lnTo>
                      <a:pt x="375" y="1352"/>
                    </a:lnTo>
                    <a:lnTo>
                      <a:pt x="390" y="1366"/>
                    </a:lnTo>
                    <a:lnTo>
                      <a:pt x="427" y="1354"/>
                    </a:lnTo>
                    <a:lnTo>
                      <a:pt x="468" y="1340"/>
                    </a:lnTo>
                    <a:lnTo>
                      <a:pt x="516" y="1332"/>
                    </a:lnTo>
                    <a:lnTo>
                      <a:pt x="557" y="1307"/>
                    </a:lnTo>
                    <a:lnTo>
                      <a:pt x="578" y="1285"/>
                    </a:lnTo>
                    <a:lnTo>
                      <a:pt x="609" y="1281"/>
                    </a:lnTo>
                    <a:lnTo>
                      <a:pt x="644" y="1281"/>
                    </a:lnTo>
                    <a:lnTo>
                      <a:pt x="655" y="1285"/>
                    </a:lnTo>
                    <a:lnTo>
                      <a:pt x="667" y="1310"/>
                    </a:lnTo>
                    <a:lnTo>
                      <a:pt x="674" y="1340"/>
                    </a:lnTo>
                    <a:lnTo>
                      <a:pt x="667" y="1366"/>
                    </a:lnTo>
                    <a:lnTo>
                      <a:pt x="652" y="1381"/>
                    </a:lnTo>
                    <a:lnTo>
                      <a:pt x="640" y="1418"/>
                    </a:lnTo>
                    <a:lnTo>
                      <a:pt x="652" y="1433"/>
                    </a:lnTo>
                    <a:lnTo>
                      <a:pt x="667" y="1448"/>
                    </a:lnTo>
                    <a:lnTo>
                      <a:pt x="667" y="1462"/>
                    </a:lnTo>
                    <a:lnTo>
                      <a:pt x="647" y="14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65" name="Freeform 53">
                <a:extLst>
                  <a:ext uri="{FF2B5EF4-FFF2-40B4-BE49-F238E27FC236}">
                    <a16:creationId xmlns="" xmlns:a16="http://schemas.microsoft.com/office/drawing/2014/main" id="{37FFA6B1-A6F4-4B7D-9367-7E6CD0F5443F}"/>
                  </a:ext>
                </a:extLst>
              </p:cNvPr>
              <p:cNvSpPr>
                <a:spLocks/>
              </p:cNvSpPr>
              <p:nvPr/>
            </p:nvSpPr>
            <p:spPr bwMode="auto">
              <a:xfrm>
                <a:off x="1065" y="2575"/>
                <a:ext cx="110" cy="36"/>
              </a:xfrm>
              <a:custGeom>
                <a:avLst/>
                <a:gdLst>
                  <a:gd name="T0" fmla="*/ 0 w 220"/>
                  <a:gd name="T1" fmla="*/ 59 h 73"/>
                  <a:gd name="T2" fmla="*/ 87 w 220"/>
                  <a:gd name="T3" fmla="*/ 56 h 73"/>
                  <a:gd name="T4" fmla="*/ 121 w 220"/>
                  <a:gd name="T5" fmla="*/ 37 h 73"/>
                  <a:gd name="T6" fmla="*/ 150 w 220"/>
                  <a:gd name="T7" fmla="*/ 15 h 73"/>
                  <a:gd name="T8" fmla="*/ 205 w 220"/>
                  <a:gd name="T9" fmla="*/ 0 h 73"/>
                  <a:gd name="T10" fmla="*/ 220 w 220"/>
                  <a:gd name="T11" fmla="*/ 15 h 73"/>
                  <a:gd name="T12" fmla="*/ 197 w 220"/>
                  <a:gd name="T13" fmla="*/ 22 h 73"/>
                  <a:gd name="T14" fmla="*/ 158 w 220"/>
                  <a:gd name="T15" fmla="*/ 43 h 73"/>
                  <a:gd name="T16" fmla="*/ 138 w 220"/>
                  <a:gd name="T17" fmla="*/ 56 h 73"/>
                  <a:gd name="T18" fmla="*/ 102 w 220"/>
                  <a:gd name="T19" fmla="*/ 66 h 73"/>
                  <a:gd name="T20" fmla="*/ 48 w 220"/>
                  <a:gd name="T21" fmla="*/ 71 h 73"/>
                  <a:gd name="T22" fmla="*/ 4 w 220"/>
                  <a:gd name="T23" fmla="*/ 73 h 73"/>
                  <a:gd name="T24" fmla="*/ 0 w 220"/>
                  <a:gd name="T25" fmla="*/ 5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73">
                    <a:moveTo>
                      <a:pt x="0" y="59"/>
                    </a:moveTo>
                    <a:lnTo>
                      <a:pt x="87" y="56"/>
                    </a:lnTo>
                    <a:lnTo>
                      <a:pt x="121" y="37"/>
                    </a:lnTo>
                    <a:lnTo>
                      <a:pt x="150" y="15"/>
                    </a:lnTo>
                    <a:lnTo>
                      <a:pt x="205" y="0"/>
                    </a:lnTo>
                    <a:lnTo>
                      <a:pt x="220" y="15"/>
                    </a:lnTo>
                    <a:lnTo>
                      <a:pt x="197" y="22"/>
                    </a:lnTo>
                    <a:lnTo>
                      <a:pt x="158" y="43"/>
                    </a:lnTo>
                    <a:lnTo>
                      <a:pt x="138" y="56"/>
                    </a:lnTo>
                    <a:lnTo>
                      <a:pt x="102" y="66"/>
                    </a:lnTo>
                    <a:lnTo>
                      <a:pt x="48" y="71"/>
                    </a:lnTo>
                    <a:lnTo>
                      <a:pt x="4" y="73"/>
                    </a:lnTo>
                    <a:lnTo>
                      <a:pt x="0"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66" name="Freeform 54">
                <a:extLst>
                  <a:ext uri="{FF2B5EF4-FFF2-40B4-BE49-F238E27FC236}">
                    <a16:creationId xmlns="" xmlns:a16="http://schemas.microsoft.com/office/drawing/2014/main" id="{A327BB84-1C93-4C8C-8A6B-9ACBAD1BC309}"/>
                  </a:ext>
                </a:extLst>
              </p:cNvPr>
              <p:cNvSpPr>
                <a:spLocks/>
              </p:cNvSpPr>
              <p:nvPr/>
            </p:nvSpPr>
            <p:spPr bwMode="auto">
              <a:xfrm>
                <a:off x="897" y="1784"/>
                <a:ext cx="319" cy="174"/>
              </a:xfrm>
              <a:custGeom>
                <a:avLst/>
                <a:gdLst>
                  <a:gd name="T0" fmla="*/ 19 w 640"/>
                  <a:gd name="T1" fmla="*/ 39 h 347"/>
                  <a:gd name="T2" fmla="*/ 96 w 640"/>
                  <a:gd name="T3" fmla="*/ 43 h 347"/>
                  <a:gd name="T4" fmla="*/ 176 w 640"/>
                  <a:gd name="T5" fmla="*/ 46 h 347"/>
                  <a:gd name="T6" fmla="*/ 228 w 640"/>
                  <a:gd name="T7" fmla="*/ 46 h 347"/>
                  <a:gd name="T8" fmla="*/ 269 w 640"/>
                  <a:gd name="T9" fmla="*/ 36 h 347"/>
                  <a:gd name="T10" fmla="*/ 336 w 640"/>
                  <a:gd name="T11" fmla="*/ 17 h 347"/>
                  <a:gd name="T12" fmla="*/ 368 w 640"/>
                  <a:gd name="T13" fmla="*/ 0 h 347"/>
                  <a:gd name="T14" fmla="*/ 412 w 640"/>
                  <a:gd name="T15" fmla="*/ 24 h 347"/>
                  <a:gd name="T16" fmla="*/ 483 w 640"/>
                  <a:gd name="T17" fmla="*/ 73 h 347"/>
                  <a:gd name="T18" fmla="*/ 535 w 640"/>
                  <a:gd name="T19" fmla="*/ 109 h 347"/>
                  <a:gd name="T20" fmla="*/ 600 w 640"/>
                  <a:gd name="T21" fmla="*/ 155 h 347"/>
                  <a:gd name="T22" fmla="*/ 640 w 640"/>
                  <a:gd name="T23" fmla="*/ 191 h 347"/>
                  <a:gd name="T24" fmla="*/ 603 w 640"/>
                  <a:gd name="T25" fmla="*/ 222 h 347"/>
                  <a:gd name="T26" fmla="*/ 566 w 640"/>
                  <a:gd name="T27" fmla="*/ 257 h 347"/>
                  <a:gd name="T28" fmla="*/ 507 w 640"/>
                  <a:gd name="T29" fmla="*/ 281 h 347"/>
                  <a:gd name="T30" fmla="*/ 446 w 640"/>
                  <a:gd name="T31" fmla="*/ 307 h 347"/>
                  <a:gd name="T32" fmla="*/ 390 w 640"/>
                  <a:gd name="T33" fmla="*/ 329 h 347"/>
                  <a:gd name="T34" fmla="*/ 338 w 640"/>
                  <a:gd name="T35" fmla="*/ 337 h 347"/>
                  <a:gd name="T36" fmla="*/ 284 w 640"/>
                  <a:gd name="T37" fmla="*/ 347 h 347"/>
                  <a:gd name="T38" fmla="*/ 217 w 640"/>
                  <a:gd name="T39" fmla="*/ 300 h 347"/>
                  <a:gd name="T40" fmla="*/ 167 w 640"/>
                  <a:gd name="T41" fmla="*/ 259 h 347"/>
                  <a:gd name="T42" fmla="*/ 108 w 640"/>
                  <a:gd name="T43" fmla="*/ 207 h 347"/>
                  <a:gd name="T44" fmla="*/ 59 w 640"/>
                  <a:gd name="T45" fmla="*/ 155 h 347"/>
                  <a:gd name="T46" fmla="*/ 22 w 640"/>
                  <a:gd name="T47" fmla="*/ 120 h 347"/>
                  <a:gd name="T48" fmla="*/ 0 w 640"/>
                  <a:gd name="T49" fmla="*/ 68 h 347"/>
                  <a:gd name="T50" fmla="*/ 19 w 640"/>
                  <a:gd name="T51" fmla="*/ 3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0" h="347">
                    <a:moveTo>
                      <a:pt x="19" y="39"/>
                    </a:moveTo>
                    <a:lnTo>
                      <a:pt x="96" y="43"/>
                    </a:lnTo>
                    <a:lnTo>
                      <a:pt x="176" y="46"/>
                    </a:lnTo>
                    <a:lnTo>
                      <a:pt x="228" y="46"/>
                    </a:lnTo>
                    <a:lnTo>
                      <a:pt x="269" y="36"/>
                    </a:lnTo>
                    <a:lnTo>
                      <a:pt x="336" y="17"/>
                    </a:lnTo>
                    <a:lnTo>
                      <a:pt x="368" y="0"/>
                    </a:lnTo>
                    <a:lnTo>
                      <a:pt x="412" y="24"/>
                    </a:lnTo>
                    <a:lnTo>
                      <a:pt x="483" y="73"/>
                    </a:lnTo>
                    <a:lnTo>
                      <a:pt x="535" y="109"/>
                    </a:lnTo>
                    <a:lnTo>
                      <a:pt x="600" y="155"/>
                    </a:lnTo>
                    <a:lnTo>
                      <a:pt x="640" y="191"/>
                    </a:lnTo>
                    <a:lnTo>
                      <a:pt x="603" y="222"/>
                    </a:lnTo>
                    <a:lnTo>
                      <a:pt x="566" y="257"/>
                    </a:lnTo>
                    <a:lnTo>
                      <a:pt x="507" y="281"/>
                    </a:lnTo>
                    <a:lnTo>
                      <a:pt x="446" y="307"/>
                    </a:lnTo>
                    <a:lnTo>
                      <a:pt x="390" y="329"/>
                    </a:lnTo>
                    <a:lnTo>
                      <a:pt x="338" y="337"/>
                    </a:lnTo>
                    <a:lnTo>
                      <a:pt x="284" y="347"/>
                    </a:lnTo>
                    <a:lnTo>
                      <a:pt x="217" y="300"/>
                    </a:lnTo>
                    <a:lnTo>
                      <a:pt x="167" y="259"/>
                    </a:lnTo>
                    <a:lnTo>
                      <a:pt x="108" y="207"/>
                    </a:lnTo>
                    <a:lnTo>
                      <a:pt x="59" y="155"/>
                    </a:lnTo>
                    <a:lnTo>
                      <a:pt x="22" y="120"/>
                    </a:lnTo>
                    <a:lnTo>
                      <a:pt x="0" y="68"/>
                    </a:lnTo>
                    <a:lnTo>
                      <a:pt x="19" y="39"/>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67" name="Freeform 55">
                <a:extLst>
                  <a:ext uri="{FF2B5EF4-FFF2-40B4-BE49-F238E27FC236}">
                    <a16:creationId xmlns="" xmlns:a16="http://schemas.microsoft.com/office/drawing/2014/main" id="{4A405D35-5FE9-4EAD-83E0-94FEBEF93A6B}"/>
                  </a:ext>
                </a:extLst>
              </p:cNvPr>
              <p:cNvSpPr>
                <a:spLocks/>
              </p:cNvSpPr>
              <p:nvPr/>
            </p:nvSpPr>
            <p:spPr bwMode="auto">
              <a:xfrm>
                <a:off x="888" y="1779"/>
                <a:ext cx="346" cy="202"/>
              </a:xfrm>
              <a:custGeom>
                <a:avLst/>
                <a:gdLst>
                  <a:gd name="T0" fmla="*/ 339 w 692"/>
                  <a:gd name="T1" fmla="*/ 346 h 404"/>
                  <a:gd name="T2" fmla="*/ 448 w 692"/>
                  <a:gd name="T3" fmla="*/ 315 h 404"/>
                  <a:gd name="T4" fmla="*/ 537 w 692"/>
                  <a:gd name="T5" fmla="*/ 277 h 404"/>
                  <a:gd name="T6" fmla="*/ 601 w 692"/>
                  <a:gd name="T7" fmla="*/ 232 h 404"/>
                  <a:gd name="T8" fmla="*/ 626 w 692"/>
                  <a:gd name="T9" fmla="*/ 206 h 404"/>
                  <a:gd name="T10" fmla="*/ 534 w 692"/>
                  <a:gd name="T11" fmla="*/ 123 h 404"/>
                  <a:gd name="T12" fmla="*/ 460 w 692"/>
                  <a:gd name="T13" fmla="*/ 78 h 404"/>
                  <a:gd name="T14" fmla="*/ 389 w 692"/>
                  <a:gd name="T15" fmla="*/ 34 h 404"/>
                  <a:gd name="T16" fmla="*/ 376 w 692"/>
                  <a:gd name="T17" fmla="*/ 34 h 404"/>
                  <a:gd name="T18" fmla="*/ 331 w 692"/>
                  <a:gd name="T19" fmla="*/ 49 h 404"/>
                  <a:gd name="T20" fmla="*/ 272 w 692"/>
                  <a:gd name="T21" fmla="*/ 65 h 404"/>
                  <a:gd name="T22" fmla="*/ 166 w 692"/>
                  <a:gd name="T23" fmla="*/ 73 h 404"/>
                  <a:gd name="T24" fmla="*/ 64 w 692"/>
                  <a:gd name="T25" fmla="*/ 71 h 404"/>
                  <a:gd name="T26" fmla="*/ 37 w 692"/>
                  <a:gd name="T27" fmla="*/ 73 h 404"/>
                  <a:gd name="T28" fmla="*/ 37 w 692"/>
                  <a:gd name="T29" fmla="*/ 93 h 404"/>
                  <a:gd name="T30" fmla="*/ 58 w 692"/>
                  <a:gd name="T31" fmla="*/ 123 h 404"/>
                  <a:gd name="T32" fmla="*/ 101 w 692"/>
                  <a:gd name="T33" fmla="*/ 176 h 404"/>
                  <a:gd name="T34" fmla="*/ 154 w 692"/>
                  <a:gd name="T35" fmla="*/ 220 h 404"/>
                  <a:gd name="T36" fmla="*/ 220 w 692"/>
                  <a:gd name="T37" fmla="*/ 284 h 404"/>
                  <a:gd name="T38" fmla="*/ 284 w 692"/>
                  <a:gd name="T39" fmla="*/ 330 h 404"/>
                  <a:gd name="T40" fmla="*/ 324 w 692"/>
                  <a:gd name="T41" fmla="*/ 358 h 404"/>
                  <a:gd name="T42" fmla="*/ 336 w 692"/>
                  <a:gd name="T43" fmla="*/ 387 h 404"/>
                  <a:gd name="T44" fmla="*/ 321 w 692"/>
                  <a:gd name="T45" fmla="*/ 404 h 404"/>
                  <a:gd name="T46" fmla="*/ 299 w 692"/>
                  <a:gd name="T47" fmla="*/ 395 h 404"/>
                  <a:gd name="T48" fmla="*/ 235 w 692"/>
                  <a:gd name="T49" fmla="*/ 336 h 404"/>
                  <a:gd name="T50" fmla="*/ 154 w 692"/>
                  <a:gd name="T51" fmla="*/ 269 h 404"/>
                  <a:gd name="T52" fmla="*/ 95 w 692"/>
                  <a:gd name="T53" fmla="*/ 220 h 404"/>
                  <a:gd name="T54" fmla="*/ 56 w 692"/>
                  <a:gd name="T55" fmla="*/ 176 h 404"/>
                  <a:gd name="T56" fmla="*/ 21 w 692"/>
                  <a:gd name="T57" fmla="*/ 130 h 404"/>
                  <a:gd name="T58" fmla="*/ 6 w 692"/>
                  <a:gd name="T59" fmla="*/ 99 h 404"/>
                  <a:gd name="T60" fmla="*/ 0 w 692"/>
                  <a:gd name="T61" fmla="*/ 65 h 404"/>
                  <a:gd name="T62" fmla="*/ 9 w 692"/>
                  <a:gd name="T63" fmla="*/ 43 h 404"/>
                  <a:gd name="T64" fmla="*/ 34 w 692"/>
                  <a:gd name="T65" fmla="*/ 34 h 404"/>
                  <a:gd name="T66" fmla="*/ 78 w 692"/>
                  <a:gd name="T67" fmla="*/ 37 h 404"/>
                  <a:gd name="T68" fmla="*/ 161 w 692"/>
                  <a:gd name="T69" fmla="*/ 49 h 404"/>
                  <a:gd name="T70" fmla="*/ 232 w 692"/>
                  <a:gd name="T71" fmla="*/ 49 h 404"/>
                  <a:gd name="T72" fmla="*/ 284 w 692"/>
                  <a:gd name="T73" fmla="*/ 34 h 404"/>
                  <a:gd name="T74" fmla="*/ 343 w 692"/>
                  <a:gd name="T75" fmla="*/ 22 h 404"/>
                  <a:gd name="T76" fmla="*/ 367 w 692"/>
                  <a:gd name="T77" fmla="*/ 0 h 404"/>
                  <a:gd name="T78" fmla="*/ 395 w 692"/>
                  <a:gd name="T79" fmla="*/ 0 h 404"/>
                  <a:gd name="T80" fmla="*/ 456 w 692"/>
                  <a:gd name="T81" fmla="*/ 37 h 404"/>
                  <a:gd name="T82" fmla="*/ 522 w 692"/>
                  <a:gd name="T83" fmla="*/ 87 h 404"/>
                  <a:gd name="T84" fmla="*/ 593 w 692"/>
                  <a:gd name="T85" fmla="*/ 132 h 404"/>
                  <a:gd name="T86" fmla="*/ 633 w 692"/>
                  <a:gd name="T87" fmla="*/ 161 h 404"/>
                  <a:gd name="T88" fmla="*/ 674 w 692"/>
                  <a:gd name="T89" fmla="*/ 188 h 404"/>
                  <a:gd name="T90" fmla="*/ 692 w 692"/>
                  <a:gd name="T91" fmla="*/ 198 h 404"/>
                  <a:gd name="T92" fmla="*/ 682 w 692"/>
                  <a:gd name="T93" fmla="*/ 218 h 404"/>
                  <a:gd name="T94" fmla="*/ 652 w 692"/>
                  <a:gd name="T95" fmla="*/ 235 h 404"/>
                  <a:gd name="T96" fmla="*/ 618 w 692"/>
                  <a:gd name="T97" fmla="*/ 265 h 404"/>
                  <a:gd name="T98" fmla="*/ 586 w 692"/>
                  <a:gd name="T99" fmla="*/ 277 h 404"/>
                  <a:gd name="T100" fmla="*/ 527 w 692"/>
                  <a:gd name="T101" fmla="*/ 302 h 404"/>
                  <a:gd name="T102" fmla="*/ 485 w 692"/>
                  <a:gd name="T103" fmla="*/ 321 h 404"/>
                  <a:gd name="T104" fmla="*/ 439 w 692"/>
                  <a:gd name="T105" fmla="*/ 350 h 404"/>
                  <a:gd name="T106" fmla="*/ 389 w 692"/>
                  <a:gd name="T107" fmla="*/ 358 h 404"/>
                  <a:gd name="T108" fmla="*/ 351 w 692"/>
                  <a:gd name="T109" fmla="*/ 361 h 404"/>
                  <a:gd name="T110" fmla="*/ 339 w 692"/>
                  <a:gd name="T111" fmla="*/ 346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 h="404">
                    <a:moveTo>
                      <a:pt x="339" y="346"/>
                    </a:moveTo>
                    <a:lnTo>
                      <a:pt x="448" y="315"/>
                    </a:lnTo>
                    <a:lnTo>
                      <a:pt x="537" y="277"/>
                    </a:lnTo>
                    <a:lnTo>
                      <a:pt x="601" y="232"/>
                    </a:lnTo>
                    <a:lnTo>
                      <a:pt x="626" y="206"/>
                    </a:lnTo>
                    <a:lnTo>
                      <a:pt x="534" y="123"/>
                    </a:lnTo>
                    <a:lnTo>
                      <a:pt x="460" y="78"/>
                    </a:lnTo>
                    <a:lnTo>
                      <a:pt x="389" y="34"/>
                    </a:lnTo>
                    <a:lnTo>
                      <a:pt x="376" y="34"/>
                    </a:lnTo>
                    <a:lnTo>
                      <a:pt x="331" y="49"/>
                    </a:lnTo>
                    <a:lnTo>
                      <a:pt x="272" y="65"/>
                    </a:lnTo>
                    <a:lnTo>
                      <a:pt x="166" y="73"/>
                    </a:lnTo>
                    <a:lnTo>
                      <a:pt x="64" y="71"/>
                    </a:lnTo>
                    <a:lnTo>
                      <a:pt x="37" y="73"/>
                    </a:lnTo>
                    <a:lnTo>
                      <a:pt x="37" y="93"/>
                    </a:lnTo>
                    <a:lnTo>
                      <a:pt x="58" y="123"/>
                    </a:lnTo>
                    <a:lnTo>
                      <a:pt x="101" y="176"/>
                    </a:lnTo>
                    <a:lnTo>
                      <a:pt x="154" y="220"/>
                    </a:lnTo>
                    <a:lnTo>
                      <a:pt x="220" y="284"/>
                    </a:lnTo>
                    <a:lnTo>
                      <a:pt x="284" y="330"/>
                    </a:lnTo>
                    <a:lnTo>
                      <a:pt x="324" y="358"/>
                    </a:lnTo>
                    <a:lnTo>
                      <a:pt x="336" y="387"/>
                    </a:lnTo>
                    <a:lnTo>
                      <a:pt x="321" y="404"/>
                    </a:lnTo>
                    <a:lnTo>
                      <a:pt x="299" y="395"/>
                    </a:lnTo>
                    <a:lnTo>
                      <a:pt x="235" y="336"/>
                    </a:lnTo>
                    <a:lnTo>
                      <a:pt x="154" y="269"/>
                    </a:lnTo>
                    <a:lnTo>
                      <a:pt x="95" y="220"/>
                    </a:lnTo>
                    <a:lnTo>
                      <a:pt x="56" y="176"/>
                    </a:lnTo>
                    <a:lnTo>
                      <a:pt x="21" y="130"/>
                    </a:lnTo>
                    <a:lnTo>
                      <a:pt x="6" y="99"/>
                    </a:lnTo>
                    <a:lnTo>
                      <a:pt x="0" y="65"/>
                    </a:lnTo>
                    <a:lnTo>
                      <a:pt x="9" y="43"/>
                    </a:lnTo>
                    <a:lnTo>
                      <a:pt x="34" y="34"/>
                    </a:lnTo>
                    <a:lnTo>
                      <a:pt x="78" y="37"/>
                    </a:lnTo>
                    <a:lnTo>
                      <a:pt x="161" y="49"/>
                    </a:lnTo>
                    <a:lnTo>
                      <a:pt x="232" y="49"/>
                    </a:lnTo>
                    <a:lnTo>
                      <a:pt x="284" y="34"/>
                    </a:lnTo>
                    <a:lnTo>
                      <a:pt x="343" y="22"/>
                    </a:lnTo>
                    <a:lnTo>
                      <a:pt x="367" y="0"/>
                    </a:lnTo>
                    <a:lnTo>
                      <a:pt x="395" y="0"/>
                    </a:lnTo>
                    <a:lnTo>
                      <a:pt x="456" y="37"/>
                    </a:lnTo>
                    <a:lnTo>
                      <a:pt x="522" y="87"/>
                    </a:lnTo>
                    <a:lnTo>
                      <a:pt x="593" y="132"/>
                    </a:lnTo>
                    <a:lnTo>
                      <a:pt x="633" y="161"/>
                    </a:lnTo>
                    <a:lnTo>
                      <a:pt x="674" y="188"/>
                    </a:lnTo>
                    <a:lnTo>
                      <a:pt x="692" y="198"/>
                    </a:lnTo>
                    <a:lnTo>
                      <a:pt x="682" y="218"/>
                    </a:lnTo>
                    <a:lnTo>
                      <a:pt x="652" y="235"/>
                    </a:lnTo>
                    <a:lnTo>
                      <a:pt x="618" y="265"/>
                    </a:lnTo>
                    <a:lnTo>
                      <a:pt x="586" y="277"/>
                    </a:lnTo>
                    <a:lnTo>
                      <a:pt x="527" y="302"/>
                    </a:lnTo>
                    <a:lnTo>
                      <a:pt x="485" y="321"/>
                    </a:lnTo>
                    <a:lnTo>
                      <a:pt x="439" y="350"/>
                    </a:lnTo>
                    <a:lnTo>
                      <a:pt x="389" y="358"/>
                    </a:lnTo>
                    <a:lnTo>
                      <a:pt x="351" y="361"/>
                    </a:lnTo>
                    <a:lnTo>
                      <a:pt x="339" y="3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68" name="Freeform 56">
                <a:extLst>
                  <a:ext uri="{FF2B5EF4-FFF2-40B4-BE49-F238E27FC236}">
                    <a16:creationId xmlns="" xmlns:a16="http://schemas.microsoft.com/office/drawing/2014/main" id="{87C71262-39CA-4127-B8CC-F553762A860D}"/>
                  </a:ext>
                </a:extLst>
              </p:cNvPr>
              <p:cNvSpPr>
                <a:spLocks/>
              </p:cNvSpPr>
              <p:nvPr/>
            </p:nvSpPr>
            <p:spPr bwMode="auto">
              <a:xfrm>
                <a:off x="1084" y="1932"/>
                <a:ext cx="109" cy="70"/>
              </a:xfrm>
              <a:custGeom>
                <a:avLst/>
                <a:gdLst>
                  <a:gd name="T0" fmla="*/ 184 w 218"/>
                  <a:gd name="T1" fmla="*/ 16 h 139"/>
                  <a:gd name="T2" fmla="*/ 138 w 218"/>
                  <a:gd name="T3" fmla="*/ 53 h 139"/>
                  <a:gd name="T4" fmla="*/ 95 w 218"/>
                  <a:gd name="T5" fmla="*/ 87 h 139"/>
                  <a:gd name="T6" fmla="*/ 34 w 218"/>
                  <a:gd name="T7" fmla="*/ 109 h 139"/>
                  <a:gd name="T8" fmla="*/ 0 w 218"/>
                  <a:gd name="T9" fmla="*/ 120 h 139"/>
                  <a:gd name="T10" fmla="*/ 27 w 218"/>
                  <a:gd name="T11" fmla="*/ 139 h 139"/>
                  <a:gd name="T12" fmla="*/ 71 w 218"/>
                  <a:gd name="T13" fmla="*/ 132 h 139"/>
                  <a:gd name="T14" fmla="*/ 139 w 218"/>
                  <a:gd name="T15" fmla="*/ 87 h 139"/>
                  <a:gd name="T16" fmla="*/ 218 w 218"/>
                  <a:gd name="T17" fmla="*/ 0 h 139"/>
                  <a:gd name="T18" fmla="*/ 184 w 218"/>
                  <a:gd name="T19" fmla="*/ 16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8" h="139">
                    <a:moveTo>
                      <a:pt x="184" y="16"/>
                    </a:moveTo>
                    <a:lnTo>
                      <a:pt x="138" y="53"/>
                    </a:lnTo>
                    <a:lnTo>
                      <a:pt x="95" y="87"/>
                    </a:lnTo>
                    <a:lnTo>
                      <a:pt x="34" y="109"/>
                    </a:lnTo>
                    <a:lnTo>
                      <a:pt x="0" y="120"/>
                    </a:lnTo>
                    <a:lnTo>
                      <a:pt x="27" y="139"/>
                    </a:lnTo>
                    <a:lnTo>
                      <a:pt x="71" y="132"/>
                    </a:lnTo>
                    <a:lnTo>
                      <a:pt x="139" y="87"/>
                    </a:lnTo>
                    <a:lnTo>
                      <a:pt x="218" y="0"/>
                    </a:lnTo>
                    <a:lnTo>
                      <a:pt x="184"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088569" name="Group 57">
            <a:extLst>
              <a:ext uri="{FF2B5EF4-FFF2-40B4-BE49-F238E27FC236}">
                <a16:creationId xmlns="" xmlns:a16="http://schemas.microsoft.com/office/drawing/2014/main" id="{95D2FEC2-0ED6-49BC-B484-6DD76B3FF2D5}"/>
              </a:ext>
            </a:extLst>
          </p:cNvPr>
          <p:cNvGrpSpPr>
            <a:grpSpLocks/>
          </p:cNvGrpSpPr>
          <p:nvPr/>
        </p:nvGrpSpPr>
        <p:grpSpPr bwMode="auto">
          <a:xfrm>
            <a:off x="1979613" y="3767138"/>
            <a:ext cx="641350" cy="1446212"/>
            <a:chOff x="287" y="2373"/>
            <a:chExt cx="404" cy="911"/>
          </a:xfrm>
        </p:grpSpPr>
        <p:sp>
          <p:nvSpPr>
            <p:cNvPr id="1088570" name="Freeform 58">
              <a:extLst>
                <a:ext uri="{FF2B5EF4-FFF2-40B4-BE49-F238E27FC236}">
                  <a16:creationId xmlns="" xmlns:a16="http://schemas.microsoft.com/office/drawing/2014/main" id="{1C17B9CA-D023-4290-8CE6-811AA9168BB8}"/>
                </a:ext>
              </a:extLst>
            </p:cNvPr>
            <p:cNvSpPr>
              <a:spLocks/>
            </p:cNvSpPr>
            <p:nvPr/>
          </p:nvSpPr>
          <p:spPr bwMode="auto">
            <a:xfrm>
              <a:off x="296" y="2413"/>
              <a:ext cx="211" cy="859"/>
            </a:xfrm>
            <a:custGeom>
              <a:avLst/>
              <a:gdLst>
                <a:gd name="T0" fmla="*/ 417 w 424"/>
                <a:gd name="T1" fmla="*/ 309 h 1717"/>
                <a:gd name="T2" fmla="*/ 424 w 424"/>
                <a:gd name="T3" fmla="*/ 372 h 1717"/>
                <a:gd name="T4" fmla="*/ 424 w 424"/>
                <a:gd name="T5" fmla="*/ 713 h 1717"/>
                <a:gd name="T6" fmla="*/ 394 w 424"/>
                <a:gd name="T7" fmla="*/ 1169 h 1717"/>
                <a:gd name="T8" fmla="*/ 397 w 424"/>
                <a:gd name="T9" fmla="*/ 1460 h 1717"/>
                <a:gd name="T10" fmla="*/ 412 w 424"/>
                <a:gd name="T11" fmla="*/ 1661 h 1717"/>
                <a:gd name="T12" fmla="*/ 397 w 424"/>
                <a:gd name="T13" fmla="*/ 1717 h 1717"/>
                <a:gd name="T14" fmla="*/ 372 w 424"/>
                <a:gd name="T15" fmla="*/ 1705 h 1717"/>
                <a:gd name="T16" fmla="*/ 228 w 424"/>
                <a:gd name="T17" fmla="*/ 1594 h 1717"/>
                <a:gd name="T18" fmla="*/ 191 w 424"/>
                <a:gd name="T19" fmla="*/ 1573 h 1717"/>
                <a:gd name="T20" fmla="*/ 170 w 424"/>
                <a:gd name="T21" fmla="*/ 1541 h 1717"/>
                <a:gd name="T22" fmla="*/ 133 w 424"/>
                <a:gd name="T23" fmla="*/ 1499 h 1717"/>
                <a:gd name="T24" fmla="*/ 83 w 424"/>
                <a:gd name="T25" fmla="*/ 1455 h 1717"/>
                <a:gd name="T26" fmla="*/ 59 w 424"/>
                <a:gd name="T27" fmla="*/ 1396 h 1717"/>
                <a:gd name="T28" fmla="*/ 0 w 424"/>
                <a:gd name="T29" fmla="*/ 1346 h 1717"/>
                <a:gd name="T30" fmla="*/ 0 w 424"/>
                <a:gd name="T31" fmla="*/ 1316 h 1717"/>
                <a:gd name="T32" fmla="*/ 31 w 424"/>
                <a:gd name="T33" fmla="*/ 1276 h 1717"/>
                <a:gd name="T34" fmla="*/ 44 w 424"/>
                <a:gd name="T35" fmla="*/ 1225 h 1717"/>
                <a:gd name="T36" fmla="*/ 37 w 424"/>
                <a:gd name="T37" fmla="*/ 1198 h 1717"/>
                <a:gd name="T38" fmla="*/ 22 w 424"/>
                <a:gd name="T39" fmla="*/ 1154 h 1717"/>
                <a:gd name="T40" fmla="*/ 16 w 424"/>
                <a:gd name="T41" fmla="*/ 1123 h 1717"/>
                <a:gd name="T42" fmla="*/ 40 w 424"/>
                <a:gd name="T43" fmla="*/ 1074 h 1717"/>
                <a:gd name="T44" fmla="*/ 40 w 424"/>
                <a:gd name="T45" fmla="*/ 1041 h 1717"/>
                <a:gd name="T46" fmla="*/ 15 w 424"/>
                <a:gd name="T47" fmla="*/ 975 h 1717"/>
                <a:gd name="T48" fmla="*/ 15 w 424"/>
                <a:gd name="T49" fmla="*/ 938 h 1717"/>
                <a:gd name="T50" fmla="*/ 29 w 424"/>
                <a:gd name="T51" fmla="*/ 909 h 1717"/>
                <a:gd name="T52" fmla="*/ 53 w 424"/>
                <a:gd name="T53" fmla="*/ 875 h 1717"/>
                <a:gd name="T54" fmla="*/ 52 w 424"/>
                <a:gd name="T55" fmla="*/ 817 h 1717"/>
                <a:gd name="T56" fmla="*/ 37 w 424"/>
                <a:gd name="T57" fmla="*/ 769 h 1717"/>
                <a:gd name="T58" fmla="*/ 52 w 424"/>
                <a:gd name="T59" fmla="*/ 713 h 1717"/>
                <a:gd name="T60" fmla="*/ 66 w 424"/>
                <a:gd name="T61" fmla="*/ 699 h 1717"/>
                <a:gd name="T62" fmla="*/ 53 w 424"/>
                <a:gd name="T63" fmla="*/ 647 h 1717"/>
                <a:gd name="T64" fmla="*/ 22 w 424"/>
                <a:gd name="T65" fmla="*/ 592 h 1717"/>
                <a:gd name="T66" fmla="*/ 15 w 424"/>
                <a:gd name="T67" fmla="*/ 557 h 1717"/>
                <a:gd name="T68" fmla="*/ 22 w 424"/>
                <a:gd name="T69" fmla="*/ 523 h 1717"/>
                <a:gd name="T70" fmla="*/ 62 w 424"/>
                <a:gd name="T71" fmla="*/ 493 h 1717"/>
                <a:gd name="T72" fmla="*/ 59 w 424"/>
                <a:gd name="T73" fmla="*/ 468 h 1717"/>
                <a:gd name="T74" fmla="*/ 16 w 424"/>
                <a:gd name="T75" fmla="*/ 390 h 1717"/>
                <a:gd name="T76" fmla="*/ 3 w 424"/>
                <a:gd name="T77" fmla="*/ 328 h 1717"/>
                <a:gd name="T78" fmla="*/ 15 w 424"/>
                <a:gd name="T79" fmla="*/ 294 h 1717"/>
                <a:gd name="T80" fmla="*/ 53 w 424"/>
                <a:gd name="T81" fmla="*/ 263 h 1717"/>
                <a:gd name="T82" fmla="*/ 44 w 424"/>
                <a:gd name="T83" fmla="*/ 235 h 1717"/>
                <a:gd name="T84" fmla="*/ 16 w 424"/>
                <a:gd name="T85" fmla="*/ 204 h 1717"/>
                <a:gd name="T86" fmla="*/ 16 w 424"/>
                <a:gd name="T87" fmla="*/ 170 h 1717"/>
                <a:gd name="T88" fmla="*/ 62 w 424"/>
                <a:gd name="T89" fmla="*/ 147 h 1717"/>
                <a:gd name="T90" fmla="*/ 81 w 424"/>
                <a:gd name="T91" fmla="*/ 122 h 1717"/>
                <a:gd name="T92" fmla="*/ 44 w 424"/>
                <a:gd name="T93" fmla="*/ 71 h 1717"/>
                <a:gd name="T94" fmla="*/ 44 w 424"/>
                <a:gd name="T95" fmla="*/ 44 h 1717"/>
                <a:gd name="T96" fmla="*/ 88 w 424"/>
                <a:gd name="T97" fmla="*/ 28 h 1717"/>
                <a:gd name="T98" fmla="*/ 90 w 424"/>
                <a:gd name="T99" fmla="*/ 0 h 1717"/>
                <a:gd name="T100" fmla="*/ 140 w 424"/>
                <a:gd name="T101" fmla="*/ 71 h 1717"/>
                <a:gd name="T102" fmla="*/ 198 w 424"/>
                <a:gd name="T103" fmla="*/ 145 h 1717"/>
                <a:gd name="T104" fmla="*/ 272 w 424"/>
                <a:gd name="T105" fmla="*/ 204 h 1717"/>
                <a:gd name="T106" fmla="*/ 331 w 424"/>
                <a:gd name="T107" fmla="*/ 251 h 1717"/>
                <a:gd name="T108" fmla="*/ 394 w 424"/>
                <a:gd name="T109" fmla="*/ 287 h 1717"/>
                <a:gd name="T110" fmla="*/ 417 w 424"/>
                <a:gd name="T111" fmla="*/ 309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4" h="1717">
                  <a:moveTo>
                    <a:pt x="417" y="309"/>
                  </a:moveTo>
                  <a:lnTo>
                    <a:pt x="424" y="372"/>
                  </a:lnTo>
                  <a:lnTo>
                    <a:pt x="424" y="713"/>
                  </a:lnTo>
                  <a:lnTo>
                    <a:pt x="394" y="1169"/>
                  </a:lnTo>
                  <a:lnTo>
                    <a:pt x="397" y="1460"/>
                  </a:lnTo>
                  <a:lnTo>
                    <a:pt x="412" y="1661"/>
                  </a:lnTo>
                  <a:lnTo>
                    <a:pt x="397" y="1717"/>
                  </a:lnTo>
                  <a:lnTo>
                    <a:pt x="372" y="1705"/>
                  </a:lnTo>
                  <a:lnTo>
                    <a:pt x="228" y="1594"/>
                  </a:lnTo>
                  <a:lnTo>
                    <a:pt x="191" y="1573"/>
                  </a:lnTo>
                  <a:lnTo>
                    <a:pt x="170" y="1541"/>
                  </a:lnTo>
                  <a:lnTo>
                    <a:pt x="133" y="1499"/>
                  </a:lnTo>
                  <a:lnTo>
                    <a:pt x="83" y="1455"/>
                  </a:lnTo>
                  <a:lnTo>
                    <a:pt x="59" y="1396"/>
                  </a:lnTo>
                  <a:lnTo>
                    <a:pt x="0" y="1346"/>
                  </a:lnTo>
                  <a:lnTo>
                    <a:pt x="0" y="1316"/>
                  </a:lnTo>
                  <a:lnTo>
                    <a:pt x="31" y="1276"/>
                  </a:lnTo>
                  <a:lnTo>
                    <a:pt x="44" y="1225"/>
                  </a:lnTo>
                  <a:lnTo>
                    <a:pt x="37" y="1198"/>
                  </a:lnTo>
                  <a:lnTo>
                    <a:pt x="22" y="1154"/>
                  </a:lnTo>
                  <a:lnTo>
                    <a:pt x="16" y="1123"/>
                  </a:lnTo>
                  <a:lnTo>
                    <a:pt x="40" y="1074"/>
                  </a:lnTo>
                  <a:lnTo>
                    <a:pt x="40" y="1041"/>
                  </a:lnTo>
                  <a:lnTo>
                    <a:pt x="15" y="975"/>
                  </a:lnTo>
                  <a:lnTo>
                    <a:pt x="15" y="938"/>
                  </a:lnTo>
                  <a:lnTo>
                    <a:pt x="29" y="909"/>
                  </a:lnTo>
                  <a:lnTo>
                    <a:pt x="53" y="875"/>
                  </a:lnTo>
                  <a:lnTo>
                    <a:pt x="52" y="817"/>
                  </a:lnTo>
                  <a:lnTo>
                    <a:pt x="37" y="769"/>
                  </a:lnTo>
                  <a:lnTo>
                    <a:pt x="52" y="713"/>
                  </a:lnTo>
                  <a:lnTo>
                    <a:pt x="66" y="699"/>
                  </a:lnTo>
                  <a:lnTo>
                    <a:pt x="53" y="647"/>
                  </a:lnTo>
                  <a:lnTo>
                    <a:pt x="22" y="592"/>
                  </a:lnTo>
                  <a:lnTo>
                    <a:pt x="15" y="557"/>
                  </a:lnTo>
                  <a:lnTo>
                    <a:pt x="22" y="523"/>
                  </a:lnTo>
                  <a:lnTo>
                    <a:pt x="62" y="493"/>
                  </a:lnTo>
                  <a:lnTo>
                    <a:pt x="59" y="468"/>
                  </a:lnTo>
                  <a:lnTo>
                    <a:pt x="16" y="390"/>
                  </a:lnTo>
                  <a:lnTo>
                    <a:pt x="3" y="328"/>
                  </a:lnTo>
                  <a:lnTo>
                    <a:pt x="15" y="294"/>
                  </a:lnTo>
                  <a:lnTo>
                    <a:pt x="53" y="263"/>
                  </a:lnTo>
                  <a:lnTo>
                    <a:pt x="44" y="235"/>
                  </a:lnTo>
                  <a:lnTo>
                    <a:pt x="16" y="204"/>
                  </a:lnTo>
                  <a:lnTo>
                    <a:pt x="16" y="170"/>
                  </a:lnTo>
                  <a:lnTo>
                    <a:pt x="62" y="147"/>
                  </a:lnTo>
                  <a:lnTo>
                    <a:pt x="81" y="122"/>
                  </a:lnTo>
                  <a:lnTo>
                    <a:pt x="44" y="71"/>
                  </a:lnTo>
                  <a:lnTo>
                    <a:pt x="44" y="44"/>
                  </a:lnTo>
                  <a:lnTo>
                    <a:pt x="88" y="28"/>
                  </a:lnTo>
                  <a:lnTo>
                    <a:pt x="90" y="0"/>
                  </a:lnTo>
                  <a:lnTo>
                    <a:pt x="140" y="71"/>
                  </a:lnTo>
                  <a:lnTo>
                    <a:pt x="198" y="145"/>
                  </a:lnTo>
                  <a:lnTo>
                    <a:pt x="272" y="204"/>
                  </a:lnTo>
                  <a:lnTo>
                    <a:pt x="331" y="251"/>
                  </a:lnTo>
                  <a:lnTo>
                    <a:pt x="394" y="287"/>
                  </a:lnTo>
                  <a:lnTo>
                    <a:pt x="417" y="309"/>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71" name="Freeform 59">
              <a:extLst>
                <a:ext uri="{FF2B5EF4-FFF2-40B4-BE49-F238E27FC236}">
                  <a16:creationId xmlns="" xmlns:a16="http://schemas.microsoft.com/office/drawing/2014/main" id="{50ACC2E9-EBDE-4A32-891D-C9AC1CD75134}"/>
                </a:ext>
              </a:extLst>
            </p:cNvPr>
            <p:cNvSpPr>
              <a:spLocks/>
            </p:cNvSpPr>
            <p:nvPr/>
          </p:nvSpPr>
          <p:spPr bwMode="auto">
            <a:xfrm>
              <a:off x="287" y="2426"/>
              <a:ext cx="61" cy="654"/>
            </a:xfrm>
            <a:custGeom>
              <a:avLst/>
              <a:gdLst>
                <a:gd name="T0" fmla="*/ 83 w 121"/>
                <a:gd name="T1" fmla="*/ 44 h 1309"/>
                <a:gd name="T2" fmla="*/ 121 w 121"/>
                <a:gd name="T3" fmla="*/ 91 h 1309"/>
                <a:gd name="T4" fmla="*/ 98 w 121"/>
                <a:gd name="T5" fmla="*/ 127 h 1309"/>
                <a:gd name="T6" fmla="*/ 46 w 121"/>
                <a:gd name="T7" fmla="*/ 153 h 1309"/>
                <a:gd name="T8" fmla="*/ 67 w 121"/>
                <a:gd name="T9" fmla="*/ 190 h 1309"/>
                <a:gd name="T10" fmla="*/ 90 w 121"/>
                <a:gd name="T11" fmla="*/ 237 h 1309"/>
                <a:gd name="T12" fmla="*/ 61 w 121"/>
                <a:gd name="T13" fmla="*/ 267 h 1309"/>
                <a:gd name="T14" fmla="*/ 37 w 121"/>
                <a:gd name="T15" fmla="*/ 304 h 1309"/>
                <a:gd name="T16" fmla="*/ 61 w 121"/>
                <a:gd name="T17" fmla="*/ 369 h 1309"/>
                <a:gd name="T18" fmla="*/ 90 w 121"/>
                <a:gd name="T19" fmla="*/ 428 h 1309"/>
                <a:gd name="T20" fmla="*/ 83 w 121"/>
                <a:gd name="T21" fmla="*/ 480 h 1309"/>
                <a:gd name="T22" fmla="*/ 46 w 121"/>
                <a:gd name="T23" fmla="*/ 524 h 1309"/>
                <a:gd name="T24" fmla="*/ 89 w 121"/>
                <a:gd name="T25" fmla="*/ 617 h 1309"/>
                <a:gd name="T26" fmla="*/ 105 w 121"/>
                <a:gd name="T27" fmla="*/ 676 h 1309"/>
                <a:gd name="T28" fmla="*/ 73 w 121"/>
                <a:gd name="T29" fmla="*/ 719 h 1309"/>
                <a:gd name="T30" fmla="*/ 80 w 121"/>
                <a:gd name="T31" fmla="*/ 786 h 1309"/>
                <a:gd name="T32" fmla="*/ 102 w 121"/>
                <a:gd name="T33" fmla="*/ 852 h 1309"/>
                <a:gd name="T34" fmla="*/ 76 w 121"/>
                <a:gd name="T35" fmla="*/ 889 h 1309"/>
                <a:gd name="T36" fmla="*/ 39 w 121"/>
                <a:gd name="T37" fmla="*/ 933 h 1309"/>
                <a:gd name="T38" fmla="*/ 76 w 121"/>
                <a:gd name="T39" fmla="*/ 1013 h 1309"/>
                <a:gd name="T40" fmla="*/ 90 w 121"/>
                <a:gd name="T41" fmla="*/ 1068 h 1309"/>
                <a:gd name="T42" fmla="*/ 58 w 121"/>
                <a:gd name="T43" fmla="*/ 1080 h 1309"/>
                <a:gd name="T44" fmla="*/ 67 w 121"/>
                <a:gd name="T45" fmla="*/ 1168 h 1309"/>
                <a:gd name="T46" fmla="*/ 83 w 121"/>
                <a:gd name="T47" fmla="*/ 1214 h 1309"/>
                <a:gd name="T48" fmla="*/ 58 w 121"/>
                <a:gd name="T49" fmla="*/ 1266 h 1309"/>
                <a:gd name="T50" fmla="*/ 2 w 121"/>
                <a:gd name="T51" fmla="*/ 1294 h 1309"/>
                <a:gd name="T52" fmla="*/ 45 w 121"/>
                <a:gd name="T53" fmla="*/ 1205 h 1309"/>
                <a:gd name="T54" fmla="*/ 24 w 121"/>
                <a:gd name="T55" fmla="*/ 1131 h 1309"/>
                <a:gd name="T56" fmla="*/ 30 w 121"/>
                <a:gd name="T57" fmla="*/ 1068 h 1309"/>
                <a:gd name="T58" fmla="*/ 46 w 121"/>
                <a:gd name="T59" fmla="*/ 1037 h 1309"/>
                <a:gd name="T60" fmla="*/ 11 w 121"/>
                <a:gd name="T61" fmla="*/ 957 h 1309"/>
                <a:gd name="T62" fmla="*/ 11 w 121"/>
                <a:gd name="T63" fmla="*/ 877 h 1309"/>
                <a:gd name="T64" fmla="*/ 54 w 121"/>
                <a:gd name="T65" fmla="*/ 840 h 1309"/>
                <a:gd name="T66" fmla="*/ 45 w 121"/>
                <a:gd name="T67" fmla="*/ 781 h 1309"/>
                <a:gd name="T68" fmla="*/ 32 w 121"/>
                <a:gd name="T69" fmla="*/ 713 h 1309"/>
                <a:gd name="T70" fmla="*/ 67 w 121"/>
                <a:gd name="T71" fmla="*/ 669 h 1309"/>
                <a:gd name="T72" fmla="*/ 52 w 121"/>
                <a:gd name="T73" fmla="*/ 620 h 1309"/>
                <a:gd name="T74" fmla="*/ 11 w 121"/>
                <a:gd name="T75" fmla="*/ 543 h 1309"/>
                <a:gd name="T76" fmla="*/ 17 w 121"/>
                <a:gd name="T77" fmla="*/ 492 h 1309"/>
                <a:gd name="T78" fmla="*/ 54 w 121"/>
                <a:gd name="T79" fmla="*/ 450 h 1309"/>
                <a:gd name="T80" fmla="*/ 15 w 121"/>
                <a:gd name="T81" fmla="*/ 353 h 1309"/>
                <a:gd name="T82" fmla="*/ 0 w 121"/>
                <a:gd name="T83" fmla="*/ 296 h 1309"/>
                <a:gd name="T84" fmla="*/ 32 w 121"/>
                <a:gd name="T85" fmla="*/ 252 h 1309"/>
                <a:gd name="T86" fmla="*/ 46 w 121"/>
                <a:gd name="T87" fmla="*/ 223 h 1309"/>
                <a:gd name="T88" fmla="*/ 11 w 121"/>
                <a:gd name="T89" fmla="*/ 177 h 1309"/>
                <a:gd name="T90" fmla="*/ 24 w 121"/>
                <a:gd name="T91" fmla="*/ 132 h 1309"/>
                <a:gd name="T92" fmla="*/ 67 w 121"/>
                <a:gd name="T93" fmla="*/ 103 h 1309"/>
                <a:gd name="T94" fmla="*/ 68 w 121"/>
                <a:gd name="T95" fmla="*/ 69 h 1309"/>
                <a:gd name="T96" fmla="*/ 46 w 121"/>
                <a:gd name="T97" fmla="*/ 24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1" h="1309">
                  <a:moveTo>
                    <a:pt x="61" y="0"/>
                  </a:moveTo>
                  <a:lnTo>
                    <a:pt x="83" y="44"/>
                  </a:lnTo>
                  <a:lnTo>
                    <a:pt x="102" y="73"/>
                  </a:lnTo>
                  <a:lnTo>
                    <a:pt x="121" y="91"/>
                  </a:lnTo>
                  <a:lnTo>
                    <a:pt x="117" y="112"/>
                  </a:lnTo>
                  <a:lnTo>
                    <a:pt x="98" y="127"/>
                  </a:lnTo>
                  <a:lnTo>
                    <a:pt x="68" y="134"/>
                  </a:lnTo>
                  <a:lnTo>
                    <a:pt x="46" y="153"/>
                  </a:lnTo>
                  <a:lnTo>
                    <a:pt x="52" y="177"/>
                  </a:lnTo>
                  <a:lnTo>
                    <a:pt x="67" y="190"/>
                  </a:lnTo>
                  <a:lnTo>
                    <a:pt x="90" y="220"/>
                  </a:lnTo>
                  <a:lnTo>
                    <a:pt x="90" y="237"/>
                  </a:lnTo>
                  <a:lnTo>
                    <a:pt x="83" y="252"/>
                  </a:lnTo>
                  <a:lnTo>
                    <a:pt x="61" y="267"/>
                  </a:lnTo>
                  <a:lnTo>
                    <a:pt x="39" y="282"/>
                  </a:lnTo>
                  <a:lnTo>
                    <a:pt x="37" y="304"/>
                  </a:lnTo>
                  <a:lnTo>
                    <a:pt x="45" y="326"/>
                  </a:lnTo>
                  <a:lnTo>
                    <a:pt x="61" y="369"/>
                  </a:lnTo>
                  <a:lnTo>
                    <a:pt x="76" y="404"/>
                  </a:lnTo>
                  <a:lnTo>
                    <a:pt x="90" y="428"/>
                  </a:lnTo>
                  <a:lnTo>
                    <a:pt x="90" y="456"/>
                  </a:lnTo>
                  <a:lnTo>
                    <a:pt x="83" y="480"/>
                  </a:lnTo>
                  <a:lnTo>
                    <a:pt x="61" y="502"/>
                  </a:lnTo>
                  <a:lnTo>
                    <a:pt x="46" y="524"/>
                  </a:lnTo>
                  <a:lnTo>
                    <a:pt x="52" y="561"/>
                  </a:lnTo>
                  <a:lnTo>
                    <a:pt x="89" y="617"/>
                  </a:lnTo>
                  <a:lnTo>
                    <a:pt x="102" y="647"/>
                  </a:lnTo>
                  <a:lnTo>
                    <a:pt x="105" y="676"/>
                  </a:lnTo>
                  <a:lnTo>
                    <a:pt x="90" y="698"/>
                  </a:lnTo>
                  <a:lnTo>
                    <a:pt x="73" y="719"/>
                  </a:lnTo>
                  <a:lnTo>
                    <a:pt x="68" y="750"/>
                  </a:lnTo>
                  <a:lnTo>
                    <a:pt x="80" y="786"/>
                  </a:lnTo>
                  <a:lnTo>
                    <a:pt x="95" y="825"/>
                  </a:lnTo>
                  <a:lnTo>
                    <a:pt x="102" y="852"/>
                  </a:lnTo>
                  <a:lnTo>
                    <a:pt x="95" y="870"/>
                  </a:lnTo>
                  <a:lnTo>
                    <a:pt x="76" y="889"/>
                  </a:lnTo>
                  <a:lnTo>
                    <a:pt x="52" y="911"/>
                  </a:lnTo>
                  <a:lnTo>
                    <a:pt x="39" y="933"/>
                  </a:lnTo>
                  <a:lnTo>
                    <a:pt x="52" y="972"/>
                  </a:lnTo>
                  <a:lnTo>
                    <a:pt x="76" y="1013"/>
                  </a:lnTo>
                  <a:lnTo>
                    <a:pt x="89" y="1043"/>
                  </a:lnTo>
                  <a:lnTo>
                    <a:pt x="90" y="1068"/>
                  </a:lnTo>
                  <a:lnTo>
                    <a:pt x="83" y="1080"/>
                  </a:lnTo>
                  <a:lnTo>
                    <a:pt x="58" y="1080"/>
                  </a:lnTo>
                  <a:lnTo>
                    <a:pt x="52" y="1134"/>
                  </a:lnTo>
                  <a:lnTo>
                    <a:pt x="67" y="1168"/>
                  </a:lnTo>
                  <a:lnTo>
                    <a:pt x="80" y="1192"/>
                  </a:lnTo>
                  <a:lnTo>
                    <a:pt x="83" y="1214"/>
                  </a:lnTo>
                  <a:lnTo>
                    <a:pt x="83" y="1235"/>
                  </a:lnTo>
                  <a:lnTo>
                    <a:pt x="58" y="1266"/>
                  </a:lnTo>
                  <a:lnTo>
                    <a:pt x="24" y="1309"/>
                  </a:lnTo>
                  <a:lnTo>
                    <a:pt x="2" y="1294"/>
                  </a:lnTo>
                  <a:lnTo>
                    <a:pt x="11" y="1259"/>
                  </a:lnTo>
                  <a:lnTo>
                    <a:pt x="45" y="1205"/>
                  </a:lnTo>
                  <a:lnTo>
                    <a:pt x="39" y="1171"/>
                  </a:lnTo>
                  <a:lnTo>
                    <a:pt x="24" y="1131"/>
                  </a:lnTo>
                  <a:lnTo>
                    <a:pt x="15" y="1097"/>
                  </a:lnTo>
                  <a:lnTo>
                    <a:pt x="30" y="1068"/>
                  </a:lnTo>
                  <a:lnTo>
                    <a:pt x="45" y="1058"/>
                  </a:lnTo>
                  <a:lnTo>
                    <a:pt x="46" y="1037"/>
                  </a:lnTo>
                  <a:lnTo>
                    <a:pt x="30" y="994"/>
                  </a:lnTo>
                  <a:lnTo>
                    <a:pt x="11" y="957"/>
                  </a:lnTo>
                  <a:lnTo>
                    <a:pt x="0" y="920"/>
                  </a:lnTo>
                  <a:lnTo>
                    <a:pt x="11" y="877"/>
                  </a:lnTo>
                  <a:lnTo>
                    <a:pt x="45" y="860"/>
                  </a:lnTo>
                  <a:lnTo>
                    <a:pt x="54" y="840"/>
                  </a:lnTo>
                  <a:lnTo>
                    <a:pt x="52" y="811"/>
                  </a:lnTo>
                  <a:lnTo>
                    <a:pt x="45" y="781"/>
                  </a:lnTo>
                  <a:lnTo>
                    <a:pt x="32" y="743"/>
                  </a:lnTo>
                  <a:lnTo>
                    <a:pt x="32" y="713"/>
                  </a:lnTo>
                  <a:lnTo>
                    <a:pt x="46" y="693"/>
                  </a:lnTo>
                  <a:lnTo>
                    <a:pt x="67" y="669"/>
                  </a:lnTo>
                  <a:lnTo>
                    <a:pt x="67" y="654"/>
                  </a:lnTo>
                  <a:lnTo>
                    <a:pt x="52" y="620"/>
                  </a:lnTo>
                  <a:lnTo>
                    <a:pt x="23" y="576"/>
                  </a:lnTo>
                  <a:lnTo>
                    <a:pt x="11" y="543"/>
                  </a:lnTo>
                  <a:lnTo>
                    <a:pt x="11" y="517"/>
                  </a:lnTo>
                  <a:lnTo>
                    <a:pt x="17" y="492"/>
                  </a:lnTo>
                  <a:lnTo>
                    <a:pt x="37" y="472"/>
                  </a:lnTo>
                  <a:lnTo>
                    <a:pt x="54" y="450"/>
                  </a:lnTo>
                  <a:lnTo>
                    <a:pt x="54" y="434"/>
                  </a:lnTo>
                  <a:lnTo>
                    <a:pt x="15" y="353"/>
                  </a:lnTo>
                  <a:lnTo>
                    <a:pt x="8" y="323"/>
                  </a:lnTo>
                  <a:lnTo>
                    <a:pt x="0" y="296"/>
                  </a:lnTo>
                  <a:lnTo>
                    <a:pt x="15" y="271"/>
                  </a:lnTo>
                  <a:lnTo>
                    <a:pt x="32" y="252"/>
                  </a:lnTo>
                  <a:lnTo>
                    <a:pt x="46" y="237"/>
                  </a:lnTo>
                  <a:lnTo>
                    <a:pt x="46" y="223"/>
                  </a:lnTo>
                  <a:lnTo>
                    <a:pt x="32" y="200"/>
                  </a:lnTo>
                  <a:lnTo>
                    <a:pt x="11" y="177"/>
                  </a:lnTo>
                  <a:lnTo>
                    <a:pt x="11" y="153"/>
                  </a:lnTo>
                  <a:lnTo>
                    <a:pt x="24" y="132"/>
                  </a:lnTo>
                  <a:lnTo>
                    <a:pt x="46" y="112"/>
                  </a:lnTo>
                  <a:lnTo>
                    <a:pt x="67" y="103"/>
                  </a:lnTo>
                  <a:lnTo>
                    <a:pt x="76" y="88"/>
                  </a:lnTo>
                  <a:lnTo>
                    <a:pt x="68" y="69"/>
                  </a:lnTo>
                  <a:lnTo>
                    <a:pt x="54" y="47"/>
                  </a:lnTo>
                  <a:lnTo>
                    <a:pt x="46" y="24"/>
                  </a:lnTo>
                  <a:lnTo>
                    <a:pt x="6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72" name="Freeform 60">
              <a:extLst>
                <a:ext uri="{FF2B5EF4-FFF2-40B4-BE49-F238E27FC236}">
                  <a16:creationId xmlns="" xmlns:a16="http://schemas.microsoft.com/office/drawing/2014/main" id="{B0BD2AB2-497A-4689-9AD1-00D9050E15DA}"/>
                </a:ext>
              </a:extLst>
            </p:cNvPr>
            <p:cNvSpPr>
              <a:spLocks/>
            </p:cNvSpPr>
            <p:nvPr/>
          </p:nvSpPr>
          <p:spPr bwMode="auto">
            <a:xfrm>
              <a:off x="453" y="2585"/>
              <a:ext cx="58" cy="530"/>
            </a:xfrm>
            <a:custGeom>
              <a:avLst/>
              <a:gdLst>
                <a:gd name="T0" fmla="*/ 103 w 116"/>
                <a:gd name="T1" fmla="*/ 29 h 1058"/>
                <a:gd name="T2" fmla="*/ 109 w 116"/>
                <a:gd name="T3" fmla="*/ 102 h 1058"/>
                <a:gd name="T4" fmla="*/ 60 w 116"/>
                <a:gd name="T5" fmla="*/ 132 h 1058"/>
                <a:gd name="T6" fmla="*/ 75 w 116"/>
                <a:gd name="T7" fmla="*/ 213 h 1058"/>
                <a:gd name="T8" fmla="*/ 97 w 116"/>
                <a:gd name="T9" fmla="*/ 291 h 1058"/>
                <a:gd name="T10" fmla="*/ 67 w 116"/>
                <a:gd name="T11" fmla="*/ 331 h 1058"/>
                <a:gd name="T12" fmla="*/ 75 w 116"/>
                <a:gd name="T13" fmla="*/ 396 h 1058"/>
                <a:gd name="T14" fmla="*/ 97 w 116"/>
                <a:gd name="T15" fmla="*/ 467 h 1058"/>
                <a:gd name="T16" fmla="*/ 82 w 116"/>
                <a:gd name="T17" fmla="*/ 519 h 1058"/>
                <a:gd name="T18" fmla="*/ 57 w 116"/>
                <a:gd name="T19" fmla="*/ 566 h 1058"/>
                <a:gd name="T20" fmla="*/ 90 w 116"/>
                <a:gd name="T21" fmla="*/ 659 h 1058"/>
                <a:gd name="T22" fmla="*/ 97 w 116"/>
                <a:gd name="T23" fmla="*/ 720 h 1058"/>
                <a:gd name="T24" fmla="*/ 42 w 116"/>
                <a:gd name="T25" fmla="*/ 764 h 1058"/>
                <a:gd name="T26" fmla="*/ 57 w 116"/>
                <a:gd name="T27" fmla="*/ 857 h 1058"/>
                <a:gd name="T28" fmla="*/ 72 w 116"/>
                <a:gd name="T29" fmla="*/ 938 h 1058"/>
                <a:gd name="T30" fmla="*/ 42 w 116"/>
                <a:gd name="T31" fmla="*/ 984 h 1058"/>
                <a:gd name="T32" fmla="*/ 27 w 116"/>
                <a:gd name="T33" fmla="*/ 1048 h 1058"/>
                <a:gd name="T34" fmla="*/ 12 w 116"/>
                <a:gd name="T35" fmla="*/ 1021 h 1058"/>
                <a:gd name="T36" fmla="*/ 42 w 116"/>
                <a:gd name="T37" fmla="*/ 947 h 1058"/>
                <a:gd name="T38" fmla="*/ 27 w 116"/>
                <a:gd name="T39" fmla="*/ 838 h 1058"/>
                <a:gd name="T40" fmla="*/ 20 w 116"/>
                <a:gd name="T41" fmla="*/ 757 h 1058"/>
                <a:gd name="T42" fmla="*/ 60 w 116"/>
                <a:gd name="T43" fmla="*/ 703 h 1058"/>
                <a:gd name="T44" fmla="*/ 27 w 116"/>
                <a:gd name="T45" fmla="*/ 625 h 1058"/>
                <a:gd name="T46" fmla="*/ 20 w 116"/>
                <a:gd name="T47" fmla="*/ 551 h 1058"/>
                <a:gd name="T48" fmla="*/ 50 w 116"/>
                <a:gd name="T49" fmla="*/ 492 h 1058"/>
                <a:gd name="T50" fmla="*/ 64 w 116"/>
                <a:gd name="T51" fmla="*/ 448 h 1058"/>
                <a:gd name="T52" fmla="*/ 35 w 116"/>
                <a:gd name="T53" fmla="*/ 374 h 1058"/>
                <a:gd name="T54" fmla="*/ 42 w 116"/>
                <a:gd name="T55" fmla="*/ 313 h 1058"/>
                <a:gd name="T56" fmla="*/ 60 w 116"/>
                <a:gd name="T57" fmla="*/ 269 h 1058"/>
                <a:gd name="T58" fmla="*/ 38 w 116"/>
                <a:gd name="T59" fmla="*/ 204 h 1058"/>
                <a:gd name="T60" fmla="*/ 30 w 116"/>
                <a:gd name="T61" fmla="*/ 130 h 1058"/>
                <a:gd name="T62" fmla="*/ 64 w 116"/>
                <a:gd name="T63" fmla="*/ 81 h 1058"/>
                <a:gd name="T64" fmla="*/ 67 w 116"/>
                <a:gd name="T65" fmla="*/ 34 h 1058"/>
                <a:gd name="T66" fmla="*/ 90 w 116"/>
                <a:gd name="T67" fmla="*/ 0 h 1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6" h="1058">
                  <a:moveTo>
                    <a:pt x="90" y="0"/>
                  </a:moveTo>
                  <a:lnTo>
                    <a:pt x="103" y="29"/>
                  </a:lnTo>
                  <a:lnTo>
                    <a:pt x="116" y="81"/>
                  </a:lnTo>
                  <a:lnTo>
                    <a:pt x="109" y="102"/>
                  </a:lnTo>
                  <a:lnTo>
                    <a:pt x="79" y="117"/>
                  </a:lnTo>
                  <a:lnTo>
                    <a:pt x="60" y="132"/>
                  </a:lnTo>
                  <a:lnTo>
                    <a:pt x="60" y="173"/>
                  </a:lnTo>
                  <a:lnTo>
                    <a:pt x="75" y="213"/>
                  </a:lnTo>
                  <a:lnTo>
                    <a:pt x="94" y="240"/>
                  </a:lnTo>
                  <a:lnTo>
                    <a:pt x="97" y="291"/>
                  </a:lnTo>
                  <a:lnTo>
                    <a:pt x="87" y="309"/>
                  </a:lnTo>
                  <a:lnTo>
                    <a:pt x="67" y="331"/>
                  </a:lnTo>
                  <a:lnTo>
                    <a:pt x="64" y="365"/>
                  </a:lnTo>
                  <a:lnTo>
                    <a:pt x="75" y="396"/>
                  </a:lnTo>
                  <a:lnTo>
                    <a:pt x="90" y="424"/>
                  </a:lnTo>
                  <a:lnTo>
                    <a:pt x="97" y="467"/>
                  </a:lnTo>
                  <a:lnTo>
                    <a:pt x="97" y="492"/>
                  </a:lnTo>
                  <a:lnTo>
                    <a:pt x="82" y="519"/>
                  </a:lnTo>
                  <a:lnTo>
                    <a:pt x="57" y="544"/>
                  </a:lnTo>
                  <a:lnTo>
                    <a:pt x="57" y="566"/>
                  </a:lnTo>
                  <a:lnTo>
                    <a:pt x="64" y="631"/>
                  </a:lnTo>
                  <a:lnTo>
                    <a:pt x="90" y="659"/>
                  </a:lnTo>
                  <a:lnTo>
                    <a:pt x="103" y="688"/>
                  </a:lnTo>
                  <a:lnTo>
                    <a:pt x="97" y="720"/>
                  </a:lnTo>
                  <a:lnTo>
                    <a:pt x="60" y="742"/>
                  </a:lnTo>
                  <a:lnTo>
                    <a:pt x="42" y="764"/>
                  </a:lnTo>
                  <a:lnTo>
                    <a:pt x="38" y="805"/>
                  </a:lnTo>
                  <a:lnTo>
                    <a:pt x="57" y="857"/>
                  </a:lnTo>
                  <a:lnTo>
                    <a:pt x="72" y="909"/>
                  </a:lnTo>
                  <a:lnTo>
                    <a:pt x="72" y="938"/>
                  </a:lnTo>
                  <a:lnTo>
                    <a:pt x="64" y="977"/>
                  </a:lnTo>
                  <a:lnTo>
                    <a:pt x="42" y="984"/>
                  </a:lnTo>
                  <a:lnTo>
                    <a:pt x="27" y="1014"/>
                  </a:lnTo>
                  <a:lnTo>
                    <a:pt x="27" y="1048"/>
                  </a:lnTo>
                  <a:lnTo>
                    <a:pt x="0" y="1058"/>
                  </a:lnTo>
                  <a:lnTo>
                    <a:pt x="12" y="1021"/>
                  </a:lnTo>
                  <a:lnTo>
                    <a:pt x="35" y="977"/>
                  </a:lnTo>
                  <a:lnTo>
                    <a:pt x="42" y="947"/>
                  </a:lnTo>
                  <a:lnTo>
                    <a:pt x="42" y="889"/>
                  </a:lnTo>
                  <a:lnTo>
                    <a:pt x="27" y="838"/>
                  </a:lnTo>
                  <a:lnTo>
                    <a:pt x="23" y="798"/>
                  </a:lnTo>
                  <a:lnTo>
                    <a:pt x="20" y="757"/>
                  </a:lnTo>
                  <a:lnTo>
                    <a:pt x="45" y="724"/>
                  </a:lnTo>
                  <a:lnTo>
                    <a:pt x="60" y="703"/>
                  </a:lnTo>
                  <a:lnTo>
                    <a:pt x="50" y="659"/>
                  </a:lnTo>
                  <a:lnTo>
                    <a:pt x="27" y="625"/>
                  </a:lnTo>
                  <a:lnTo>
                    <a:pt x="23" y="595"/>
                  </a:lnTo>
                  <a:lnTo>
                    <a:pt x="20" y="551"/>
                  </a:lnTo>
                  <a:lnTo>
                    <a:pt x="30" y="522"/>
                  </a:lnTo>
                  <a:lnTo>
                    <a:pt x="50" y="492"/>
                  </a:lnTo>
                  <a:lnTo>
                    <a:pt x="64" y="470"/>
                  </a:lnTo>
                  <a:lnTo>
                    <a:pt x="64" y="448"/>
                  </a:lnTo>
                  <a:lnTo>
                    <a:pt x="50" y="424"/>
                  </a:lnTo>
                  <a:lnTo>
                    <a:pt x="35" y="374"/>
                  </a:lnTo>
                  <a:lnTo>
                    <a:pt x="35" y="343"/>
                  </a:lnTo>
                  <a:lnTo>
                    <a:pt x="42" y="313"/>
                  </a:lnTo>
                  <a:lnTo>
                    <a:pt x="57" y="291"/>
                  </a:lnTo>
                  <a:lnTo>
                    <a:pt x="60" y="269"/>
                  </a:lnTo>
                  <a:lnTo>
                    <a:pt x="57" y="242"/>
                  </a:lnTo>
                  <a:lnTo>
                    <a:pt x="38" y="204"/>
                  </a:lnTo>
                  <a:lnTo>
                    <a:pt x="27" y="176"/>
                  </a:lnTo>
                  <a:lnTo>
                    <a:pt x="30" y="130"/>
                  </a:lnTo>
                  <a:lnTo>
                    <a:pt x="45" y="111"/>
                  </a:lnTo>
                  <a:lnTo>
                    <a:pt x="64" y="81"/>
                  </a:lnTo>
                  <a:lnTo>
                    <a:pt x="75" y="56"/>
                  </a:lnTo>
                  <a:lnTo>
                    <a:pt x="67" y="34"/>
                  </a:lnTo>
                  <a:lnTo>
                    <a:pt x="72" y="12"/>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73" name="Freeform 61">
              <a:extLst>
                <a:ext uri="{FF2B5EF4-FFF2-40B4-BE49-F238E27FC236}">
                  <a16:creationId xmlns="" xmlns:a16="http://schemas.microsoft.com/office/drawing/2014/main" id="{EA31795A-1881-4B95-BC3E-15232DE08D84}"/>
                </a:ext>
              </a:extLst>
            </p:cNvPr>
            <p:cNvSpPr>
              <a:spLocks/>
            </p:cNvSpPr>
            <p:nvPr/>
          </p:nvSpPr>
          <p:spPr bwMode="auto">
            <a:xfrm>
              <a:off x="361" y="2521"/>
              <a:ext cx="133" cy="114"/>
            </a:xfrm>
            <a:custGeom>
              <a:avLst/>
              <a:gdLst>
                <a:gd name="T0" fmla="*/ 266 w 266"/>
                <a:gd name="T1" fmla="*/ 185 h 229"/>
                <a:gd name="T2" fmla="*/ 185 w 266"/>
                <a:gd name="T3" fmla="*/ 119 h 229"/>
                <a:gd name="T4" fmla="*/ 118 w 266"/>
                <a:gd name="T5" fmla="*/ 59 h 229"/>
                <a:gd name="T6" fmla="*/ 56 w 266"/>
                <a:gd name="T7" fmla="*/ 0 h 229"/>
                <a:gd name="T8" fmla="*/ 0 w 266"/>
                <a:gd name="T9" fmla="*/ 0 h 229"/>
                <a:gd name="T10" fmla="*/ 133 w 266"/>
                <a:gd name="T11" fmla="*/ 96 h 229"/>
                <a:gd name="T12" fmla="*/ 197 w 266"/>
                <a:gd name="T13" fmla="*/ 156 h 229"/>
                <a:gd name="T14" fmla="*/ 251 w 266"/>
                <a:gd name="T15" fmla="*/ 229 h 229"/>
                <a:gd name="T16" fmla="*/ 266 w 266"/>
                <a:gd name="T17" fmla="*/ 18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6" h="229">
                  <a:moveTo>
                    <a:pt x="266" y="185"/>
                  </a:moveTo>
                  <a:lnTo>
                    <a:pt x="185" y="119"/>
                  </a:lnTo>
                  <a:lnTo>
                    <a:pt x="118" y="59"/>
                  </a:lnTo>
                  <a:lnTo>
                    <a:pt x="56" y="0"/>
                  </a:lnTo>
                  <a:lnTo>
                    <a:pt x="0" y="0"/>
                  </a:lnTo>
                  <a:lnTo>
                    <a:pt x="133" y="96"/>
                  </a:lnTo>
                  <a:lnTo>
                    <a:pt x="197" y="156"/>
                  </a:lnTo>
                  <a:lnTo>
                    <a:pt x="251" y="229"/>
                  </a:lnTo>
                  <a:lnTo>
                    <a:pt x="266" y="1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74" name="Freeform 62">
              <a:extLst>
                <a:ext uri="{FF2B5EF4-FFF2-40B4-BE49-F238E27FC236}">
                  <a16:creationId xmlns="" xmlns:a16="http://schemas.microsoft.com/office/drawing/2014/main" id="{585938AB-6438-4003-88AC-AF75FDDA12A2}"/>
                </a:ext>
              </a:extLst>
            </p:cNvPr>
            <p:cNvSpPr>
              <a:spLocks/>
            </p:cNvSpPr>
            <p:nvPr/>
          </p:nvSpPr>
          <p:spPr bwMode="auto">
            <a:xfrm>
              <a:off x="360" y="2587"/>
              <a:ext cx="114" cy="93"/>
            </a:xfrm>
            <a:custGeom>
              <a:avLst/>
              <a:gdLst>
                <a:gd name="T0" fmla="*/ 228 w 228"/>
                <a:gd name="T1" fmla="*/ 118 h 186"/>
                <a:gd name="T2" fmla="*/ 169 w 228"/>
                <a:gd name="T3" fmla="*/ 96 h 186"/>
                <a:gd name="T4" fmla="*/ 125 w 228"/>
                <a:gd name="T5" fmla="*/ 59 h 186"/>
                <a:gd name="T6" fmla="*/ 45 w 228"/>
                <a:gd name="T7" fmla="*/ 0 h 186"/>
                <a:gd name="T8" fmla="*/ 0 w 228"/>
                <a:gd name="T9" fmla="*/ 0 h 186"/>
                <a:gd name="T10" fmla="*/ 104 w 228"/>
                <a:gd name="T11" fmla="*/ 59 h 186"/>
                <a:gd name="T12" fmla="*/ 143 w 228"/>
                <a:gd name="T13" fmla="*/ 98 h 186"/>
                <a:gd name="T14" fmla="*/ 228 w 228"/>
                <a:gd name="T15" fmla="*/ 186 h 186"/>
                <a:gd name="T16" fmla="*/ 224 w 228"/>
                <a:gd name="T17" fmla="*/ 133 h 186"/>
                <a:gd name="T18" fmla="*/ 228 w 228"/>
                <a:gd name="T19" fmla="*/ 118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186">
                  <a:moveTo>
                    <a:pt x="228" y="118"/>
                  </a:moveTo>
                  <a:lnTo>
                    <a:pt x="169" y="96"/>
                  </a:lnTo>
                  <a:lnTo>
                    <a:pt x="125" y="59"/>
                  </a:lnTo>
                  <a:lnTo>
                    <a:pt x="45" y="0"/>
                  </a:lnTo>
                  <a:lnTo>
                    <a:pt x="0" y="0"/>
                  </a:lnTo>
                  <a:lnTo>
                    <a:pt x="104" y="59"/>
                  </a:lnTo>
                  <a:lnTo>
                    <a:pt x="143" y="98"/>
                  </a:lnTo>
                  <a:lnTo>
                    <a:pt x="228" y="186"/>
                  </a:lnTo>
                  <a:lnTo>
                    <a:pt x="224" y="133"/>
                  </a:lnTo>
                  <a:lnTo>
                    <a:pt x="228"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75" name="Freeform 63">
              <a:extLst>
                <a:ext uri="{FF2B5EF4-FFF2-40B4-BE49-F238E27FC236}">
                  <a16:creationId xmlns="" xmlns:a16="http://schemas.microsoft.com/office/drawing/2014/main" id="{646568F7-B1E8-4868-A068-69C860102DEA}"/>
                </a:ext>
              </a:extLst>
            </p:cNvPr>
            <p:cNvSpPr>
              <a:spLocks/>
            </p:cNvSpPr>
            <p:nvPr/>
          </p:nvSpPr>
          <p:spPr bwMode="auto">
            <a:xfrm>
              <a:off x="342" y="2643"/>
              <a:ext cx="135" cy="144"/>
            </a:xfrm>
            <a:custGeom>
              <a:avLst/>
              <a:gdLst>
                <a:gd name="T0" fmla="*/ 265 w 269"/>
                <a:gd name="T1" fmla="*/ 214 h 288"/>
                <a:gd name="T2" fmla="*/ 191 w 269"/>
                <a:gd name="T3" fmla="*/ 149 h 288"/>
                <a:gd name="T4" fmla="*/ 163 w 269"/>
                <a:gd name="T5" fmla="*/ 104 h 288"/>
                <a:gd name="T6" fmla="*/ 104 w 269"/>
                <a:gd name="T7" fmla="*/ 60 h 288"/>
                <a:gd name="T8" fmla="*/ 52 w 269"/>
                <a:gd name="T9" fmla="*/ 22 h 288"/>
                <a:gd name="T10" fmla="*/ 15 w 269"/>
                <a:gd name="T11" fmla="*/ 0 h 288"/>
                <a:gd name="T12" fmla="*/ 0 w 269"/>
                <a:gd name="T13" fmla="*/ 0 h 288"/>
                <a:gd name="T14" fmla="*/ 0 w 269"/>
                <a:gd name="T15" fmla="*/ 22 h 288"/>
                <a:gd name="T16" fmla="*/ 45 w 269"/>
                <a:gd name="T17" fmla="*/ 50 h 288"/>
                <a:gd name="T18" fmla="*/ 126 w 269"/>
                <a:gd name="T19" fmla="*/ 102 h 288"/>
                <a:gd name="T20" fmla="*/ 185 w 269"/>
                <a:gd name="T21" fmla="*/ 161 h 288"/>
                <a:gd name="T22" fmla="*/ 226 w 269"/>
                <a:gd name="T23" fmla="*/ 227 h 288"/>
                <a:gd name="T24" fmla="*/ 269 w 269"/>
                <a:gd name="T25" fmla="*/ 288 h 288"/>
                <a:gd name="T26" fmla="*/ 265 w 269"/>
                <a:gd name="T27" fmla="*/ 21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9" h="288">
                  <a:moveTo>
                    <a:pt x="265" y="214"/>
                  </a:moveTo>
                  <a:lnTo>
                    <a:pt x="191" y="149"/>
                  </a:lnTo>
                  <a:lnTo>
                    <a:pt x="163" y="104"/>
                  </a:lnTo>
                  <a:lnTo>
                    <a:pt x="104" y="60"/>
                  </a:lnTo>
                  <a:lnTo>
                    <a:pt x="52" y="22"/>
                  </a:lnTo>
                  <a:lnTo>
                    <a:pt x="15" y="0"/>
                  </a:lnTo>
                  <a:lnTo>
                    <a:pt x="0" y="0"/>
                  </a:lnTo>
                  <a:lnTo>
                    <a:pt x="0" y="22"/>
                  </a:lnTo>
                  <a:lnTo>
                    <a:pt x="45" y="50"/>
                  </a:lnTo>
                  <a:lnTo>
                    <a:pt x="126" y="102"/>
                  </a:lnTo>
                  <a:lnTo>
                    <a:pt x="185" y="161"/>
                  </a:lnTo>
                  <a:lnTo>
                    <a:pt x="226" y="227"/>
                  </a:lnTo>
                  <a:lnTo>
                    <a:pt x="269" y="288"/>
                  </a:lnTo>
                  <a:lnTo>
                    <a:pt x="265" y="2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76" name="Freeform 64">
              <a:extLst>
                <a:ext uri="{FF2B5EF4-FFF2-40B4-BE49-F238E27FC236}">
                  <a16:creationId xmlns="" xmlns:a16="http://schemas.microsoft.com/office/drawing/2014/main" id="{EDB6C3A1-C945-4126-9FB1-B343DFEABFA3}"/>
                </a:ext>
              </a:extLst>
            </p:cNvPr>
            <p:cNvSpPr>
              <a:spLocks/>
            </p:cNvSpPr>
            <p:nvPr/>
          </p:nvSpPr>
          <p:spPr bwMode="auto">
            <a:xfrm>
              <a:off x="357" y="2761"/>
              <a:ext cx="104" cy="85"/>
            </a:xfrm>
            <a:custGeom>
              <a:avLst/>
              <a:gdLst>
                <a:gd name="T0" fmla="*/ 208 w 208"/>
                <a:gd name="T1" fmla="*/ 140 h 170"/>
                <a:gd name="T2" fmla="*/ 149 w 208"/>
                <a:gd name="T3" fmla="*/ 77 h 170"/>
                <a:gd name="T4" fmla="*/ 88 w 208"/>
                <a:gd name="T5" fmla="*/ 37 h 170"/>
                <a:gd name="T6" fmla="*/ 37 w 208"/>
                <a:gd name="T7" fmla="*/ 10 h 170"/>
                <a:gd name="T8" fmla="*/ 0 w 208"/>
                <a:gd name="T9" fmla="*/ 0 h 170"/>
                <a:gd name="T10" fmla="*/ 22 w 208"/>
                <a:gd name="T11" fmla="*/ 37 h 170"/>
                <a:gd name="T12" fmla="*/ 88 w 208"/>
                <a:gd name="T13" fmla="*/ 74 h 170"/>
                <a:gd name="T14" fmla="*/ 140 w 208"/>
                <a:gd name="T15" fmla="*/ 127 h 170"/>
                <a:gd name="T16" fmla="*/ 164 w 208"/>
                <a:gd name="T17" fmla="*/ 163 h 170"/>
                <a:gd name="T18" fmla="*/ 186 w 208"/>
                <a:gd name="T19" fmla="*/ 170 h 170"/>
                <a:gd name="T20" fmla="*/ 205 w 208"/>
                <a:gd name="T21" fmla="*/ 157 h 170"/>
                <a:gd name="T22" fmla="*/ 208 w 208"/>
                <a:gd name="T23" fmla="*/ 14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170">
                  <a:moveTo>
                    <a:pt x="208" y="140"/>
                  </a:moveTo>
                  <a:lnTo>
                    <a:pt x="149" y="77"/>
                  </a:lnTo>
                  <a:lnTo>
                    <a:pt x="88" y="37"/>
                  </a:lnTo>
                  <a:lnTo>
                    <a:pt x="37" y="10"/>
                  </a:lnTo>
                  <a:lnTo>
                    <a:pt x="0" y="0"/>
                  </a:lnTo>
                  <a:lnTo>
                    <a:pt x="22" y="37"/>
                  </a:lnTo>
                  <a:lnTo>
                    <a:pt x="88" y="74"/>
                  </a:lnTo>
                  <a:lnTo>
                    <a:pt x="140" y="127"/>
                  </a:lnTo>
                  <a:lnTo>
                    <a:pt x="164" y="163"/>
                  </a:lnTo>
                  <a:lnTo>
                    <a:pt x="186" y="170"/>
                  </a:lnTo>
                  <a:lnTo>
                    <a:pt x="205" y="157"/>
                  </a:lnTo>
                  <a:lnTo>
                    <a:pt x="208"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77" name="Freeform 65">
              <a:extLst>
                <a:ext uri="{FF2B5EF4-FFF2-40B4-BE49-F238E27FC236}">
                  <a16:creationId xmlns="" xmlns:a16="http://schemas.microsoft.com/office/drawing/2014/main" id="{D9466457-A0A1-4A73-BA41-C4D931FF023A}"/>
                </a:ext>
              </a:extLst>
            </p:cNvPr>
            <p:cNvSpPr>
              <a:spLocks/>
            </p:cNvSpPr>
            <p:nvPr/>
          </p:nvSpPr>
          <p:spPr bwMode="auto">
            <a:xfrm>
              <a:off x="344" y="2821"/>
              <a:ext cx="115" cy="105"/>
            </a:xfrm>
            <a:custGeom>
              <a:avLst/>
              <a:gdLst>
                <a:gd name="T0" fmla="*/ 230 w 230"/>
                <a:gd name="T1" fmla="*/ 196 h 211"/>
                <a:gd name="T2" fmla="*/ 171 w 230"/>
                <a:gd name="T3" fmla="*/ 133 h 211"/>
                <a:gd name="T4" fmla="*/ 97 w 230"/>
                <a:gd name="T5" fmla="*/ 56 h 211"/>
                <a:gd name="T6" fmla="*/ 53 w 230"/>
                <a:gd name="T7" fmla="*/ 19 h 211"/>
                <a:gd name="T8" fmla="*/ 19 w 230"/>
                <a:gd name="T9" fmla="*/ 0 h 211"/>
                <a:gd name="T10" fmla="*/ 0 w 230"/>
                <a:gd name="T11" fmla="*/ 12 h 211"/>
                <a:gd name="T12" fmla="*/ 40 w 230"/>
                <a:gd name="T13" fmla="*/ 44 h 211"/>
                <a:gd name="T14" fmla="*/ 105 w 230"/>
                <a:gd name="T15" fmla="*/ 111 h 211"/>
                <a:gd name="T16" fmla="*/ 167 w 230"/>
                <a:gd name="T17" fmla="*/ 177 h 211"/>
                <a:gd name="T18" fmla="*/ 208 w 230"/>
                <a:gd name="T19" fmla="*/ 211 h 211"/>
                <a:gd name="T20" fmla="*/ 218 w 230"/>
                <a:gd name="T21" fmla="*/ 211 h 211"/>
                <a:gd name="T22" fmla="*/ 230 w 230"/>
                <a:gd name="T23" fmla="*/ 19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0" h="211">
                  <a:moveTo>
                    <a:pt x="230" y="196"/>
                  </a:moveTo>
                  <a:lnTo>
                    <a:pt x="171" y="133"/>
                  </a:lnTo>
                  <a:lnTo>
                    <a:pt x="97" y="56"/>
                  </a:lnTo>
                  <a:lnTo>
                    <a:pt x="53" y="19"/>
                  </a:lnTo>
                  <a:lnTo>
                    <a:pt x="19" y="0"/>
                  </a:lnTo>
                  <a:lnTo>
                    <a:pt x="0" y="12"/>
                  </a:lnTo>
                  <a:lnTo>
                    <a:pt x="40" y="44"/>
                  </a:lnTo>
                  <a:lnTo>
                    <a:pt x="105" y="111"/>
                  </a:lnTo>
                  <a:lnTo>
                    <a:pt x="167" y="177"/>
                  </a:lnTo>
                  <a:lnTo>
                    <a:pt x="208" y="211"/>
                  </a:lnTo>
                  <a:lnTo>
                    <a:pt x="218" y="211"/>
                  </a:lnTo>
                  <a:lnTo>
                    <a:pt x="230" y="1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78" name="Freeform 66">
              <a:extLst>
                <a:ext uri="{FF2B5EF4-FFF2-40B4-BE49-F238E27FC236}">
                  <a16:creationId xmlns="" xmlns:a16="http://schemas.microsoft.com/office/drawing/2014/main" id="{1D1AB3F6-62F9-4864-B8F2-1BA39DB2D020}"/>
                </a:ext>
              </a:extLst>
            </p:cNvPr>
            <p:cNvSpPr>
              <a:spLocks/>
            </p:cNvSpPr>
            <p:nvPr/>
          </p:nvSpPr>
          <p:spPr bwMode="auto">
            <a:xfrm>
              <a:off x="358" y="2909"/>
              <a:ext cx="80" cy="83"/>
            </a:xfrm>
            <a:custGeom>
              <a:avLst/>
              <a:gdLst>
                <a:gd name="T0" fmla="*/ 159 w 162"/>
                <a:gd name="T1" fmla="*/ 139 h 166"/>
                <a:gd name="T2" fmla="*/ 93 w 162"/>
                <a:gd name="T3" fmla="*/ 42 h 166"/>
                <a:gd name="T4" fmla="*/ 29 w 162"/>
                <a:gd name="T5" fmla="*/ 5 h 166"/>
                <a:gd name="T6" fmla="*/ 0 w 162"/>
                <a:gd name="T7" fmla="*/ 0 h 166"/>
                <a:gd name="T8" fmla="*/ 7 w 162"/>
                <a:gd name="T9" fmla="*/ 19 h 166"/>
                <a:gd name="T10" fmla="*/ 81 w 162"/>
                <a:gd name="T11" fmla="*/ 73 h 166"/>
                <a:gd name="T12" fmla="*/ 152 w 162"/>
                <a:gd name="T13" fmla="*/ 159 h 166"/>
                <a:gd name="T14" fmla="*/ 162 w 162"/>
                <a:gd name="T15" fmla="*/ 166 h 166"/>
                <a:gd name="T16" fmla="*/ 159 w 162"/>
                <a:gd name="T17" fmla="*/ 139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2" h="166">
                  <a:moveTo>
                    <a:pt x="159" y="139"/>
                  </a:moveTo>
                  <a:lnTo>
                    <a:pt x="93" y="42"/>
                  </a:lnTo>
                  <a:lnTo>
                    <a:pt x="29" y="5"/>
                  </a:lnTo>
                  <a:lnTo>
                    <a:pt x="0" y="0"/>
                  </a:lnTo>
                  <a:lnTo>
                    <a:pt x="7" y="19"/>
                  </a:lnTo>
                  <a:lnTo>
                    <a:pt x="81" y="73"/>
                  </a:lnTo>
                  <a:lnTo>
                    <a:pt x="152" y="159"/>
                  </a:lnTo>
                  <a:lnTo>
                    <a:pt x="162" y="166"/>
                  </a:lnTo>
                  <a:lnTo>
                    <a:pt x="159" y="1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79" name="Freeform 67">
              <a:extLst>
                <a:ext uri="{FF2B5EF4-FFF2-40B4-BE49-F238E27FC236}">
                  <a16:creationId xmlns="" xmlns:a16="http://schemas.microsoft.com/office/drawing/2014/main" id="{F2C9AD32-55CE-4358-9234-7E4DC541B884}"/>
                </a:ext>
              </a:extLst>
            </p:cNvPr>
            <p:cNvSpPr>
              <a:spLocks/>
            </p:cNvSpPr>
            <p:nvPr/>
          </p:nvSpPr>
          <p:spPr bwMode="auto">
            <a:xfrm>
              <a:off x="360" y="2990"/>
              <a:ext cx="55" cy="63"/>
            </a:xfrm>
            <a:custGeom>
              <a:avLst/>
              <a:gdLst>
                <a:gd name="T0" fmla="*/ 106 w 110"/>
                <a:gd name="T1" fmla="*/ 96 h 126"/>
                <a:gd name="T2" fmla="*/ 52 w 110"/>
                <a:gd name="T3" fmla="*/ 22 h 126"/>
                <a:gd name="T4" fmla="*/ 2 w 110"/>
                <a:gd name="T5" fmla="*/ 0 h 126"/>
                <a:gd name="T6" fmla="*/ 0 w 110"/>
                <a:gd name="T7" fmla="*/ 22 h 126"/>
                <a:gd name="T8" fmla="*/ 23 w 110"/>
                <a:gd name="T9" fmla="*/ 59 h 126"/>
                <a:gd name="T10" fmla="*/ 82 w 110"/>
                <a:gd name="T11" fmla="*/ 108 h 126"/>
                <a:gd name="T12" fmla="*/ 98 w 110"/>
                <a:gd name="T13" fmla="*/ 126 h 126"/>
                <a:gd name="T14" fmla="*/ 110 w 110"/>
                <a:gd name="T15" fmla="*/ 118 h 126"/>
                <a:gd name="T16" fmla="*/ 106 w 110"/>
                <a:gd name="T17" fmla="*/ 9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126">
                  <a:moveTo>
                    <a:pt x="106" y="96"/>
                  </a:moveTo>
                  <a:lnTo>
                    <a:pt x="52" y="22"/>
                  </a:lnTo>
                  <a:lnTo>
                    <a:pt x="2" y="0"/>
                  </a:lnTo>
                  <a:lnTo>
                    <a:pt x="0" y="22"/>
                  </a:lnTo>
                  <a:lnTo>
                    <a:pt x="23" y="59"/>
                  </a:lnTo>
                  <a:lnTo>
                    <a:pt x="82" y="108"/>
                  </a:lnTo>
                  <a:lnTo>
                    <a:pt x="98" y="126"/>
                  </a:lnTo>
                  <a:lnTo>
                    <a:pt x="110" y="118"/>
                  </a:lnTo>
                  <a:lnTo>
                    <a:pt x="106"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80" name="Freeform 68">
              <a:extLst>
                <a:ext uri="{FF2B5EF4-FFF2-40B4-BE49-F238E27FC236}">
                  <a16:creationId xmlns="" xmlns:a16="http://schemas.microsoft.com/office/drawing/2014/main" id="{6AA4C924-8641-422D-B319-05D1652BE367}"/>
                </a:ext>
              </a:extLst>
            </p:cNvPr>
            <p:cNvSpPr>
              <a:spLocks/>
            </p:cNvSpPr>
            <p:nvPr/>
          </p:nvSpPr>
          <p:spPr bwMode="auto">
            <a:xfrm>
              <a:off x="365" y="3073"/>
              <a:ext cx="69" cy="71"/>
            </a:xfrm>
            <a:custGeom>
              <a:avLst/>
              <a:gdLst>
                <a:gd name="T0" fmla="*/ 140 w 140"/>
                <a:gd name="T1" fmla="*/ 142 h 142"/>
                <a:gd name="T2" fmla="*/ 120 w 140"/>
                <a:gd name="T3" fmla="*/ 120 h 142"/>
                <a:gd name="T4" fmla="*/ 81 w 140"/>
                <a:gd name="T5" fmla="*/ 61 h 142"/>
                <a:gd name="T6" fmla="*/ 25 w 140"/>
                <a:gd name="T7" fmla="*/ 0 h 142"/>
                <a:gd name="T8" fmla="*/ 0 w 140"/>
                <a:gd name="T9" fmla="*/ 0 h 142"/>
                <a:gd name="T10" fmla="*/ 10 w 140"/>
                <a:gd name="T11" fmla="*/ 22 h 142"/>
                <a:gd name="T12" fmla="*/ 53 w 140"/>
                <a:gd name="T13" fmla="*/ 80 h 142"/>
                <a:gd name="T14" fmla="*/ 97 w 140"/>
                <a:gd name="T15" fmla="*/ 139 h 142"/>
                <a:gd name="T16" fmla="*/ 140 w 140"/>
                <a:gd name="T17" fmla="*/ 14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 h="142">
                  <a:moveTo>
                    <a:pt x="140" y="142"/>
                  </a:moveTo>
                  <a:lnTo>
                    <a:pt x="120" y="120"/>
                  </a:lnTo>
                  <a:lnTo>
                    <a:pt x="81" y="61"/>
                  </a:lnTo>
                  <a:lnTo>
                    <a:pt x="25" y="0"/>
                  </a:lnTo>
                  <a:lnTo>
                    <a:pt x="0" y="0"/>
                  </a:lnTo>
                  <a:lnTo>
                    <a:pt x="10" y="22"/>
                  </a:lnTo>
                  <a:lnTo>
                    <a:pt x="53" y="80"/>
                  </a:lnTo>
                  <a:lnTo>
                    <a:pt x="97" y="139"/>
                  </a:lnTo>
                  <a:lnTo>
                    <a:pt x="140" y="1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81" name="Freeform 69">
              <a:extLst>
                <a:ext uri="{FF2B5EF4-FFF2-40B4-BE49-F238E27FC236}">
                  <a16:creationId xmlns="" xmlns:a16="http://schemas.microsoft.com/office/drawing/2014/main" id="{47C6043E-6E65-41AB-8D75-8BACFFF18612}"/>
                </a:ext>
              </a:extLst>
            </p:cNvPr>
            <p:cNvSpPr>
              <a:spLocks/>
            </p:cNvSpPr>
            <p:nvPr/>
          </p:nvSpPr>
          <p:spPr bwMode="auto">
            <a:xfrm>
              <a:off x="459" y="2481"/>
              <a:ext cx="213" cy="791"/>
            </a:xfrm>
            <a:custGeom>
              <a:avLst/>
              <a:gdLst>
                <a:gd name="T0" fmla="*/ 61 w 427"/>
                <a:gd name="T1" fmla="*/ 194 h 1583"/>
                <a:gd name="T2" fmla="*/ 76 w 427"/>
                <a:gd name="T3" fmla="*/ 281 h 1583"/>
                <a:gd name="T4" fmla="*/ 40 w 427"/>
                <a:gd name="T5" fmla="*/ 340 h 1583"/>
                <a:gd name="T6" fmla="*/ 44 w 427"/>
                <a:gd name="T7" fmla="*/ 421 h 1583"/>
                <a:gd name="T8" fmla="*/ 65 w 427"/>
                <a:gd name="T9" fmla="*/ 488 h 1583"/>
                <a:gd name="T10" fmla="*/ 31 w 427"/>
                <a:gd name="T11" fmla="*/ 553 h 1583"/>
                <a:gd name="T12" fmla="*/ 68 w 427"/>
                <a:gd name="T13" fmla="*/ 668 h 1583"/>
                <a:gd name="T14" fmla="*/ 24 w 427"/>
                <a:gd name="T15" fmla="*/ 764 h 1583"/>
                <a:gd name="T16" fmla="*/ 46 w 427"/>
                <a:gd name="T17" fmla="*/ 860 h 1583"/>
                <a:gd name="T18" fmla="*/ 59 w 427"/>
                <a:gd name="T19" fmla="*/ 928 h 1583"/>
                <a:gd name="T20" fmla="*/ 15 w 427"/>
                <a:gd name="T21" fmla="*/ 987 h 1583"/>
                <a:gd name="T22" fmla="*/ 40 w 427"/>
                <a:gd name="T23" fmla="*/ 1110 h 1583"/>
                <a:gd name="T24" fmla="*/ 37 w 427"/>
                <a:gd name="T25" fmla="*/ 1175 h 1583"/>
                <a:gd name="T26" fmla="*/ 0 w 427"/>
                <a:gd name="T27" fmla="*/ 1257 h 1583"/>
                <a:gd name="T28" fmla="*/ 22 w 427"/>
                <a:gd name="T29" fmla="*/ 1326 h 1583"/>
                <a:gd name="T30" fmla="*/ 24 w 427"/>
                <a:gd name="T31" fmla="*/ 1389 h 1583"/>
                <a:gd name="T32" fmla="*/ 31 w 427"/>
                <a:gd name="T33" fmla="*/ 1456 h 1583"/>
                <a:gd name="T34" fmla="*/ 61 w 427"/>
                <a:gd name="T35" fmla="*/ 1514 h 1583"/>
                <a:gd name="T36" fmla="*/ 65 w 427"/>
                <a:gd name="T37" fmla="*/ 1583 h 1583"/>
                <a:gd name="T38" fmla="*/ 161 w 427"/>
                <a:gd name="T39" fmla="*/ 1524 h 1583"/>
                <a:gd name="T40" fmla="*/ 275 w 427"/>
                <a:gd name="T41" fmla="*/ 1509 h 1583"/>
                <a:gd name="T42" fmla="*/ 353 w 427"/>
                <a:gd name="T43" fmla="*/ 1478 h 1583"/>
                <a:gd name="T44" fmla="*/ 377 w 427"/>
                <a:gd name="T45" fmla="*/ 1434 h 1583"/>
                <a:gd name="T46" fmla="*/ 385 w 427"/>
                <a:gd name="T47" fmla="*/ 1345 h 1583"/>
                <a:gd name="T48" fmla="*/ 368 w 427"/>
                <a:gd name="T49" fmla="*/ 1230 h 1583"/>
                <a:gd name="T50" fmla="*/ 349 w 427"/>
                <a:gd name="T51" fmla="*/ 1169 h 1583"/>
                <a:gd name="T52" fmla="*/ 361 w 427"/>
                <a:gd name="T53" fmla="*/ 1095 h 1583"/>
                <a:gd name="T54" fmla="*/ 325 w 427"/>
                <a:gd name="T55" fmla="*/ 1014 h 1583"/>
                <a:gd name="T56" fmla="*/ 375 w 427"/>
                <a:gd name="T57" fmla="*/ 951 h 1583"/>
                <a:gd name="T58" fmla="*/ 338 w 427"/>
                <a:gd name="T59" fmla="*/ 860 h 1583"/>
                <a:gd name="T60" fmla="*/ 318 w 427"/>
                <a:gd name="T61" fmla="*/ 773 h 1583"/>
                <a:gd name="T62" fmla="*/ 392 w 427"/>
                <a:gd name="T63" fmla="*/ 708 h 1583"/>
                <a:gd name="T64" fmla="*/ 368 w 427"/>
                <a:gd name="T65" fmla="*/ 661 h 1583"/>
                <a:gd name="T66" fmla="*/ 368 w 427"/>
                <a:gd name="T67" fmla="*/ 581 h 1583"/>
                <a:gd name="T68" fmla="*/ 334 w 427"/>
                <a:gd name="T69" fmla="*/ 529 h 1583"/>
                <a:gd name="T70" fmla="*/ 361 w 427"/>
                <a:gd name="T71" fmla="*/ 466 h 1583"/>
                <a:gd name="T72" fmla="*/ 338 w 427"/>
                <a:gd name="T73" fmla="*/ 414 h 1583"/>
                <a:gd name="T74" fmla="*/ 338 w 427"/>
                <a:gd name="T75" fmla="*/ 370 h 1583"/>
                <a:gd name="T76" fmla="*/ 362 w 427"/>
                <a:gd name="T77" fmla="*/ 331 h 1583"/>
                <a:gd name="T78" fmla="*/ 331 w 427"/>
                <a:gd name="T79" fmla="*/ 279 h 1583"/>
                <a:gd name="T80" fmla="*/ 325 w 427"/>
                <a:gd name="T81" fmla="*/ 206 h 1583"/>
                <a:gd name="T82" fmla="*/ 407 w 427"/>
                <a:gd name="T83" fmla="*/ 112 h 1583"/>
                <a:gd name="T84" fmla="*/ 427 w 427"/>
                <a:gd name="T85" fmla="*/ 15 h 1583"/>
                <a:gd name="T86" fmla="*/ 377 w 427"/>
                <a:gd name="T87" fmla="*/ 15 h 1583"/>
                <a:gd name="T88" fmla="*/ 235 w 427"/>
                <a:gd name="T89" fmla="*/ 90 h 1583"/>
                <a:gd name="T90" fmla="*/ 117 w 427"/>
                <a:gd name="T91" fmla="*/ 135 h 1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27" h="1583">
                  <a:moveTo>
                    <a:pt x="76" y="149"/>
                  </a:moveTo>
                  <a:lnTo>
                    <a:pt x="61" y="194"/>
                  </a:lnTo>
                  <a:lnTo>
                    <a:pt x="74" y="238"/>
                  </a:lnTo>
                  <a:lnTo>
                    <a:pt x="76" y="281"/>
                  </a:lnTo>
                  <a:lnTo>
                    <a:pt x="61" y="309"/>
                  </a:lnTo>
                  <a:lnTo>
                    <a:pt x="40" y="340"/>
                  </a:lnTo>
                  <a:lnTo>
                    <a:pt x="30" y="389"/>
                  </a:lnTo>
                  <a:lnTo>
                    <a:pt x="44" y="421"/>
                  </a:lnTo>
                  <a:lnTo>
                    <a:pt x="65" y="458"/>
                  </a:lnTo>
                  <a:lnTo>
                    <a:pt x="65" y="488"/>
                  </a:lnTo>
                  <a:lnTo>
                    <a:pt x="52" y="516"/>
                  </a:lnTo>
                  <a:lnTo>
                    <a:pt x="31" y="553"/>
                  </a:lnTo>
                  <a:lnTo>
                    <a:pt x="40" y="590"/>
                  </a:lnTo>
                  <a:lnTo>
                    <a:pt x="68" y="668"/>
                  </a:lnTo>
                  <a:lnTo>
                    <a:pt x="65" y="701"/>
                  </a:lnTo>
                  <a:lnTo>
                    <a:pt x="24" y="764"/>
                  </a:lnTo>
                  <a:lnTo>
                    <a:pt x="24" y="819"/>
                  </a:lnTo>
                  <a:lnTo>
                    <a:pt x="46" y="860"/>
                  </a:lnTo>
                  <a:lnTo>
                    <a:pt x="61" y="897"/>
                  </a:lnTo>
                  <a:lnTo>
                    <a:pt x="59" y="928"/>
                  </a:lnTo>
                  <a:lnTo>
                    <a:pt x="22" y="962"/>
                  </a:lnTo>
                  <a:lnTo>
                    <a:pt x="15" y="987"/>
                  </a:lnTo>
                  <a:lnTo>
                    <a:pt x="22" y="1046"/>
                  </a:lnTo>
                  <a:lnTo>
                    <a:pt x="40" y="1110"/>
                  </a:lnTo>
                  <a:lnTo>
                    <a:pt x="40" y="1147"/>
                  </a:lnTo>
                  <a:lnTo>
                    <a:pt x="37" y="1175"/>
                  </a:lnTo>
                  <a:lnTo>
                    <a:pt x="9" y="1221"/>
                  </a:lnTo>
                  <a:lnTo>
                    <a:pt x="0" y="1257"/>
                  </a:lnTo>
                  <a:lnTo>
                    <a:pt x="3" y="1296"/>
                  </a:lnTo>
                  <a:lnTo>
                    <a:pt x="22" y="1326"/>
                  </a:lnTo>
                  <a:lnTo>
                    <a:pt x="44" y="1352"/>
                  </a:lnTo>
                  <a:lnTo>
                    <a:pt x="24" y="1389"/>
                  </a:lnTo>
                  <a:lnTo>
                    <a:pt x="15" y="1426"/>
                  </a:lnTo>
                  <a:lnTo>
                    <a:pt x="31" y="1456"/>
                  </a:lnTo>
                  <a:lnTo>
                    <a:pt x="59" y="1478"/>
                  </a:lnTo>
                  <a:lnTo>
                    <a:pt x="61" y="1514"/>
                  </a:lnTo>
                  <a:lnTo>
                    <a:pt x="61" y="1543"/>
                  </a:lnTo>
                  <a:lnTo>
                    <a:pt x="65" y="1583"/>
                  </a:lnTo>
                  <a:lnTo>
                    <a:pt x="112" y="1551"/>
                  </a:lnTo>
                  <a:lnTo>
                    <a:pt x="161" y="1524"/>
                  </a:lnTo>
                  <a:lnTo>
                    <a:pt x="206" y="1509"/>
                  </a:lnTo>
                  <a:lnTo>
                    <a:pt x="275" y="1509"/>
                  </a:lnTo>
                  <a:lnTo>
                    <a:pt x="324" y="1502"/>
                  </a:lnTo>
                  <a:lnTo>
                    <a:pt x="353" y="1478"/>
                  </a:lnTo>
                  <a:lnTo>
                    <a:pt x="405" y="1463"/>
                  </a:lnTo>
                  <a:lnTo>
                    <a:pt x="377" y="1434"/>
                  </a:lnTo>
                  <a:lnTo>
                    <a:pt x="368" y="1391"/>
                  </a:lnTo>
                  <a:lnTo>
                    <a:pt x="385" y="1345"/>
                  </a:lnTo>
                  <a:lnTo>
                    <a:pt x="383" y="1279"/>
                  </a:lnTo>
                  <a:lnTo>
                    <a:pt x="368" y="1230"/>
                  </a:lnTo>
                  <a:lnTo>
                    <a:pt x="353" y="1206"/>
                  </a:lnTo>
                  <a:lnTo>
                    <a:pt x="349" y="1169"/>
                  </a:lnTo>
                  <a:lnTo>
                    <a:pt x="368" y="1125"/>
                  </a:lnTo>
                  <a:lnTo>
                    <a:pt x="361" y="1095"/>
                  </a:lnTo>
                  <a:lnTo>
                    <a:pt x="324" y="1044"/>
                  </a:lnTo>
                  <a:lnTo>
                    <a:pt x="325" y="1014"/>
                  </a:lnTo>
                  <a:lnTo>
                    <a:pt x="340" y="987"/>
                  </a:lnTo>
                  <a:lnTo>
                    <a:pt x="375" y="951"/>
                  </a:lnTo>
                  <a:lnTo>
                    <a:pt x="362" y="921"/>
                  </a:lnTo>
                  <a:lnTo>
                    <a:pt x="338" y="860"/>
                  </a:lnTo>
                  <a:lnTo>
                    <a:pt x="318" y="819"/>
                  </a:lnTo>
                  <a:lnTo>
                    <a:pt x="318" y="773"/>
                  </a:lnTo>
                  <a:lnTo>
                    <a:pt x="385" y="750"/>
                  </a:lnTo>
                  <a:lnTo>
                    <a:pt x="392" y="708"/>
                  </a:lnTo>
                  <a:lnTo>
                    <a:pt x="385" y="683"/>
                  </a:lnTo>
                  <a:lnTo>
                    <a:pt x="368" y="661"/>
                  </a:lnTo>
                  <a:lnTo>
                    <a:pt x="370" y="624"/>
                  </a:lnTo>
                  <a:lnTo>
                    <a:pt x="368" y="581"/>
                  </a:lnTo>
                  <a:lnTo>
                    <a:pt x="349" y="559"/>
                  </a:lnTo>
                  <a:lnTo>
                    <a:pt x="334" y="529"/>
                  </a:lnTo>
                  <a:lnTo>
                    <a:pt x="346" y="500"/>
                  </a:lnTo>
                  <a:lnTo>
                    <a:pt x="361" y="466"/>
                  </a:lnTo>
                  <a:lnTo>
                    <a:pt x="361" y="443"/>
                  </a:lnTo>
                  <a:lnTo>
                    <a:pt x="338" y="414"/>
                  </a:lnTo>
                  <a:lnTo>
                    <a:pt x="331" y="389"/>
                  </a:lnTo>
                  <a:lnTo>
                    <a:pt x="338" y="370"/>
                  </a:lnTo>
                  <a:lnTo>
                    <a:pt x="361" y="355"/>
                  </a:lnTo>
                  <a:lnTo>
                    <a:pt x="362" y="331"/>
                  </a:lnTo>
                  <a:lnTo>
                    <a:pt x="355" y="315"/>
                  </a:lnTo>
                  <a:lnTo>
                    <a:pt x="331" y="279"/>
                  </a:lnTo>
                  <a:lnTo>
                    <a:pt x="324" y="238"/>
                  </a:lnTo>
                  <a:lnTo>
                    <a:pt x="325" y="206"/>
                  </a:lnTo>
                  <a:lnTo>
                    <a:pt x="349" y="176"/>
                  </a:lnTo>
                  <a:lnTo>
                    <a:pt x="407" y="112"/>
                  </a:lnTo>
                  <a:lnTo>
                    <a:pt x="427" y="58"/>
                  </a:lnTo>
                  <a:lnTo>
                    <a:pt x="427" y="15"/>
                  </a:lnTo>
                  <a:lnTo>
                    <a:pt x="407" y="0"/>
                  </a:lnTo>
                  <a:lnTo>
                    <a:pt x="377" y="15"/>
                  </a:lnTo>
                  <a:lnTo>
                    <a:pt x="303" y="61"/>
                  </a:lnTo>
                  <a:lnTo>
                    <a:pt x="235" y="90"/>
                  </a:lnTo>
                  <a:lnTo>
                    <a:pt x="164" y="120"/>
                  </a:lnTo>
                  <a:lnTo>
                    <a:pt x="117" y="135"/>
                  </a:lnTo>
                  <a:lnTo>
                    <a:pt x="76" y="149"/>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82" name="Freeform 70">
              <a:extLst>
                <a:ext uri="{FF2B5EF4-FFF2-40B4-BE49-F238E27FC236}">
                  <a16:creationId xmlns="" xmlns:a16="http://schemas.microsoft.com/office/drawing/2014/main" id="{D8C93DE4-7110-47A8-8717-0CB9B12D25CF}"/>
                </a:ext>
              </a:extLst>
            </p:cNvPr>
            <p:cNvSpPr>
              <a:spLocks/>
            </p:cNvSpPr>
            <p:nvPr/>
          </p:nvSpPr>
          <p:spPr bwMode="auto">
            <a:xfrm>
              <a:off x="310" y="2475"/>
              <a:ext cx="381" cy="809"/>
            </a:xfrm>
            <a:custGeom>
              <a:avLst/>
              <a:gdLst>
                <a:gd name="T0" fmla="*/ 498 w 761"/>
                <a:gd name="T1" fmla="*/ 1521 h 1619"/>
                <a:gd name="T2" fmla="*/ 351 w 761"/>
                <a:gd name="T3" fmla="*/ 1573 h 1619"/>
                <a:gd name="T4" fmla="*/ 61 w 761"/>
                <a:gd name="T5" fmla="*/ 1310 h 1619"/>
                <a:gd name="T6" fmla="*/ 46 w 761"/>
                <a:gd name="T7" fmla="*/ 1354 h 1619"/>
                <a:gd name="T8" fmla="*/ 361 w 761"/>
                <a:gd name="T9" fmla="*/ 1619 h 1619"/>
                <a:gd name="T10" fmla="*/ 513 w 761"/>
                <a:gd name="T11" fmla="*/ 1538 h 1619"/>
                <a:gd name="T12" fmla="*/ 720 w 761"/>
                <a:gd name="T13" fmla="*/ 1470 h 1619"/>
                <a:gd name="T14" fmla="*/ 711 w 761"/>
                <a:gd name="T15" fmla="*/ 1354 h 1619"/>
                <a:gd name="T16" fmla="*/ 668 w 761"/>
                <a:gd name="T17" fmla="*/ 1227 h 1619"/>
                <a:gd name="T18" fmla="*/ 689 w 761"/>
                <a:gd name="T19" fmla="*/ 1124 h 1619"/>
                <a:gd name="T20" fmla="*/ 644 w 761"/>
                <a:gd name="T21" fmla="*/ 1024 h 1619"/>
                <a:gd name="T22" fmla="*/ 667 w 761"/>
                <a:gd name="T23" fmla="*/ 907 h 1619"/>
                <a:gd name="T24" fmla="*/ 683 w 761"/>
                <a:gd name="T25" fmla="*/ 789 h 1619"/>
                <a:gd name="T26" fmla="*/ 689 w 761"/>
                <a:gd name="T27" fmla="*/ 642 h 1619"/>
                <a:gd name="T28" fmla="*/ 659 w 761"/>
                <a:gd name="T29" fmla="*/ 517 h 1619"/>
                <a:gd name="T30" fmla="*/ 644 w 761"/>
                <a:gd name="T31" fmla="*/ 419 h 1619"/>
                <a:gd name="T32" fmla="*/ 681 w 761"/>
                <a:gd name="T33" fmla="*/ 334 h 1619"/>
                <a:gd name="T34" fmla="*/ 662 w 761"/>
                <a:gd name="T35" fmla="*/ 192 h 1619"/>
                <a:gd name="T36" fmla="*/ 755 w 761"/>
                <a:gd name="T37" fmla="*/ 17 h 1619"/>
                <a:gd name="T38" fmla="*/ 714 w 761"/>
                <a:gd name="T39" fmla="*/ 54 h 1619"/>
                <a:gd name="T40" fmla="*/ 618 w 761"/>
                <a:gd name="T41" fmla="*/ 214 h 1619"/>
                <a:gd name="T42" fmla="*/ 478 w 761"/>
                <a:gd name="T43" fmla="*/ 345 h 1619"/>
                <a:gd name="T44" fmla="*/ 622 w 761"/>
                <a:gd name="T45" fmla="*/ 297 h 1619"/>
                <a:gd name="T46" fmla="*/ 610 w 761"/>
                <a:gd name="T47" fmla="*/ 390 h 1619"/>
                <a:gd name="T48" fmla="*/ 541 w 761"/>
                <a:gd name="T49" fmla="*/ 487 h 1619"/>
                <a:gd name="T50" fmla="*/ 640 w 761"/>
                <a:gd name="T51" fmla="*/ 465 h 1619"/>
                <a:gd name="T52" fmla="*/ 615 w 761"/>
                <a:gd name="T53" fmla="*/ 539 h 1619"/>
                <a:gd name="T54" fmla="*/ 608 w 761"/>
                <a:gd name="T55" fmla="*/ 620 h 1619"/>
                <a:gd name="T56" fmla="*/ 463 w 761"/>
                <a:gd name="T57" fmla="*/ 728 h 1619"/>
                <a:gd name="T58" fmla="*/ 625 w 761"/>
                <a:gd name="T59" fmla="*/ 654 h 1619"/>
                <a:gd name="T60" fmla="*/ 683 w 761"/>
                <a:gd name="T61" fmla="*/ 728 h 1619"/>
                <a:gd name="T62" fmla="*/ 585 w 761"/>
                <a:gd name="T63" fmla="*/ 796 h 1619"/>
                <a:gd name="T64" fmla="*/ 405 w 761"/>
                <a:gd name="T65" fmla="*/ 885 h 1619"/>
                <a:gd name="T66" fmla="*/ 610 w 761"/>
                <a:gd name="T67" fmla="*/ 848 h 1619"/>
                <a:gd name="T68" fmla="*/ 652 w 761"/>
                <a:gd name="T69" fmla="*/ 985 h 1619"/>
                <a:gd name="T70" fmla="*/ 409 w 761"/>
                <a:gd name="T71" fmla="*/ 1050 h 1619"/>
                <a:gd name="T72" fmla="*/ 541 w 761"/>
                <a:gd name="T73" fmla="*/ 1046 h 1619"/>
                <a:gd name="T74" fmla="*/ 625 w 761"/>
                <a:gd name="T75" fmla="*/ 1087 h 1619"/>
                <a:gd name="T76" fmla="*/ 622 w 761"/>
                <a:gd name="T77" fmla="*/ 1168 h 1619"/>
                <a:gd name="T78" fmla="*/ 389 w 761"/>
                <a:gd name="T79" fmla="*/ 1214 h 1619"/>
                <a:gd name="T80" fmla="*/ 504 w 761"/>
                <a:gd name="T81" fmla="*/ 1214 h 1619"/>
                <a:gd name="T82" fmla="*/ 637 w 761"/>
                <a:gd name="T83" fmla="*/ 1193 h 1619"/>
                <a:gd name="T84" fmla="*/ 522 w 761"/>
                <a:gd name="T85" fmla="*/ 1303 h 1619"/>
                <a:gd name="T86" fmla="*/ 389 w 761"/>
                <a:gd name="T87" fmla="*/ 1366 h 1619"/>
                <a:gd name="T88" fmla="*/ 556 w 761"/>
                <a:gd name="T89" fmla="*/ 1307 h 1619"/>
                <a:gd name="T90" fmla="*/ 655 w 761"/>
                <a:gd name="T91" fmla="*/ 1285 h 1619"/>
                <a:gd name="T92" fmla="*/ 652 w 761"/>
                <a:gd name="T93" fmla="*/ 1381 h 1619"/>
                <a:gd name="T94" fmla="*/ 667 w 761"/>
                <a:gd name="T95" fmla="*/ 1462 h 1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61" h="1619">
                  <a:moveTo>
                    <a:pt x="647" y="1465"/>
                  </a:moveTo>
                  <a:lnTo>
                    <a:pt x="615" y="1502"/>
                  </a:lnTo>
                  <a:lnTo>
                    <a:pt x="563" y="1514"/>
                  </a:lnTo>
                  <a:lnTo>
                    <a:pt x="498" y="1521"/>
                  </a:lnTo>
                  <a:lnTo>
                    <a:pt x="426" y="1536"/>
                  </a:lnTo>
                  <a:lnTo>
                    <a:pt x="380" y="1564"/>
                  </a:lnTo>
                  <a:lnTo>
                    <a:pt x="365" y="1579"/>
                  </a:lnTo>
                  <a:lnTo>
                    <a:pt x="351" y="1573"/>
                  </a:lnTo>
                  <a:lnTo>
                    <a:pt x="265" y="1508"/>
                  </a:lnTo>
                  <a:lnTo>
                    <a:pt x="154" y="1421"/>
                  </a:lnTo>
                  <a:lnTo>
                    <a:pt x="117" y="1366"/>
                  </a:lnTo>
                  <a:lnTo>
                    <a:pt x="61" y="1310"/>
                  </a:lnTo>
                  <a:lnTo>
                    <a:pt x="45" y="1266"/>
                  </a:lnTo>
                  <a:lnTo>
                    <a:pt x="0" y="1260"/>
                  </a:lnTo>
                  <a:lnTo>
                    <a:pt x="23" y="1307"/>
                  </a:lnTo>
                  <a:lnTo>
                    <a:pt x="46" y="1354"/>
                  </a:lnTo>
                  <a:lnTo>
                    <a:pt x="117" y="1406"/>
                  </a:lnTo>
                  <a:lnTo>
                    <a:pt x="167" y="1470"/>
                  </a:lnTo>
                  <a:lnTo>
                    <a:pt x="287" y="1545"/>
                  </a:lnTo>
                  <a:lnTo>
                    <a:pt x="361" y="1619"/>
                  </a:lnTo>
                  <a:lnTo>
                    <a:pt x="389" y="1612"/>
                  </a:lnTo>
                  <a:lnTo>
                    <a:pt x="420" y="1575"/>
                  </a:lnTo>
                  <a:lnTo>
                    <a:pt x="461" y="1553"/>
                  </a:lnTo>
                  <a:lnTo>
                    <a:pt x="513" y="1538"/>
                  </a:lnTo>
                  <a:lnTo>
                    <a:pt x="622" y="1529"/>
                  </a:lnTo>
                  <a:lnTo>
                    <a:pt x="655" y="1508"/>
                  </a:lnTo>
                  <a:lnTo>
                    <a:pt x="711" y="1495"/>
                  </a:lnTo>
                  <a:lnTo>
                    <a:pt x="720" y="1470"/>
                  </a:lnTo>
                  <a:lnTo>
                    <a:pt x="703" y="1440"/>
                  </a:lnTo>
                  <a:lnTo>
                    <a:pt x="683" y="1411"/>
                  </a:lnTo>
                  <a:lnTo>
                    <a:pt x="696" y="1374"/>
                  </a:lnTo>
                  <a:lnTo>
                    <a:pt x="711" y="1354"/>
                  </a:lnTo>
                  <a:lnTo>
                    <a:pt x="711" y="1322"/>
                  </a:lnTo>
                  <a:lnTo>
                    <a:pt x="696" y="1273"/>
                  </a:lnTo>
                  <a:lnTo>
                    <a:pt x="689" y="1249"/>
                  </a:lnTo>
                  <a:lnTo>
                    <a:pt x="668" y="1227"/>
                  </a:lnTo>
                  <a:lnTo>
                    <a:pt x="659" y="1201"/>
                  </a:lnTo>
                  <a:lnTo>
                    <a:pt x="668" y="1176"/>
                  </a:lnTo>
                  <a:lnTo>
                    <a:pt x="690" y="1156"/>
                  </a:lnTo>
                  <a:lnTo>
                    <a:pt x="689" y="1124"/>
                  </a:lnTo>
                  <a:lnTo>
                    <a:pt x="677" y="1102"/>
                  </a:lnTo>
                  <a:lnTo>
                    <a:pt x="652" y="1068"/>
                  </a:lnTo>
                  <a:lnTo>
                    <a:pt x="637" y="1050"/>
                  </a:lnTo>
                  <a:lnTo>
                    <a:pt x="644" y="1024"/>
                  </a:lnTo>
                  <a:lnTo>
                    <a:pt x="681" y="1002"/>
                  </a:lnTo>
                  <a:lnTo>
                    <a:pt x="696" y="972"/>
                  </a:lnTo>
                  <a:lnTo>
                    <a:pt x="690" y="948"/>
                  </a:lnTo>
                  <a:lnTo>
                    <a:pt x="667" y="907"/>
                  </a:lnTo>
                  <a:lnTo>
                    <a:pt x="640" y="855"/>
                  </a:lnTo>
                  <a:lnTo>
                    <a:pt x="630" y="818"/>
                  </a:lnTo>
                  <a:lnTo>
                    <a:pt x="644" y="803"/>
                  </a:lnTo>
                  <a:lnTo>
                    <a:pt x="683" y="789"/>
                  </a:lnTo>
                  <a:lnTo>
                    <a:pt x="705" y="774"/>
                  </a:lnTo>
                  <a:lnTo>
                    <a:pt x="711" y="728"/>
                  </a:lnTo>
                  <a:lnTo>
                    <a:pt x="683" y="676"/>
                  </a:lnTo>
                  <a:lnTo>
                    <a:pt x="689" y="642"/>
                  </a:lnTo>
                  <a:lnTo>
                    <a:pt x="699" y="610"/>
                  </a:lnTo>
                  <a:lnTo>
                    <a:pt x="674" y="573"/>
                  </a:lnTo>
                  <a:lnTo>
                    <a:pt x="652" y="539"/>
                  </a:lnTo>
                  <a:lnTo>
                    <a:pt x="659" y="517"/>
                  </a:lnTo>
                  <a:lnTo>
                    <a:pt x="674" y="495"/>
                  </a:lnTo>
                  <a:lnTo>
                    <a:pt x="674" y="458"/>
                  </a:lnTo>
                  <a:lnTo>
                    <a:pt x="659" y="437"/>
                  </a:lnTo>
                  <a:lnTo>
                    <a:pt x="644" y="419"/>
                  </a:lnTo>
                  <a:lnTo>
                    <a:pt x="647" y="391"/>
                  </a:lnTo>
                  <a:lnTo>
                    <a:pt x="674" y="378"/>
                  </a:lnTo>
                  <a:lnTo>
                    <a:pt x="689" y="363"/>
                  </a:lnTo>
                  <a:lnTo>
                    <a:pt x="681" y="334"/>
                  </a:lnTo>
                  <a:lnTo>
                    <a:pt x="652" y="297"/>
                  </a:lnTo>
                  <a:lnTo>
                    <a:pt x="640" y="264"/>
                  </a:lnTo>
                  <a:lnTo>
                    <a:pt x="637" y="227"/>
                  </a:lnTo>
                  <a:lnTo>
                    <a:pt x="662" y="192"/>
                  </a:lnTo>
                  <a:lnTo>
                    <a:pt x="714" y="134"/>
                  </a:lnTo>
                  <a:lnTo>
                    <a:pt x="740" y="91"/>
                  </a:lnTo>
                  <a:lnTo>
                    <a:pt x="761" y="54"/>
                  </a:lnTo>
                  <a:lnTo>
                    <a:pt x="755" y="17"/>
                  </a:lnTo>
                  <a:lnTo>
                    <a:pt x="735" y="0"/>
                  </a:lnTo>
                  <a:lnTo>
                    <a:pt x="720" y="3"/>
                  </a:lnTo>
                  <a:lnTo>
                    <a:pt x="696" y="32"/>
                  </a:lnTo>
                  <a:lnTo>
                    <a:pt x="714" y="54"/>
                  </a:lnTo>
                  <a:lnTo>
                    <a:pt x="711" y="91"/>
                  </a:lnTo>
                  <a:lnTo>
                    <a:pt x="677" y="155"/>
                  </a:lnTo>
                  <a:lnTo>
                    <a:pt x="632" y="192"/>
                  </a:lnTo>
                  <a:lnTo>
                    <a:pt x="618" y="214"/>
                  </a:lnTo>
                  <a:lnTo>
                    <a:pt x="608" y="242"/>
                  </a:lnTo>
                  <a:lnTo>
                    <a:pt x="603" y="260"/>
                  </a:lnTo>
                  <a:lnTo>
                    <a:pt x="537" y="311"/>
                  </a:lnTo>
                  <a:lnTo>
                    <a:pt x="478" y="345"/>
                  </a:lnTo>
                  <a:lnTo>
                    <a:pt x="470" y="370"/>
                  </a:lnTo>
                  <a:lnTo>
                    <a:pt x="491" y="375"/>
                  </a:lnTo>
                  <a:lnTo>
                    <a:pt x="578" y="311"/>
                  </a:lnTo>
                  <a:lnTo>
                    <a:pt x="622" y="297"/>
                  </a:lnTo>
                  <a:lnTo>
                    <a:pt x="644" y="338"/>
                  </a:lnTo>
                  <a:lnTo>
                    <a:pt x="652" y="356"/>
                  </a:lnTo>
                  <a:lnTo>
                    <a:pt x="630" y="375"/>
                  </a:lnTo>
                  <a:lnTo>
                    <a:pt x="610" y="390"/>
                  </a:lnTo>
                  <a:lnTo>
                    <a:pt x="608" y="415"/>
                  </a:lnTo>
                  <a:lnTo>
                    <a:pt x="615" y="441"/>
                  </a:lnTo>
                  <a:lnTo>
                    <a:pt x="596" y="462"/>
                  </a:lnTo>
                  <a:lnTo>
                    <a:pt x="541" y="487"/>
                  </a:lnTo>
                  <a:lnTo>
                    <a:pt x="461" y="521"/>
                  </a:lnTo>
                  <a:lnTo>
                    <a:pt x="491" y="532"/>
                  </a:lnTo>
                  <a:lnTo>
                    <a:pt x="573" y="499"/>
                  </a:lnTo>
                  <a:lnTo>
                    <a:pt x="640" y="465"/>
                  </a:lnTo>
                  <a:lnTo>
                    <a:pt x="652" y="473"/>
                  </a:lnTo>
                  <a:lnTo>
                    <a:pt x="644" y="495"/>
                  </a:lnTo>
                  <a:lnTo>
                    <a:pt x="622" y="517"/>
                  </a:lnTo>
                  <a:lnTo>
                    <a:pt x="615" y="539"/>
                  </a:lnTo>
                  <a:lnTo>
                    <a:pt x="625" y="568"/>
                  </a:lnTo>
                  <a:lnTo>
                    <a:pt x="652" y="591"/>
                  </a:lnTo>
                  <a:lnTo>
                    <a:pt x="652" y="610"/>
                  </a:lnTo>
                  <a:lnTo>
                    <a:pt x="608" y="620"/>
                  </a:lnTo>
                  <a:lnTo>
                    <a:pt x="571" y="669"/>
                  </a:lnTo>
                  <a:lnTo>
                    <a:pt x="526" y="698"/>
                  </a:lnTo>
                  <a:lnTo>
                    <a:pt x="467" y="713"/>
                  </a:lnTo>
                  <a:lnTo>
                    <a:pt x="463" y="728"/>
                  </a:lnTo>
                  <a:lnTo>
                    <a:pt x="500" y="722"/>
                  </a:lnTo>
                  <a:lnTo>
                    <a:pt x="578" y="698"/>
                  </a:lnTo>
                  <a:lnTo>
                    <a:pt x="608" y="676"/>
                  </a:lnTo>
                  <a:lnTo>
                    <a:pt x="625" y="654"/>
                  </a:lnTo>
                  <a:lnTo>
                    <a:pt x="652" y="650"/>
                  </a:lnTo>
                  <a:lnTo>
                    <a:pt x="652" y="676"/>
                  </a:lnTo>
                  <a:lnTo>
                    <a:pt x="668" y="700"/>
                  </a:lnTo>
                  <a:lnTo>
                    <a:pt x="683" y="728"/>
                  </a:lnTo>
                  <a:lnTo>
                    <a:pt x="674" y="750"/>
                  </a:lnTo>
                  <a:lnTo>
                    <a:pt x="640" y="765"/>
                  </a:lnTo>
                  <a:lnTo>
                    <a:pt x="608" y="774"/>
                  </a:lnTo>
                  <a:lnTo>
                    <a:pt x="585" y="796"/>
                  </a:lnTo>
                  <a:lnTo>
                    <a:pt x="485" y="826"/>
                  </a:lnTo>
                  <a:lnTo>
                    <a:pt x="411" y="852"/>
                  </a:lnTo>
                  <a:lnTo>
                    <a:pt x="383" y="867"/>
                  </a:lnTo>
                  <a:lnTo>
                    <a:pt x="405" y="885"/>
                  </a:lnTo>
                  <a:lnTo>
                    <a:pt x="448" y="874"/>
                  </a:lnTo>
                  <a:lnTo>
                    <a:pt x="537" y="840"/>
                  </a:lnTo>
                  <a:lnTo>
                    <a:pt x="596" y="823"/>
                  </a:lnTo>
                  <a:lnTo>
                    <a:pt x="610" y="848"/>
                  </a:lnTo>
                  <a:lnTo>
                    <a:pt x="625" y="892"/>
                  </a:lnTo>
                  <a:lnTo>
                    <a:pt x="652" y="929"/>
                  </a:lnTo>
                  <a:lnTo>
                    <a:pt x="655" y="957"/>
                  </a:lnTo>
                  <a:lnTo>
                    <a:pt x="652" y="985"/>
                  </a:lnTo>
                  <a:lnTo>
                    <a:pt x="622" y="994"/>
                  </a:lnTo>
                  <a:lnTo>
                    <a:pt x="571" y="1007"/>
                  </a:lnTo>
                  <a:lnTo>
                    <a:pt x="504" y="1037"/>
                  </a:lnTo>
                  <a:lnTo>
                    <a:pt x="409" y="1050"/>
                  </a:lnTo>
                  <a:lnTo>
                    <a:pt x="373" y="1068"/>
                  </a:lnTo>
                  <a:lnTo>
                    <a:pt x="398" y="1080"/>
                  </a:lnTo>
                  <a:lnTo>
                    <a:pt x="482" y="1068"/>
                  </a:lnTo>
                  <a:lnTo>
                    <a:pt x="541" y="1046"/>
                  </a:lnTo>
                  <a:lnTo>
                    <a:pt x="581" y="1031"/>
                  </a:lnTo>
                  <a:lnTo>
                    <a:pt x="615" y="1024"/>
                  </a:lnTo>
                  <a:lnTo>
                    <a:pt x="610" y="1050"/>
                  </a:lnTo>
                  <a:lnTo>
                    <a:pt x="625" y="1087"/>
                  </a:lnTo>
                  <a:lnTo>
                    <a:pt x="647" y="1109"/>
                  </a:lnTo>
                  <a:lnTo>
                    <a:pt x="652" y="1134"/>
                  </a:lnTo>
                  <a:lnTo>
                    <a:pt x="652" y="1156"/>
                  </a:lnTo>
                  <a:lnTo>
                    <a:pt x="622" y="1168"/>
                  </a:lnTo>
                  <a:lnTo>
                    <a:pt x="566" y="1171"/>
                  </a:lnTo>
                  <a:lnTo>
                    <a:pt x="526" y="1183"/>
                  </a:lnTo>
                  <a:lnTo>
                    <a:pt x="439" y="1213"/>
                  </a:lnTo>
                  <a:lnTo>
                    <a:pt x="389" y="1214"/>
                  </a:lnTo>
                  <a:lnTo>
                    <a:pt x="373" y="1236"/>
                  </a:lnTo>
                  <a:lnTo>
                    <a:pt x="395" y="1244"/>
                  </a:lnTo>
                  <a:lnTo>
                    <a:pt x="439" y="1235"/>
                  </a:lnTo>
                  <a:lnTo>
                    <a:pt x="504" y="1214"/>
                  </a:lnTo>
                  <a:lnTo>
                    <a:pt x="541" y="1201"/>
                  </a:lnTo>
                  <a:lnTo>
                    <a:pt x="588" y="1190"/>
                  </a:lnTo>
                  <a:lnTo>
                    <a:pt x="625" y="1193"/>
                  </a:lnTo>
                  <a:lnTo>
                    <a:pt x="637" y="1193"/>
                  </a:lnTo>
                  <a:lnTo>
                    <a:pt x="637" y="1227"/>
                  </a:lnTo>
                  <a:lnTo>
                    <a:pt x="647" y="1244"/>
                  </a:lnTo>
                  <a:lnTo>
                    <a:pt x="581" y="1260"/>
                  </a:lnTo>
                  <a:lnTo>
                    <a:pt x="522" y="1303"/>
                  </a:lnTo>
                  <a:lnTo>
                    <a:pt x="456" y="1325"/>
                  </a:lnTo>
                  <a:lnTo>
                    <a:pt x="411" y="1332"/>
                  </a:lnTo>
                  <a:lnTo>
                    <a:pt x="374" y="1352"/>
                  </a:lnTo>
                  <a:lnTo>
                    <a:pt x="389" y="1366"/>
                  </a:lnTo>
                  <a:lnTo>
                    <a:pt x="426" y="1354"/>
                  </a:lnTo>
                  <a:lnTo>
                    <a:pt x="467" y="1340"/>
                  </a:lnTo>
                  <a:lnTo>
                    <a:pt x="515" y="1332"/>
                  </a:lnTo>
                  <a:lnTo>
                    <a:pt x="556" y="1307"/>
                  </a:lnTo>
                  <a:lnTo>
                    <a:pt x="578" y="1285"/>
                  </a:lnTo>
                  <a:lnTo>
                    <a:pt x="608" y="1281"/>
                  </a:lnTo>
                  <a:lnTo>
                    <a:pt x="644" y="1281"/>
                  </a:lnTo>
                  <a:lnTo>
                    <a:pt x="655" y="1285"/>
                  </a:lnTo>
                  <a:lnTo>
                    <a:pt x="667" y="1310"/>
                  </a:lnTo>
                  <a:lnTo>
                    <a:pt x="674" y="1340"/>
                  </a:lnTo>
                  <a:lnTo>
                    <a:pt x="667" y="1366"/>
                  </a:lnTo>
                  <a:lnTo>
                    <a:pt x="652" y="1381"/>
                  </a:lnTo>
                  <a:lnTo>
                    <a:pt x="640" y="1418"/>
                  </a:lnTo>
                  <a:lnTo>
                    <a:pt x="652" y="1433"/>
                  </a:lnTo>
                  <a:lnTo>
                    <a:pt x="667" y="1448"/>
                  </a:lnTo>
                  <a:lnTo>
                    <a:pt x="667" y="1462"/>
                  </a:lnTo>
                  <a:lnTo>
                    <a:pt x="647" y="14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83" name="Freeform 71">
              <a:extLst>
                <a:ext uri="{FF2B5EF4-FFF2-40B4-BE49-F238E27FC236}">
                  <a16:creationId xmlns="" xmlns:a16="http://schemas.microsoft.com/office/drawing/2014/main" id="{1A8A745E-407F-43D5-A2AC-D18BA6491DC6}"/>
                </a:ext>
              </a:extLst>
            </p:cNvPr>
            <p:cNvSpPr>
              <a:spLocks/>
            </p:cNvSpPr>
            <p:nvPr/>
          </p:nvSpPr>
          <p:spPr bwMode="auto">
            <a:xfrm>
              <a:off x="512" y="3170"/>
              <a:ext cx="110" cy="36"/>
            </a:xfrm>
            <a:custGeom>
              <a:avLst/>
              <a:gdLst>
                <a:gd name="T0" fmla="*/ 0 w 222"/>
                <a:gd name="T1" fmla="*/ 57 h 72"/>
                <a:gd name="T2" fmla="*/ 89 w 222"/>
                <a:gd name="T3" fmla="*/ 54 h 72"/>
                <a:gd name="T4" fmla="*/ 123 w 222"/>
                <a:gd name="T5" fmla="*/ 35 h 72"/>
                <a:gd name="T6" fmla="*/ 152 w 222"/>
                <a:gd name="T7" fmla="*/ 13 h 72"/>
                <a:gd name="T8" fmla="*/ 207 w 222"/>
                <a:gd name="T9" fmla="*/ 0 h 72"/>
                <a:gd name="T10" fmla="*/ 222 w 222"/>
                <a:gd name="T11" fmla="*/ 13 h 72"/>
                <a:gd name="T12" fmla="*/ 198 w 222"/>
                <a:gd name="T13" fmla="*/ 20 h 72"/>
                <a:gd name="T14" fmla="*/ 160 w 222"/>
                <a:gd name="T15" fmla="*/ 41 h 72"/>
                <a:gd name="T16" fmla="*/ 140 w 222"/>
                <a:gd name="T17" fmla="*/ 54 h 72"/>
                <a:gd name="T18" fmla="*/ 104 w 222"/>
                <a:gd name="T19" fmla="*/ 64 h 72"/>
                <a:gd name="T20" fmla="*/ 49 w 222"/>
                <a:gd name="T21" fmla="*/ 69 h 72"/>
                <a:gd name="T22" fmla="*/ 6 w 222"/>
                <a:gd name="T23" fmla="*/ 72 h 72"/>
                <a:gd name="T24" fmla="*/ 0 w 222"/>
                <a:gd name="T25" fmla="*/ 5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2" h="72">
                  <a:moveTo>
                    <a:pt x="0" y="57"/>
                  </a:moveTo>
                  <a:lnTo>
                    <a:pt x="89" y="54"/>
                  </a:lnTo>
                  <a:lnTo>
                    <a:pt x="123" y="35"/>
                  </a:lnTo>
                  <a:lnTo>
                    <a:pt x="152" y="13"/>
                  </a:lnTo>
                  <a:lnTo>
                    <a:pt x="207" y="0"/>
                  </a:lnTo>
                  <a:lnTo>
                    <a:pt x="222" y="13"/>
                  </a:lnTo>
                  <a:lnTo>
                    <a:pt x="198" y="20"/>
                  </a:lnTo>
                  <a:lnTo>
                    <a:pt x="160" y="41"/>
                  </a:lnTo>
                  <a:lnTo>
                    <a:pt x="140" y="54"/>
                  </a:lnTo>
                  <a:lnTo>
                    <a:pt x="104" y="64"/>
                  </a:lnTo>
                  <a:lnTo>
                    <a:pt x="49" y="69"/>
                  </a:lnTo>
                  <a:lnTo>
                    <a:pt x="6" y="72"/>
                  </a:lnTo>
                  <a:lnTo>
                    <a:pt x="0" y="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84" name="Freeform 72">
              <a:extLst>
                <a:ext uri="{FF2B5EF4-FFF2-40B4-BE49-F238E27FC236}">
                  <a16:creationId xmlns="" xmlns:a16="http://schemas.microsoft.com/office/drawing/2014/main" id="{73BF69FA-7319-4586-A226-4FBC504469AE}"/>
                </a:ext>
              </a:extLst>
            </p:cNvPr>
            <p:cNvSpPr>
              <a:spLocks/>
            </p:cNvSpPr>
            <p:nvPr/>
          </p:nvSpPr>
          <p:spPr bwMode="auto">
            <a:xfrm>
              <a:off x="343" y="2378"/>
              <a:ext cx="320" cy="174"/>
            </a:xfrm>
            <a:custGeom>
              <a:avLst/>
              <a:gdLst>
                <a:gd name="T0" fmla="*/ 19 w 640"/>
                <a:gd name="T1" fmla="*/ 39 h 347"/>
                <a:gd name="T2" fmla="*/ 95 w 640"/>
                <a:gd name="T3" fmla="*/ 43 h 347"/>
                <a:gd name="T4" fmla="*/ 176 w 640"/>
                <a:gd name="T5" fmla="*/ 46 h 347"/>
                <a:gd name="T6" fmla="*/ 228 w 640"/>
                <a:gd name="T7" fmla="*/ 46 h 347"/>
                <a:gd name="T8" fmla="*/ 269 w 640"/>
                <a:gd name="T9" fmla="*/ 37 h 347"/>
                <a:gd name="T10" fmla="*/ 336 w 640"/>
                <a:gd name="T11" fmla="*/ 17 h 347"/>
                <a:gd name="T12" fmla="*/ 368 w 640"/>
                <a:gd name="T13" fmla="*/ 0 h 347"/>
                <a:gd name="T14" fmla="*/ 411 w 640"/>
                <a:gd name="T15" fmla="*/ 24 h 347"/>
                <a:gd name="T16" fmla="*/ 482 w 640"/>
                <a:gd name="T17" fmla="*/ 73 h 347"/>
                <a:gd name="T18" fmla="*/ 534 w 640"/>
                <a:gd name="T19" fmla="*/ 109 h 347"/>
                <a:gd name="T20" fmla="*/ 600 w 640"/>
                <a:gd name="T21" fmla="*/ 155 h 347"/>
                <a:gd name="T22" fmla="*/ 640 w 640"/>
                <a:gd name="T23" fmla="*/ 191 h 347"/>
                <a:gd name="T24" fmla="*/ 603 w 640"/>
                <a:gd name="T25" fmla="*/ 222 h 347"/>
                <a:gd name="T26" fmla="*/ 566 w 640"/>
                <a:gd name="T27" fmla="*/ 257 h 347"/>
                <a:gd name="T28" fmla="*/ 507 w 640"/>
                <a:gd name="T29" fmla="*/ 281 h 347"/>
                <a:gd name="T30" fmla="*/ 446 w 640"/>
                <a:gd name="T31" fmla="*/ 307 h 347"/>
                <a:gd name="T32" fmla="*/ 389 w 640"/>
                <a:gd name="T33" fmla="*/ 329 h 347"/>
                <a:gd name="T34" fmla="*/ 338 w 640"/>
                <a:gd name="T35" fmla="*/ 337 h 347"/>
                <a:gd name="T36" fmla="*/ 284 w 640"/>
                <a:gd name="T37" fmla="*/ 347 h 347"/>
                <a:gd name="T38" fmla="*/ 217 w 640"/>
                <a:gd name="T39" fmla="*/ 300 h 347"/>
                <a:gd name="T40" fmla="*/ 167 w 640"/>
                <a:gd name="T41" fmla="*/ 259 h 347"/>
                <a:gd name="T42" fmla="*/ 108 w 640"/>
                <a:gd name="T43" fmla="*/ 207 h 347"/>
                <a:gd name="T44" fmla="*/ 59 w 640"/>
                <a:gd name="T45" fmla="*/ 155 h 347"/>
                <a:gd name="T46" fmla="*/ 22 w 640"/>
                <a:gd name="T47" fmla="*/ 120 h 347"/>
                <a:gd name="T48" fmla="*/ 0 w 640"/>
                <a:gd name="T49" fmla="*/ 68 h 347"/>
                <a:gd name="T50" fmla="*/ 19 w 640"/>
                <a:gd name="T51" fmla="*/ 3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0" h="347">
                  <a:moveTo>
                    <a:pt x="19" y="39"/>
                  </a:moveTo>
                  <a:lnTo>
                    <a:pt x="95" y="43"/>
                  </a:lnTo>
                  <a:lnTo>
                    <a:pt x="176" y="46"/>
                  </a:lnTo>
                  <a:lnTo>
                    <a:pt x="228" y="46"/>
                  </a:lnTo>
                  <a:lnTo>
                    <a:pt x="269" y="37"/>
                  </a:lnTo>
                  <a:lnTo>
                    <a:pt x="336" y="17"/>
                  </a:lnTo>
                  <a:lnTo>
                    <a:pt x="368" y="0"/>
                  </a:lnTo>
                  <a:lnTo>
                    <a:pt x="411" y="24"/>
                  </a:lnTo>
                  <a:lnTo>
                    <a:pt x="482" y="73"/>
                  </a:lnTo>
                  <a:lnTo>
                    <a:pt x="534" y="109"/>
                  </a:lnTo>
                  <a:lnTo>
                    <a:pt x="600" y="155"/>
                  </a:lnTo>
                  <a:lnTo>
                    <a:pt x="640" y="191"/>
                  </a:lnTo>
                  <a:lnTo>
                    <a:pt x="603" y="222"/>
                  </a:lnTo>
                  <a:lnTo>
                    <a:pt x="566" y="257"/>
                  </a:lnTo>
                  <a:lnTo>
                    <a:pt x="507" y="281"/>
                  </a:lnTo>
                  <a:lnTo>
                    <a:pt x="446" y="307"/>
                  </a:lnTo>
                  <a:lnTo>
                    <a:pt x="389" y="329"/>
                  </a:lnTo>
                  <a:lnTo>
                    <a:pt x="338" y="337"/>
                  </a:lnTo>
                  <a:lnTo>
                    <a:pt x="284" y="347"/>
                  </a:lnTo>
                  <a:lnTo>
                    <a:pt x="217" y="300"/>
                  </a:lnTo>
                  <a:lnTo>
                    <a:pt x="167" y="259"/>
                  </a:lnTo>
                  <a:lnTo>
                    <a:pt x="108" y="207"/>
                  </a:lnTo>
                  <a:lnTo>
                    <a:pt x="59" y="155"/>
                  </a:lnTo>
                  <a:lnTo>
                    <a:pt x="22" y="120"/>
                  </a:lnTo>
                  <a:lnTo>
                    <a:pt x="0" y="68"/>
                  </a:lnTo>
                  <a:lnTo>
                    <a:pt x="19" y="39"/>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85" name="Freeform 73">
              <a:extLst>
                <a:ext uri="{FF2B5EF4-FFF2-40B4-BE49-F238E27FC236}">
                  <a16:creationId xmlns="" xmlns:a16="http://schemas.microsoft.com/office/drawing/2014/main" id="{1130686C-D45D-4EB1-A5AD-FB9FD27AEFDF}"/>
                </a:ext>
              </a:extLst>
            </p:cNvPr>
            <p:cNvSpPr>
              <a:spLocks/>
            </p:cNvSpPr>
            <p:nvPr/>
          </p:nvSpPr>
          <p:spPr bwMode="auto">
            <a:xfrm>
              <a:off x="335" y="2373"/>
              <a:ext cx="346" cy="202"/>
            </a:xfrm>
            <a:custGeom>
              <a:avLst/>
              <a:gdLst>
                <a:gd name="T0" fmla="*/ 339 w 692"/>
                <a:gd name="T1" fmla="*/ 346 h 404"/>
                <a:gd name="T2" fmla="*/ 449 w 692"/>
                <a:gd name="T3" fmla="*/ 315 h 404"/>
                <a:gd name="T4" fmla="*/ 538 w 692"/>
                <a:gd name="T5" fmla="*/ 277 h 404"/>
                <a:gd name="T6" fmla="*/ 602 w 692"/>
                <a:gd name="T7" fmla="*/ 232 h 404"/>
                <a:gd name="T8" fmla="*/ 627 w 692"/>
                <a:gd name="T9" fmla="*/ 206 h 404"/>
                <a:gd name="T10" fmla="*/ 535 w 692"/>
                <a:gd name="T11" fmla="*/ 123 h 404"/>
                <a:gd name="T12" fmla="*/ 461 w 692"/>
                <a:gd name="T13" fmla="*/ 78 h 404"/>
                <a:gd name="T14" fmla="*/ 390 w 692"/>
                <a:gd name="T15" fmla="*/ 34 h 404"/>
                <a:gd name="T16" fmla="*/ 376 w 692"/>
                <a:gd name="T17" fmla="*/ 34 h 404"/>
                <a:gd name="T18" fmla="*/ 331 w 692"/>
                <a:gd name="T19" fmla="*/ 49 h 404"/>
                <a:gd name="T20" fmla="*/ 272 w 692"/>
                <a:gd name="T21" fmla="*/ 65 h 404"/>
                <a:gd name="T22" fmla="*/ 167 w 692"/>
                <a:gd name="T23" fmla="*/ 74 h 404"/>
                <a:gd name="T24" fmla="*/ 65 w 692"/>
                <a:gd name="T25" fmla="*/ 71 h 404"/>
                <a:gd name="T26" fmla="*/ 37 w 692"/>
                <a:gd name="T27" fmla="*/ 74 h 404"/>
                <a:gd name="T28" fmla="*/ 37 w 692"/>
                <a:gd name="T29" fmla="*/ 93 h 404"/>
                <a:gd name="T30" fmla="*/ 59 w 692"/>
                <a:gd name="T31" fmla="*/ 123 h 404"/>
                <a:gd name="T32" fmla="*/ 102 w 692"/>
                <a:gd name="T33" fmla="*/ 176 h 404"/>
                <a:gd name="T34" fmla="*/ 155 w 692"/>
                <a:gd name="T35" fmla="*/ 220 h 404"/>
                <a:gd name="T36" fmla="*/ 221 w 692"/>
                <a:gd name="T37" fmla="*/ 284 h 404"/>
                <a:gd name="T38" fmla="*/ 285 w 692"/>
                <a:gd name="T39" fmla="*/ 331 h 404"/>
                <a:gd name="T40" fmla="*/ 324 w 692"/>
                <a:gd name="T41" fmla="*/ 358 h 404"/>
                <a:gd name="T42" fmla="*/ 337 w 692"/>
                <a:gd name="T43" fmla="*/ 387 h 404"/>
                <a:gd name="T44" fmla="*/ 322 w 692"/>
                <a:gd name="T45" fmla="*/ 404 h 404"/>
                <a:gd name="T46" fmla="*/ 300 w 692"/>
                <a:gd name="T47" fmla="*/ 395 h 404"/>
                <a:gd name="T48" fmla="*/ 236 w 692"/>
                <a:gd name="T49" fmla="*/ 336 h 404"/>
                <a:gd name="T50" fmla="*/ 155 w 692"/>
                <a:gd name="T51" fmla="*/ 269 h 404"/>
                <a:gd name="T52" fmla="*/ 96 w 692"/>
                <a:gd name="T53" fmla="*/ 220 h 404"/>
                <a:gd name="T54" fmla="*/ 56 w 692"/>
                <a:gd name="T55" fmla="*/ 176 h 404"/>
                <a:gd name="T56" fmla="*/ 22 w 692"/>
                <a:gd name="T57" fmla="*/ 130 h 404"/>
                <a:gd name="T58" fmla="*/ 7 w 692"/>
                <a:gd name="T59" fmla="*/ 99 h 404"/>
                <a:gd name="T60" fmla="*/ 0 w 692"/>
                <a:gd name="T61" fmla="*/ 65 h 404"/>
                <a:gd name="T62" fmla="*/ 10 w 692"/>
                <a:gd name="T63" fmla="*/ 43 h 404"/>
                <a:gd name="T64" fmla="*/ 35 w 692"/>
                <a:gd name="T65" fmla="*/ 34 h 404"/>
                <a:gd name="T66" fmla="*/ 78 w 692"/>
                <a:gd name="T67" fmla="*/ 37 h 404"/>
                <a:gd name="T68" fmla="*/ 162 w 692"/>
                <a:gd name="T69" fmla="*/ 49 h 404"/>
                <a:gd name="T70" fmla="*/ 233 w 692"/>
                <a:gd name="T71" fmla="*/ 49 h 404"/>
                <a:gd name="T72" fmla="*/ 285 w 692"/>
                <a:gd name="T73" fmla="*/ 34 h 404"/>
                <a:gd name="T74" fmla="*/ 344 w 692"/>
                <a:gd name="T75" fmla="*/ 22 h 404"/>
                <a:gd name="T76" fmla="*/ 368 w 692"/>
                <a:gd name="T77" fmla="*/ 0 h 404"/>
                <a:gd name="T78" fmla="*/ 396 w 692"/>
                <a:gd name="T79" fmla="*/ 0 h 404"/>
                <a:gd name="T80" fmla="*/ 457 w 692"/>
                <a:gd name="T81" fmla="*/ 37 h 404"/>
                <a:gd name="T82" fmla="*/ 523 w 692"/>
                <a:gd name="T83" fmla="*/ 87 h 404"/>
                <a:gd name="T84" fmla="*/ 594 w 692"/>
                <a:gd name="T85" fmla="*/ 132 h 404"/>
                <a:gd name="T86" fmla="*/ 633 w 692"/>
                <a:gd name="T87" fmla="*/ 161 h 404"/>
                <a:gd name="T88" fmla="*/ 675 w 692"/>
                <a:gd name="T89" fmla="*/ 188 h 404"/>
                <a:gd name="T90" fmla="*/ 692 w 692"/>
                <a:gd name="T91" fmla="*/ 198 h 404"/>
                <a:gd name="T92" fmla="*/ 683 w 692"/>
                <a:gd name="T93" fmla="*/ 218 h 404"/>
                <a:gd name="T94" fmla="*/ 653 w 692"/>
                <a:gd name="T95" fmla="*/ 235 h 404"/>
                <a:gd name="T96" fmla="*/ 618 w 692"/>
                <a:gd name="T97" fmla="*/ 265 h 404"/>
                <a:gd name="T98" fmla="*/ 587 w 692"/>
                <a:gd name="T99" fmla="*/ 277 h 404"/>
                <a:gd name="T100" fmla="*/ 528 w 692"/>
                <a:gd name="T101" fmla="*/ 302 h 404"/>
                <a:gd name="T102" fmla="*/ 486 w 692"/>
                <a:gd name="T103" fmla="*/ 321 h 404"/>
                <a:gd name="T104" fmla="*/ 439 w 692"/>
                <a:gd name="T105" fmla="*/ 350 h 404"/>
                <a:gd name="T106" fmla="*/ 390 w 692"/>
                <a:gd name="T107" fmla="*/ 358 h 404"/>
                <a:gd name="T108" fmla="*/ 352 w 692"/>
                <a:gd name="T109" fmla="*/ 361 h 404"/>
                <a:gd name="T110" fmla="*/ 339 w 692"/>
                <a:gd name="T111" fmla="*/ 346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 h="404">
                  <a:moveTo>
                    <a:pt x="339" y="346"/>
                  </a:moveTo>
                  <a:lnTo>
                    <a:pt x="449" y="315"/>
                  </a:lnTo>
                  <a:lnTo>
                    <a:pt x="538" y="277"/>
                  </a:lnTo>
                  <a:lnTo>
                    <a:pt x="602" y="232"/>
                  </a:lnTo>
                  <a:lnTo>
                    <a:pt x="627" y="206"/>
                  </a:lnTo>
                  <a:lnTo>
                    <a:pt x="535" y="123"/>
                  </a:lnTo>
                  <a:lnTo>
                    <a:pt x="461" y="78"/>
                  </a:lnTo>
                  <a:lnTo>
                    <a:pt x="390" y="34"/>
                  </a:lnTo>
                  <a:lnTo>
                    <a:pt x="376" y="34"/>
                  </a:lnTo>
                  <a:lnTo>
                    <a:pt x="331" y="49"/>
                  </a:lnTo>
                  <a:lnTo>
                    <a:pt x="272" y="65"/>
                  </a:lnTo>
                  <a:lnTo>
                    <a:pt x="167" y="74"/>
                  </a:lnTo>
                  <a:lnTo>
                    <a:pt x="65" y="71"/>
                  </a:lnTo>
                  <a:lnTo>
                    <a:pt x="37" y="74"/>
                  </a:lnTo>
                  <a:lnTo>
                    <a:pt x="37" y="93"/>
                  </a:lnTo>
                  <a:lnTo>
                    <a:pt x="59" y="123"/>
                  </a:lnTo>
                  <a:lnTo>
                    <a:pt x="102" y="176"/>
                  </a:lnTo>
                  <a:lnTo>
                    <a:pt x="155" y="220"/>
                  </a:lnTo>
                  <a:lnTo>
                    <a:pt x="221" y="284"/>
                  </a:lnTo>
                  <a:lnTo>
                    <a:pt x="285" y="331"/>
                  </a:lnTo>
                  <a:lnTo>
                    <a:pt x="324" y="358"/>
                  </a:lnTo>
                  <a:lnTo>
                    <a:pt x="337" y="387"/>
                  </a:lnTo>
                  <a:lnTo>
                    <a:pt x="322" y="404"/>
                  </a:lnTo>
                  <a:lnTo>
                    <a:pt x="300" y="395"/>
                  </a:lnTo>
                  <a:lnTo>
                    <a:pt x="236" y="336"/>
                  </a:lnTo>
                  <a:lnTo>
                    <a:pt x="155" y="269"/>
                  </a:lnTo>
                  <a:lnTo>
                    <a:pt x="96" y="220"/>
                  </a:lnTo>
                  <a:lnTo>
                    <a:pt x="56" y="176"/>
                  </a:lnTo>
                  <a:lnTo>
                    <a:pt x="22" y="130"/>
                  </a:lnTo>
                  <a:lnTo>
                    <a:pt x="7" y="99"/>
                  </a:lnTo>
                  <a:lnTo>
                    <a:pt x="0" y="65"/>
                  </a:lnTo>
                  <a:lnTo>
                    <a:pt x="10" y="43"/>
                  </a:lnTo>
                  <a:lnTo>
                    <a:pt x="35" y="34"/>
                  </a:lnTo>
                  <a:lnTo>
                    <a:pt x="78" y="37"/>
                  </a:lnTo>
                  <a:lnTo>
                    <a:pt x="162" y="49"/>
                  </a:lnTo>
                  <a:lnTo>
                    <a:pt x="233" y="49"/>
                  </a:lnTo>
                  <a:lnTo>
                    <a:pt x="285" y="34"/>
                  </a:lnTo>
                  <a:lnTo>
                    <a:pt x="344" y="22"/>
                  </a:lnTo>
                  <a:lnTo>
                    <a:pt x="368" y="0"/>
                  </a:lnTo>
                  <a:lnTo>
                    <a:pt x="396" y="0"/>
                  </a:lnTo>
                  <a:lnTo>
                    <a:pt x="457" y="37"/>
                  </a:lnTo>
                  <a:lnTo>
                    <a:pt x="523" y="87"/>
                  </a:lnTo>
                  <a:lnTo>
                    <a:pt x="594" y="132"/>
                  </a:lnTo>
                  <a:lnTo>
                    <a:pt x="633" y="161"/>
                  </a:lnTo>
                  <a:lnTo>
                    <a:pt x="675" y="188"/>
                  </a:lnTo>
                  <a:lnTo>
                    <a:pt x="692" y="198"/>
                  </a:lnTo>
                  <a:lnTo>
                    <a:pt x="683" y="218"/>
                  </a:lnTo>
                  <a:lnTo>
                    <a:pt x="653" y="235"/>
                  </a:lnTo>
                  <a:lnTo>
                    <a:pt x="618" y="265"/>
                  </a:lnTo>
                  <a:lnTo>
                    <a:pt x="587" y="277"/>
                  </a:lnTo>
                  <a:lnTo>
                    <a:pt x="528" y="302"/>
                  </a:lnTo>
                  <a:lnTo>
                    <a:pt x="486" y="321"/>
                  </a:lnTo>
                  <a:lnTo>
                    <a:pt x="439" y="350"/>
                  </a:lnTo>
                  <a:lnTo>
                    <a:pt x="390" y="358"/>
                  </a:lnTo>
                  <a:lnTo>
                    <a:pt x="352" y="361"/>
                  </a:lnTo>
                  <a:lnTo>
                    <a:pt x="339" y="3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86" name="Freeform 74">
              <a:extLst>
                <a:ext uri="{FF2B5EF4-FFF2-40B4-BE49-F238E27FC236}">
                  <a16:creationId xmlns="" xmlns:a16="http://schemas.microsoft.com/office/drawing/2014/main" id="{CC904CF5-A378-4A0A-9C2F-00B1BF9BD3B6}"/>
                </a:ext>
              </a:extLst>
            </p:cNvPr>
            <p:cNvSpPr>
              <a:spLocks/>
            </p:cNvSpPr>
            <p:nvPr/>
          </p:nvSpPr>
          <p:spPr bwMode="auto">
            <a:xfrm>
              <a:off x="531" y="2526"/>
              <a:ext cx="109" cy="70"/>
            </a:xfrm>
            <a:custGeom>
              <a:avLst/>
              <a:gdLst>
                <a:gd name="T0" fmla="*/ 185 w 219"/>
                <a:gd name="T1" fmla="*/ 16 h 139"/>
                <a:gd name="T2" fmla="*/ 139 w 219"/>
                <a:gd name="T3" fmla="*/ 53 h 139"/>
                <a:gd name="T4" fmla="*/ 96 w 219"/>
                <a:gd name="T5" fmla="*/ 87 h 139"/>
                <a:gd name="T6" fmla="*/ 35 w 219"/>
                <a:gd name="T7" fmla="*/ 109 h 139"/>
                <a:gd name="T8" fmla="*/ 0 w 219"/>
                <a:gd name="T9" fmla="*/ 120 h 139"/>
                <a:gd name="T10" fmla="*/ 28 w 219"/>
                <a:gd name="T11" fmla="*/ 139 h 139"/>
                <a:gd name="T12" fmla="*/ 72 w 219"/>
                <a:gd name="T13" fmla="*/ 133 h 139"/>
                <a:gd name="T14" fmla="*/ 140 w 219"/>
                <a:gd name="T15" fmla="*/ 87 h 139"/>
                <a:gd name="T16" fmla="*/ 219 w 219"/>
                <a:gd name="T17" fmla="*/ 0 h 139"/>
                <a:gd name="T18" fmla="*/ 185 w 219"/>
                <a:gd name="T19" fmla="*/ 16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139">
                  <a:moveTo>
                    <a:pt x="185" y="16"/>
                  </a:moveTo>
                  <a:lnTo>
                    <a:pt x="139" y="53"/>
                  </a:lnTo>
                  <a:lnTo>
                    <a:pt x="96" y="87"/>
                  </a:lnTo>
                  <a:lnTo>
                    <a:pt x="35" y="109"/>
                  </a:lnTo>
                  <a:lnTo>
                    <a:pt x="0" y="120"/>
                  </a:lnTo>
                  <a:lnTo>
                    <a:pt x="28" y="139"/>
                  </a:lnTo>
                  <a:lnTo>
                    <a:pt x="72" y="133"/>
                  </a:lnTo>
                  <a:lnTo>
                    <a:pt x="140" y="87"/>
                  </a:lnTo>
                  <a:lnTo>
                    <a:pt x="219" y="0"/>
                  </a:lnTo>
                  <a:lnTo>
                    <a:pt x="185"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88587" name="Group 75">
            <a:extLst>
              <a:ext uri="{FF2B5EF4-FFF2-40B4-BE49-F238E27FC236}">
                <a16:creationId xmlns="" xmlns:a16="http://schemas.microsoft.com/office/drawing/2014/main" id="{3004E8F4-9A33-470D-9F46-9BCF9C6CEF9C}"/>
              </a:ext>
            </a:extLst>
          </p:cNvPr>
          <p:cNvGrpSpPr>
            <a:grpSpLocks/>
          </p:cNvGrpSpPr>
          <p:nvPr/>
        </p:nvGrpSpPr>
        <p:grpSpPr bwMode="auto">
          <a:xfrm>
            <a:off x="1245262" y="3614101"/>
            <a:ext cx="639762" cy="1446212"/>
            <a:chOff x="427" y="2507"/>
            <a:chExt cx="403" cy="911"/>
          </a:xfrm>
        </p:grpSpPr>
        <p:sp>
          <p:nvSpPr>
            <p:cNvPr id="1088588" name="Freeform 76">
              <a:extLst>
                <a:ext uri="{FF2B5EF4-FFF2-40B4-BE49-F238E27FC236}">
                  <a16:creationId xmlns="" xmlns:a16="http://schemas.microsoft.com/office/drawing/2014/main" id="{65E2AB24-495C-4EF2-94E5-B06F5A1AB26C}"/>
                </a:ext>
              </a:extLst>
            </p:cNvPr>
            <p:cNvSpPr>
              <a:spLocks/>
            </p:cNvSpPr>
            <p:nvPr/>
          </p:nvSpPr>
          <p:spPr bwMode="auto">
            <a:xfrm>
              <a:off x="435" y="2547"/>
              <a:ext cx="212" cy="859"/>
            </a:xfrm>
            <a:custGeom>
              <a:avLst/>
              <a:gdLst>
                <a:gd name="T0" fmla="*/ 417 w 424"/>
                <a:gd name="T1" fmla="*/ 309 h 1717"/>
                <a:gd name="T2" fmla="*/ 424 w 424"/>
                <a:gd name="T3" fmla="*/ 372 h 1717"/>
                <a:gd name="T4" fmla="*/ 424 w 424"/>
                <a:gd name="T5" fmla="*/ 713 h 1717"/>
                <a:gd name="T6" fmla="*/ 394 w 424"/>
                <a:gd name="T7" fmla="*/ 1169 h 1717"/>
                <a:gd name="T8" fmla="*/ 397 w 424"/>
                <a:gd name="T9" fmla="*/ 1460 h 1717"/>
                <a:gd name="T10" fmla="*/ 412 w 424"/>
                <a:gd name="T11" fmla="*/ 1661 h 1717"/>
                <a:gd name="T12" fmla="*/ 397 w 424"/>
                <a:gd name="T13" fmla="*/ 1717 h 1717"/>
                <a:gd name="T14" fmla="*/ 372 w 424"/>
                <a:gd name="T15" fmla="*/ 1705 h 1717"/>
                <a:gd name="T16" fmla="*/ 228 w 424"/>
                <a:gd name="T17" fmla="*/ 1594 h 1717"/>
                <a:gd name="T18" fmla="*/ 191 w 424"/>
                <a:gd name="T19" fmla="*/ 1573 h 1717"/>
                <a:gd name="T20" fmla="*/ 170 w 424"/>
                <a:gd name="T21" fmla="*/ 1541 h 1717"/>
                <a:gd name="T22" fmla="*/ 133 w 424"/>
                <a:gd name="T23" fmla="*/ 1499 h 1717"/>
                <a:gd name="T24" fmla="*/ 83 w 424"/>
                <a:gd name="T25" fmla="*/ 1455 h 1717"/>
                <a:gd name="T26" fmla="*/ 59 w 424"/>
                <a:gd name="T27" fmla="*/ 1396 h 1717"/>
                <a:gd name="T28" fmla="*/ 0 w 424"/>
                <a:gd name="T29" fmla="*/ 1346 h 1717"/>
                <a:gd name="T30" fmla="*/ 0 w 424"/>
                <a:gd name="T31" fmla="*/ 1315 h 1717"/>
                <a:gd name="T32" fmla="*/ 31 w 424"/>
                <a:gd name="T33" fmla="*/ 1276 h 1717"/>
                <a:gd name="T34" fmla="*/ 44 w 424"/>
                <a:gd name="T35" fmla="*/ 1225 h 1717"/>
                <a:gd name="T36" fmla="*/ 37 w 424"/>
                <a:gd name="T37" fmla="*/ 1198 h 1717"/>
                <a:gd name="T38" fmla="*/ 22 w 424"/>
                <a:gd name="T39" fmla="*/ 1154 h 1717"/>
                <a:gd name="T40" fmla="*/ 16 w 424"/>
                <a:gd name="T41" fmla="*/ 1123 h 1717"/>
                <a:gd name="T42" fmla="*/ 40 w 424"/>
                <a:gd name="T43" fmla="*/ 1074 h 1717"/>
                <a:gd name="T44" fmla="*/ 40 w 424"/>
                <a:gd name="T45" fmla="*/ 1041 h 1717"/>
                <a:gd name="T46" fmla="*/ 15 w 424"/>
                <a:gd name="T47" fmla="*/ 975 h 1717"/>
                <a:gd name="T48" fmla="*/ 15 w 424"/>
                <a:gd name="T49" fmla="*/ 938 h 1717"/>
                <a:gd name="T50" fmla="*/ 29 w 424"/>
                <a:gd name="T51" fmla="*/ 909 h 1717"/>
                <a:gd name="T52" fmla="*/ 53 w 424"/>
                <a:gd name="T53" fmla="*/ 875 h 1717"/>
                <a:gd name="T54" fmla="*/ 52 w 424"/>
                <a:gd name="T55" fmla="*/ 816 h 1717"/>
                <a:gd name="T56" fmla="*/ 37 w 424"/>
                <a:gd name="T57" fmla="*/ 769 h 1717"/>
                <a:gd name="T58" fmla="*/ 52 w 424"/>
                <a:gd name="T59" fmla="*/ 713 h 1717"/>
                <a:gd name="T60" fmla="*/ 66 w 424"/>
                <a:gd name="T61" fmla="*/ 699 h 1717"/>
                <a:gd name="T62" fmla="*/ 53 w 424"/>
                <a:gd name="T63" fmla="*/ 647 h 1717"/>
                <a:gd name="T64" fmla="*/ 22 w 424"/>
                <a:gd name="T65" fmla="*/ 592 h 1717"/>
                <a:gd name="T66" fmla="*/ 15 w 424"/>
                <a:gd name="T67" fmla="*/ 557 h 1717"/>
                <a:gd name="T68" fmla="*/ 22 w 424"/>
                <a:gd name="T69" fmla="*/ 523 h 1717"/>
                <a:gd name="T70" fmla="*/ 62 w 424"/>
                <a:gd name="T71" fmla="*/ 492 h 1717"/>
                <a:gd name="T72" fmla="*/ 59 w 424"/>
                <a:gd name="T73" fmla="*/ 468 h 1717"/>
                <a:gd name="T74" fmla="*/ 16 w 424"/>
                <a:gd name="T75" fmla="*/ 390 h 1717"/>
                <a:gd name="T76" fmla="*/ 3 w 424"/>
                <a:gd name="T77" fmla="*/ 328 h 1717"/>
                <a:gd name="T78" fmla="*/ 15 w 424"/>
                <a:gd name="T79" fmla="*/ 294 h 1717"/>
                <a:gd name="T80" fmla="*/ 53 w 424"/>
                <a:gd name="T81" fmla="*/ 263 h 1717"/>
                <a:gd name="T82" fmla="*/ 44 w 424"/>
                <a:gd name="T83" fmla="*/ 235 h 1717"/>
                <a:gd name="T84" fmla="*/ 16 w 424"/>
                <a:gd name="T85" fmla="*/ 204 h 1717"/>
                <a:gd name="T86" fmla="*/ 16 w 424"/>
                <a:gd name="T87" fmla="*/ 170 h 1717"/>
                <a:gd name="T88" fmla="*/ 62 w 424"/>
                <a:gd name="T89" fmla="*/ 147 h 1717"/>
                <a:gd name="T90" fmla="*/ 81 w 424"/>
                <a:gd name="T91" fmla="*/ 122 h 1717"/>
                <a:gd name="T92" fmla="*/ 44 w 424"/>
                <a:gd name="T93" fmla="*/ 71 h 1717"/>
                <a:gd name="T94" fmla="*/ 44 w 424"/>
                <a:gd name="T95" fmla="*/ 44 h 1717"/>
                <a:gd name="T96" fmla="*/ 88 w 424"/>
                <a:gd name="T97" fmla="*/ 28 h 1717"/>
                <a:gd name="T98" fmla="*/ 90 w 424"/>
                <a:gd name="T99" fmla="*/ 0 h 1717"/>
                <a:gd name="T100" fmla="*/ 139 w 424"/>
                <a:gd name="T101" fmla="*/ 71 h 1717"/>
                <a:gd name="T102" fmla="*/ 198 w 424"/>
                <a:gd name="T103" fmla="*/ 145 h 1717"/>
                <a:gd name="T104" fmla="*/ 272 w 424"/>
                <a:gd name="T105" fmla="*/ 204 h 1717"/>
                <a:gd name="T106" fmla="*/ 331 w 424"/>
                <a:gd name="T107" fmla="*/ 250 h 1717"/>
                <a:gd name="T108" fmla="*/ 394 w 424"/>
                <a:gd name="T109" fmla="*/ 287 h 1717"/>
                <a:gd name="T110" fmla="*/ 417 w 424"/>
                <a:gd name="T111" fmla="*/ 309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4" h="1717">
                  <a:moveTo>
                    <a:pt x="417" y="309"/>
                  </a:moveTo>
                  <a:lnTo>
                    <a:pt x="424" y="372"/>
                  </a:lnTo>
                  <a:lnTo>
                    <a:pt x="424" y="713"/>
                  </a:lnTo>
                  <a:lnTo>
                    <a:pt x="394" y="1169"/>
                  </a:lnTo>
                  <a:lnTo>
                    <a:pt x="397" y="1460"/>
                  </a:lnTo>
                  <a:lnTo>
                    <a:pt x="412" y="1661"/>
                  </a:lnTo>
                  <a:lnTo>
                    <a:pt x="397" y="1717"/>
                  </a:lnTo>
                  <a:lnTo>
                    <a:pt x="372" y="1705"/>
                  </a:lnTo>
                  <a:lnTo>
                    <a:pt x="228" y="1594"/>
                  </a:lnTo>
                  <a:lnTo>
                    <a:pt x="191" y="1573"/>
                  </a:lnTo>
                  <a:lnTo>
                    <a:pt x="170" y="1541"/>
                  </a:lnTo>
                  <a:lnTo>
                    <a:pt x="133" y="1499"/>
                  </a:lnTo>
                  <a:lnTo>
                    <a:pt x="83" y="1455"/>
                  </a:lnTo>
                  <a:lnTo>
                    <a:pt x="59" y="1396"/>
                  </a:lnTo>
                  <a:lnTo>
                    <a:pt x="0" y="1346"/>
                  </a:lnTo>
                  <a:lnTo>
                    <a:pt x="0" y="1315"/>
                  </a:lnTo>
                  <a:lnTo>
                    <a:pt x="31" y="1276"/>
                  </a:lnTo>
                  <a:lnTo>
                    <a:pt x="44" y="1225"/>
                  </a:lnTo>
                  <a:lnTo>
                    <a:pt x="37" y="1198"/>
                  </a:lnTo>
                  <a:lnTo>
                    <a:pt x="22" y="1154"/>
                  </a:lnTo>
                  <a:lnTo>
                    <a:pt x="16" y="1123"/>
                  </a:lnTo>
                  <a:lnTo>
                    <a:pt x="40" y="1074"/>
                  </a:lnTo>
                  <a:lnTo>
                    <a:pt x="40" y="1041"/>
                  </a:lnTo>
                  <a:lnTo>
                    <a:pt x="15" y="975"/>
                  </a:lnTo>
                  <a:lnTo>
                    <a:pt x="15" y="938"/>
                  </a:lnTo>
                  <a:lnTo>
                    <a:pt x="29" y="909"/>
                  </a:lnTo>
                  <a:lnTo>
                    <a:pt x="53" y="875"/>
                  </a:lnTo>
                  <a:lnTo>
                    <a:pt x="52" y="816"/>
                  </a:lnTo>
                  <a:lnTo>
                    <a:pt x="37" y="769"/>
                  </a:lnTo>
                  <a:lnTo>
                    <a:pt x="52" y="713"/>
                  </a:lnTo>
                  <a:lnTo>
                    <a:pt x="66" y="699"/>
                  </a:lnTo>
                  <a:lnTo>
                    <a:pt x="53" y="647"/>
                  </a:lnTo>
                  <a:lnTo>
                    <a:pt x="22" y="592"/>
                  </a:lnTo>
                  <a:lnTo>
                    <a:pt x="15" y="557"/>
                  </a:lnTo>
                  <a:lnTo>
                    <a:pt x="22" y="523"/>
                  </a:lnTo>
                  <a:lnTo>
                    <a:pt x="62" y="492"/>
                  </a:lnTo>
                  <a:lnTo>
                    <a:pt x="59" y="468"/>
                  </a:lnTo>
                  <a:lnTo>
                    <a:pt x="16" y="390"/>
                  </a:lnTo>
                  <a:lnTo>
                    <a:pt x="3" y="328"/>
                  </a:lnTo>
                  <a:lnTo>
                    <a:pt x="15" y="294"/>
                  </a:lnTo>
                  <a:lnTo>
                    <a:pt x="53" y="263"/>
                  </a:lnTo>
                  <a:lnTo>
                    <a:pt x="44" y="235"/>
                  </a:lnTo>
                  <a:lnTo>
                    <a:pt x="16" y="204"/>
                  </a:lnTo>
                  <a:lnTo>
                    <a:pt x="16" y="170"/>
                  </a:lnTo>
                  <a:lnTo>
                    <a:pt x="62" y="147"/>
                  </a:lnTo>
                  <a:lnTo>
                    <a:pt x="81" y="122"/>
                  </a:lnTo>
                  <a:lnTo>
                    <a:pt x="44" y="71"/>
                  </a:lnTo>
                  <a:lnTo>
                    <a:pt x="44" y="44"/>
                  </a:lnTo>
                  <a:lnTo>
                    <a:pt x="88" y="28"/>
                  </a:lnTo>
                  <a:lnTo>
                    <a:pt x="90" y="0"/>
                  </a:lnTo>
                  <a:lnTo>
                    <a:pt x="139" y="71"/>
                  </a:lnTo>
                  <a:lnTo>
                    <a:pt x="198" y="145"/>
                  </a:lnTo>
                  <a:lnTo>
                    <a:pt x="272" y="204"/>
                  </a:lnTo>
                  <a:lnTo>
                    <a:pt x="331" y="250"/>
                  </a:lnTo>
                  <a:lnTo>
                    <a:pt x="394" y="287"/>
                  </a:lnTo>
                  <a:lnTo>
                    <a:pt x="417" y="309"/>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89" name="Freeform 77">
              <a:extLst>
                <a:ext uri="{FF2B5EF4-FFF2-40B4-BE49-F238E27FC236}">
                  <a16:creationId xmlns="" xmlns:a16="http://schemas.microsoft.com/office/drawing/2014/main" id="{5906DE65-4C35-44B0-80DE-DEFD3B3AFE7F}"/>
                </a:ext>
              </a:extLst>
            </p:cNvPr>
            <p:cNvSpPr>
              <a:spLocks/>
            </p:cNvSpPr>
            <p:nvPr/>
          </p:nvSpPr>
          <p:spPr bwMode="auto">
            <a:xfrm>
              <a:off x="427" y="2560"/>
              <a:ext cx="61" cy="654"/>
            </a:xfrm>
            <a:custGeom>
              <a:avLst/>
              <a:gdLst>
                <a:gd name="T0" fmla="*/ 83 w 121"/>
                <a:gd name="T1" fmla="*/ 44 h 1309"/>
                <a:gd name="T2" fmla="*/ 121 w 121"/>
                <a:gd name="T3" fmla="*/ 91 h 1309"/>
                <a:gd name="T4" fmla="*/ 98 w 121"/>
                <a:gd name="T5" fmla="*/ 127 h 1309"/>
                <a:gd name="T6" fmla="*/ 46 w 121"/>
                <a:gd name="T7" fmla="*/ 153 h 1309"/>
                <a:gd name="T8" fmla="*/ 67 w 121"/>
                <a:gd name="T9" fmla="*/ 190 h 1309"/>
                <a:gd name="T10" fmla="*/ 90 w 121"/>
                <a:gd name="T11" fmla="*/ 237 h 1309"/>
                <a:gd name="T12" fmla="*/ 61 w 121"/>
                <a:gd name="T13" fmla="*/ 267 h 1309"/>
                <a:gd name="T14" fmla="*/ 37 w 121"/>
                <a:gd name="T15" fmla="*/ 304 h 1309"/>
                <a:gd name="T16" fmla="*/ 61 w 121"/>
                <a:gd name="T17" fmla="*/ 369 h 1309"/>
                <a:gd name="T18" fmla="*/ 90 w 121"/>
                <a:gd name="T19" fmla="*/ 428 h 1309"/>
                <a:gd name="T20" fmla="*/ 83 w 121"/>
                <a:gd name="T21" fmla="*/ 480 h 1309"/>
                <a:gd name="T22" fmla="*/ 46 w 121"/>
                <a:gd name="T23" fmla="*/ 524 h 1309"/>
                <a:gd name="T24" fmla="*/ 88 w 121"/>
                <a:gd name="T25" fmla="*/ 617 h 1309"/>
                <a:gd name="T26" fmla="*/ 105 w 121"/>
                <a:gd name="T27" fmla="*/ 676 h 1309"/>
                <a:gd name="T28" fmla="*/ 73 w 121"/>
                <a:gd name="T29" fmla="*/ 719 h 1309"/>
                <a:gd name="T30" fmla="*/ 80 w 121"/>
                <a:gd name="T31" fmla="*/ 786 h 1309"/>
                <a:gd name="T32" fmla="*/ 102 w 121"/>
                <a:gd name="T33" fmla="*/ 852 h 1309"/>
                <a:gd name="T34" fmla="*/ 76 w 121"/>
                <a:gd name="T35" fmla="*/ 889 h 1309"/>
                <a:gd name="T36" fmla="*/ 39 w 121"/>
                <a:gd name="T37" fmla="*/ 933 h 1309"/>
                <a:gd name="T38" fmla="*/ 76 w 121"/>
                <a:gd name="T39" fmla="*/ 1013 h 1309"/>
                <a:gd name="T40" fmla="*/ 90 w 121"/>
                <a:gd name="T41" fmla="*/ 1068 h 1309"/>
                <a:gd name="T42" fmla="*/ 58 w 121"/>
                <a:gd name="T43" fmla="*/ 1080 h 1309"/>
                <a:gd name="T44" fmla="*/ 67 w 121"/>
                <a:gd name="T45" fmla="*/ 1168 h 1309"/>
                <a:gd name="T46" fmla="*/ 83 w 121"/>
                <a:gd name="T47" fmla="*/ 1214 h 1309"/>
                <a:gd name="T48" fmla="*/ 58 w 121"/>
                <a:gd name="T49" fmla="*/ 1266 h 1309"/>
                <a:gd name="T50" fmla="*/ 2 w 121"/>
                <a:gd name="T51" fmla="*/ 1294 h 1309"/>
                <a:gd name="T52" fmla="*/ 45 w 121"/>
                <a:gd name="T53" fmla="*/ 1205 h 1309"/>
                <a:gd name="T54" fmla="*/ 24 w 121"/>
                <a:gd name="T55" fmla="*/ 1131 h 1309"/>
                <a:gd name="T56" fmla="*/ 30 w 121"/>
                <a:gd name="T57" fmla="*/ 1068 h 1309"/>
                <a:gd name="T58" fmla="*/ 46 w 121"/>
                <a:gd name="T59" fmla="*/ 1037 h 1309"/>
                <a:gd name="T60" fmla="*/ 11 w 121"/>
                <a:gd name="T61" fmla="*/ 957 h 1309"/>
                <a:gd name="T62" fmla="*/ 11 w 121"/>
                <a:gd name="T63" fmla="*/ 877 h 1309"/>
                <a:gd name="T64" fmla="*/ 54 w 121"/>
                <a:gd name="T65" fmla="*/ 840 h 1309"/>
                <a:gd name="T66" fmla="*/ 45 w 121"/>
                <a:gd name="T67" fmla="*/ 781 h 1309"/>
                <a:gd name="T68" fmla="*/ 32 w 121"/>
                <a:gd name="T69" fmla="*/ 713 h 1309"/>
                <a:gd name="T70" fmla="*/ 67 w 121"/>
                <a:gd name="T71" fmla="*/ 669 h 1309"/>
                <a:gd name="T72" fmla="*/ 52 w 121"/>
                <a:gd name="T73" fmla="*/ 620 h 1309"/>
                <a:gd name="T74" fmla="*/ 11 w 121"/>
                <a:gd name="T75" fmla="*/ 543 h 1309"/>
                <a:gd name="T76" fmla="*/ 17 w 121"/>
                <a:gd name="T77" fmla="*/ 492 h 1309"/>
                <a:gd name="T78" fmla="*/ 54 w 121"/>
                <a:gd name="T79" fmla="*/ 450 h 1309"/>
                <a:gd name="T80" fmla="*/ 15 w 121"/>
                <a:gd name="T81" fmla="*/ 353 h 1309"/>
                <a:gd name="T82" fmla="*/ 0 w 121"/>
                <a:gd name="T83" fmla="*/ 296 h 1309"/>
                <a:gd name="T84" fmla="*/ 32 w 121"/>
                <a:gd name="T85" fmla="*/ 252 h 1309"/>
                <a:gd name="T86" fmla="*/ 46 w 121"/>
                <a:gd name="T87" fmla="*/ 223 h 1309"/>
                <a:gd name="T88" fmla="*/ 11 w 121"/>
                <a:gd name="T89" fmla="*/ 177 h 1309"/>
                <a:gd name="T90" fmla="*/ 24 w 121"/>
                <a:gd name="T91" fmla="*/ 132 h 1309"/>
                <a:gd name="T92" fmla="*/ 67 w 121"/>
                <a:gd name="T93" fmla="*/ 103 h 1309"/>
                <a:gd name="T94" fmla="*/ 68 w 121"/>
                <a:gd name="T95" fmla="*/ 69 h 1309"/>
                <a:gd name="T96" fmla="*/ 46 w 121"/>
                <a:gd name="T97" fmla="*/ 24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1" h="1309">
                  <a:moveTo>
                    <a:pt x="61" y="0"/>
                  </a:moveTo>
                  <a:lnTo>
                    <a:pt x="83" y="44"/>
                  </a:lnTo>
                  <a:lnTo>
                    <a:pt x="102" y="73"/>
                  </a:lnTo>
                  <a:lnTo>
                    <a:pt x="121" y="91"/>
                  </a:lnTo>
                  <a:lnTo>
                    <a:pt x="117" y="112"/>
                  </a:lnTo>
                  <a:lnTo>
                    <a:pt x="98" y="127"/>
                  </a:lnTo>
                  <a:lnTo>
                    <a:pt x="68" y="134"/>
                  </a:lnTo>
                  <a:lnTo>
                    <a:pt x="46" y="153"/>
                  </a:lnTo>
                  <a:lnTo>
                    <a:pt x="52" y="177"/>
                  </a:lnTo>
                  <a:lnTo>
                    <a:pt x="67" y="190"/>
                  </a:lnTo>
                  <a:lnTo>
                    <a:pt x="90" y="220"/>
                  </a:lnTo>
                  <a:lnTo>
                    <a:pt x="90" y="237"/>
                  </a:lnTo>
                  <a:lnTo>
                    <a:pt x="83" y="252"/>
                  </a:lnTo>
                  <a:lnTo>
                    <a:pt x="61" y="267"/>
                  </a:lnTo>
                  <a:lnTo>
                    <a:pt x="39" y="282"/>
                  </a:lnTo>
                  <a:lnTo>
                    <a:pt x="37" y="304"/>
                  </a:lnTo>
                  <a:lnTo>
                    <a:pt x="45" y="326"/>
                  </a:lnTo>
                  <a:lnTo>
                    <a:pt x="61" y="369"/>
                  </a:lnTo>
                  <a:lnTo>
                    <a:pt x="76" y="404"/>
                  </a:lnTo>
                  <a:lnTo>
                    <a:pt x="90" y="428"/>
                  </a:lnTo>
                  <a:lnTo>
                    <a:pt x="90" y="456"/>
                  </a:lnTo>
                  <a:lnTo>
                    <a:pt x="83" y="480"/>
                  </a:lnTo>
                  <a:lnTo>
                    <a:pt x="61" y="502"/>
                  </a:lnTo>
                  <a:lnTo>
                    <a:pt x="46" y="524"/>
                  </a:lnTo>
                  <a:lnTo>
                    <a:pt x="52" y="561"/>
                  </a:lnTo>
                  <a:lnTo>
                    <a:pt x="88" y="617"/>
                  </a:lnTo>
                  <a:lnTo>
                    <a:pt x="102" y="647"/>
                  </a:lnTo>
                  <a:lnTo>
                    <a:pt x="105" y="676"/>
                  </a:lnTo>
                  <a:lnTo>
                    <a:pt x="90" y="698"/>
                  </a:lnTo>
                  <a:lnTo>
                    <a:pt x="73" y="719"/>
                  </a:lnTo>
                  <a:lnTo>
                    <a:pt x="68" y="749"/>
                  </a:lnTo>
                  <a:lnTo>
                    <a:pt x="80" y="786"/>
                  </a:lnTo>
                  <a:lnTo>
                    <a:pt x="95" y="825"/>
                  </a:lnTo>
                  <a:lnTo>
                    <a:pt x="102" y="852"/>
                  </a:lnTo>
                  <a:lnTo>
                    <a:pt x="95" y="870"/>
                  </a:lnTo>
                  <a:lnTo>
                    <a:pt x="76" y="889"/>
                  </a:lnTo>
                  <a:lnTo>
                    <a:pt x="52" y="911"/>
                  </a:lnTo>
                  <a:lnTo>
                    <a:pt x="39" y="933"/>
                  </a:lnTo>
                  <a:lnTo>
                    <a:pt x="52" y="972"/>
                  </a:lnTo>
                  <a:lnTo>
                    <a:pt x="76" y="1013"/>
                  </a:lnTo>
                  <a:lnTo>
                    <a:pt x="88" y="1043"/>
                  </a:lnTo>
                  <a:lnTo>
                    <a:pt x="90" y="1068"/>
                  </a:lnTo>
                  <a:lnTo>
                    <a:pt x="83" y="1080"/>
                  </a:lnTo>
                  <a:lnTo>
                    <a:pt x="58" y="1080"/>
                  </a:lnTo>
                  <a:lnTo>
                    <a:pt x="52" y="1134"/>
                  </a:lnTo>
                  <a:lnTo>
                    <a:pt x="67" y="1168"/>
                  </a:lnTo>
                  <a:lnTo>
                    <a:pt x="80" y="1192"/>
                  </a:lnTo>
                  <a:lnTo>
                    <a:pt x="83" y="1214"/>
                  </a:lnTo>
                  <a:lnTo>
                    <a:pt x="83" y="1235"/>
                  </a:lnTo>
                  <a:lnTo>
                    <a:pt x="58" y="1266"/>
                  </a:lnTo>
                  <a:lnTo>
                    <a:pt x="24" y="1309"/>
                  </a:lnTo>
                  <a:lnTo>
                    <a:pt x="2" y="1294"/>
                  </a:lnTo>
                  <a:lnTo>
                    <a:pt x="11" y="1259"/>
                  </a:lnTo>
                  <a:lnTo>
                    <a:pt x="45" y="1205"/>
                  </a:lnTo>
                  <a:lnTo>
                    <a:pt x="39" y="1171"/>
                  </a:lnTo>
                  <a:lnTo>
                    <a:pt x="24" y="1131"/>
                  </a:lnTo>
                  <a:lnTo>
                    <a:pt x="15" y="1097"/>
                  </a:lnTo>
                  <a:lnTo>
                    <a:pt x="30" y="1068"/>
                  </a:lnTo>
                  <a:lnTo>
                    <a:pt x="45" y="1058"/>
                  </a:lnTo>
                  <a:lnTo>
                    <a:pt x="46" y="1037"/>
                  </a:lnTo>
                  <a:lnTo>
                    <a:pt x="30" y="994"/>
                  </a:lnTo>
                  <a:lnTo>
                    <a:pt x="11" y="957"/>
                  </a:lnTo>
                  <a:lnTo>
                    <a:pt x="0" y="920"/>
                  </a:lnTo>
                  <a:lnTo>
                    <a:pt x="11" y="877"/>
                  </a:lnTo>
                  <a:lnTo>
                    <a:pt x="45" y="860"/>
                  </a:lnTo>
                  <a:lnTo>
                    <a:pt x="54" y="840"/>
                  </a:lnTo>
                  <a:lnTo>
                    <a:pt x="52" y="811"/>
                  </a:lnTo>
                  <a:lnTo>
                    <a:pt x="45" y="781"/>
                  </a:lnTo>
                  <a:lnTo>
                    <a:pt x="32" y="743"/>
                  </a:lnTo>
                  <a:lnTo>
                    <a:pt x="32" y="713"/>
                  </a:lnTo>
                  <a:lnTo>
                    <a:pt x="46" y="693"/>
                  </a:lnTo>
                  <a:lnTo>
                    <a:pt x="67" y="669"/>
                  </a:lnTo>
                  <a:lnTo>
                    <a:pt x="67" y="654"/>
                  </a:lnTo>
                  <a:lnTo>
                    <a:pt x="52" y="620"/>
                  </a:lnTo>
                  <a:lnTo>
                    <a:pt x="23" y="576"/>
                  </a:lnTo>
                  <a:lnTo>
                    <a:pt x="11" y="543"/>
                  </a:lnTo>
                  <a:lnTo>
                    <a:pt x="11" y="517"/>
                  </a:lnTo>
                  <a:lnTo>
                    <a:pt x="17" y="492"/>
                  </a:lnTo>
                  <a:lnTo>
                    <a:pt x="37" y="472"/>
                  </a:lnTo>
                  <a:lnTo>
                    <a:pt x="54" y="450"/>
                  </a:lnTo>
                  <a:lnTo>
                    <a:pt x="54" y="434"/>
                  </a:lnTo>
                  <a:lnTo>
                    <a:pt x="15" y="353"/>
                  </a:lnTo>
                  <a:lnTo>
                    <a:pt x="8" y="323"/>
                  </a:lnTo>
                  <a:lnTo>
                    <a:pt x="0" y="296"/>
                  </a:lnTo>
                  <a:lnTo>
                    <a:pt x="15" y="271"/>
                  </a:lnTo>
                  <a:lnTo>
                    <a:pt x="32" y="252"/>
                  </a:lnTo>
                  <a:lnTo>
                    <a:pt x="46" y="237"/>
                  </a:lnTo>
                  <a:lnTo>
                    <a:pt x="46" y="223"/>
                  </a:lnTo>
                  <a:lnTo>
                    <a:pt x="32" y="200"/>
                  </a:lnTo>
                  <a:lnTo>
                    <a:pt x="11" y="177"/>
                  </a:lnTo>
                  <a:lnTo>
                    <a:pt x="11" y="153"/>
                  </a:lnTo>
                  <a:lnTo>
                    <a:pt x="24" y="132"/>
                  </a:lnTo>
                  <a:lnTo>
                    <a:pt x="46" y="112"/>
                  </a:lnTo>
                  <a:lnTo>
                    <a:pt x="67" y="103"/>
                  </a:lnTo>
                  <a:lnTo>
                    <a:pt x="76" y="88"/>
                  </a:lnTo>
                  <a:lnTo>
                    <a:pt x="68" y="69"/>
                  </a:lnTo>
                  <a:lnTo>
                    <a:pt x="54" y="47"/>
                  </a:lnTo>
                  <a:lnTo>
                    <a:pt x="46" y="24"/>
                  </a:lnTo>
                  <a:lnTo>
                    <a:pt x="6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90" name="Freeform 78">
              <a:extLst>
                <a:ext uri="{FF2B5EF4-FFF2-40B4-BE49-F238E27FC236}">
                  <a16:creationId xmlns="" xmlns:a16="http://schemas.microsoft.com/office/drawing/2014/main" id="{CAEEF839-6240-456C-BBD0-AD9A521F56B7}"/>
                </a:ext>
              </a:extLst>
            </p:cNvPr>
            <p:cNvSpPr>
              <a:spLocks/>
            </p:cNvSpPr>
            <p:nvPr/>
          </p:nvSpPr>
          <p:spPr bwMode="auto">
            <a:xfrm>
              <a:off x="592" y="2719"/>
              <a:ext cx="58" cy="529"/>
            </a:xfrm>
            <a:custGeom>
              <a:avLst/>
              <a:gdLst>
                <a:gd name="T0" fmla="*/ 103 w 116"/>
                <a:gd name="T1" fmla="*/ 30 h 1058"/>
                <a:gd name="T2" fmla="*/ 109 w 116"/>
                <a:gd name="T3" fmla="*/ 102 h 1058"/>
                <a:gd name="T4" fmla="*/ 60 w 116"/>
                <a:gd name="T5" fmla="*/ 132 h 1058"/>
                <a:gd name="T6" fmla="*/ 75 w 116"/>
                <a:gd name="T7" fmla="*/ 213 h 1058"/>
                <a:gd name="T8" fmla="*/ 97 w 116"/>
                <a:gd name="T9" fmla="*/ 291 h 1058"/>
                <a:gd name="T10" fmla="*/ 67 w 116"/>
                <a:gd name="T11" fmla="*/ 331 h 1058"/>
                <a:gd name="T12" fmla="*/ 75 w 116"/>
                <a:gd name="T13" fmla="*/ 396 h 1058"/>
                <a:gd name="T14" fmla="*/ 97 w 116"/>
                <a:gd name="T15" fmla="*/ 467 h 1058"/>
                <a:gd name="T16" fmla="*/ 82 w 116"/>
                <a:gd name="T17" fmla="*/ 519 h 1058"/>
                <a:gd name="T18" fmla="*/ 57 w 116"/>
                <a:gd name="T19" fmla="*/ 566 h 1058"/>
                <a:gd name="T20" fmla="*/ 90 w 116"/>
                <a:gd name="T21" fmla="*/ 659 h 1058"/>
                <a:gd name="T22" fmla="*/ 97 w 116"/>
                <a:gd name="T23" fmla="*/ 720 h 1058"/>
                <a:gd name="T24" fmla="*/ 42 w 116"/>
                <a:gd name="T25" fmla="*/ 764 h 1058"/>
                <a:gd name="T26" fmla="*/ 57 w 116"/>
                <a:gd name="T27" fmla="*/ 857 h 1058"/>
                <a:gd name="T28" fmla="*/ 72 w 116"/>
                <a:gd name="T29" fmla="*/ 938 h 1058"/>
                <a:gd name="T30" fmla="*/ 42 w 116"/>
                <a:gd name="T31" fmla="*/ 984 h 1058"/>
                <a:gd name="T32" fmla="*/ 27 w 116"/>
                <a:gd name="T33" fmla="*/ 1048 h 1058"/>
                <a:gd name="T34" fmla="*/ 12 w 116"/>
                <a:gd name="T35" fmla="*/ 1021 h 1058"/>
                <a:gd name="T36" fmla="*/ 42 w 116"/>
                <a:gd name="T37" fmla="*/ 947 h 1058"/>
                <a:gd name="T38" fmla="*/ 27 w 116"/>
                <a:gd name="T39" fmla="*/ 838 h 1058"/>
                <a:gd name="T40" fmla="*/ 20 w 116"/>
                <a:gd name="T41" fmla="*/ 757 h 1058"/>
                <a:gd name="T42" fmla="*/ 60 w 116"/>
                <a:gd name="T43" fmla="*/ 703 h 1058"/>
                <a:gd name="T44" fmla="*/ 27 w 116"/>
                <a:gd name="T45" fmla="*/ 625 h 1058"/>
                <a:gd name="T46" fmla="*/ 20 w 116"/>
                <a:gd name="T47" fmla="*/ 551 h 1058"/>
                <a:gd name="T48" fmla="*/ 50 w 116"/>
                <a:gd name="T49" fmla="*/ 492 h 1058"/>
                <a:gd name="T50" fmla="*/ 64 w 116"/>
                <a:gd name="T51" fmla="*/ 448 h 1058"/>
                <a:gd name="T52" fmla="*/ 35 w 116"/>
                <a:gd name="T53" fmla="*/ 374 h 1058"/>
                <a:gd name="T54" fmla="*/ 42 w 116"/>
                <a:gd name="T55" fmla="*/ 313 h 1058"/>
                <a:gd name="T56" fmla="*/ 60 w 116"/>
                <a:gd name="T57" fmla="*/ 269 h 1058"/>
                <a:gd name="T58" fmla="*/ 38 w 116"/>
                <a:gd name="T59" fmla="*/ 204 h 1058"/>
                <a:gd name="T60" fmla="*/ 30 w 116"/>
                <a:gd name="T61" fmla="*/ 130 h 1058"/>
                <a:gd name="T62" fmla="*/ 64 w 116"/>
                <a:gd name="T63" fmla="*/ 80 h 1058"/>
                <a:gd name="T64" fmla="*/ 67 w 116"/>
                <a:gd name="T65" fmla="*/ 34 h 1058"/>
                <a:gd name="T66" fmla="*/ 90 w 116"/>
                <a:gd name="T67" fmla="*/ 0 h 1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6" h="1058">
                  <a:moveTo>
                    <a:pt x="90" y="0"/>
                  </a:moveTo>
                  <a:lnTo>
                    <a:pt x="103" y="30"/>
                  </a:lnTo>
                  <a:lnTo>
                    <a:pt x="116" y="80"/>
                  </a:lnTo>
                  <a:lnTo>
                    <a:pt x="109" y="102"/>
                  </a:lnTo>
                  <a:lnTo>
                    <a:pt x="79" y="117"/>
                  </a:lnTo>
                  <a:lnTo>
                    <a:pt x="60" y="132"/>
                  </a:lnTo>
                  <a:lnTo>
                    <a:pt x="60" y="173"/>
                  </a:lnTo>
                  <a:lnTo>
                    <a:pt x="75" y="213"/>
                  </a:lnTo>
                  <a:lnTo>
                    <a:pt x="94" y="240"/>
                  </a:lnTo>
                  <a:lnTo>
                    <a:pt x="97" y="291"/>
                  </a:lnTo>
                  <a:lnTo>
                    <a:pt x="87" y="309"/>
                  </a:lnTo>
                  <a:lnTo>
                    <a:pt x="67" y="331"/>
                  </a:lnTo>
                  <a:lnTo>
                    <a:pt x="64" y="365"/>
                  </a:lnTo>
                  <a:lnTo>
                    <a:pt x="75" y="396"/>
                  </a:lnTo>
                  <a:lnTo>
                    <a:pt x="90" y="424"/>
                  </a:lnTo>
                  <a:lnTo>
                    <a:pt x="97" y="467"/>
                  </a:lnTo>
                  <a:lnTo>
                    <a:pt x="97" y="492"/>
                  </a:lnTo>
                  <a:lnTo>
                    <a:pt x="82" y="519"/>
                  </a:lnTo>
                  <a:lnTo>
                    <a:pt x="57" y="544"/>
                  </a:lnTo>
                  <a:lnTo>
                    <a:pt x="57" y="566"/>
                  </a:lnTo>
                  <a:lnTo>
                    <a:pt x="64" y="631"/>
                  </a:lnTo>
                  <a:lnTo>
                    <a:pt x="90" y="659"/>
                  </a:lnTo>
                  <a:lnTo>
                    <a:pt x="103" y="687"/>
                  </a:lnTo>
                  <a:lnTo>
                    <a:pt x="97" y="720"/>
                  </a:lnTo>
                  <a:lnTo>
                    <a:pt x="60" y="742"/>
                  </a:lnTo>
                  <a:lnTo>
                    <a:pt x="42" y="764"/>
                  </a:lnTo>
                  <a:lnTo>
                    <a:pt x="38" y="805"/>
                  </a:lnTo>
                  <a:lnTo>
                    <a:pt x="57" y="857"/>
                  </a:lnTo>
                  <a:lnTo>
                    <a:pt x="72" y="909"/>
                  </a:lnTo>
                  <a:lnTo>
                    <a:pt x="72" y="938"/>
                  </a:lnTo>
                  <a:lnTo>
                    <a:pt x="64" y="977"/>
                  </a:lnTo>
                  <a:lnTo>
                    <a:pt x="42" y="984"/>
                  </a:lnTo>
                  <a:lnTo>
                    <a:pt x="27" y="1014"/>
                  </a:lnTo>
                  <a:lnTo>
                    <a:pt x="27" y="1048"/>
                  </a:lnTo>
                  <a:lnTo>
                    <a:pt x="0" y="1058"/>
                  </a:lnTo>
                  <a:lnTo>
                    <a:pt x="12" y="1021"/>
                  </a:lnTo>
                  <a:lnTo>
                    <a:pt x="35" y="977"/>
                  </a:lnTo>
                  <a:lnTo>
                    <a:pt x="42" y="947"/>
                  </a:lnTo>
                  <a:lnTo>
                    <a:pt x="42" y="888"/>
                  </a:lnTo>
                  <a:lnTo>
                    <a:pt x="27" y="838"/>
                  </a:lnTo>
                  <a:lnTo>
                    <a:pt x="23" y="798"/>
                  </a:lnTo>
                  <a:lnTo>
                    <a:pt x="20" y="757"/>
                  </a:lnTo>
                  <a:lnTo>
                    <a:pt x="45" y="724"/>
                  </a:lnTo>
                  <a:lnTo>
                    <a:pt x="60" y="703"/>
                  </a:lnTo>
                  <a:lnTo>
                    <a:pt x="50" y="659"/>
                  </a:lnTo>
                  <a:lnTo>
                    <a:pt x="27" y="625"/>
                  </a:lnTo>
                  <a:lnTo>
                    <a:pt x="23" y="595"/>
                  </a:lnTo>
                  <a:lnTo>
                    <a:pt x="20" y="551"/>
                  </a:lnTo>
                  <a:lnTo>
                    <a:pt x="30" y="522"/>
                  </a:lnTo>
                  <a:lnTo>
                    <a:pt x="50" y="492"/>
                  </a:lnTo>
                  <a:lnTo>
                    <a:pt x="64" y="470"/>
                  </a:lnTo>
                  <a:lnTo>
                    <a:pt x="64" y="448"/>
                  </a:lnTo>
                  <a:lnTo>
                    <a:pt x="50" y="424"/>
                  </a:lnTo>
                  <a:lnTo>
                    <a:pt x="35" y="374"/>
                  </a:lnTo>
                  <a:lnTo>
                    <a:pt x="35" y="343"/>
                  </a:lnTo>
                  <a:lnTo>
                    <a:pt x="42" y="313"/>
                  </a:lnTo>
                  <a:lnTo>
                    <a:pt x="57" y="291"/>
                  </a:lnTo>
                  <a:lnTo>
                    <a:pt x="60" y="269"/>
                  </a:lnTo>
                  <a:lnTo>
                    <a:pt x="57" y="242"/>
                  </a:lnTo>
                  <a:lnTo>
                    <a:pt x="38" y="204"/>
                  </a:lnTo>
                  <a:lnTo>
                    <a:pt x="27" y="176"/>
                  </a:lnTo>
                  <a:lnTo>
                    <a:pt x="30" y="130"/>
                  </a:lnTo>
                  <a:lnTo>
                    <a:pt x="45" y="111"/>
                  </a:lnTo>
                  <a:lnTo>
                    <a:pt x="64" y="80"/>
                  </a:lnTo>
                  <a:lnTo>
                    <a:pt x="75" y="56"/>
                  </a:lnTo>
                  <a:lnTo>
                    <a:pt x="67" y="34"/>
                  </a:lnTo>
                  <a:lnTo>
                    <a:pt x="72" y="12"/>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91" name="Freeform 79">
              <a:extLst>
                <a:ext uri="{FF2B5EF4-FFF2-40B4-BE49-F238E27FC236}">
                  <a16:creationId xmlns="" xmlns:a16="http://schemas.microsoft.com/office/drawing/2014/main" id="{A44C4890-DCAF-4431-BBE2-F3CE1C2935A9}"/>
                </a:ext>
              </a:extLst>
            </p:cNvPr>
            <p:cNvSpPr>
              <a:spLocks/>
            </p:cNvSpPr>
            <p:nvPr/>
          </p:nvSpPr>
          <p:spPr bwMode="auto">
            <a:xfrm>
              <a:off x="501" y="2655"/>
              <a:ext cx="132" cy="114"/>
            </a:xfrm>
            <a:custGeom>
              <a:avLst/>
              <a:gdLst>
                <a:gd name="T0" fmla="*/ 266 w 266"/>
                <a:gd name="T1" fmla="*/ 185 h 229"/>
                <a:gd name="T2" fmla="*/ 185 w 266"/>
                <a:gd name="T3" fmla="*/ 119 h 229"/>
                <a:gd name="T4" fmla="*/ 118 w 266"/>
                <a:gd name="T5" fmla="*/ 59 h 229"/>
                <a:gd name="T6" fmla="*/ 56 w 266"/>
                <a:gd name="T7" fmla="*/ 0 h 229"/>
                <a:gd name="T8" fmla="*/ 0 w 266"/>
                <a:gd name="T9" fmla="*/ 0 h 229"/>
                <a:gd name="T10" fmla="*/ 133 w 266"/>
                <a:gd name="T11" fmla="*/ 96 h 229"/>
                <a:gd name="T12" fmla="*/ 197 w 266"/>
                <a:gd name="T13" fmla="*/ 156 h 229"/>
                <a:gd name="T14" fmla="*/ 251 w 266"/>
                <a:gd name="T15" fmla="*/ 229 h 229"/>
                <a:gd name="T16" fmla="*/ 266 w 266"/>
                <a:gd name="T17" fmla="*/ 18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6" h="229">
                  <a:moveTo>
                    <a:pt x="266" y="185"/>
                  </a:moveTo>
                  <a:lnTo>
                    <a:pt x="185" y="119"/>
                  </a:lnTo>
                  <a:lnTo>
                    <a:pt x="118" y="59"/>
                  </a:lnTo>
                  <a:lnTo>
                    <a:pt x="56" y="0"/>
                  </a:lnTo>
                  <a:lnTo>
                    <a:pt x="0" y="0"/>
                  </a:lnTo>
                  <a:lnTo>
                    <a:pt x="133" y="96"/>
                  </a:lnTo>
                  <a:lnTo>
                    <a:pt x="197" y="156"/>
                  </a:lnTo>
                  <a:lnTo>
                    <a:pt x="251" y="229"/>
                  </a:lnTo>
                  <a:lnTo>
                    <a:pt x="266" y="1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92" name="Freeform 80">
              <a:extLst>
                <a:ext uri="{FF2B5EF4-FFF2-40B4-BE49-F238E27FC236}">
                  <a16:creationId xmlns="" xmlns:a16="http://schemas.microsoft.com/office/drawing/2014/main" id="{1C3D6C04-251B-4ACA-A0C3-A4B63F5C002F}"/>
                </a:ext>
              </a:extLst>
            </p:cNvPr>
            <p:cNvSpPr>
              <a:spLocks/>
            </p:cNvSpPr>
            <p:nvPr/>
          </p:nvSpPr>
          <p:spPr bwMode="auto">
            <a:xfrm>
              <a:off x="499" y="2721"/>
              <a:ext cx="114" cy="93"/>
            </a:xfrm>
            <a:custGeom>
              <a:avLst/>
              <a:gdLst>
                <a:gd name="T0" fmla="*/ 228 w 228"/>
                <a:gd name="T1" fmla="*/ 117 h 186"/>
                <a:gd name="T2" fmla="*/ 169 w 228"/>
                <a:gd name="T3" fmla="*/ 96 h 186"/>
                <a:gd name="T4" fmla="*/ 125 w 228"/>
                <a:gd name="T5" fmla="*/ 59 h 186"/>
                <a:gd name="T6" fmla="*/ 45 w 228"/>
                <a:gd name="T7" fmla="*/ 0 h 186"/>
                <a:gd name="T8" fmla="*/ 0 w 228"/>
                <a:gd name="T9" fmla="*/ 0 h 186"/>
                <a:gd name="T10" fmla="*/ 103 w 228"/>
                <a:gd name="T11" fmla="*/ 59 h 186"/>
                <a:gd name="T12" fmla="*/ 143 w 228"/>
                <a:gd name="T13" fmla="*/ 98 h 186"/>
                <a:gd name="T14" fmla="*/ 228 w 228"/>
                <a:gd name="T15" fmla="*/ 186 h 186"/>
                <a:gd name="T16" fmla="*/ 224 w 228"/>
                <a:gd name="T17" fmla="*/ 133 h 186"/>
                <a:gd name="T18" fmla="*/ 228 w 228"/>
                <a:gd name="T1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186">
                  <a:moveTo>
                    <a:pt x="228" y="117"/>
                  </a:moveTo>
                  <a:lnTo>
                    <a:pt x="169" y="96"/>
                  </a:lnTo>
                  <a:lnTo>
                    <a:pt x="125" y="59"/>
                  </a:lnTo>
                  <a:lnTo>
                    <a:pt x="45" y="0"/>
                  </a:lnTo>
                  <a:lnTo>
                    <a:pt x="0" y="0"/>
                  </a:lnTo>
                  <a:lnTo>
                    <a:pt x="103" y="59"/>
                  </a:lnTo>
                  <a:lnTo>
                    <a:pt x="143" y="98"/>
                  </a:lnTo>
                  <a:lnTo>
                    <a:pt x="228" y="186"/>
                  </a:lnTo>
                  <a:lnTo>
                    <a:pt x="224" y="133"/>
                  </a:lnTo>
                  <a:lnTo>
                    <a:pt x="228" y="1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93" name="Freeform 81">
              <a:extLst>
                <a:ext uri="{FF2B5EF4-FFF2-40B4-BE49-F238E27FC236}">
                  <a16:creationId xmlns="" xmlns:a16="http://schemas.microsoft.com/office/drawing/2014/main" id="{0E8D4E04-3ECC-4CFE-AC5F-624BB9B8384B}"/>
                </a:ext>
              </a:extLst>
            </p:cNvPr>
            <p:cNvSpPr>
              <a:spLocks/>
            </p:cNvSpPr>
            <p:nvPr/>
          </p:nvSpPr>
          <p:spPr bwMode="auto">
            <a:xfrm>
              <a:off x="481" y="2777"/>
              <a:ext cx="136" cy="144"/>
            </a:xfrm>
            <a:custGeom>
              <a:avLst/>
              <a:gdLst>
                <a:gd name="T0" fmla="*/ 265 w 271"/>
                <a:gd name="T1" fmla="*/ 214 h 288"/>
                <a:gd name="T2" fmla="*/ 191 w 271"/>
                <a:gd name="T3" fmla="*/ 149 h 288"/>
                <a:gd name="T4" fmla="*/ 163 w 271"/>
                <a:gd name="T5" fmla="*/ 104 h 288"/>
                <a:gd name="T6" fmla="*/ 104 w 271"/>
                <a:gd name="T7" fmla="*/ 60 h 288"/>
                <a:gd name="T8" fmla="*/ 52 w 271"/>
                <a:gd name="T9" fmla="*/ 22 h 288"/>
                <a:gd name="T10" fmla="*/ 15 w 271"/>
                <a:gd name="T11" fmla="*/ 0 h 288"/>
                <a:gd name="T12" fmla="*/ 0 w 271"/>
                <a:gd name="T13" fmla="*/ 0 h 288"/>
                <a:gd name="T14" fmla="*/ 0 w 271"/>
                <a:gd name="T15" fmla="*/ 22 h 288"/>
                <a:gd name="T16" fmla="*/ 45 w 271"/>
                <a:gd name="T17" fmla="*/ 50 h 288"/>
                <a:gd name="T18" fmla="*/ 126 w 271"/>
                <a:gd name="T19" fmla="*/ 102 h 288"/>
                <a:gd name="T20" fmla="*/ 185 w 271"/>
                <a:gd name="T21" fmla="*/ 161 h 288"/>
                <a:gd name="T22" fmla="*/ 226 w 271"/>
                <a:gd name="T23" fmla="*/ 227 h 288"/>
                <a:gd name="T24" fmla="*/ 271 w 271"/>
                <a:gd name="T25" fmla="*/ 288 h 288"/>
                <a:gd name="T26" fmla="*/ 265 w 271"/>
                <a:gd name="T27" fmla="*/ 21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288">
                  <a:moveTo>
                    <a:pt x="265" y="214"/>
                  </a:moveTo>
                  <a:lnTo>
                    <a:pt x="191" y="149"/>
                  </a:lnTo>
                  <a:lnTo>
                    <a:pt x="163" y="104"/>
                  </a:lnTo>
                  <a:lnTo>
                    <a:pt x="104" y="60"/>
                  </a:lnTo>
                  <a:lnTo>
                    <a:pt x="52" y="22"/>
                  </a:lnTo>
                  <a:lnTo>
                    <a:pt x="15" y="0"/>
                  </a:lnTo>
                  <a:lnTo>
                    <a:pt x="0" y="0"/>
                  </a:lnTo>
                  <a:lnTo>
                    <a:pt x="0" y="22"/>
                  </a:lnTo>
                  <a:lnTo>
                    <a:pt x="45" y="50"/>
                  </a:lnTo>
                  <a:lnTo>
                    <a:pt x="126" y="102"/>
                  </a:lnTo>
                  <a:lnTo>
                    <a:pt x="185" y="161"/>
                  </a:lnTo>
                  <a:lnTo>
                    <a:pt x="226" y="227"/>
                  </a:lnTo>
                  <a:lnTo>
                    <a:pt x="271" y="288"/>
                  </a:lnTo>
                  <a:lnTo>
                    <a:pt x="265" y="2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94" name="Freeform 82">
              <a:extLst>
                <a:ext uri="{FF2B5EF4-FFF2-40B4-BE49-F238E27FC236}">
                  <a16:creationId xmlns="" xmlns:a16="http://schemas.microsoft.com/office/drawing/2014/main" id="{8C74AB1C-9BDA-4079-9125-2135BD26794F}"/>
                </a:ext>
              </a:extLst>
            </p:cNvPr>
            <p:cNvSpPr>
              <a:spLocks/>
            </p:cNvSpPr>
            <p:nvPr/>
          </p:nvSpPr>
          <p:spPr bwMode="auto">
            <a:xfrm>
              <a:off x="497" y="2895"/>
              <a:ext cx="103" cy="85"/>
            </a:xfrm>
            <a:custGeom>
              <a:avLst/>
              <a:gdLst>
                <a:gd name="T0" fmla="*/ 208 w 208"/>
                <a:gd name="T1" fmla="*/ 140 h 170"/>
                <a:gd name="T2" fmla="*/ 149 w 208"/>
                <a:gd name="T3" fmla="*/ 77 h 170"/>
                <a:gd name="T4" fmla="*/ 88 w 208"/>
                <a:gd name="T5" fmla="*/ 37 h 170"/>
                <a:gd name="T6" fmla="*/ 37 w 208"/>
                <a:gd name="T7" fmla="*/ 10 h 170"/>
                <a:gd name="T8" fmla="*/ 0 w 208"/>
                <a:gd name="T9" fmla="*/ 0 h 170"/>
                <a:gd name="T10" fmla="*/ 22 w 208"/>
                <a:gd name="T11" fmla="*/ 37 h 170"/>
                <a:gd name="T12" fmla="*/ 88 w 208"/>
                <a:gd name="T13" fmla="*/ 74 h 170"/>
                <a:gd name="T14" fmla="*/ 140 w 208"/>
                <a:gd name="T15" fmla="*/ 127 h 170"/>
                <a:gd name="T16" fmla="*/ 164 w 208"/>
                <a:gd name="T17" fmla="*/ 163 h 170"/>
                <a:gd name="T18" fmla="*/ 186 w 208"/>
                <a:gd name="T19" fmla="*/ 170 h 170"/>
                <a:gd name="T20" fmla="*/ 205 w 208"/>
                <a:gd name="T21" fmla="*/ 157 h 170"/>
                <a:gd name="T22" fmla="*/ 208 w 208"/>
                <a:gd name="T23" fmla="*/ 14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170">
                  <a:moveTo>
                    <a:pt x="208" y="140"/>
                  </a:moveTo>
                  <a:lnTo>
                    <a:pt x="149" y="77"/>
                  </a:lnTo>
                  <a:lnTo>
                    <a:pt x="88" y="37"/>
                  </a:lnTo>
                  <a:lnTo>
                    <a:pt x="37" y="10"/>
                  </a:lnTo>
                  <a:lnTo>
                    <a:pt x="0" y="0"/>
                  </a:lnTo>
                  <a:lnTo>
                    <a:pt x="22" y="37"/>
                  </a:lnTo>
                  <a:lnTo>
                    <a:pt x="88" y="74"/>
                  </a:lnTo>
                  <a:lnTo>
                    <a:pt x="140" y="127"/>
                  </a:lnTo>
                  <a:lnTo>
                    <a:pt x="164" y="163"/>
                  </a:lnTo>
                  <a:lnTo>
                    <a:pt x="186" y="170"/>
                  </a:lnTo>
                  <a:lnTo>
                    <a:pt x="205" y="157"/>
                  </a:lnTo>
                  <a:lnTo>
                    <a:pt x="208"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95" name="Freeform 83">
              <a:extLst>
                <a:ext uri="{FF2B5EF4-FFF2-40B4-BE49-F238E27FC236}">
                  <a16:creationId xmlns="" xmlns:a16="http://schemas.microsoft.com/office/drawing/2014/main" id="{4EFF4A5C-485A-4911-8410-8DDA6C880178}"/>
                </a:ext>
              </a:extLst>
            </p:cNvPr>
            <p:cNvSpPr>
              <a:spLocks/>
            </p:cNvSpPr>
            <p:nvPr/>
          </p:nvSpPr>
          <p:spPr bwMode="auto">
            <a:xfrm>
              <a:off x="484" y="2955"/>
              <a:ext cx="114" cy="105"/>
            </a:xfrm>
            <a:custGeom>
              <a:avLst/>
              <a:gdLst>
                <a:gd name="T0" fmla="*/ 230 w 230"/>
                <a:gd name="T1" fmla="*/ 196 h 211"/>
                <a:gd name="T2" fmla="*/ 171 w 230"/>
                <a:gd name="T3" fmla="*/ 133 h 211"/>
                <a:gd name="T4" fmla="*/ 97 w 230"/>
                <a:gd name="T5" fmla="*/ 56 h 211"/>
                <a:gd name="T6" fmla="*/ 53 w 230"/>
                <a:gd name="T7" fmla="*/ 19 h 211"/>
                <a:gd name="T8" fmla="*/ 19 w 230"/>
                <a:gd name="T9" fmla="*/ 0 h 211"/>
                <a:gd name="T10" fmla="*/ 0 w 230"/>
                <a:gd name="T11" fmla="*/ 12 h 211"/>
                <a:gd name="T12" fmla="*/ 40 w 230"/>
                <a:gd name="T13" fmla="*/ 44 h 211"/>
                <a:gd name="T14" fmla="*/ 105 w 230"/>
                <a:gd name="T15" fmla="*/ 111 h 211"/>
                <a:gd name="T16" fmla="*/ 167 w 230"/>
                <a:gd name="T17" fmla="*/ 176 h 211"/>
                <a:gd name="T18" fmla="*/ 208 w 230"/>
                <a:gd name="T19" fmla="*/ 211 h 211"/>
                <a:gd name="T20" fmla="*/ 218 w 230"/>
                <a:gd name="T21" fmla="*/ 211 h 211"/>
                <a:gd name="T22" fmla="*/ 230 w 230"/>
                <a:gd name="T23" fmla="*/ 19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0" h="211">
                  <a:moveTo>
                    <a:pt x="230" y="196"/>
                  </a:moveTo>
                  <a:lnTo>
                    <a:pt x="171" y="133"/>
                  </a:lnTo>
                  <a:lnTo>
                    <a:pt x="97" y="56"/>
                  </a:lnTo>
                  <a:lnTo>
                    <a:pt x="53" y="19"/>
                  </a:lnTo>
                  <a:lnTo>
                    <a:pt x="19" y="0"/>
                  </a:lnTo>
                  <a:lnTo>
                    <a:pt x="0" y="12"/>
                  </a:lnTo>
                  <a:lnTo>
                    <a:pt x="40" y="44"/>
                  </a:lnTo>
                  <a:lnTo>
                    <a:pt x="105" y="111"/>
                  </a:lnTo>
                  <a:lnTo>
                    <a:pt x="167" y="176"/>
                  </a:lnTo>
                  <a:lnTo>
                    <a:pt x="208" y="211"/>
                  </a:lnTo>
                  <a:lnTo>
                    <a:pt x="218" y="211"/>
                  </a:lnTo>
                  <a:lnTo>
                    <a:pt x="230" y="1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96" name="Freeform 84">
              <a:extLst>
                <a:ext uri="{FF2B5EF4-FFF2-40B4-BE49-F238E27FC236}">
                  <a16:creationId xmlns="" xmlns:a16="http://schemas.microsoft.com/office/drawing/2014/main" id="{AD10D4BB-5113-4E5F-B5C9-60BC0D35034D}"/>
                </a:ext>
              </a:extLst>
            </p:cNvPr>
            <p:cNvSpPr>
              <a:spLocks/>
            </p:cNvSpPr>
            <p:nvPr/>
          </p:nvSpPr>
          <p:spPr bwMode="auto">
            <a:xfrm>
              <a:off x="497" y="3043"/>
              <a:ext cx="81" cy="83"/>
            </a:xfrm>
            <a:custGeom>
              <a:avLst/>
              <a:gdLst>
                <a:gd name="T0" fmla="*/ 159 w 162"/>
                <a:gd name="T1" fmla="*/ 140 h 167"/>
                <a:gd name="T2" fmla="*/ 93 w 162"/>
                <a:gd name="T3" fmla="*/ 43 h 167"/>
                <a:gd name="T4" fmla="*/ 29 w 162"/>
                <a:gd name="T5" fmla="*/ 6 h 167"/>
                <a:gd name="T6" fmla="*/ 0 w 162"/>
                <a:gd name="T7" fmla="*/ 0 h 167"/>
                <a:gd name="T8" fmla="*/ 7 w 162"/>
                <a:gd name="T9" fmla="*/ 20 h 167"/>
                <a:gd name="T10" fmla="*/ 81 w 162"/>
                <a:gd name="T11" fmla="*/ 74 h 167"/>
                <a:gd name="T12" fmla="*/ 152 w 162"/>
                <a:gd name="T13" fmla="*/ 160 h 167"/>
                <a:gd name="T14" fmla="*/ 162 w 162"/>
                <a:gd name="T15" fmla="*/ 167 h 167"/>
                <a:gd name="T16" fmla="*/ 159 w 162"/>
                <a:gd name="T17" fmla="*/ 14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2" h="167">
                  <a:moveTo>
                    <a:pt x="159" y="140"/>
                  </a:moveTo>
                  <a:lnTo>
                    <a:pt x="93" y="43"/>
                  </a:lnTo>
                  <a:lnTo>
                    <a:pt x="29" y="6"/>
                  </a:lnTo>
                  <a:lnTo>
                    <a:pt x="0" y="0"/>
                  </a:lnTo>
                  <a:lnTo>
                    <a:pt x="7" y="20"/>
                  </a:lnTo>
                  <a:lnTo>
                    <a:pt x="81" y="74"/>
                  </a:lnTo>
                  <a:lnTo>
                    <a:pt x="152" y="160"/>
                  </a:lnTo>
                  <a:lnTo>
                    <a:pt x="162" y="167"/>
                  </a:lnTo>
                  <a:lnTo>
                    <a:pt x="159"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97" name="Freeform 85">
              <a:extLst>
                <a:ext uri="{FF2B5EF4-FFF2-40B4-BE49-F238E27FC236}">
                  <a16:creationId xmlns="" xmlns:a16="http://schemas.microsoft.com/office/drawing/2014/main" id="{E0655840-778E-4D5C-958A-C4DB086B2EBF}"/>
                </a:ext>
              </a:extLst>
            </p:cNvPr>
            <p:cNvSpPr>
              <a:spLocks/>
            </p:cNvSpPr>
            <p:nvPr/>
          </p:nvSpPr>
          <p:spPr bwMode="auto">
            <a:xfrm>
              <a:off x="499" y="3124"/>
              <a:ext cx="56" cy="63"/>
            </a:xfrm>
            <a:custGeom>
              <a:avLst/>
              <a:gdLst>
                <a:gd name="T0" fmla="*/ 106 w 110"/>
                <a:gd name="T1" fmla="*/ 96 h 126"/>
                <a:gd name="T2" fmla="*/ 52 w 110"/>
                <a:gd name="T3" fmla="*/ 22 h 126"/>
                <a:gd name="T4" fmla="*/ 2 w 110"/>
                <a:gd name="T5" fmla="*/ 0 h 126"/>
                <a:gd name="T6" fmla="*/ 0 w 110"/>
                <a:gd name="T7" fmla="*/ 22 h 126"/>
                <a:gd name="T8" fmla="*/ 23 w 110"/>
                <a:gd name="T9" fmla="*/ 59 h 126"/>
                <a:gd name="T10" fmla="*/ 82 w 110"/>
                <a:gd name="T11" fmla="*/ 108 h 126"/>
                <a:gd name="T12" fmla="*/ 98 w 110"/>
                <a:gd name="T13" fmla="*/ 126 h 126"/>
                <a:gd name="T14" fmla="*/ 110 w 110"/>
                <a:gd name="T15" fmla="*/ 118 h 126"/>
                <a:gd name="T16" fmla="*/ 106 w 110"/>
                <a:gd name="T17" fmla="*/ 9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126">
                  <a:moveTo>
                    <a:pt x="106" y="96"/>
                  </a:moveTo>
                  <a:lnTo>
                    <a:pt x="52" y="22"/>
                  </a:lnTo>
                  <a:lnTo>
                    <a:pt x="2" y="0"/>
                  </a:lnTo>
                  <a:lnTo>
                    <a:pt x="0" y="22"/>
                  </a:lnTo>
                  <a:lnTo>
                    <a:pt x="23" y="59"/>
                  </a:lnTo>
                  <a:lnTo>
                    <a:pt x="82" y="108"/>
                  </a:lnTo>
                  <a:lnTo>
                    <a:pt x="98" y="126"/>
                  </a:lnTo>
                  <a:lnTo>
                    <a:pt x="110" y="118"/>
                  </a:lnTo>
                  <a:lnTo>
                    <a:pt x="106"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98" name="Freeform 86">
              <a:extLst>
                <a:ext uri="{FF2B5EF4-FFF2-40B4-BE49-F238E27FC236}">
                  <a16:creationId xmlns="" xmlns:a16="http://schemas.microsoft.com/office/drawing/2014/main" id="{24F54214-42CE-4E1F-9573-364AE9A7C668}"/>
                </a:ext>
              </a:extLst>
            </p:cNvPr>
            <p:cNvSpPr>
              <a:spLocks/>
            </p:cNvSpPr>
            <p:nvPr/>
          </p:nvSpPr>
          <p:spPr bwMode="auto">
            <a:xfrm>
              <a:off x="504" y="3207"/>
              <a:ext cx="70" cy="71"/>
            </a:xfrm>
            <a:custGeom>
              <a:avLst/>
              <a:gdLst>
                <a:gd name="T0" fmla="*/ 140 w 140"/>
                <a:gd name="T1" fmla="*/ 142 h 142"/>
                <a:gd name="T2" fmla="*/ 120 w 140"/>
                <a:gd name="T3" fmla="*/ 120 h 142"/>
                <a:gd name="T4" fmla="*/ 81 w 140"/>
                <a:gd name="T5" fmla="*/ 61 h 142"/>
                <a:gd name="T6" fmla="*/ 25 w 140"/>
                <a:gd name="T7" fmla="*/ 0 h 142"/>
                <a:gd name="T8" fmla="*/ 0 w 140"/>
                <a:gd name="T9" fmla="*/ 0 h 142"/>
                <a:gd name="T10" fmla="*/ 10 w 140"/>
                <a:gd name="T11" fmla="*/ 21 h 142"/>
                <a:gd name="T12" fmla="*/ 53 w 140"/>
                <a:gd name="T13" fmla="*/ 80 h 142"/>
                <a:gd name="T14" fmla="*/ 97 w 140"/>
                <a:gd name="T15" fmla="*/ 139 h 142"/>
                <a:gd name="T16" fmla="*/ 140 w 140"/>
                <a:gd name="T17" fmla="*/ 14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 h="142">
                  <a:moveTo>
                    <a:pt x="140" y="142"/>
                  </a:moveTo>
                  <a:lnTo>
                    <a:pt x="120" y="120"/>
                  </a:lnTo>
                  <a:lnTo>
                    <a:pt x="81" y="61"/>
                  </a:lnTo>
                  <a:lnTo>
                    <a:pt x="25" y="0"/>
                  </a:lnTo>
                  <a:lnTo>
                    <a:pt x="0" y="0"/>
                  </a:lnTo>
                  <a:lnTo>
                    <a:pt x="10" y="21"/>
                  </a:lnTo>
                  <a:lnTo>
                    <a:pt x="53" y="80"/>
                  </a:lnTo>
                  <a:lnTo>
                    <a:pt x="97" y="139"/>
                  </a:lnTo>
                  <a:lnTo>
                    <a:pt x="140" y="1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599" name="Freeform 87">
              <a:extLst>
                <a:ext uri="{FF2B5EF4-FFF2-40B4-BE49-F238E27FC236}">
                  <a16:creationId xmlns="" xmlns:a16="http://schemas.microsoft.com/office/drawing/2014/main" id="{34C2E4A6-24CE-46A4-8153-B9E00C555FC6}"/>
                </a:ext>
              </a:extLst>
            </p:cNvPr>
            <p:cNvSpPr>
              <a:spLocks/>
            </p:cNvSpPr>
            <p:nvPr/>
          </p:nvSpPr>
          <p:spPr bwMode="auto">
            <a:xfrm>
              <a:off x="598" y="2615"/>
              <a:ext cx="214" cy="791"/>
            </a:xfrm>
            <a:custGeom>
              <a:avLst/>
              <a:gdLst>
                <a:gd name="T0" fmla="*/ 61 w 426"/>
                <a:gd name="T1" fmla="*/ 194 h 1583"/>
                <a:gd name="T2" fmla="*/ 76 w 426"/>
                <a:gd name="T3" fmla="*/ 281 h 1583"/>
                <a:gd name="T4" fmla="*/ 39 w 426"/>
                <a:gd name="T5" fmla="*/ 340 h 1583"/>
                <a:gd name="T6" fmla="*/ 44 w 426"/>
                <a:gd name="T7" fmla="*/ 421 h 1583"/>
                <a:gd name="T8" fmla="*/ 65 w 426"/>
                <a:gd name="T9" fmla="*/ 488 h 1583"/>
                <a:gd name="T10" fmla="*/ 31 w 426"/>
                <a:gd name="T11" fmla="*/ 553 h 1583"/>
                <a:gd name="T12" fmla="*/ 68 w 426"/>
                <a:gd name="T13" fmla="*/ 668 h 1583"/>
                <a:gd name="T14" fmla="*/ 24 w 426"/>
                <a:gd name="T15" fmla="*/ 764 h 1583"/>
                <a:gd name="T16" fmla="*/ 46 w 426"/>
                <a:gd name="T17" fmla="*/ 860 h 1583"/>
                <a:gd name="T18" fmla="*/ 59 w 426"/>
                <a:gd name="T19" fmla="*/ 928 h 1583"/>
                <a:gd name="T20" fmla="*/ 15 w 426"/>
                <a:gd name="T21" fmla="*/ 987 h 1583"/>
                <a:gd name="T22" fmla="*/ 39 w 426"/>
                <a:gd name="T23" fmla="*/ 1110 h 1583"/>
                <a:gd name="T24" fmla="*/ 37 w 426"/>
                <a:gd name="T25" fmla="*/ 1175 h 1583"/>
                <a:gd name="T26" fmla="*/ 0 w 426"/>
                <a:gd name="T27" fmla="*/ 1257 h 1583"/>
                <a:gd name="T28" fmla="*/ 22 w 426"/>
                <a:gd name="T29" fmla="*/ 1326 h 1583"/>
                <a:gd name="T30" fmla="*/ 24 w 426"/>
                <a:gd name="T31" fmla="*/ 1389 h 1583"/>
                <a:gd name="T32" fmla="*/ 31 w 426"/>
                <a:gd name="T33" fmla="*/ 1456 h 1583"/>
                <a:gd name="T34" fmla="*/ 61 w 426"/>
                <a:gd name="T35" fmla="*/ 1514 h 1583"/>
                <a:gd name="T36" fmla="*/ 65 w 426"/>
                <a:gd name="T37" fmla="*/ 1583 h 1583"/>
                <a:gd name="T38" fmla="*/ 161 w 426"/>
                <a:gd name="T39" fmla="*/ 1524 h 1583"/>
                <a:gd name="T40" fmla="*/ 275 w 426"/>
                <a:gd name="T41" fmla="*/ 1509 h 1583"/>
                <a:gd name="T42" fmla="*/ 353 w 426"/>
                <a:gd name="T43" fmla="*/ 1478 h 1583"/>
                <a:gd name="T44" fmla="*/ 377 w 426"/>
                <a:gd name="T45" fmla="*/ 1434 h 1583"/>
                <a:gd name="T46" fmla="*/ 385 w 426"/>
                <a:gd name="T47" fmla="*/ 1345 h 1583"/>
                <a:gd name="T48" fmla="*/ 368 w 426"/>
                <a:gd name="T49" fmla="*/ 1230 h 1583"/>
                <a:gd name="T50" fmla="*/ 349 w 426"/>
                <a:gd name="T51" fmla="*/ 1169 h 1583"/>
                <a:gd name="T52" fmla="*/ 361 w 426"/>
                <a:gd name="T53" fmla="*/ 1095 h 1583"/>
                <a:gd name="T54" fmla="*/ 325 w 426"/>
                <a:gd name="T55" fmla="*/ 1014 h 1583"/>
                <a:gd name="T56" fmla="*/ 374 w 426"/>
                <a:gd name="T57" fmla="*/ 951 h 1583"/>
                <a:gd name="T58" fmla="*/ 338 w 426"/>
                <a:gd name="T59" fmla="*/ 860 h 1583"/>
                <a:gd name="T60" fmla="*/ 318 w 426"/>
                <a:gd name="T61" fmla="*/ 773 h 1583"/>
                <a:gd name="T62" fmla="*/ 392 w 426"/>
                <a:gd name="T63" fmla="*/ 708 h 1583"/>
                <a:gd name="T64" fmla="*/ 368 w 426"/>
                <a:gd name="T65" fmla="*/ 661 h 1583"/>
                <a:gd name="T66" fmla="*/ 368 w 426"/>
                <a:gd name="T67" fmla="*/ 581 h 1583"/>
                <a:gd name="T68" fmla="*/ 333 w 426"/>
                <a:gd name="T69" fmla="*/ 529 h 1583"/>
                <a:gd name="T70" fmla="*/ 361 w 426"/>
                <a:gd name="T71" fmla="*/ 466 h 1583"/>
                <a:gd name="T72" fmla="*/ 338 w 426"/>
                <a:gd name="T73" fmla="*/ 414 h 1583"/>
                <a:gd name="T74" fmla="*/ 338 w 426"/>
                <a:gd name="T75" fmla="*/ 370 h 1583"/>
                <a:gd name="T76" fmla="*/ 362 w 426"/>
                <a:gd name="T77" fmla="*/ 330 h 1583"/>
                <a:gd name="T78" fmla="*/ 331 w 426"/>
                <a:gd name="T79" fmla="*/ 279 h 1583"/>
                <a:gd name="T80" fmla="*/ 325 w 426"/>
                <a:gd name="T81" fmla="*/ 206 h 1583"/>
                <a:gd name="T82" fmla="*/ 407 w 426"/>
                <a:gd name="T83" fmla="*/ 112 h 1583"/>
                <a:gd name="T84" fmla="*/ 426 w 426"/>
                <a:gd name="T85" fmla="*/ 15 h 1583"/>
                <a:gd name="T86" fmla="*/ 377 w 426"/>
                <a:gd name="T87" fmla="*/ 15 h 1583"/>
                <a:gd name="T88" fmla="*/ 235 w 426"/>
                <a:gd name="T89" fmla="*/ 90 h 1583"/>
                <a:gd name="T90" fmla="*/ 117 w 426"/>
                <a:gd name="T91" fmla="*/ 135 h 1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26" h="1583">
                  <a:moveTo>
                    <a:pt x="76" y="149"/>
                  </a:moveTo>
                  <a:lnTo>
                    <a:pt x="61" y="194"/>
                  </a:lnTo>
                  <a:lnTo>
                    <a:pt x="74" y="238"/>
                  </a:lnTo>
                  <a:lnTo>
                    <a:pt x="76" y="281"/>
                  </a:lnTo>
                  <a:lnTo>
                    <a:pt x="61" y="309"/>
                  </a:lnTo>
                  <a:lnTo>
                    <a:pt x="39" y="340"/>
                  </a:lnTo>
                  <a:lnTo>
                    <a:pt x="30" y="389"/>
                  </a:lnTo>
                  <a:lnTo>
                    <a:pt x="44" y="421"/>
                  </a:lnTo>
                  <a:lnTo>
                    <a:pt x="65" y="458"/>
                  </a:lnTo>
                  <a:lnTo>
                    <a:pt x="65" y="488"/>
                  </a:lnTo>
                  <a:lnTo>
                    <a:pt x="52" y="516"/>
                  </a:lnTo>
                  <a:lnTo>
                    <a:pt x="31" y="553"/>
                  </a:lnTo>
                  <a:lnTo>
                    <a:pt x="39" y="590"/>
                  </a:lnTo>
                  <a:lnTo>
                    <a:pt x="68" y="668"/>
                  </a:lnTo>
                  <a:lnTo>
                    <a:pt x="65" y="701"/>
                  </a:lnTo>
                  <a:lnTo>
                    <a:pt x="24" y="764"/>
                  </a:lnTo>
                  <a:lnTo>
                    <a:pt x="24" y="819"/>
                  </a:lnTo>
                  <a:lnTo>
                    <a:pt x="46" y="860"/>
                  </a:lnTo>
                  <a:lnTo>
                    <a:pt x="61" y="896"/>
                  </a:lnTo>
                  <a:lnTo>
                    <a:pt x="59" y="928"/>
                  </a:lnTo>
                  <a:lnTo>
                    <a:pt x="22" y="962"/>
                  </a:lnTo>
                  <a:lnTo>
                    <a:pt x="15" y="987"/>
                  </a:lnTo>
                  <a:lnTo>
                    <a:pt x="22" y="1046"/>
                  </a:lnTo>
                  <a:lnTo>
                    <a:pt x="39" y="1110"/>
                  </a:lnTo>
                  <a:lnTo>
                    <a:pt x="39" y="1147"/>
                  </a:lnTo>
                  <a:lnTo>
                    <a:pt x="37" y="1175"/>
                  </a:lnTo>
                  <a:lnTo>
                    <a:pt x="9" y="1221"/>
                  </a:lnTo>
                  <a:lnTo>
                    <a:pt x="0" y="1257"/>
                  </a:lnTo>
                  <a:lnTo>
                    <a:pt x="3" y="1296"/>
                  </a:lnTo>
                  <a:lnTo>
                    <a:pt x="22" y="1326"/>
                  </a:lnTo>
                  <a:lnTo>
                    <a:pt x="44" y="1352"/>
                  </a:lnTo>
                  <a:lnTo>
                    <a:pt x="24" y="1389"/>
                  </a:lnTo>
                  <a:lnTo>
                    <a:pt x="15" y="1426"/>
                  </a:lnTo>
                  <a:lnTo>
                    <a:pt x="31" y="1456"/>
                  </a:lnTo>
                  <a:lnTo>
                    <a:pt x="59" y="1478"/>
                  </a:lnTo>
                  <a:lnTo>
                    <a:pt x="61" y="1514"/>
                  </a:lnTo>
                  <a:lnTo>
                    <a:pt x="61" y="1543"/>
                  </a:lnTo>
                  <a:lnTo>
                    <a:pt x="65" y="1583"/>
                  </a:lnTo>
                  <a:lnTo>
                    <a:pt x="112" y="1551"/>
                  </a:lnTo>
                  <a:lnTo>
                    <a:pt x="161" y="1524"/>
                  </a:lnTo>
                  <a:lnTo>
                    <a:pt x="206" y="1509"/>
                  </a:lnTo>
                  <a:lnTo>
                    <a:pt x="275" y="1509"/>
                  </a:lnTo>
                  <a:lnTo>
                    <a:pt x="324" y="1502"/>
                  </a:lnTo>
                  <a:lnTo>
                    <a:pt x="353" y="1478"/>
                  </a:lnTo>
                  <a:lnTo>
                    <a:pt x="405" y="1462"/>
                  </a:lnTo>
                  <a:lnTo>
                    <a:pt x="377" y="1434"/>
                  </a:lnTo>
                  <a:lnTo>
                    <a:pt x="368" y="1391"/>
                  </a:lnTo>
                  <a:lnTo>
                    <a:pt x="385" y="1345"/>
                  </a:lnTo>
                  <a:lnTo>
                    <a:pt x="383" y="1279"/>
                  </a:lnTo>
                  <a:lnTo>
                    <a:pt x="368" y="1230"/>
                  </a:lnTo>
                  <a:lnTo>
                    <a:pt x="353" y="1205"/>
                  </a:lnTo>
                  <a:lnTo>
                    <a:pt x="349" y="1169"/>
                  </a:lnTo>
                  <a:lnTo>
                    <a:pt x="368" y="1125"/>
                  </a:lnTo>
                  <a:lnTo>
                    <a:pt x="361" y="1095"/>
                  </a:lnTo>
                  <a:lnTo>
                    <a:pt x="324" y="1044"/>
                  </a:lnTo>
                  <a:lnTo>
                    <a:pt x="325" y="1014"/>
                  </a:lnTo>
                  <a:lnTo>
                    <a:pt x="340" y="987"/>
                  </a:lnTo>
                  <a:lnTo>
                    <a:pt x="374" y="951"/>
                  </a:lnTo>
                  <a:lnTo>
                    <a:pt x="362" y="921"/>
                  </a:lnTo>
                  <a:lnTo>
                    <a:pt x="338" y="860"/>
                  </a:lnTo>
                  <a:lnTo>
                    <a:pt x="318" y="819"/>
                  </a:lnTo>
                  <a:lnTo>
                    <a:pt x="318" y="773"/>
                  </a:lnTo>
                  <a:lnTo>
                    <a:pt x="385" y="750"/>
                  </a:lnTo>
                  <a:lnTo>
                    <a:pt x="392" y="708"/>
                  </a:lnTo>
                  <a:lnTo>
                    <a:pt x="385" y="683"/>
                  </a:lnTo>
                  <a:lnTo>
                    <a:pt x="368" y="661"/>
                  </a:lnTo>
                  <a:lnTo>
                    <a:pt x="370" y="624"/>
                  </a:lnTo>
                  <a:lnTo>
                    <a:pt x="368" y="581"/>
                  </a:lnTo>
                  <a:lnTo>
                    <a:pt x="349" y="559"/>
                  </a:lnTo>
                  <a:lnTo>
                    <a:pt x="333" y="529"/>
                  </a:lnTo>
                  <a:lnTo>
                    <a:pt x="346" y="500"/>
                  </a:lnTo>
                  <a:lnTo>
                    <a:pt x="361" y="466"/>
                  </a:lnTo>
                  <a:lnTo>
                    <a:pt x="361" y="443"/>
                  </a:lnTo>
                  <a:lnTo>
                    <a:pt x="338" y="414"/>
                  </a:lnTo>
                  <a:lnTo>
                    <a:pt x="331" y="389"/>
                  </a:lnTo>
                  <a:lnTo>
                    <a:pt x="338" y="370"/>
                  </a:lnTo>
                  <a:lnTo>
                    <a:pt x="361" y="355"/>
                  </a:lnTo>
                  <a:lnTo>
                    <a:pt x="362" y="330"/>
                  </a:lnTo>
                  <a:lnTo>
                    <a:pt x="355" y="315"/>
                  </a:lnTo>
                  <a:lnTo>
                    <a:pt x="331" y="279"/>
                  </a:lnTo>
                  <a:lnTo>
                    <a:pt x="324" y="238"/>
                  </a:lnTo>
                  <a:lnTo>
                    <a:pt x="325" y="206"/>
                  </a:lnTo>
                  <a:lnTo>
                    <a:pt x="349" y="176"/>
                  </a:lnTo>
                  <a:lnTo>
                    <a:pt x="407" y="112"/>
                  </a:lnTo>
                  <a:lnTo>
                    <a:pt x="426" y="58"/>
                  </a:lnTo>
                  <a:lnTo>
                    <a:pt x="426" y="15"/>
                  </a:lnTo>
                  <a:lnTo>
                    <a:pt x="407" y="0"/>
                  </a:lnTo>
                  <a:lnTo>
                    <a:pt x="377" y="15"/>
                  </a:lnTo>
                  <a:lnTo>
                    <a:pt x="303" y="61"/>
                  </a:lnTo>
                  <a:lnTo>
                    <a:pt x="235" y="90"/>
                  </a:lnTo>
                  <a:lnTo>
                    <a:pt x="164" y="120"/>
                  </a:lnTo>
                  <a:lnTo>
                    <a:pt x="117" y="135"/>
                  </a:lnTo>
                  <a:lnTo>
                    <a:pt x="76" y="149"/>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00" name="Freeform 88">
              <a:extLst>
                <a:ext uri="{FF2B5EF4-FFF2-40B4-BE49-F238E27FC236}">
                  <a16:creationId xmlns="" xmlns:a16="http://schemas.microsoft.com/office/drawing/2014/main" id="{07888F23-D118-4E70-9125-5CF685F1531C}"/>
                </a:ext>
              </a:extLst>
            </p:cNvPr>
            <p:cNvSpPr>
              <a:spLocks/>
            </p:cNvSpPr>
            <p:nvPr/>
          </p:nvSpPr>
          <p:spPr bwMode="auto">
            <a:xfrm>
              <a:off x="449" y="2609"/>
              <a:ext cx="381" cy="809"/>
            </a:xfrm>
            <a:custGeom>
              <a:avLst/>
              <a:gdLst>
                <a:gd name="T0" fmla="*/ 497 w 761"/>
                <a:gd name="T1" fmla="*/ 1521 h 1619"/>
                <a:gd name="T2" fmla="*/ 351 w 761"/>
                <a:gd name="T3" fmla="*/ 1573 h 1619"/>
                <a:gd name="T4" fmla="*/ 61 w 761"/>
                <a:gd name="T5" fmla="*/ 1310 h 1619"/>
                <a:gd name="T6" fmla="*/ 46 w 761"/>
                <a:gd name="T7" fmla="*/ 1354 h 1619"/>
                <a:gd name="T8" fmla="*/ 361 w 761"/>
                <a:gd name="T9" fmla="*/ 1619 h 1619"/>
                <a:gd name="T10" fmla="*/ 513 w 761"/>
                <a:gd name="T11" fmla="*/ 1538 h 1619"/>
                <a:gd name="T12" fmla="*/ 720 w 761"/>
                <a:gd name="T13" fmla="*/ 1470 h 1619"/>
                <a:gd name="T14" fmla="*/ 711 w 761"/>
                <a:gd name="T15" fmla="*/ 1354 h 1619"/>
                <a:gd name="T16" fmla="*/ 668 w 761"/>
                <a:gd name="T17" fmla="*/ 1227 h 1619"/>
                <a:gd name="T18" fmla="*/ 689 w 761"/>
                <a:gd name="T19" fmla="*/ 1124 h 1619"/>
                <a:gd name="T20" fmla="*/ 644 w 761"/>
                <a:gd name="T21" fmla="*/ 1024 h 1619"/>
                <a:gd name="T22" fmla="*/ 667 w 761"/>
                <a:gd name="T23" fmla="*/ 907 h 1619"/>
                <a:gd name="T24" fmla="*/ 683 w 761"/>
                <a:gd name="T25" fmla="*/ 789 h 1619"/>
                <a:gd name="T26" fmla="*/ 689 w 761"/>
                <a:gd name="T27" fmla="*/ 642 h 1619"/>
                <a:gd name="T28" fmla="*/ 659 w 761"/>
                <a:gd name="T29" fmla="*/ 517 h 1619"/>
                <a:gd name="T30" fmla="*/ 644 w 761"/>
                <a:gd name="T31" fmla="*/ 419 h 1619"/>
                <a:gd name="T32" fmla="*/ 681 w 761"/>
                <a:gd name="T33" fmla="*/ 334 h 1619"/>
                <a:gd name="T34" fmla="*/ 662 w 761"/>
                <a:gd name="T35" fmla="*/ 192 h 1619"/>
                <a:gd name="T36" fmla="*/ 755 w 761"/>
                <a:gd name="T37" fmla="*/ 17 h 1619"/>
                <a:gd name="T38" fmla="*/ 714 w 761"/>
                <a:gd name="T39" fmla="*/ 54 h 1619"/>
                <a:gd name="T40" fmla="*/ 618 w 761"/>
                <a:gd name="T41" fmla="*/ 214 h 1619"/>
                <a:gd name="T42" fmla="*/ 478 w 761"/>
                <a:gd name="T43" fmla="*/ 345 h 1619"/>
                <a:gd name="T44" fmla="*/ 622 w 761"/>
                <a:gd name="T45" fmla="*/ 297 h 1619"/>
                <a:gd name="T46" fmla="*/ 610 w 761"/>
                <a:gd name="T47" fmla="*/ 390 h 1619"/>
                <a:gd name="T48" fmla="*/ 541 w 761"/>
                <a:gd name="T49" fmla="*/ 487 h 1619"/>
                <a:gd name="T50" fmla="*/ 640 w 761"/>
                <a:gd name="T51" fmla="*/ 465 h 1619"/>
                <a:gd name="T52" fmla="*/ 615 w 761"/>
                <a:gd name="T53" fmla="*/ 539 h 1619"/>
                <a:gd name="T54" fmla="*/ 608 w 761"/>
                <a:gd name="T55" fmla="*/ 620 h 1619"/>
                <a:gd name="T56" fmla="*/ 463 w 761"/>
                <a:gd name="T57" fmla="*/ 728 h 1619"/>
                <a:gd name="T58" fmla="*/ 625 w 761"/>
                <a:gd name="T59" fmla="*/ 654 h 1619"/>
                <a:gd name="T60" fmla="*/ 683 w 761"/>
                <a:gd name="T61" fmla="*/ 728 h 1619"/>
                <a:gd name="T62" fmla="*/ 585 w 761"/>
                <a:gd name="T63" fmla="*/ 796 h 1619"/>
                <a:gd name="T64" fmla="*/ 404 w 761"/>
                <a:gd name="T65" fmla="*/ 885 h 1619"/>
                <a:gd name="T66" fmla="*/ 610 w 761"/>
                <a:gd name="T67" fmla="*/ 848 h 1619"/>
                <a:gd name="T68" fmla="*/ 652 w 761"/>
                <a:gd name="T69" fmla="*/ 985 h 1619"/>
                <a:gd name="T70" fmla="*/ 409 w 761"/>
                <a:gd name="T71" fmla="*/ 1050 h 1619"/>
                <a:gd name="T72" fmla="*/ 541 w 761"/>
                <a:gd name="T73" fmla="*/ 1046 h 1619"/>
                <a:gd name="T74" fmla="*/ 625 w 761"/>
                <a:gd name="T75" fmla="*/ 1087 h 1619"/>
                <a:gd name="T76" fmla="*/ 622 w 761"/>
                <a:gd name="T77" fmla="*/ 1168 h 1619"/>
                <a:gd name="T78" fmla="*/ 389 w 761"/>
                <a:gd name="T79" fmla="*/ 1214 h 1619"/>
                <a:gd name="T80" fmla="*/ 504 w 761"/>
                <a:gd name="T81" fmla="*/ 1214 h 1619"/>
                <a:gd name="T82" fmla="*/ 637 w 761"/>
                <a:gd name="T83" fmla="*/ 1192 h 1619"/>
                <a:gd name="T84" fmla="*/ 522 w 761"/>
                <a:gd name="T85" fmla="*/ 1303 h 1619"/>
                <a:gd name="T86" fmla="*/ 389 w 761"/>
                <a:gd name="T87" fmla="*/ 1366 h 1619"/>
                <a:gd name="T88" fmla="*/ 556 w 761"/>
                <a:gd name="T89" fmla="*/ 1307 h 1619"/>
                <a:gd name="T90" fmla="*/ 655 w 761"/>
                <a:gd name="T91" fmla="*/ 1285 h 1619"/>
                <a:gd name="T92" fmla="*/ 652 w 761"/>
                <a:gd name="T93" fmla="*/ 1381 h 1619"/>
                <a:gd name="T94" fmla="*/ 667 w 761"/>
                <a:gd name="T95" fmla="*/ 1462 h 1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61" h="1619">
                  <a:moveTo>
                    <a:pt x="647" y="1465"/>
                  </a:moveTo>
                  <a:lnTo>
                    <a:pt x="615" y="1501"/>
                  </a:lnTo>
                  <a:lnTo>
                    <a:pt x="563" y="1514"/>
                  </a:lnTo>
                  <a:lnTo>
                    <a:pt x="497" y="1521"/>
                  </a:lnTo>
                  <a:lnTo>
                    <a:pt x="426" y="1536"/>
                  </a:lnTo>
                  <a:lnTo>
                    <a:pt x="380" y="1564"/>
                  </a:lnTo>
                  <a:lnTo>
                    <a:pt x="365" y="1579"/>
                  </a:lnTo>
                  <a:lnTo>
                    <a:pt x="351" y="1573"/>
                  </a:lnTo>
                  <a:lnTo>
                    <a:pt x="265" y="1508"/>
                  </a:lnTo>
                  <a:lnTo>
                    <a:pt x="154" y="1421"/>
                  </a:lnTo>
                  <a:lnTo>
                    <a:pt x="117" y="1366"/>
                  </a:lnTo>
                  <a:lnTo>
                    <a:pt x="61" y="1310"/>
                  </a:lnTo>
                  <a:lnTo>
                    <a:pt x="45" y="1266"/>
                  </a:lnTo>
                  <a:lnTo>
                    <a:pt x="0" y="1259"/>
                  </a:lnTo>
                  <a:lnTo>
                    <a:pt x="23" y="1307"/>
                  </a:lnTo>
                  <a:lnTo>
                    <a:pt x="46" y="1354"/>
                  </a:lnTo>
                  <a:lnTo>
                    <a:pt x="117" y="1406"/>
                  </a:lnTo>
                  <a:lnTo>
                    <a:pt x="167" y="1470"/>
                  </a:lnTo>
                  <a:lnTo>
                    <a:pt x="287" y="1545"/>
                  </a:lnTo>
                  <a:lnTo>
                    <a:pt x="361" y="1619"/>
                  </a:lnTo>
                  <a:lnTo>
                    <a:pt x="389" y="1612"/>
                  </a:lnTo>
                  <a:lnTo>
                    <a:pt x="420" y="1575"/>
                  </a:lnTo>
                  <a:lnTo>
                    <a:pt x="461" y="1553"/>
                  </a:lnTo>
                  <a:lnTo>
                    <a:pt x="513" y="1538"/>
                  </a:lnTo>
                  <a:lnTo>
                    <a:pt x="622" y="1529"/>
                  </a:lnTo>
                  <a:lnTo>
                    <a:pt x="655" y="1508"/>
                  </a:lnTo>
                  <a:lnTo>
                    <a:pt x="711" y="1495"/>
                  </a:lnTo>
                  <a:lnTo>
                    <a:pt x="720" y="1470"/>
                  </a:lnTo>
                  <a:lnTo>
                    <a:pt x="703" y="1440"/>
                  </a:lnTo>
                  <a:lnTo>
                    <a:pt x="683" y="1411"/>
                  </a:lnTo>
                  <a:lnTo>
                    <a:pt x="696" y="1374"/>
                  </a:lnTo>
                  <a:lnTo>
                    <a:pt x="711" y="1354"/>
                  </a:lnTo>
                  <a:lnTo>
                    <a:pt x="711" y="1322"/>
                  </a:lnTo>
                  <a:lnTo>
                    <a:pt x="696" y="1273"/>
                  </a:lnTo>
                  <a:lnTo>
                    <a:pt x="689" y="1249"/>
                  </a:lnTo>
                  <a:lnTo>
                    <a:pt x="668" y="1227"/>
                  </a:lnTo>
                  <a:lnTo>
                    <a:pt x="659" y="1201"/>
                  </a:lnTo>
                  <a:lnTo>
                    <a:pt x="668" y="1176"/>
                  </a:lnTo>
                  <a:lnTo>
                    <a:pt x="690" y="1156"/>
                  </a:lnTo>
                  <a:lnTo>
                    <a:pt x="689" y="1124"/>
                  </a:lnTo>
                  <a:lnTo>
                    <a:pt x="677" y="1102"/>
                  </a:lnTo>
                  <a:lnTo>
                    <a:pt x="652" y="1068"/>
                  </a:lnTo>
                  <a:lnTo>
                    <a:pt x="637" y="1050"/>
                  </a:lnTo>
                  <a:lnTo>
                    <a:pt x="644" y="1024"/>
                  </a:lnTo>
                  <a:lnTo>
                    <a:pt x="681" y="1002"/>
                  </a:lnTo>
                  <a:lnTo>
                    <a:pt x="696" y="972"/>
                  </a:lnTo>
                  <a:lnTo>
                    <a:pt x="690" y="948"/>
                  </a:lnTo>
                  <a:lnTo>
                    <a:pt x="667" y="907"/>
                  </a:lnTo>
                  <a:lnTo>
                    <a:pt x="640" y="855"/>
                  </a:lnTo>
                  <a:lnTo>
                    <a:pt x="630" y="818"/>
                  </a:lnTo>
                  <a:lnTo>
                    <a:pt x="644" y="803"/>
                  </a:lnTo>
                  <a:lnTo>
                    <a:pt x="683" y="789"/>
                  </a:lnTo>
                  <a:lnTo>
                    <a:pt x="705" y="774"/>
                  </a:lnTo>
                  <a:lnTo>
                    <a:pt x="711" y="728"/>
                  </a:lnTo>
                  <a:lnTo>
                    <a:pt x="683" y="676"/>
                  </a:lnTo>
                  <a:lnTo>
                    <a:pt x="689" y="642"/>
                  </a:lnTo>
                  <a:lnTo>
                    <a:pt x="698" y="610"/>
                  </a:lnTo>
                  <a:lnTo>
                    <a:pt x="674" y="573"/>
                  </a:lnTo>
                  <a:lnTo>
                    <a:pt x="652" y="539"/>
                  </a:lnTo>
                  <a:lnTo>
                    <a:pt x="659" y="517"/>
                  </a:lnTo>
                  <a:lnTo>
                    <a:pt x="674" y="495"/>
                  </a:lnTo>
                  <a:lnTo>
                    <a:pt x="674" y="458"/>
                  </a:lnTo>
                  <a:lnTo>
                    <a:pt x="659" y="436"/>
                  </a:lnTo>
                  <a:lnTo>
                    <a:pt x="644" y="419"/>
                  </a:lnTo>
                  <a:lnTo>
                    <a:pt x="647" y="391"/>
                  </a:lnTo>
                  <a:lnTo>
                    <a:pt x="674" y="378"/>
                  </a:lnTo>
                  <a:lnTo>
                    <a:pt x="689" y="363"/>
                  </a:lnTo>
                  <a:lnTo>
                    <a:pt x="681" y="334"/>
                  </a:lnTo>
                  <a:lnTo>
                    <a:pt x="652" y="297"/>
                  </a:lnTo>
                  <a:lnTo>
                    <a:pt x="640" y="264"/>
                  </a:lnTo>
                  <a:lnTo>
                    <a:pt x="637" y="227"/>
                  </a:lnTo>
                  <a:lnTo>
                    <a:pt x="662" y="192"/>
                  </a:lnTo>
                  <a:lnTo>
                    <a:pt x="714" y="134"/>
                  </a:lnTo>
                  <a:lnTo>
                    <a:pt x="739" y="91"/>
                  </a:lnTo>
                  <a:lnTo>
                    <a:pt x="761" y="54"/>
                  </a:lnTo>
                  <a:lnTo>
                    <a:pt x="755" y="17"/>
                  </a:lnTo>
                  <a:lnTo>
                    <a:pt x="735" y="0"/>
                  </a:lnTo>
                  <a:lnTo>
                    <a:pt x="720" y="3"/>
                  </a:lnTo>
                  <a:lnTo>
                    <a:pt x="696" y="32"/>
                  </a:lnTo>
                  <a:lnTo>
                    <a:pt x="714" y="54"/>
                  </a:lnTo>
                  <a:lnTo>
                    <a:pt x="711" y="91"/>
                  </a:lnTo>
                  <a:lnTo>
                    <a:pt x="677" y="155"/>
                  </a:lnTo>
                  <a:lnTo>
                    <a:pt x="631" y="192"/>
                  </a:lnTo>
                  <a:lnTo>
                    <a:pt x="618" y="214"/>
                  </a:lnTo>
                  <a:lnTo>
                    <a:pt x="608" y="242"/>
                  </a:lnTo>
                  <a:lnTo>
                    <a:pt x="603" y="260"/>
                  </a:lnTo>
                  <a:lnTo>
                    <a:pt x="537" y="311"/>
                  </a:lnTo>
                  <a:lnTo>
                    <a:pt x="478" y="345"/>
                  </a:lnTo>
                  <a:lnTo>
                    <a:pt x="470" y="369"/>
                  </a:lnTo>
                  <a:lnTo>
                    <a:pt x="491" y="375"/>
                  </a:lnTo>
                  <a:lnTo>
                    <a:pt x="578" y="311"/>
                  </a:lnTo>
                  <a:lnTo>
                    <a:pt x="622" y="297"/>
                  </a:lnTo>
                  <a:lnTo>
                    <a:pt x="644" y="338"/>
                  </a:lnTo>
                  <a:lnTo>
                    <a:pt x="652" y="356"/>
                  </a:lnTo>
                  <a:lnTo>
                    <a:pt x="630" y="375"/>
                  </a:lnTo>
                  <a:lnTo>
                    <a:pt x="610" y="390"/>
                  </a:lnTo>
                  <a:lnTo>
                    <a:pt x="608" y="415"/>
                  </a:lnTo>
                  <a:lnTo>
                    <a:pt x="615" y="441"/>
                  </a:lnTo>
                  <a:lnTo>
                    <a:pt x="596" y="462"/>
                  </a:lnTo>
                  <a:lnTo>
                    <a:pt x="541" y="487"/>
                  </a:lnTo>
                  <a:lnTo>
                    <a:pt x="461" y="521"/>
                  </a:lnTo>
                  <a:lnTo>
                    <a:pt x="491" y="532"/>
                  </a:lnTo>
                  <a:lnTo>
                    <a:pt x="573" y="499"/>
                  </a:lnTo>
                  <a:lnTo>
                    <a:pt x="640" y="465"/>
                  </a:lnTo>
                  <a:lnTo>
                    <a:pt x="652" y="473"/>
                  </a:lnTo>
                  <a:lnTo>
                    <a:pt x="644" y="495"/>
                  </a:lnTo>
                  <a:lnTo>
                    <a:pt x="622" y="517"/>
                  </a:lnTo>
                  <a:lnTo>
                    <a:pt x="615" y="539"/>
                  </a:lnTo>
                  <a:lnTo>
                    <a:pt x="625" y="568"/>
                  </a:lnTo>
                  <a:lnTo>
                    <a:pt x="652" y="591"/>
                  </a:lnTo>
                  <a:lnTo>
                    <a:pt x="652" y="610"/>
                  </a:lnTo>
                  <a:lnTo>
                    <a:pt x="608" y="620"/>
                  </a:lnTo>
                  <a:lnTo>
                    <a:pt x="571" y="669"/>
                  </a:lnTo>
                  <a:lnTo>
                    <a:pt x="526" y="698"/>
                  </a:lnTo>
                  <a:lnTo>
                    <a:pt x="467" y="713"/>
                  </a:lnTo>
                  <a:lnTo>
                    <a:pt x="463" y="728"/>
                  </a:lnTo>
                  <a:lnTo>
                    <a:pt x="500" y="722"/>
                  </a:lnTo>
                  <a:lnTo>
                    <a:pt x="578" y="698"/>
                  </a:lnTo>
                  <a:lnTo>
                    <a:pt x="608" y="676"/>
                  </a:lnTo>
                  <a:lnTo>
                    <a:pt x="625" y="654"/>
                  </a:lnTo>
                  <a:lnTo>
                    <a:pt x="652" y="650"/>
                  </a:lnTo>
                  <a:lnTo>
                    <a:pt x="652" y="676"/>
                  </a:lnTo>
                  <a:lnTo>
                    <a:pt x="668" y="700"/>
                  </a:lnTo>
                  <a:lnTo>
                    <a:pt x="683" y="728"/>
                  </a:lnTo>
                  <a:lnTo>
                    <a:pt x="674" y="750"/>
                  </a:lnTo>
                  <a:lnTo>
                    <a:pt x="640" y="765"/>
                  </a:lnTo>
                  <a:lnTo>
                    <a:pt x="608" y="774"/>
                  </a:lnTo>
                  <a:lnTo>
                    <a:pt x="585" y="796"/>
                  </a:lnTo>
                  <a:lnTo>
                    <a:pt x="485" y="826"/>
                  </a:lnTo>
                  <a:lnTo>
                    <a:pt x="411" y="852"/>
                  </a:lnTo>
                  <a:lnTo>
                    <a:pt x="383" y="867"/>
                  </a:lnTo>
                  <a:lnTo>
                    <a:pt x="404" y="885"/>
                  </a:lnTo>
                  <a:lnTo>
                    <a:pt x="448" y="874"/>
                  </a:lnTo>
                  <a:lnTo>
                    <a:pt x="537" y="840"/>
                  </a:lnTo>
                  <a:lnTo>
                    <a:pt x="596" y="823"/>
                  </a:lnTo>
                  <a:lnTo>
                    <a:pt x="610" y="848"/>
                  </a:lnTo>
                  <a:lnTo>
                    <a:pt x="625" y="892"/>
                  </a:lnTo>
                  <a:lnTo>
                    <a:pt x="652" y="929"/>
                  </a:lnTo>
                  <a:lnTo>
                    <a:pt x="655" y="957"/>
                  </a:lnTo>
                  <a:lnTo>
                    <a:pt x="652" y="985"/>
                  </a:lnTo>
                  <a:lnTo>
                    <a:pt x="622" y="994"/>
                  </a:lnTo>
                  <a:lnTo>
                    <a:pt x="571" y="1007"/>
                  </a:lnTo>
                  <a:lnTo>
                    <a:pt x="504" y="1037"/>
                  </a:lnTo>
                  <a:lnTo>
                    <a:pt x="409" y="1050"/>
                  </a:lnTo>
                  <a:lnTo>
                    <a:pt x="373" y="1068"/>
                  </a:lnTo>
                  <a:lnTo>
                    <a:pt x="398" y="1080"/>
                  </a:lnTo>
                  <a:lnTo>
                    <a:pt x="482" y="1068"/>
                  </a:lnTo>
                  <a:lnTo>
                    <a:pt x="541" y="1046"/>
                  </a:lnTo>
                  <a:lnTo>
                    <a:pt x="581" y="1031"/>
                  </a:lnTo>
                  <a:lnTo>
                    <a:pt x="615" y="1024"/>
                  </a:lnTo>
                  <a:lnTo>
                    <a:pt x="610" y="1050"/>
                  </a:lnTo>
                  <a:lnTo>
                    <a:pt x="625" y="1087"/>
                  </a:lnTo>
                  <a:lnTo>
                    <a:pt x="647" y="1109"/>
                  </a:lnTo>
                  <a:lnTo>
                    <a:pt x="652" y="1134"/>
                  </a:lnTo>
                  <a:lnTo>
                    <a:pt x="652" y="1156"/>
                  </a:lnTo>
                  <a:lnTo>
                    <a:pt x="622" y="1168"/>
                  </a:lnTo>
                  <a:lnTo>
                    <a:pt x="566" y="1171"/>
                  </a:lnTo>
                  <a:lnTo>
                    <a:pt x="526" y="1183"/>
                  </a:lnTo>
                  <a:lnTo>
                    <a:pt x="439" y="1213"/>
                  </a:lnTo>
                  <a:lnTo>
                    <a:pt x="389" y="1214"/>
                  </a:lnTo>
                  <a:lnTo>
                    <a:pt x="373" y="1236"/>
                  </a:lnTo>
                  <a:lnTo>
                    <a:pt x="395" y="1244"/>
                  </a:lnTo>
                  <a:lnTo>
                    <a:pt x="439" y="1235"/>
                  </a:lnTo>
                  <a:lnTo>
                    <a:pt x="504" y="1214"/>
                  </a:lnTo>
                  <a:lnTo>
                    <a:pt x="541" y="1201"/>
                  </a:lnTo>
                  <a:lnTo>
                    <a:pt x="588" y="1190"/>
                  </a:lnTo>
                  <a:lnTo>
                    <a:pt x="625" y="1192"/>
                  </a:lnTo>
                  <a:lnTo>
                    <a:pt x="637" y="1192"/>
                  </a:lnTo>
                  <a:lnTo>
                    <a:pt x="637" y="1227"/>
                  </a:lnTo>
                  <a:lnTo>
                    <a:pt x="647" y="1244"/>
                  </a:lnTo>
                  <a:lnTo>
                    <a:pt x="581" y="1259"/>
                  </a:lnTo>
                  <a:lnTo>
                    <a:pt x="522" y="1303"/>
                  </a:lnTo>
                  <a:lnTo>
                    <a:pt x="456" y="1325"/>
                  </a:lnTo>
                  <a:lnTo>
                    <a:pt x="411" y="1332"/>
                  </a:lnTo>
                  <a:lnTo>
                    <a:pt x="374" y="1352"/>
                  </a:lnTo>
                  <a:lnTo>
                    <a:pt x="389" y="1366"/>
                  </a:lnTo>
                  <a:lnTo>
                    <a:pt x="426" y="1354"/>
                  </a:lnTo>
                  <a:lnTo>
                    <a:pt x="467" y="1340"/>
                  </a:lnTo>
                  <a:lnTo>
                    <a:pt x="515" y="1332"/>
                  </a:lnTo>
                  <a:lnTo>
                    <a:pt x="556" y="1307"/>
                  </a:lnTo>
                  <a:lnTo>
                    <a:pt x="578" y="1285"/>
                  </a:lnTo>
                  <a:lnTo>
                    <a:pt x="608" y="1281"/>
                  </a:lnTo>
                  <a:lnTo>
                    <a:pt x="644" y="1281"/>
                  </a:lnTo>
                  <a:lnTo>
                    <a:pt x="655" y="1285"/>
                  </a:lnTo>
                  <a:lnTo>
                    <a:pt x="667" y="1310"/>
                  </a:lnTo>
                  <a:lnTo>
                    <a:pt x="674" y="1340"/>
                  </a:lnTo>
                  <a:lnTo>
                    <a:pt x="667" y="1366"/>
                  </a:lnTo>
                  <a:lnTo>
                    <a:pt x="652" y="1381"/>
                  </a:lnTo>
                  <a:lnTo>
                    <a:pt x="640" y="1418"/>
                  </a:lnTo>
                  <a:lnTo>
                    <a:pt x="652" y="1433"/>
                  </a:lnTo>
                  <a:lnTo>
                    <a:pt x="667" y="1448"/>
                  </a:lnTo>
                  <a:lnTo>
                    <a:pt x="667" y="1462"/>
                  </a:lnTo>
                  <a:lnTo>
                    <a:pt x="647" y="14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01" name="Freeform 89">
              <a:extLst>
                <a:ext uri="{FF2B5EF4-FFF2-40B4-BE49-F238E27FC236}">
                  <a16:creationId xmlns="" xmlns:a16="http://schemas.microsoft.com/office/drawing/2014/main" id="{E03C4AEB-FFBB-4D8C-8BD1-648F5D29FD8B}"/>
                </a:ext>
              </a:extLst>
            </p:cNvPr>
            <p:cNvSpPr>
              <a:spLocks/>
            </p:cNvSpPr>
            <p:nvPr/>
          </p:nvSpPr>
          <p:spPr bwMode="auto">
            <a:xfrm>
              <a:off x="652" y="3304"/>
              <a:ext cx="110" cy="36"/>
            </a:xfrm>
            <a:custGeom>
              <a:avLst/>
              <a:gdLst>
                <a:gd name="T0" fmla="*/ 0 w 221"/>
                <a:gd name="T1" fmla="*/ 57 h 72"/>
                <a:gd name="T2" fmla="*/ 88 w 221"/>
                <a:gd name="T3" fmla="*/ 54 h 72"/>
                <a:gd name="T4" fmla="*/ 122 w 221"/>
                <a:gd name="T5" fmla="*/ 35 h 72"/>
                <a:gd name="T6" fmla="*/ 151 w 221"/>
                <a:gd name="T7" fmla="*/ 13 h 72"/>
                <a:gd name="T8" fmla="*/ 206 w 221"/>
                <a:gd name="T9" fmla="*/ 0 h 72"/>
                <a:gd name="T10" fmla="*/ 221 w 221"/>
                <a:gd name="T11" fmla="*/ 13 h 72"/>
                <a:gd name="T12" fmla="*/ 197 w 221"/>
                <a:gd name="T13" fmla="*/ 20 h 72"/>
                <a:gd name="T14" fmla="*/ 159 w 221"/>
                <a:gd name="T15" fmla="*/ 41 h 72"/>
                <a:gd name="T16" fmla="*/ 139 w 221"/>
                <a:gd name="T17" fmla="*/ 54 h 72"/>
                <a:gd name="T18" fmla="*/ 103 w 221"/>
                <a:gd name="T19" fmla="*/ 64 h 72"/>
                <a:gd name="T20" fmla="*/ 48 w 221"/>
                <a:gd name="T21" fmla="*/ 69 h 72"/>
                <a:gd name="T22" fmla="*/ 5 w 221"/>
                <a:gd name="T23" fmla="*/ 72 h 72"/>
                <a:gd name="T24" fmla="*/ 0 w 221"/>
                <a:gd name="T25" fmla="*/ 5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 h="72">
                  <a:moveTo>
                    <a:pt x="0" y="57"/>
                  </a:moveTo>
                  <a:lnTo>
                    <a:pt x="88" y="54"/>
                  </a:lnTo>
                  <a:lnTo>
                    <a:pt x="122" y="35"/>
                  </a:lnTo>
                  <a:lnTo>
                    <a:pt x="151" y="13"/>
                  </a:lnTo>
                  <a:lnTo>
                    <a:pt x="206" y="0"/>
                  </a:lnTo>
                  <a:lnTo>
                    <a:pt x="221" y="13"/>
                  </a:lnTo>
                  <a:lnTo>
                    <a:pt x="197" y="20"/>
                  </a:lnTo>
                  <a:lnTo>
                    <a:pt x="159" y="41"/>
                  </a:lnTo>
                  <a:lnTo>
                    <a:pt x="139" y="54"/>
                  </a:lnTo>
                  <a:lnTo>
                    <a:pt x="103" y="64"/>
                  </a:lnTo>
                  <a:lnTo>
                    <a:pt x="48" y="69"/>
                  </a:lnTo>
                  <a:lnTo>
                    <a:pt x="5" y="72"/>
                  </a:lnTo>
                  <a:lnTo>
                    <a:pt x="0" y="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02" name="Freeform 90">
              <a:extLst>
                <a:ext uri="{FF2B5EF4-FFF2-40B4-BE49-F238E27FC236}">
                  <a16:creationId xmlns="" xmlns:a16="http://schemas.microsoft.com/office/drawing/2014/main" id="{52101580-8E04-4847-BB6F-EAFB9C6583D4}"/>
                </a:ext>
              </a:extLst>
            </p:cNvPr>
            <p:cNvSpPr>
              <a:spLocks/>
            </p:cNvSpPr>
            <p:nvPr/>
          </p:nvSpPr>
          <p:spPr bwMode="auto">
            <a:xfrm>
              <a:off x="483" y="2512"/>
              <a:ext cx="320" cy="174"/>
            </a:xfrm>
            <a:custGeom>
              <a:avLst/>
              <a:gdLst>
                <a:gd name="T0" fmla="*/ 19 w 640"/>
                <a:gd name="T1" fmla="*/ 39 h 347"/>
                <a:gd name="T2" fmla="*/ 95 w 640"/>
                <a:gd name="T3" fmla="*/ 43 h 347"/>
                <a:gd name="T4" fmla="*/ 176 w 640"/>
                <a:gd name="T5" fmla="*/ 46 h 347"/>
                <a:gd name="T6" fmla="*/ 228 w 640"/>
                <a:gd name="T7" fmla="*/ 46 h 347"/>
                <a:gd name="T8" fmla="*/ 269 w 640"/>
                <a:gd name="T9" fmla="*/ 36 h 347"/>
                <a:gd name="T10" fmla="*/ 336 w 640"/>
                <a:gd name="T11" fmla="*/ 17 h 347"/>
                <a:gd name="T12" fmla="*/ 368 w 640"/>
                <a:gd name="T13" fmla="*/ 0 h 347"/>
                <a:gd name="T14" fmla="*/ 411 w 640"/>
                <a:gd name="T15" fmla="*/ 24 h 347"/>
                <a:gd name="T16" fmla="*/ 482 w 640"/>
                <a:gd name="T17" fmla="*/ 73 h 347"/>
                <a:gd name="T18" fmla="*/ 534 w 640"/>
                <a:gd name="T19" fmla="*/ 109 h 347"/>
                <a:gd name="T20" fmla="*/ 600 w 640"/>
                <a:gd name="T21" fmla="*/ 155 h 347"/>
                <a:gd name="T22" fmla="*/ 640 w 640"/>
                <a:gd name="T23" fmla="*/ 191 h 347"/>
                <a:gd name="T24" fmla="*/ 603 w 640"/>
                <a:gd name="T25" fmla="*/ 222 h 347"/>
                <a:gd name="T26" fmla="*/ 566 w 640"/>
                <a:gd name="T27" fmla="*/ 257 h 347"/>
                <a:gd name="T28" fmla="*/ 507 w 640"/>
                <a:gd name="T29" fmla="*/ 281 h 347"/>
                <a:gd name="T30" fmla="*/ 446 w 640"/>
                <a:gd name="T31" fmla="*/ 307 h 347"/>
                <a:gd name="T32" fmla="*/ 389 w 640"/>
                <a:gd name="T33" fmla="*/ 329 h 347"/>
                <a:gd name="T34" fmla="*/ 337 w 640"/>
                <a:gd name="T35" fmla="*/ 337 h 347"/>
                <a:gd name="T36" fmla="*/ 284 w 640"/>
                <a:gd name="T37" fmla="*/ 347 h 347"/>
                <a:gd name="T38" fmla="*/ 217 w 640"/>
                <a:gd name="T39" fmla="*/ 300 h 347"/>
                <a:gd name="T40" fmla="*/ 167 w 640"/>
                <a:gd name="T41" fmla="*/ 259 h 347"/>
                <a:gd name="T42" fmla="*/ 108 w 640"/>
                <a:gd name="T43" fmla="*/ 207 h 347"/>
                <a:gd name="T44" fmla="*/ 59 w 640"/>
                <a:gd name="T45" fmla="*/ 155 h 347"/>
                <a:gd name="T46" fmla="*/ 22 w 640"/>
                <a:gd name="T47" fmla="*/ 120 h 347"/>
                <a:gd name="T48" fmla="*/ 0 w 640"/>
                <a:gd name="T49" fmla="*/ 68 h 347"/>
                <a:gd name="T50" fmla="*/ 19 w 640"/>
                <a:gd name="T51" fmla="*/ 3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0" h="347">
                  <a:moveTo>
                    <a:pt x="19" y="39"/>
                  </a:moveTo>
                  <a:lnTo>
                    <a:pt x="95" y="43"/>
                  </a:lnTo>
                  <a:lnTo>
                    <a:pt x="176" y="46"/>
                  </a:lnTo>
                  <a:lnTo>
                    <a:pt x="228" y="46"/>
                  </a:lnTo>
                  <a:lnTo>
                    <a:pt x="269" y="36"/>
                  </a:lnTo>
                  <a:lnTo>
                    <a:pt x="336" y="17"/>
                  </a:lnTo>
                  <a:lnTo>
                    <a:pt x="368" y="0"/>
                  </a:lnTo>
                  <a:lnTo>
                    <a:pt x="411" y="24"/>
                  </a:lnTo>
                  <a:lnTo>
                    <a:pt x="482" y="73"/>
                  </a:lnTo>
                  <a:lnTo>
                    <a:pt x="534" y="109"/>
                  </a:lnTo>
                  <a:lnTo>
                    <a:pt x="600" y="155"/>
                  </a:lnTo>
                  <a:lnTo>
                    <a:pt x="640" y="191"/>
                  </a:lnTo>
                  <a:lnTo>
                    <a:pt x="603" y="222"/>
                  </a:lnTo>
                  <a:lnTo>
                    <a:pt x="566" y="257"/>
                  </a:lnTo>
                  <a:lnTo>
                    <a:pt x="507" y="281"/>
                  </a:lnTo>
                  <a:lnTo>
                    <a:pt x="446" y="307"/>
                  </a:lnTo>
                  <a:lnTo>
                    <a:pt x="389" y="329"/>
                  </a:lnTo>
                  <a:lnTo>
                    <a:pt x="337" y="337"/>
                  </a:lnTo>
                  <a:lnTo>
                    <a:pt x="284" y="347"/>
                  </a:lnTo>
                  <a:lnTo>
                    <a:pt x="217" y="300"/>
                  </a:lnTo>
                  <a:lnTo>
                    <a:pt x="167" y="259"/>
                  </a:lnTo>
                  <a:lnTo>
                    <a:pt x="108" y="207"/>
                  </a:lnTo>
                  <a:lnTo>
                    <a:pt x="59" y="155"/>
                  </a:lnTo>
                  <a:lnTo>
                    <a:pt x="22" y="120"/>
                  </a:lnTo>
                  <a:lnTo>
                    <a:pt x="0" y="68"/>
                  </a:lnTo>
                  <a:lnTo>
                    <a:pt x="19" y="39"/>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03" name="Freeform 91">
              <a:extLst>
                <a:ext uri="{FF2B5EF4-FFF2-40B4-BE49-F238E27FC236}">
                  <a16:creationId xmlns="" xmlns:a16="http://schemas.microsoft.com/office/drawing/2014/main" id="{01405EFF-392C-4528-9FCF-B4F3E4284F8B}"/>
                </a:ext>
              </a:extLst>
            </p:cNvPr>
            <p:cNvSpPr>
              <a:spLocks/>
            </p:cNvSpPr>
            <p:nvPr/>
          </p:nvSpPr>
          <p:spPr bwMode="auto">
            <a:xfrm>
              <a:off x="475" y="2507"/>
              <a:ext cx="346" cy="202"/>
            </a:xfrm>
            <a:custGeom>
              <a:avLst/>
              <a:gdLst>
                <a:gd name="T0" fmla="*/ 339 w 692"/>
                <a:gd name="T1" fmla="*/ 346 h 404"/>
                <a:gd name="T2" fmla="*/ 449 w 692"/>
                <a:gd name="T3" fmla="*/ 315 h 404"/>
                <a:gd name="T4" fmla="*/ 538 w 692"/>
                <a:gd name="T5" fmla="*/ 277 h 404"/>
                <a:gd name="T6" fmla="*/ 602 w 692"/>
                <a:gd name="T7" fmla="*/ 232 h 404"/>
                <a:gd name="T8" fmla="*/ 627 w 692"/>
                <a:gd name="T9" fmla="*/ 206 h 404"/>
                <a:gd name="T10" fmla="*/ 535 w 692"/>
                <a:gd name="T11" fmla="*/ 123 h 404"/>
                <a:gd name="T12" fmla="*/ 461 w 692"/>
                <a:gd name="T13" fmla="*/ 78 h 404"/>
                <a:gd name="T14" fmla="*/ 390 w 692"/>
                <a:gd name="T15" fmla="*/ 34 h 404"/>
                <a:gd name="T16" fmla="*/ 376 w 692"/>
                <a:gd name="T17" fmla="*/ 34 h 404"/>
                <a:gd name="T18" fmla="*/ 331 w 692"/>
                <a:gd name="T19" fmla="*/ 49 h 404"/>
                <a:gd name="T20" fmla="*/ 272 w 692"/>
                <a:gd name="T21" fmla="*/ 65 h 404"/>
                <a:gd name="T22" fmla="*/ 167 w 692"/>
                <a:gd name="T23" fmla="*/ 73 h 404"/>
                <a:gd name="T24" fmla="*/ 65 w 692"/>
                <a:gd name="T25" fmla="*/ 71 h 404"/>
                <a:gd name="T26" fmla="*/ 37 w 692"/>
                <a:gd name="T27" fmla="*/ 73 h 404"/>
                <a:gd name="T28" fmla="*/ 37 w 692"/>
                <a:gd name="T29" fmla="*/ 93 h 404"/>
                <a:gd name="T30" fmla="*/ 59 w 692"/>
                <a:gd name="T31" fmla="*/ 123 h 404"/>
                <a:gd name="T32" fmla="*/ 102 w 692"/>
                <a:gd name="T33" fmla="*/ 176 h 404"/>
                <a:gd name="T34" fmla="*/ 155 w 692"/>
                <a:gd name="T35" fmla="*/ 220 h 404"/>
                <a:gd name="T36" fmla="*/ 220 w 692"/>
                <a:gd name="T37" fmla="*/ 284 h 404"/>
                <a:gd name="T38" fmla="*/ 285 w 692"/>
                <a:gd name="T39" fmla="*/ 330 h 404"/>
                <a:gd name="T40" fmla="*/ 324 w 692"/>
                <a:gd name="T41" fmla="*/ 358 h 404"/>
                <a:gd name="T42" fmla="*/ 337 w 692"/>
                <a:gd name="T43" fmla="*/ 387 h 404"/>
                <a:gd name="T44" fmla="*/ 322 w 692"/>
                <a:gd name="T45" fmla="*/ 404 h 404"/>
                <a:gd name="T46" fmla="*/ 300 w 692"/>
                <a:gd name="T47" fmla="*/ 395 h 404"/>
                <a:gd name="T48" fmla="*/ 236 w 692"/>
                <a:gd name="T49" fmla="*/ 336 h 404"/>
                <a:gd name="T50" fmla="*/ 155 w 692"/>
                <a:gd name="T51" fmla="*/ 269 h 404"/>
                <a:gd name="T52" fmla="*/ 96 w 692"/>
                <a:gd name="T53" fmla="*/ 220 h 404"/>
                <a:gd name="T54" fmla="*/ 56 w 692"/>
                <a:gd name="T55" fmla="*/ 176 h 404"/>
                <a:gd name="T56" fmla="*/ 22 w 692"/>
                <a:gd name="T57" fmla="*/ 130 h 404"/>
                <a:gd name="T58" fmla="*/ 7 w 692"/>
                <a:gd name="T59" fmla="*/ 99 h 404"/>
                <a:gd name="T60" fmla="*/ 0 w 692"/>
                <a:gd name="T61" fmla="*/ 65 h 404"/>
                <a:gd name="T62" fmla="*/ 10 w 692"/>
                <a:gd name="T63" fmla="*/ 43 h 404"/>
                <a:gd name="T64" fmla="*/ 34 w 692"/>
                <a:gd name="T65" fmla="*/ 34 h 404"/>
                <a:gd name="T66" fmla="*/ 78 w 692"/>
                <a:gd name="T67" fmla="*/ 37 h 404"/>
                <a:gd name="T68" fmla="*/ 162 w 692"/>
                <a:gd name="T69" fmla="*/ 49 h 404"/>
                <a:gd name="T70" fmla="*/ 233 w 692"/>
                <a:gd name="T71" fmla="*/ 49 h 404"/>
                <a:gd name="T72" fmla="*/ 285 w 692"/>
                <a:gd name="T73" fmla="*/ 34 h 404"/>
                <a:gd name="T74" fmla="*/ 344 w 692"/>
                <a:gd name="T75" fmla="*/ 22 h 404"/>
                <a:gd name="T76" fmla="*/ 368 w 692"/>
                <a:gd name="T77" fmla="*/ 0 h 404"/>
                <a:gd name="T78" fmla="*/ 396 w 692"/>
                <a:gd name="T79" fmla="*/ 0 h 404"/>
                <a:gd name="T80" fmla="*/ 457 w 692"/>
                <a:gd name="T81" fmla="*/ 37 h 404"/>
                <a:gd name="T82" fmla="*/ 523 w 692"/>
                <a:gd name="T83" fmla="*/ 87 h 404"/>
                <a:gd name="T84" fmla="*/ 594 w 692"/>
                <a:gd name="T85" fmla="*/ 132 h 404"/>
                <a:gd name="T86" fmla="*/ 633 w 692"/>
                <a:gd name="T87" fmla="*/ 161 h 404"/>
                <a:gd name="T88" fmla="*/ 674 w 692"/>
                <a:gd name="T89" fmla="*/ 188 h 404"/>
                <a:gd name="T90" fmla="*/ 692 w 692"/>
                <a:gd name="T91" fmla="*/ 198 h 404"/>
                <a:gd name="T92" fmla="*/ 683 w 692"/>
                <a:gd name="T93" fmla="*/ 218 h 404"/>
                <a:gd name="T94" fmla="*/ 653 w 692"/>
                <a:gd name="T95" fmla="*/ 235 h 404"/>
                <a:gd name="T96" fmla="*/ 618 w 692"/>
                <a:gd name="T97" fmla="*/ 265 h 404"/>
                <a:gd name="T98" fmla="*/ 587 w 692"/>
                <a:gd name="T99" fmla="*/ 277 h 404"/>
                <a:gd name="T100" fmla="*/ 528 w 692"/>
                <a:gd name="T101" fmla="*/ 302 h 404"/>
                <a:gd name="T102" fmla="*/ 486 w 692"/>
                <a:gd name="T103" fmla="*/ 321 h 404"/>
                <a:gd name="T104" fmla="*/ 439 w 692"/>
                <a:gd name="T105" fmla="*/ 350 h 404"/>
                <a:gd name="T106" fmla="*/ 390 w 692"/>
                <a:gd name="T107" fmla="*/ 358 h 404"/>
                <a:gd name="T108" fmla="*/ 352 w 692"/>
                <a:gd name="T109" fmla="*/ 361 h 404"/>
                <a:gd name="T110" fmla="*/ 339 w 692"/>
                <a:gd name="T111" fmla="*/ 346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 h="404">
                  <a:moveTo>
                    <a:pt x="339" y="346"/>
                  </a:moveTo>
                  <a:lnTo>
                    <a:pt x="449" y="315"/>
                  </a:lnTo>
                  <a:lnTo>
                    <a:pt x="538" y="277"/>
                  </a:lnTo>
                  <a:lnTo>
                    <a:pt x="602" y="232"/>
                  </a:lnTo>
                  <a:lnTo>
                    <a:pt x="627" y="206"/>
                  </a:lnTo>
                  <a:lnTo>
                    <a:pt x="535" y="123"/>
                  </a:lnTo>
                  <a:lnTo>
                    <a:pt x="461" y="78"/>
                  </a:lnTo>
                  <a:lnTo>
                    <a:pt x="390" y="34"/>
                  </a:lnTo>
                  <a:lnTo>
                    <a:pt x="376" y="34"/>
                  </a:lnTo>
                  <a:lnTo>
                    <a:pt x="331" y="49"/>
                  </a:lnTo>
                  <a:lnTo>
                    <a:pt x="272" y="65"/>
                  </a:lnTo>
                  <a:lnTo>
                    <a:pt x="167" y="73"/>
                  </a:lnTo>
                  <a:lnTo>
                    <a:pt x="65" y="71"/>
                  </a:lnTo>
                  <a:lnTo>
                    <a:pt x="37" y="73"/>
                  </a:lnTo>
                  <a:lnTo>
                    <a:pt x="37" y="93"/>
                  </a:lnTo>
                  <a:lnTo>
                    <a:pt x="59" y="123"/>
                  </a:lnTo>
                  <a:lnTo>
                    <a:pt x="102" y="176"/>
                  </a:lnTo>
                  <a:lnTo>
                    <a:pt x="155" y="220"/>
                  </a:lnTo>
                  <a:lnTo>
                    <a:pt x="220" y="284"/>
                  </a:lnTo>
                  <a:lnTo>
                    <a:pt x="285" y="330"/>
                  </a:lnTo>
                  <a:lnTo>
                    <a:pt x="324" y="358"/>
                  </a:lnTo>
                  <a:lnTo>
                    <a:pt x="337" y="387"/>
                  </a:lnTo>
                  <a:lnTo>
                    <a:pt x="322" y="404"/>
                  </a:lnTo>
                  <a:lnTo>
                    <a:pt x="300" y="395"/>
                  </a:lnTo>
                  <a:lnTo>
                    <a:pt x="236" y="336"/>
                  </a:lnTo>
                  <a:lnTo>
                    <a:pt x="155" y="269"/>
                  </a:lnTo>
                  <a:lnTo>
                    <a:pt x="96" y="220"/>
                  </a:lnTo>
                  <a:lnTo>
                    <a:pt x="56" y="176"/>
                  </a:lnTo>
                  <a:lnTo>
                    <a:pt x="22" y="130"/>
                  </a:lnTo>
                  <a:lnTo>
                    <a:pt x="7" y="99"/>
                  </a:lnTo>
                  <a:lnTo>
                    <a:pt x="0" y="65"/>
                  </a:lnTo>
                  <a:lnTo>
                    <a:pt x="10" y="43"/>
                  </a:lnTo>
                  <a:lnTo>
                    <a:pt x="34" y="34"/>
                  </a:lnTo>
                  <a:lnTo>
                    <a:pt x="78" y="37"/>
                  </a:lnTo>
                  <a:lnTo>
                    <a:pt x="162" y="49"/>
                  </a:lnTo>
                  <a:lnTo>
                    <a:pt x="233" y="49"/>
                  </a:lnTo>
                  <a:lnTo>
                    <a:pt x="285" y="34"/>
                  </a:lnTo>
                  <a:lnTo>
                    <a:pt x="344" y="22"/>
                  </a:lnTo>
                  <a:lnTo>
                    <a:pt x="368" y="0"/>
                  </a:lnTo>
                  <a:lnTo>
                    <a:pt x="396" y="0"/>
                  </a:lnTo>
                  <a:lnTo>
                    <a:pt x="457" y="37"/>
                  </a:lnTo>
                  <a:lnTo>
                    <a:pt x="523" y="87"/>
                  </a:lnTo>
                  <a:lnTo>
                    <a:pt x="594" y="132"/>
                  </a:lnTo>
                  <a:lnTo>
                    <a:pt x="633" y="161"/>
                  </a:lnTo>
                  <a:lnTo>
                    <a:pt x="674" y="188"/>
                  </a:lnTo>
                  <a:lnTo>
                    <a:pt x="692" y="198"/>
                  </a:lnTo>
                  <a:lnTo>
                    <a:pt x="683" y="218"/>
                  </a:lnTo>
                  <a:lnTo>
                    <a:pt x="653" y="235"/>
                  </a:lnTo>
                  <a:lnTo>
                    <a:pt x="618" y="265"/>
                  </a:lnTo>
                  <a:lnTo>
                    <a:pt x="587" y="277"/>
                  </a:lnTo>
                  <a:lnTo>
                    <a:pt x="528" y="302"/>
                  </a:lnTo>
                  <a:lnTo>
                    <a:pt x="486" y="321"/>
                  </a:lnTo>
                  <a:lnTo>
                    <a:pt x="439" y="350"/>
                  </a:lnTo>
                  <a:lnTo>
                    <a:pt x="390" y="358"/>
                  </a:lnTo>
                  <a:lnTo>
                    <a:pt x="352" y="361"/>
                  </a:lnTo>
                  <a:lnTo>
                    <a:pt x="339" y="3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04" name="Freeform 92">
              <a:extLst>
                <a:ext uri="{FF2B5EF4-FFF2-40B4-BE49-F238E27FC236}">
                  <a16:creationId xmlns="" xmlns:a16="http://schemas.microsoft.com/office/drawing/2014/main" id="{0DAC60FA-084E-4B6F-B1C5-88D28ECAA9C2}"/>
                </a:ext>
              </a:extLst>
            </p:cNvPr>
            <p:cNvSpPr>
              <a:spLocks/>
            </p:cNvSpPr>
            <p:nvPr/>
          </p:nvSpPr>
          <p:spPr bwMode="auto">
            <a:xfrm>
              <a:off x="670" y="2660"/>
              <a:ext cx="110" cy="70"/>
            </a:xfrm>
            <a:custGeom>
              <a:avLst/>
              <a:gdLst>
                <a:gd name="T0" fmla="*/ 185 w 219"/>
                <a:gd name="T1" fmla="*/ 16 h 139"/>
                <a:gd name="T2" fmla="*/ 139 w 219"/>
                <a:gd name="T3" fmla="*/ 53 h 139"/>
                <a:gd name="T4" fmla="*/ 96 w 219"/>
                <a:gd name="T5" fmla="*/ 87 h 139"/>
                <a:gd name="T6" fmla="*/ 35 w 219"/>
                <a:gd name="T7" fmla="*/ 109 h 139"/>
                <a:gd name="T8" fmla="*/ 0 w 219"/>
                <a:gd name="T9" fmla="*/ 120 h 139"/>
                <a:gd name="T10" fmla="*/ 28 w 219"/>
                <a:gd name="T11" fmla="*/ 139 h 139"/>
                <a:gd name="T12" fmla="*/ 72 w 219"/>
                <a:gd name="T13" fmla="*/ 132 h 139"/>
                <a:gd name="T14" fmla="*/ 140 w 219"/>
                <a:gd name="T15" fmla="*/ 87 h 139"/>
                <a:gd name="T16" fmla="*/ 219 w 219"/>
                <a:gd name="T17" fmla="*/ 0 h 139"/>
                <a:gd name="T18" fmla="*/ 185 w 219"/>
                <a:gd name="T19" fmla="*/ 16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139">
                  <a:moveTo>
                    <a:pt x="185" y="16"/>
                  </a:moveTo>
                  <a:lnTo>
                    <a:pt x="139" y="53"/>
                  </a:lnTo>
                  <a:lnTo>
                    <a:pt x="96" y="87"/>
                  </a:lnTo>
                  <a:lnTo>
                    <a:pt x="35" y="109"/>
                  </a:lnTo>
                  <a:lnTo>
                    <a:pt x="0" y="120"/>
                  </a:lnTo>
                  <a:lnTo>
                    <a:pt x="28" y="139"/>
                  </a:lnTo>
                  <a:lnTo>
                    <a:pt x="72" y="132"/>
                  </a:lnTo>
                  <a:lnTo>
                    <a:pt x="140" y="87"/>
                  </a:lnTo>
                  <a:lnTo>
                    <a:pt x="219" y="0"/>
                  </a:lnTo>
                  <a:lnTo>
                    <a:pt x="185"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88605" name="Group 93">
            <a:extLst>
              <a:ext uri="{FF2B5EF4-FFF2-40B4-BE49-F238E27FC236}">
                <a16:creationId xmlns="" xmlns:a16="http://schemas.microsoft.com/office/drawing/2014/main" id="{4B81B1BE-C410-4B4A-96E8-F254B22D35B9}"/>
              </a:ext>
            </a:extLst>
          </p:cNvPr>
          <p:cNvGrpSpPr>
            <a:grpSpLocks/>
          </p:cNvGrpSpPr>
          <p:nvPr/>
        </p:nvGrpSpPr>
        <p:grpSpPr bwMode="auto">
          <a:xfrm>
            <a:off x="1548474" y="3826826"/>
            <a:ext cx="641350" cy="1446212"/>
            <a:chOff x="618" y="2641"/>
            <a:chExt cx="404" cy="911"/>
          </a:xfrm>
        </p:grpSpPr>
        <p:sp>
          <p:nvSpPr>
            <p:cNvPr id="1088606" name="Freeform 94">
              <a:extLst>
                <a:ext uri="{FF2B5EF4-FFF2-40B4-BE49-F238E27FC236}">
                  <a16:creationId xmlns="" xmlns:a16="http://schemas.microsoft.com/office/drawing/2014/main" id="{3C30E918-432D-4632-A40D-0A270F0312E8}"/>
                </a:ext>
              </a:extLst>
            </p:cNvPr>
            <p:cNvSpPr>
              <a:spLocks/>
            </p:cNvSpPr>
            <p:nvPr/>
          </p:nvSpPr>
          <p:spPr bwMode="auto">
            <a:xfrm>
              <a:off x="626" y="2681"/>
              <a:ext cx="212" cy="859"/>
            </a:xfrm>
            <a:custGeom>
              <a:avLst/>
              <a:gdLst>
                <a:gd name="T0" fmla="*/ 417 w 424"/>
                <a:gd name="T1" fmla="*/ 309 h 1717"/>
                <a:gd name="T2" fmla="*/ 424 w 424"/>
                <a:gd name="T3" fmla="*/ 372 h 1717"/>
                <a:gd name="T4" fmla="*/ 424 w 424"/>
                <a:gd name="T5" fmla="*/ 713 h 1717"/>
                <a:gd name="T6" fmla="*/ 394 w 424"/>
                <a:gd name="T7" fmla="*/ 1169 h 1717"/>
                <a:gd name="T8" fmla="*/ 396 w 424"/>
                <a:gd name="T9" fmla="*/ 1460 h 1717"/>
                <a:gd name="T10" fmla="*/ 411 w 424"/>
                <a:gd name="T11" fmla="*/ 1661 h 1717"/>
                <a:gd name="T12" fmla="*/ 396 w 424"/>
                <a:gd name="T13" fmla="*/ 1717 h 1717"/>
                <a:gd name="T14" fmla="*/ 372 w 424"/>
                <a:gd name="T15" fmla="*/ 1705 h 1717"/>
                <a:gd name="T16" fmla="*/ 228 w 424"/>
                <a:gd name="T17" fmla="*/ 1594 h 1717"/>
                <a:gd name="T18" fmla="*/ 191 w 424"/>
                <a:gd name="T19" fmla="*/ 1572 h 1717"/>
                <a:gd name="T20" fmla="*/ 169 w 424"/>
                <a:gd name="T21" fmla="*/ 1541 h 1717"/>
                <a:gd name="T22" fmla="*/ 133 w 424"/>
                <a:gd name="T23" fmla="*/ 1499 h 1717"/>
                <a:gd name="T24" fmla="*/ 83 w 424"/>
                <a:gd name="T25" fmla="*/ 1455 h 1717"/>
                <a:gd name="T26" fmla="*/ 59 w 424"/>
                <a:gd name="T27" fmla="*/ 1396 h 1717"/>
                <a:gd name="T28" fmla="*/ 0 w 424"/>
                <a:gd name="T29" fmla="*/ 1346 h 1717"/>
                <a:gd name="T30" fmla="*/ 0 w 424"/>
                <a:gd name="T31" fmla="*/ 1315 h 1717"/>
                <a:gd name="T32" fmla="*/ 31 w 424"/>
                <a:gd name="T33" fmla="*/ 1276 h 1717"/>
                <a:gd name="T34" fmla="*/ 44 w 424"/>
                <a:gd name="T35" fmla="*/ 1225 h 1717"/>
                <a:gd name="T36" fmla="*/ 37 w 424"/>
                <a:gd name="T37" fmla="*/ 1198 h 1717"/>
                <a:gd name="T38" fmla="*/ 22 w 424"/>
                <a:gd name="T39" fmla="*/ 1154 h 1717"/>
                <a:gd name="T40" fmla="*/ 16 w 424"/>
                <a:gd name="T41" fmla="*/ 1123 h 1717"/>
                <a:gd name="T42" fmla="*/ 40 w 424"/>
                <a:gd name="T43" fmla="*/ 1073 h 1717"/>
                <a:gd name="T44" fmla="*/ 40 w 424"/>
                <a:gd name="T45" fmla="*/ 1041 h 1717"/>
                <a:gd name="T46" fmla="*/ 15 w 424"/>
                <a:gd name="T47" fmla="*/ 975 h 1717"/>
                <a:gd name="T48" fmla="*/ 15 w 424"/>
                <a:gd name="T49" fmla="*/ 938 h 1717"/>
                <a:gd name="T50" fmla="*/ 29 w 424"/>
                <a:gd name="T51" fmla="*/ 909 h 1717"/>
                <a:gd name="T52" fmla="*/ 53 w 424"/>
                <a:gd name="T53" fmla="*/ 875 h 1717"/>
                <a:gd name="T54" fmla="*/ 52 w 424"/>
                <a:gd name="T55" fmla="*/ 816 h 1717"/>
                <a:gd name="T56" fmla="*/ 37 w 424"/>
                <a:gd name="T57" fmla="*/ 769 h 1717"/>
                <a:gd name="T58" fmla="*/ 52 w 424"/>
                <a:gd name="T59" fmla="*/ 713 h 1717"/>
                <a:gd name="T60" fmla="*/ 66 w 424"/>
                <a:gd name="T61" fmla="*/ 699 h 1717"/>
                <a:gd name="T62" fmla="*/ 53 w 424"/>
                <a:gd name="T63" fmla="*/ 647 h 1717"/>
                <a:gd name="T64" fmla="*/ 22 w 424"/>
                <a:gd name="T65" fmla="*/ 592 h 1717"/>
                <a:gd name="T66" fmla="*/ 15 w 424"/>
                <a:gd name="T67" fmla="*/ 557 h 1717"/>
                <a:gd name="T68" fmla="*/ 22 w 424"/>
                <a:gd name="T69" fmla="*/ 523 h 1717"/>
                <a:gd name="T70" fmla="*/ 61 w 424"/>
                <a:gd name="T71" fmla="*/ 492 h 1717"/>
                <a:gd name="T72" fmla="*/ 59 w 424"/>
                <a:gd name="T73" fmla="*/ 468 h 1717"/>
                <a:gd name="T74" fmla="*/ 16 w 424"/>
                <a:gd name="T75" fmla="*/ 390 h 1717"/>
                <a:gd name="T76" fmla="*/ 3 w 424"/>
                <a:gd name="T77" fmla="*/ 328 h 1717"/>
                <a:gd name="T78" fmla="*/ 15 w 424"/>
                <a:gd name="T79" fmla="*/ 294 h 1717"/>
                <a:gd name="T80" fmla="*/ 53 w 424"/>
                <a:gd name="T81" fmla="*/ 263 h 1717"/>
                <a:gd name="T82" fmla="*/ 44 w 424"/>
                <a:gd name="T83" fmla="*/ 235 h 1717"/>
                <a:gd name="T84" fmla="*/ 16 w 424"/>
                <a:gd name="T85" fmla="*/ 204 h 1717"/>
                <a:gd name="T86" fmla="*/ 16 w 424"/>
                <a:gd name="T87" fmla="*/ 170 h 1717"/>
                <a:gd name="T88" fmla="*/ 61 w 424"/>
                <a:gd name="T89" fmla="*/ 147 h 1717"/>
                <a:gd name="T90" fmla="*/ 81 w 424"/>
                <a:gd name="T91" fmla="*/ 122 h 1717"/>
                <a:gd name="T92" fmla="*/ 44 w 424"/>
                <a:gd name="T93" fmla="*/ 71 h 1717"/>
                <a:gd name="T94" fmla="*/ 44 w 424"/>
                <a:gd name="T95" fmla="*/ 44 h 1717"/>
                <a:gd name="T96" fmla="*/ 87 w 424"/>
                <a:gd name="T97" fmla="*/ 28 h 1717"/>
                <a:gd name="T98" fmla="*/ 90 w 424"/>
                <a:gd name="T99" fmla="*/ 0 h 1717"/>
                <a:gd name="T100" fmla="*/ 139 w 424"/>
                <a:gd name="T101" fmla="*/ 71 h 1717"/>
                <a:gd name="T102" fmla="*/ 198 w 424"/>
                <a:gd name="T103" fmla="*/ 145 h 1717"/>
                <a:gd name="T104" fmla="*/ 272 w 424"/>
                <a:gd name="T105" fmla="*/ 204 h 1717"/>
                <a:gd name="T106" fmla="*/ 331 w 424"/>
                <a:gd name="T107" fmla="*/ 250 h 1717"/>
                <a:gd name="T108" fmla="*/ 394 w 424"/>
                <a:gd name="T109" fmla="*/ 287 h 1717"/>
                <a:gd name="T110" fmla="*/ 417 w 424"/>
                <a:gd name="T111" fmla="*/ 309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4" h="1717">
                  <a:moveTo>
                    <a:pt x="417" y="309"/>
                  </a:moveTo>
                  <a:lnTo>
                    <a:pt x="424" y="372"/>
                  </a:lnTo>
                  <a:lnTo>
                    <a:pt x="424" y="713"/>
                  </a:lnTo>
                  <a:lnTo>
                    <a:pt x="394" y="1169"/>
                  </a:lnTo>
                  <a:lnTo>
                    <a:pt x="396" y="1460"/>
                  </a:lnTo>
                  <a:lnTo>
                    <a:pt x="411" y="1661"/>
                  </a:lnTo>
                  <a:lnTo>
                    <a:pt x="396" y="1717"/>
                  </a:lnTo>
                  <a:lnTo>
                    <a:pt x="372" y="1705"/>
                  </a:lnTo>
                  <a:lnTo>
                    <a:pt x="228" y="1594"/>
                  </a:lnTo>
                  <a:lnTo>
                    <a:pt x="191" y="1572"/>
                  </a:lnTo>
                  <a:lnTo>
                    <a:pt x="169" y="1541"/>
                  </a:lnTo>
                  <a:lnTo>
                    <a:pt x="133" y="1499"/>
                  </a:lnTo>
                  <a:lnTo>
                    <a:pt x="83" y="1455"/>
                  </a:lnTo>
                  <a:lnTo>
                    <a:pt x="59" y="1396"/>
                  </a:lnTo>
                  <a:lnTo>
                    <a:pt x="0" y="1346"/>
                  </a:lnTo>
                  <a:lnTo>
                    <a:pt x="0" y="1315"/>
                  </a:lnTo>
                  <a:lnTo>
                    <a:pt x="31" y="1276"/>
                  </a:lnTo>
                  <a:lnTo>
                    <a:pt x="44" y="1225"/>
                  </a:lnTo>
                  <a:lnTo>
                    <a:pt x="37" y="1198"/>
                  </a:lnTo>
                  <a:lnTo>
                    <a:pt x="22" y="1154"/>
                  </a:lnTo>
                  <a:lnTo>
                    <a:pt x="16" y="1123"/>
                  </a:lnTo>
                  <a:lnTo>
                    <a:pt x="40" y="1073"/>
                  </a:lnTo>
                  <a:lnTo>
                    <a:pt x="40" y="1041"/>
                  </a:lnTo>
                  <a:lnTo>
                    <a:pt x="15" y="975"/>
                  </a:lnTo>
                  <a:lnTo>
                    <a:pt x="15" y="938"/>
                  </a:lnTo>
                  <a:lnTo>
                    <a:pt x="29" y="909"/>
                  </a:lnTo>
                  <a:lnTo>
                    <a:pt x="53" y="875"/>
                  </a:lnTo>
                  <a:lnTo>
                    <a:pt x="52" y="816"/>
                  </a:lnTo>
                  <a:lnTo>
                    <a:pt x="37" y="769"/>
                  </a:lnTo>
                  <a:lnTo>
                    <a:pt x="52" y="713"/>
                  </a:lnTo>
                  <a:lnTo>
                    <a:pt x="66" y="699"/>
                  </a:lnTo>
                  <a:lnTo>
                    <a:pt x="53" y="647"/>
                  </a:lnTo>
                  <a:lnTo>
                    <a:pt x="22" y="592"/>
                  </a:lnTo>
                  <a:lnTo>
                    <a:pt x="15" y="557"/>
                  </a:lnTo>
                  <a:lnTo>
                    <a:pt x="22" y="523"/>
                  </a:lnTo>
                  <a:lnTo>
                    <a:pt x="61" y="492"/>
                  </a:lnTo>
                  <a:lnTo>
                    <a:pt x="59" y="468"/>
                  </a:lnTo>
                  <a:lnTo>
                    <a:pt x="16" y="390"/>
                  </a:lnTo>
                  <a:lnTo>
                    <a:pt x="3" y="328"/>
                  </a:lnTo>
                  <a:lnTo>
                    <a:pt x="15" y="294"/>
                  </a:lnTo>
                  <a:lnTo>
                    <a:pt x="53" y="263"/>
                  </a:lnTo>
                  <a:lnTo>
                    <a:pt x="44" y="235"/>
                  </a:lnTo>
                  <a:lnTo>
                    <a:pt x="16" y="204"/>
                  </a:lnTo>
                  <a:lnTo>
                    <a:pt x="16" y="170"/>
                  </a:lnTo>
                  <a:lnTo>
                    <a:pt x="61" y="147"/>
                  </a:lnTo>
                  <a:lnTo>
                    <a:pt x="81" y="122"/>
                  </a:lnTo>
                  <a:lnTo>
                    <a:pt x="44" y="71"/>
                  </a:lnTo>
                  <a:lnTo>
                    <a:pt x="44" y="44"/>
                  </a:lnTo>
                  <a:lnTo>
                    <a:pt x="87" y="28"/>
                  </a:lnTo>
                  <a:lnTo>
                    <a:pt x="90" y="0"/>
                  </a:lnTo>
                  <a:lnTo>
                    <a:pt x="139" y="71"/>
                  </a:lnTo>
                  <a:lnTo>
                    <a:pt x="198" y="145"/>
                  </a:lnTo>
                  <a:lnTo>
                    <a:pt x="272" y="204"/>
                  </a:lnTo>
                  <a:lnTo>
                    <a:pt x="331" y="250"/>
                  </a:lnTo>
                  <a:lnTo>
                    <a:pt x="394" y="287"/>
                  </a:lnTo>
                  <a:lnTo>
                    <a:pt x="417" y="309"/>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07" name="Freeform 95">
              <a:extLst>
                <a:ext uri="{FF2B5EF4-FFF2-40B4-BE49-F238E27FC236}">
                  <a16:creationId xmlns="" xmlns:a16="http://schemas.microsoft.com/office/drawing/2014/main" id="{91685C47-76D6-4190-9CFF-DBD5B5D96326}"/>
                </a:ext>
              </a:extLst>
            </p:cNvPr>
            <p:cNvSpPr>
              <a:spLocks/>
            </p:cNvSpPr>
            <p:nvPr/>
          </p:nvSpPr>
          <p:spPr bwMode="auto">
            <a:xfrm>
              <a:off x="618" y="2694"/>
              <a:ext cx="61" cy="654"/>
            </a:xfrm>
            <a:custGeom>
              <a:avLst/>
              <a:gdLst>
                <a:gd name="T0" fmla="*/ 84 w 122"/>
                <a:gd name="T1" fmla="*/ 44 h 1309"/>
                <a:gd name="T2" fmla="*/ 122 w 122"/>
                <a:gd name="T3" fmla="*/ 90 h 1309"/>
                <a:gd name="T4" fmla="*/ 99 w 122"/>
                <a:gd name="T5" fmla="*/ 127 h 1309"/>
                <a:gd name="T6" fmla="*/ 47 w 122"/>
                <a:gd name="T7" fmla="*/ 153 h 1309"/>
                <a:gd name="T8" fmla="*/ 67 w 122"/>
                <a:gd name="T9" fmla="*/ 190 h 1309"/>
                <a:gd name="T10" fmla="*/ 91 w 122"/>
                <a:gd name="T11" fmla="*/ 237 h 1309"/>
                <a:gd name="T12" fmla="*/ 62 w 122"/>
                <a:gd name="T13" fmla="*/ 267 h 1309"/>
                <a:gd name="T14" fmla="*/ 37 w 122"/>
                <a:gd name="T15" fmla="*/ 304 h 1309"/>
                <a:gd name="T16" fmla="*/ 62 w 122"/>
                <a:gd name="T17" fmla="*/ 369 h 1309"/>
                <a:gd name="T18" fmla="*/ 91 w 122"/>
                <a:gd name="T19" fmla="*/ 428 h 1309"/>
                <a:gd name="T20" fmla="*/ 84 w 122"/>
                <a:gd name="T21" fmla="*/ 480 h 1309"/>
                <a:gd name="T22" fmla="*/ 47 w 122"/>
                <a:gd name="T23" fmla="*/ 524 h 1309"/>
                <a:gd name="T24" fmla="*/ 89 w 122"/>
                <a:gd name="T25" fmla="*/ 617 h 1309"/>
                <a:gd name="T26" fmla="*/ 106 w 122"/>
                <a:gd name="T27" fmla="*/ 676 h 1309"/>
                <a:gd name="T28" fmla="*/ 74 w 122"/>
                <a:gd name="T29" fmla="*/ 719 h 1309"/>
                <a:gd name="T30" fmla="*/ 81 w 122"/>
                <a:gd name="T31" fmla="*/ 786 h 1309"/>
                <a:gd name="T32" fmla="*/ 103 w 122"/>
                <a:gd name="T33" fmla="*/ 852 h 1309"/>
                <a:gd name="T34" fmla="*/ 77 w 122"/>
                <a:gd name="T35" fmla="*/ 889 h 1309"/>
                <a:gd name="T36" fmla="*/ 40 w 122"/>
                <a:gd name="T37" fmla="*/ 933 h 1309"/>
                <a:gd name="T38" fmla="*/ 77 w 122"/>
                <a:gd name="T39" fmla="*/ 1013 h 1309"/>
                <a:gd name="T40" fmla="*/ 91 w 122"/>
                <a:gd name="T41" fmla="*/ 1068 h 1309"/>
                <a:gd name="T42" fmla="*/ 59 w 122"/>
                <a:gd name="T43" fmla="*/ 1080 h 1309"/>
                <a:gd name="T44" fmla="*/ 67 w 122"/>
                <a:gd name="T45" fmla="*/ 1168 h 1309"/>
                <a:gd name="T46" fmla="*/ 84 w 122"/>
                <a:gd name="T47" fmla="*/ 1214 h 1309"/>
                <a:gd name="T48" fmla="*/ 59 w 122"/>
                <a:gd name="T49" fmla="*/ 1266 h 1309"/>
                <a:gd name="T50" fmla="*/ 3 w 122"/>
                <a:gd name="T51" fmla="*/ 1294 h 1309"/>
                <a:gd name="T52" fmla="*/ 46 w 122"/>
                <a:gd name="T53" fmla="*/ 1205 h 1309"/>
                <a:gd name="T54" fmla="*/ 25 w 122"/>
                <a:gd name="T55" fmla="*/ 1131 h 1309"/>
                <a:gd name="T56" fmla="*/ 31 w 122"/>
                <a:gd name="T57" fmla="*/ 1068 h 1309"/>
                <a:gd name="T58" fmla="*/ 47 w 122"/>
                <a:gd name="T59" fmla="*/ 1037 h 1309"/>
                <a:gd name="T60" fmla="*/ 11 w 122"/>
                <a:gd name="T61" fmla="*/ 957 h 1309"/>
                <a:gd name="T62" fmla="*/ 11 w 122"/>
                <a:gd name="T63" fmla="*/ 877 h 1309"/>
                <a:gd name="T64" fmla="*/ 55 w 122"/>
                <a:gd name="T65" fmla="*/ 840 h 1309"/>
                <a:gd name="T66" fmla="*/ 46 w 122"/>
                <a:gd name="T67" fmla="*/ 781 h 1309"/>
                <a:gd name="T68" fmla="*/ 33 w 122"/>
                <a:gd name="T69" fmla="*/ 713 h 1309"/>
                <a:gd name="T70" fmla="*/ 67 w 122"/>
                <a:gd name="T71" fmla="*/ 669 h 1309"/>
                <a:gd name="T72" fmla="*/ 52 w 122"/>
                <a:gd name="T73" fmla="*/ 620 h 1309"/>
                <a:gd name="T74" fmla="*/ 11 w 122"/>
                <a:gd name="T75" fmla="*/ 543 h 1309"/>
                <a:gd name="T76" fmla="*/ 18 w 122"/>
                <a:gd name="T77" fmla="*/ 492 h 1309"/>
                <a:gd name="T78" fmla="*/ 55 w 122"/>
                <a:gd name="T79" fmla="*/ 450 h 1309"/>
                <a:gd name="T80" fmla="*/ 16 w 122"/>
                <a:gd name="T81" fmla="*/ 353 h 1309"/>
                <a:gd name="T82" fmla="*/ 0 w 122"/>
                <a:gd name="T83" fmla="*/ 296 h 1309"/>
                <a:gd name="T84" fmla="*/ 33 w 122"/>
                <a:gd name="T85" fmla="*/ 252 h 1309"/>
                <a:gd name="T86" fmla="*/ 47 w 122"/>
                <a:gd name="T87" fmla="*/ 223 h 1309"/>
                <a:gd name="T88" fmla="*/ 11 w 122"/>
                <a:gd name="T89" fmla="*/ 177 h 1309"/>
                <a:gd name="T90" fmla="*/ 25 w 122"/>
                <a:gd name="T91" fmla="*/ 131 h 1309"/>
                <a:gd name="T92" fmla="*/ 67 w 122"/>
                <a:gd name="T93" fmla="*/ 103 h 1309"/>
                <a:gd name="T94" fmla="*/ 69 w 122"/>
                <a:gd name="T95" fmla="*/ 69 h 1309"/>
                <a:gd name="T96" fmla="*/ 47 w 122"/>
                <a:gd name="T97" fmla="*/ 23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309">
                  <a:moveTo>
                    <a:pt x="62" y="0"/>
                  </a:moveTo>
                  <a:lnTo>
                    <a:pt x="84" y="44"/>
                  </a:lnTo>
                  <a:lnTo>
                    <a:pt x="103" y="73"/>
                  </a:lnTo>
                  <a:lnTo>
                    <a:pt x="122" y="90"/>
                  </a:lnTo>
                  <a:lnTo>
                    <a:pt x="118" y="112"/>
                  </a:lnTo>
                  <a:lnTo>
                    <a:pt x="99" y="127"/>
                  </a:lnTo>
                  <a:lnTo>
                    <a:pt x="69" y="134"/>
                  </a:lnTo>
                  <a:lnTo>
                    <a:pt x="47" y="153"/>
                  </a:lnTo>
                  <a:lnTo>
                    <a:pt x="52" y="177"/>
                  </a:lnTo>
                  <a:lnTo>
                    <a:pt x="67" y="190"/>
                  </a:lnTo>
                  <a:lnTo>
                    <a:pt x="91" y="220"/>
                  </a:lnTo>
                  <a:lnTo>
                    <a:pt x="91" y="237"/>
                  </a:lnTo>
                  <a:lnTo>
                    <a:pt x="84" y="252"/>
                  </a:lnTo>
                  <a:lnTo>
                    <a:pt x="62" y="267"/>
                  </a:lnTo>
                  <a:lnTo>
                    <a:pt x="40" y="282"/>
                  </a:lnTo>
                  <a:lnTo>
                    <a:pt x="37" y="304"/>
                  </a:lnTo>
                  <a:lnTo>
                    <a:pt x="46" y="326"/>
                  </a:lnTo>
                  <a:lnTo>
                    <a:pt x="62" y="369"/>
                  </a:lnTo>
                  <a:lnTo>
                    <a:pt x="77" y="404"/>
                  </a:lnTo>
                  <a:lnTo>
                    <a:pt x="91" y="428"/>
                  </a:lnTo>
                  <a:lnTo>
                    <a:pt x="91" y="455"/>
                  </a:lnTo>
                  <a:lnTo>
                    <a:pt x="84" y="480"/>
                  </a:lnTo>
                  <a:lnTo>
                    <a:pt x="62" y="502"/>
                  </a:lnTo>
                  <a:lnTo>
                    <a:pt x="47" y="524"/>
                  </a:lnTo>
                  <a:lnTo>
                    <a:pt x="52" y="561"/>
                  </a:lnTo>
                  <a:lnTo>
                    <a:pt x="89" y="617"/>
                  </a:lnTo>
                  <a:lnTo>
                    <a:pt x="103" y="647"/>
                  </a:lnTo>
                  <a:lnTo>
                    <a:pt x="106" y="676"/>
                  </a:lnTo>
                  <a:lnTo>
                    <a:pt x="91" y="697"/>
                  </a:lnTo>
                  <a:lnTo>
                    <a:pt x="74" y="719"/>
                  </a:lnTo>
                  <a:lnTo>
                    <a:pt x="69" y="749"/>
                  </a:lnTo>
                  <a:lnTo>
                    <a:pt x="81" y="786"/>
                  </a:lnTo>
                  <a:lnTo>
                    <a:pt x="96" y="825"/>
                  </a:lnTo>
                  <a:lnTo>
                    <a:pt x="103" y="852"/>
                  </a:lnTo>
                  <a:lnTo>
                    <a:pt x="96" y="870"/>
                  </a:lnTo>
                  <a:lnTo>
                    <a:pt x="77" y="889"/>
                  </a:lnTo>
                  <a:lnTo>
                    <a:pt x="52" y="911"/>
                  </a:lnTo>
                  <a:lnTo>
                    <a:pt x="40" y="933"/>
                  </a:lnTo>
                  <a:lnTo>
                    <a:pt x="52" y="972"/>
                  </a:lnTo>
                  <a:lnTo>
                    <a:pt x="77" y="1013"/>
                  </a:lnTo>
                  <a:lnTo>
                    <a:pt x="89" y="1043"/>
                  </a:lnTo>
                  <a:lnTo>
                    <a:pt x="91" y="1068"/>
                  </a:lnTo>
                  <a:lnTo>
                    <a:pt x="84" y="1080"/>
                  </a:lnTo>
                  <a:lnTo>
                    <a:pt x="59" y="1080"/>
                  </a:lnTo>
                  <a:lnTo>
                    <a:pt x="52" y="1134"/>
                  </a:lnTo>
                  <a:lnTo>
                    <a:pt x="67" y="1168"/>
                  </a:lnTo>
                  <a:lnTo>
                    <a:pt x="81" y="1192"/>
                  </a:lnTo>
                  <a:lnTo>
                    <a:pt x="84" y="1214"/>
                  </a:lnTo>
                  <a:lnTo>
                    <a:pt x="84" y="1235"/>
                  </a:lnTo>
                  <a:lnTo>
                    <a:pt x="59" y="1266"/>
                  </a:lnTo>
                  <a:lnTo>
                    <a:pt x="25" y="1309"/>
                  </a:lnTo>
                  <a:lnTo>
                    <a:pt x="3" y="1294"/>
                  </a:lnTo>
                  <a:lnTo>
                    <a:pt x="11" y="1259"/>
                  </a:lnTo>
                  <a:lnTo>
                    <a:pt x="46" y="1205"/>
                  </a:lnTo>
                  <a:lnTo>
                    <a:pt x="40" y="1171"/>
                  </a:lnTo>
                  <a:lnTo>
                    <a:pt x="25" y="1131"/>
                  </a:lnTo>
                  <a:lnTo>
                    <a:pt x="16" y="1097"/>
                  </a:lnTo>
                  <a:lnTo>
                    <a:pt x="31" y="1068"/>
                  </a:lnTo>
                  <a:lnTo>
                    <a:pt x="46" y="1058"/>
                  </a:lnTo>
                  <a:lnTo>
                    <a:pt x="47" y="1037"/>
                  </a:lnTo>
                  <a:lnTo>
                    <a:pt x="31" y="994"/>
                  </a:lnTo>
                  <a:lnTo>
                    <a:pt x="11" y="957"/>
                  </a:lnTo>
                  <a:lnTo>
                    <a:pt x="0" y="920"/>
                  </a:lnTo>
                  <a:lnTo>
                    <a:pt x="11" y="877"/>
                  </a:lnTo>
                  <a:lnTo>
                    <a:pt x="46" y="860"/>
                  </a:lnTo>
                  <a:lnTo>
                    <a:pt x="55" y="840"/>
                  </a:lnTo>
                  <a:lnTo>
                    <a:pt x="52" y="811"/>
                  </a:lnTo>
                  <a:lnTo>
                    <a:pt x="46" y="781"/>
                  </a:lnTo>
                  <a:lnTo>
                    <a:pt x="33" y="743"/>
                  </a:lnTo>
                  <a:lnTo>
                    <a:pt x="33" y="713"/>
                  </a:lnTo>
                  <a:lnTo>
                    <a:pt x="47" y="693"/>
                  </a:lnTo>
                  <a:lnTo>
                    <a:pt x="67" y="669"/>
                  </a:lnTo>
                  <a:lnTo>
                    <a:pt x="67" y="654"/>
                  </a:lnTo>
                  <a:lnTo>
                    <a:pt x="52" y="620"/>
                  </a:lnTo>
                  <a:lnTo>
                    <a:pt x="24" y="576"/>
                  </a:lnTo>
                  <a:lnTo>
                    <a:pt x="11" y="543"/>
                  </a:lnTo>
                  <a:lnTo>
                    <a:pt x="11" y="517"/>
                  </a:lnTo>
                  <a:lnTo>
                    <a:pt x="18" y="492"/>
                  </a:lnTo>
                  <a:lnTo>
                    <a:pt x="37" y="472"/>
                  </a:lnTo>
                  <a:lnTo>
                    <a:pt x="55" y="450"/>
                  </a:lnTo>
                  <a:lnTo>
                    <a:pt x="55" y="434"/>
                  </a:lnTo>
                  <a:lnTo>
                    <a:pt x="16" y="353"/>
                  </a:lnTo>
                  <a:lnTo>
                    <a:pt x="9" y="323"/>
                  </a:lnTo>
                  <a:lnTo>
                    <a:pt x="0" y="296"/>
                  </a:lnTo>
                  <a:lnTo>
                    <a:pt x="16" y="271"/>
                  </a:lnTo>
                  <a:lnTo>
                    <a:pt x="33" y="252"/>
                  </a:lnTo>
                  <a:lnTo>
                    <a:pt x="47" y="237"/>
                  </a:lnTo>
                  <a:lnTo>
                    <a:pt x="47" y="223"/>
                  </a:lnTo>
                  <a:lnTo>
                    <a:pt x="33" y="200"/>
                  </a:lnTo>
                  <a:lnTo>
                    <a:pt x="11" y="177"/>
                  </a:lnTo>
                  <a:lnTo>
                    <a:pt x="11" y="153"/>
                  </a:lnTo>
                  <a:lnTo>
                    <a:pt x="25" y="131"/>
                  </a:lnTo>
                  <a:lnTo>
                    <a:pt x="47" y="112"/>
                  </a:lnTo>
                  <a:lnTo>
                    <a:pt x="67" y="103"/>
                  </a:lnTo>
                  <a:lnTo>
                    <a:pt x="77" y="88"/>
                  </a:lnTo>
                  <a:lnTo>
                    <a:pt x="69" y="69"/>
                  </a:lnTo>
                  <a:lnTo>
                    <a:pt x="55" y="47"/>
                  </a:lnTo>
                  <a:lnTo>
                    <a:pt x="47" y="23"/>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08" name="Freeform 96">
              <a:extLst>
                <a:ext uri="{FF2B5EF4-FFF2-40B4-BE49-F238E27FC236}">
                  <a16:creationId xmlns="" xmlns:a16="http://schemas.microsoft.com/office/drawing/2014/main" id="{D7A21C98-56EA-4854-BB2B-FC95D14942F8}"/>
                </a:ext>
              </a:extLst>
            </p:cNvPr>
            <p:cNvSpPr>
              <a:spLocks/>
            </p:cNvSpPr>
            <p:nvPr/>
          </p:nvSpPr>
          <p:spPr bwMode="auto">
            <a:xfrm>
              <a:off x="784" y="2853"/>
              <a:ext cx="58" cy="529"/>
            </a:xfrm>
            <a:custGeom>
              <a:avLst/>
              <a:gdLst>
                <a:gd name="T0" fmla="*/ 104 w 117"/>
                <a:gd name="T1" fmla="*/ 30 h 1058"/>
                <a:gd name="T2" fmla="*/ 110 w 117"/>
                <a:gd name="T3" fmla="*/ 102 h 1058"/>
                <a:gd name="T4" fmla="*/ 61 w 117"/>
                <a:gd name="T5" fmla="*/ 132 h 1058"/>
                <a:gd name="T6" fmla="*/ 76 w 117"/>
                <a:gd name="T7" fmla="*/ 213 h 1058"/>
                <a:gd name="T8" fmla="*/ 97 w 117"/>
                <a:gd name="T9" fmla="*/ 291 h 1058"/>
                <a:gd name="T10" fmla="*/ 67 w 117"/>
                <a:gd name="T11" fmla="*/ 331 h 1058"/>
                <a:gd name="T12" fmla="*/ 76 w 117"/>
                <a:gd name="T13" fmla="*/ 396 h 1058"/>
                <a:gd name="T14" fmla="*/ 97 w 117"/>
                <a:gd name="T15" fmla="*/ 467 h 1058"/>
                <a:gd name="T16" fmla="*/ 82 w 117"/>
                <a:gd name="T17" fmla="*/ 519 h 1058"/>
                <a:gd name="T18" fmla="*/ 58 w 117"/>
                <a:gd name="T19" fmla="*/ 566 h 1058"/>
                <a:gd name="T20" fmla="*/ 91 w 117"/>
                <a:gd name="T21" fmla="*/ 659 h 1058"/>
                <a:gd name="T22" fmla="*/ 97 w 117"/>
                <a:gd name="T23" fmla="*/ 720 h 1058"/>
                <a:gd name="T24" fmla="*/ 43 w 117"/>
                <a:gd name="T25" fmla="*/ 764 h 1058"/>
                <a:gd name="T26" fmla="*/ 58 w 117"/>
                <a:gd name="T27" fmla="*/ 857 h 1058"/>
                <a:gd name="T28" fmla="*/ 73 w 117"/>
                <a:gd name="T29" fmla="*/ 938 h 1058"/>
                <a:gd name="T30" fmla="*/ 43 w 117"/>
                <a:gd name="T31" fmla="*/ 984 h 1058"/>
                <a:gd name="T32" fmla="*/ 28 w 117"/>
                <a:gd name="T33" fmla="*/ 1048 h 1058"/>
                <a:gd name="T34" fmla="*/ 13 w 117"/>
                <a:gd name="T35" fmla="*/ 1021 h 1058"/>
                <a:gd name="T36" fmla="*/ 43 w 117"/>
                <a:gd name="T37" fmla="*/ 947 h 1058"/>
                <a:gd name="T38" fmla="*/ 28 w 117"/>
                <a:gd name="T39" fmla="*/ 838 h 1058"/>
                <a:gd name="T40" fmla="*/ 21 w 117"/>
                <a:gd name="T41" fmla="*/ 757 h 1058"/>
                <a:gd name="T42" fmla="*/ 61 w 117"/>
                <a:gd name="T43" fmla="*/ 702 h 1058"/>
                <a:gd name="T44" fmla="*/ 28 w 117"/>
                <a:gd name="T45" fmla="*/ 625 h 1058"/>
                <a:gd name="T46" fmla="*/ 21 w 117"/>
                <a:gd name="T47" fmla="*/ 551 h 1058"/>
                <a:gd name="T48" fmla="*/ 51 w 117"/>
                <a:gd name="T49" fmla="*/ 492 h 1058"/>
                <a:gd name="T50" fmla="*/ 65 w 117"/>
                <a:gd name="T51" fmla="*/ 448 h 1058"/>
                <a:gd name="T52" fmla="*/ 36 w 117"/>
                <a:gd name="T53" fmla="*/ 374 h 1058"/>
                <a:gd name="T54" fmla="*/ 43 w 117"/>
                <a:gd name="T55" fmla="*/ 313 h 1058"/>
                <a:gd name="T56" fmla="*/ 61 w 117"/>
                <a:gd name="T57" fmla="*/ 269 h 1058"/>
                <a:gd name="T58" fmla="*/ 39 w 117"/>
                <a:gd name="T59" fmla="*/ 203 h 1058"/>
                <a:gd name="T60" fmla="*/ 30 w 117"/>
                <a:gd name="T61" fmla="*/ 130 h 1058"/>
                <a:gd name="T62" fmla="*/ 65 w 117"/>
                <a:gd name="T63" fmla="*/ 80 h 1058"/>
                <a:gd name="T64" fmla="*/ 67 w 117"/>
                <a:gd name="T65" fmla="*/ 34 h 1058"/>
                <a:gd name="T66" fmla="*/ 91 w 117"/>
                <a:gd name="T67" fmla="*/ 0 h 1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7" h="1058">
                  <a:moveTo>
                    <a:pt x="91" y="0"/>
                  </a:moveTo>
                  <a:lnTo>
                    <a:pt x="104" y="30"/>
                  </a:lnTo>
                  <a:lnTo>
                    <a:pt x="117" y="80"/>
                  </a:lnTo>
                  <a:lnTo>
                    <a:pt x="110" y="102"/>
                  </a:lnTo>
                  <a:lnTo>
                    <a:pt x="80" y="117"/>
                  </a:lnTo>
                  <a:lnTo>
                    <a:pt x="61" y="132"/>
                  </a:lnTo>
                  <a:lnTo>
                    <a:pt x="61" y="173"/>
                  </a:lnTo>
                  <a:lnTo>
                    <a:pt x="76" y="213"/>
                  </a:lnTo>
                  <a:lnTo>
                    <a:pt x="95" y="240"/>
                  </a:lnTo>
                  <a:lnTo>
                    <a:pt x="97" y="291"/>
                  </a:lnTo>
                  <a:lnTo>
                    <a:pt x="88" y="309"/>
                  </a:lnTo>
                  <a:lnTo>
                    <a:pt x="67" y="331"/>
                  </a:lnTo>
                  <a:lnTo>
                    <a:pt x="65" y="365"/>
                  </a:lnTo>
                  <a:lnTo>
                    <a:pt x="76" y="396"/>
                  </a:lnTo>
                  <a:lnTo>
                    <a:pt x="91" y="424"/>
                  </a:lnTo>
                  <a:lnTo>
                    <a:pt x="97" y="467"/>
                  </a:lnTo>
                  <a:lnTo>
                    <a:pt x="97" y="492"/>
                  </a:lnTo>
                  <a:lnTo>
                    <a:pt x="82" y="519"/>
                  </a:lnTo>
                  <a:lnTo>
                    <a:pt x="58" y="544"/>
                  </a:lnTo>
                  <a:lnTo>
                    <a:pt x="58" y="566"/>
                  </a:lnTo>
                  <a:lnTo>
                    <a:pt x="65" y="631"/>
                  </a:lnTo>
                  <a:lnTo>
                    <a:pt x="91" y="659"/>
                  </a:lnTo>
                  <a:lnTo>
                    <a:pt x="104" y="687"/>
                  </a:lnTo>
                  <a:lnTo>
                    <a:pt x="97" y="720"/>
                  </a:lnTo>
                  <a:lnTo>
                    <a:pt x="61" y="742"/>
                  </a:lnTo>
                  <a:lnTo>
                    <a:pt x="43" y="764"/>
                  </a:lnTo>
                  <a:lnTo>
                    <a:pt x="39" y="805"/>
                  </a:lnTo>
                  <a:lnTo>
                    <a:pt x="58" y="857"/>
                  </a:lnTo>
                  <a:lnTo>
                    <a:pt x="73" y="909"/>
                  </a:lnTo>
                  <a:lnTo>
                    <a:pt x="73" y="938"/>
                  </a:lnTo>
                  <a:lnTo>
                    <a:pt x="65" y="977"/>
                  </a:lnTo>
                  <a:lnTo>
                    <a:pt x="43" y="984"/>
                  </a:lnTo>
                  <a:lnTo>
                    <a:pt x="28" y="1014"/>
                  </a:lnTo>
                  <a:lnTo>
                    <a:pt x="28" y="1048"/>
                  </a:lnTo>
                  <a:lnTo>
                    <a:pt x="0" y="1058"/>
                  </a:lnTo>
                  <a:lnTo>
                    <a:pt x="13" y="1021"/>
                  </a:lnTo>
                  <a:lnTo>
                    <a:pt x="36" y="977"/>
                  </a:lnTo>
                  <a:lnTo>
                    <a:pt x="43" y="947"/>
                  </a:lnTo>
                  <a:lnTo>
                    <a:pt x="43" y="888"/>
                  </a:lnTo>
                  <a:lnTo>
                    <a:pt x="28" y="838"/>
                  </a:lnTo>
                  <a:lnTo>
                    <a:pt x="24" y="798"/>
                  </a:lnTo>
                  <a:lnTo>
                    <a:pt x="21" y="757"/>
                  </a:lnTo>
                  <a:lnTo>
                    <a:pt x="46" y="724"/>
                  </a:lnTo>
                  <a:lnTo>
                    <a:pt x="61" y="702"/>
                  </a:lnTo>
                  <a:lnTo>
                    <a:pt x="51" y="659"/>
                  </a:lnTo>
                  <a:lnTo>
                    <a:pt x="28" y="625"/>
                  </a:lnTo>
                  <a:lnTo>
                    <a:pt x="24" y="594"/>
                  </a:lnTo>
                  <a:lnTo>
                    <a:pt x="21" y="551"/>
                  </a:lnTo>
                  <a:lnTo>
                    <a:pt x="30" y="522"/>
                  </a:lnTo>
                  <a:lnTo>
                    <a:pt x="51" y="492"/>
                  </a:lnTo>
                  <a:lnTo>
                    <a:pt x="65" y="470"/>
                  </a:lnTo>
                  <a:lnTo>
                    <a:pt x="65" y="448"/>
                  </a:lnTo>
                  <a:lnTo>
                    <a:pt x="51" y="424"/>
                  </a:lnTo>
                  <a:lnTo>
                    <a:pt x="36" y="374"/>
                  </a:lnTo>
                  <a:lnTo>
                    <a:pt x="36" y="343"/>
                  </a:lnTo>
                  <a:lnTo>
                    <a:pt x="43" y="313"/>
                  </a:lnTo>
                  <a:lnTo>
                    <a:pt x="58" y="291"/>
                  </a:lnTo>
                  <a:lnTo>
                    <a:pt x="61" y="269"/>
                  </a:lnTo>
                  <a:lnTo>
                    <a:pt x="58" y="242"/>
                  </a:lnTo>
                  <a:lnTo>
                    <a:pt x="39" y="203"/>
                  </a:lnTo>
                  <a:lnTo>
                    <a:pt x="28" y="176"/>
                  </a:lnTo>
                  <a:lnTo>
                    <a:pt x="30" y="130"/>
                  </a:lnTo>
                  <a:lnTo>
                    <a:pt x="46" y="111"/>
                  </a:lnTo>
                  <a:lnTo>
                    <a:pt x="65" y="80"/>
                  </a:lnTo>
                  <a:lnTo>
                    <a:pt x="76" y="56"/>
                  </a:lnTo>
                  <a:lnTo>
                    <a:pt x="67" y="34"/>
                  </a:lnTo>
                  <a:lnTo>
                    <a:pt x="73" y="12"/>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09" name="Freeform 97">
              <a:extLst>
                <a:ext uri="{FF2B5EF4-FFF2-40B4-BE49-F238E27FC236}">
                  <a16:creationId xmlns="" xmlns:a16="http://schemas.microsoft.com/office/drawing/2014/main" id="{4A490CDD-C924-4E01-8287-AE693BD3800D}"/>
                </a:ext>
              </a:extLst>
            </p:cNvPr>
            <p:cNvSpPr>
              <a:spLocks/>
            </p:cNvSpPr>
            <p:nvPr/>
          </p:nvSpPr>
          <p:spPr bwMode="auto">
            <a:xfrm>
              <a:off x="692" y="2789"/>
              <a:ext cx="133" cy="114"/>
            </a:xfrm>
            <a:custGeom>
              <a:avLst/>
              <a:gdLst>
                <a:gd name="T0" fmla="*/ 265 w 265"/>
                <a:gd name="T1" fmla="*/ 185 h 229"/>
                <a:gd name="T2" fmla="*/ 185 w 265"/>
                <a:gd name="T3" fmla="*/ 119 h 229"/>
                <a:gd name="T4" fmla="*/ 118 w 265"/>
                <a:gd name="T5" fmla="*/ 59 h 229"/>
                <a:gd name="T6" fmla="*/ 56 w 265"/>
                <a:gd name="T7" fmla="*/ 0 h 229"/>
                <a:gd name="T8" fmla="*/ 0 w 265"/>
                <a:gd name="T9" fmla="*/ 0 h 229"/>
                <a:gd name="T10" fmla="*/ 133 w 265"/>
                <a:gd name="T11" fmla="*/ 96 h 229"/>
                <a:gd name="T12" fmla="*/ 197 w 265"/>
                <a:gd name="T13" fmla="*/ 156 h 229"/>
                <a:gd name="T14" fmla="*/ 250 w 265"/>
                <a:gd name="T15" fmla="*/ 229 h 229"/>
                <a:gd name="T16" fmla="*/ 265 w 265"/>
                <a:gd name="T17" fmla="*/ 18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5" h="229">
                  <a:moveTo>
                    <a:pt x="265" y="185"/>
                  </a:moveTo>
                  <a:lnTo>
                    <a:pt x="185" y="119"/>
                  </a:lnTo>
                  <a:lnTo>
                    <a:pt x="118" y="59"/>
                  </a:lnTo>
                  <a:lnTo>
                    <a:pt x="56" y="0"/>
                  </a:lnTo>
                  <a:lnTo>
                    <a:pt x="0" y="0"/>
                  </a:lnTo>
                  <a:lnTo>
                    <a:pt x="133" y="96"/>
                  </a:lnTo>
                  <a:lnTo>
                    <a:pt x="197" y="156"/>
                  </a:lnTo>
                  <a:lnTo>
                    <a:pt x="250" y="229"/>
                  </a:lnTo>
                  <a:lnTo>
                    <a:pt x="265" y="1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10" name="Freeform 98">
              <a:extLst>
                <a:ext uri="{FF2B5EF4-FFF2-40B4-BE49-F238E27FC236}">
                  <a16:creationId xmlns="" xmlns:a16="http://schemas.microsoft.com/office/drawing/2014/main" id="{E088F612-2B5F-4D3A-8F8A-F750DDD92B3C}"/>
                </a:ext>
              </a:extLst>
            </p:cNvPr>
            <p:cNvSpPr>
              <a:spLocks/>
            </p:cNvSpPr>
            <p:nvPr/>
          </p:nvSpPr>
          <p:spPr bwMode="auto">
            <a:xfrm>
              <a:off x="691" y="2855"/>
              <a:ext cx="114" cy="93"/>
            </a:xfrm>
            <a:custGeom>
              <a:avLst/>
              <a:gdLst>
                <a:gd name="T0" fmla="*/ 229 w 229"/>
                <a:gd name="T1" fmla="*/ 117 h 186"/>
                <a:gd name="T2" fmla="*/ 170 w 229"/>
                <a:gd name="T3" fmla="*/ 96 h 186"/>
                <a:gd name="T4" fmla="*/ 126 w 229"/>
                <a:gd name="T5" fmla="*/ 59 h 186"/>
                <a:gd name="T6" fmla="*/ 46 w 229"/>
                <a:gd name="T7" fmla="*/ 0 h 186"/>
                <a:gd name="T8" fmla="*/ 0 w 229"/>
                <a:gd name="T9" fmla="*/ 0 h 186"/>
                <a:gd name="T10" fmla="*/ 104 w 229"/>
                <a:gd name="T11" fmla="*/ 59 h 186"/>
                <a:gd name="T12" fmla="*/ 144 w 229"/>
                <a:gd name="T13" fmla="*/ 98 h 186"/>
                <a:gd name="T14" fmla="*/ 229 w 229"/>
                <a:gd name="T15" fmla="*/ 186 h 186"/>
                <a:gd name="T16" fmla="*/ 225 w 229"/>
                <a:gd name="T17" fmla="*/ 132 h 186"/>
                <a:gd name="T18" fmla="*/ 229 w 229"/>
                <a:gd name="T1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9" h="186">
                  <a:moveTo>
                    <a:pt x="229" y="117"/>
                  </a:moveTo>
                  <a:lnTo>
                    <a:pt x="170" y="96"/>
                  </a:lnTo>
                  <a:lnTo>
                    <a:pt x="126" y="59"/>
                  </a:lnTo>
                  <a:lnTo>
                    <a:pt x="46" y="0"/>
                  </a:lnTo>
                  <a:lnTo>
                    <a:pt x="0" y="0"/>
                  </a:lnTo>
                  <a:lnTo>
                    <a:pt x="104" y="59"/>
                  </a:lnTo>
                  <a:lnTo>
                    <a:pt x="144" y="98"/>
                  </a:lnTo>
                  <a:lnTo>
                    <a:pt x="229" y="186"/>
                  </a:lnTo>
                  <a:lnTo>
                    <a:pt x="225" y="132"/>
                  </a:lnTo>
                  <a:lnTo>
                    <a:pt x="229" y="1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11" name="Freeform 99">
              <a:extLst>
                <a:ext uri="{FF2B5EF4-FFF2-40B4-BE49-F238E27FC236}">
                  <a16:creationId xmlns="" xmlns:a16="http://schemas.microsoft.com/office/drawing/2014/main" id="{B6523F3A-FB69-4A2D-BD28-DC6CE5F588AE}"/>
                </a:ext>
              </a:extLst>
            </p:cNvPr>
            <p:cNvSpPr>
              <a:spLocks/>
            </p:cNvSpPr>
            <p:nvPr/>
          </p:nvSpPr>
          <p:spPr bwMode="auto">
            <a:xfrm>
              <a:off x="673" y="2911"/>
              <a:ext cx="135" cy="144"/>
            </a:xfrm>
            <a:custGeom>
              <a:avLst/>
              <a:gdLst>
                <a:gd name="T0" fmla="*/ 265 w 271"/>
                <a:gd name="T1" fmla="*/ 214 h 288"/>
                <a:gd name="T2" fmla="*/ 191 w 271"/>
                <a:gd name="T3" fmla="*/ 149 h 288"/>
                <a:gd name="T4" fmla="*/ 163 w 271"/>
                <a:gd name="T5" fmla="*/ 104 h 288"/>
                <a:gd name="T6" fmla="*/ 104 w 271"/>
                <a:gd name="T7" fmla="*/ 60 h 288"/>
                <a:gd name="T8" fmla="*/ 52 w 271"/>
                <a:gd name="T9" fmla="*/ 21 h 288"/>
                <a:gd name="T10" fmla="*/ 15 w 271"/>
                <a:gd name="T11" fmla="*/ 0 h 288"/>
                <a:gd name="T12" fmla="*/ 0 w 271"/>
                <a:gd name="T13" fmla="*/ 0 h 288"/>
                <a:gd name="T14" fmla="*/ 0 w 271"/>
                <a:gd name="T15" fmla="*/ 21 h 288"/>
                <a:gd name="T16" fmla="*/ 45 w 271"/>
                <a:gd name="T17" fmla="*/ 50 h 288"/>
                <a:gd name="T18" fmla="*/ 126 w 271"/>
                <a:gd name="T19" fmla="*/ 102 h 288"/>
                <a:gd name="T20" fmla="*/ 184 w 271"/>
                <a:gd name="T21" fmla="*/ 161 h 288"/>
                <a:gd name="T22" fmla="*/ 225 w 271"/>
                <a:gd name="T23" fmla="*/ 227 h 288"/>
                <a:gd name="T24" fmla="*/ 271 w 271"/>
                <a:gd name="T25" fmla="*/ 288 h 288"/>
                <a:gd name="T26" fmla="*/ 265 w 271"/>
                <a:gd name="T27" fmla="*/ 21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288">
                  <a:moveTo>
                    <a:pt x="265" y="214"/>
                  </a:moveTo>
                  <a:lnTo>
                    <a:pt x="191" y="149"/>
                  </a:lnTo>
                  <a:lnTo>
                    <a:pt x="163" y="104"/>
                  </a:lnTo>
                  <a:lnTo>
                    <a:pt x="104" y="60"/>
                  </a:lnTo>
                  <a:lnTo>
                    <a:pt x="52" y="21"/>
                  </a:lnTo>
                  <a:lnTo>
                    <a:pt x="15" y="0"/>
                  </a:lnTo>
                  <a:lnTo>
                    <a:pt x="0" y="0"/>
                  </a:lnTo>
                  <a:lnTo>
                    <a:pt x="0" y="21"/>
                  </a:lnTo>
                  <a:lnTo>
                    <a:pt x="45" y="50"/>
                  </a:lnTo>
                  <a:lnTo>
                    <a:pt x="126" y="102"/>
                  </a:lnTo>
                  <a:lnTo>
                    <a:pt x="184" y="161"/>
                  </a:lnTo>
                  <a:lnTo>
                    <a:pt x="225" y="227"/>
                  </a:lnTo>
                  <a:lnTo>
                    <a:pt x="271" y="288"/>
                  </a:lnTo>
                  <a:lnTo>
                    <a:pt x="265" y="2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12" name="Freeform 100">
              <a:extLst>
                <a:ext uri="{FF2B5EF4-FFF2-40B4-BE49-F238E27FC236}">
                  <a16:creationId xmlns="" xmlns:a16="http://schemas.microsoft.com/office/drawing/2014/main" id="{7F167B19-90C3-4142-AA5D-A37564BFAADE}"/>
                </a:ext>
              </a:extLst>
            </p:cNvPr>
            <p:cNvSpPr>
              <a:spLocks/>
            </p:cNvSpPr>
            <p:nvPr/>
          </p:nvSpPr>
          <p:spPr bwMode="auto">
            <a:xfrm>
              <a:off x="688" y="3029"/>
              <a:ext cx="104" cy="85"/>
            </a:xfrm>
            <a:custGeom>
              <a:avLst/>
              <a:gdLst>
                <a:gd name="T0" fmla="*/ 208 w 208"/>
                <a:gd name="T1" fmla="*/ 140 h 170"/>
                <a:gd name="T2" fmla="*/ 149 w 208"/>
                <a:gd name="T3" fmla="*/ 77 h 170"/>
                <a:gd name="T4" fmla="*/ 87 w 208"/>
                <a:gd name="T5" fmla="*/ 37 h 170"/>
                <a:gd name="T6" fmla="*/ 37 w 208"/>
                <a:gd name="T7" fmla="*/ 10 h 170"/>
                <a:gd name="T8" fmla="*/ 0 w 208"/>
                <a:gd name="T9" fmla="*/ 0 h 170"/>
                <a:gd name="T10" fmla="*/ 22 w 208"/>
                <a:gd name="T11" fmla="*/ 37 h 170"/>
                <a:gd name="T12" fmla="*/ 87 w 208"/>
                <a:gd name="T13" fmla="*/ 74 h 170"/>
                <a:gd name="T14" fmla="*/ 139 w 208"/>
                <a:gd name="T15" fmla="*/ 127 h 170"/>
                <a:gd name="T16" fmla="*/ 164 w 208"/>
                <a:gd name="T17" fmla="*/ 163 h 170"/>
                <a:gd name="T18" fmla="*/ 186 w 208"/>
                <a:gd name="T19" fmla="*/ 170 h 170"/>
                <a:gd name="T20" fmla="*/ 205 w 208"/>
                <a:gd name="T21" fmla="*/ 157 h 170"/>
                <a:gd name="T22" fmla="*/ 208 w 208"/>
                <a:gd name="T23" fmla="*/ 14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170">
                  <a:moveTo>
                    <a:pt x="208" y="140"/>
                  </a:moveTo>
                  <a:lnTo>
                    <a:pt x="149" y="77"/>
                  </a:lnTo>
                  <a:lnTo>
                    <a:pt x="87" y="37"/>
                  </a:lnTo>
                  <a:lnTo>
                    <a:pt x="37" y="10"/>
                  </a:lnTo>
                  <a:lnTo>
                    <a:pt x="0" y="0"/>
                  </a:lnTo>
                  <a:lnTo>
                    <a:pt x="22" y="37"/>
                  </a:lnTo>
                  <a:lnTo>
                    <a:pt x="87" y="74"/>
                  </a:lnTo>
                  <a:lnTo>
                    <a:pt x="139" y="127"/>
                  </a:lnTo>
                  <a:lnTo>
                    <a:pt x="164" y="163"/>
                  </a:lnTo>
                  <a:lnTo>
                    <a:pt x="186" y="170"/>
                  </a:lnTo>
                  <a:lnTo>
                    <a:pt x="205" y="157"/>
                  </a:lnTo>
                  <a:lnTo>
                    <a:pt x="208"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13" name="Freeform 101">
              <a:extLst>
                <a:ext uri="{FF2B5EF4-FFF2-40B4-BE49-F238E27FC236}">
                  <a16:creationId xmlns="" xmlns:a16="http://schemas.microsoft.com/office/drawing/2014/main" id="{2A0228DD-00A8-47F6-B0EF-F8F423A106B4}"/>
                </a:ext>
              </a:extLst>
            </p:cNvPr>
            <p:cNvSpPr>
              <a:spLocks/>
            </p:cNvSpPr>
            <p:nvPr/>
          </p:nvSpPr>
          <p:spPr bwMode="auto">
            <a:xfrm>
              <a:off x="675" y="3089"/>
              <a:ext cx="115" cy="105"/>
            </a:xfrm>
            <a:custGeom>
              <a:avLst/>
              <a:gdLst>
                <a:gd name="T0" fmla="*/ 230 w 230"/>
                <a:gd name="T1" fmla="*/ 196 h 211"/>
                <a:gd name="T2" fmla="*/ 171 w 230"/>
                <a:gd name="T3" fmla="*/ 133 h 211"/>
                <a:gd name="T4" fmla="*/ 97 w 230"/>
                <a:gd name="T5" fmla="*/ 56 h 211"/>
                <a:gd name="T6" fmla="*/ 53 w 230"/>
                <a:gd name="T7" fmla="*/ 19 h 211"/>
                <a:gd name="T8" fmla="*/ 19 w 230"/>
                <a:gd name="T9" fmla="*/ 0 h 211"/>
                <a:gd name="T10" fmla="*/ 0 w 230"/>
                <a:gd name="T11" fmla="*/ 12 h 211"/>
                <a:gd name="T12" fmla="*/ 40 w 230"/>
                <a:gd name="T13" fmla="*/ 44 h 211"/>
                <a:gd name="T14" fmla="*/ 105 w 230"/>
                <a:gd name="T15" fmla="*/ 111 h 211"/>
                <a:gd name="T16" fmla="*/ 167 w 230"/>
                <a:gd name="T17" fmla="*/ 176 h 211"/>
                <a:gd name="T18" fmla="*/ 208 w 230"/>
                <a:gd name="T19" fmla="*/ 211 h 211"/>
                <a:gd name="T20" fmla="*/ 217 w 230"/>
                <a:gd name="T21" fmla="*/ 211 h 211"/>
                <a:gd name="T22" fmla="*/ 230 w 230"/>
                <a:gd name="T23" fmla="*/ 19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0" h="211">
                  <a:moveTo>
                    <a:pt x="230" y="196"/>
                  </a:moveTo>
                  <a:lnTo>
                    <a:pt x="171" y="133"/>
                  </a:lnTo>
                  <a:lnTo>
                    <a:pt x="97" y="56"/>
                  </a:lnTo>
                  <a:lnTo>
                    <a:pt x="53" y="19"/>
                  </a:lnTo>
                  <a:lnTo>
                    <a:pt x="19" y="0"/>
                  </a:lnTo>
                  <a:lnTo>
                    <a:pt x="0" y="12"/>
                  </a:lnTo>
                  <a:lnTo>
                    <a:pt x="40" y="44"/>
                  </a:lnTo>
                  <a:lnTo>
                    <a:pt x="105" y="111"/>
                  </a:lnTo>
                  <a:lnTo>
                    <a:pt x="167" y="176"/>
                  </a:lnTo>
                  <a:lnTo>
                    <a:pt x="208" y="211"/>
                  </a:lnTo>
                  <a:lnTo>
                    <a:pt x="217" y="211"/>
                  </a:lnTo>
                  <a:lnTo>
                    <a:pt x="230" y="1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14" name="Freeform 102">
              <a:extLst>
                <a:ext uri="{FF2B5EF4-FFF2-40B4-BE49-F238E27FC236}">
                  <a16:creationId xmlns="" xmlns:a16="http://schemas.microsoft.com/office/drawing/2014/main" id="{D2F29EA2-01FF-4766-A742-1030FE142996}"/>
                </a:ext>
              </a:extLst>
            </p:cNvPr>
            <p:cNvSpPr>
              <a:spLocks/>
            </p:cNvSpPr>
            <p:nvPr/>
          </p:nvSpPr>
          <p:spPr bwMode="auto">
            <a:xfrm>
              <a:off x="689" y="3177"/>
              <a:ext cx="80" cy="83"/>
            </a:xfrm>
            <a:custGeom>
              <a:avLst/>
              <a:gdLst>
                <a:gd name="T0" fmla="*/ 159 w 162"/>
                <a:gd name="T1" fmla="*/ 140 h 167"/>
                <a:gd name="T2" fmla="*/ 93 w 162"/>
                <a:gd name="T3" fmla="*/ 43 h 167"/>
                <a:gd name="T4" fmla="*/ 29 w 162"/>
                <a:gd name="T5" fmla="*/ 6 h 167"/>
                <a:gd name="T6" fmla="*/ 0 w 162"/>
                <a:gd name="T7" fmla="*/ 0 h 167"/>
                <a:gd name="T8" fmla="*/ 7 w 162"/>
                <a:gd name="T9" fmla="*/ 20 h 167"/>
                <a:gd name="T10" fmla="*/ 81 w 162"/>
                <a:gd name="T11" fmla="*/ 74 h 167"/>
                <a:gd name="T12" fmla="*/ 152 w 162"/>
                <a:gd name="T13" fmla="*/ 160 h 167"/>
                <a:gd name="T14" fmla="*/ 162 w 162"/>
                <a:gd name="T15" fmla="*/ 167 h 167"/>
                <a:gd name="T16" fmla="*/ 159 w 162"/>
                <a:gd name="T17" fmla="*/ 14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2" h="167">
                  <a:moveTo>
                    <a:pt x="159" y="140"/>
                  </a:moveTo>
                  <a:lnTo>
                    <a:pt x="93" y="43"/>
                  </a:lnTo>
                  <a:lnTo>
                    <a:pt x="29" y="6"/>
                  </a:lnTo>
                  <a:lnTo>
                    <a:pt x="0" y="0"/>
                  </a:lnTo>
                  <a:lnTo>
                    <a:pt x="7" y="20"/>
                  </a:lnTo>
                  <a:lnTo>
                    <a:pt x="81" y="74"/>
                  </a:lnTo>
                  <a:lnTo>
                    <a:pt x="152" y="160"/>
                  </a:lnTo>
                  <a:lnTo>
                    <a:pt x="162" y="167"/>
                  </a:lnTo>
                  <a:lnTo>
                    <a:pt x="159"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15" name="Freeform 103">
              <a:extLst>
                <a:ext uri="{FF2B5EF4-FFF2-40B4-BE49-F238E27FC236}">
                  <a16:creationId xmlns="" xmlns:a16="http://schemas.microsoft.com/office/drawing/2014/main" id="{A58C1951-3D22-4815-A880-DDC315D05201}"/>
                </a:ext>
              </a:extLst>
            </p:cNvPr>
            <p:cNvSpPr>
              <a:spLocks/>
            </p:cNvSpPr>
            <p:nvPr/>
          </p:nvSpPr>
          <p:spPr bwMode="auto">
            <a:xfrm>
              <a:off x="691" y="3258"/>
              <a:ext cx="55" cy="63"/>
            </a:xfrm>
            <a:custGeom>
              <a:avLst/>
              <a:gdLst>
                <a:gd name="T0" fmla="*/ 107 w 111"/>
                <a:gd name="T1" fmla="*/ 96 h 126"/>
                <a:gd name="T2" fmla="*/ 52 w 111"/>
                <a:gd name="T3" fmla="*/ 22 h 126"/>
                <a:gd name="T4" fmla="*/ 3 w 111"/>
                <a:gd name="T5" fmla="*/ 0 h 126"/>
                <a:gd name="T6" fmla="*/ 0 w 111"/>
                <a:gd name="T7" fmla="*/ 22 h 126"/>
                <a:gd name="T8" fmla="*/ 24 w 111"/>
                <a:gd name="T9" fmla="*/ 59 h 126"/>
                <a:gd name="T10" fmla="*/ 82 w 111"/>
                <a:gd name="T11" fmla="*/ 108 h 126"/>
                <a:gd name="T12" fmla="*/ 99 w 111"/>
                <a:gd name="T13" fmla="*/ 126 h 126"/>
                <a:gd name="T14" fmla="*/ 111 w 111"/>
                <a:gd name="T15" fmla="*/ 118 h 126"/>
                <a:gd name="T16" fmla="*/ 107 w 111"/>
                <a:gd name="T17" fmla="*/ 9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26">
                  <a:moveTo>
                    <a:pt x="107" y="96"/>
                  </a:moveTo>
                  <a:lnTo>
                    <a:pt x="52" y="22"/>
                  </a:lnTo>
                  <a:lnTo>
                    <a:pt x="3" y="0"/>
                  </a:lnTo>
                  <a:lnTo>
                    <a:pt x="0" y="22"/>
                  </a:lnTo>
                  <a:lnTo>
                    <a:pt x="24" y="59"/>
                  </a:lnTo>
                  <a:lnTo>
                    <a:pt x="82" y="108"/>
                  </a:lnTo>
                  <a:lnTo>
                    <a:pt x="99" y="126"/>
                  </a:lnTo>
                  <a:lnTo>
                    <a:pt x="111" y="118"/>
                  </a:lnTo>
                  <a:lnTo>
                    <a:pt x="107"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16" name="Freeform 104">
              <a:extLst>
                <a:ext uri="{FF2B5EF4-FFF2-40B4-BE49-F238E27FC236}">
                  <a16:creationId xmlns="" xmlns:a16="http://schemas.microsoft.com/office/drawing/2014/main" id="{CC8ECB63-04C6-41F8-A90A-73ECC1090E3A}"/>
                </a:ext>
              </a:extLst>
            </p:cNvPr>
            <p:cNvSpPr>
              <a:spLocks/>
            </p:cNvSpPr>
            <p:nvPr/>
          </p:nvSpPr>
          <p:spPr bwMode="auto">
            <a:xfrm>
              <a:off x="695" y="3341"/>
              <a:ext cx="70" cy="71"/>
            </a:xfrm>
            <a:custGeom>
              <a:avLst/>
              <a:gdLst>
                <a:gd name="T0" fmla="*/ 139 w 139"/>
                <a:gd name="T1" fmla="*/ 142 h 142"/>
                <a:gd name="T2" fmla="*/ 120 w 139"/>
                <a:gd name="T3" fmla="*/ 120 h 142"/>
                <a:gd name="T4" fmla="*/ 81 w 139"/>
                <a:gd name="T5" fmla="*/ 61 h 142"/>
                <a:gd name="T6" fmla="*/ 25 w 139"/>
                <a:gd name="T7" fmla="*/ 0 h 142"/>
                <a:gd name="T8" fmla="*/ 0 w 139"/>
                <a:gd name="T9" fmla="*/ 0 h 142"/>
                <a:gd name="T10" fmla="*/ 10 w 139"/>
                <a:gd name="T11" fmla="*/ 21 h 142"/>
                <a:gd name="T12" fmla="*/ 53 w 139"/>
                <a:gd name="T13" fmla="*/ 80 h 142"/>
                <a:gd name="T14" fmla="*/ 97 w 139"/>
                <a:gd name="T15" fmla="*/ 139 h 142"/>
                <a:gd name="T16" fmla="*/ 139 w 139"/>
                <a:gd name="T17" fmla="*/ 14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9" h="142">
                  <a:moveTo>
                    <a:pt x="139" y="142"/>
                  </a:moveTo>
                  <a:lnTo>
                    <a:pt x="120" y="120"/>
                  </a:lnTo>
                  <a:lnTo>
                    <a:pt x="81" y="61"/>
                  </a:lnTo>
                  <a:lnTo>
                    <a:pt x="25" y="0"/>
                  </a:lnTo>
                  <a:lnTo>
                    <a:pt x="0" y="0"/>
                  </a:lnTo>
                  <a:lnTo>
                    <a:pt x="10" y="21"/>
                  </a:lnTo>
                  <a:lnTo>
                    <a:pt x="53" y="80"/>
                  </a:lnTo>
                  <a:lnTo>
                    <a:pt x="97" y="139"/>
                  </a:lnTo>
                  <a:lnTo>
                    <a:pt x="139" y="1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17" name="Freeform 105">
              <a:extLst>
                <a:ext uri="{FF2B5EF4-FFF2-40B4-BE49-F238E27FC236}">
                  <a16:creationId xmlns="" xmlns:a16="http://schemas.microsoft.com/office/drawing/2014/main" id="{AC18306F-0772-4DB1-BD08-BBCF8DAFE873}"/>
                </a:ext>
              </a:extLst>
            </p:cNvPr>
            <p:cNvSpPr>
              <a:spLocks/>
            </p:cNvSpPr>
            <p:nvPr/>
          </p:nvSpPr>
          <p:spPr bwMode="auto">
            <a:xfrm>
              <a:off x="790" y="2749"/>
              <a:ext cx="213" cy="791"/>
            </a:xfrm>
            <a:custGeom>
              <a:avLst/>
              <a:gdLst>
                <a:gd name="T0" fmla="*/ 61 w 426"/>
                <a:gd name="T1" fmla="*/ 194 h 1583"/>
                <a:gd name="T2" fmla="*/ 76 w 426"/>
                <a:gd name="T3" fmla="*/ 281 h 1583"/>
                <a:gd name="T4" fmla="*/ 39 w 426"/>
                <a:gd name="T5" fmla="*/ 340 h 1583"/>
                <a:gd name="T6" fmla="*/ 43 w 426"/>
                <a:gd name="T7" fmla="*/ 421 h 1583"/>
                <a:gd name="T8" fmla="*/ 65 w 426"/>
                <a:gd name="T9" fmla="*/ 488 h 1583"/>
                <a:gd name="T10" fmla="*/ 31 w 426"/>
                <a:gd name="T11" fmla="*/ 553 h 1583"/>
                <a:gd name="T12" fmla="*/ 68 w 426"/>
                <a:gd name="T13" fmla="*/ 668 h 1583"/>
                <a:gd name="T14" fmla="*/ 24 w 426"/>
                <a:gd name="T15" fmla="*/ 764 h 1583"/>
                <a:gd name="T16" fmla="*/ 46 w 426"/>
                <a:gd name="T17" fmla="*/ 860 h 1583"/>
                <a:gd name="T18" fmla="*/ 58 w 426"/>
                <a:gd name="T19" fmla="*/ 928 h 1583"/>
                <a:gd name="T20" fmla="*/ 15 w 426"/>
                <a:gd name="T21" fmla="*/ 987 h 1583"/>
                <a:gd name="T22" fmla="*/ 39 w 426"/>
                <a:gd name="T23" fmla="*/ 1110 h 1583"/>
                <a:gd name="T24" fmla="*/ 37 w 426"/>
                <a:gd name="T25" fmla="*/ 1175 h 1583"/>
                <a:gd name="T26" fmla="*/ 0 w 426"/>
                <a:gd name="T27" fmla="*/ 1257 h 1583"/>
                <a:gd name="T28" fmla="*/ 22 w 426"/>
                <a:gd name="T29" fmla="*/ 1326 h 1583"/>
                <a:gd name="T30" fmla="*/ 24 w 426"/>
                <a:gd name="T31" fmla="*/ 1389 h 1583"/>
                <a:gd name="T32" fmla="*/ 31 w 426"/>
                <a:gd name="T33" fmla="*/ 1456 h 1583"/>
                <a:gd name="T34" fmla="*/ 61 w 426"/>
                <a:gd name="T35" fmla="*/ 1514 h 1583"/>
                <a:gd name="T36" fmla="*/ 65 w 426"/>
                <a:gd name="T37" fmla="*/ 1583 h 1583"/>
                <a:gd name="T38" fmla="*/ 161 w 426"/>
                <a:gd name="T39" fmla="*/ 1524 h 1583"/>
                <a:gd name="T40" fmla="*/ 275 w 426"/>
                <a:gd name="T41" fmla="*/ 1509 h 1583"/>
                <a:gd name="T42" fmla="*/ 352 w 426"/>
                <a:gd name="T43" fmla="*/ 1477 h 1583"/>
                <a:gd name="T44" fmla="*/ 377 w 426"/>
                <a:gd name="T45" fmla="*/ 1434 h 1583"/>
                <a:gd name="T46" fmla="*/ 385 w 426"/>
                <a:gd name="T47" fmla="*/ 1345 h 1583"/>
                <a:gd name="T48" fmla="*/ 368 w 426"/>
                <a:gd name="T49" fmla="*/ 1230 h 1583"/>
                <a:gd name="T50" fmla="*/ 348 w 426"/>
                <a:gd name="T51" fmla="*/ 1169 h 1583"/>
                <a:gd name="T52" fmla="*/ 361 w 426"/>
                <a:gd name="T53" fmla="*/ 1095 h 1583"/>
                <a:gd name="T54" fmla="*/ 325 w 426"/>
                <a:gd name="T55" fmla="*/ 1014 h 1583"/>
                <a:gd name="T56" fmla="*/ 374 w 426"/>
                <a:gd name="T57" fmla="*/ 951 h 1583"/>
                <a:gd name="T58" fmla="*/ 337 w 426"/>
                <a:gd name="T59" fmla="*/ 860 h 1583"/>
                <a:gd name="T60" fmla="*/ 318 w 426"/>
                <a:gd name="T61" fmla="*/ 773 h 1583"/>
                <a:gd name="T62" fmla="*/ 392 w 426"/>
                <a:gd name="T63" fmla="*/ 708 h 1583"/>
                <a:gd name="T64" fmla="*/ 368 w 426"/>
                <a:gd name="T65" fmla="*/ 661 h 1583"/>
                <a:gd name="T66" fmla="*/ 368 w 426"/>
                <a:gd name="T67" fmla="*/ 581 h 1583"/>
                <a:gd name="T68" fmla="*/ 333 w 426"/>
                <a:gd name="T69" fmla="*/ 529 h 1583"/>
                <a:gd name="T70" fmla="*/ 361 w 426"/>
                <a:gd name="T71" fmla="*/ 466 h 1583"/>
                <a:gd name="T72" fmla="*/ 337 w 426"/>
                <a:gd name="T73" fmla="*/ 414 h 1583"/>
                <a:gd name="T74" fmla="*/ 337 w 426"/>
                <a:gd name="T75" fmla="*/ 370 h 1583"/>
                <a:gd name="T76" fmla="*/ 362 w 426"/>
                <a:gd name="T77" fmla="*/ 330 h 1583"/>
                <a:gd name="T78" fmla="*/ 331 w 426"/>
                <a:gd name="T79" fmla="*/ 279 h 1583"/>
                <a:gd name="T80" fmla="*/ 325 w 426"/>
                <a:gd name="T81" fmla="*/ 206 h 1583"/>
                <a:gd name="T82" fmla="*/ 407 w 426"/>
                <a:gd name="T83" fmla="*/ 112 h 1583"/>
                <a:gd name="T84" fmla="*/ 426 w 426"/>
                <a:gd name="T85" fmla="*/ 15 h 1583"/>
                <a:gd name="T86" fmla="*/ 377 w 426"/>
                <a:gd name="T87" fmla="*/ 15 h 1583"/>
                <a:gd name="T88" fmla="*/ 235 w 426"/>
                <a:gd name="T89" fmla="*/ 90 h 1583"/>
                <a:gd name="T90" fmla="*/ 117 w 426"/>
                <a:gd name="T91" fmla="*/ 135 h 1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26" h="1583">
                  <a:moveTo>
                    <a:pt x="76" y="149"/>
                  </a:moveTo>
                  <a:lnTo>
                    <a:pt x="61" y="194"/>
                  </a:lnTo>
                  <a:lnTo>
                    <a:pt x="74" y="237"/>
                  </a:lnTo>
                  <a:lnTo>
                    <a:pt x="76" y="281"/>
                  </a:lnTo>
                  <a:lnTo>
                    <a:pt x="61" y="309"/>
                  </a:lnTo>
                  <a:lnTo>
                    <a:pt x="39" y="340"/>
                  </a:lnTo>
                  <a:lnTo>
                    <a:pt x="30" y="389"/>
                  </a:lnTo>
                  <a:lnTo>
                    <a:pt x="43" y="421"/>
                  </a:lnTo>
                  <a:lnTo>
                    <a:pt x="65" y="458"/>
                  </a:lnTo>
                  <a:lnTo>
                    <a:pt x="65" y="488"/>
                  </a:lnTo>
                  <a:lnTo>
                    <a:pt x="52" y="516"/>
                  </a:lnTo>
                  <a:lnTo>
                    <a:pt x="31" y="553"/>
                  </a:lnTo>
                  <a:lnTo>
                    <a:pt x="39" y="590"/>
                  </a:lnTo>
                  <a:lnTo>
                    <a:pt x="68" y="668"/>
                  </a:lnTo>
                  <a:lnTo>
                    <a:pt x="65" y="701"/>
                  </a:lnTo>
                  <a:lnTo>
                    <a:pt x="24" y="764"/>
                  </a:lnTo>
                  <a:lnTo>
                    <a:pt x="24" y="819"/>
                  </a:lnTo>
                  <a:lnTo>
                    <a:pt x="46" y="860"/>
                  </a:lnTo>
                  <a:lnTo>
                    <a:pt x="61" y="896"/>
                  </a:lnTo>
                  <a:lnTo>
                    <a:pt x="58" y="928"/>
                  </a:lnTo>
                  <a:lnTo>
                    <a:pt x="22" y="962"/>
                  </a:lnTo>
                  <a:lnTo>
                    <a:pt x="15" y="987"/>
                  </a:lnTo>
                  <a:lnTo>
                    <a:pt x="22" y="1045"/>
                  </a:lnTo>
                  <a:lnTo>
                    <a:pt x="39" y="1110"/>
                  </a:lnTo>
                  <a:lnTo>
                    <a:pt x="39" y="1147"/>
                  </a:lnTo>
                  <a:lnTo>
                    <a:pt x="37" y="1175"/>
                  </a:lnTo>
                  <a:lnTo>
                    <a:pt x="9" y="1220"/>
                  </a:lnTo>
                  <a:lnTo>
                    <a:pt x="0" y="1257"/>
                  </a:lnTo>
                  <a:lnTo>
                    <a:pt x="2" y="1296"/>
                  </a:lnTo>
                  <a:lnTo>
                    <a:pt x="22" y="1326"/>
                  </a:lnTo>
                  <a:lnTo>
                    <a:pt x="43" y="1352"/>
                  </a:lnTo>
                  <a:lnTo>
                    <a:pt x="24" y="1389"/>
                  </a:lnTo>
                  <a:lnTo>
                    <a:pt x="15" y="1426"/>
                  </a:lnTo>
                  <a:lnTo>
                    <a:pt x="31" y="1456"/>
                  </a:lnTo>
                  <a:lnTo>
                    <a:pt x="58" y="1477"/>
                  </a:lnTo>
                  <a:lnTo>
                    <a:pt x="61" y="1514"/>
                  </a:lnTo>
                  <a:lnTo>
                    <a:pt x="61" y="1543"/>
                  </a:lnTo>
                  <a:lnTo>
                    <a:pt x="65" y="1583"/>
                  </a:lnTo>
                  <a:lnTo>
                    <a:pt x="112" y="1551"/>
                  </a:lnTo>
                  <a:lnTo>
                    <a:pt x="161" y="1524"/>
                  </a:lnTo>
                  <a:lnTo>
                    <a:pt x="206" y="1509"/>
                  </a:lnTo>
                  <a:lnTo>
                    <a:pt x="275" y="1509"/>
                  </a:lnTo>
                  <a:lnTo>
                    <a:pt x="324" y="1502"/>
                  </a:lnTo>
                  <a:lnTo>
                    <a:pt x="352" y="1477"/>
                  </a:lnTo>
                  <a:lnTo>
                    <a:pt x="404" y="1462"/>
                  </a:lnTo>
                  <a:lnTo>
                    <a:pt x="377" y="1434"/>
                  </a:lnTo>
                  <a:lnTo>
                    <a:pt x="368" y="1391"/>
                  </a:lnTo>
                  <a:lnTo>
                    <a:pt x="385" y="1345"/>
                  </a:lnTo>
                  <a:lnTo>
                    <a:pt x="383" y="1279"/>
                  </a:lnTo>
                  <a:lnTo>
                    <a:pt x="368" y="1230"/>
                  </a:lnTo>
                  <a:lnTo>
                    <a:pt x="352" y="1205"/>
                  </a:lnTo>
                  <a:lnTo>
                    <a:pt x="348" y="1169"/>
                  </a:lnTo>
                  <a:lnTo>
                    <a:pt x="368" y="1125"/>
                  </a:lnTo>
                  <a:lnTo>
                    <a:pt x="361" y="1095"/>
                  </a:lnTo>
                  <a:lnTo>
                    <a:pt x="324" y="1044"/>
                  </a:lnTo>
                  <a:lnTo>
                    <a:pt x="325" y="1014"/>
                  </a:lnTo>
                  <a:lnTo>
                    <a:pt x="340" y="987"/>
                  </a:lnTo>
                  <a:lnTo>
                    <a:pt x="374" y="951"/>
                  </a:lnTo>
                  <a:lnTo>
                    <a:pt x="362" y="921"/>
                  </a:lnTo>
                  <a:lnTo>
                    <a:pt x="337" y="860"/>
                  </a:lnTo>
                  <a:lnTo>
                    <a:pt x="318" y="819"/>
                  </a:lnTo>
                  <a:lnTo>
                    <a:pt x="318" y="773"/>
                  </a:lnTo>
                  <a:lnTo>
                    <a:pt x="385" y="750"/>
                  </a:lnTo>
                  <a:lnTo>
                    <a:pt x="392" y="708"/>
                  </a:lnTo>
                  <a:lnTo>
                    <a:pt x="385" y="683"/>
                  </a:lnTo>
                  <a:lnTo>
                    <a:pt x="368" y="661"/>
                  </a:lnTo>
                  <a:lnTo>
                    <a:pt x="370" y="624"/>
                  </a:lnTo>
                  <a:lnTo>
                    <a:pt x="368" y="581"/>
                  </a:lnTo>
                  <a:lnTo>
                    <a:pt x="348" y="559"/>
                  </a:lnTo>
                  <a:lnTo>
                    <a:pt x="333" y="529"/>
                  </a:lnTo>
                  <a:lnTo>
                    <a:pt x="346" y="500"/>
                  </a:lnTo>
                  <a:lnTo>
                    <a:pt x="361" y="466"/>
                  </a:lnTo>
                  <a:lnTo>
                    <a:pt x="361" y="443"/>
                  </a:lnTo>
                  <a:lnTo>
                    <a:pt x="337" y="414"/>
                  </a:lnTo>
                  <a:lnTo>
                    <a:pt x="331" y="389"/>
                  </a:lnTo>
                  <a:lnTo>
                    <a:pt x="337" y="370"/>
                  </a:lnTo>
                  <a:lnTo>
                    <a:pt x="361" y="355"/>
                  </a:lnTo>
                  <a:lnTo>
                    <a:pt x="362" y="330"/>
                  </a:lnTo>
                  <a:lnTo>
                    <a:pt x="355" y="315"/>
                  </a:lnTo>
                  <a:lnTo>
                    <a:pt x="331" y="279"/>
                  </a:lnTo>
                  <a:lnTo>
                    <a:pt x="324" y="237"/>
                  </a:lnTo>
                  <a:lnTo>
                    <a:pt x="325" y="206"/>
                  </a:lnTo>
                  <a:lnTo>
                    <a:pt x="348" y="176"/>
                  </a:lnTo>
                  <a:lnTo>
                    <a:pt x="407" y="112"/>
                  </a:lnTo>
                  <a:lnTo>
                    <a:pt x="426" y="58"/>
                  </a:lnTo>
                  <a:lnTo>
                    <a:pt x="426" y="15"/>
                  </a:lnTo>
                  <a:lnTo>
                    <a:pt x="407" y="0"/>
                  </a:lnTo>
                  <a:lnTo>
                    <a:pt x="377" y="15"/>
                  </a:lnTo>
                  <a:lnTo>
                    <a:pt x="303" y="61"/>
                  </a:lnTo>
                  <a:lnTo>
                    <a:pt x="235" y="90"/>
                  </a:lnTo>
                  <a:lnTo>
                    <a:pt x="164" y="120"/>
                  </a:lnTo>
                  <a:lnTo>
                    <a:pt x="117" y="135"/>
                  </a:lnTo>
                  <a:lnTo>
                    <a:pt x="76" y="149"/>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18" name="Freeform 106">
              <a:extLst>
                <a:ext uri="{FF2B5EF4-FFF2-40B4-BE49-F238E27FC236}">
                  <a16:creationId xmlns="" xmlns:a16="http://schemas.microsoft.com/office/drawing/2014/main" id="{6AF75424-16F9-45D4-8DF3-866E6059B4E9}"/>
                </a:ext>
              </a:extLst>
            </p:cNvPr>
            <p:cNvSpPr>
              <a:spLocks/>
            </p:cNvSpPr>
            <p:nvPr/>
          </p:nvSpPr>
          <p:spPr bwMode="auto">
            <a:xfrm>
              <a:off x="641" y="2743"/>
              <a:ext cx="381" cy="809"/>
            </a:xfrm>
            <a:custGeom>
              <a:avLst/>
              <a:gdLst>
                <a:gd name="T0" fmla="*/ 497 w 761"/>
                <a:gd name="T1" fmla="*/ 1521 h 1619"/>
                <a:gd name="T2" fmla="*/ 351 w 761"/>
                <a:gd name="T3" fmla="*/ 1573 h 1619"/>
                <a:gd name="T4" fmla="*/ 61 w 761"/>
                <a:gd name="T5" fmla="*/ 1310 h 1619"/>
                <a:gd name="T6" fmla="*/ 46 w 761"/>
                <a:gd name="T7" fmla="*/ 1354 h 1619"/>
                <a:gd name="T8" fmla="*/ 361 w 761"/>
                <a:gd name="T9" fmla="*/ 1619 h 1619"/>
                <a:gd name="T10" fmla="*/ 512 w 761"/>
                <a:gd name="T11" fmla="*/ 1538 h 1619"/>
                <a:gd name="T12" fmla="*/ 720 w 761"/>
                <a:gd name="T13" fmla="*/ 1470 h 1619"/>
                <a:gd name="T14" fmla="*/ 711 w 761"/>
                <a:gd name="T15" fmla="*/ 1354 h 1619"/>
                <a:gd name="T16" fmla="*/ 668 w 761"/>
                <a:gd name="T17" fmla="*/ 1227 h 1619"/>
                <a:gd name="T18" fmla="*/ 689 w 761"/>
                <a:gd name="T19" fmla="*/ 1124 h 1619"/>
                <a:gd name="T20" fmla="*/ 644 w 761"/>
                <a:gd name="T21" fmla="*/ 1024 h 1619"/>
                <a:gd name="T22" fmla="*/ 667 w 761"/>
                <a:gd name="T23" fmla="*/ 907 h 1619"/>
                <a:gd name="T24" fmla="*/ 683 w 761"/>
                <a:gd name="T25" fmla="*/ 789 h 1619"/>
                <a:gd name="T26" fmla="*/ 689 w 761"/>
                <a:gd name="T27" fmla="*/ 641 h 1619"/>
                <a:gd name="T28" fmla="*/ 659 w 761"/>
                <a:gd name="T29" fmla="*/ 517 h 1619"/>
                <a:gd name="T30" fmla="*/ 644 w 761"/>
                <a:gd name="T31" fmla="*/ 419 h 1619"/>
                <a:gd name="T32" fmla="*/ 681 w 761"/>
                <a:gd name="T33" fmla="*/ 334 h 1619"/>
                <a:gd name="T34" fmla="*/ 661 w 761"/>
                <a:gd name="T35" fmla="*/ 192 h 1619"/>
                <a:gd name="T36" fmla="*/ 754 w 761"/>
                <a:gd name="T37" fmla="*/ 17 h 1619"/>
                <a:gd name="T38" fmla="*/ 713 w 761"/>
                <a:gd name="T39" fmla="*/ 54 h 1619"/>
                <a:gd name="T40" fmla="*/ 618 w 761"/>
                <a:gd name="T41" fmla="*/ 214 h 1619"/>
                <a:gd name="T42" fmla="*/ 478 w 761"/>
                <a:gd name="T43" fmla="*/ 345 h 1619"/>
                <a:gd name="T44" fmla="*/ 622 w 761"/>
                <a:gd name="T45" fmla="*/ 297 h 1619"/>
                <a:gd name="T46" fmla="*/ 609 w 761"/>
                <a:gd name="T47" fmla="*/ 390 h 1619"/>
                <a:gd name="T48" fmla="*/ 541 w 761"/>
                <a:gd name="T49" fmla="*/ 487 h 1619"/>
                <a:gd name="T50" fmla="*/ 640 w 761"/>
                <a:gd name="T51" fmla="*/ 465 h 1619"/>
                <a:gd name="T52" fmla="*/ 615 w 761"/>
                <a:gd name="T53" fmla="*/ 539 h 1619"/>
                <a:gd name="T54" fmla="*/ 608 w 761"/>
                <a:gd name="T55" fmla="*/ 620 h 1619"/>
                <a:gd name="T56" fmla="*/ 463 w 761"/>
                <a:gd name="T57" fmla="*/ 728 h 1619"/>
                <a:gd name="T58" fmla="*/ 625 w 761"/>
                <a:gd name="T59" fmla="*/ 654 h 1619"/>
                <a:gd name="T60" fmla="*/ 683 w 761"/>
                <a:gd name="T61" fmla="*/ 728 h 1619"/>
                <a:gd name="T62" fmla="*/ 585 w 761"/>
                <a:gd name="T63" fmla="*/ 796 h 1619"/>
                <a:gd name="T64" fmla="*/ 404 w 761"/>
                <a:gd name="T65" fmla="*/ 885 h 1619"/>
                <a:gd name="T66" fmla="*/ 609 w 761"/>
                <a:gd name="T67" fmla="*/ 848 h 1619"/>
                <a:gd name="T68" fmla="*/ 652 w 761"/>
                <a:gd name="T69" fmla="*/ 985 h 1619"/>
                <a:gd name="T70" fmla="*/ 408 w 761"/>
                <a:gd name="T71" fmla="*/ 1050 h 1619"/>
                <a:gd name="T72" fmla="*/ 541 w 761"/>
                <a:gd name="T73" fmla="*/ 1046 h 1619"/>
                <a:gd name="T74" fmla="*/ 625 w 761"/>
                <a:gd name="T75" fmla="*/ 1087 h 1619"/>
                <a:gd name="T76" fmla="*/ 622 w 761"/>
                <a:gd name="T77" fmla="*/ 1168 h 1619"/>
                <a:gd name="T78" fmla="*/ 389 w 761"/>
                <a:gd name="T79" fmla="*/ 1214 h 1619"/>
                <a:gd name="T80" fmla="*/ 504 w 761"/>
                <a:gd name="T81" fmla="*/ 1214 h 1619"/>
                <a:gd name="T82" fmla="*/ 637 w 761"/>
                <a:gd name="T83" fmla="*/ 1192 h 1619"/>
                <a:gd name="T84" fmla="*/ 522 w 761"/>
                <a:gd name="T85" fmla="*/ 1303 h 1619"/>
                <a:gd name="T86" fmla="*/ 389 w 761"/>
                <a:gd name="T87" fmla="*/ 1366 h 1619"/>
                <a:gd name="T88" fmla="*/ 556 w 761"/>
                <a:gd name="T89" fmla="*/ 1307 h 1619"/>
                <a:gd name="T90" fmla="*/ 655 w 761"/>
                <a:gd name="T91" fmla="*/ 1285 h 1619"/>
                <a:gd name="T92" fmla="*/ 652 w 761"/>
                <a:gd name="T93" fmla="*/ 1381 h 1619"/>
                <a:gd name="T94" fmla="*/ 667 w 761"/>
                <a:gd name="T95" fmla="*/ 1462 h 1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61" h="1619">
                  <a:moveTo>
                    <a:pt x="646" y="1465"/>
                  </a:moveTo>
                  <a:lnTo>
                    <a:pt x="615" y="1501"/>
                  </a:lnTo>
                  <a:lnTo>
                    <a:pt x="563" y="1514"/>
                  </a:lnTo>
                  <a:lnTo>
                    <a:pt x="497" y="1521"/>
                  </a:lnTo>
                  <a:lnTo>
                    <a:pt x="426" y="1536"/>
                  </a:lnTo>
                  <a:lnTo>
                    <a:pt x="380" y="1564"/>
                  </a:lnTo>
                  <a:lnTo>
                    <a:pt x="365" y="1579"/>
                  </a:lnTo>
                  <a:lnTo>
                    <a:pt x="351" y="1573"/>
                  </a:lnTo>
                  <a:lnTo>
                    <a:pt x="265" y="1508"/>
                  </a:lnTo>
                  <a:lnTo>
                    <a:pt x="154" y="1421"/>
                  </a:lnTo>
                  <a:lnTo>
                    <a:pt x="117" y="1366"/>
                  </a:lnTo>
                  <a:lnTo>
                    <a:pt x="61" y="1310"/>
                  </a:lnTo>
                  <a:lnTo>
                    <a:pt x="45" y="1266"/>
                  </a:lnTo>
                  <a:lnTo>
                    <a:pt x="0" y="1259"/>
                  </a:lnTo>
                  <a:lnTo>
                    <a:pt x="23" y="1307"/>
                  </a:lnTo>
                  <a:lnTo>
                    <a:pt x="46" y="1354"/>
                  </a:lnTo>
                  <a:lnTo>
                    <a:pt x="117" y="1406"/>
                  </a:lnTo>
                  <a:lnTo>
                    <a:pt x="166" y="1470"/>
                  </a:lnTo>
                  <a:lnTo>
                    <a:pt x="287" y="1545"/>
                  </a:lnTo>
                  <a:lnTo>
                    <a:pt x="361" y="1619"/>
                  </a:lnTo>
                  <a:lnTo>
                    <a:pt x="389" y="1612"/>
                  </a:lnTo>
                  <a:lnTo>
                    <a:pt x="419" y="1575"/>
                  </a:lnTo>
                  <a:lnTo>
                    <a:pt x="460" y="1553"/>
                  </a:lnTo>
                  <a:lnTo>
                    <a:pt x="512" y="1538"/>
                  </a:lnTo>
                  <a:lnTo>
                    <a:pt x="622" y="1529"/>
                  </a:lnTo>
                  <a:lnTo>
                    <a:pt x="655" y="1508"/>
                  </a:lnTo>
                  <a:lnTo>
                    <a:pt x="711" y="1495"/>
                  </a:lnTo>
                  <a:lnTo>
                    <a:pt x="720" y="1470"/>
                  </a:lnTo>
                  <a:lnTo>
                    <a:pt x="702" y="1440"/>
                  </a:lnTo>
                  <a:lnTo>
                    <a:pt x="683" y="1411"/>
                  </a:lnTo>
                  <a:lnTo>
                    <a:pt x="696" y="1374"/>
                  </a:lnTo>
                  <a:lnTo>
                    <a:pt x="711" y="1354"/>
                  </a:lnTo>
                  <a:lnTo>
                    <a:pt x="711" y="1322"/>
                  </a:lnTo>
                  <a:lnTo>
                    <a:pt x="696" y="1273"/>
                  </a:lnTo>
                  <a:lnTo>
                    <a:pt x="689" y="1249"/>
                  </a:lnTo>
                  <a:lnTo>
                    <a:pt x="668" y="1227"/>
                  </a:lnTo>
                  <a:lnTo>
                    <a:pt x="659" y="1201"/>
                  </a:lnTo>
                  <a:lnTo>
                    <a:pt x="668" y="1176"/>
                  </a:lnTo>
                  <a:lnTo>
                    <a:pt x="690" y="1156"/>
                  </a:lnTo>
                  <a:lnTo>
                    <a:pt x="689" y="1124"/>
                  </a:lnTo>
                  <a:lnTo>
                    <a:pt x="676" y="1102"/>
                  </a:lnTo>
                  <a:lnTo>
                    <a:pt x="652" y="1068"/>
                  </a:lnTo>
                  <a:lnTo>
                    <a:pt x="637" y="1050"/>
                  </a:lnTo>
                  <a:lnTo>
                    <a:pt x="644" y="1024"/>
                  </a:lnTo>
                  <a:lnTo>
                    <a:pt x="681" y="1002"/>
                  </a:lnTo>
                  <a:lnTo>
                    <a:pt x="696" y="972"/>
                  </a:lnTo>
                  <a:lnTo>
                    <a:pt x="690" y="948"/>
                  </a:lnTo>
                  <a:lnTo>
                    <a:pt x="667" y="907"/>
                  </a:lnTo>
                  <a:lnTo>
                    <a:pt x="640" y="855"/>
                  </a:lnTo>
                  <a:lnTo>
                    <a:pt x="630" y="818"/>
                  </a:lnTo>
                  <a:lnTo>
                    <a:pt x="644" y="803"/>
                  </a:lnTo>
                  <a:lnTo>
                    <a:pt x="683" y="789"/>
                  </a:lnTo>
                  <a:lnTo>
                    <a:pt x="705" y="774"/>
                  </a:lnTo>
                  <a:lnTo>
                    <a:pt x="711" y="728"/>
                  </a:lnTo>
                  <a:lnTo>
                    <a:pt x="683" y="676"/>
                  </a:lnTo>
                  <a:lnTo>
                    <a:pt x="689" y="641"/>
                  </a:lnTo>
                  <a:lnTo>
                    <a:pt x="698" y="610"/>
                  </a:lnTo>
                  <a:lnTo>
                    <a:pt x="674" y="573"/>
                  </a:lnTo>
                  <a:lnTo>
                    <a:pt x="652" y="539"/>
                  </a:lnTo>
                  <a:lnTo>
                    <a:pt x="659" y="517"/>
                  </a:lnTo>
                  <a:lnTo>
                    <a:pt x="674" y="495"/>
                  </a:lnTo>
                  <a:lnTo>
                    <a:pt x="674" y="458"/>
                  </a:lnTo>
                  <a:lnTo>
                    <a:pt x="659" y="436"/>
                  </a:lnTo>
                  <a:lnTo>
                    <a:pt x="644" y="419"/>
                  </a:lnTo>
                  <a:lnTo>
                    <a:pt x="646" y="391"/>
                  </a:lnTo>
                  <a:lnTo>
                    <a:pt x="674" y="378"/>
                  </a:lnTo>
                  <a:lnTo>
                    <a:pt x="689" y="363"/>
                  </a:lnTo>
                  <a:lnTo>
                    <a:pt x="681" y="334"/>
                  </a:lnTo>
                  <a:lnTo>
                    <a:pt x="652" y="297"/>
                  </a:lnTo>
                  <a:lnTo>
                    <a:pt x="640" y="264"/>
                  </a:lnTo>
                  <a:lnTo>
                    <a:pt x="637" y="227"/>
                  </a:lnTo>
                  <a:lnTo>
                    <a:pt x="661" y="192"/>
                  </a:lnTo>
                  <a:lnTo>
                    <a:pt x="713" y="134"/>
                  </a:lnTo>
                  <a:lnTo>
                    <a:pt x="739" y="91"/>
                  </a:lnTo>
                  <a:lnTo>
                    <a:pt x="761" y="54"/>
                  </a:lnTo>
                  <a:lnTo>
                    <a:pt x="754" y="17"/>
                  </a:lnTo>
                  <a:lnTo>
                    <a:pt x="735" y="0"/>
                  </a:lnTo>
                  <a:lnTo>
                    <a:pt x="720" y="3"/>
                  </a:lnTo>
                  <a:lnTo>
                    <a:pt x="696" y="32"/>
                  </a:lnTo>
                  <a:lnTo>
                    <a:pt x="713" y="54"/>
                  </a:lnTo>
                  <a:lnTo>
                    <a:pt x="711" y="91"/>
                  </a:lnTo>
                  <a:lnTo>
                    <a:pt x="676" y="155"/>
                  </a:lnTo>
                  <a:lnTo>
                    <a:pt x="631" y="192"/>
                  </a:lnTo>
                  <a:lnTo>
                    <a:pt x="618" y="214"/>
                  </a:lnTo>
                  <a:lnTo>
                    <a:pt x="608" y="242"/>
                  </a:lnTo>
                  <a:lnTo>
                    <a:pt x="603" y="260"/>
                  </a:lnTo>
                  <a:lnTo>
                    <a:pt x="537" y="311"/>
                  </a:lnTo>
                  <a:lnTo>
                    <a:pt x="478" y="345"/>
                  </a:lnTo>
                  <a:lnTo>
                    <a:pt x="470" y="369"/>
                  </a:lnTo>
                  <a:lnTo>
                    <a:pt x="491" y="375"/>
                  </a:lnTo>
                  <a:lnTo>
                    <a:pt x="578" y="311"/>
                  </a:lnTo>
                  <a:lnTo>
                    <a:pt x="622" y="297"/>
                  </a:lnTo>
                  <a:lnTo>
                    <a:pt x="644" y="338"/>
                  </a:lnTo>
                  <a:lnTo>
                    <a:pt x="652" y="356"/>
                  </a:lnTo>
                  <a:lnTo>
                    <a:pt x="630" y="375"/>
                  </a:lnTo>
                  <a:lnTo>
                    <a:pt x="609" y="390"/>
                  </a:lnTo>
                  <a:lnTo>
                    <a:pt x="608" y="415"/>
                  </a:lnTo>
                  <a:lnTo>
                    <a:pt x="615" y="441"/>
                  </a:lnTo>
                  <a:lnTo>
                    <a:pt x="596" y="462"/>
                  </a:lnTo>
                  <a:lnTo>
                    <a:pt x="541" y="487"/>
                  </a:lnTo>
                  <a:lnTo>
                    <a:pt x="460" y="521"/>
                  </a:lnTo>
                  <a:lnTo>
                    <a:pt x="491" y="532"/>
                  </a:lnTo>
                  <a:lnTo>
                    <a:pt x="573" y="499"/>
                  </a:lnTo>
                  <a:lnTo>
                    <a:pt x="640" y="465"/>
                  </a:lnTo>
                  <a:lnTo>
                    <a:pt x="652" y="473"/>
                  </a:lnTo>
                  <a:lnTo>
                    <a:pt x="644" y="495"/>
                  </a:lnTo>
                  <a:lnTo>
                    <a:pt x="622" y="517"/>
                  </a:lnTo>
                  <a:lnTo>
                    <a:pt x="615" y="539"/>
                  </a:lnTo>
                  <a:lnTo>
                    <a:pt x="625" y="568"/>
                  </a:lnTo>
                  <a:lnTo>
                    <a:pt x="652" y="591"/>
                  </a:lnTo>
                  <a:lnTo>
                    <a:pt x="652" y="610"/>
                  </a:lnTo>
                  <a:lnTo>
                    <a:pt x="608" y="620"/>
                  </a:lnTo>
                  <a:lnTo>
                    <a:pt x="571" y="669"/>
                  </a:lnTo>
                  <a:lnTo>
                    <a:pt x="526" y="698"/>
                  </a:lnTo>
                  <a:lnTo>
                    <a:pt x="467" y="713"/>
                  </a:lnTo>
                  <a:lnTo>
                    <a:pt x="463" y="728"/>
                  </a:lnTo>
                  <a:lnTo>
                    <a:pt x="500" y="722"/>
                  </a:lnTo>
                  <a:lnTo>
                    <a:pt x="578" y="698"/>
                  </a:lnTo>
                  <a:lnTo>
                    <a:pt x="608" y="676"/>
                  </a:lnTo>
                  <a:lnTo>
                    <a:pt x="625" y="654"/>
                  </a:lnTo>
                  <a:lnTo>
                    <a:pt x="652" y="650"/>
                  </a:lnTo>
                  <a:lnTo>
                    <a:pt x="652" y="676"/>
                  </a:lnTo>
                  <a:lnTo>
                    <a:pt x="668" y="700"/>
                  </a:lnTo>
                  <a:lnTo>
                    <a:pt x="683" y="728"/>
                  </a:lnTo>
                  <a:lnTo>
                    <a:pt x="674" y="749"/>
                  </a:lnTo>
                  <a:lnTo>
                    <a:pt x="640" y="765"/>
                  </a:lnTo>
                  <a:lnTo>
                    <a:pt x="608" y="774"/>
                  </a:lnTo>
                  <a:lnTo>
                    <a:pt x="585" y="796"/>
                  </a:lnTo>
                  <a:lnTo>
                    <a:pt x="485" y="826"/>
                  </a:lnTo>
                  <a:lnTo>
                    <a:pt x="411" y="852"/>
                  </a:lnTo>
                  <a:lnTo>
                    <a:pt x="382" y="867"/>
                  </a:lnTo>
                  <a:lnTo>
                    <a:pt x="404" y="885"/>
                  </a:lnTo>
                  <a:lnTo>
                    <a:pt x="448" y="874"/>
                  </a:lnTo>
                  <a:lnTo>
                    <a:pt x="537" y="840"/>
                  </a:lnTo>
                  <a:lnTo>
                    <a:pt x="596" y="823"/>
                  </a:lnTo>
                  <a:lnTo>
                    <a:pt x="609" y="848"/>
                  </a:lnTo>
                  <a:lnTo>
                    <a:pt x="625" y="892"/>
                  </a:lnTo>
                  <a:lnTo>
                    <a:pt x="652" y="929"/>
                  </a:lnTo>
                  <a:lnTo>
                    <a:pt x="655" y="957"/>
                  </a:lnTo>
                  <a:lnTo>
                    <a:pt x="652" y="985"/>
                  </a:lnTo>
                  <a:lnTo>
                    <a:pt x="622" y="994"/>
                  </a:lnTo>
                  <a:lnTo>
                    <a:pt x="571" y="1007"/>
                  </a:lnTo>
                  <a:lnTo>
                    <a:pt x="504" y="1037"/>
                  </a:lnTo>
                  <a:lnTo>
                    <a:pt x="408" y="1050"/>
                  </a:lnTo>
                  <a:lnTo>
                    <a:pt x="373" y="1068"/>
                  </a:lnTo>
                  <a:lnTo>
                    <a:pt x="398" y="1080"/>
                  </a:lnTo>
                  <a:lnTo>
                    <a:pt x="482" y="1068"/>
                  </a:lnTo>
                  <a:lnTo>
                    <a:pt x="541" y="1046"/>
                  </a:lnTo>
                  <a:lnTo>
                    <a:pt x="581" y="1031"/>
                  </a:lnTo>
                  <a:lnTo>
                    <a:pt x="615" y="1024"/>
                  </a:lnTo>
                  <a:lnTo>
                    <a:pt x="609" y="1050"/>
                  </a:lnTo>
                  <a:lnTo>
                    <a:pt x="625" y="1087"/>
                  </a:lnTo>
                  <a:lnTo>
                    <a:pt x="646" y="1109"/>
                  </a:lnTo>
                  <a:lnTo>
                    <a:pt x="652" y="1134"/>
                  </a:lnTo>
                  <a:lnTo>
                    <a:pt x="652" y="1156"/>
                  </a:lnTo>
                  <a:lnTo>
                    <a:pt x="622" y="1168"/>
                  </a:lnTo>
                  <a:lnTo>
                    <a:pt x="566" y="1171"/>
                  </a:lnTo>
                  <a:lnTo>
                    <a:pt x="526" y="1183"/>
                  </a:lnTo>
                  <a:lnTo>
                    <a:pt x="439" y="1213"/>
                  </a:lnTo>
                  <a:lnTo>
                    <a:pt x="389" y="1214"/>
                  </a:lnTo>
                  <a:lnTo>
                    <a:pt x="373" y="1236"/>
                  </a:lnTo>
                  <a:lnTo>
                    <a:pt x="395" y="1244"/>
                  </a:lnTo>
                  <a:lnTo>
                    <a:pt x="439" y="1235"/>
                  </a:lnTo>
                  <a:lnTo>
                    <a:pt x="504" y="1214"/>
                  </a:lnTo>
                  <a:lnTo>
                    <a:pt x="541" y="1201"/>
                  </a:lnTo>
                  <a:lnTo>
                    <a:pt x="588" y="1190"/>
                  </a:lnTo>
                  <a:lnTo>
                    <a:pt x="625" y="1192"/>
                  </a:lnTo>
                  <a:lnTo>
                    <a:pt x="637" y="1192"/>
                  </a:lnTo>
                  <a:lnTo>
                    <a:pt x="637" y="1227"/>
                  </a:lnTo>
                  <a:lnTo>
                    <a:pt x="646" y="1244"/>
                  </a:lnTo>
                  <a:lnTo>
                    <a:pt x="581" y="1259"/>
                  </a:lnTo>
                  <a:lnTo>
                    <a:pt x="522" y="1303"/>
                  </a:lnTo>
                  <a:lnTo>
                    <a:pt x="456" y="1325"/>
                  </a:lnTo>
                  <a:lnTo>
                    <a:pt x="411" y="1332"/>
                  </a:lnTo>
                  <a:lnTo>
                    <a:pt x="374" y="1352"/>
                  </a:lnTo>
                  <a:lnTo>
                    <a:pt x="389" y="1366"/>
                  </a:lnTo>
                  <a:lnTo>
                    <a:pt x="426" y="1354"/>
                  </a:lnTo>
                  <a:lnTo>
                    <a:pt x="467" y="1340"/>
                  </a:lnTo>
                  <a:lnTo>
                    <a:pt x="515" y="1332"/>
                  </a:lnTo>
                  <a:lnTo>
                    <a:pt x="556" y="1307"/>
                  </a:lnTo>
                  <a:lnTo>
                    <a:pt x="578" y="1285"/>
                  </a:lnTo>
                  <a:lnTo>
                    <a:pt x="608" y="1281"/>
                  </a:lnTo>
                  <a:lnTo>
                    <a:pt x="644" y="1281"/>
                  </a:lnTo>
                  <a:lnTo>
                    <a:pt x="655" y="1285"/>
                  </a:lnTo>
                  <a:lnTo>
                    <a:pt x="667" y="1310"/>
                  </a:lnTo>
                  <a:lnTo>
                    <a:pt x="674" y="1340"/>
                  </a:lnTo>
                  <a:lnTo>
                    <a:pt x="667" y="1366"/>
                  </a:lnTo>
                  <a:lnTo>
                    <a:pt x="652" y="1381"/>
                  </a:lnTo>
                  <a:lnTo>
                    <a:pt x="640" y="1418"/>
                  </a:lnTo>
                  <a:lnTo>
                    <a:pt x="652" y="1433"/>
                  </a:lnTo>
                  <a:lnTo>
                    <a:pt x="667" y="1448"/>
                  </a:lnTo>
                  <a:lnTo>
                    <a:pt x="667" y="1462"/>
                  </a:lnTo>
                  <a:lnTo>
                    <a:pt x="646" y="14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19" name="Freeform 107">
              <a:extLst>
                <a:ext uri="{FF2B5EF4-FFF2-40B4-BE49-F238E27FC236}">
                  <a16:creationId xmlns="" xmlns:a16="http://schemas.microsoft.com/office/drawing/2014/main" id="{16AB3C64-7A4D-4E9B-BC94-F20F80F11D15}"/>
                </a:ext>
              </a:extLst>
            </p:cNvPr>
            <p:cNvSpPr>
              <a:spLocks/>
            </p:cNvSpPr>
            <p:nvPr/>
          </p:nvSpPr>
          <p:spPr bwMode="auto">
            <a:xfrm>
              <a:off x="843" y="3438"/>
              <a:ext cx="110" cy="36"/>
            </a:xfrm>
            <a:custGeom>
              <a:avLst/>
              <a:gdLst>
                <a:gd name="T0" fmla="*/ 0 w 221"/>
                <a:gd name="T1" fmla="*/ 57 h 72"/>
                <a:gd name="T2" fmla="*/ 88 w 221"/>
                <a:gd name="T3" fmla="*/ 54 h 72"/>
                <a:gd name="T4" fmla="*/ 122 w 221"/>
                <a:gd name="T5" fmla="*/ 35 h 72"/>
                <a:gd name="T6" fmla="*/ 151 w 221"/>
                <a:gd name="T7" fmla="*/ 13 h 72"/>
                <a:gd name="T8" fmla="*/ 205 w 221"/>
                <a:gd name="T9" fmla="*/ 0 h 72"/>
                <a:gd name="T10" fmla="*/ 221 w 221"/>
                <a:gd name="T11" fmla="*/ 13 h 72"/>
                <a:gd name="T12" fmla="*/ 197 w 221"/>
                <a:gd name="T13" fmla="*/ 20 h 72"/>
                <a:gd name="T14" fmla="*/ 159 w 221"/>
                <a:gd name="T15" fmla="*/ 41 h 72"/>
                <a:gd name="T16" fmla="*/ 138 w 221"/>
                <a:gd name="T17" fmla="*/ 54 h 72"/>
                <a:gd name="T18" fmla="*/ 103 w 221"/>
                <a:gd name="T19" fmla="*/ 64 h 72"/>
                <a:gd name="T20" fmla="*/ 48 w 221"/>
                <a:gd name="T21" fmla="*/ 69 h 72"/>
                <a:gd name="T22" fmla="*/ 4 w 221"/>
                <a:gd name="T23" fmla="*/ 72 h 72"/>
                <a:gd name="T24" fmla="*/ 0 w 221"/>
                <a:gd name="T25" fmla="*/ 5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 h="72">
                  <a:moveTo>
                    <a:pt x="0" y="57"/>
                  </a:moveTo>
                  <a:lnTo>
                    <a:pt x="88" y="54"/>
                  </a:lnTo>
                  <a:lnTo>
                    <a:pt x="122" y="35"/>
                  </a:lnTo>
                  <a:lnTo>
                    <a:pt x="151" y="13"/>
                  </a:lnTo>
                  <a:lnTo>
                    <a:pt x="205" y="0"/>
                  </a:lnTo>
                  <a:lnTo>
                    <a:pt x="221" y="13"/>
                  </a:lnTo>
                  <a:lnTo>
                    <a:pt x="197" y="20"/>
                  </a:lnTo>
                  <a:lnTo>
                    <a:pt x="159" y="41"/>
                  </a:lnTo>
                  <a:lnTo>
                    <a:pt x="138" y="54"/>
                  </a:lnTo>
                  <a:lnTo>
                    <a:pt x="103" y="64"/>
                  </a:lnTo>
                  <a:lnTo>
                    <a:pt x="48" y="69"/>
                  </a:lnTo>
                  <a:lnTo>
                    <a:pt x="4" y="72"/>
                  </a:lnTo>
                  <a:lnTo>
                    <a:pt x="0" y="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20" name="Freeform 108">
              <a:extLst>
                <a:ext uri="{FF2B5EF4-FFF2-40B4-BE49-F238E27FC236}">
                  <a16:creationId xmlns="" xmlns:a16="http://schemas.microsoft.com/office/drawing/2014/main" id="{F5C48F29-CCF6-4C3F-BE2E-DF3734167264}"/>
                </a:ext>
              </a:extLst>
            </p:cNvPr>
            <p:cNvSpPr>
              <a:spLocks/>
            </p:cNvSpPr>
            <p:nvPr/>
          </p:nvSpPr>
          <p:spPr bwMode="auto">
            <a:xfrm>
              <a:off x="674" y="2646"/>
              <a:ext cx="320" cy="174"/>
            </a:xfrm>
            <a:custGeom>
              <a:avLst/>
              <a:gdLst>
                <a:gd name="T0" fmla="*/ 19 w 640"/>
                <a:gd name="T1" fmla="*/ 39 h 347"/>
                <a:gd name="T2" fmla="*/ 95 w 640"/>
                <a:gd name="T3" fmla="*/ 43 h 347"/>
                <a:gd name="T4" fmla="*/ 176 w 640"/>
                <a:gd name="T5" fmla="*/ 46 h 347"/>
                <a:gd name="T6" fmla="*/ 228 w 640"/>
                <a:gd name="T7" fmla="*/ 46 h 347"/>
                <a:gd name="T8" fmla="*/ 269 w 640"/>
                <a:gd name="T9" fmla="*/ 36 h 347"/>
                <a:gd name="T10" fmla="*/ 336 w 640"/>
                <a:gd name="T11" fmla="*/ 17 h 347"/>
                <a:gd name="T12" fmla="*/ 367 w 640"/>
                <a:gd name="T13" fmla="*/ 0 h 347"/>
                <a:gd name="T14" fmla="*/ 411 w 640"/>
                <a:gd name="T15" fmla="*/ 24 h 347"/>
                <a:gd name="T16" fmla="*/ 482 w 640"/>
                <a:gd name="T17" fmla="*/ 73 h 347"/>
                <a:gd name="T18" fmla="*/ 534 w 640"/>
                <a:gd name="T19" fmla="*/ 109 h 347"/>
                <a:gd name="T20" fmla="*/ 600 w 640"/>
                <a:gd name="T21" fmla="*/ 155 h 347"/>
                <a:gd name="T22" fmla="*/ 640 w 640"/>
                <a:gd name="T23" fmla="*/ 191 h 347"/>
                <a:gd name="T24" fmla="*/ 603 w 640"/>
                <a:gd name="T25" fmla="*/ 222 h 347"/>
                <a:gd name="T26" fmla="*/ 566 w 640"/>
                <a:gd name="T27" fmla="*/ 257 h 347"/>
                <a:gd name="T28" fmla="*/ 507 w 640"/>
                <a:gd name="T29" fmla="*/ 281 h 347"/>
                <a:gd name="T30" fmla="*/ 445 w 640"/>
                <a:gd name="T31" fmla="*/ 307 h 347"/>
                <a:gd name="T32" fmla="*/ 389 w 640"/>
                <a:gd name="T33" fmla="*/ 329 h 347"/>
                <a:gd name="T34" fmla="*/ 337 w 640"/>
                <a:gd name="T35" fmla="*/ 337 h 347"/>
                <a:gd name="T36" fmla="*/ 284 w 640"/>
                <a:gd name="T37" fmla="*/ 347 h 347"/>
                <a:gd name="T38" fmla="*/ 217 w 640"/>
                <a:gd name="T39" fmla="*/ 300 h 347"/>
                <a:gd name="T40" fmla="*/ 166 w 640"/>
                <a:gd name="T41" fmla="*/ 259 h 347"/>
                <a:gd name="T42" fmla="*/ 108 w 640"/>
                <a:gd name="T43" fmla="*/ 207 h 347"/>
                <a:gd name="T44" fmla="*/ 58 w 640"/>
                <a:gd name="T45" fmla="*/ 155 h 347"/>
                <a:gd name="T46" fmla="*/ 21 w 640"/>
                <a:gd name="T47" fmla="*/ 120 h 347"/>
                <a:gd name="T48" fmla="*/ 0 w 640"/>
                <a:gd name="T49" fmla="*/ 68 h 347"/>
                <a:gd name="T50" fmla="*/ 19 w 640"/>
                <a:gd name="T51" fmla="*/ 3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0" h="347">
                  <a:moveTo>
                    <a:pt x="19" y="39"/>
                  </a:moveTo>
                  <a:lnTo>
                    <a:pt x="95" y="43"/>
                  </a:lnTo>
                  <a:lnTo>
                    <a:pt x="176" y="46"/>
                  </a:lnTo>
                  <a:lnTo>
                    <a:pt x="228" y="46"/>
                  </a:lnTo>
                  <a:lnTo>
                    <a:pt x="269" y="36"/>
                  </a:lnTo>
                  <a:lnTo>
                    <a:pt x="336" y="17"/>
                  </a:lnTo>
                  <a:lnTo>
                    <a:pt x="367" y="0"/>
                  </a:lnTo>
                  <a:lnTo>
                    <a:pt x="411" y="24"/>
                  </a:lnTo>
                  <a:lnTo>
                    <a:pt x="482" y="73"/>
                  </a:lnTo>
                  <a:lnTo>
                    <a:pt x="534" y="109"/>
                  </a:lnTo>
                  <a:lnTo>
                    <a:pt x="600" y="155"/>
                  </a:lnTo>
                  <a:lnTo>
                    <a:pt x="640" y="191"/>
                  </a:lnTo>
                  <a:lnTo>
                    <a:pt x="603" y="222"/>
                  </a:lnTo>
                  <a:lnTo>
                    <a:pt x="566" y="257"/>
                  </a:lnTo>
                  <a:lnTo>
                    <a:pt x="507" y="281"/>
                  </a:lnTo>
                  <a:lnTo>
                    <a:pt x="445" y="307"/>
                  </a:lnTo>
                  <a:lnTo>
                    <a:pt x="389" y="329"/>
                  </a:lnTo>
                  <a:lnTo>
                    <a:pt x="337" y="337"/>
                  </a:lnTo>
                  <a:lnTo>
                    <a:pt x="284" y="347"/>
                  </a:lnTo>
                  <a:lnTo>
                    <a:pt x="217" y="300"/>
                  </a:lnTo>
                  <a:lnTo>
                    <a:pt x="166" y="259"/>
                  </a:lnTo>
                  <a:lnTo>
                    <a:pt x="108" y="207"/>
                  </a:lnTo>
                  <a:lnTo>
                    <a:pt x="58" y="155"/>
                  </a:lnTo>
                  <a:lnTo>
                    <a:pt x="21" y="120"/>
                  </a:lnTo>
                  <a:lnTo>
                    <a:pt x="0" y="68"/>
                  </a:lnTo>
                  <a:lnTo>
                    <a:pt x="19" y="39"/>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21" name="Freeform 109">
              <a:extLst>
                <a:ext uri="{FF2B5EF4-FFF2-40B4-BE49-F238E27FC236}">
                  <a16:creationId xmlns="" xmlns:a16="http://schemas.microsoft.com/office/drawing/2014/main" id="{734256B5-287F-4D22-9E1E-0210FADF819D}"/>
                </a:ext>
              </a:extLst>
            </p:cNvPr>
            <p:cNvSpPr>
              <a:spLocks/>
            </p:cNvSpPr>
            <p:nvPr/>
          </p:nvSpPr>
          <p:spPr bwMode="auto">
            <a:xfrm>
              <a:off x="666" y="2641"/>
              <a:ext cx="346" cy="202"/>
            </a:xfrm>
            <a:custGeom>
              <a:avLst/>
              <a:gdLst>
                <a:gd name="T0" fmla="*/ 339 w 692"/>
                <a:gd name="T1" fmla="*/ 345 h 404"/>
                <a:gd name="T2" fmla="*/ 449 w 692"/>
                <a:gd name="T3" fmla="*/ 315 h 404"/>
                <a:gd name="T4" fmla="*/ 538 w 692"/>
                <a:gd name="T5" fmla="*/ 277 h 404"/>
                <a:gd name="T6" fmla="*/ 602 w 692"/>
                <a:gd name="T7" fmla="*/ 232 h 404"/>
                <a:gd name="T8" fmla="*/ 626 w 692"/>
                <a:gd name="T9" fmla="*/ 206 h 404"/>
                <a:gd name="T10" fmla="*/ 535 w 692"/>
                <a:gd name="T11" fmla="*/ 123 h 404"/>
                <a:gd name="T12" fmla="*/ 461 w 692"/>
                <a:gd name="T13" fmla="*/ 78 h 404"/>
                <a:gd name="T14" fmla="*/ 390 w 692"/>
                <a:gd name="T15" fmla="*/ 34 h 404"/>
                <a:gd name="T16" fmla="*/ 376 w 692"/>
                <a:gd name="T17" fmla="*/ 34 h 404"/>
                <a:gd name="T18" fmla="*/ 331 w 692"/>
                <a:gd name="T19" fmla="*/ 49 h 404"/>
                <a:gd name="T20" fmla="*/ 272 w 692"/>
                <a:gd name="T21" fmla="*/ 65 h 404"/>
                <a:gd name="T22" fmla="*/ 167 w 692"/>
                <a:gd name="T23" fmla="*/ 73 h 404"/>
                <a:gd name="T24" fmla="*/ 64 w 692"/>
                <a:gd name="T25" fmla="*/ 71 h 404"/>
                <a:gd name="T26" fmla="*/ 37 w 692"/>
                <a:gd name="T27" fmla="*/ 73 h 404"/>
                <a:gd name="T28" fmla="*/ 37 w 692"/>
                <a:gd name="T29" fmla="*/ 93 h 404"/>
                <a:gd name="T30" fmla="*/ 59 w 692"/>
                <a:gd name="T31" fmla="*/ 123 h 404"/>
                <a:gd name="T32" fmla="*/ 101 w 692"/>
                <a:gd name="T33" fmla="*/ 176 h 404"/>
                <a:gd name="T34" fmla="*/ 155 w 692"/>
                <a:gd name="T35" fmla="*/ 220 h 404"/>
                <a:gd name="T36" fmla="*/ 220 w 692"/>
                <a:gd name="T37" fmla="*/ 284 h 404"/>
                <a:gd name="T38" fmla="*/ 285 w 692"/>
                <a:gd name="T39" fmla="*/ 330 h 404"/>
                <a:gd name="T40" fmla="*/ 324 w 692"/>
                <a:gd name="T41" fmla="*/ 358 h 404"/>
                <a:gd name="T42" fmla="*/ 337 w 692"/>
                <a:gd name="T43" fmla="*/ 387 h 404"/>
                <a:gd name="T44" fmla="*/ 322 w 692"/>
                <a:gd name="T45" fmla="*/ 404 h 404"/>
                <a:gd name="T46" fmla="*/ 300 w 692"/>
                <a:gd name="T47" fmla="*/ 395 h 404"/>
                <a:gd name="T48" fmla="*/ 235 w 692"/>
                <a:gd name="T49" fmla="*/ 336 h 404"/>
                <a:gd name="T50" fmla="*/ 155 w 692"/>
                <a:gd name="T51" fmla="*/ 269 h 404"/>
                <a:gd name="T52" fmla="*/ 96 w 692"/>
                <a:gd name="T53" fmla="*/ 220 h 404"/>
                <a:gd name="T54" fmla="*/ 56 w 692"/>
                <a:gd name="T55" fmla="*/ 176 h 404"/>
                <a:gd name="T56" fmla="*/ 22 w 692"/>
                <a:gd name="T57" fmla="*/ 129 h 404"/>
                <a:gd name="T58" fmla="*/ 7 w 692"/>
                <a:gd name="T59" fmla="*/ 99 h 404"/>
                <a:gd name="T60" fmla="*/ 0 w 692"/>
                <a:gd name="T61" fmla="*/ 65 h 404"/>
                <a:gd name="T62" fmla="*/ 10 w 692"/>
                <a:gd name="T63" fmla="*/ 43 h 404"/>
                <a:gd name="T64" fmla="*/ 34 w 692"/>
                <a:gd name="T65" fmla="*/ 34 h 404"/>
                <a:gd name="T66" fmla="*/ 78 w 692"/>
                <a:gd name="T67" fmla="*/ 37 h 404"/>
                <a:gd name="T68" fmla="*/ 162 w 692"/>
                <a:gd name="T69" fmla="*/ 49 h 404"/>
                <a:gd name="T70" fmla="*/ 233 w 692"/>
                <a:gd name="T71" fmla="*/ 49 h 404"/>
                <a:gd name="T72" fmla="*/ 285 w 692"/>
                <a:gd name="T73" fmla="*/ 34 h 404"/>
                <a:gd name="T74" fmla="*/ 343 w 692"/>
                <a:gd name="T75" fmla="*/ 21 h 404"/>
                <a:gd name="T76" fmla="*/ 368 w 692"/>
                <a:gd name="T77" fmla="*/ 0 h 404"/>
                <a:gd name="T78" fmla="*/ 395 w 692"/>
                <a:gd name="T79" fmla="*/ 0 h 404"/>
                <a:gd name="T80" fmla="*/ 457 w 692"/>
                <a:gd name="T81" fmla="*/ 37 h 404"/>
                <a:gd name="T82" fmla="*/ 523 w 692"/>
                <a:gd name="T83" fmla="*/ 87 h 404"/>
                <a:gd name="T84" fmla="*/ 594 w 692"/>
                <a:gd name="T85" fmla="*/ 132 h 404"/>
                <a:gd name="T86" fmla="*/ 633 w 692"/>
                <a:gd name="T87" fmla="*/ 161 h 404"/>
                <a:gd name="T88" fmla="*/ 674 w 692"/>
                <a:gd name="T89" fmla="*/ 188 h 404"/>
                <a:gd name="T90" fmla="*/ 692 w 692"/>
                <a:gd name="T91" fmla="*/ 198 h 404"/>
                <a:gd name="T92" fmla="*/ 683 w 692"/>
                <a:gd name="T93" fmla="*/ 218 h 404"/>
                <a:gd name="T94" fmla="*/ 652 w 692"/>
                <a:gd name="T95" fmla="*/ 235 h 404"/>
                <a:gd name="T96" fmla="*/ 618 w 692"/>
                <a:gd name="T97" fmla="*/ 265 h 404"/>
                <a:gd name="T98" fmla="*/ 587 w 692"/>
                <a:gd name="T99" fmla="*/ 277 h 404"/>
                <a:gd name="T100" fmla="*/ 528 w 692"/>
                <a:gd name="T101" fmla="*/ 302 h 404"/>
                <a:gd name="T102" fmla="*/ 486 w 692"/>
                <a:gd name="T103" fmla="*/ 321 h 404"/>
                <a:gd name="T104" fmla="*/ 439 w 692"/>
                <a:gd name="T105" fmla="*/ 350 h 404"/>
                <a:gd name="T106" fmla="*/ 390 w 692"/>
                <a:gd name="T107" fmla="*/ 358 h 404"/>
                <a:gd name="T108" fmla="*/ 352 w 692"/>
                <a:gd name="T109" fmla="*/ 361 h 404"/>
                <a:gd name="T110" fmla="*/ 339 w 692"/>
                <a:gd name="T111" fmla="*/ 345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 h="404">
                  <a:moveTo>
                    <a:pt x="339" y="345"/>
                  </a:moveTo>
                  <a:lnTo>
                    <a:pt x="449" y="315"/>
                  </a:lnTo>
                  <a:lnTo>
                    <a:pt x="538" y="277"/>
                  </a:lnTo>
                  <a:lnTo>
                    <a:pt x="602" y="232"/>
                  </a:lnTo>
                  <a:lnTo>
                    <a:pt x="626" y="206"/>
                  </a:lnTo>
                  <a:lnTo>
                    <a:pt x="535" y="123"/>
                  </a:lnTo>
                  <a:lnTo>
                    <a:pt x="461" y="78"/>
                  </a:lnTo>
                  <a:lnTo>
                    <a:pt x="390" y="34"/>
                  </a:lnTo>
                  <a:lnTo>
                    <a:pt x="376" y="34"/>
                  </a:lnTo>
                  <a:lnTo>
                    <a:pt x="331" y="49"/>
                  </a:lnTo>
                  <a:lnTo>
                    <a:pt x="272" y="65"/>
                  </a:lnTo>
                  <a:lnTo>
                    <a:pt x="167" y="73"/>
                  </a:lnTo>
                  <a:lnTo>
                    <a:pt x="64" y="71"/>
                  </a:lnTo>
                  <a:lnTo>
                    <a:pt x="37" y="73"/>
                  </a:lnTo>
                  <a:lnTo>
                    <a:pt x="37" y="93"/>
                  </a:lnTo>
                  <a:lnTo>
                    <a:pt x="59" y="123"/>
                  </a:lnTo>
                  <a:lnTo>
                    <a:pt x="101" y="176"/>
                  </a:lnTo>
                  <a:lnTo>
                    <a:pt x="155" y="220"/>
                  </a:lnTo>
                  <a:lnTo>
                    <a:pt x="220" y="284"/>
                  </a:lnTo>
                  <a:lnTo>
                    <a:pt x="285" y="330"/>
                  </a:lnTo>
                  <a:lnTo>
                    <a:pt x="324" y="358"/>
                  </a:lnTo>
                  <a:lnTo>
                    <a:pt x="337" y="387"/>
                  </a:lnTo>
                  <a:lnTo>
                    <a:pt x="322" y="404"/>
                  </a:lnTo>
                  <a:lnTo>
                    <a:pt x="300" y="395"/>
                  </a:lnTo>
                  <a:lnTo>
                    <a:pt x="235" y="336"/>
                  </a:lnTo>
                  <a:lnTo>
                    <a:pt x="155" y="269"/>
                  </a:lnTo>
                  <a:lnTo>
                    <a:pt x="96" y="220"/>
                  </a:lnTo>
                  <a:lnTo>
                    <a:pt x="56" y="176"/>
                  </a:lnTo>
                  <a:lnTo>
                    <a:pt x="22" y="129"/>
                  </a:lnTo>
                  <a:lnTo>
                    <a:pt x="7" y="99"/>
                  </a:lnTo>
                  <a:lnTo>
                    <a:pt x="0" y="65"/>
                  </a:lnTo>
                  <a:lnTo>
                    <a:pt x="10" y="43"/>
                  </a:lnTo>
                  <a:lnTo>
                    <a:pt x="34" y="34"/>
                  </a:lnTo>
                  <a:lnTo>
                    <a:pt x="78" y="37"/>
                  </a:lnTo>
                  <a:lnTo>
                    <a:pt x="162" y="49"/>
                  </a:lnTo>
                  <a:lnTo>
                    <a:pt x="233" y="49"/>
                  </a:lnTo>
                  <a:lnTo>
                    <a:pt x="285" y="34"/>
                  </a:lnTo>
                  <a:lnTo>
                    <a:pt x="343" y="21"/>
                  </a:lnTo>
                  <a:lnTo>
                    <a:pt x="368" y="0"/>
                  </a:lnTo>
                  <a:lnTo>
                    <a:pt x="395" y="0"/>
                  </a:lnTo>
                  <a:lnTo>
                    <a:pt x="457" y="37"/>
                  </a:lnTo>
                  <a:lnTo>
                    <a:pt x="523" y="87"/>
                  </a:lnTo>
                  <a:lnTo>
                    <a:pt x="594" y="132"/>
                  </a:lnTo>
                  <a:lnTo>
                    <a:pt x="633" y="161"/>
                  </a:lnTo>
                  <a:lnTo>
                    <a:pt x="674" y="188"/>
                  </a:lnTo>
                  <a:lnTo>
                    <a:pt x="692" y="198"/>
                  </a:lnTo>
                  <a:lnTo>
                    <a:pt x="683" y="218"/>
                  </a:lnTo>
                  <a:lnTo>
                    <a:pt x="652" y="235"/>
                  </a:lnTo>
                  <a:lnTo>
                    <a:pt x="618" y="265"/>
                  </a:lnTo>
                  <a:lnTo>
                    <a:pt x="587" y="277"/>
                  </a:lnTo>
                  <a:lnTo>
                    <a:pt x="528" y="302"/>
                  </a:lnTo>
                  <a:lnTo>
                    <a:pt x="486" y="321"/>
                  </a:lnTo>
                  <a:lnTo>
                    <a:pt x="439" y="350"/>
                  </a:lnTo>
                  <a:lnTo>
                    <a:pt x="390" y="358"/>
                  </a:lnTo>
                  <a:lnTo>
                    <a:pt x="352" y="361"/>
                  </a:lnTo>
                  <a:lnTo>
                    <a:pt x="339" y="3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8622" name="Freeform 110">
              <a:extLst>
                <a:ext uri="{FF2B5EF4-FFF2-40B4-BE49-F238E27FC236}">
                  <a16:creationId xmlns="" xmlns:a16="http://schemas.microsoft.com/office/drawing/2014/main" id="{B11A91E3-8AC2-452C-AABF-07C38AA72DEF}"/>
                </a:ext>
              </a:extLst>
            </p:cNvPr>
            <p:cNvSpPr>
              <a:spLocks/>
            </p:cNvSpPr>
            <p:nvPr/>
          </p:nvSpPr>
          <p:spPr bwMode="auto">
            <a:xfrm>
              <a:off x="862" y="2794"/>
              <a:ext cx="109" cy="70"/>
            </a:xfrm>
            <a:custGeom>
              <a:avLst/>
              <a:gdLst>
                <a:gd name="T0" fmla="*/ 185 w 219"/>
                <a:gd name="T1" fmla="*/ 16 h 139"/>
                <a:gd name="T2" fmla="*/ 138 w 219"/>
                <a:gd name="T3" fmla="*/ 53 h 139"/>
                <a:gd name="T4" fmla="*/ 96 w 219"/>
                <a:gd name="T5" fmla="*/ 87 h 139"/>
                <a:gd name="T6" fmla="*/ 34 w 219"/>
                <a:gd name="T7" fmla="*/ 109 h 139"/>
                <a:gd name="T8" fmla="*/ 0 w 219"/>
                <a:gd name="T9" fmla="*/ 120 h 139"/>
                <a:gd name="T10" fmla="*/ 28 w 219"/>
                <a:gd name="T11" fmla="*/ 139 h 139"/>
                <a:gd name="T12" fmla="*/ 71 w 219"/>
                <a:gd name="T13" fmla="*/ 132 h 139"/>
                <a:gd name="T14" fmla="*/ 140 w 219"/>
                <a:gd name="T15" fmla="*/ 87 h 139"/>
                <a:gd name="T16" fmla="*/ 219 w 219"/>
                <a:gd name="T17" fmla="*/ 0 h 139"/>
                <a:gd name="T18" fmla="*/ 185 w 219"/>
                <a:gd name="T19" fmla="*/ 16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139">
                  <a:moveTo>
                    <a:pt x="185" y="16"/>
                  </a:moveTo>
                  <a:lnTo>
                    <a:pt x="138" y="53"/>
                  </a:lnTo>
                  <a:lnTo>
                    <a:pt x="96" y="87"/>
                  </a:lnTo>
                  <a:lnTo>
                    <a:pt x="34" y="109"/>
                  </a:lnTo>
                  <a:lnTo>
                    <a:pt x="0" y="120"/>
                  </a:lnTo>
                  <a:lnTo>
                    <a:pt x="28" y="139"/>
                  </a:lnTo>
                  <a:lnTo>
                    <a:pt x="71" y="132"/>
                  </a:lnTo>
                  <a:lnTo>
                    <a:pt x="140" y="87"/>
                  </a:lnTo>
                  <a:lnTo>
                    <a:pt x="219" y="0"/>
                  </a:lnTo>
                  <a:lnTo>
                    <a:pt x="185"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88623" name="Rectangle 111">
            <a:extLst>
              <a:ext uri="{FF2B5EF4-FFF2-40B4-BE49-F238E27FC236}">
                <a16:creationId xmlns="" xmlns:a16="http://schemas.microsoft.com/office/drawing/2014/main" id="{2D1C4170-0923-4AA8-97FD-0DD38729F63D}"/>
              </a:ext>
            </a:extLst>
          </p:cNvPr>
          <p:cNvSpPr>
            <a:spLocks noChangeArrowheads="1"/>
          </p:cNvSpPr>
          <p:nvPr/>
        </p:nvSpPr>
        <p:spPr bwMode="auto">
          <a:xfrm>
            <a:off x="5105400" y="2516947"/>
            <a:ext cx="6219092" cy="178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marL="342900" indent="-342900" algn="l">
              <a:spcBef>
                <a:spcPct val="20000"/>
              </a:spcBef>
              <a:buClr>
                <a:schemeClr val="accent2"/>
              </a:buClr>
              <a:buFont typeface="Monotype Sorts" pitchFamily="2" charset="2"/>
              <a:buChar char="z"/>
              <a:defRPr kumimoji="1" sz="2800">
                <a:solidFill>
                  <a:schemeClr val="tx1"/>
                </a:solidFill>
                <a:latin typeface="Verdana" panose="020B0604030504040204" pitchFamily="34" charset="0"/>
              </a:defRPr>
            </a:lvl1pPr>
            <a:lvl2pPr marL="742950" indent="-285750" algn="l">
              <a:spcBef>
                <a:spcPct val="20000"/>
              </a:spcBef>
              <a:buClr>
                <a:schemeClr val="accent2"/>
              </a:buClr>
              <a:buFont typeface="Monotype Sorts" pitchFamily="2" charset="2"/>
              <a:buChar char="y"/>
              <a:defRPr kumimoji="1" sz="2400">
                <a:solidFill>
                  <a:schemeClr val="tx1"/>
                </a:solidFill>
                <a:latin typeface="Verdana" panose="020B0604030504040204" pitchFamily="34" charset="0"/>
              </a:defRPr>
            </a:lvl2pPr>
            <a:lvl3pPr marL="1143000" indent="-228600" algn="l">
              <a:spcBef>
                <a:spcPct val="20000"/>
              </a:spcBef>
              <a:buClr>
                <a:schemeClr val="accent2"/>
              </a:buClr>
              <a:buFont typeface="Monotype Sorts" pitchFamily="2" charset="2"/>
              <a:buChar char="x"/>
              <a:defRPr kumimoji="1" sz="2000">
                <a:solidFill>
                  <a:schemeClr val="tx1"/>
                </a:solidFill>
                <a:latin typeface="Verdana" panose="020B0604030504040204" pitchFamily="34" charset="0"/>
              </a:defRPr>
            </a:lvl3pPr>
            <a:lvl4pPr marL="1600200" indent="-228600" algn="l">
              <a:spcBef>
                <a:spcPct val="20000"/>
              </a:spcBef>
              <a:buClr>
                <a:schemeClr val="accent2"/>
              </a:buClr>
              <a:buChar char="•"/>
              <a:defRPr kumimoji="1">
                <a:solidFill>
                  <a:schemeClr val="tx1"/>
                </a:solidFill>
                <a:latin typeface="Verdana" panose="020B0604030504040204" pitchFamily="34" charset="0"/>
              </a:defRPr>
            </a:lvl4pPr>
            <a:lvl5pPr marL="2057400" indent="-228600" algn="l">
              <a:spcBef>
                <a:spcPct val="20000"/>
              </a:spcBef>
              <a:buClr>
                <a:schemeClr val="accent2"/>
              </a:buClr>
              <a:buChar char="–"/>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9pPr>
          </a:lstStyle>
          <a:p>
            <a:endParaRPr lang="en-US" altLang="en-US" sz="2400" dirty="0"/>
          </a:p>
          <a:p>
            <a:r>
              <a:rPr lang="en-US" altLang="en-US" sz="2400" dirty="0"/>
              <a:t>I can’t get the data I need</a:t>
            </a:r>
          </a:p>
          <a:p>
            <a:pPr lvl="1"/>
            <a:r>
              <a:rPr lang="en-US" altLang="en-US" sz="2000" dirty="0"/>
              <a:t>need an expert to get the </a:t>
            </a:r>
            <a:r>
              <a:rPr lang="en-US" altLang="en-US" sz="2000" dirty="0" smtClean="0"/>
              <a:t>data</a:t>
            </a:r>
          </a:p>
          <a:p>
            <a:pPr lvl="1"/>
            <a:endParaRPr lang="en-US" altLang="en-US" sz="2000" dirty="0"/>
          </a:p>
          <a:p>
            <a:pPr lvl="1"/>
            <a:endParaRPr lang="en-US" altLang="en-US" sz="2000" dirty="0"/>
          </a:p>
        </p:txBody>
      </p:sp>
      <p:sp>
        <p:nvSpPr>
          <p:cNvPr id="1088624" name="Rectangle 112">
            <a:extLst>
              <a:ext uri="{FF2B5EF4-FFF2-40B4-BE49-F238E27FC236}">
                <a16:creationId xmlns="" xmlns:a16="http://schemas.microsoft.com/office/drawing/2014/main" id="{DD631A1C-7AA2-4864-8B19-7D2C87109350}"/>
              </a:ext>
            </a:extLst>
          </p:cNvPr>
          <p:cNvSpPr>
            <a:spLocks noChangeArrowheads="1"/>
          </p:cNvSpPr>
          <p:nvPr/>
        </p:nvSpPr>
        <p:spPr bwMode="auto">
          <a:xfrm>
            <a:off x="5105399" y="4217968"/>
            <a:ext cx="6409267" cy="1306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marL="342900" indent="-342900" algn="l">
              <a:spcBef>
                <a:spcPct val="20000"/>
              </a:spcBef>
              <a:buClr>
                <a:schemeClr val="accent2"/>
              </a:buClr>
              <a:buFont typeface="Monotype Sorts" pitchFamily="2" charset="2"/>
              <a:buChar char="z"/>
              <a:defRPr kumimoji="1" sz="2800">
                <a:solidFill>
                  <a:schemeClr val="tx1"/>
                </a:solidFill>
                <a:latin typeface="Verdana" panose="020B0604030504040204" pitchFamily="34" charset="0"/>
              </a:defRPr>
            </a:lvl1pPr>
            <a:lvl2pPr marL="742950" indent="-285750" algn="l">
              <a:spcBef>
                <a:spcPct val="20000"/>
              </a:spcBef>
              <a:buClr>
                <a:schemeClr val="accent2"/>
              </a:buClr>
              <a:buFont typeface="Monotype Sorts" pitchFamily="2" charset="2"/>
              <a:buChar char="y"/>
              <a:defRPr kumimoji="1" sz="2400">
                <a:solidFill>
                  <a:schemeClr val="tx1"/>
                </a:solidFill>
                <a:latin typeface="Verdana" panose="020B0604030504040204" pitchFamily="34" charset="0"/>
              </a:defRPr>
            </a:lvl2pPr>
            <a:lvl3pPr marL="1143000" indent="-228600" algn="l">
              <a:spcBef>
                <a:spcPct val="20000"/>
              </a:spcBef>
              <a:buClr>
                <a:schemeClr val="accent2"/>
              </a:buClr>
              <a:buFont typeface="Monotype Sorts" pitchFamily="2" charset="2"/>
              <a:buChar char="x"/>
              <a:defRPr kumimoji="1" sz="2000">
                <a:solidFill>
                  <a:schemeClr val="tx1"/>
                </a:solidFill>
                <a:latin typeface="Verdana" panose="020B0604030504040204" pitchFamily="34" charset="0"/>
              </a:defRPr>
            </a:lvl3pPr>
            <a:lvl4pPr marL="1600200" indent="-228600" algn="l">
              <a:spcBef>
                <a:spcPct val="20000"/>
              </a:spcBef>
              <a:buClr>
                <a:schemeClr val="accent2"/>
              </a:buClr>
              <a:buChar char="•"/>
              <a:defRPr kumimoji="1">
                <a:solidFill>
                  <a:schemeClr val="tx1"/>
                </a:solidFill>
                <a:latin typeface="Verdana" panose="020B0604030504040204" pitchFamily="34" charset="0"/>
              </a:defRPr>
            </a:lvl4pPr>
            <a:lvl5pPr marL="2057400" indent="-228600" algn="l">
              <a:spcBef>
                <a:spcPct val="20000"/>
              </a:spcBef>
              <a:buClr>
                <a:schemeClr val="accent2"/>
              </a:buClr>
              <a:buChar char="–"/>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9pPr>
          </a:lstStyle>
          <a:p>
            <a:r>
              <a:rPr lang="en-US" altLang="en-US" sz="2400" dirty="0"/>
              <a:t>I can’t understand the data I found</a:t>
            </a:r>
          </a:p>
          <a:p>
            <a:pPr lvl="1"/>
            <a:r>
              <a:rPr lang="en-US" altLang="en-US" sz="2000" dirty="0"/>
              <a:t>available data poorly documented</a:t>
            </a:r>
          </a:p>
          <a:p>
            <a:endParaRPr lang="en-US" altLang="en-US" sz="2400" dirty="0"/>
          </a:p>
        </p:txBody>
      </p:sp>
      <p:sp>
        <p:nvSpPr>
          <p:cNvPr id="1088625" name="Rectangle 113">
            <a:extLst>
              <a:ext uri="{FF2B5EF4-FFF2-40B4-BE49-F238E27FC236}">
                <a16:creationId xmlns="" xmlns:a16="http://schemas.microsoft.com/office/drawing/2014/main" id="{0BFAB8EF-9727-4948-B639-D4ABD26C416B}"/>
              </a:ext>
            </a:extLst>
          </p:cNvPr>
          <p:cNvSpPr>
            <a:spLocks noChangeArrowheads="1"/>
          </p:cNvSpPr>
          <p:nvPr/>
        </p:nvSpPr>
        <p:spPr bwMode="auto">
          <a:xfrm>
            <a:off x="5105400" y="4864100"/>
            <a:ext cx="6409266" cy="199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marL="342900" indent="-342900" algn="l">
              <a:spcBef>
                <a:spcPct val="20000"/>
              </a:spcBef>
              <a:buClr>
                <a:schemeClr val="accent2"/>
              </a:buClr>
              <a:buFont typeface="Monotype Sorts" pitchFamily="2" charset="2"/>
              <a:buChar char="z"/>
              <a:defRPr kumimoji="1" sz="2800">
                <a:solidFill>
                  <a:schemeClr val="tx1"/>
                </a:solidFill>
                <a:latin typeface="Verdana" panose="020B0604030504040204" pitchFamily="34" charset="0"/>
              </a:defRPr>
            </a:lvl1pPr>
            <a:lvl2pPr marL="742950" indent="-285750" algn="l">
              <a:spcBef>
                <a:spcPct val="20000"/>
              </a:spcBef>
              <a:buClr>
                <a:schemeClr val="accent2"/>
              </a:buClr>
              <a:buFont typeface="Monotype Sorts" pitchFamily="2" charset="2"/>
              <a:buChar char="y"/>
              <a:defRPr kumimoji="1" sz="2400">
                <a:solidFill>
                  <a:schemeClr val="tx1"/>
                </a:solidFill>
                <a:latin typeface="Verdana" panose="020B0604030504040204" pitchFamily="34" charset="0"/>
              </a:defRPr>
            </a:lvl2pPr>
            <a:lvl3pPr marL="1143000" indent="-228600" algn="l">
              <a:spcBef>
                <a:spcPct val="20000"/>
              </a:spcBef>
              <a:buClr>
                <a:schemeClr val="accent2"/>
              </a:buClr>
              <a:buFont typeface="Monotype Sorts" pitchFamily="2" charset="2"/>
              <a:buChar char="x"/>
              <a:defRPr kumimoji="1" sz="2000">
                <a:solidFill>
                  <a:schemeClr val="tx1"/>
                </a:solidFill>
                <a:latin typeface="Verdana" panose="020B0604030504040204" pitchFamily="34" charset="0"/>
              </a:defRPr>
            </a:lvl3pPr>
            <a:lvl4pPr marL="1600200" indent="-228600" algn="l">
              <a:spcBef>
                <a:spcPct val="20000"/>
              </a:spcBef>
              <a:buClr>
                <a:schemeClr val="accent2"/>
              </a:buClr>
              <a:buChar char="•"/>
              <a:defRPr kumimoji="1">
                <a:solidFill>
                  <a:schemeClr val="tx1"/>
                </a:solidFill>
                <a:latin typeface="Verdana" panose="020B0604030504040204" pitchFamily="34" charset="0"/>
              </a:defRPr>
            </a:lvl4pPr>
            <a:lvl5pPr marL="2057400" indent="-228600" algn="l">
              <a:spcBef>
                <a:spcPct val="20000"/>
              </a:spcBef>
              <a:buClr>
                <a:schemeClr val="accent2"/>
              </a:buClr>
              <a:buChar char="–"/>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9pPr>
          </a:lstStyle>
          <a:p>
            <a:endParaRPr lang="en-US" altLang="en-US" sz="2400" dirty="0"/>
          </a:p>
          <a:p>
            <a:r>
              <a:rPr lang="en-US" altLang="en-US" sz="2400" dirty="0"/>
              <a:t>I can’t use the data I found</a:t>
            </a:r>
          </a:p>
          <a:p>
            <a:pPr lvl="1"/>
            <a:r>
              <a:rPr lang="en-US" altLang="en-US" sz="2000" dirty="0"/>
              <a:t>results are unexpected</a:t>
            </a:r>
          </a:p>
          <a:p>
            <a:pPr lvl="1"/>
            <a:r>
              <a:rPr lang="en-US" altLang="en-US" sz="2000" dirty="0"/>
              <a:t>data needs to be transformed from one form to other</a:t>
            </a:r>
          </a:p>
        </p:txBody>
      </p:sp>
      <p:sp>
        <p:nvSpPr>
          <p:cNvPr id="115" name="Rectangle 111">
            <a:extLst>
              <a:ext uri="{FF2B5EF4-FFF2-40B4-BE49-F238E27FC236}">
                <a16:creationId xmlns="" xmlns:a16="http://schemas.microsoft.com/office/drawing/2014/main" id="{2D1C4170-0923-4AA8-97FD-0DD38729F63D}"/>
              </a:ext>
            </a:extLst>
          </p:cNvPr>
          <p:cNvSpPr>
            <a:spLocks noChangeArrowheads="1"/>
          </p:cNvSpPr>
          <p:nvPr/>
        </p:nvSpPr>
        <p:spPr bwMode="auto">
          <a:xfrm>
            <a:off x="5125784" y="986571"/>
            <a:ext cx="6342361" cy="178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marL="342900" indent="-342900" algn="l">
              <a:spcBef>
                <a:spcPct val="20000"/>
              </a:spcBef>
              <a:buClr>
                <a:schemeClr val="accent2"/>
              </a:buClr>
              <a:buFont typeface="Monotype Sorts" pitchFamily="2" charset="2"/>
              <a:buChar char="z"/>
              <a:defRPr kumimoji="1" sz="2800">
                <a:solidFill>
                  <a:schemeClr val="tx1"/>
                </a:solidFill>
                <a:latin typeface="Verdana" panose="020B0604030504040204" pitchFamily="34" charset="0"/>
              </a:defRPr>
            </a:lvl1pPr>
            <a:lvl2pPr marL="742950" indent="-285750" algn="l">
              <a:spcBef>
                <a:spcPct val="20000"/>
              </a:spcBef>
              <a:buClr>
                <a:schemeClr val="accent2"/>
              </a:buClr>
              <a:buFont typeface="Monotype Sorts" pitchFamily="2" charset="2"/>
              <a:buChar char="y"/>
              <a:defRPr kumimoji="1" sz="2400">
                <a:solidFill>
                  <a:schemeClr val="tx1"/>
                </a:solidFill>
                <a:latin typeface="Verdana" panose="020B0604030504040204" pitchFamily="34" charset="0"/>
              </a:defRPr>
            </a:lvl2pPr>
            <a:lvl3pPr marL="1143000" indent="-228600" algn="l">
              <a:spcBef>
                <a:spcPct val="20000"/>
              </a:spcBef>
              <a:buClr>
                <a:schemeClr val="accent2"/>
              </a:buClr>
              <a:buFont typeface="Monotype Sorts" pitchFamily="2" charset="2"/>
              <a:buChar char="x"/>
              <a:defRPr kumimoji="1" sz="2000">
                <a:solidFill>
                  <a:schemeClr val="tx1"/>
                </a:solidFill>
                <a:latin typeface="Verdana" panose="020B0604030504040204" pitchFamily="34" charset="0"/>
              </a:defRPr>
            </a:lvl3pPr>
            <a:lvl4pPr marL="1600200" indent="-228600" algn="l">
              <a:spcBef>
                <a:spcPct val="20000"/>
              </a:spcBef>
              <a:buClr>
                <a:schemeClr val="accent2"/>
              </a:buClr>
              <a:buChar char="•"/>
              <a:defRPr kumimoji="1">
                <a:solidFill>
                  <a:schemeClr val="tx1"/>
                </a:solidFill>
                <a:latin typeface="Verdana" panose="020B0604030504040204" pitchFamily="34" charset="0"/>
              </a:defRPr>
            </a:lvl4pPr>
            <a:lvl5pPr marL="2057400" indent="-228600" algn="l">
              <a:spcBef>
                <a:spcPct val="20000"/>
              </a:spcBef>
              <a:buClr>
                <a:schemeClr val="accent2"/>
              </a:buClr>
              <a:buChar char="–"/>
              <a:defRPr kumimoji="1">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accent2"/>
              </a:buClr>
              <a:buChar char="–"/>
              <a:defRPr kumimoji="1">
                <a:solidFill>
                  <a:schemeClr val="tx1"/>
                </a:solidFill>
                <a:latin typeface="Verdana" panose="020B0604030504040204" pitchFamily="34" charset="0"/>
              </a:defRPr>
            </a:lvl9pPr>
          </a:lstStyle>
          <a:p>
            <a:endParaRPr lang="en-US" altLang="en-US" sz="2400" dirty="0"/>
          </a:p>
          <a:p>
            <a:r>
              <a:rPr lang="en-US" altLang="en-US" sz="2400" dirty="0" smtClean="0"/>
              <a:t>I can’t find the data I need</a:t>
            </a:r>
            <a:endParaRPr lang="en-US" altLang="en-US" sz="2400" dirty="0"/>
          </a:p>
          <a:p>
            <a:pPr lvl="1"/>
            <a:r>
              <a:rPr lang="en-US" altLang="en-US" sz="2000" dirty="0" smtClean="0"/>
              <a:t>Data is scattered over the network</a:t>
            </a:r>
          </a:p>
          <a:p>
            <a:pPr lvl="1"/>
            <a:r>
              <a:rPr lang="en-US" altLang="en-US" sz="2000" dirty="0" smtClean="0"/>
              <a:t>Many versions, subtle differences</a:t>
            </a:r>
          </a:p>
          <a:p>
            <a:pPr lvl="1"/>
            <a:endParaRPr lang="en-US" altLang="en-US" sz="2000" dirty="0"/>
          </a:p>
          <a:p>
            <a:pPr lvl="1"/>
            <a:endParaRPr lang="en-US"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1" fill="hold" nodeType="afterEffect">
                                  <p:stCondLst>
                                    <p:cond delay="0"/>
                                  </p:stCondLst>
                                  <p:childTnLst>
                                    <p:set>
                                      <p:cBhvr>
                                        <p:cTn id="6" dur="1" fill="hold">
                                          <p:stCondLst>
                                            <p:cond delay="0"/>
                                          </p:stCondLst>
                                        </p:cTn>
                                        <p:tgtEl>
                                          <p:spTgt spid="1088569"/>
                                        </p:tgtEl>
                                        <p:attrNameLst>
                                          <p:attrName>style.visibility</p:attrName>
                                        </p:attrNameLst>
                                      </p:cBhvr>
                                      <p:to>
                                        <p:strVal val="visible"/>
                                      </p:to>
                                    </p:set>
                                    <p:anim calcmode="lin" valueType="num">
                                      <p:cBhvr additive="base">
                                        <p:cTn id="7" dur="500" fill="hold"/>
                                        <p:tgtEl>
                                          <p:spTgt spid="1088569"/>
                                        </p:tgtEl>
                                        <p:attrNameLst>
                                          <p:attrName>ppt_x</p:attrName>
                                        </p:attrNameLst>
                                      </p:cBhvr>
                                      <p:tavLst>
                                        <p:tav tm="0">
                                          <p:val>
                                            <p:strVal val="#ppt_x"/>
                                          </p:val>
                                        </p:tav>
                                        <p:tav tm="100000">
                                          <p:val>
                                            <p:strVal val="#ppt_x"/>
                                          </p:val>
                                        </p:tav>
                                      </p:tavLst>
                                    </p:anim>
                                    <p:anim calcmode="lin" valueType="num">
                                      <p:cBhvr additive="base">
                                        <p:cTn id="8" dur="500" fill="hold"/>
                                        <p:tgtEl>
                                          <p:spTgt spid="1088569"/>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08862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088623">
                                            <p:txEl>
                                              <p:pRg st="2" end="2"/>
                                            </p:txEl>
                                          </p:spTgt>
                                        </p:tgtEl>
                                        <p:attrNameLst>
                                          <p:attrName>style.visibility</p:attrName>
                                        </p:attrNameLst>
                                      </p:cBhvr>
                                      <p:to>
                                        <p:strVal val="visible"/>
                                      </p:to>
                                    </p:set>
                                  </p:childTnLst>
                                </p:cTn>
                              </p:par>
                            </p:childTnLst>
                          </p:cTn>
                        </p:par>
                        <p:par>
                          <p:cTn id="15" fill="hold" nodeType="afterGroup">
                            <p:stCondLst>
                              <p:cond delay="500"/>
                            </p:stCondLst>
                            <p:childTnLst>
                              <p:par>
                                <p:cTn id="16" presetID="2" presetClass="entr" presetSubtype="1" fill="hold" nodeType="afterEffect">
                                  <p:stCondLst>
                                    <p:cond delay="0"/>
                                  </p:stCondLst>
                                  <p:childTnLst>
                                    <p:set>
                                      <p:cBhvr>
                                        <p:cTn id="17" dur="1" fill="hold">
                                          <p:stCondLst>
                                            <p:cond delay="0"/>
                                          </p:stCondLst>
                                        </p:cTn>
                                        <p:tgtEl>
                                          <p:spTgt spid="1088587"/>
                                        </p:tgtEl>
                                        <p:attrNameLst>
                                          <p:attrName>style.visibility</p:attrName>
                                        </p:attrNameLst>
                                      </p:cBhvr>
                                      <p:to>
                                        <p:strVal val="visible"/>
                                      </p:to>
                                    </p:set>
                                    <p:anim calcmode="lin" valueType="num">
                                      <p:cBhvr additive="base">
                                        <p:cTn id="18" dur="500" fill="hold"/>
                                        <p:tgtEl>
                                          <p:spTgt spid="1088587"/>
                                        </p:tgtEl>
                                        <p:attrNameLst>
                                          <p:attrName>ppt_x</p:attrName>
                                        </p:attrNameLst>
                                      </p:cBhvr>
                                      <p:tavLst>
                                        <p:tav tm="0">
                                          <p:val>
                                            <p:strVal val="#ppt_x"/>
                                          </p:val>
                                        </p:tav>
                                        <p:tav tm="100000">
                                          <p:val>
                                            <p:strVal val="#ppt_x"/>
                                          </p:val>
                                        </p:tav>
                                      </p:tavLst>
                                    </p:anim>
                                    <p:anim calcmode="lin" valueType="num">
                                      <p:cBhvr additive="base">
                                        <p:cTn id="19" dur="500" fill="hold"/>
                                        <p:tgtEl>
                                          <p:spTgt spid="1088587"/>
                                        </p:tgtEl>
                                        <p:attrNameLst>
                                          <p:attrName>ppt_y</p:attrName>
                                        </p:attrNameLst>
                                      </p:cBhvr>
                                      <p:tavLst>
                                        <p:tav tm="0">
                                          <p:val>
                                            <p:strVal val="0-#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088624">
                                            <p:txEl>
                                              <p:pRg st="0" end="0"/>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499"/>
                                          </p:stCondLst>
                                        </p:cTn>
                                        <p:tgtEl>
                                          <p:spTgt spid="1088624">
                                            <p:txEl>
                                              <p:pRg st="1" end="1"/>
                                            </p:txEl>
                                          </p:spTgt>
                                        </p:tgtEl>
                                        <p:attrNameLst>
                                          <p:attrName>style.visibility</p:attrName>
                                        </p:attrNameLst>
                                      </p:cBhvr>
                                      <p:to>
                                        <p:strVal val="visible"/>
                                      </p:to>
                                    </p:set>
                                  </p:childTnLst>
                                </p:cTn>
                              </p:par>
                            </p:childTnLst>
                          </p:cTn>
                        </p:par>
                        <p:par>
                          <p:cTn id="26" fill="hold" nodeType="afterGroup">
                            <p:stCondLst>
                              <p:cond delay="500"/>
                            </p:stCondLst>
                            <p:childTnLst>
                              <p:par>
                                <p:cTn id="27" presetID="2" presetClass="entr" presetSubtype="1" fill="hold" nodeType="afterEffect">
                                  <p:stCondLst>
                                    <p:cond delay="0"/>
                                  </p:stCondLst>
                                  <p:childTnLst>
                                    <p:set>
                                      <p:cBhvr>
                                        <p:cTn id="28" dur="1" fill="hold">
                                          <p:stCondLst>
                                            <p:cond delay="0"/>
                                          </p:stCondLst>
                                        </p:cTn>
                                        <p:tgtEl>
                                          <p:spTgt spid="1088605"/>
                                        </p:tgtEl>
                                        <p:attrNameLst>
                                          <p:attrName>style.visibility</p:attrName>
                                        </p:attrNameLst>
                                      </p:cBhvr>
                                      <p:to>
                                        <p:strVal val="visible"/>
                                      </p:to>
                                    </p:set>
                                    <p:anim calcmode="lin" valueType="num">
                                      <p:cBhvr additive="base">
                                        <p:cTn id="29" dur="500" fill="hold"/>
                                        <p:tgtEl>
                                          <p:spTgt spid="1088605"/>
                                        </p:tgtEl>
                                        <p:attrNameLst>
                                          <p:attrName>ppt_x</p:attrName>
                                        </p:attrNameLst>
                                      </p:cBhvr>
                                      <p:tavLst>
                                        <p:tav tm="0">
                                          <p:val>
                                            <p:strVal val="#ppt_x"/>
                                          </p:val>
                                        </p:tav>
                                        <p:tav tm="100000">
                                          <p:val>
                                            <p:strVal val="#ppt_x"/>
                                          </p:val>
                                        </p:tav>
                                      </p:tavLst>
                                    </p:anim>
                                    <p:anim calcmode="lin" valueType="num">
                                      <p:cBhvr additive="base">
                                        <p:cTn id="30" dur="500" fill="hold"/>
                                        <p:tgtEl>
                                          <p:spTgt spid="1088605"/>
                                        </p:tgtEl>
                                        <p:attrNameLst>
                                          <p:attrName>ppt_y</p:attrName>
                                        </p:attrNameLst>
                                      </p:cBhvr>
                                      <p:tavLst>
                                        <p:tav tm="0">
                                          <p:val>
                                            <p:strVal val="0-#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088625">
                                            <p:txEl>
                                              <p:pRg st="1" end="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499"/>
                                          </p:stCondLst>
                                        </p:cTn>
                                        <p:tgtEl>
                                          <p:spTgt spid="1088625">
                                            <p:txEl>
                                              <p:pRg st="2" end="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499"/>
                                          </p:stCondLst>
                                        </p:cTn>
                                        <p:tgtEl>
                                          <p:spTgt spid="1088625">
                                            <p:txEl>
                                              <p:pRg st="3" end="3"/>
                                            </p:txEl>
                                          </p:spTgt>
                                        </p:tgtEl>
                                        <p:attrNameLst>
                                          <p:attrName>style.visibility</p:attrName>
                                        </p:attrNameLst>
                                      </p:cBhvr>
                                      <p:to>
                                        <p:strVal val="visible"/>
                                      </p:to>
                                    </p:set>
                                  </p:childTnLst>
                                </p:cTn>
                              </p:par>
                            </p:childTnLst>
                          </p:cTn>
                        </p:par>
                        <p:par>
                          <p:cTn id="39" fill="hold" nodeType="afterGroup">
                            <p:stCondLst>
                              <p:cond delay="500"/>
                            </p:stCondLst>
                            <p:childTnLst>
                              <p:par>
                                <p:cTn id="40" presetID="2" presetClass="entr" presetSubtype="1" fill="hold" nodeType="afterEffect">
                                  <p:stCondLst>
                                    <p:cond delay="0"/>
                                  </p:stCondLst>
                                  <p:childTnLst>
                                    <p:set>
                                      <p:cBhvr>
                                        <p:cTn id="41" dur="1" fill="hold">
                                          <p:stCondLst>
                                            <p:cond delay="0"/>
                                          </p:stCondLst>
                                        </p:cTn>
                                        <p:tgtEl>
                                          <p:spTgt spid="1088532"/>
                                        </p:tgtEl>
                                        <p:attrNameLst>
                                          <p:attrName>style.visibility</p:attrName>
                                        </p:attrNameLst>
                                      </p:cBhvr>
                                      <p:to>
                                        <p:strVal val="visible"/>
                                      </p:to>
                                    </p:set>
                                    <p:anim calcmode="lin" valueType="num">
                                      <p:cBhvr additive="base">
                                        <p:cTn id="42" dur="500" fill="hold"/>
                                        <p:tgtEl>
                                          <p:spTgt spid="1088532"/>
                                        </p:tgtEl>
                                        <p:attrNameLst>
                                          <p:attrName>ppt_x</p:attrName>
                                        </p:attrNameLst>
                                      </p:cBhvr>
                                      <p:tavLst>
                                        <p:tav tm="0">
                                          <p:val>
                                            <p:strVal val="#ppt_x"/>
                                          </p:val>
                                        </p:tav>
                                        <p:tav tm="100000">
                                          <p:val>
                                            <p:strVal val="#ppt_x"/>
                                          </p:val>
                                        </p:tav>
                                      </p:tavLst>
                                    </p:anim>
                                    <p:anim calcmode="lin" valueType="num">
                                      <p:cBhvr additive="base">
                                        <p:cTn id="43" dur="500" fill="hold"/>
                                        <p:tgtEl>
                                          <p:spTgt spid="1088532"/>
                                        </p:tgtEl>
                                        <p:attrNameLst>
                                          <p:attrName>ppt_y</p:attrName>
                                        </p:attrNameLst>
                                      </p:cBhvr>
                                      <p:tavLst>
                                        <p:tav tm="0">
                                          <p:val>
                                            <p:strVal val="0-#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115">
                                            <p:txEl>
                                              <p:pRg st="1" end="1"/>
                                            </p:txEl>
                                          </p:spTgt>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499"/>
                                          </p:stCondLst>
                                        </p:cTn>
                                        <p:tgtEl>
                                          <p:spTgt spid="115">
                                            <p:txEl>
                                              <p:pRg st="2" end="2"/>
                                            </p:txEl>
                                          </p:spTgt>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499"/>
                                          </p:stCondLst>
                                        </p:cTn>
                                        <p:tgtEl>
                                          <p:spTgt spid="1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8623" grpId="0" build="p" autoUpdateAnimBg="0"/>
      <p:bldP spid="1088624" grpId="0" build="p" autoUpdateAnimBg="0"/>
      <p:bldP spid="1088625" grpId="0" build="p" autoUpdateAnimBg="0"/>
      <p:bldP spid="115"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7CBC4D-9F9A-4259-A450-E9E8A6035E8C}"/>
              </a:ext>
            </a:extLst>
          </p:cNvPr>
          <p:cNvSpPr>
            <a:spLocks noGrp="1"/>
          </p:cNvSpPr>
          <p:nvPr>
            <p:ph type="title"/>
          </p:nvPr>
        </p:nvSpPr>
        <p:spPr/>
        <p:txBody>
          <a:bodyPr/>
          <a:lstStyle/>
          <a:p>
            <a:pPr algn="ctr"/>
            <a:r>
              <a:rPr lang="en-GB" altLang="en-US" b="1" dirty="0">
                <a:solidFill>
                  <a:srgbClr val="000000"/>
                </a:solidFill>
              </a:rPr>
              <a:t> What is a Data Warehouse?</a:t>
            </a:r>
            <a:endParaRPr lang="en-US" dirty="0"/>
          </a:p>
        </p:txBody>
      </p:sp>
      <p:sp>
        <p:nvSpPr>
          <p:cNvPr id="3" name="Content Placeholder 2">
            <a:extLst>
              <a:ext uri="{FF2B5EF4-FFF2-40B4-BE49-F238E27FC236}">
                <a16:creationId xmlns="" xmlns:a16="http://schemas.microsoft.com/office/drawing/2014/main" id="{4D13566C-89A9-4A75-8118-85575C211DAA}"/>
              </a:ext>
            </a:extLst>
          </p:cNvPr>
          <p:cNvSpPr>
            <a:spLocks noGrp="1"/>
          </p:cNvSpPr>
          <p:nvPr>
            <p:ph idx="1"/>
          </p:nvPr>
        </p:nvSpPr>
        <p:spPr/>
        <p:txBody>
          <a:bodyPr>
            <a:normAutofit/>
          </a:bodyPr>
          <a:lstStyle/>
          <a:p>
            <a:pPr marL="228600" lvl="2">
              <a:spcBef>
                <a:spcPts val="1000"/>
              </a:spcBef>
            </a:pPr>
            <a:r>
              <a:rPr lang="en-GB" altLang="en-US" sz="2400" dirty="0"/>
              <a:t>“A data warehouse is a </a:t>
            </a:r>
            <a:r>
              <a:rPr lang="en-GB" altLang="en-US" sz="2400" b="1" dirty="0">
                <a:solidFill>
                  <a:srgbClr val="00B0F0"/>
                </a:solidFill>
              </a:rPr>
              <a:t>subject-oriented, integrated, time-variant and </a:t>
            </a:r>
            <a:r>
              <a:rPr lang="en-GB" altLang="en-US" sz="2400" b="1" dirty="0" smtClean="0">
                <a:solidFill>
                  <a:srgbClr val="00B0F0"/>
                </a:solidFill>
              </a:rPr>
              <a:t>non-volatile </a:t>
            </a:r>
            <a:r>
              <a:rPr lang="en-GB" altLang="en-US" sz="2400" dirty="0"/>
              <a:t>collection of data in support of management's decision-making process.”</a:t>
            </a:r>
          </a:p>
          <a:p>
            <a:pPr marL="228600" lvl="2">
              <a:spcBef>
                <a:spcPts val="1000"/>
              </a:spcBef>
            </a:pPr>
            <a:endParaRPr lang="en-GB" altLang="en-US" sz="2400" dirty="0"/>
          </a:p>
          <a:p>
            <a:pPr marL="228600" lvl="2">
              <a:spcBef>
                <a:spcPts val="1000"/>
              </a:spcBef>
              <a:buSzPct val="75000"/>
            </a:pPr>
            <a:r>
              <a:rPr lang="en-GB" altLang="en-US" sz="2400" dirty="0"/>
              <a:t>Data Warehousing:  Process of constructing (and using) a data warehouse</a:t>
            </a:r>
          </a:p>
          <a:p>
            <a:pPr marL="0" indent="0">
              <a:buNone/>
            </a:pPr>
            <a:endParaRPr lang="en-US" sz="1600" dirty="0"/>
          </a:p>
        </p:txBody>
      </p:sp>
      <p:sp>
        <p:nvSpPr>
          <p:cNvPr id="4" name="Slide Number Placeholder 3">
            <a:extLst>
              <a:ext uri="{FF2B5EF4-FFF2-40B4-BE49-F238E27FC236}">
                <a16:creationId xmlns="" xmlns:a16="http://schemas.microsoft.com/office/drawing/2014/main" id="{8EDDCC1A-7206-4F86-8AFB-F897DBB015DF}"/>
              </a:ext>
            </a:extLst>
          </p:cNvPr>
          <p:cNvSpPr>
            <a:spLocks noGrp="1"/>
          </p:cNvSpPr>
          <p:nvPr>
            <p:ph type="sldNum" sz="quarter" idx="12"/>
          </p:nvPr>
        </p:nvSpPr>
        <p:spPr/>
        <p:txBody>
          <a:bodyPr>
            <a:normAutofit lnSpcReduction="10000"/>
          </a:bodyPr>
          <a:lstStyle/>
          <a:p>
            <a:fld id="{B3A56E86-3D7C-4541-92E7-267EC584995E}" type="slidenum">
              <a:rPr lang="en-US" smtClean="0"/>
              <a:t>4</a:t>
            </a:fld>
            <a:endParaRPr lang="en-US"/>
          </a:p>
        </p:txBody>
      </p:sp>
      <p:graphicFrame>
        <p:nvGraphicFramePr>
          <p:cNvPr id="5" name="Object 6">
            <a:extLst>
              <a:ext uri="{FF2B5EF4-FFF2-40B4-BE49-F238E27FC236}">
                <a16:creationId xmlns="" xmlns:a16="http://schemas.microsoft.com/office/drawing/2014/main" id="{6F859566-4AFB-49B4-A896-D1D2E52E84C4}"/>
              </a:ext>
            </a:extLst>
          </p:cNvPr>
          <p:cNvGraphicFramePr>
            <a:graphicFrameLocks noChangeAspect="1"/>
          </p:cNvGraphicFramePr>
          <p:nvPr>
            <p:extLst>
              <p:ext uri="{D42A27DB-BD31-4B8C-83A1-F6EECF244321}">
                <p14:modId xmlns:p14="http://schemas.microsoft.com/office/powerpoint/2010/main" val="4980831"/>
              </p:ext>
            </p:extLst>
          </p:nvPr>
        </p:nvGraphicFramePr>
        <p:xfrm>
          <a:off x="4347655" y="4492376"/>
          <a:ext cx="1760537" cy="1976686"/>
        </p:xfrm>
        <a:graphic>
          <a:graphicData uri="http://schemas.openxmlformats.org/presentationml/2006/ole">
            <mc:AlternateContent xmlns:mc="http://schemas.openxmlformats.org/markup-compatibility/2006">
              <mc:Choice xmlns:v="urn:schemas-microsoft-com:vml" Requires="v">
                <p:oleObj spid="_x0000_s12298" name="Clip" r:id="rId3" imgW="685859" imgH="769361" progId="MS_ClipArt_Gallery.2">
                  <p:embed/>
                </p:oleObj>
              </mc:Choice>
              <mc:Fallback>
                <p:oleObj name="Clip" r:id="rId3" imgW="685859" imgH="769361"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7655" y="4492376"/>
                        <a:ext cx="1760537" cy="1976686"/>
                      </a:xfrm>
                      <a:prstGeom prst="rect">
                        <a:avLst/>
                      </a:prstGeom>
                    </p:spPr>
                  </p:pic>
                </p:oleObj>
              </mc:Fallback>
            </mc:AlternateContent>
          </a:graphicData>
        </a:graphic>
      </p:graphicFrame>
    </p:spTree>
    <p:extLst>
      <p:ext uri="{BB962C8B-B14F-4D97-AF65-F5344CB8AC3E}">
        <p14:creationId xmlns:p14="http://schemas.microsoft.com/office/powerpoint/2010/main" val="36674316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36926C-4E5D-40C7-BB14-76111E4976AC}"/>
              </a:ext>
            </a:extLst>
          </p:cNvPr>
          <p:cNvSpPr>
            <a:spLocks noGrp="1"/>
          </p:cNvSpPr>
          <p:nvPr>
            <p:ph type="title"/>
          </p:nvPr>
        </p:nvSpPr>
        <p:spPr>
          <a:xfrm>
            <a:off x="713232" y="0"/>
            <a:ext cx="9692640" cy="1325562"/>
          </a:xfrm>
        </p:spPr>
        <p:txBody>
          <a:bodyPr/>
          <a:lstStyle/>
          <a:p>
            <a:pPr algn="ctr"/>
            <a:r>
              <a:rPr lang="en-GB" altLang="en-US" b="1" dirty="0">
                <a:solidFill>
                  <a:srgbClr val="000000"/>
                </a:solidFill>
              </a:rPr>
              <a:t> Data Warehouse</a:t>
            </a:r>
            <a:endParaRPr lang="en-US" dirty="0"/>
          </a:p>
        </p:txBody>
      </p:sp>
      <p:sp>
        <p:nvSpPr>
          <p:cNvPr id="3" name="Content Placeholder 2">
            <a:extLst>
              <a:ext uri="{FF2B5EF4-FFF2-40B4-BE49-F238E27FC236}">
                <a16:creationId xmlns="" xmlns:a16="http://schemas.microsoft.com/office/drawing/2014/main" id="{D013F87C-FF37-4425-BB47-095F45A9460F}"/>
              </a:ext>
            </a:extLst>
          </p:cNvPr>
          <p:cNvSpPr>
            <a:spLocks noGrp="1"/>
          </p:cNvSpPr>
          <p:nvPr>
            <p:ph idx="1"/>
          </p:nvPr>
        </p:nvSpPr>
        <p:spPr>
          <a:xfrm>
            <a:off x="562707" y="1828800"/>
            <a:ext cx="10621107" cy="4351337"/>
          </a:xfrm>
        </p:spPr>
        <p:txBody>
          <a:bodyPr>
            <a:normAutofit/>
          </a:bodyPr>
          <a:lstStyle/>
          <a:p>
            <a:pPr marL="457200" lvl="2" indent="-457200">
              <a:spcBef>
                <a:spcPts val="1000"/>
              </a:spcBef>
              <a:buSzPct val="75000"/>
              <a:buFont typeface="Wingdings" panose="05000000000000000000" pitchFamily="2" charset="2"/>
              <a:buChar char="Ø"/>
            </a:pPr>
            <a:r>
              <a:rPr lang="en-GB" altLang="en-US" sz="2800" dirty="0">
                <a:solidFill>
                  <a:srgbClr val="C00000"/>
                </a:solidFill>
              </a:rPr>
              <a:t>Subject-oriented</a:t>
            </a:r>
            <a:r>
              <a:rPr lang="en-GB" altLang="en-US" sz="2800" dirty="0"/>
              <a:t>:  </a:t>
            </a:r>
          </a:p>
          <a:p>
            <a:pPr marL="685800" lvl="3">
              <a:spcBef>
                <a:spcPts val="1000"/>
              </a:spcBef>
              <a:spcAft>
                <a:spcPts val="783"/>
              </a:spcAft>
            </a:pPr>
            <a:r>
              <a:rPr lang="en-GB" altLang="en-US" sz="2600" dirty="0"/>
              <a:t>Focused on important subjects, not transactions</a:t>
            </a:r>
          </a:p>
          <a:p>
            <a:pPr marL="685800" lvl="3">
              <a:spcBef>
                <a:spcPts val="1000"/>
              </a:spcBef>
            </a:pPr>
            <a:r>
              <a:rPr lang="en-GB" altLang="en-US" sz="2600" dirty="0"/>
              <a:t>Concise view with only useful data for decision making</a:t>
            </a:r>
          </a:p>
          <a:p>
            <a:pPr marL="685800" lvl="3">
              <a:spcBef>
                <a:spcPts val="1000"/>
              </a:spcBef>
              <a:buSzPct val="75000"/>
            </a:pPr>
            <a:endParaRPr lang="en-GB" altLang="en-US" sz="2600" dirty="0"/>
          </a:p>
          <a:p>
            <a:pPr marL="457200" lvl="2" indent="-457200">
              <a:spcBef>
                <a:spcPts val="1000"/>
              </a:spcBef>
              <a:buSzPct val="75000"/>
              <a:buFont typeface="Wingdings" panose="05000000000000000000" pitchFamily="2" charset="2"/>
              <a:buChar char="Ø"/>
            </a:pPr>
            <a:r>
              <a:rPr lang="en-GB" altLang="en-US" sz="2800" dirty="0">
                <a:solidFill>
                  <a:srgbClr val="C00000"/>
                </a:solidFill>
              </a:rPr>
              <a:t>Integrated</a:t>
            </a:r>
            <a:r>
              <a:rPr lang="en-GB" altLang="en-US" sz="2800" dirty="0"/>
              <a:t>:</a:t>
            </a:r>
          </a:p>
          <a:p>
            <a:pPr marL="685800" lvl="3">
              <a:spcBef>
                <a:spcPts val="1000"/>
              </a:spcBef>
            </a:pPr>
            <a:r>
              <a:rPr lang="en-GB" altLang="en-US" sz="2600" dirty="0"/>
              <a:t>Constructed from multiple, heterogeneous data sources. Normally distributed relational </a:t>
            </a:r>
            <a:r>
              <a:rPr lang="en-GB" altLang="en-US" sz="2600" dirty="0" smtClean="0"/>
              <a:t>databases.</a:t>
            </a:r>
            <a:endParaRPr lang="en-GB" altLang="en-US" sz="2600" dirty="0"/>
          </a:p>
        </p:txBody>
      </p:sp>
      <p:sp>
        <p:nvSpPr>
          <p:cNvPr id="4" name="Slide Number Placeholder 3">
            <a:extLst>
              <a:ext uri="{FF2B5EF4-FFF2-40B4-BE49-F238E27FC236}">
                <a16:creationId xmlns="" xmlns:a16="http://schemas.microsoft.com/office/drawing/2014/main" id="{75BC08D3-3583-4EC6-97A7-582655BF8402}"/>
              </a:ext>
            </a:extLst>
          </p:cNvPr>
          <p:cNvSpPr>
            <a:spLocks noGrp="1"/>
          </p:cNvSpPr>
          <p:nvPr>
            <p:ph type="sldNum" sz="quarter" idx="12"/>
          </p:nvPr>
        </p:nvSpPr>
        <p:spPr/>
        <p:txBody>
          <a:bodyPr>
            <a:normAutofit lnSpcReduction="10000"/>
          </a:bodyPr>
          <a:lstStyle/>
          <a:p>
            <a:fld id="{B3A56E86-3D7C-4541-92E7-267EC584995E}" type="slidenum">
              <a:rPr lang="en-US" smtClean="0"/>
              <a:t>5</a:t>
            </a:fld>
            <a:endParaRPr lang="en-US"/>
          </a:p>
        </p:txBody>
      </p:sp>
    </p:spTree>
    <p:extLst>
      <p:ext uri="{BB962C8B-B14F-4D97-AF65-F5344CB8AC3E}">
        <p14:creationId xmlns:p14="http://schemas.microsoft.com/office/powerpoint/2010/main" val="7381131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36926C-4E5D-40C7-BB14-76111E4976AC}"/>
              </a:ext>
            </a:extLst>
          </p:cNvPr>
          <p:cNvSpPr>
            <a:spLocks noGrp="1"/>
          </p:cNvSpPr>
          <p:nvPr>
            <p:ph type="title"/>
          </p:nvPr>
        </p:nvSpPr>
        <p:spPr>
          <a:xfrm>
            <a:off x="1005840" y="0"/>
            <a:ext cx="9692640" cy="1325562"/>
          </a:xfrm>
        </p:spPr>
        <p:txBody>
          <a:bodyPr/>
          <a:lstStyle/>
          <a:p>
            <a:pPr algn="ctr"/>
            <a:r>
              <a:rPr lang="en-GB" altLang="en-US" b="1" dirty="0">
                <a:solidFill>
                  <a:srgbClr val="000000"/>
                </a:solidFill>
              </a:rPr>
              <a:t> Data Warehouse</a:t>
            </a:r>
            <a:endParaRPr lang="en-US" dirty="0"/>
          </a:p>
        </p:txBody>
      </p:sp>
      <p:sp>
        <p:nvSpPr>
          <p:cNvPr id="3" name="Content Placeholder 2">
            <a:extLst>
              <a:ext uri="{FF2B5EF4-FFF2-40B4-BE49-F238E27FC236}">
                <a16:creationId xmlns="" xmlns:a16="http://schemas.microsoft.com/office/drawing/2014/main" id="{D013F87C-FF37-4425-BB47-095F45A9460F}"/>
              </a:ext>
            </a:extLst>
          </p:cNvPr>
          <p:cNvSpPr>
            <a:spLocks noGrp="1"/>
          </p:cNvSpPr>
          <p:nvPr>
            <p:ph idx="1"/>
          </p:nvPr>
        </p:nvSpPr>
        <p:spPr>
          <a:xfrm>
            <a:off x="548640" y="1828800"/>
            <a:ext cx="10607040" cy="4351337"/>
          </a:xfrm>
        </p:spPr>
        <p:txBody>
          <a:bodyPr>
            <a:normAutofit/>
          </a:bodyPr>
          <a:lstStyle/>
          <a:p>
            <a:pPr marL="457200" lvl="2" indent="-457200">
              <a:spcBef>
                <a:spcPts val="1000"/>
              </a:spcBef>
              <a:buSzPct val="75000"/>
              <a:buFont typeface="Wingdings" panose="05000000000000000000" pitchFamily="2" charset="2"/>
              <a:buChar char="Ø"/>
            </a:pPr>
            <a:r>
              <a:rPr lang="en-US" altLang="en-US" sz="2800" dirty="0">
                <a:solidFill>
                  <a:srgbClr val="C00000"/>
                </a:solidFill>
              </a:rPr>
              <a:t>Time-variant</a:t>
            </a:r>
            <a:r>
              <a:rPr lang="en-US" altLang="en-US" sz="2800" dirty="0"/>
              <a:t>: </a:t>
            </a:r>
          </a:p>
          <a:p>
            <a:pPr marL="914400" lvl="3" indent="-457200">
              <a:spcBef>
                <a:spcPts val="1000"/>
              </a:spcBef>
              <a:buSzPct val="75000"/>
            </a:pPr>
            <a:r>
              <a:rPr lang="en-US" altLang="en-US" sz="2600" dirty="0"/>
              <a:t>Has different values for the same fields over time.</a:t>
            </a:r>
          </a:p>
          <a:p>
            <a:pPr marL="914400" lvl="3" indent="-457200">
              <a:spcBef>
                <a:spcPts val="1000"/>
              </a:spcBef>
              <a:buSzPct val="75000"/>
            </a:pPr>
            <a:r>
              <a:rPr lang="en-US" altLang="en-US" sz="2600" dirty="0"/>
              <a:t>Operational database only has current value. Data Warehouse offers historical values.</a:t>
            </a:r>
          </a:p>
          <a:p>
            <a:pPr marL="457200" lvl="2" indent="-457200">
              <a:spcBef>
                <a:spcPts val="1000"/>
              </a:spcBef>
              <a:buSzPct val="75000"/>
              <a:buFont typeface="Wingdings" panose="05000000000000000000" pitchFamily="2" charset="2"/>
              <a:buChar char="Ø"/>
            </a:pPr>
            <a:endParaRPr lang="en-US" altLang="en-US" sz="2800" dirty="0"/>
          </a:p>
          <a:p>
            <a:pPr marL="457200" lvl="2" indent="-457200">
              <a:spcBef>
                <a:spcPts val="1000"/>
              </a:spcBef>
              <a:buSzPct val="75000"/>
              <a:buFont typeface="Wingdings" panose="05000000000000000000" pitchFamily="2" charset="2"/>
              <a:buChar char="Ø"/>
            </a:pPr>
            <a:r>
              <a:rPr lang="en-US" altLang="en-US" sz="2800" dirty="0">
                <a:solidFill>
                  <a:srgbClr val="C00000"/>
                </a:solidFill>
              </a:rPr>
              <a:t>Nonvolatile</a:t>
            </a:r>
            <a:r>
              <a:rPr lang="en-US" altLang="en-US" sz="2800" dirty="0"/>
              <a:t>: </a:t>
            </a:r>
          </a:p>
          <a:p>
            <a:pPr marL="914400" lvl="3" indent="-457200">
              <a:spcBef>
                <a:spcPts val="1000"/>
              </a:spcBef>
              <a:buSzPct val="75000"/>
            </a:pPr>
            <a:r>
              <a:rPr lang="en-US" altLang="en-US" sz="2600" dirty="0" smtClean="0"/>
              <a:t>Updates </a:t>
            </a:r>
            <a:r>
              <a:rPr lang="en-US" altLang="en-US" sz="2600" dirty="0"/>
              <a:t>not online, but in offline batch mode only</a:t>
            </a:r>
          </a:p>
          <a:p>
            <a:pPr marL="914400" lvl="3" indent="-457200">
              <a:spcBef>
                <a:spcPts val="1000"/>
              </a:spcBef>
              <a:buSzPct val="75000"/>
            </a:pPr>
            <a:r>
              <a:rPr lang="en-US" altLang="en-US" sz="2600" dirty="0"/>
              <a:t>Read only access required, so no concurrency issues </a:t>
            </a:r>
          </a:p>
        </p:txBody>
      </p:sp>
      <p:sp>
        <p:nvSpPr>
          <p:cNvPr id="4" name="Slide Number Placeholder 3">
            <a:extLst>
              <a:ext uri="{FF2B5EF4-FFF2-40B4-BE49-F238E27FC236}">
                <a16:creationId xmlns="" xmlns:a16="http://schemas.microsoft.com/office/drawing/2014/main" id="{CC83C785-5586-4292-978E-B59CE8AF05BA}"/>
              </a:ext>
            </a:extLst>
          </p:cNvPr>
          <p:cNvSpPr>
            <a:spLocks noGrp="1"/>
          </p:cNvSpPr>
          <p:nvPr>
            <p:ph type="sldNum" sz="quarter" idx="12"/>
          </p:nvPr>
        </p:nvSpPr>
        <p:spPr/>
        <p:txBody>
          <a:bodyPr>
            <a:normAutofit lnSpcReduction="10000"/>
          </a:bodyPr>
          <a:lstStyle/>
          <a:p>
            <a:fld id="{B3A56E86-3D7C-4541-92E7-267EC584995E}" type="slidenum">
              <a:rPr lang="en-US" smtClean="0"/>
              <a:t>6</a:t>
            </a:fld>
            <a:endParaRPr lang="en-US"/>
          </a:p>
        </p:txBody>
      </p:sp>
    </p:spTree>
    <p:extLst>
      <p:ext uri="{BB962C8B-B14F-4D97-AF65-F5344CB8AC3E}">
        <p14:creationId xmlns:p14="http://schemas.microsoft.com/office/powerpoint/2010/main" val="26291791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a:extLst>
              <a:ext uri="{FF2B5EF4-FFF2-40B4-BE49-F238E27FC236}">
                <a16:creationId xmlns="" xmlns:a16="http://schemas.microsoft.com/office/drawing/2014/main" id="{854A8B70-4DB5-4BC5-8F7C-375F60FF40A3}"/>
              </a:ext>
            </a:extLst>
          </p:cNvPr>
          <p:cNvSpPr>
            <a:spLocks noGrp="1" noChangeArrowheads="1"/>
          </p:cNvSpPr>
          <p:nvPr>
            <p:ph type="title"/>
          </p:nvPr>
        </p:nvSpPr>
        <p:spPr>
          <a:xfrm>
            <a:off x="838200" y="-155390"/>
            <a:ext cx="10515600" cy="1325563"/>
          </a:xfrm>
        </p:spPr>
        <p:txBody>
          <a:bodyPr/>
          <a:lstStyle/>
          <a:p>
            <a:pPr algn="ctr"/>
            <a:r>
              <a:rPr lang="en-US" altLang="en-US" dirty="0"/>
              <a:t>Data Warehouse Architecture</a:t>
            </a:r>
          </a:p>
        </p:txBody>
      </p:sp>
      <p:sp>
        <p:nvSpPr>
          <p:cNvPr id="31" name="Slide Number Placeholder 3">
            <a:extLst>
              <a:ext uri="{FF2B5EF4-FFF2-40B4-BE49-F238E27FC236}">
                <a16:creationId xmlns="" xmlns:a16="http://schemas.microsoft.com/office/drawing/2014/main" id="{FACA2161-7092-4981-A278-5211B92FDE65}"/>
              </a:ext>
            </a:extLst>
          </p:cNvPr>
          <p:cNvSpPr>
            <a:spLocks noGrp="1"/>
          </p:cNvSpPr>
          <p:nvPr>
            <p:ph type="sldNum" sz="quarter" idx="12"/>
          </p:nvPr>
        </p:nvSpPr>
        <p:spPr/>
        <p:txBody>
          <a:bodyPr>
            <a:normAutofit lnSpcReduction="10000"/>
          </a:bodyPr>
          <a:lstStyle/>
          <a:p>
            <a:fld id="{8B26EFDF-0D56-4ADB-A040-50661D039B6C}" type="slidenum">
              <a:rPr lang="en-US" altLang="en-US"/>
              <a:pPr/>
              <a:t>7</a:t>
            </a:fld>
            <a:endParaRPr lang="en-US" altLang="en-US"/>
          </a:p>
        </p:txBody>
      </p:sp>
      <p:pic>
        <p:nvPicPr>
          <p:cNvPr id="6219" name="Picture 75"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164" y="1368654"/>
            <a:ext cx="9185636" cy="46050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trips dir="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normAutofit lnSpcReduction="10000"/>
          </a:bodyPr>
          <a:lstStyle/>
          <a:p>
            <a:fld id="{B3A56E86-3D7C-4541-92E7-267EC584995E}" type="slidenum">
              <a:rPr lang="en-US" smtClean="0"/>
              <a:t>8</a:t>
            </a:fld>
            <a:endParaRPr lang="en-US"/>
          </a:p>
        </p:txBody>
      </p:sp>
      <p:pic>
        <p:nvPicPr>
          <p:cNvPr id="11266" name="Picture 2" descr="Image result for database and datawarehouse differences in que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658" y="1269383"/>
            <a:ext cx="10700463" cy="342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40916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36926C-4E5D-40C7-BB14-76111E4976AC}"/>
              </a:ext>
            </a:extLst>
          </p:cNvPr>
          <p:cNvSpPr>
            <a:spLocks noGrp="1"/>
          </p:cNvSpPr>
          <p:nvPr>
            <p:ph type="title"/>
          </p:nvPr>
        </p:nvSpPr>
        <p:spPr>
          <a:xfrm>
            <a:off x="1149330" y="0"/>
            <a:ext cx="9692640" cy="1325562"/>
          </a:xfrm>
        </p:spPr>
        <p:txBody>
          <a:bodyPr/>
          <a:lstStyle/>
          <a:p>
            <a:pPr algn="ctr"/>
            <a:r>
              <a:rPr lang="en-GB" altLang="en-US" b="1" dirty="0" smtClean="0">
                <a:solidFill>
                  <a:srgbClr val="000000"/>
                </a:solidFill>
              </a:rPr>
              <a:t>OLTP vs OLAP</a:t>
            </a:r>
            <a:endParaRPr lang="en-US" dirty="0"/>
          </a:p>
        </p:txBody>
      </p:sp>
      <p:sp>
        <p:nvSpPr>
          <p:cNvPr id="3" name="Content Placeholder 2">
            <a:extLst>
              <a:ext uri="{FF2B5EF4-FFF2-40B4-BE49-F238E27FC236}">
                <a16:creationId xmlns="" xmlns:a16="http://schemas.microsoft.com/office/drawing/2014/main" id="{D013F87C-FF37-4425-BB47-095F45A9460F}"/>
              </a:ext>
            </a:extLst>
          </p:cNvPr>
          <p:cNvSpPr>
            <a:spLocks noGrp="1"/>
          </p:cNvSpPr>
          <p:nvPr>
            <p:ph idx="1"/>
          </p:nvPr>
        </p:nvSpPr>
        <p:spPr>
          <a:xfrm>
            <a:off x="1149330" y="1434905"/>
            <a:ext cx="8595360" cy="4351337"/>
          </a:xfrm>
        </p:spPr>
        <p:txBody>
          <a:bodyPr>
            <a:normAutofit/>
          </a:bodyPr>
          <a:lstStyle/>
          <a:p>
            <a:pPr lvl="1">
              <a:lnSpc>
                <a:spcPct val="124000"/>
              </a:lnSpc>
              <a:buSzPct val="75000"/>
              <a:buNone/>
            </a:pPr>
            <a:endParaRPr lang="en-GB" altLang="en-US" sz="2176" b="1" dirty="0" smtClean="0">
              <a:solidFill>
                <a:srgbClr val="000000"/>
              </a:solidFill>
              <a:latin typeface="Arial" panose="020B0604020202020204" pitchFamily="34" charset="0"/>
              <a:cs typeface="Arial" panose="020B0604020202020204" pitchFamily="34" charset="0"/>
            </a:endParaRPr>
          </a:p>
          <a:p>
            <a:pPr lvl="1">
              <a:lnSpc>
                <a:spcPct val="124000"/>
              </a:lnSpc>
              <a:buSzPct val="75000"/>
              <a:buNone/>
            </a:pPr>
            <a:r>
              <a:rPr lang="en-GB" altLang="en-US" sz="2176" b="1" dirty="0">
                <a:solidFill>
                  <a:srgbClr val="000000"/>
                </a:solidFill>
                <a:latin typeface="Arial" panose="020B0604020202020204" pitchFamily="34" charset="0"/>
                <a:cs typeface="Arial" panose="020B0604020202020204" pitchFamily="34" charset="0"/>
              </a:rPr>
              <a:t>OLTP: </a:t>
            </a:r>
            <a:r>
              <a:rPr lang="en-GB" altLang="en-US" sz="2176" dirty="0">
                <a:solidFill>
                  <a:srgbClr val="000000"/>
                </a:solidFill>
                <a:latin typeface="Arial" panose="020B0604020202020204" pitchFamily="34" charset="0"/>
                <a:cs typeface="Arial" panose="020B0604020202020204" pitchFamily="34" charset="0"/>
              </a:rPr>
              <a:t> Online Transaction Processing (Operational DBMS)</a:t>
            </a:r>
            <a:br>
              <a:rPr lang="en-GB" altLang="en-US" sz="2176" dirty="0">
                <a:solidFill>
                  <a:srgbClr val="000000"/>
                </a:solidFill>
                <a:latin typeface="Arial" panose="020B0604020202020204" pitchFamily="34" charset="0"/>
                <a:cs typeface="Arial" panose="020B0604020202020204" pitchFamily="34" charset="0"/>
              </a:rPr>
            </a:br>
            <a:r>
              <a:rPr lang="en-GB" altLang="en-US" sz="2176" dirty="0">
                <a:solidFill>
                  <a:srgbClr val="000000"/>
                </a:solidFill>
                <a:latin typeface="Arial" panose="020B0604020202020204" pitchFamily="34" charset="0"/>
                <a:cs typeface="Arial" panose="020B0604020202020204" pitchFamily="34" charset="0"/>
              </a:rPr>
              <a:t>Present data</a:t>
            </a:r>
            <a:br>
              <a:rPr lang="en-GB" altLang="en-US" sz="2176" dirty="0">
                <a:solidFill>
                  <a:srgbClr val="000000"/>
                </a:solidFill>
                <a:latin typeface="Arial" panose="020B0604020202020204" pitchFamily="34" charset="0"/>
                <a:cs typeface="Arial" panose="020B0604020202020204" pitchFamily="34" charset="0"/>
              </a:rPr>
            </a:br>
            <a:r>
              <a:rPr lang="en-GB" altLang="en-US" sz="2000" i="1" dirty="0">
                <a:solidFill>
                  <a:srgbClr val="000000"/>
                </a:solidFill>
                <a:latin typeface="Arial" panose="020B0604020202020204" pitchFamily="34" charset="0"/>
                <a:cs typeface="Arial" panose="020B0604020202020204" pitchFamily="34" charset="0"/>
              </a:rPr>
              <a:t>EG: ATM systems</a:t>
            </a:r>
            <a:r>
              <a:rPr lang="ar-SA" altLang="en-US" sz="2000" i="1" dirty="0">
                <a:solidFill>
                  <a:srgbClr val="000000"/>
                </a:solidFill>
                <a:latin typeface="Arial" panose="020B0604020202020204" pitchFamily="34" charset="0"/>
                <a:cs typeface="Arial" panose="020B0604020202020204" pitchFamily="34" charset="0"/>
              </a:rPr>
              <a:t>‏</a:t>
            </a:r>
            <a:endParaRPr lang="en-GB" altLang="en-US" sz="2000" i="1" dirty="0">
              <a:solidFill>
                <a:srgbClr val="000000"/>
              </a:solidFill>
              <a:latin typeface="Arial" panose="020B0604020202020204" pitchFamily="34" charset="0"/>
              <a:cs typeface="Arial" panose="020B0604020202020204" pitchFamily="34" charset="0"/>
            </a:endParaRPr>
          </a:p>
          <a:p>
            <a:pPr lvl="1">
              <a:lnSpc>
                <a:spcPct val="124000"/>
              </a:lnSpc>
              <a:buSzPct val="75000"/>
              <a:buNone/>
            </a:pPr>
            <a:endParaRPr lang="en-GB" altLang="en-US" sz="2176" b="1" dirty="0" smtClean="0">
              <a:solidFill>
                <a:srgbClr val="000000"/>
              </a:solidFill>
              <a:latin typeface="Arial" panose="020B0604020202020204" pitchFamily="34" charset="0"/>
              <a:cs typeface="Arial" panose="020B0604020202020204" pitchFamily="34" charset="0"/>
            </a:endParaRPr>
          </a:p>
          <a:p>
            <a:pPr lvl="1">
              <a:lnSpc>
                <a:spcPct val="124000"/>
              </a:lnSpc>
              <a:buSzPct val="75000"/>
              <a:buNone/>
            </a:pPr>
            <a:endParaRPr lang="en-GB" altLang="en-US" sz="2176" b="1" dirty="0">
              <a:solidFill>
                <a:srgbClr val="000000"/>
              </a:solidFill>
              <a:latin typeface="Arial" panose="020B0604020202020204" pitchFamily="34" charset="0"/>
              <a:cs typeface="Arial" panose="020B0604020202020204" pitchFamily="34" charset="0"/>
            </a:endParaRPr>
          </a:p>
          <a:p>
            <a:pPr lvl="1">
              <a:lnSpc>
                <a:spcPct val="124000"/>
              </a:lnSpc>
              <a:buSzPct val="75000"/>
              <a:buNone/>
            </a:pPr>
            <a:r>
              <a:rPr lang="en-GB" altLang="en-US" sz="2176" b="1" dirty="0" smtClean="0">
                <a:solidFill>
                  <a:srgbClr val="000000"/>
                </a:solidFill>
                <a:latin typeface="Arial" panose="020B0604020202020204" pitchFamily="34" charset="0"/>
                <a:cs typeface="Arial" panose="020B0604020202020204" pitchFamily="34" charset="0"/>
              </a:rPr>
              <a:t>OLAP</a:t>
            </a:r>
            <a:r>
              <a:rPr lang="en-GB" altLang="en-US" sz="2176" b="1" dirty="0">
                <a:solidFill>
                  <a:srgbClr val="000000"/>
                </a:solidFill>
                <a:latin typeface="Arial" panose="020B0604020202020204" pitchFamily="34" charset="0"/>
                <a:cs typeface="Arial" panose="020B0604020202020204" pitchFamily="34" charset="0"/>
              </a:rPr>
              <a:t>:</a:t>
            </a:r>
            <a:r>
              <a:rPr lang="en-GB" altLang="en-US" sz="2176" dirty="0">
                <a:solidFill>
                  <a:srgbClr val="000000"/>
                </a:solidFill>
                <a:latin typeface="Arial" panose="020B0604020202020204" pitchFamily="34" charset="0"/>
                <a:cs typeface="Arial" panose="020B0604020202020204" pitchFamily="34" charset="0"/>
              </a:rPr>
              <a:t>  Online Analytical Processing (Data Warehouse)</a:t>
            </a:r>
            <a:r>
              <a:rPr lang="ar-SA" altLang="en-US" sz="2176" dirty="0" smtClean="0">
                <a:solidFill>
                  <a:srgbClr val="000000"/>
                </a:solidFill>
                <a:latin typeface="Arial" panose="020B0604020202020204" pitchFamily="34" charset="0"/>
                <a:cs typeface="Arial" panose="020B0604020202020204" pitchFamily="34" charset="0"/>
              </a:rPr>
              <a:t>‏</a:t>
            </a:r>
            <a:r>
              <a:rPr lang="en-US" altLang="en-US" sz="2176" dirty="0" smtClean="0">
                <a:solidFill>
                  <a:srgbClr val="000000"/>
                </a:solidFill>
                <a:latin typeface="Arial" panose="020B0604020202020204" pitchFamily="34" charset="0"/>
                <a:cs typeface="Arial" panose="020B0604020202020204" pitchFamily="34" charset="0"/>
              </a:rPr>
              <a:t/>
            </a:r>
            <a:br>
              <a:rPr lang="en-US" altLang="en-US" sz="2176" dirty="0" smtClean="0">
                <a:solidFill>
                  <a:srgbClr val="000000"/>
                </a:solidFill>
                <a:latin typeface="Arial" panose="020B0604020202020204" pitchFamily="34" charset="0"/>
                <a:cs typeface="Arial" panose="020B0604020202020204" pitchFamily="34" charset="0"/>
              </a:rPr>
            </a:br>
            <a:r>
              <a:rPr lang="en-US" altLang="en-US" sz="2176" dirty="0" smtClean="0">
                <a:solidFill>
                  <a:srgbClr val="000000"/>
                </a:solidFill>
                <a:latin typeface="Arial" panose="020B0604020202020204" pitchFamily="34" charset="0"/>
                <a:cs typeface="Arial" panose="020B0604020202020204" pitchFamily="34" charset="0"/>
              </a:rPr>
              <a:t>Historical data</a:t>
            </a:r>
          </a:p>
          <a:p>
            <a:pPr lvl="1">
              <a:lnSpc>
                <a:spcPct val="124000"/>
              </a:lnSpc>
              <a:buSzPct val="75000"/>
              <a:buNone/>
            </a:pPr>
            <a:endParaRPr lang="en-GB" altLang="en-US" sz="2176" dirty="0" smtClean="0">
              <a:solidFill>
                <a:srgbClr val="000000"/>
              </a:solidFill>
              <a:latin typeface="Arial" panose="020B0604020202020204" pitchFamily="34" charset="0"/>
              <a:cs typeface="Arial" panose="020B0604020202020204" pitchFamily="34" charset="0"/>
            </a:endParaRPr>
          </a:p>
          <a:p>
            <a:pPr lvl="1">
              <a:buSzPct val="75000"/>
              <a:buNone/>
            </a:pPr>
            <a:endParaRPr lang="en-GB" altLang="en-US" sz="2176" b="1" dirty="0">
              <a:solidFill>
                <a:srgbClr val="000000"/>
              </a:solidFill>
              <a:latin typeface="Arial" panose="020B0604020202020204" pitchFamily="34" charset="0"/>
              <a:cs typeface="Arial" panose="020B0604020202020204" pitchFamily="34" charset="0"/>
            </a:endParaRPr>
          </a:p>
          <a:p>
            <a:pPr lvl="1">
              <a:buSzPct val="75000"/>
              <a:buNone/>
            </a:pPr>
            <a:endParaRPr lang="en-GB" altLang="en-US" sz="2176" dirty="0">
              <a:solidFill>
                <a:srgbClr val="000000"/>
              </a:solidFill>
              <a:latin typeface="Arial" panose="020B0604020202020204" pitchFamily="34" charset="0"/>
              <a:cs typeface="Arial" panose="020B0604020202020204" pitchFamily="34" charset="0"/>
            </a:endParaRPr>
          </a:p>
          <a:p>
            <a:pPr lvl="1">
              <a:buSzPct val="75000"/>
              <a:buNone/>
            </a:pPr>
            <a:endParaRPr lang="en-GB" altLang="en-US" sz="2176" dirty="0">
              <a:solidFill>
                <a:srgbClr val="000000"/>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 xmlns:a16="http://schemas.microsoft.com/office/drawing/2014/main" id="{2A380203-2C62-4206-BF62-8F1D73544BDE}"/>
              </a:ext>
            </a:extLst>
          </p:cNvPr>
          <p:cNvSpPr>
            <a:spLocks noGrp="1"/>
          </p:cNvSpPr>
          <p:nvPr>
            <p:ph type="sldNum" sz="quarter" idx="12"/>
          </p:nvPr>
        </p:nvSpPr>
        <p:spPr/>
        <p:txBody>
          <a:bodyPr>
            <a:normAutofit lnSpcReduction="10000"/>
          </a:bodyPr>
          <a:lstStyle/>
          <a:p>
            <a:fld id="{B3A56E86-3D7C-4541-92E7-267EC584995E}" type="slidenum">
              <a:rPr lang="en-US" smtClean="0"/>
              <a:t>9</a:t>
            </a:fld>
            <a:endParaRPr lang="en-US"/>
          </a:p>
        </p:txBody>
      </p:sp>
    </p:spTree>
    <p:extLst>
      <p:ext uri="{BB962C8B-B14F-4D97-AF65-F5344CB8AC3E}">
        <p14:creationId xmlns:p14="http://schemas.microsoft.com/office/powerpoint/2010/main" val="4252883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899139" y="0"/>
            <a:ext cx="7768475" cy="5857988"/>
          </a:xfrm>
          <a:prstGeom prst="rect">
            <a:avLst/>
          </a:prstGeom>
        </p:spPr>
      </p:pic>
      <p:sp>
        <p:nvSpPr>
          <p:cNvPr id="4" name="Slide Number Placeholder 3"/>
          <p:cNvSpPr>
            <a:spLocks noGrp="1"/>
          </p:cNvSpPr>
          <p:nvPr>
            <p:ph type="sldNum" sz="quarter" idx="12"/>
          </p:nvPr>
        </p:nvSpPr>
        <p:spPr/>
        <p:txBody>
          <a:bodyPr>
            <a:normAutofit lnSpcReduction="10000"/>
          </a:bodyPr>
          <a:lstStyle/>
          <a:p>
            <a:fld id="{B3A56E86-3D7C-4541-92E7-267EC584995E}" type="slidenum">
              <a:rPr lang="en-US" smtClean="0"/>
              <a:t>10</a:t>
            </a:fld>
            <a:endParaRPr lang="en-US"/>
          </a:p>
        </p:txBody>
      </p:sp>
    </p:spTree>
    <p:extLst>
      <p:ext uri="{BB962C8B-B14F-4D97-AF65-F5344CB8AC3E}">
        <p14:creationId xmlns:p14="http://schemas.microsoft.com/office/powerpoint/2010/main" val="26483409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050">
            <a:extLst>
              <a:ext uri="{FF2B5EF4-FFF2-40B4-BE49-F238E27FC236}">
                <a16:creationId xmlns="" xmlns:a16="http://schemas.microsoft.com/office/drawing/2014/main" id="{BDD22F61-5949-4852-AACE-E38FB340B99E}"/>
              </a:ext>
            </a:extLst>
          </p:cNvPr>
          <p:cNvSpPr>
            <a:spLocks noGrp="1" noChangeArrowheads="1"/>
          </p:cNvSpPr>
          <p:nvPr>
            <p:ph type="title"/>
          </p:nvPr>
        </p:nvSpPr>
        <p:spPr>
          <a:xfrm>
            <a:off x="184079" y="463122"/>
            <a:ext cx="10407721" cy="968045"/>
          </a:xfrm>
        </p:spPr>
        <p:txBody>
          <a:bodyPr>
            <a:noAutofit/>
          </a:bodyPr>
          <a:lstStyle/>
          <a:p>
            <a:pPr algn="ctr">
              <a:defRPr/>
            </a:pPr>
            <a:r>
              <a:rPr lang="en-US" sz="3200" b="1" dirty="0">
                <a:solidFill>
                  <a:srgbClr val="000000"/>
                </a:solidFill>
              </a:rPr>
              <a:t>Comparison of OLTP </a:t>
            </a:r>
            <a:r>
              <a:rPr lang="en-US" sz="3200" b="1" dirty="0" smtClean="0">
                <a:solidFill>
                  <a:srgbClr val="000000"/>
                </a:solidFill>
              </a:rPr>
              <a:t/>
            </a:r>
            <a:br>
              <a:rPr lang="en-US" sz="3200" b="1" dirty="0" smtClean="0">
                <a:solidFill>
                  <a:srgbClr val="000000"/>
                </a:solidFill>
              </a:rPr>
            </a:br>
            <a:r>
              <a:rPr lang="en-US" sz="3200" b="1" dirty="0" smtClean="0">
                <a:solidFill>
                  <a:srgbClr val="000000"/>
                </a:solidFill>
              </a:rPr>
              <a:t>and </a:t>
            </a:r>
            <a:br>
              <a:rPr lang="en-US" sz="3200" b="1" dirty="0" smtClean="0">
                <a:solidFill>
                  <a:srgbClr val="000000"/>
                </a:solidFill>
              </a:rPr>
            </a:br>
            <a:r>
              <a:rPr lang="en-US" sz="3200" b="1" dirty="0" smtClean="0">
                <a:solidFill>
                  <a:srgbClr val="000000"/>
                </a:solidFill>
              </a:rPr>
              <a:t>Data Warehousing(OLAP)</a:t>
            </a:r>
            <a:endParaRPr lang="en-US" sz="3200" b="1" dirty="0">
              <a:solidFill>
                <a:srgbClr val="000000"/>
              </a:solidFill>
            </a:endParaRPr>
          </a:p>
        </p:txBody>
      </p:sp>
      <p:sp>
        <p:nvSpPr>
          <p:cNvPr id="433155" name="Rectangle 2051">
            <a:extLst>
              <a:ext uri="{FF2B5EF4-FFF2-40B4-BE49-F238E27FC236}">
                <a16:creationId xmlns="" xmlns:a16="http://schemas.microsoft.com/office/drawing/2014/main" id="{E2AA0677-6D7F-4E96-BBD8-94296CF6162A}"/>
              </a:ext>
            </a:extLst>
          </p:cNvPr>
          <p:cNvSpPr>
            <a:spLocks noGrp="1" noChangeArrowheads="1"/>
          </p:cNvSpPr>
          <p:nvPr>
            <p:ph idx="1"/>
          </p:nvPr>
        </p:nvSpPr>
        <p:spPr>
          <a:xfrm>
            <a:off x="141875" y="1431167"/>
            <a:ext cx="11138043" cy="4351338"/>
          </a:xfrm>
          <a:solidFill>
            <a:schemeClr val="accent3">
              <a:lumMod val="60000"/>
              <a:lumOff val="40000"/>
            </a:schemeClr>
          </a:solidFill>
        </p:spPr>
        <p:txBody>
          <a:bodyPr>
            <a:normAutofit/>
          </a:bodyPr>
          <a:lstStyle/>
          <a:p>
            <a:pPr>
              <a:lnSpc>
                <a:spcPct val="110000"/>
              </a:lnSpc>
              <a:defRPr/>
            </a:pPr>
            <a:r>
              <a:rPr lang="en-US" b="1" u="sng" dirty="0">
                <a:solidFill>
                  <a:srgbClr val="C00000"/>
                </a:solidFill>
              </a:rPr>
              <a:t>OLTP </a:t>
            </a:r>
            <a:r>
              <a:rPr lang="en-US" b="1" u="sng" dirty="0" smtClean="0">
                <a:solidFill>
                  <a:srgbClr val="C00000"/>
                </a:solidFill>
              </a:rPr>
              <a:t>(Database systems)</a:t>
            </a:r>
            <a:r>
              <a:rPr lang="en-US" b="1" dirty="0" smtClean="0">
                <a:solidFill>
                  <a:srgbClr val="C00000"/>
                </a:solidFill>
              </a:rPr>
              <a:t>	</a:t>
            </a:r>
            <a:r>
              <a:rPr lang="en-US" dirty="0"/>
              <a:t>	</a:t>
            </a:r>
            <a:r>
              <a:rPr lang="en-US" b="1" u="sng" dirty="0" smtClean="0">
                <a:solidFill>
                  <a:srgbClr val="00B0F0"/>
                </a:solidFill>
              </a:rPr>
              <a:t>Data </a:t>
            </a:r>
            <a:r>
              <a:rPr lang="en-US" b="1" u="sng" dirty="0">
                <a:solidFill>
                  <a:srgbClr val="00B0F0"/>
                </a:solidFill>
              </a:rPr>
              <a:t>warehousing </a:t>
            </a:r>
            <a:r>
              <a:rPr lang="en-US" b="1" u="sng" dirty="0" smtClean="0">
                <a:solidFill>
                  <a:srgbClr val="00B0F0"/>
                </a:solidFill>
              </a:rPr>
              <a:t>systems (OLAP)</a:t>
            </a:r>
            <a:r>
              <a:rPr lang="en-US" b="1" dirty="0">
                <a:solidFill>
                  <a:srgbClr val="00B0F0"/>
                </a:solidFill>
              </a:rPr>
              <a:t/>
            </a:r>
            <a:br>
              <a:rPr lang="en-US" b="1" dirty="0">
                <a:solidFill>
                  <a:srgbClr val="00B0F0"/>
                </a:solidFill>
              </a:rPr>
            </a:br>
            <a:r>
              <a:rPr lang="en-US" sz="2000" dirty="0"/>
              <a:t>Holds current data			</a:t>
            </a:r>
            <a:r>
              <a:rPr lang="en-US" sz="2000" dirty="0" smtClean="0"/>
              <a:t>Holds </a:t>
            </a:r>
            <a:r>
              <a:rPr lang="en-US" sz="2000" dirty="0"/>
              <a:t>historic data</a:t>
            </a:r>
            <a:br>
              <a:rPr lang="en-US" sz="2000" dirty="0"/>
            </a:br>
            <a:r>
              <a:rPr lang="en-US" sz="2000" dirty="0"/>
              <a:t>Stores detailed data			Stores detailed, lightly, </a:t>
            </a:r>
            <a:r>
              <a:rPr lang="en-US" sz="2000" dirty="0" smtClean="0"/>
              <a:t>and summarized </a:t>
            </a:r>
            <a:r>
              <a:rPr lang="en-US" sz="2000" dirty="0"/>
              <a:t>data</a:t>
            </a:r>
            <a:br>
              <a:rPr lang="en-US" sz="2000" dirty="0"/>
            </a:br>
            <a:r>
              <a:rPr lang="en-US" sz="2000" dirty="0" err="1"/>
              <a:t>Data</a:t>
            </a:r>
            <a:r>
              <a:rPr lang="en-US" sz="2000" dirty="0"/>
              <a:t> is dynamic			</a:t>
            </a:r>
            <a:r>
              <a:rPr lang="en-US" sz="2000" dirty="0" smtClean="0"/>
              <a:t>Data </a:t>
            </a:r>
            <a:r>
              <a:rPr lang="en-US" sz="2000" dirty="0"/>
              <a:t>is largely static</a:t>
            </a:r>
            <a:br>
              <a:rPr lang="en-US" sz="2000" dirty="0"/>
            </a:br>
            <a:r>
              <a:rPr lang="en-US" sz="2000" dirty="0"/>
              <a:t>Repetitive processing			Ad hoc, unstructured, and </a:t>
            </a:r>
            <a:r>
              <a:rPr lang="en-US" sz="2000" dirty="0" smtClean="0"/>
              <a:t>heuristic processing</a:t>
            </a:r>
            <a:r>
              <a:rPr lang="en-US" sz="2000" dirty="0"/>
              <a:t/>
            </a:r>
            <a:br>
              <a:rPr lang="en-US" sz="2000" dirty="0"/>
            </a:br>
            <a:r>
              <a:rPr lang="en-US" dirty="0"/>
              <a:t>High level of transaction throughput</a:t>
            </a:r>
            <a:r>
              <a:rPr lang="en-US" sz="2000" dirty="0"/>
              <a:t>	</a:t>
            </a:r>
            <a:r>
              <a:rPr lang="en-US" sz="2000" dirty="0" smtClean="0"/>
              <a:t>Medium </a:t>
            </a:r>
            <a:r>
              <a:rPr lang="en-US" sz="2000" dirty="0"/>
              <a:t>to low transaction throughput</a:t>
            </a:r>
            <a:br>
              <a:rPr lang="en-US" sz="2000" dirty="0"/>
            </a:br>
            <a:r>
              <a:rPr lang="en-US" sz="2000" dirty="0"/>
              <a:t>Predictable pattern of usage		Unpredictable pattern of usage</a:t>
            </a:r>
            <a:br>
              <a:rPr lang="en-US" sz="2000" dirty="0"/>
            </a:br>
            <a:r>
              <a:rPr lang="en-US" sz="2000" dirty="0"/>
              <a:t>Transaction driven			</a:t>
            </a:r>
            <a:r>
              <a:rPr lang="en-US" sz="2000" dirty="0" smtClean="0"/>
              <a:t>Analysis </a:t>
            </a:r>
            <a:r>
              <a:rPr lang="en-US" sz="2000" dirty="0"/>
              <a:t>driven</a:t>
            </a:r>
            <a:br>
              <a:rPr lang="en-US" sz="2000" dirty="0"/>
            </a:br>
            <a:r>
              <a:rPr lang="en-US" sz="2000" dirty="0"/>
              <a:t>Application oriented			Subject oriented</a:t>
            </a:r>
            <a:br>
              <a:rPr lang="en-US" sz="2000" dirty="0"/>
            </a:br>
            <a:r>
              <a:rPr lang="en-US" sz="2000" dirty="0"/>
              <a:t>Supports day-to-day decisions	</a:t>
            </a:r>
            <a:r>
              <a:rPr lang="en-US" sz="2000" dirty="0" smtClean="0"/>
              <a:t>Supports </a:t>
            </a:r>
            <a:r>
              <a:rPr lang="en-US" sz="2000" dirty="0"/>
              <a:t>strategic decisions </a:t>
            </a:r>
            <a:br>
              <a:rPr lang="en-US" sz="2000" dirty="0"/>
            </a:br>
            <a:r>
              <a:rPr lang="en-US" sz="2000" dirty="0"/>
              <a:t>Serves large number of		</a:t>
            </a:r>
            <a:r>
              <a:rPr lang="en-US" sz="2000" dirty="0" smtClean="0"/>
              <a:t>Serves </a:t>
            </a:r>
            <a:r>
              <a:rPr lang="en-US" sz="2000" dirty="0"/>
              <a:t>relatively lower number </a:t>
            </a:r>
            <a:br>
              <a:rPr lang="en-US" sz="2000" dirty="0"/>
            </a:br>
            <a:r>
              <a:rPr lang="en-US" sz="2000" dirty="0"/>
              <a:t>clerical / operational users		</a:t>
            </a:r>
            <a:r>
              <a:rPr lang="en-US" sz="2000" dirty="0" smtClean="0"/>
              <a:t>of </a:t>
            </a:r>
            <a:r>
              <a:rPr lang="en-US" sz="2000" dirty="0"/>
              <a:t>managerial </a:t>
            </a:r>
            <a:r>
              <a:rPr lang="en-US" sz="2000" dirty="0" smtClean="0"/>
              <a:t>users</a:t>
            </a:r>
          </a:p>
        </p:txBody>
      </p:sp>
      <p:sp>
        <p:nvSpPr>
          <p:cNvPr id="87044" name="Slide Number Placeholder 3">
            <a:extLst>
              <a:ext uri="{FF2B5EF4-FFF2-40B4-BE49-F238E27FC236}">
                <a16:creationId xmlns="" xmlns:a16="http://schemas.microsoft.com/office/drawing/2014/main" id="{407852D9-8436-4A77-8130-FED4A4DCB947}"/>
              </a:ext>
            </a:extLst>
          </p:cNvPr>
          <p:cNvSpPr>
            <a:spLocks noGrp="1"/>
          </p:cNvSpPr>
          <p:nvPr>
            <p:ph type="sldNum" sz="quarter" idx="12"/>
          </p:nvPr>
        </p:nvSpPr>
        <p:spPr>
          <a:xfrm>
            <a:off x="10134600" y="6416676"/>
            <a:ext cx="457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93D4B1E6-CD27-4940-95F7-89491F685250}" type="slidenum">
              <a:rPr lang="en-US" altLang="en-US" sz="1400">
                <a:solidFill>
                  <a:schemeClr val="tx1"/>
                </a:solidFill>
                <a:latin typeface="Arial" panose="020B0604020202020204" pitchFamily="34" charset="0"/>
              </a:rPr>
              <a:pPr/>
              <a:t>11</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1" name="Rectangle 4">
            <a:extLst>
              <a:ext uri="{FF2B5EF4-FFF2-40B4-BE49-F238E27FC236}">
                <a16:creationId xmlns="" xmlns:a16="http://schemas.microsoft.com/office/drawing/2014/main" id="{AFEB9E84-A802-463D-BB83-8215FE8774ED}"/>
              </a:ext>
            </a:extLst>
          </p:cNvPr>
          <p:cNvSpPr>
            <a:spLocks noGrp="1" noChangeArrowheads="1"/>
          </p:cNvSpPr>
          <p:nvPr>
            <p:ph type="title"/>
          </p:nvPr>
        </p:nvSpPr>
        <p:spPr>
          <a:noFill/>
        </p:spPr>
        <p:txBody>
          <a:bodyPr vert="horz" lIns="90488" tIns="44450" rIns="90488" bIns="44450" rtlCol="0" anchor="ctr">
            <a:normAutofit/>
          </a:bodyPr>
          <a:lstStyle/>
          <a:p>
            <a:pPr algn="ctr"/>
            <a:r>
              <a:rPr lang="en-US" altLang="en-US" dirty="0"/>
              <a:t>OLTP vs Data Warehouse</a:t>
            </a:r>
          </a:p>
        </p:txBody>
      </p:sp>
      <p:sp>
        <p:nvSpPr>
          <p:cNvPr id="111622" name="Rectangle 5">
            <a:extLst>
              <a:ext uri="{FF2B5EF4-FFF2-40B4-BE49-F238E27FC236}">
                <a16:creationId xmlns="" xmlns:a16="http://schemas.microsoft.com/office/drawing/2014/main" id="{75A32618-4687-4B4C-B530-4E308D0D0DFC}"/>
              </a:ext>
            </a:extLst>
          </p:cNvPr>
          <p:cNvSpPr>
            <a:spLocks noGrp="1" noChangeArrowheads="1"/>
          </p:cNvSpPr>
          <p:nvPr>
            <p:ph sz="half" idx="1"/>
          </p:nvPr>
        </p:nvSpPr>
        <p:spPr>
          <a:xfrm>
            <a:off x="464234" y="1856190"/>
            <a:ext cx="5416061" cy="4210050"/>
          </a:xfrm>
        </p:spPr>
        <p:txBody>
          <a:bodyPr>
            <a:normAutofit/>
          </a:bodyPr>
          <a:lstStyle/>
          <a:p>
            <a:pPr>
              <a:lnSpc>
                <a:spcPct val="150000"/>
              </a:lnSpc>
            </a:pPr>
            <a:r>
              <a:rPr lang="en-US" altLang="en-US" sz="2000" b="1" u="sng" dirty="0" smtClean="0">
                <a:solidFill>
                  <a:srgbClr val="FF0000"/>
                </a:solidFill>
              </a:rPr>
              <a:t>OLTP (database)</a:t>
            </a:r>
            <a:endParaRPr lang="en-US" altLang="en-US" sz="2000" b="1" u="sng" dirty="0">
              <a:solidFill>
                <a:srgbClr val="FF0000"/>
              </a:solidFill>
            </a:endParaRPr>
          </a:p>
          <a:p>
            <a:pPr lvl="1">
              <a:lnSpc>
                <a:spcPct val="150000"/>
              </a:lnSpc>
            </a:pPr>
            <a:r>
              <a:rPr lang="en-US" altLang="en-US" sz="2000" b="1" dirty="0"/>
              <a:t>Performance Sensitive</a:t>
            </a:r>
          </a:p>
          <a:p>
            <a:pPr lvl="1">
              <a:lnSpc>
                <a:spcPct val="150000"/>
              </a:lnSpc>
            </a:pPr>
            <a:r>
              <a:rPr lang="en-US" altLang="en-US" sz="2000" b="1" dirty="0"/>
              <a:t>Few Records accessed at a time (tens</a:t>
            </a:r>
            <a:r>
              <a:rPr lang="en-US" altLang="en-US" sz="2000" b="1" dirty="0" smtClean="0"/>
              <a:t>)</a:t>
            </a:r>
            <a:endParaRPr lang="en-US" altLang="en-US" sz="2000" b="1" dirty="0"/>
          </a:p>
          <a:p>
            <a:pPr lvl="1">
              <a:lnSpc>
                <a:spcPct val="150000"/>
              </a:lnSpc>
            </a:pPr>
            <a:r>
              <a:rPr lang="en-US" altLang="en-US" sz="2000" b="1" dirty="0"/>
              <a:t>Read/Update </a:t>
            </a:r>
            <a:r>
              <a:rPr lang="en-US" altLang="en-US" sz="2000" b="1" dirty="0" smtClean="0"/>
              <a:t>Access</a:t>
            </a:r>
            <a:endParaRPr lang="en-US" altLang="en-US" sz="2000" b="1" dirty="0"/>
          </a:p>
          <a:p>
            <a:pPr lvl="1">
              <a:lnSpc>
                <a:spcPct val="150000"/>
              </a:lnSpc>
            </a:pPr>
            <a:r>
              <a:rPr lang="en-US" altLang="en-US" sz="2000" b="1" dirty="0"/>
              <a:t>No data redundancy</a:t>
            </a:r>
          </a:p>
          <a:p>
            <a:pPr lvl="1">
              <a:lnSpc>
                <a:spcPct val="150000"/>
              </a:lnSpc>
            </a:pPr>
            <a:r>
              <a:rPr lang="en-US" altLang="en-US" sz="2000" b="1" dirty="0"/>
              <a:t>Database Size     100MB -100 GB</a:t>
            </a:r>
          </a:p>
        </p:txBody>
      </p:sp>
      <p:sp>
        <p:nvSpPr>
          <p:cNvPr id="111623" name="Rectangle 6">
            <a:extLst>
              <a:ext uri="{FF2B5EF4-FFF2-40B4-BE49-F238E27FC236}">
                <a16:creationId xmlns="" xmlns:a16="http://schemas.microsoft.com/office/drawing/2014/main" id="{246B1CFF-E71C-4A06-9CE0-202AB06D4F1C}"/>
              </a:ext>
            </a:extLst>
          </p:cNvPr>
          <p:cNvSpPr>
            <a:spLocks noGrp="1" noChangeArrowheads="1"/>
          </p:cNvSpPr>
          <p:nvPr>
            <p:ph sz="half" idx="2"/>
          </p:nvPr>
        </p:nvSpPr>
        <p:spPr>
          <a:xfrm>
            <a:off x="5570806" y="1885950"/>
            <a:ext cx="6217919" cy="4210050"/>
          </a:xfrm>
        </p:spPr>
        <p:txBody>
          <a:bodyPr>
            <a:normAutofit/>
          </a:bodyPr>
          <a:lstStyle/>
          <a:p>
            <a:pPr>
              <a:lnSpc>
                <a:spcPct val="150000"/>
              </a:lnSpc>
            </a:pPr>
            <a:r>
              <a:rPr lang="en-US" altLang="en-US" sz="2000" b="1" u="sng" dirty="0">
                <a:solidFill>
                  <a:srgbClr val="00B0F0"/>
                </a:solidFill>
              </a:rPr>
              <a:t>Data Warehouse</a:t>
            </a:r>
          </a:p>
          <a:p>
            <a:pPr lvl="1">
              <a:lnSpc>
                <a:spcPct val="150000"/>
              </a:lnSpc>
            </a:pPr>
            <a:r>
              <a:rPr lang="en-US" altLang="en-US" sz="2000" b="1" dirty="0"/>
              <a:t>Performance relaxed</a:t>
            </a:r>
          </a:p>
          <a:p>
            <a:pPr lvl="1">
              <a:lnSpc>
                <a:spcPct val="150000"/>
              </a:lnSpc>
            </a:pPr>
            <a:r>
              <a:rPr lang="en-US" altLang="en-US" sz="2000" b="1" dirty="0"/>
              <a:t>Large volumes accessed at a time(millions)</a:t>
            </a:r>
          </a:p>
          <a:p>
            <a:pPr lvl="1">
              <a:lnSpc>
                <a:spcPct val="150000"/>
              </a:lnSpc>
            </a:pPr>
            <a:r>
              <a:rPr lang="en-US" altLang="en-US" sz="2000" b="1" dirty="0"/>
              <a:t>Mostly Read (Batch Update)</a:t>
            </a:r>
          </a:p>
          <a:p>
            <a:pPr lvl="1">
              <a:lnSpc>
                <a:spcPct val="150000"/>
              </a:lnSpc>
            </a:pPr>
            <a:r>
              <a:rPr lang="en-US" altLang="en-US" sz="2000" b="1" dirty="0"/>
              <a:t>Redundancy present</a:t>
            </a:r>
          </a:p>
          <a:p>
            <a:pPr lvl="1">
              <a:lnSpc>
                <a:spcPct val="150000"/>
              </a:lnSpc>
            </a:pPr>
            <a:r>
              <a:rPr lang="en-US" altLang="en-US" sz="2000" b="1" dirty="0"/>
              <a:t>Database </a:t>
            </a:r>
            <a:r>
              <a:rPr lang="en-US" altLang="en-US" sz="2000" b="1" dirty="0" smtClean="0"/>
              <a:t>Size </a:t>
            </a:r>
            <a:r>
              <a:rPr lang="en-US" altLang="en-US" sz="2000" b="1" dirty="0"/>
              <a:t>100 GB - few </a:t>
            </a:r>
            <a:r>
              <a:rPr lang="en-US" altLang="en-US" sz="2000" b="1" dirty="0" smtClean="0"/>
              <a:t>terabytes</a:t>
            </a:r>
            <a:endParaRPr lang="en-US" altLang="en-US" sz="2000" b="1" dirty="0"/>
          </a:p>
        </p:txBody>
      </p:sp>
      <p:sp>
        <p:nvSpPr>
          <p:cNvPr id="111618" name="Slide Number Placeholder 5">
            <a:extLst>
              <a:ext uri="{FF2B5EF4-FFF2-40B4-BE49-F238E27FC236}">
                <a16:creationId xmlns="" xmlns:a16="http://schemas.microsoft.com/office/drawing/2014/main" id="{D56B1AEE-023F-4C6A-BDAE-114D16BEFF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0DA883BE-8166-4566-B474-5133B3EF0F6F}" type="slidenum">
              <a:rPr lang="en-US" altLang="en-US" sz="1400">
                <a:solidFill>
                  <a:schemeClr val="tx1"/>
                </a:solidFill>
                <a:latin typeface="Arial" panose="020B0604020202020204" pitchFamily="34" charset="0"/>
              </a:rPr>
              <a:pPr/>
              <a:t>12</a:t>
            </a:fld>
            <a:endParaRPr lang="en-US" altLang="en-US" sz="1400">
              <a:solidFill>
                <a:schemeClr val="tx1"/>
              </a:solidFill>
              <a:latin typeface="Arial" panose="020B0604020202020204" pitchFamily="34" charset="0"/>
            </a:endParaRPr>
          </a:p>
        </p:txBody>
      </p:sp>
      <p:sp>
        <p:nvSpPr>
          <p:cNvPr id="111619" name="Rectangle 2">
            <a:extLst>
              <a:ext uri="{FF2B5EF4-FFF2-40B4-BE49-F238E27FC236}">
                <a16:creationId xmlns="" xmlns:a16="http://schemas.microsoft.com/office/drawing/2014/main" id="{972DAB4F-40C5-413B-9670-4E428E5FD015}"/>
              </a:ext>
            </a:extLst>
          </p:cNvPr>
          <p:cNvSpPr>
            <a:spLocks noChangeArrowheads="1"/>
          </p:cNvSpPr>
          <p:nvPr/>
        </p:nvSpPr>
        <p:spPr bwMode="auto">
          <a:xfrm>
            <a:off x="19558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111620" name="Rectangle 3">
            <a:extLst>
              <a:ext uri="{FF2B5EF4-FFF2-40B4-BE49-F238E27FC236}">
                <a16:creationId xmlns="" xmlns:a16="http://schemas.microsoft.com/office/drawing/2014/main" id="{C1B1D100-0865-417F-BD6B-EE61CA1AA5F5}"/>
              </a:ext>
            </a:extLst>
          </p:cNvPr>
          <p:cNvSpPr>
            <a:spLocks noChangeArrowheads="1"/>
          </p:cNvSpPr>
          <p:nvPr/>
        </p:nvSpPr>
        <p:spPr bwMode="auto">
          <a:xfrm>
            <a:off x="4648200" y="62293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a:extLst>
              <a:ext uri="{FF2B5EF4-FFF2-40B4-BE49-F238E27FC236}">
                <a16:creationId xmlns="" xmlns:a16="http://schemas.microsoft.com/office/drawing/2014/main" id="{5B5F8E1E-29CE-427A-A3D8-90DA7C4B4A88}"/>
              </a:ext>
            </a:extLst>
          </p:cNvPr>
          <p:cNvSpPr>
            <a:spLocks noGrp="1" noChangeArrowheads="1"/>
          </p:cNvSpPr>
          <p:nvPr>
            <p:ph type="title"/>
          </p:nvPr>
        </p:nvSpPr>
        <p:spPr>
          <a:xfrm>
            <a:off x="896112" y="0"/>
            <a:ext cx="9692640" cy="1325562"/>
          </a:xfrm>
        </p:spPr>
        <p:txBody>
          <a:bodyPr/>
          <a:lstStyle/>
          <a:p>
            <a:pPr algn="ctr"/>
            <a:r>
              <a:rPr lang="en-US" altLang="en-US" dirty="0"/>
              <a:t>To summarize ...</a:t>
            </a:r>
          </a:p>
        </p:txBody>
      </p:sp>
      <p:sp>
        <p:nvSpPr>
          <p:cNvPr id="14342" name="Rectangle 3">
            <a:extLst>
              <a:ext uri="{FF2B5EF4-FFF2-40B4-BE49-F238E27FC236}">
                <a16:creationId xmlns="" xmlns:a16="http://schemas.microsoft.com/office/drawing/2014/main" id="{16CC2FAE-C9D2-478D-80BF-578882A50F12}"/>
              </a:ext>
            </a:extLst>
          </p:cNvPr>
          <p:cNvSpPr>
            <a:spLocks noGrp="1" noChangeArrowheads="1"/>
          </p:cNvSpPr>
          <p:nvPr>
            <p:ph sz="half" idx="1"/>
          </p:nvPr>
        </p:nvSpPr>
        <p:spPr/>
        <p:txBody>
          <a:bodyPr/>
          <a:lstStyle/>
          <a:p>
            <a:r>
              <a:rPr lang="en-US" altLang="en-US" b="1" dirty="0"/>
              <a:t>OLTP Systems are </a:t>
            </a:r>
            <a:br>
              <a:rPr lang="en-US" altLang="en-US" b="1" dirty="0"/>
            </a:br>
            <a:r>
              <a:rPr lang="en-US" altLang="en-US" b="1" dirty="0"/>
              <a:t>used to </a:t>
            </a:r>
            <a:r>
              <a:rPr lang="en-US" altLang="en-US" b="1" i="1" dirty="0">
                <a:solidFill>
                  <a:schemeClr val="tx2"/>
                </a:solidFill>
              </a:rPr>
              <a:t>“run”</a:t>
            </a:r>
            <a:r>
              <a:rPr lang="en-US" altLang="en-US" b="1" dirty="0"/>
              <a:t> a business</a:t>
            </a:r>
          </a:p>
          <a:p>
            <a:endParaRPr lang="en-US" altLang="en-US" b="1" dirty="0"/>
          </a:p>
          <a:p>
            <a:endParaRPr lang="en-US" altLang="en-US" b="1" dirty="0"/>
          </a:p>
          <a:p>
            <a:endParaRPr lang="en-US" altLang="en-US" b="1" dirty="0"/>
          </a:p>
          <a:p>
            <a:endParaRPr lang="en-US" altLang="en-US" b="1" dirty="0"/>
          </a:p>
        </p:txBody>
      </p:sp>
      <p:sp>
        <p:nvSpPr>
          <p:cNvPr id="14343" name="Rectangle 6">
            <a:extLst>
              <a:ext uri="{FF2B5EF4-FFF2-40B4-BE49-F238E27FC236}">
                <a16:creationId xmlns="" xmlns:a16="http://schemas.microsoft.com/office/drawing/2014/main" id="{68916923-C267-4AC5-A0D3-15BCAE46BECA}"/>
              </a:ext>
            </a:extLst>
          </p:cNvPr>
          <p:cNvSpPr>
            <a:spLocks noGrp="1" noChangeArrowheads="1"/>
          </p:cNvSpPr>
          <p:nvPr>
            <p:ph sz="half" idx="2"/>
          </p:nvPr>
        </p:nvSpPr>
        <p:spPr>
          <a:xfrm>
            <a:off x="6146800" y="4572000"/>
            <a:ext cx="4013200" cy="1524000"/>
          </a:xfrm>
        </p:spPr>
        <p:txBody>
          <a:bodyPr/>
          <a:lstStyle/>
          <a:p>
            <a:r>
              <a:rPr lang="en-US" altLang="en-US" b="1" dirty="0"/>
              <a:t>The Data Warehouse helps to </a:t>
            </a:r>
            <a:r>
              <a:rPr lang="en-US" altLang="en-US" b="1" i="1" dirty="0">
                <a:solidFill>
                  <a:schemeClr val="tx2"/>
                </a:solidFill>
              </a:rPr>
              <a:t>“optimize”</a:t>
            </a:r>
            <a:r>
              <a:rPr lang="en-US" altLang="en-US" b="1" dirty="0"/>
              <a:t> the business</a:t>
            </a:r>
          </a:p>
        </p:txBody>
      </p:sp>
      <p:sp>
        <p:nvSpPr>
          <p:cNvPr id="14340" name="Slide Number Placeholder 5">
            <a:extLst>
              <a:ext uri="{FF2B5EF4-FFF2-40B4-BE49-F238E27FC236}">
                <a16:creationId xmlns="" xmlns:a16="http://schemas.microsoft.com/office/drawing/2014/main" id="{15DE19DF-ED8B-439E-AB46-2AB12FBDAF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B6EF1C1F-2104-4A98-9DC1-94177731623C}" type="slidenum">
              <a:rPr lang="en-US" altLang="en-US" sz="1400">
                <a:solidFill>
                  <a:schemeClr val="tx1"/>
                </a:solidFill>
                <a:latin typeface="Arial" panose="020B0604020202020204" pitchFamily="34" charset="0"/>
              </a:rPr>
              <a:pPr/>
              <a:t>13</a:t>
            </a:fld>
            <a:endParaRPr lang="en-US" altLang="en-US" sz="1400">
              <a:solidFill>
                <a:schemeClr val="tx1"/>
              </a:solidFill>
              <a:latin typeface="Arial" panose="020B0604020202020204" pitchFamily="34" charset="0"/>
            </a:endParaRPr>
          </a:p>
        </p:txBody>
      </p:sp>
      <p:graphicFrame>
        <p:nvGraphicFramePr>
          <p:cNvPr id="14338" name="Object 5">
            <a:extLst>
              <a:ext uri="{FF2B5EF4-FFF2-40B4-BE49-F238E27FC236}">
                <a16:creationId xmlns="" xmlns:a16="http://schemas.microsoft.com/office/drawing/2014/main" id="{85BFE4B7-2B69-41D6-B714-1FF31E644AA4}"/>
              </a:ext>
            </a:extLst>
          </p:cNvPr>
          <p:cNvGraphicFramePr>
            <a:graphicFrameLocks noChangeAspect="1"/>
          </p:cNvGraphicFramePr>
          <p:nvPr>
            <p:extLst>
              <p:ext uri="{D42A27DB-BD31-4B8C-83A1-F6EECF244321}">
                <p14:modId xmlns:p14="http://schemas.microsoft.com/office/powerpoint/2010/main" val="3944855094"/>
              </p:ext>
            </p:extLst>
          </p:nvPr>
        </p:nvGraphicFramePr>
        <p:xfrm>
          <a:off x="9140483" y="1066800"/>
          <a:ext cx="1981200" cy="2971800"/>
        </p:xfrm>
        <a:graphic>
          <a:graphicData uri="http://schemas.openxmlformats.org/presentationml/2006/ole">
            <mc:AlternateContent xmlns:mc="http://schemas.openxmlformats.org/markup-compatibility/2006">
              <mc:Choice xmlns:v="urn:schemas-microsoft-com:vml" Requires="v">
                <p:oleObj spid="_x0000_s9254" name="Clip" r:id="rId3" imgW="761744" imgH="716039" progId="MS_ClipArt_Gallery.2">
                  <p:embed/>
                </p:oleObj>
              </mc:Choice>
              <mc:Fallback>
                <p:oleObj name="Clip" r:id="rId3" imgW="761744" imgH="716039" progId="MS_ClipArt_Gallery.2">
                  <p:embed/>
                  <p:pic>
                    <p:nvPicPr>
                      <p:cNvPr id="14338" name="Object 5">
                        <a:extLst>
                          <a:ext uri="{FF2B5EF4-FFF2-40B4-BE49-F238E27FC236}">
                            <a16:creationId xmlns="" xmlns:a16="http://schemas.microsoft.com/office/drawing/2014/main" id="{85BFE4B7-2B69-41D6-B714-1FF31E644A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0483" y="1066800"/>
                        <a:ext cx="1981200" cy="297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9" name="Object 8">
            <a:extLst>
              <a:ext uri="{FF2B5EF4-FFF2-40B4-BE49-F238E27FC236}">
                <a16:creationId xmlns="" xmlns:a16="http://schemas.microsoft.com/office/drawing/2014/main" id="{2F3BAC5B-AA0C-4FB5-8186-B81DCBC4C7D9}"/>
              </a:ext>
            </a:extLst>
          </p:cNvPr>
          <p:cNvGraphicFramePr>
            <a:graphicFrameLocks noChangeAspect="1"/>
          </p:cNvGraphicFramePr>
          <p:nvPr/>
        </p:nvGraphicFramePr>
        <p:xfrm>
          <a:off x="3429001" y="3429001"/>
          <a:ext cx="1014413" cy="2906713"/>
        </p:xfrm>
        <a:graphic>
          <a:graphicData uri="http://schemas.openxmlformats.org/presentationml/2006/ole">
            <mc:AlternateContent xmlns:mc="http://schemas.openxmlformats.org/markup-compatibility/2006">
              <mc:Choice xmlns:v="urn:schemas-microsoft-com:vml" Requires="v">
                <p:oleObj spid="_x0000_s9255" name="Clip" r:id="rId5" imgW="1014480" imgH="2906280" progId="MS_ClipArt_Gallery.2">
                  <p:embed/>
                </p:oleObj>
              </mc:Choice>
              <mc:Fallback>
                <p:oleObj name="Clip" r:id="rId5" imgW="1014480" imgH="2906280" progId="MS_ClipArt_Gallery.2">
                  <p:embed/>
                  <p:pic>
                    <p:nvPicPr>
                      <p:cNvPr id="14339" name="Object 8">
                        <a:extLst>
                          <a:ext uri="{FF2B5EF4-FFF2-40B4-BE49-F238E27FC236}">
                            <a16:creationId xmlns="" xmlns:a16="http://schemas.microsoft.com/office/drawing/2014/main" id="{2F3BAC5B-AA0C-4FB5-8186-B81DCBC4C7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1" y="3429001"/>
                        <a:ext cx="1014413" cy="290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a:extLst>
              <a:ext uri="{FF2B5EF4-FFF2-40B4-BE49-F238E27FC236}">
                <a16:creationId xmlns="" xmlns:a16="http://schemas.microsoft.com/office/drawing/2014/main" id="{72690064-2AD4-4C86-90C8-0D8C8F1F2A59}"/>
              </a:ext>
            </a:extLst>
          </p:cNvPr>
          <p:cNvSpPr>
            <a:spLocks noGrp="1" noChangeArrowheads="1"/>
          </p:cNvSpPr>
          <p:nvPr>
            <p:ph type="title"/>
          </p:nvPr>
        </p:nvSpPr>
        <p:spPr>
          <a:xfrm>
            <a:off x="899160" y="0"/>
            <a:ext cx="9692640" cy="1325562"/>
          </a:xfrm>
        </p:spPr>
        <p:txBody>
          <a:bodyPr>
            <a:normAutofit/>
          </a:bodyPr>
          <a:lstStyle/>
          <a:p>
            <a:pPr algn="ctr">
              <a:defRPr/>
            </a:pPr>
            <a:r>
              <a:rPr lang="en-US" b="1" dirty="0">
                <a:solidFill>
                  <a:srgbClr val="000000"/>
                </a:solidFill>
              </a:rPr>
              <a:t>OLAP Tools</a:t>
            </a:r>
          </a:p>
        </p:txBody>
      </p:sp>
      <p:sp>
        <p:nvSpPr>
          <p:cNvPr id="94211" name="Rectangle 3">
            <a:extLst>
              <a:ext uri="{FF2B5EF4-FFF2-40B4-BE49-F238E27FC236}">
                <a16:creationId xmlns="" xmlns:a16="http://schemas.microsoft.com/office/drawing/2014/main" id="{4E458F0D-E79F-4D2C-B800-E45481841DB5}"/>
              </a:ext>
            </a:extLst>
          </p:cNvPr>
          <p:cNvSpPr>
            <a:spLocks noGrp="1" noChangeArrowheads="1"/>
          </p:cNvSpPr>
          <p:nvPr>
            <p:ph idx="1"/>
          </p:nvPr>
        </p:nvSpPr>
        <p:spPr/>
        <p:txBody>
          <a:bodyPr>
            <a:normAutofit lnSpcReduction="10000"/>
          </a:bodyPr>
          <a:lstStyle/>
          <a:p>
            <a:r>
              <a:rPr lang="en-US" sz="2000" dirty="0"/>
              <a:t>Short for Online Analytical Processing, a category of software tools that provides analysis of data stored in a </a:t>
            </a:r>
            <a:r>
              <a:rPr lang="en-US" sz="2000" b="1" dirty="0"/>
              <a:t>database</a:t>
            </a:r>
            <a:r>
              <a:rPr lang="en-US" sz="2000" dirty="0" smtClean="0"/>
              <a:t>.</a:t>
            </a:r>
          </a:p>
          <a:p>
            <a:r>
              <a:rPr lang="en-US" sz="2000" dirty="0"/>
              <a:t> </a:t>
            </a:r>
            <a:r>
              <a:rPr lang="en-US" sz="2000" b="1" dirty="0"/>
              <a:t>OLAP</a:t>
            </a:r>
            <a:r>
              <a:rPr lang="en-US" sz="2000" dirty="0"/>
              <a:t> tools enable users to analyze different dimensions of multidimensional data. </a:t>
            </a:r>
            <a:endParaRPr lang="en-US" sz="2000" dirty="0" smtClean="0"/>
          </a:p>
          <a:p>
            <a:pPr lvl="1"/>
            <a:r>
              <a:rPr lang="en-US" i="1" dirty="0" smtClean="0"/>
              <a:t>For </a:t>
            </a:r>
            <a:r>
              <a:rPr lang="en-US" i="1" dirty="0"/>
              <a:t>example, it provides time series and trend analysis views. </a:t>
            </a:r>
            <a:r>
              <a:rPr lang="en-US" i="1" dirty="0" smtClean="0"/>
              <a:t/>
            </a:r>
            <a:br>
              <a:rPr lang="en-US" i="1" dirty="0" smtClean="0"/>
            </a:br>
            <a:endParaRPr lang="en-US" i="1" dirty="0" smtClean="0"/>
          </a:p>
          <a:p>
            <a:pPr eaLnBrk="1" hangingPunct="1"/>
            <a:r>
              <a:rPr lang="en-US" altLang="en-US" sz="2000" b="1" dirty="0" smtClean="0">
                <a:solidFill>
                  <a:srgbClr val="C00000"/>
                </a:solidFill>
              </a:rPr>
              <a:t>Multi-dimensional </a:t>
            </a:r>
            <a:r>
              <a:rPr lang="en-US" altLang="en-US" sz="2000" b="1" dirty="0">
                <a:solidFill>
                  <a:srgbClr val="C00000"/>
                </a:solidFill>
              </a:rPr>
              <a:t>OLAP (MOLAP)</a:t>
            </a:r>
          </a:p>
          <a:p>
            <a:pPr eaLnBrk="1" hangingPunct="1"/>
            <a:r>
              <a:rPr lang="en-US" altLang="en-US" sz="2000" b="1" dirty="0" smtClean="0">
                <a:solidFill>
                  <a:srgbClr val="00B050"/>
                </a:solidFill>
              </a:rPr>
              <a:t>Relational </a:t>
            </a:r>
            <a:r>
              <a:rPr lang="en-US" altLang="en-US" sz="2000" b="1" dirty="0">
                <a:solidFill>
                  <a:srgbClr val="00B050"/>
                </a:solidFill>
              </a:rPr>
              <a:t>OLAP (ROLAP)</a:t>
            </a:r>
          </a:p>
          <a:p>
            <a:pPr lvl="1" eaLnBrk="1" hangingPunct="1"/>
            <a:r>
              <a:rPr lang="en-US" altLang="en-US" sz="1800" dirty="0"/>
              <a:t>Creation of multiple multi-dimensional views of the two-dimensional relations</a:t>
            </a:r>
          </a:p>
          <a:p>
            <a:pPr eaLnBrk="1" hangingPunct="1"/>
            <a:r>
              <a:rPr lang="en-US" altLang="en-US" sz="2000" b="1" dirty="0" smtClean="0">
                <a:solidFill>
                  <a:srgbClr val="FF0000"/>
                </a:solidFill>
              </a:rPr>
              <a:t>Hybrid OLAP (HOLAP)</a:t>
            </a:r>
            <a:endParaRPr lang="en-US" altLang="en-US" sz="2000" b="1" dirty="0">
              <a:solidFill>
                <a:srgbClr val="FF0000"/>
              </a:solidFill>
            </a:endParaRPr>
          </a:p>
          <a:p>
            <a:pPr lvl="1"/>
            <a:r>
              <a:rPr lang="en-US" sz="1800" dirty="0"/>
              <a:t>HOLAP technologies attempt to combine the advantages of MOLAP and </a:t>
            </a:r>
            <a:r>
              <a:rPr lang="en-US" sz="1800" dirty="0" smtClean="0"/>
              <a:t>ROLAP</a:t>
            </a:r>
            <a:endParaRPr lang="en-US" altLang="en-US" sz="1800" dirty="0"/>
          </a:p>
        </p:txBody>
      </p:sp>
      <p:sp>
        <p:nvSpPr>
          <p:cNvPr id="94212" name="Slide Number Placeholder 3">
            <a:extLst>
              <a:ext uri="{FF2B5EF4-FFF2-40B4-BE49-F238E27FC236}">
                <a16:creationId xmlns="" xmlns:a16="http://schemas.microsoft.com/office/drawing/2014/main" id="{A32E007F-214F-48E9-BEFA-BC13B36E1BD4}"/>
              </a:ext>
            </a:extLst>
          </p:cNvPr>
          <p:cNvSpPr>
            <a:spLocks noGrp="1"/>
          </p:cNvSpPr>
          <p:nvPr>
            <p:ph type="sldNum" sz="quarter" idx="12"/>
          </p:nvPr>
        </p:nvSpPr>
        <p:spPr>
          <a:xfrm>
            <a:off x="10134600" y="6416676"/>
            <a:ext cx="457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10B10FAA-7D4D-427F-8AC2-CD62B469ECCC}" type="slidenum">
              <a:rPr lang="en-US" altLang="en-US" sz="1400">
                <a:solidFill>
                  <a:schemeClr val="tx1"/>
                </a:solidFill>
                <a:latin typeface="Arial" panose="020B0604020202020204" pitchFamily="34" charset="0"/>
              </a:rPr>
              <a:pPr/>
              <a:t>14</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66B827-54A9-4BC9-AC83-2F8C32810515}"/>
              </a:ext>
            </a:extLst>
          </p:cNvPr>
          <p:cNvSpPr>
            <a:spLocks noGrp="1"/>
          </p:cNvSpPr>
          <p:nvPr>
            <p:ph type="title"/>
          </p:nvPr>
        </p:nvSpPr>
        <p:spPr>
          <a:xfrm>
            <a:off x="-1706411" y="-88900"/>
            <a:ext cx="9692640" cy="1325562"/>
          </a:xfrm>
        </p:spPr>
        <p:txBody>
          <a:bodyPr/>
          <a:lstStyle/>
          <a:p>
            <a:pPr algn="ctr"/>
            <a:r>
              <a:rPr lang="en-GB" altLang="en-US" b="1" dirty="0">
                <a:solidFill>
                  <a:srgbClr val="000000"/>
                </a:solidFill>
              </a:rPr>
              <a:t>Data Cubes</a:t>
            </a:r>
            <a:endParaRPr lang="en-US" dirty="0"/>
          </a:p>
        </p:txBody>
      </p:sp>
      <p:sp>
        <p:nvSpPr>
          <p:cNvPr id="3" name="Content Placeholder 2">
            <a:extLst>
              <a:ext uri="{FF2B5EF4-FFF2-40B4-BE49-F238E27FC236}">
                <a16:creationId xmlns="" xmlns:a16="http://schemas.microsoft.com/office/drawing/2014/main" id="{2530448F-DCC0-4F21-9142-A94180C07E35}"/>
              </a:ext>
            </a:extLst>
          </p:cNvPr>
          <p:cNvSpPr>
            <a:spLocks noGrp="1"/>
          </p:cNvSpPr>
          <p:nvPr>
            <p:ph idx="1"/>
          </p:nvPr>
        </p:nvSpPr>
        <p:spPr>
          <a:xfrm>
            <a:off x="196948" y="1716106"/>
            <a:ext cx="6119446" cy="4351337"/>
          </a:xfrm>
        </p:spPr>
        <p:txBody>
          <a:bodyPr>
            <a:noAutofit/>
          </a:bodyPr>
          <a:lstStyle/>
          <a:p>
            <a:pPr lvl="1">
              <a:lnSpc>
                <a:spcPct val="124000"/>
              </a:lnSpc>
              <a:buSzPct val="75000"/>
            </a:pPr>
            <a:r>
              <a:rPr lang="en-GB" altLang="en-US" sz="2400" dirty="0">
                <a:solidFill>
                  <a:srgbClr val="000000"/>
                </a:solidFill>
                <a:latin typeface="Arial" panose="020B0604020202020204" pitchFamily="34" charset="0"/>
              </a:rPr>
              <a:t>Data is normally Multi-Dimensional</a:t>
            </a:r>
            <a:r>
              <a:rPr lang="en-GB" altLang="en-US" sz="2400" dirty="0" smtClean="0">
                <a:solidFill>
                  <a:srgbClr val="000000"/>
                </a:solidFill>
                <a:latin typeface="Arial" panose="020B0604020202020204" pitchFamily="34" charset="0"/>
              </a:rPr>
              <a:t>, </a:t>
            </a:r>
            <a:r>
              <a:rPr lang="en-GB" altLang="en-US" sz="2400" dirty="0">
                <a:solidFill>
                  <a:srgbClr val="000000"/>
                </a:solidFill>
                <a:latin typeface="Arial" panose="020B0604020202020204" pitchFamily="34" charset="0"/>
              </a:rPr>
              <a:t>and can be thought of as a cube.</a:t>
            </a:r>
          </a:p>
          <a:p>
            <a:pPr lvl="1">
              <a:buSzPct val="75000"/>
              <a:buNone/>
            </a:pPr>
            <a:endParaRPr lang="en-GB" altLang="en-US" sz="2400" dirty="0">
              <a:solidFill>
                <a:srgbClr val="000000"/>
              </a:solidFill>
            </a:endParaRPr>
          </a:p>
          <a:p>
            <a:pPr lvl="1">
              <a:buSzPct val="75000"/>
            </a:pPr>
            <a:r>
              <a:rPr lang="en-GB" altLang="en-US" sz="2400" dirty="0">
                <a:solidFill>
                  <a:srgbClr val="000000"/>
                </a:solidFill>
              </a:rPr>
              <a:t>Often: 3 dimensions of time, </a:t>
            </a:r>
            <a:r>
              <a:rPr lang="en-GB" altLang="en-US" sz="2400" dirty="0" smtClean="0">
                <a:solidFill>
                  <a:srgbClr val="000000"/>
                </a:solidFill>
              </a:rPr>
              <a:t>location </a:t>
            </a:r>
            <a:r>
              <a:rPr lang="en-GB" altLang="en-US" sz="2400" dirty="0">
                <a:solidFill>
                  <a:srgbClr val="000000"/>
                </a:solidFill>
              </a:rPr>
              <a:t>and product.</a:t>
            </a:r>
          </a:p>
          <a:p>
            <a:pPr lvl="1">
              <a:buSzPct val="75000"/>
              <a:buNone/>
            </a:pPr>
            <a:endParaRPr lang="en-GB" altLang="en-US" sz="2400" dirty="0">
              <a:solidFill>
                <a:srgbClr val="000000"/>
              </a:solidFill>
            </a:endParaRPr>
          </a:p>
        </p:txBody>
      </p:sp>
      <p:sp>
        <p:nvSpPr>
          <p:cNvPr id="5" name="Slide Number Placeholder 4">
            <a:extLst>
              <a:ext uri="{FF2B5EF4-FFF2-40B4-BE49-F238E27FC236}">
                <a16:creationId xmlns="" xmlns:a16="http://schemas.microsoft.com/office/drawing/2014/main" id="{96A95314-0D6C-4633-B4E2-36321AF3D640}"/>
              </a:ext>
            </a:extLst>
          </p:cNvPr>
          <p:cNvSpPr>
            <a:spLocks noGrp="1"/>
          </p:cNvSpPr>
          <p:nvPr>
            <p:ph type="sldNum" sz="quarter" idx="12"/>
          </p:nvPr>
        </p:nvSpPr>
        <p:spPr/>
        <p:txBody>
          <a:bodyPr>
            <a:normAutofit lnSpcReduction="10000"/>
          </a:bodyPr>
          <a:lstStyle/>
          <a:p>
            <a:fld id="{B3A56E86-3D7C-4541-92E7-267EC584995E}" type="slidenum">
              <a:rPr lang="en-US" smtClean="0"/>
              <a:t>15</a:t>
            </a:fld>
            <a:endParaRPr lang="en-US"/>
          </a:p>
        </p:txBody>
      </p:sp>
      <p:pic>
        <p:nvPicPr>
          <p:cNvPr id="4" name="Picture 10">
            <a:extLst>
              <a:ext uri="{FF2B5EF4-FFF2-40B4-BE49-F238E27FC236}">
                <a16:creationId xmlns="" xmlns:a16="http://schemas.microsoft.com/office/drawing/2014/main" id="{90FE47D5-F39F-42CE-8DFC-285F9630AF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9274" y="411721"/>
            <a:ext cx="4610686" cy="5907651"/>
          </a:xfrm>
          <a:prstGeom prst="rect">
            <a:avLst/>
          </a:prstGeom>
          <a:noFill/>
          <a:ln w="18360">
            <a:solidFill>
              <a:srgbClr val="808080"/>
            </a:solidFill>
            <a:round/>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6658823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F07A82-EBBB-4A4E-B611-750B601E207F}"/>
              </a:ext>
            </a:extLst>
          </p:cNvPr>
          <p:cNvSpPr>
            <a:spLocks noGrp="1"/>
          </p:cNvSpPr>
          <p:nvPr>
            <p:ph type="title"/>
          </p:nvPr>
        </p:nvSpPr>
        <p:spPr>
          <a:xfrm>
            <a:off x="882044" y="0"/>
            <a:ext cx="9692640" cy="1325562"/>
          </a:xfrm>
        </p:spPr>
        <p:txBody>
          <a:bodyPr/>
          <a:lstStyle/>
          <a:p>
            <a:pPr algn="ctr"/>
            <a:r>
              <a:rPr lang="en-GB" altLang="en-US" b="1" dirty="0">
                <a:solidFill>
                  <a:srgbClr val="000000"/>
                </a:solidFill>
              </a:rPr>
              <a:t>Data Cube Operations</a:t>
            </a:r>
            <a:endParaRPr lang="en-US" dirty="0"/>
          </a:p>
        </p:txBody>
      </p:sp>
      <p:sp>
        <p:nvSpPr>
          <p:cNvPr id="3" name="Content Placeholder 2">
            <a:extLst>
              <a:ext uri="{FF2B5EF4-FFF2-40B4-BE49-F238E27FC236}">
                <a16:creationId xmlns="" xmlns:a16="http://schemas.microsoft.com/office/drawing/2014/main" id="{2B685447-E076-40CD-8421-5B6E1E574ECC}"/>
              </a:ext>
            </a:extLst>
          </p:cNvPr>
          <p:cNvSpPr>
            <a:spLocks noGrp="1"/>
          </p:cNvSpPr>
          <p:nvPr>
            <p:ph idx="1"/>
          </p:nvPr>
        </p:nvSpPr>
        <p:spPr/>
        <p:txBody>
          <a:bodyPr>
            <a:normAutofit/>
          </a:bodyPr>
          <a:lstStyle/>
          <a:p>
            <a:pPr lvl="1">
              <a:lnSpc>
                <a:spcPct val="150000"/>
              </a:lnSpc>
              <a:buSzPct val="75000"/>
              <a:buFont typeface="Symbol" panose="05050102010706020507" pitchFamily="18" charset="2"/>
              <a:buChar char=""/>
            </a:pPr>
            <a:r>
              <a:rPr lang="en-GB" altLang="en-US" sz="1800" b="1" dirty="0">
                <a:solidFill>
                  <a:srgbClr val="000000"/>
                </a:solidFill>
                <a:latin typeface="Arial" panose="020B0604020202020204" pitchFamily="34" charset="0"/>
                <a:cs typeface="Arial" panose="020B0604020202020204" pitchFamily="34" charset="0"/>
              </a:rPr>
              <a:t>Roll Up:</a:t>
            </a:r>
            <a:r>
              <a:rPr lang="en-GB" altLang="en-US" sz="1800" dirty="0">
                <a:solidFill>
                  <a:srgbClr val="000000"/>
                </a:solidFill>
                <a:latin typeface="Arial" panose="020B0604020202020204" pitchFamily="34" charset="0"/>
                <a:cs typeface="Arial" panose="020B0604020202020204" pitchFamily="34" charset="0"/>
              </a:rPr>
              <a:t>   Summarise data by climbing up hierarchy.</a:t>
            </a:r>
            <a:br>
              <a:rPr lang="en-GB" altLang="en-US" sz="1800" dirty="0">
                <a:solidFill>
                  <a:srgbClr val="000000"/>
                </a:solidFill>
                <a:latin typeface="Arial" panose="020B0604020202020204" pitchFamily="34" charset="0"/>
                <a:cs typeface="Arial" panose="020B0604020202020204" pitchFamily="34" charset="0"/>
              </a:rPr>
            </a:br>
            <a:r>
              <a:rPr lang="en-GB" altLang="en-US" sz="1800" dirty="0">
                <a:solidFill>
                  <a:srgbClr val="000000"/>
                </a:solidFill>
                <a:latin typeface="Arial" panose="020B0604020202020204" pitchFamily="34" charset="0"/>
                <a:cs typeface="Arial" panose="020B0604020202020204" pitchFamily="34" charset="0"/>
              </a:rPr>
              <a:t>		</a:t>
            </a:r>
            <a:r>
              <a:rPr lang="en-GB" altLang="en-US" sz="1800" i="1" dirty="0" err="1">
                <a:solidFill>
                  <a:srgbClr val="000000"/>
                </a:solidFill>
                <a:latin typeface="Arial" panose="020B0604020202020204" pitchFamily="34" charset="0"/>
                <a:cs typeface="Arial" panose="020B0604020202020204" pitchFamily="34" charset="0"/>
              </a:rPr>
              <a:t>Eg.</a:t>
            </a:r>
            <a:r>
              <a:rPr lang="en-GB" altLang="en-US" sz="1800" i="1" dirty="0">
                <a:solidFill>
                  <a:srgbClr val="000000"/>
                </a:solidFill>
                <a:latin typeface="Arial" panose="020B0604020202020204" pitchFamily="34" charset="0"/>
                <a:cs typeface="Arial" panose="020B0604020202020204" pitchFamily="34" charset="0"/>
              </a:rPr>
              <a:t> From monthly to quarterly, from Liverpool to England</a:t>
            </a:r>
          </a:p>
          <a:p>
            <a:pPr lvl="1">
              <a:lnSpc>
                <a:spcPct val="150000"/>
              </a:lnSpc>
              <a:buSzPct val="75000"/>
              <a:buFont typeface="Symbol" panose="05050102010706020507" pitchFamily="18" charset="2"/>
              <a:buChar char=""/>
            </a:pPr>
            <a:r>
              <a:rPr lang="en-GB" altLang="en-US" sz="1800" b="1" dirty="0">
                <a:solidFill>
                  <a:srgbClr val="000000"/>
                </a:solidFill>
                <a:latin typeface="Arial" panose="020B0604020202020204" pitchFamily="34" charset="0"/>
                <a:cs typeface="Arial" panose="020B0604020202020204" pitchFamily="34" charset="0"/>
              </a:rPr>
              <a:t>Drill Down:</a:t>
            </a:r>
            <a:r>
              <a:rPr lang="en-GB" altLang="en-US" sz="1800" dirty="0">
                <a:solidFill>
                  <a:srgbClr val="000000"/>
                </a:solidFill>
                <a:latin typeface="Arial" panose="020B0604020202020204" pitchFamily="34" charset="0"/>
                <a:cs typeface="Arial" panose="020B0604020202020204" pitchFamily="34" charset="0"/>
              </a:rPr>
              <a:t>  Opposite of Roll Up</a:t>
            </a:r>
            <a:br>
              <a:rPr lang="en-GB" altLang="en-US" sz="1800" dirty="0">
                <a:solidFill>
                  <a:srgbClr val="000000"/>
                </a:solidFill>
                <a:latin typeface="Arial" panose="020B0604020202020204" pitchFamily="34" charset="0"/>
                <a:cs typeface="Arial" panose="020B0604020202020204" pitchFamily="34" charset="0"/>
              </a:rPr>
            </a:br>
            <a:r>
              <a:rPr lang="en-GB" altLang="en-US" sz="1800" dirty="0">
                <a:solidFill>
                  <a:srgbClr val="000000"/>
                </a:solidFill>
                <a:latin typeface="Arial" panose="020B0604020202020204" pitchFamily="34" charset="0"/>
                <a:cs typeface="Arial" panose="020B0604020202020204" pitchFamily="34" charset="0"/>
              </a:rPr>
              <a:t>		</a:t>
            </a:r>
            <a:r>
              <a:rPr lang="en-GB" altLang="en-US" sz="1800" i="1" dirty="0" err="1">
                <a:solidFill>
                  <a:srgbClr val="000000"/>
                </a:solidFill>
                <a:latin typeface="Arial" panose="020B0604020202020204" pitchFamily="34" charset="0"/>
                <a:cs typeface="Arial" panose="020B0604020202020204" pitchFamily="34" charset="0"/>
              </a:rPr>
              <a:t>Eg.</a:t>
            </a:r>
            <a:r>
              <a:rPr lang="en-GB" altLang="en-US" sz="1800" i="1" dirty="0">
                <a:solidFill>
                  <a:srgbClr val="000000"/>
                </a:solidFill>
                <a:latin typeface="Arial" panose="020B0604020202020204" pitchFamily="34" charset="0"/>
                <a:cs typeface="Arial" panose="020B0604020202020204" pitchFamily="34" charset="0"/>
              </a:rPr>
              <a:t> From computer to </a:t>
            </a:r>
            <a:r>
              <a:rPr lang="en-GB" altLang="en-US" sz="1800" i="1" dirty="0" smtClean="0">
                <a:solidFill>
                  <a:srgbClr val="000000"/>
                </a:solidFill>
                <a:latin typeface="Arial" panose="020B0604020202020204" pitchFamily="34" charset="0"/>
                <a:cs typeface="Arial" panose="020B0604020202020204" pitchFamily="34" charset="0"/>
              </a:rPr>
              <a:t>laptop</a:t>
            </a:r>
          </a:p>
          <a:p>
            <a:pPr lvl="1">
              <a:lnSpc>
                <a:spcPct val="150000"/>
              </a:lnSpc>
              <a:buSzPct val="75000"/>
              <a:buFont typeface="Symbol" panose="05050102010706020507" pitchFamily="18" charset="2"/>
              <a:buChar char=""/>
            </a:pPr>
            <a:r>
              <a:rPr lang="en-GB" altLang="en-US" sz="1800" b="1" dirty="0" smtClean="0">
                <a:solidFill>
                  <a:srgbClr val="000000"/>
                </a:solidFill>
                <a:latin typeface="Arial" panose="020B0604020202020204" pitchFamily="34" charset="0"/>
                <a:cs typeface="Arial" panose="020B0604020202020204" pitchFamily="34" charset="0"/>
              </a:rPr>
              <a:t>Slice</a:t>
            </a:r>
            <a:r>
              <a:rPr lang="en-GB" altLang="en-US" sz="1800" b="1" dirty="0">
                <a:solidFill>
                  <a:srgbClr val="000000"/>
                </a:solidFill>
                <a:latin typeface="Arial" panose="020B0604020202020204" pitchFamily="34" charset="0"/>
                <a:cs typeface="Arial" panose="020B0604020202020204" pitchFamily="34" charset="0"/>
              </a:rPr>
              <a:t>:</a:t>
            </a:r>
            <a:r>
              <a:rPr lang="en-GB" altLang="en-US" sz="1800" dirty="0">
                <a:solidFill>
                  <a:srgbClr val="000000"/>
                </a:solidFill>
                <a:latin typeface="Arial" panose="020B0604020202020204" pitchFamily="34" charset="0"/>
                <a:cs typeface="Arial" panose="020B0604020202020204" pitchFamily="34" charset="0"/>
              </a:rPr>
              <a:t>  Remove a dimension by setting a value for it</a:t>
            </a:r>
            <a:br>
              <a:rPr lang="en-GB" altLang="en-US" sz="1800" dirty="0">
                <a:solidFill>
                  <a:srgbClr val="000000"/>
                </a:solidFill>
                <a:latin typeface="Arial" panose="020B0604020202020204" pitchFamily="34" charset="0"/>
                <a:cs typeface="Arial" panose="020B0604020202020204" pitchFamily="34" charset="0"/>
              </a:rPr>
            </a:br>
            <a:r>
              <a:rPr lang="en-GB" altLang="en-US" sz="1800" dirty="0">
                <a:solidFill>
                  <a:srgbClr val="000000"/>
                </a:solidFill>
                <a:latin typeface="Arial" panose="020B0604020202020204" pitchFamily="34" charset="0"/>
                <a:cs typeface="Arial" panose="020B0604020202020204" pitchFamily="34" charset="0"/>
              </a:rPr>
              <a:t>		</a:t>
            </a:r>
            <a:r>
              <a:rPr lang="en-GB" altLang="en-US" sz="1800" i="1" dirty="0" err="1">
                <a:solidFill>
                  <a:srgbClr val="000000"/>
                </a:solidFill>
                <a:latin typeface="Arial" panose="020B0604020202020204" pitchFamily="34" charset="0"/>
                <a:cs typeface="Arial" panose="020B0604020202020204" pitchFamily="34" charset="0"/>
              </a:rPr>
              <a:t>Eg</a:t>
            </a:r>
            <a:r>
              <a:rPr lang="en-GB" altLang="en-US" sz="1800" i="1" dirty="0">
                <a:solidFill>
                  <a:srgbClr val="000000"/>
                </a:solidFill>
                <a:latin typeface="Arial" panose="020B0604020202020204" pitchFamily="34" charset="0"/>
                <a:cs typeface="Arial" panose="020B0604020202020204" pitchFamily="34" charset="0"/>
              </a:rPr>
              <a:t>. location/product where time is Q1,2007</a:t>
            </a:r>
          </a:p>
          <a:p>
            <a:pPr lvl="1">
              <a:lnSpc>
                <a:spcPct val="150000"/>
              </a:lnSpc>
              <a:buSzPct val="75000"/>
              <a:buFont typeface="Symbol" panose="05050102010706020507" pitchFamily="18" charset="2"/>
              <a:buChar char=""/>
            </a:pPr>
            <a:r>
              <a:rPr lang="en-GB" altLang="en-US" sz="1800" b="1" dirty="0">
                <a:solidFill>
                  <a:srgbClr val="000000"/>
                </a:solidFill>
                <a:latin typeface="Arial" panose="020B0604020202020204" pitchFamily="34" charset="0"/>
                <a:cs typeface="Arial" panose="020B0604020202020204" pitchFamily="34" charset="0"/>
              </a:rPr>
              <a:t>Dice:</a:t>
            </a:r>
            <a:r>
              <a:rPr lang="en-GB" altLang="en-US" sz="1800" dirty="0">
                <a:solidFill>
                  <a:srgbClr val="000000"/>
                </a:solidFill>
                <a:latin typeface="Arial" panose="020B0604020202020204" pitchFamily="34" charset="0"/>
                <a:cs typeface="Arial" panose="020B0604020202020204" pitchFamily="34" charset="0"/>
              </a:rPr>
              <a:t>  Restrict cube by setting values for multiple dimensions</a:t>
            </a:r>
            <a:br>
              <a:rPr lang="en-GB" altLang="en-US" sz="1800" dirty="0">
                <a:solidFill>
                  <a:srgbClr val="000000"/>
                </a:solidFill>
                <a:latin typeface="Arial" panose="020B0604020202020204" pitchFamily="34" charset="0"/>
                <a:cs typeface="Arial" panose="020B0604020202020204" pitchFamily="34" charset="0"/>
              </a:rPr>
            </a:br>
            <a:r>
              <a:rPr lang="en-GB" altLang="en-US" sz="1800" dirty="0">
                <a:solidFill>
                  <a:srgbClr val="000000"/>
                </a:solidFill>
                <a:latin typeface="Arial" panose="020B0604020202020204" pitchFamily="34" charset="0"/>
                <a:cs typeface="Arial" panose="020B0604020202020204" pitchFamily="34" charset="0"/>
              </a:rPr>
              <a:t>		</a:t>
            </a:r>
            <a:r>
              <a:rPr lang="en-GB" altLang="en-US" sz="1800" i="1" dirty="0" err="1">
                <a:solidFill>
                  <a:srgbClr val="000000"/>
                </a:solidFill>
                <a:latin typeface="Arial" panose="020B0604020202020204" pitchFamily="34" charset="0"/>
                <a:cs typeface="Arial" panose="020B0604020202020204" pitchFamily="34" charset="0"/>
              </a:rPr>
              <a:t>Eg.</a:t>
            </a:r>
            <a:r>
              <a:rPr lang="en-GB" altLang="en-US" sz="1800" i="1" dirty="0">
                <a:solidFill>
                  <a:srgbClr val="000000"/>
                </a:solidFill>
                <a:latin typeface="Arial" panose="020B0604020202020204" pitchFamily="34" charset="0"/>
                <a:cs typeface="Arial" panose="020B0604020202020204" pitchFamily="34" charset="0"/>
              </a:rPr>
              <a:t> Q1,Q2 / North American cities / 3 products  sub cube</a:t>
            </a:r>
          </a:p>
          <a:p>
            <a:pPr lvl="1">
              <a:lnSpc>
                <a:spcPct val="150000"/>
              </a:lnSpc>
              <a:buSzPct val="75000"/>
              <a:buFont typeface="Symbol" panose="05050102010706020507" pitchFamily="18" charset="2"/>
              <a:buChar char=""/>
            </a:pPr>
            <a:r>
              <a:rPr lang="en-GB" altLang="en-US" sz="1800" b="1" dirty="0">
                <a:solidFill>
                  <a:srgbClr val="000000"/>
                </a:solidFill>
                <a:latin typeface="Arial" panose="020B0604020202020204" pitchFamily="34" charset="0"/>
                <a:cs typeface="Arial" panose="020B0604020202020204" pitchFamily="34" charset="0"/>
              </a:rPr>
              <a:t>Pivot:</a:t>
            </a:r>
            <a:r>
              <a:rPr lang="en-GB" altLang="en-US" sz="1800" dirty="0">
                <a:solidFill>
                  <a:srgbClr val="000000"/>
                </a:solidFill>
                <a:latin typeface="Arial" panose="020B0604020202020204" pitchFamily="34" charset="0"/>
                <a:cs typeface="Arial" panose="020B0604020202020204" pitchFamily="34" charset="0"/>
              </a:rPr>
              <a:t>  Rotate the cube (mostly for visualisation</a:t>
            </a:r>
            <a:r>
              <a:rPr lang="en-GB" altLang="en-US" sz="1800" dirty="0" smtClean="0">
                <a:solidFill>
                  <a:srgbClr val="000000"/>
                </a:solidFill>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 xmlns:a16="http://schemas.microsoft.com/office/drawing/2014/main" id="{09535EA3-807A-425C-B856-0FFC3E3C706A}"/>
              </a:ext>
            </a:extLst>
          </p:cNvPr>
          <p:cNvSpPr>
            <a:spLocks noGrp="1"/>
          </p:cNvSpPr>
          <p:nvPr>
            <p:ph type="sldNum" sz="quarter" idx="12"/>
          </p:nvPr>
        </p:nvSpPr>
        <p:spPr/>
        <p:txBody>
          <a:bodyPr>
            <a:normAutofit lnSpcReduction="10000"/>
          </a:bodyPr>
          <a:lstStyle/>
          <a:p>
            <a:fld id="{B3A56E86-3D7C-4541-92E7-267EC584995E}" type="slidenum">
              <a:rPr lang="en-US" smtClean="0"/>
              <a:t>16</a:t>
            </a:fld>
            <a:endParaRPr lang="en-US"/>
          </a:p>
        </p:txBody>
      </p:sp>
    </p:spTree>
    <p:extLst>
      <p:ext uri="{BB962C8B-B14F-4D97-AF65-F5344CB8AC3E}">
        <p14:creationId xmlns:p14="http://schemas.microsoft.com/office/powerpoint/2010/main" val="17459978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 xmlns:a16="http://schemas.microsoft.com/office/drawing/2014/main" id="{2D065816-3AF1-40C4-9DAD-CB3A7F4E34DF}"/>
              </a:ext>
            </a:extLst>
          </p:cNvPr>
          <p:cNvSpPr>
            <a:spLocks noGrp="1" noChangeArrowheads="1"/>
          </p:cNvSpPr>
          <p:nvPr>
            <p:ph type="title"/>
          </p:nvPr>
        </p:nvSpPr>
        <p:spPr>
          <a:xfrm>
            <a:off x="1261872" y="0"/>
            <a:ext cx="9692640" cy="1325562"/>
          </a:xfrm>
        </p:spPr>
        <p:txBody>
          <a:bodyPr/>
          <a:lstStyle/>
          <a:p>
            <a:pPr algn="ctr" eaLnBrk="1" hangingPunct="1"/>
            <a:r>
              <a:rPr lang="en-US" altLang="en-US" dirty="0"/>
              <a:t>Data Mining Definition</a:t>
            </a:r>
          </a:p>
        </p:txBody>
      </p:sp>
      <p:sp>
        <p:nvSpPr>
          <p:cNvPr id="37892" name="Rectangle 3">
            <a:extLst>
              <a:ext uri="{FF2B5EF4-FFF2-40B4-BE49-F238E27FC236}">
                <a16:creationId xmlns="" xmlns:a16="http://schemas.microsoft.com/office/drawing/2014/main" id="{CFA06774-0CE0-44AB-B382-D8492F5648A0}"/>
              </a:ext>
            </a:extLst>
          </p:cNvPr>
          <p:cNvSpPr>
            <a:spLocks noGrp="1" noChangeArrowheads="1"/>
          </p:cNvSpPr>
          <p:nvPr>
            <p:ph idx="1"/>
          </p:nvPr>
        </p:nvSpPr>
        <p:spPr/>
        <p:txBody>
          <a:bodyPr>
            <a:normAutofit/>
          </a:bodyPr>
          <a:lstStyle/>
          <a:p>
            <a:pPr eaLnBrk="1" hangingPunct="1"/>
            <a:r>
              <a:rPr lang="en-US" altLang="en-US" sz="2800" dirty="0"/>
              <a:t>Finding hidden information in a database</a:t>
            </a:r>
          </a:p>
          <a:p>
            <a:pPr eaLnBrk="1" hangingPunct="1"/>
            <a:r>
              <a:rPr lang="en-US" altLang="en-US" sz="2800" dirty="0" smtClean="0"/>
              <a:t>Similar </a:t>
            </a:r>
            <a:r>
              <a:rPr lang="en-US" altLang="en-US" sz="2800" dirty="0"/>
              <a:t>terms</a:t>
            </a:r>
          </a:p>
          <a:p>
            <a:pPr lvl="1" eaLnBrk="1" hangingPunct="1"/>
            <a:r>
              <a:rPr lang="en-US" altLang="en-US" sz="2400" dirty="0"/>
              <a:t>Exploratory data analysis</a:t>
            </a:r>
          </a:p>
          <a:p>
            <a:pPr lvl="1" eaLnBrk="1" hangingPunct="1"/>
            <a:r>
              <a:rPr lang="en-US" altLang="en-US" sz="2400" dirty="0"/>
              <a:t>Data driven discovery</a:t>
            </a:r>
          </a:p>
          <a:p>
            <a:pPr lvl="1" eaLnBrk="1" hangingPunct="1"/>
            <a:r>
              <a:rPr lang="en-US" altLang="en-US" sz="2400" dirty="0"/>
              <a:t>Deductive learning</a:t>
            </a:r>
          </a:p>
        </p:txBody>
      </p:sp>
      <p:sp>
        <p:nvSpPr>
          <p:cNvPr id="37890" name="Slide Number Placeholder 4">
            <a:extLst>
              <a:ext uri="{FF2B5EF4-FFF2-40B4-BE49-F238E27FC236}">
                <a16:creationId xmlns="" xmlns:a16="http://schemas.microsoft.com/office/drawing/2014/main" id="{8F4A70EA-F314-41DA-BF5F-3389155F99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73B7FB99-2ACC-4C92-9160-3761EFB06F0B}" type="slidenum">
              <a:rPr lang="en-US" altLang="en-US" sz="1400">
                <a:solidFill>
                  <a:schemeClr val="tx1"/>
                </a:solidFill>
                <a:latin typeface="Arial" panose="020B0604020202020204" pitchFamily="34" charset="0"/>
              </a:rPr>
              <a:pPr/>
              <a:t>17</a:t>
            </a:fld>
            <a:endParaRPr lang="en-US" altLang="en-US" sz="1400">
              <a:solidFill>
                <a:schemeClr val="tx1"/>
              </a:solidFill>
              <a:latin typeface="Arial" panose="020B0604020202020204" pitchFamily="34" charset="0"/>
            </a:endParaRPr>
          </a:p>
        </p:txBody>
      </p:sp>
      <p:grpSp>
        <p:nvGrpSpPr>
          <p:cNvPr id="5" name="Group 6">
            <a:extLst>
              <a:ext uri="{FF2B5EF4-FFF2-40B4-BE49-F238E27FC236}">
                <a16:creationId xmlns="" xmlns:a16="http://schemas.microsoft.com/office/drawing/2014/main" id="{8A16D443-13DF-4795-8047-E50DEDD1A97F}"/>
              </a:ext>
            </a:extLst>
          </p:cNvPr>
          <p:cNvGrpSpPr>
            <a:grpSpLocks/>
          </p:cNvGrpSpPr>
          <p:nvPr/>
        </p:nvGrpSpPr>
        <p:grpSpPr bwMode="auto">
          <a:xfrm>
            <a:off x="7327011" y="2896526"/>
            <a:ext cx="2872066" cy="3572536"/>
            <a:chOff x="3360" y="1440"/>
            <a:chExt cx="2046" cy="2545"/>
          </a:xfrm>
        </p:grpSpPr>
        <p:graphicFrame>
          <p:nvGraphicFramePr>
            <p:cNvPr id="6" name="Object 7">
              <a:extLst>
                <a:ext uri="{FF2B5EF4-FFF2-40B4-BE49-F238E27FC236}">
                  <a16:creationId xmlns="" xmlns:a16="http://schemas.microsoft.com/office/drawing/2014/main" id="{CDBE49C2-27A1-4E8D-998E-867497941AFA}"/>
                </a:ext>
              </a:extLst>
            </p:cNvPr>
            <p:cNvGraphicFramePr>
              <a:graphicFrameLocks noChangeAspect="1"/>
            </p:cNvGraphicFramePr>
            <p:nvPr/>
          </p:nvGraphicFramePr>
          <p:xfrm>
            <a:off x="3408" y="1872"/>
            <a:ext cx="1824" cy="1795"/>
          </p:xfrm>
          <a:graphic>
            <a:graphicData uri="http://schemas.openxmlformats.org/presentationml/2006/ole">
              <mc:AlternateContent xmlns:mc="http://schemas.openxmlformats.org/markup-compatibility/2006">
                <mc:Choice xmlns:v="urn:schemas-microsoft-com:vml" Requires="v">
                  <p:oleObj spid="_x0000_s13319" name="Clip" r:id="rId3" imgW="894960" imgH="880200" progId="MS_ClipArt_Gallery.2">
                    <p:embed/>
                  </p:oleObj>
                </mc:Choice>
                <mc:Fallback>
                  <p:oleObj name="Clip" r:id="rId3" imgW="894960" imgH="880200" progId="MS_ClipArt_Gallery.2">
                    <p:embed/>
                    <p:pic>
                      <p:nvPicPr>
                        <p:cNvPr id="0" name=""/>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3408" y="1872"/>
                          <a:ext cx="1824" cy="17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8">
              <a:extLst>
                <a:ext uri="{FF2B5EF4-FFF2-40B4-BE49-F238E27FC236}">
                  <a16:creationId xmlns="" xmlns:a16="http://schemas.microsoft.com/office/drawing/2014/main" id="{4E246B26-2620-4782-B048-A4E8DB768AAD}"/>
                </a:ext>
              </a:extLst>
            </p:cNvPr>
            <p:cNvSpPr txBox="1">
              <a:spLocks noChangeArrowheads="1"/>
            </p:cNvSpPr>
            <p:nvPr/>
          </p:nvSpPr>
          <p:spPr bwMode="auto">
            <a:xfrm>
              <a:off x="3360" y="3658"/>
              <a:ext cx="5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800">
                  <a:latin typeface="Tahoma" panose="020B0604030504040204" pitchFamily="34" charset="0"/>
                </a:rPr>
                <a:t>Data</a:t>
              </a:r>
              <a:endParaRPr lang="en-US" altLang="en-US"/>
            </a:p>
          </p:txBody>
        </p:sp>
        <p:sp>
          <p:nvSpPr>
            <p:cNvPr id="8" name="Text Box 9">
              <a:extLst>
                <a:ext uri="{FF2B5EF4-FFF2-40B4-BE49-F238E27FC236}">
                  <a16:creationId xmlns="" xmlns:a16="http://schemas.microsoft.com/office/drawing/2014/main" id="{857FCEA4-ABB3-483B-855B-C2415584E3E7}"/>
                </a:ext>
              </a:extLst>
            </p:cNvPr>
            <p:cNvSpPr txBox="1">
              <a:spLocks noChangeArrowheads="1"/>
            </p:cNvSpPr>
            <p:nvPr/>
          </p:nvSpPr>
          <p:spPr bwMode="auto">
            <a:xfrm>
              <a:off x="4128" y="1440"/>
              <a:ext cx="1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800" dirty="0">
                  <a:latin typeface="Tahoma" panose="020B0604030504040204" pitchFamily="34" charset="0"/>
                </a:rPr>
                <a:t>Information</a:t>
              </a:r>
              <a:endParaRPr lang="en-US" altLang="en-US" dirty="0"/>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3" name="Rectangle 2">
            <a:extLst>
              <a:ext uri="{FF2B5EF4-FFF2-40B4-BE49-F238E27FC236}">
                <a16:creationId xmlns="" xmlns:a16="http://schemas.microsoft.com/office/drawing/2014/main" id="{F60BAC80-B9DF-4DAD-9DDF-4B2FE51BE0D0}"/>
              </a:ext>
            </a:extLst>
          </p:cNvPr>
          <p:cNvSpPr>
            <a:spLocks noGrp="1" noChangeArrowheads="1"/>
          </p:cNvSpPr>
          <p:nvPr>
            <p:ph type="title"/>
          </p:nvPr>
        </p:nvSpPr>
        <p:spPr>
          <a:xfrm>
            <a:off x="2209800" y="0"/>
            <a:ext cx="7772400" cy="1219200"/>
          </a:xfrm>
        </p:spPr>
        <p:txBody>
          <a:bodyPr/>
          <a:lstStyle/>
          <a:p>
            <a:pPr algn="ctr" eaLnBrk="1" hangingPunct="1"/>
            <a:r>
              <a:rPr lang="en-US" altLang="en-US" dirty="0"/>
              <a:t>Query Examples</a:t>
            </a:r>
          </a:p>
        </p:txBody>
      </p:sp>
      <p:sp>
        <p:nvSpPr>
          <p:cNvPr id="40964" name="Rectangle 3">
            <a:extLst>
              <a:ext uri="{FF2B5EF4-FFF2-40B4-BE49-F238E27FC236}">
                <a16:creationId xmlns="" xmlns:a16="http://schemas.microsoft.com/office/drawing/2014/main" id="{7AB96006-A0DC-42A0-A082-C3BB6C2E3DA7}"/>
              </a:ext>
            </a:extLst>
          </p:cNvPr>
          <p:cNvSpPr>
            <a:spLocks noGrp="1" noChangeArrowheads="1"/>
          </p:cNvSpPr>
          <p:nvPr>
            <p:ph idx="1"/>
          </p:nvPr>
        </p:nvSpPr>
        <p:spPr>
          <a:xfrm>
            <a:off x="195209" y="1201739"/>
            <a:ext cx="11743362" cy="5301803"/>
          </a:xfrm>
        </p:spPr>
        <p:txBody>
          <a:bodyPr>
            <a:normAutofit/>
          </a:bodyPr>
          <a:lstStyle/>
          <a:p>
            <a:pPr eaLnBrk="1" hangingPunct="1"/>
            <a:r>
              <a:rPr lang="en-US" altLang="en-US" sz="2000" b="1" dirty="0">
                <a:solidFill>
                  <a:srgbClr val="C00000"/>
                </a:solidFill>
              </a:rPr>
              <a:t>Database</a:t>
            </a:r>
          </a:p>
          <a:p>
            <a:pPr lvl="1" eaLnBrk="1" hangingPunct="1">
              <a:buFontTx/>
              <a:buNone/>
            </a:pPr>
            <a:endParaRPr lang="en-US" altLang="en-US" sz="1800" dirty="0"/>
          </a:p>
          <a:p>
            <a:pPr eaLnBrk="1" hangingPunct="1"/>
            <a:endParaRPr lang="en-US" altLang="en-US" sz="2000" dirty="0" smtClean="0"/>
          </a:p>
          <a:p>
            <a:pPr eaLnBrk="1" hangingPunct="1"/>
            <a:endParaRPr lang="en-US" altLang="en-US" sz="2000" dirty="0"/>
          </a:p>
          <a:p>
            <a:pPr eaLnBrk="1" hangingPunct="1"/>
            <a:endParaRPr lang="en-US" altLang="en-US" sz="2000" dirty="0" smtClean="0"/>
          </a:p>
          <a:p>
            <a:pPr eaLnBrk="1" hangingPunct="1"/>
            <a:endParaRPr lang="en-US" altLang="en-US" sz="2000" dirty="0"/>
          </a:p>
          <a:p>
            <a:pPr eaLnBrk="1" hangingPunct="1"/>
            <a:r>
              <a:rPr lang="en-US" altLang="en-US" sz="2000" b="1" dirty="0" smtClean="0">
                <a:solidFill>
                  <a:srgbClr val="00B050"/>
                </a:solidFill>
              </a:rPr>
              <a:t>Data </a:t>
            </a:r>
            <a:r>
              <a:rPr lang="en-US" altLang="en-US" sz="2000" b="1" dirty="0">
                <a:solidFill>
                  <a:srgbClr val="00B050"/>
                </a:solidFill>
              </a:rPr>
              <a:t>Mining</a:t>
            </a:r>
          </a:p>
        </p:txBody>
      </p:sp>
      <p:sp>
        <p:nvSpPr>
          <p:cNvPr id="40962" name="Slide Number Placeholder 4">
            <a:extLst>
              <a:ext uri="{FF2B5EF4-FFF2-40B4-BE49-F238E27FC236}">
                <a16:creationId xmlns="" xmlns:a16="http://schemas.microsoft.com/office/drawing/2014/main" id="{B616E01A-0FC7-4FAE-9092-E15DCDD00D9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7E61E8AF-A016-4389-992F-DD0C6726CDF3}" type="slidenum">
              <a:rPr lang="en-US" altLang="en-US" sz="1400">
                <a:solidFill>
                  <a:schemeClr val="tx1"/>
                </a:solidFill>
                <a:latin typeface="Arial" panose="020B0604020202020204" pitchFamily="34" charset="0"/>
              </a:rPr>
              <a:pPr/>
              <a:t>18</a:t>
            </a:fld>
            <a:endParaRPr lang="en-US" altLang="en-US" sz="1400">
              <a:solidFill>
                <a:schemeClr val="tx1"/>
              </a:solidFill>
              <a:latin typeface="Arial" panose="020B0604020202020204" pitchFamily="34" charset="0"/>
            </a:endParaRPr>
          </a:p>
        </p:txBody>
      </p:sp>
      <p:sp>
        <p:nvSpPr>
          <p:cNvPr id="18437" name="Text Box 5">
            <a:extLst>
              <a:ext uri="{FF2B5EF4-FFF2-40B4-BE49-F238E27FC236}">
                <a16:creationId xmlns="" xmlns:a16="http://schemas.microsoft.com/office/drawing/2014/main" id="{443468E6-D1DF-4407-87AB-2673D91217D4}"/>
              </a:ext>
            </a:extLst>
          </p:cNvPr>
          <p:cNvSpPr txBox="1">
            <a:spLocks noChangeArrowheads="1"/>
          </p:cNvSpPr>
          <p:nvPr/>
        </p:nvSpPr>
        <p:spPr bwMode="auto">
          <a:xfrm>
            <a:off x="914400" y="2855913"/>
            <a:ext cx="8915400" cy="369332"/>
          </a:xfrm>
          <a:prstGeom prst="rect">
            <a:avLst/>
          </a:prstGeom>
          <a:noFill/>
          <a:ln w="12700" cap="sq">
            <a:noFill/>
            <a:miter lim="800000"/>
            <a:headEnd type="none" w="sm" len="sm"/>
            <a:tailEnd type="none" w="sm" len="sm"/>
          </a:ln>
          <a:effectLst/>
        </p:spPr>
        <p:txBody>
          <a:bodyPr>
            <a:spAutoFit/>
          </a:bodyPr>
          <a:lstStyle/>
          <a:p>
            <a:pPr lvl="4">
              <a:lnSpc>
                <a:spcPct val="90000"/>
              </a:lnSpc>
              <a:buClr>
                <a:schemeClr val="tx1"/>
              </a:buClr>
              <a:buFontTx/>
              <a:buChar char="–"/>
              <a:defRPr/>
            </a:pPr>
            <a:r>
              <a:rPr lang="en-US" sz="2000" dirty="0">
                <a:effectLst>
                  <a:outerShdw blurRad="38100" dist="38100" dir="2700000" algn="tl">
                    <a:srgbClr val="000000"/>
                  </a:outerShdw>
                </a:effectLst>
              </a:rPr>
              <a:t> Find all customers who have purchased milk</a:t>
            </a:r>
          </a:p>
        </p:txBody>
      </p:sp>
      <p:sp>
        <p:nvSpPr>
          <p:cNvPr id="18438" name="Text Box 6">
            <a:extLst>
              <a:ext uri="{FF2B5EF4-FFF2-40B4-BE49-F238E27FC236}">
                <a16:creationId xmlns="" xmlns:a16="http://schemas.microsoft.com/office/drawing/2014/main" id="{E06C0445-C691-4A7C-A0EF-2B97A8C04966}"/>
              </a:ext>
            </a:extLst>
          </p:cNvPr>
          <p:cNvSpPr txBox="1">
            <a:spLocks noChangeArrowheads="1"/>
          </p:cNvSpPr>
          <p:nvPr/>
        </p:nvSpPr>
        <p:spPr bwMode="auto">
          <a:xfrm>
            <a:off x="914400" y="5422901"/>
            <a:ext cx="8763000" cy="646331"/>
          </a:xfrm>
          <a:prstGeom prst="rect">
            <a:avLst/>
          </a:prstGeom>
          <a:noFill/>
          <a:ln w="12700" cap="sq">
            <a:noFill/>
            <a:miter lim="800000"/>
            <a:headEnd type="none" w="sm" len="sm"/>
            <a:tailEnd type="none" w="sm" len="sm"/>
          </a:ln>
          <a:effectLst/>
        </p:spPr>
        <p:txBody>
          <a:bodyPr>
            <a:spAutoFit/>
          </a:bodyPr>
          <a:lstStyle/>
          <a:p>
            <a:pPr lvl="4">
              <a:lnSpc>
                <a:spcPct val="90000"/>
              </a:lnSpc>
              <a:buClr>
                <a:schemeClr val="tx1"/>
              </a:buClr>
              <a:buFontTx/>
              <a:buChar char="–"/>
              <a:defRPr/>
            </a:pPr>
            <a:r>
              <a:rPr lang="en-US" sz="2000" dirty="0">
                <a:effectLst>
                  <a:outerShdw blurRad="38100" dist="38100" dir="2700000" algn="tl">
                    <a:srgbClr val="000000"/>
                  </a:outerShdw>
                </a:effectLst>
              </a:rPr>
              <a:t> Find all items which are frequently purchased with milk. (association rules)</a:t>
            </a:r>
            <a:endParaRPr lang="en-US" sz="2400" dirty="0"/>
          </a:p>
        </p:txBody>
      </p:sp>
      <p:sp>
        <p:nvSpPr>
          <p:cNvPr id="18439" name="Text Box 7">
            <a:extLst>
              <a:ext uri="{FF2B5EF4-FFF2-40B4-BE49-F238E27FC236}">
                <a16:creationId xmlns="" xmlns:a16="http://schemas.microsoft.com/office/drawing/2014/main" id="{25EEC8B6-AC34-4D9D-882E-4156A21DD328}"/>
              </a:ext>
            </a:extLst>
          </p:cNvPr>
          <p:cNvSpPr txBox="1">
            <a:spLocks noChangeArrowheads="1"/>
          </p:cNvSpPr>
          <p:nvPr/>
        </p:nvSpPr>
        <p:spPr bwMode="auto">
          <a:xfrm>
            <a:off x="2743200" y="1733550"/>
            <a:ext cx="7696200" cy="535531"/>
          </a:xfrm>
          <a:prstGeom prst="rect">
            <a:avLst/>
          </a:prstGeom>
          <a:noFill/>
          <a:ln w="12700" cap="sq">
            <a:noFill/>
            <a:miter lim="800000"/>
            <a:headEnd type="none" w="sm" len="sm"/>
            <a:tailEnd type="none" w="sm" len="sm"/>
          </a:ln>
          <a:effectLst/>
        </p:spPr>
        <p:txBody>
          <a:bodyPr>
            <a:spAutoFit/>
          </a:bodyPr>
          <a:lstStyle/>
          <a:p>
            <a:pPr>
              <a:lnSpc>
                <a:spcPct val="90000"/>
              </a:lnSpc>
              <a:buClr>
                <a:schemeClr val="tx1"/>
              </a:buClr>
              <a:buFontTx/>
              <a:buChar char="–"/>
              <a:defRPr/>
            </a:pPr>
            <a:r>
              <a:rPr lang="en-US" sz="3200" dirty="0">
                <a:effectLst>
                  <a:outerShdw blurRad="38100" dist="38100" dir="2700000" algn="tl">
                    <a:srgbClr val="000000"/>
                  </a:outerShdw>
                </a:effectLst>
              </a:rPr>
              <a:t> </a:t>
            </a:r>
            <a:r>
              <a:rPr lang="en-US" sz="2000" dirty="0">
                <a:effectLst>
                  <a:outerShdw blurRad="38100" dist="38100" dir="2700000" algn="tl">
                    <a:srgbClr val="000000"/>
                  </a:outerShdw>
                </a:effectLst>
              </a:rPr>
              <a:t>Find all credit applicants with last name of Smith.</a:t>
            </a:r>
            <a:endParaRPr lang="en-US" sz="2000" dirty="0"/>
          </a:p>
        </p:txBody>
      </p:sp>
      <p:sp>
        <p:nvSpPr>
          <p:cNvPr id="18440" name="Text Box 8">
            <a:extLst>
              <a:ext uri="{FF2B5EF4-FFF2-40B4-BE49-F238E27FC236}">
                <a16:creationId xmlns="" xmlns:a16="http://schemas.microsoft.com/office/drawing/2014/main" id="{B411EA70-3A49-481F-A6D9-7C3F402759EA}"/>
              </a:ext>
            </a:extLst>
          </p:cNvPr>
          <p:cNvSpPr txBox="1">
            <a:spLocks noChangeArrowheads="1"/>
          </p:cNvSpPr>
          <p:nvPr/>
        </p:nvSpPr>
        <p:spPr bwMode="auto">
          <a:xfrm>
            <a:off x="2286000" y="2146301"/>
            <a:ext cx="8025618" cy="701731"/>
          </a:xfrm>
          <a:prstGeom prst="rect">
            <a:avLst/>
          </a:prstGeom>
          <a:noFill/>
          <a:ln w="12700" cap="sq">
            <a:noFill/>
            <a:miter lim="800000"/>
            <a:headEnd type="none" w="sm" len="sm"/>
            <a:tailEnd type="none" w="sm" len="sm"/>
          </a:ln>
          <a:effectLst/>
        </p:spPr>
        <p:txBody>
          <a:bodyPr wrap="square">
            <a:spAutoFit/>
          </a:bodyPr>
          <a:lstStyle/>
          <a:p>
            <a:pPr lvl="1">
              <a:lnSpc>
                <a:spcPct val="90000"/>
              </a:lnSpc>
              <a:buClr>
                <a:schemeClr val="tx1"/>
              </a:buClr>
              <a:buFontTx/>
              <a:buChar char="–"/>
              <a:defRPr/>
            </a:pPr>
            <a:r>
              <a:rPr lang="en-US" sz="2000" dirty="0">
                <a:effectLst>
                  <a:outerShdw blurRad="38100" dist="38100" dir="2700000" algn="tl">
                    <a:srgbClr val="000000"/>
                  </a:outerShdw>
                </a:effectLst>
              </a:rPr>
              <a:t> Identify customers who have purchased more than $10,000 </a:t>
            </a:r>
            <a:r>
              <a:rPr lang="en-US" sz="2000" dirty="0" smtClean="0">
                <a:effectLst>
                  <a:outerShdw blurRad="38100" dist="38100" dir="2700000" algn="tl">
                    <a:srgbClr val="000000"/>
                  </a:outerShdw>
                </a:effectLst>
              </a:rPr>
              <a:t>         	in </a:t>
            </a:r>
            <a:r>
              <a:rPr lang="en-US" sz="2000" dirty="0">
                <a:effectLst>
                  <a:outerShdw blurRad="38100" dist="38100" dir="2700000" algn="tl">
                    <a:srgbClr val="000000"/>
                  </a:outerShdw>
                </a:effectLst>
              </a:rPr>
              <a:t>the last month.</a:t>
            </a:r>
            <a:r>
              <a:rPr lang="en-US" sz="2400" dirty="0"/>
              <a:t>   </a:t>
            </a:r>
          </a:p>
        </p:txBody>
      </p:sp>
      <p:sp>
        <p:nvSpPr>
          <p:cNvPr id="18441" name="Text Box 9">
            <a:extLst>
              <a:ext uri="{FF2B5EF4-FFF2-40B4-BE49-F238E27FC236}">
                <a16:creationId xmlns="" xmlns:a16="http://schemas.microsoft.com/office/drawing/2014/main" id="{1DE05FE9-77B4-4D09-A0FF-CEBF48B9ABA5}"/>
              </a:ext>
            </a:extLst>
          </p:cNvPr>
          <p:cNvSpPr txBox="1">
            <a:spLocks noChangeArrowheads="1"/>
          </p:cNvSpPr>
          <p:nvPr/>
        </p:nvSpPr>
        <p:spPr bwMode="auto">
          <a:xfrm>
            <a:off x="2286000" y="3962401"/>
            <a:ext cx="7010400" cy="812530"/>
          </a:xfrm>
          <a:prstGeom prst="rect">
            <a:avLst/>
          </a:prstGeom>
          <a:noFill/>
          <a:ln w="12700" cap="sq">
            <a:noFill/>
            <a:miter lim="800000"/>
            <a:headEnd type="none" w="sm" len="sm"/>
            <a:tailEnd type="none" w="sm" len="sm"/>
          </a:ln>
          <a:effectLst/>
        </p:spPr>
        <p:txBody>
          <a:bodyPr>
            <a:spAutoFit/>
          </a:bodyPr>
          <a:lstStyle/>
          <a:p>
            <a:pPr lvl="1">
              <a:lnSpc>
                <a:spcPct val="90000"/>
              </a:lnSpc>
              <a:buClr>
                <a:schemeClr val="tx1"/>
              </a:buClr>
              <a:buFontTx/>
              <a:buChar char="–"/>
              <a:defRPr/>
            </a:pPr>
            <a:r>
              <a:rPr lang="en-US" sz="3200" dirty="0">
                <a:effectLst>
                  <a:outerShdw blurRad="38100" dist="38100" dir="2700000" algn="tl">
                    <a:srgbClr val="000000"/>
                  </a:outerShdw>
                </a:effectLst>
              </a:rPr>
              <a:t> </a:t>
            </a:r>
            <a:r>
              <a:rPr lang="en-US" sz="2000" dirty="0">
                <a:effectLst>
                  <a:outerShdw blurRad="38100" dist="38100" dir="2700000" algn="tl">
                    <a:srgbClr val="000000"/>
                  </a:outerShdw>
                </a:effectLst>
              </a:rPr>
              <a:t>Find all credit applicants who are poor credit risks. (classification)</a:t>
            </a:r>
            <a:endParaRPr lang="en-US" sz="2000" dirty="0"/>
          </a:p>
        </p:txBody>
      </p:sp>
      <p:sp>
        <p:nvSpPr>
          <p:cNvPr id="18442" name="Rectangle 10">
            <a:extLst>
              <a:ext uri="{FF2B5EF4-FFF2-40B4-BE49-F238E27FC236}">
                <a16:creationId xmlns="" xmlns:a16="http://schemas.microsoft.com/office/drawing/2014/main" id="{E3328E61-F96E-46B7-9B42-1843CDEF904D}"/>
              </a:ext>
            </a:extLst>
          </p:cNvPr>
          <p:cNvSpPr>
            <a:spLocks noChangeArrowheads="1"/>
          </p:cNvSpPr>
          <p:nvPr/>
        </p:nvSpPr>
        <p:spPr bwMode="auto">
          <a:xfrm>
            <a:off x="898526" y="4724400"/>
            <a:ext cx="8778875" cy="646331"/>
          </a:xfrm>
          <a:prstGeom prst="rect">
            <a:avLst/>
          </a:prstGeom>
          <a:noFill/>
          <a:ln w="12700" cap="sq">
            <a:noFill/>
            <a:miter lim="800000"/>
            <a:headEnd type="none" w="sm" len="sm"/>
            <a:tailEnd type="none" w="sm" len="sm"/>
          </a:ln>
          <a:effectLst/>
        </p:spPr>
        <p:txBody>
          <a:bodyPr>
            <a:spAutoFit/>
          </a:bodyPr>
          <a:lstStyle/>
          <a:p>
            <a:pPr lvl="4">
              <a:lnSpc>
                <a:spcPct val="90000"/>
              </a:lnSpc>
              <a:buClr>
                <a:schemeClr val="tx1"/>
              </a:buClr>
              <a:buFontTx/>
              <a:buChar char="–"/>
              <a:defRPr/>
            </a:pPr>
            <a:r>
              <a:rPr lang="en-US" sz="2000" dirty="0">
                <a:effectLst>
                  <a:outerShdw blurRad="38100" dist="38100" dir="2700000" algn="tl">
                    <a:srgbClr val="000000"/>
                  </a:outerShdw>
                </a:effectLst>
              </a:rPr>
              <a:t> Identify customers with similar buying habits. (Clustering)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4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44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44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43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84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utoUpdateAnimBg="0"/>
      <p:bldP spid="18438" grpId="0" autoUpdateAnimBg="0"/>
      <p:bldP spid="18439" grpId="0" autoUpdateAnimBg="0"/>
      <p:bldP spid="18440" grpId="0" autoUpdateAnimBg="0"/>
      <p:bldP spid="18441" grpId="0" autoUpdateAnimBg="0"/>
      <p:bldP spid="1844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2" name="Rectangle 7">
            <a:extLst>
              <a:ext uri="{FF2B5EF4-FFF2-40B4-BE49-F238E27FC236}">
                <a16:creationId xmlns="" xmlns:a16="http://schemas.microsoft.com/office/drawing/2014/main" id="{9C6B0C68-BEC4-4770-8DE8-96441389BCC5}"/>
              </a:ext>
            </a:extLst>
          </p:cNvPr>
          <p:cNvSpPr>
            <a:spLocks noGrp="1" noChangeArrowheads="1"/>
          </p:cNvSpPr>
          <p:nvPr>
            <p:ph type="title"/>
          </p:nvPr>
        </p:nvSpPr>
        <p:spPr>
          <a:xfrm>
            <a:off x="1249680" y="-42214"/>
            <a:ext cx="9692640" cy="1325562"/>
          </a:xfrm>
          <a:noFill/>
        </p:spPr>
        <p:txBody>
          <a:bodyPr vert="horz" lIns="92075" tIns="46038" rIns="92075" bIns="46038" rtlCol="0" anchor="ctr">
            <a:normAutofit/>
          </a:bodyPr>
          <a:lstStyle/>
          <a:p>
            <a:pPr algn="ctr"/>
            <a:r>
              <a:rPr lang="en-US" altLang="en-US" sz="4000" dirty="0"/>
              <a:t>Related Fields</a:t>
            </a:r>
          </a:p>
        </p:txBody>
      </p:sp>
      <p:sp>
        <p:nvSpPr>
          <p:cNvPr id="41993" name="Rectangle 8">
            <a:extLst>
              <a:ext uri="{FF2B5EF4-FFF2-40B4-BE49-F238E27FC236}">
                <a16:creationId xmlns="" xmlns:a16="http://schemas.microsoft.com/office/drawing/2014/main" id="{CF90536A-7FEF-4EE9-A222-7C1295D1334F}"/>
              </a:ext>
            </a:extLst>
          </p:cNvPr>
          <p:cNvSpPr>
            <a:spLocks noGrp="1" noChangeArrowheads="1"/>
          </p:cNvSpPr>
          <p:nvPr>
            <p:ph idx="1"/>
          </p:nvPr>
        </p:nvSpPr>
        <p:spPr>
          <a:xfrm>
            <a:off x="2895600" y="2286000"/>
            <a:ext cx="7162800" cy="4114800"/>
          </a:xfrm>
          <a:noFill/>
        </p:spPr>
        <p:txBody>
          <a:bodyPr vert="horz" lIns="92075" tIns="46038" rIns="92075" bIns="46038" rtlCol="0">
            <a:normAutofit/>
          </a:bodyPr>
          <a:lstStyle/>
          <a:p>
            <a:pPr>
              <a:buFont typeface="Wingdings" panose="05000000000000000000" pitchFamily="2" charset="2"/>
              <a:buNone/>
            </a:pPr>
            <a:r>
              <a:rPr lang="en-US" altLang="en-US"/>
              <a:t>  </a:t>
            </a:r>
          </a:p>
        </p:txBody>
      </p:sp>
      <p:sp>
        <p:nvSpPr>
          <p:cNvPr id="41986" name="Slide Number Placeholder 3">
            <a:extLst>
              <a:ext uri="{FF2B5EF4-FFF2-40B4-BE49-F238E27FC236}">
                <a16:creationId xmlns="" xmlns:a16="http://schemas.microsoft.com/office/drawing/2014/main" id="{ECA8EA9E-EAF4-48D5-9815-4E957CFA23F7}"/>
              </a:ext>
            </a:extLst>
          </p:cNvPr>
          <p:cNvSpPr>
            <a:spLocks noGrp="1"/>
          </p:cNvSpPr>
          <p:nvPr>
            <p:ph type="sldNum" sz="quarter" idx="12"/>
          </p:nvPr>
        </p:nvSpPr>
        <p:spPr>
          <a:xfrm>
            <a:off x="4648200" y="622935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lgn="ctr"/>
            <a:fld id="{8E97560E-A834-48D1-8ADB-E1C7E0DD71DE}" type="slidenum">
              <a:rPr lang="en-US" altLang="en-US" sz="1400">
                <a:solidFill>
                  <a:schemeClr val="bg2"/>
                </a:solidFill>
                <a:latin typeface="Arial" panose="020B0604020202020204" pitchFamily="34" charset="0"/>
              </a:rPr>
              <a:pPr algn="ctr"/>
              <a:t>19</a:t>
            </a:fld>
            <a:endParaRPr lang="en-US" altLang="en-US" sz="1400">
              <a:solidFill>
                <a:schemeClr val="bg2"/>
              </a:solidFill>
              <a:latin typeface="Arial" panose="020B0604020202020204" pitchFamily="34" charset="0"/>
            </a:endParaRPr>
          </a:p>
        </p:txBody>
      </p:sp>
      <p:sp>
        <p:nvSpPr>
          <p:cNvPr id="41987" name="Oval 2">
            <a:extLst>
              <a:ext uri="{FF2B5EF4-FFF2-40B4-BE49-F238E27FC236}">
                <a16:creationId xmlns="" xmlns:a16="http://schemas.microsoft.com/office/drawing/2014/main" id="{9A441B73-49F8-414F-804F-6452F1FDA89B}"/>
              </a:ext>
            </a:extLst>
          </p:cNvPr>
          <p:cNvSpPr>
            <a:spLocks noChangeArrowheads="1"/>
          </p:cNvSpPr>
          <p:nvPr/>
        </p:nvSpPr>
        <p:spPr bwMode="auto">
          <a:xfrm>
            <a:off x="6324601" y="3620887"/>
            <a:ext cx="3200400" cy="2438400"/>
          </a:xfrm>
          <a:prstGeom prst="ellipse">
            <a:avLst/>
          </a:prstGeom>
          <a:solidFill>
            <a:schemeClr val="accent2">
              <a:alpha val="50195"/>
            </a:schemeClr>
          </a:solidFill>
          <a:ln w="9525">
            <a:solidFill>
              <a:schemeClr val="tx1"/>
            </a:solidFill>
            <a:miter lim="800000"/>
            <a:headEnd type="none" w="sm" len="sm"/>
            <a:tailEnd type="none" w="sm" len="sm"/>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41988" name="Oval 3">
            <a:extLst>
              <a:ext uri="{FF2B5EF4-FFF2-40B4-BE49-F238E27FC236}">
                <a16:creationId xmlns="" xmlns:a16="http://schemas.microsoft.com/office/drawing/2014/main" id="{0A94F61E-23B5-4904-AE37-8527FE0530F3}"/>
              </a:ext>
            </a:extLst>
          </p:cNvPr>
          <p:cNvSpPr>
            <a:spLocks noChangeArrowheads="1"/>
          </p:cNvSpPr>
          <p:nvPr/>
        </p:nvSpPr>
        <p:spPr bwMode="auto">
          <a:xfrm>
            <a:off x="1990344" y="3619500"/>
            <a:ext cx="3200400" cy="2438400"/>
          </a:xfrm>
          <a:prstGeom prst="ellipse">
            <a:avLst/>
          </a:prstGeom>
          <a:solidFill>
            <a:srgbClr val="FF99CC">
              <a:alpha val="50195"/>
            </a:srgbClr>
          </a:solidFill>
          <a:ln w="9525">
            <a:solidFill>
              <a:schemeClr val="tx1"/>
            </a:solidFill>
            <a:miter lim="800000"/>
            <a:headEnd type="none" w="sm" len="sm"/>
            <a:tailEnd type="none" w="sm" len="sm"/>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41989" name="Oval 4">
            <a:extLst>
              <a:ext uri="{FF2B5EF4-FFF2-40B4-BE49-F238E27FC236}">
                <a16:creationId xmlns="" xmlns:a16="http://schemas.microsoft.com/office/drawing/2014/main" id="{D711FCE7-4FCA-4C25-9970-85363BDBF4D4}"/>
              </a:ext>
            </a:extLst>
          </p:cNvPr>
          <p:cNvSpPr>
            <a:spLocks noChangeArrowheads="1"/>
          </p:cNvSpPr>
          <p:nvPr/>
        </p:nvSpPr>
        <p:spPr bwMode="auto">
          <a:xfrm>
            <a:off x="6391656" y="908899"/>
            <a:ext cx="3200400" cy="2438400"/>
          </a:xfrm>
          <a:prstGeom prst="ellipse">
            <a:avLst/>
          </a:prstGeom>
          <a:solidFill>
            <a:srgbClr val="FFFF00">
              <a:alpha val="50195"/>
            </a:srgbClr>
          </a:solidFill>
          <a:ln w="9525">
            <a:solidFill>
              <a:schemeClr val="tx1"/>
            </a:solidFill>
            <a:miter lim="800000"/>
            <a:headEnd type="none" w="sm" len="sm"/>
            <a:tailEnd type="none" w="sm" len="sm"/>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41990" name="Oval 5">
            <a:extLst>
              <a:ext uri="{FF2B5EF4-FFF2-40B4-BE49-F238E27FC236}">
                <a16:creationId xmlns="" xmlns:a16="http://schemas.microsoft.com/office/drawing/2014/main" id="{202F6BD5-8D46-4E28-8FF0-4198DCC96FEE}"/>
              </a:ext>
            </a:extLst>
          </p:cNvPr>
          <p:cNvSpPr>
            <a:spLocks noChangeArrowheads="1"/>
          </p:cNvSpPr>
          <p:nvPr/>
        </p:nvSpPr>
        <p:spPr bwMode="auto">
          <a:xfrm>
            <a:off x="1828800" y="914399"/>
            <a:ext cx="3200400" cy="2438400"/>
          </a:xfrm>
          <a:prstGeom prst="ellipse">
            <a:avLst/>
          </a:prstGeom>
          <a:solidFill>
            <a:srgbClr val="99CC00">
              <a:alpha val="50195"/>
            </a:srgbClr>
          </a:solidFill>
          <a:ln w="9525">
            <a:solidFill>
              <a:schemeClr val="tx1"/>
            </a:solidFill>
            <a:miter lim="800000"/>
            <a:headEnd type="none" w="sm" len="sm"/>
            <a:tailEnd type="none" w="sm" len="sm"/>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41991" name="AutoShape 6">
            <a:extLst>
              <a:ext uri="{FF2B5EF4-FFF2-40B4-BE49-F238E27FC236}">
                <a16:creationId xmlns="" xmlns:a16="http://schemas.microsoft.com/office/drawing/2014/main" id="{7CF5C564-2D52-4A93-BD2A-100055B1804F}"/>
              </a:ext>
            </a:extLst>
          </p:cNvPr>
          <p:cNvSpPr>
            <a:spLocks noChangeArrowheads="1"/>
          </p:cNvSpPr>
          <p:nvPr/>
        </p:nvSpPr>
        <p:spPr bwMode="auto">
          <a:xfrm>
            <a:off x="3886200" y="2667000"/>
            <a:ext cx="3810000" cy="1371600"/>
          </a:xfrm>
          <a:prstGeom prst="bevel">
            <a:avLst>
              <a:gd name="adj" fmla="val 12500"/>
            </a:avLst>
          </a:prstGeom>
          <a:solidFill>
            <a:schemeClr val="accent1"/>
          </a:solidFill>
          <a:ln w="9525">
            <a:solidFill>
              <a:schemeClr val="tx1"/>
            </a:solidFill>
            <a:miter lim="800000"/>
            <a:headEnd type="none" w="sm" len="sm"/>
            <a:tailEnd type="none" w="sm" len="sm"/>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41994" name="Rectangle 9">
            <a:extLst>
              <a:ext uri="{FF2B5EF4-FFF2-40B4-BE49-F238E27FC236}">
                <a16:creationId xmlns="" xmlns:a16="http://schemas.microsoft.com/office/drawing/2014/main" id="{CF791099-6A35-471E-A405-D8D23212E80B}"/>
              </a:ext>
            </a:extLst>
          </p:cNvPr>
          <p:cNvSpPr>
            <a:spLocks noChangeArrowheads="1"/>
          </p:cNvSpPr>
          <p:nvPr/>
        </p:nvSpPr>
        <p:spPr bwMode="auto">
          <a:xfrm>
            <a:off x="3124201" y="4495801"/>
            <a:ext cx="1758495"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marL="285750" indent="-285750">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lnSpc>
                <a:spcPct val="90000"/>
              </a:lnSpc>
              <a:spcBef>
                <a:spcPct val="30000"/>
              </a:spcBef>
            </a:pPr>
            <a:r>
              <a:rPr lang="en-US" altLang="en-US" sz="3200" b="1"/>
              <a:t>Statistics</a:t>
            </a:r>
          </a:p>
        </p:txBody>
      </p:sp>
      <p:sp>
        <p:nvSpPr>
          <p:cNvPr id="41995" name="Rectangle 10">
            <a:extLst>
              <a:ext uri="{FF2B5EF4-FFF2-40B4-BE49-F238E27FC236}">
                <a16:creationId xmlns="" xmlns:a16="http://schemas.microsoft.com/office/drawing/2014/main" id="{88D5DDBC-3E77-465F-8EF3-BA9F0D6E4F1A}"/>
              </a:ext>
            </a:extLst>
          </p:cNvPr>
          <p:cNvSpPr>
            <a:spLocks noChangeArrowheads="1"/>
          </p:cNvSpPr>
          <p:nvPr/>
        </p:nvSpPr>
        <p:spPr bwMode="auto">
          <a:xfrm>
            <a:off x="2819400" y="1905000"/>
            <a:ext cx="2362200" cy="68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5750" indent="-285750">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lnSpc>
                <a:spcPct val="40000"/>
              </a:lnSpc>
              <a:spcBef>
                <a:spcPct val="30000"/>
              </a:spcBef>
            </a:pPr>
            <a:r>
              <a:rPr lang="en-US" altLang="en-US" sz="3200" b="1" dirty="0"/>
              <a:t>Machine</a:t>
            </a:r>
          </a:p>
          <a:p>
            <a:pPr>
              <a:lnSpc>
                <a:spcPct val="40000"/>
              </a:lnSpc>
              <a:spcBef>
                <a:spcPct val="30000"/>
              </a:spcBef>
            </a:pPr>
            <a:r>
              <a:rPr lang="en-US" altLang="en-US" sz="3200" b="1" dirty="0"/>
              <a:t>Learning</a:t>
            </a:r>
          </a:p>
        </p:txBody>
      </p:sp>
      <p:sp>
        <p:nvSpPr>
          <p:cNvPr id="41996" name="Rectangle 11">
            <a:extLst>
              <a:ext uri="{FF2B5EF4-FFF2-40B4-BE49-F238E27FC236}">
                <a16:creationId xmlns="" xmlns:a16="http://schemas.microsoft.com/office/drawing/2014/main" id="{62BF265C-2E62-425C-8CEF-837BB40496E3}"/>
              </a:ext>
            </a:extLst>
          </p:cNvPr>
          <p:cNvSpPr>
            <a:spLocks noChangeArrowheads="1"/>
          </p:cNvSpPr>
          <p:nvPr/>
        </p:nvSpPr>
        <p:spPr bwMode="auto">
          <a:xfrm>
            <a:off x="6781800" y="4572001"/>
            <a:ext cx="1965282"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marL="285750" indent="-285750">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lnSpc>
                <a:spcPct val="90000"/>
              </a:lnSpc>
              <a:spcBef>
                <a:spcPct val="30000"/>
              </a:spcBef>
            </a:pPr>
            <a:r>
              <a:rPr lang="en-US" altLang="en-US" sz="3200" b="1"/>
              <a:t>Databases</a:t>
            </a:r>
          </a:p>
        </p:txBody>
      </p:sp>
      <p:sp>
        <p:nvSpPr>
          <p:cNvPr id="41997" name="Rectangle 12">
            <a:extLst>
              <a:ext uri="{FF2B5EF4-FFF2-40B4-BE49-F238E27FC236}">
                <a16:creationId xmlns="" xmlns:a16="http://schemas.microsoft.com/office/drawing/2014/main" id="{A8FD0B17-8C7B-417B-BA60-BAE1EB43B25F}"/>
              </a:ext>
            </a:extLst>
          </p:cNvPr>
          <p:cNvSpPr>
            <a:spLocks noChangeArrowheads="1"/>
          </p:cNvSpPr>
          <p:nvPr/>
        </p:nvSpPr>
        <p:spPr bwMode="auto">
          <a:xfrm>
            <a:off x="6400800" y="1905001"/>
            <a:ext cx="2472600"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marL="285750" indent="-285750">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lnSpc>
                <a:spcPct val="90000"/>
              </a:lnSpc>
              <a:spcBef>
                <a:spcPct val="30000"/>
              </a:spcBef>
            </a:pPr>
            <a:r>
              <a:rPr lang="en-US" altLang="en-US" sz="3200" b="1"/>
              <a:t>Visualization</a:t>
            </a:r>
          </a:p>
        </p:txBody>
      </p:sp>
      <p:sp>
        <p:nvSpPr>
          <p:cNvPr id="41998" name="Rectangle 13">
            <a:extLst>
              <a:ext uri="{FF2B5EF4-FFF2-40B4-BE49-F238E27FC236}">
                <a16:creationId xmlns="" xmlns:a16="http://schemas.microsoft.com/office/drawing/2014/main" id="{5A687C38-9425-4CE6-BE05-0EAFF79C8E7C}"/>
              </a:ext>
            </a:extLst>
          </p:cNvPr>
          <p:cNvSpPr>
            <a:spLocks noChangeArrowheads="1"/>
          </p:cNvSpPr>
          <p:nvPr/>
        </p:nvSpPr>
        <p:spPr bwMode="auto">
          <a:xfrm>
            <a:off x="4334299" y="2895600"/>
            <a:ext cx="3031278"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lgn="ctr"/>
            <a:r>
              <a:rPr lang="en-US" altLang="en-US" b="1" dirty="0">
                <a:solidFill>
                  <a:schemeClr val="bg1"/>
                </a:solidFill>
              </a:rPr>
              <a:t>Data Mining and </a:t>
            </a:r>
          </a:p>
          <a:p>
            <a:pPr algn="ctr"/>
            <a:r>
              <a:rPr lang="en-US" altLang="en-US" b="1" dirty="0">
                <a:solidFill>
                  <a:schemeClr val="bg1"/>
                </a:solidFill>
              </a:rPr>
              <a:t>Knowledge Discovery</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 xmlns:a16="http://schemas.microsoft.com/office/drawing/2014/main" id="{DF395207-ED4D-432E-85F7-97E4878F13C8}"/>
              </a:ext>
            </a:extLst>
          </p:cNvPr>
          <p:cNvSpPr>
            <a:spLocks noGrp="1" noRot="1" noChangeArrowheads="1"/>
          </p:cNvSpPr>
          <p:nvPr>
            <p:ph type="title"/>
          </p:nvPr>
        </p:nvSpPr>
        <p:spPr>
          <a:xfrm>
            <a:off x="713232" y="0"/>
            <a:ext cx="9692640" cy="1325562"/>
          </a:xfrm>
        </p:spPr>
        <p:txBody>
          <a:bodyPr/>
          <a:lstStyle/>
          <a:p>
            <a:pPr algn="ctr" eaLnBrk="1" hangingPunct="1"/>
            <a:r>
              <a:rPr lang="en-US" altLang="zh-TW" dirty="0" smtClean="0">
                <a:latin typeface="Times New Roman" panose="02020603050405020304" pitchFamily="18" charset="0"/>
                <a:ea typeface="新細明體" panose="02020500000000000000" pitchFamily="18" charset="-120"/>
              </a:rPr>
              <a:t>What is data mining?</a:t>
            </a:r>
            <a:endParaRPr lang="en-US" altLang="zh-TW" dirty="0">
              <a:latin typeface="Times New Roman" panose="02020603050405020304" pitchFamily="18" charset="0"/>
              <a:ea typeface="新細明體" panose="02020500000000000000" pitchFamily="18" charset="-120"/>
            </a:endParaRPr>
          </a:p>
        </p:txBody>
      </p:sp>
      <p:sp>
        <p:nvSpPr>
          <p:cNvPr id="44035" name="Rectangle 3">
            <a:extLst>
              <a:ext uri="{FF2B5EF4-FFF2-40B4-BE49-F238E27FC236}">
                <a16:creationId xmlns="" xmlns:a16="http://schemas.microsoft.com/office/drawing/2014/main" id="{03B1AD41-B16C-438F-B9DA-B7FA2B1200FF}"/>
              </a:ext>
            </a:extLst>
          </p:cNvPr>
          <p:cNvSpPr>
            <a:spLocks noGrp="1" noChangeArrowheads="1"/>
          </p:cNvSpPr>
          <p:nvPr>
            <p:ph idx="1"/>
          </p:nvPr>
        </p:nvSpPr>
        <p:spPr>
          <a:xfrm>
            <a:off x="1261872" y="1575581"/>
            <a:ext cx="9710928" cy="4596619"/>
          </a:xfrm>
        </p:spPr>
        <p:txBody>
          <a:bodyPr>
            <a:noAutofit/>
          </a:bodyPr>
          <a:lstStyle/>
          <a:p>
            <a:pPr eaLnBrk="1" hangingPunct="1"/>
            <a:r>
              <a:rPr lang="en-US" altLang="en-US" sz="2000" dirty="0">
                <a:latin typeface="Times New Roman" panose="02020603050405020304" pitchFamily="18" charset="0"/>
              </a:rPr>
              <a:t>A class of database application that </a:t>
            </a:r>
            <a:r>
              <a:rPr lang="en-US" altLang="zh-TW" sz="2000" dirty="0">
                <a:latin typeface="Times New Roman" panose="02020603050405020304" pitchFamily="18" charset="0"/>
                <a:ea typeface="新細明體" panose="02020500000000000000" pitchFamily="18" charset="-120"/>
              </a:rPr>
              <a:t>analyze data in a database using tools which look for trends or anomalies. </a:t>
            </a:r>
          </a:p>
          <a:p>
            <a:pPr eaLnBrk="1" hangingPunct="1"/>
            <a:r>
              <a:rPr lang="en-US" altLang="zh-TW" sz="2000" dirty="0">
                <a:latin typeface="Times New Roman" panose="02020603050405020304" pitchFamily="18" charset="0"/>
                <a:ea typeface="新細明體" panose="02020500000000000000" pitchFamily="18" charset="-120"/>
              </a:rPr>
              <a:t>Data mining was invented by </a:t>
            </a:r>
            <a:r>
              <a:rPr lang="en-US" altLang="zh-TW" sz="2000" b="1" dirty="0">
                <a:solidFill>
                  <a:srgbClr val="00B0F0"/>
                </a:solidFill>
                <a:latin typeface="Times New Roman" panose="02020603050405020304" pitchFamily="18" charset="0"/>
                <a:ea typeface="新細明體" panose="02020500000000000000" pitchFamily="18" charset="-120"/>
              </a:rPr>
              <a:t>IBM</a:t>
            </a:r>
            <a:r>
              <a:rPr lang="en-US" altLang="zh-TW" sz="2000" dirty="0">
                <a:latin typeface="Times New Roman" panose="02020603050405020304" pitchFamily="18" charset="0"/>
                <a:ea typeface="新細明體" panose="02020500000000000000" pitchFamily="18" charset="-120"/>
              </a:rPr>
              <a:t>.</a:t>
            </a:r>
          </a:p>
          <a:p>
            <a:pPr>
              <a:lnSpc>
                <a:spcPct val="100000"/>
              </a:lnSpc>
            </a:pPr>
            <a:r>
              <a:rPr lang="en-US" altLang="en-US" sz="2000" dirty="0">
                <a:latin typeface="Times New Roman" panose="02020603050405020304" pitchFamily="18" charset="0"/>
                <a:ea typeface="新細明體" panose="02020500000000000000" pitchFamily="18" charset="-120"/>
              </a:rPr>
              <a:t>Data mining is the exploration and analysis of large quantities of data in order to discover </a:t>
            </a:r>
            <a:r>
              <a:rPr lang="en-US" altLang="en-US" sz="2000" b="1" dirty="0">
                <a:solidFill>
                  <a:srgbClr val="FF0000"/>
                </a:solidFill>
                <a:latin typeface="Times New Roman" panose="02020603050405020304" pitchFamily="18" charset="0"/>
                <a:ea typeface="新細明體" panose="02020500000000000000" pitchFamily="18" charset="-120"/>
              </a:rPr>
              <a:t>valid, novel, potentially useful, and ultimately understandable</a:t>
            </a:r>
            <a:r>
              <a:rPr lang="en-US" altLang="en-US" sz="2000" dirty="0">
                <a:latin typeface="Times New Roman" panose="02020603050405020304" pitchFamily="18" charset="0"/>
                <a:ea typeface="新細明體" panose="02020500000000000000" pitchFamily="18" charset="-120"/>
              </a:rPr>
              <a:t> patterns in data</a:t>
            </a:r>
            <a:r>
              <a:rPr lang="en-US" altLang="en-US" sz="2000" dirty="0" smtClean="0">
                <a:latin typeface="Times New Roman" panose="02020603050405020304" pitchFamily="18" charset="0"/>
                <a:ea typeface="新細明體" panose="02020500000000000000" pitchFamily="18" charset="-120"/>
              </a:rPr>
              <a:t>.</a:t>
            </a:r>
            <a:br>
              <a:rPr lang="en-US" altLang="en-US" sz="2000" dirty="0" smtClean="0">
                <a:latin typeface="Times New Roman" panose="02020603050405020304" pitchFamily="18" charset="0"/>
                <a:ea typeface="新細明體" panose="02020500000000000000" pitchFamily="18" charset="-120"/>
              </a:rPr>
            </a:br>
            <a:r>
              <a:rPr lang="en-US" altLang="en-US" sz="2000" dirty="0" smtClean="0">
                <a:latin typeface="Times New Roman" panose="02020603050405020304" pitchFamily="18" charset="0"/>
                <a:ea typeface="新細明體" panose="02020500000000000000" pitchFamily="18" charset="-120"/>
              </a:rPr>
              <a:t/>
            </a:r>
            <a:br>
              <a:rPr lang="en-US" altLang="en-US" sz="2000" dirty="0" smtClean="0">
                <a:latin typeface="Times New Roman" panose="02020603050405020304" pitchFamily="18" charset="0"/>
                <a:ea typeface="新細明體" panose="02020500000000000000" pitchFamily="18" charset="-120"/>
              </a:rPr>
            </a:br>
            <a:endParaRPr lang="en-US" altLang="en-US" sz="2000" dirty="0">
              <a:latin typeface="Times New Roman" panose="02020603050405020304" pitchFamily="18" charset="0"/>
              <a:ea typeface="新細明體" panose="02020500000000000000" pitchFamily="18" charset="-120"/>
            </a:endParaRPr>
          </a:p>
          <a:p>
            <a:pPr>
              <a:buFontTx/>
              <a:buNone/>
            </a:pPr>
            <a:r>
              <a:rPr lang="en-US" altLang="en-US" sz="2000" b="1" dirty="0">
                <a:solidFill>
                  <a:srgbClr val="00B050"/>
                </a:solidFill>
              </a:rPr>
              <a:t>Valid</a:t>
            </a:r>
            <a:r>
              <a:rPr lang="en-US" altLang="en-US" sz="2000" b="1" dirty="0"/>
              <a:t>: The patterns hold in general.</a:t>
            </a:r>
          </a:p>
          <a:p>
            <a:pPr>
              <a:buFontTx/>
              <a:buNone/>
            </a:pPr>
            <a:r>
              <a:rPr lang="en-US" altLang="en-US" sz="2000" b="1" dirty="0">
                <a:solidFill>
                  <a:srgbClr val="00B050"/>
                </a:solidFill>
              </a:rPr>
              <a:t>Novel</a:t>
            </a:r>
            <a:r>
              <a:rPr lang="en-US" altLang="en-US" sz="2000" b="1" dirty="0"/>
              <a:t>: We did not know the pattern beforehand.</a:t>
            </a:r>
          </a:p>
          <a:p>
            <a:pPr>
              <a:buFontTx/>
              <a:buNone/>
            </a:pPr>
            <a:r>
              <a:rPr lang="en-US" altLang="en-US" sz="2000" b="1" dirty="0">
                <a:solidFill>
                  <a:srgbClr val="00B050"/>
                </a:solidFill>
              </a:rPr>
              <a:t>Useful</a:t>
            </a:r>
            <a:r>
              <a:rPr lang="en-US" altLang="en-US" sz="2000" b="1" dirty="0"/>
              <a:t>: We can devise actions from the patterns.</a:t>
            </a:r>
            <a:endParaRPr lang="en-US" altLang="en-US" sz="2000" b="1" dirty="0">
              <a:cs typeface="Times New Roman" panose="02020603050405020304" pitchFamily="18" charset="0"/>
            </a:endParaRPr>
          </a:p>
          <a:p>
            <a:pPr>
              <a:buFontTx/>
              <a:buNone/>
            </a:pPr>
            <a:r>
              <a:rPr lang="en-US" altLang="en-US" sz="2000" b="1" dirty="0">
                <a:solidFill>
                  <a:srgbClr val="00B050"/>
                </a:solidFill>
              </a:rPr>
              <a:t>Understandable</a:t>
            </a:r>
            <a:r>
              <a:rPr lang="en-US" altLang="en-US" sz="2000" b="1" dirty="0"/>
              <a:t>: We can interpret </a:t>
            </a:r>
            <a:r>
              <a:rPr lang="en-US" altLang="en-US" sz="2000" b="1" dirty="0" smtClean="0"/>
              <a:t>the patterns and correlations.</a:t>
            </a:r>
            <a:endParaRPr lang="en-US" altLang="en-US" sz="2000" b="1" dirty="0"/>
          </a:p>
          <a:p>
            <a:pPr eaLnBrk="1" hangingPunct="1"/>
            <a:endParaRPr lang="en-US" altLang="zh-TW" sz="2000" b="1" dirty="0">
              <a:latin typeface="Times New Roman" panose="02020603050405020304" pitchFamily="18" charset="0"/>
              <a:ea typeface="新細明體" panose="02020500000000000000" pitchFamily="18" charset="-120"/>
            </a:endParaRPr>
          </a:p>
        </p:txBody>
      </p:sp>
      <p:sp>
        <p:nvSpPr>
          <p:cNvPr id="2" name="Slide Number Placeholder 1">
            <a:extLst>
              <a:ext uri="{FF2B5EF4-FFF2-40B4-BE49-F238E27FC236}">
                <a16:creationId xmlns="" xmlns:a16="http://schemas.microsoft.com/office/drawing/2014/main" id="{21FF7D2D-6BD9-437B-99F4-FCBF3F4AEBE0}"/>
              </a:ext>
            </a:extLst>
          </p:cNvPr>
          <p:cNvSpPr>
            <a:spLocks noGrp="1"/>
          </p:cNvSpPr>
          <p:nvPr>
            <p:ph type="sldNum" sz="quarter" idx="12"/>
          </p:nvPr>
        </p:nvSpPr>
        <p:spPr/>
        <p:txBody>
          <a:bodyPr>
            <a:normAutofit lnSpcReduction="10000"/>
          </a:bodyPr>
          <a:lstStyle/>
          <a:p>
            <a:fld id="{B3A56E86-3D7C-4541-92E7-267EC584995E}" type="slidenum">
              <a:rPr lang="en-US" smtClean="0"/>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a:extLst>
              <a:ext uri="{FF2B5EF4-FFF2-40B4-BE49-F238E27FC236}">
                <a16:creationId xmlns="" xmlns:a16="http://schemas.microsoft.com/office/drawing/2014/main" id="{F99D0ABC-06F7-4CA2-AC1D-B49C2073F9F5}"/>
              </a:ext>
            </a:extLst>
          </p:cNvPr>
          <p:cNvSpPr>
            <a:spLocks noGrp="1" noChangeArrowheads="1"/>
          </p:cNvSpPr>
          <p:nvPr>
            <p:ph type="title"/>
          </p:nvPr>
        </p:nvSpPr>
        <p:spPr>
          <a:xfrm>
            <a:off x="2355166" y="379828"/>
            <a:ext cx="6934200" cy="838200"/>
          </a:xfrm>
        </p:spPr>
        <p:txBody>
          <a:bodyPr/>
          <a:lstStyle/>
          <a:p>
            <a:pPr algn="ctr" eaLnBrk="1" hangingPunct="1"/>
            <a:r>
              <a:rPr lang="en-US" altLang="en-US" dirty="0"/>
              <a:t>What is Data Mining?</a:t>
            </a:r>
          </a:p>
        </p:txBody>
      </p:sp>
      <p:sp>
        <p:nvSpPr>
          <p:cNvPr id="50179" name="Rectangle 3">
            <a:extLst>
              <a:ext uri="{FF2B5EF4-FFF2-40B4-BE49-F238E27FC236}">
                <a16:creationId xmlns="" xmlns:a16="http://schemas.microsoft.com/office/drawing/2014/main" id="{39AC67D3-3150-45D7-A165-A7A593F86DDC}"/>
              </a:ext>
            </a:extLst>
          </p:cNvPr>
          <p:cNvSpPr>
            <a:spLocks noGrp="1" noChangeArrowheads="1"/>
          </p:cNvSpPr>
          <p:nvPr>
            <p:ph idx="1"/>
          </p:nvPr>
        </p:nvSpPr>
        <p:spPr>
          <a:xfrm>
            <a:off x="1905000" y="1423988"/>
            <a:ext cx="8763000" cy="5434012"/>
          </a:xfrm>
        </p:spPr>
        <p:txBody>
          <a:bodyPr>
            <a:normAutofit/>
          </a:bodyPr>
          <a:lstStyle/>
          <a:p>
            <a:pPr eaLnBrk="1" hangingPunct="1">
              <a:lnSpc>
                <a:spcPct val="150000"/>
              </a:lnSpc>
            </a:pPr>
            <a:r>
              <a:rPr lang="en-US" altLang="en-US" sz="2400" dirty="0" smtClean="0"/>
              <a:t>Examples </a:t>
            </a:r>
            <a:r>
              <a:rPr lang="en-US" altLang="en-US" sz="2400" dirty="0"/>
              <a:t>of tasks addressed by Data Mining</a:t>
            </a:r>
          </a:p>
          <a:p>
            <a:pPr lvl="1" eaLnBrk="1" hangingPunct="1">
              <a:lnSpc>
                <a:spcPct val="150000"/>
              </a:lnSpc>
            </a:pPr>
            <a:r>
              <a:rPr lang="en-US" altLang="en-US" sz="2000" dirty="0"/>
              <a:t>Predictive Modeling (</a:t>
            </a:r>
            <a:r>
              <a:rPr lang="en-US" altLang="en-US" sz="2000" dirty="0" smtClean="0"/>
              <a:t>classification)</a:t>
            </a:r>
            <a:endParaRPr lang="en-US" altLang="en-US" sz="2000" dirty="0"/>
          </a:p>
          <a:p>
            <a:pPr lvl="1" eaLnBrk="1" hangingPunct="1">
              <a:lnSpc>
                <a:spcPct val="150000"/>
              </a:lnSpc>
            </a:pPr>
            <a:r>
              <a:rPr lang="en-US" altLang="en-US" sz="2000" dirty="0"/>
              <a:t>Segmentation (Data Clustering )</a:t>
            </a:r>
          </a:p>
          <a:p>
            <a:pPr lvl="1" eaLnBrk="1" hangingPunct="1">
              <a:lnSpc>
                <a:spcPct val="150000"/>
              </a:lnSpc>
            </a:pPr>
            <a:r>
              <a:rPr lang="en-US" altLang="en-US" sz="2000" dirty="0"/>
              <a:t>Summarization</a:t>
            </a:r>
          </a:p>
          <a:p>
            <a:pPr lvl="1" eaLnBrk="1" hangingPunct="1">
              <a:lnSpc>
                <a:spcPct val="150000"/>
              </a:lnSpc>
            </a:pPr>
            <a:r>
              <a:rPr lang="en-US" altLang="en-US" sz="2000" dirty="0" smtClean="0"/>
              <a:t>Visualization</a:t>
            </a:r>
          </a:p>
          <a:p>
            <a:pPr lvl="1" eaLnBrk="1" hangingPunct="1">
              <a:lnSpc>
                <a:spcPct val="150000"/>
              </a:lnSpc>
            </a:pPr>
            <a:endParaRPr lang="en-US" altLang="en-US" sz="2000" dirty="0"/>
          </a:p>
          <a:p>
            <a:pPr>
              <a:lnSpc>
                <a:spcPct val="90000"/>
              </a:lnSpc>
            </a:pPr>
            <a:r>
              <a:rPr lang="en-US" altLang="zh-TW" sz="2000" b="1" i="1" dirty="0">
                <a:solidFill>
                  <a:srgbClr val="FF0000"/>
                </a:solidFill>
                <a:latin typeface="Times New Roman" panose="02020603050405020304" pitchFamily="18" charset="0"/>
                <a:ea typeface="新細明體" panose="02020500000000000000" pitchFamily="18" charset="-120"/>
              </a:rPr>
              <a:t>Ex: Data mining software can help retail companies find customers with common interests.</a:t>
            </a:r>
          </a:p>
          <a:p>
            <a:pPr>
              <a:lnSpc>
                <a:spcPct val="90000"/>
              </a:lnSpc>
            </a:pPr>
            <a:endParaRPr lang="en-US" altLang="en-US" sz="2100" dirty="0"/>
          </a:p>
          <a:p>
            <a:pPr lvl="1" eaLnBrk="1" hangingPunct="1">
              <a:lnSpc>
                <a:spcPct val="150000"/>
              </a:lnSpc>
            </a:pPr>
            <a:endParaRPr lang="en-US" altLang="en-US" sz="2000" dirty="0"/>
          </a:p>
        </p:txBody>
      </p:sp>
      <p:sp>
        <p:nvSpPr>
          <p:cNvPr id="2" name="Slide Number Placeholder 1">
            <a:extLst>
              <a:ext uri="{FF2B5EF4-FFF2-40B4-BE49-F238E27FC236}">
                <a16:creationId xmlns="" xmlns:a16="http://schemas.microsoft.com/office/drawing/2014/main" id="{77AF0DE0-AA08-4344-8BC9-1E3E5386880A}"/>
              </a:ext>
            </a:extLst>
          </p:cNvPr>
          <p:cNvSpPr>
            <a:spLocks noGrp="1"/>
          </p:cNvSpPr>
          <p:nvPr>
            <p:ph type="sldNum" sz="quarter" idx="12"/>
          </p:nvPr>
        </p:nvSpPr>
        <p:spPr/>
        <p:txBody>
          <a:bodyPr>
            <a:normAutofit lnSpcReduction="10000"/>
          </a:bodyPr>
          <a:lstStyle/>
          <a:p>
            <a:fld id="{B3A56E86-3D7C-4541-92E7-267EC584995E}" type="slidenum">
              <a:rPr lang="en-US" smtClean="0"/>
              <a:t>21</a:t>
            </a:fld>
            <a:endParaRPr lang="en-US"/>
          </a:p>
        </p:txBody>
      </p:sp>
    </p:spTree>
    <p:extLst>
      <p:ext uri="{BB962C8B-B14F-4D97-AF65-F5344CB8AC3E}">
        <p14:creationId xmlns:p14="http://schemas.microsoft.com/office/powerpoint/2010/main" val="11951997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a:extLst>
              <a:ext uri="{FF2B5EF4-FFF2-40B4-BE49-F238E27FC236}">
                <a16:creationId xmlns="" xmlns:a16="http://schemas.microsoft.com/office/drawing/2014/main" id="{AAC81299-CF0B-44F9-B80C-2FC14AACBF31}"/>
              </a:ext>
            </a:extLst>
          </p:cNvPr>
          <p:cNvSpPr>
            <a:spLocks noGrp="1" noChangeArrowheads="1"/>
          </p:cNvSpPr>
          <p:nvPr>
            <p:ph type="title"/>
          </p:nvPr>
        </p:nvSpPr>
        <p:spPr>
          <a:xfrm>
            <a:off x="994586" y="0"/>
            <a:ext cx="9692640" cy="1325562"/>
          </a:xfrm>
        </p:spPr>
        <p:txBody>
          <a:bodyPr/>
          <a:lstStyle/>
          <a:p>
            <a:pPr algn="ctr" eaLnBrk="1" hangingPunct="1"/>
            <a:r>
              <a:rPr lang="en-US" altLang="en-US" dirty="0"/>
              <a:t>Data Mining</a:t>
            </a:r>
          </a:p>
        </p:txBody>
      </p:sp>
      <p:sp>
        <p:nvSpPr>
          <p:cNvPr id="2" name="Rectangle 3">
            <a:extLst>
              <a:ext uri="{FF2B5EF4-FFF2-40B4-BE49-F238E27FC236}">
                <a16:creationId xmlns="" xmlns:a16="http://schemas.microsoft.com/office/drawing/2014/main" id="{304D1199-1EF7-4777-924C-08B380368AE0}"/>
              </a:ext>
            </a:extLst>
          </p:cNvPr>
          <p:cNvSpPr>
            <a:spLocks noGrp="1" noChangeArrowheads="1"/>
          </p:cNvSpPr>
          <p:nvPr>
            <p:ph idx="1"/>
          </p:nvPr>
        </p:nvSpPr>
        <p:spPr/>
        <p:txBody>
          <a:bodyPr/>
          <a:lstStyle/>
          <a:p>
            <a:pPr eaLnBrk="1" hangingPunct="1"/>
            <a:r>
              <a:rPr lang="en-US" altLang="en-US" sz="2600" dirty="0"/>
              <a:t>Data Mining is a step of Knowledge Discovery in Databases (</a:t>
            </a:r>
            <a:r>
              <a:rPr lang="en-US" altLang="en-US" sz="2600" dirty="0">
                <a:solidFill>
                  <a:schemeClr val="tx2"/>
                </a:solidFill>
              </a:rPr>
              <a:t>KDD</a:t>
            </a:r>
            <a:r>
              <a:rPr lang="en-US" altLang="en-US" sz="2600" dirty="0"/>
              <a:t>) </a:t>
            </a:r>
            <a:r>
              <a:rPr lang="en-US" altLang="en-US" sz="2600" dirty="0" smtClean="0"/>
              <a:t>Process, which includes:</a:t>
            </a:r>
            <a:endParaRPr lang="en-US" altLang="en-US" sz="2600" dirty="0"/>
          </a:p>
          <a:p>
            <a:pPr lvl="1" eaLnBrk="1" hangingPunct="1"/>
            <a:r>
              <a:rPr lang="en-US" altLang="en-US" sz="2200" dirty="0">
                <a:solidFill>
                  <a:srgbClr val="00B0F0"/>
                </a:solidFill>
              </a:rPr>
              <a:t>Data Warehousing</a:t>
            </a:r>
          </a:p>
          <a:p>
            <a:pPr lvl="1" eaLnBrk="1" hangingPunct="1"/>
            <a:r>
              <a:rPr lang="en-US" altLang="en-US" sz="2200" dirty="0">
                <a:solidFill>
                  <a:srgbClr val="00B0F0"/>
                </a:solidFill>
              </a:rPr>
              <a:t>Data Selection</a:t>
            </a:r>
          </a:p>
          <a:p>
            <a:pPr lvl="1" eaLnBrk="1" hangingPunct="1"/>
            <a:r>
              <a:rPr lang="en-US" altLang="en-US" sz="2200" dirty="0">
                <a:solidFill>
                  <a:srgbClr val="00B0F0"/>
                </a:solidFill>
              </a:rPr>
              <a:t>Data Preprocessing</a:t>
            </a:r>
          </a:p>
          <a:p>
            <a:pPr lvl="1" eaLnBrk="1" hangingPunct="1"/>
            <a:r>
              <a:rPr lang="en-US" altLang="en-US" sz="2200" dirty="0">
                <a:solidFill>
                  <a:srgbClr val="00B0F0"/>
                </a:solidFill>
              </a:rPr>
              <a:t>Data Transformation</a:t>
            </a:r>
          </a:p>
          <a:p>
            <a:pPr lvl="1" eaLnBrk="1" hangingPunct="1"/>
            <a:r>
              <a:rPr lang="en-US" altLang="en-US" sz="2200" dirty="0">
                <a:solidFill>
                  <a:srgbClr val="FF0000"/>
                </a:solidFill>
              </a:rPr>
              <a:t>Data Mining</a:t>
            </a:r>
          </a:p>
          <a:p>
            <a:pPr lvl="1" eaLnBrk="1" hangingPunct="1"/>
            <a:r>
              <a:rPr lang="en-US" altLang="en-US" sz="2200" dirty="0">
                <a:solidFill>
                  <a:srgbClr val="00B0F0"/>
                </a:solidFill>
              </a:rPr>
              <a:t>Interpretation/Evaluation</a:t>
            </a:r>
          </a:p>
          <a:p>
            <a:pPr eaLnBrk="1" hangingPunct="1"/>
            <a:r>
              <a:rPr lang="en-US" altLang="en-US" sz="2600" dirty="0"/>
              <a:t>Data Mining is sometimes referred to as KDD and DM and KDD tend to be used as synonyms</a:t>
            </a:r>
          </a:p>
        </p:txBody>
      </p:sp>
      <p:sp>
        <p:nvSpPr>
          <p:cNvPr id="55298" name="Slide Number Placeholder 5">
            <a:extLst>
              <a:ext uri="{FF2B5EF4-FFF2-40B4-BE49-F238E27FC236}">
                <a16:creationId xmlns="" xmlns:a16="http://schemas.microsoft.com/office/drawing/2014/main" id="{B120C6CA-E0D9-42CD-874E-7740FE824AF3}"/>
              </a:ext>
            </a:extLst>
          </p:cNvPr>
          <p:cNvSpPr>
            <a:spLocks noGrp="1"/>
          </p:cNvSpPr>
          <p:nvPr>
            <p:ph type="sldNum" sz="quarter" idx="12"/>
          </p:nvPr>
        </p:nvSpPr>
        <p:spPr>
          <a:xfrm>
            <a:off x="8077200" y="62484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BF6611E8-EC6B-4537-9E05-3E64C3474B32}" type="slidenum">
              <a:rPr lang="en-US" altLang="en-US" sz="1400">
                <a:solidFill>
                  <a:schemeClr val="tx1"/>
                </a:solidFill>
                <a:latin typeface="Arial" panose="020B0604020202020204" pitchFamily="34" charset="0"/>
              </a:rPr>
              <a:pPr/>
              <a:t>22</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checkerboard(across)">
                                      <p:cBhvr>
                                        <p:cTn id="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normAutofit lnSpcReduction="10000"/>
          </a:bodyPr>
          <a:lstStyle/>
          <a:p>
            <a:fld id="{B3A56E86-3D7C-4541-92E7-267EC584995E}" type="slidenum">
              <a:rPr lang="en-US" smtClean="0"/>
              <a:t>23</a:t>
            </a:fld>
            <a:endParaRPr lang="en-US"/>
          </a:p>
        </p:txBody>
      </p:sp>
      <p:pic>
        <p:nvPicPr>
          <p:cNvPr id="14338" name="Picture 2" descr="Image result for knowledge discover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1077303" cy="59647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15231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a:extLst>
              <a:ext uri="{FF2B5EF4-FFF2-40B4-BE49-F238E27FC236}">
                <a16:creationId xmlns="" xmlns:a16="http://schemas.microsoft.com/office/drawing/2014/main" id="{BC5F8071-D99D-4A3A-AF0F-3D4BA27243C2}"/>
              </a:ext>
            </a:extLst>
          </p:cNvPr>
          <p:cNvSpPr>
            <a:spLocks noGrp="1" noChangeArrowheads="1"/>
          </p:cNvSpPr>
          <p:nvPr>
            <p:ph type="title"/>
          </p:nvPr>
        </p:nvSpPr>
        <p:spPr>
          <a:xfrm>
            <a:off x="1107127" y="-193674"/>
            <a:ext cx="9692640" cy="1325562"/>
          </a:xfrm>
        </p:spPr>
        <p:txBody>
          <a:bodyPr/>
          <a:lstStyle/>
          <a:p>
            <a:pPr algn="ctr" eaLnBrk="1" hangingPunct="1"/>
            <a:r>
              <a:rPr lang="en-US" altLang="en-US" dirty="0"/>
              <a:t>Data Mining is </a:t>
            </a:r>
            <a:r>
              <a:rPr lang="en-US" altLang="en-US" dirty="0">
                <a:solidFill>
                  <a:srgbClr val="FF0000"/>
                </a:solidFill>
              </a:rPr>
              <a:t>Not …</a:t>
            </a:r>
          </a:p>
        </p:txBody>
      </p:sp>
      <p:sp>
        <p:nvSpPr>
          <p:cNvPr id="57348" name="Rectangle 3">
            <a:extLst>
              <a:ext uri="{FF2B5EF4-FFF2-40B4-BE49-F238E27FC236}">
                <a16:creationId xmlns="" xmlns:a16="http://schemas.microsoft.com/office/drawing/2014/main" id="{B6485EEE-4A99-4344-B8F8-A60FE3E3A52D}"/>
              </a:ext>
            </a:extLst>
          </p:cNvPr>
          <p:cNvSpPr>
            <a:spLocks noGrp="1" noChangeArrowheads="1"/>
          </p:cNvSpPr>
          <p:nvPr>
            <p:ph idx="1"/>
          </p:nvPr>
        </p:nvSpPr>
        <p:spPr/>
        <p:txBody>
          <a:bodyPr>
            <a:normAutofit/>
          </a:bodyPr>
          <a:lstStyle/>
          <a:p>
            <a:pPr eaLnBrk="1" hangingPunct="1"/>
            <a:r>
              <a:rPr lang="en-US" altLang="en-US" sz="2400" dirty="0"/>
              <a:t>Data warehousing </a:t>
            </a:r>
          </a:p>
          <a:p>
            <a:pPr eaLnBrk="1" hangingPunct="1"/>
            <a:r>
              <a:rPr lang="en-US" altLang="en-US" sz="2400" dirty="0"/>
              <a:t>SQL / Ad Hoc Queries / Reporting </a:t>
            </a:r>
          </a:p>
          <a:p>
            <a:pPr eaLnBrk="1" hangingPunct="1"/>
            <a:r>
              <a:rPr lang="en-US" altLang="en-US" sz="2400" dirty="0"/>
              <a:t>Software Agents </a:t>
            </a:r>
          </a:p>
          <a:p>
            <a:pPr eaLnBrk="1" hangingPunct="1"/>
            <a:r>
              <a:rPr lang="en-US" altLang="en-US" sz="2400" dirty="0"/>
              <a:t>Online Analytical Processing (OLAP) </a:t>
            </a:r>
          </a:p>
          <a:p>
            <a:pPr eaLnBrk="1" hangingPunct="1"/>
            <a:r>
              <a:rPr lang="en-US" altLang="en-US" sz="2400" dirty="0"/>
              <a:t>Data Visualization</a:t>
            </a:r>
          </a:p>
        </p:txBody>
      </p:sp>
      <p:sp>
        <p:nvSpPr>
          <p:cNvPr id="57346" name="Slide Number Placeholder 5">
            <a:extLst>
              <a:ext uri="{FF2B5EF4-FFF2-40B4-BE49-F238E27FC236}">
                <a16:creationId xmlns="" xmlns:a16="http://schemas.microsoft.com/office/drawing/2014/main" id="{B1EAF975-9816-4456-8EE7-B0940557E05F}"/>
              </a:ext>
            </a:extLst>
          </p:cNvPr>
          <p:cNvSpPr>
            <a:spLocks noGrp="1"/>
          </p:cNvSpPr>
          <p:nvPr>
            <p:ph type="sldNum" sz="quarter" idx="12"/>
          </p:nvPr>
        </p:nvSpPr>
        <p:spPr>
          <a:xfrm>
            <a:off x="8077200" y="62484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52CA543A-87FD-4950-B943-C1421E93C792}" type="slidenum">
              <a:rPr lang="en-US" altLang="en-US" sz="1400">
                <a:solidFill>
                  <a:schemeClr val="tx1"/>
                </a:solidFill>
                <a:latin typeface="Arial" panose="020B0604020202020204" pitchFamily="34" charset="0"/>
              </a:rPr>
              <a:pPr/>
              <a:t>24</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a:extLst>
              <a:ext uri="{FF2B5EF4-FFF2-40B4-BE49-F238E27FC236}">
                <a16:creationId xmlns="" xmlns:a16="http://schemas.microsoft.com/office/drawing/2014/main" id="{80D1B5C9-5D1D-4492-B6B1-F86FDF87B0E1}"/>
              </a:ext>
            </a:extLst>
          </p:cNvPr>
          <p:cNvSpPr>
            <a:spLocks noGrp="1" noChangeArrowheads="1"/>
          </p:cNvSpPr>
          <p:nvPr>
            <p:ph type="title"/>
          </p:nvPr>
        </p:nvSpPr>
        <p:spPr>
          <a:xfrm>
            <a:off x="653693" y="365125"/>
            <a:ext cx="10884613" cy="785581"/>
          </a:xfrm>
          <a:noFill/>
        </p:spPr>
        <p:txBody>
          <a:bodyPr vert="horz" lIns="92075" tIns="46038" rIns="92075" bIns="46038" rtlCol="0" anchor="ctr">
            <a:normAutofit fontScale="90000"/>
          </a:bodyPr>
          <a:lstStyle/>
          <a:p>
            <a:pPr algn="ctr">
              <a:lnSpc>
                <a:spcPct val="90000"/>
              </a:lnSpc>
            </a:pPr>
            <a:r>
              <a:rPr lang="en-US" altLang="en-US" dirty="0"/>
              <a:t>Major Application Areas for </a:t>
            </a:r>
            <a:br>
              <a:rPr lang="en-US" altLang="en-US" dirty="0"/>
            </a:br>
            <a:r>
              <a:rPr lang="en-US" altLang="en-US" dirty="0"/>
              <a:t>Data Mining Solutions</a:t>
            </a:r>
          </a:p>
        </p:txBody>
      </p:sp>
      <p:sp>
        <p:nvSpPr>
          <p:cNvPr id="52228" name="Rectangle 3">
            <a:extLst>
              <a:ext uri="{FF2B5EF4-FFF2-40B4-BE49-F238E27FC236}">
                <a16:creationId xmlns="" xmlns:a16="http://schemas.microsoft.com/office/drawing/2014/main" id="{596C31E6-E8F8-4590-B818-55A84A47D64D}"/>
              </a:ext>
            </a:extLst>
          </p:cNvPr>
          <p:cNvSpPr>
            <a:spLocks noGrp="1" noChangeArrowheads="1"/>
          </p:cNvSpPr>
          <p:nvPr>
            <p:ph sz="half" idx="1"/>
          </p:nvPr>
        </p:nvSpPr>
        <p:spPr>
          <a:xfrm>
            <a:off x="2209800" y="2038350"/>
            <a:ext cx="7772400" cy="4419600"/>
          </a:xfrm>
          <a:noFill/>
        </p:spPr>
        <p:txBody>
          <a:bodyPr vert="horz" lIns="92075" tIns="46038" rIns="92075" bIns="46038" rtlCol="0">
            <a:normAutofit fontScale="92500" lnSpcReduction="20000"/>
          </a:bodyPr>
          <a:lstStyle/>
          <a:p>
            <a:pPr>
              <a:lnSpc>
                <a:spcPct val="70000"/>
              </a:lnSpc>
            </a:pPr>
            <a:r>
              <a:rPr lang="en-US" altLang="en-US" sz="2400" dirty="0"/>
              <a:t>Advertising</a:t>
            </a:r>
          </a:p>
          <a:p>
            <a:pPr>
              <a:lnSpc>
                <a:spcPct val="70000"/>
              </a:lnSpc>
            </a:pPr>
            <a:r>
              <a:rPr lang="en-US" altLang="en-US" sz="2400" dirty="0"/>
              <a:t>Bioinformatics</a:t>
            </a:r>
          </a:p>
          <a:p>
            <a:pPr>
              <a:lnSpc>
                <a:spcPct val="70000"/>
              </a:lnSpc>
            </a:pPr>
            <a:r>
              <a:rPr lang="en-US" altLang="en-US" sz="2400" dirty="0"/>
              <a:t>Customer Relationship Management (CRM)</a:t>
            </a:r>
          </a:p>
          <a:p>
            <a:pPr>
              <a:lnSpc>
                <a:spcPct val="70000"/>
              </a:lnSpc>
            </a:pPr>
            <a:r>
              <a:rPr lang="en-US" altLang="en-US" sz="2400" dirty="0"/>
              <a:t>Database Marketing 	</a:t>
            </a:r>
          </a:p>
          <a:p>
            <a:pPr>
              <a:lnSpc>
                <a:spcPct val="70000"/>
              </a:lnSpc>
            </a:pPr>
            <a:r>
              <a:rPr lang="en-US" altLang="en-US" sz="2400" dirty="0"/>
              <a:t>Fraud Detection </a:t>
            </a:r>
          </a:p>
          <a:p>
            <a:pPr>
              <a:lnSpc>
                <a:spcPct val="70000"/>
              </a:lnSpc>
            </a:pPr>
            <a:r>
              <a:rPr lang="en-US" altLang="en-US" sz="2400" dirty="0" smtClean="0"/>
              <a:t>E-Commerce</a:t>
            </a:r>
            <a:endParaRPr lang="en-US" altLang="en-US" sz="2400" dirty="0"/>
          </a:p>
          <a:p>
            <a:pPr>
              <a:lnSpc>
                <a:spcPct val="70000"/>
              </a:lnSpc>
            </a:pPr>
            <a:r>
              <a:rPr lang="en-US" altLang="en-US" sz="2400" dirty="0"/>
              <a:t>Health Care</a:t>
            </a:r>
          </a:p>
          <a:p>
            <a:pPr>
              <a:lnSpc>
                <a:spcPct val="70000"/>
              </a:lnSpc>
            </a:pPr>
            <a:r>
              <a:rPr lang="en-US" altLang="en-US" sz="2400" dirty="0"/>
              <a:t>Investment/Securities</a:t>
            </a:r>
          </a:p>
          <a:p>
            <a:pPr>
              <a:lnSpc>
                <a:spcPct val="70000"/>
              </a:lnSpc>
            </a:pPr>
            <a:r>
              <a:rPr lang="en-US" altLang="en-US" sz="2400" dirty="0"/>
              <a:t>Manufacturing, Process Control</a:t>
            </a:r>
          </a:p>
          <a:p>
            <a:pPr>
              <a:lnSpc>
                <a:spcPct val="70000"/>
              </a:lnSpc>
            </a:pPr>
            <a:r>
              <a:rPr lang="en-US" altLang="en-US" sz="2400" dirty="0"/>
              <a:t>Sports and Entertainment </a:t>
            </a:r>
          </a:p>
          <a:p>
            <a:pPr>
              <a:lnSpc>
                <a:spcPct val="70000"/>
              </a:lnSpc>
            </a:pPr>
            <a:r>
              <a:rPr lang="en-US" altLang="en-US" sz="2400" dirty="0"/>
              <a:t>Telecommunications</a:t>
            </a:r>
          </a:p>
          <a:p>
            <a:pPr>
              <a:lnSpc>
                <a:spcPct val="70000"/>
              </a:lnSpc>
            </a:pPr>
            <a:r>
              <a:rPr lang="en-US" altLang="en-US" sz="2400" dirty="0"/>
              <a:t>Web</a:t>
            </a:r>
          </a:p>
        </p:txBody>
      </p:sp>
      <p:sp>
        <p:nvSpPr>
          <p:cNvPr id="52226" name="Slide Number Placeholder 4">
            <a:extLst>
              <a:ext uri="{FF2B5EF4-FFF2-40B4-BE49-F238E27FC236}">
                <a16:creationId xmlns="" xmlns:a16="http://schemas.microsoft.com/office/drawing/2014/main" id="{C16F6192-B89A-4DE8-80B7-13BAFCF97B94}"/>
              </a:ext>
            </a:extLst>
          </p:cNvPr>
          <p:cNvSpPr>
            <a:spLocks noGrp="1"/>
          </p:cNvSpPr>
          <p:nvPr>
            <p:ph type="sldNum" sz="quarter" idx="12"/>
          </p:nvPr>
        </p:nvSpPr>
        <p:spPr>
          <a:xfrm>
            <a:off x="4648200" y="622935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lgn="ctr"/>
            <a:fld id="{99D9BA31-0177-4534-AE0B-E83164B12793}" type="slidenum">
              <a:rPr lang="en-US" altLang="en-US" sz="1400">
                <a:solidFill>
                  <a:schemeClr val="bg2"/>
                </a:solidFill>
                <a:latin typeface="Arial" panose="020B0604020202020204" pitchFamily="34" charset="0"/>
              </a:rPr>
              <a:pPr algn="ctr"/>
              <a:t>25</a:t>
            </a:fld>
            <a:endParaRPr lang="en-US" altLang="en-US" sz="1400">
              <a:solidFill>
                <a:schemeClr val="bg2"/>
              </a:solidFill>
              <a:latin typeface="Arial" panose="020B0604020202020204" pitchFamily="34" charset="0"/>
            </a:endParaRPr>
          </a:p>
        </p:txBody>
      </p:sp>
    </p:spTree>
    <p:extLst>
      <p:ext uri="{BB962C8B-B14F-4D97-AF65-F5344CB8AC3E}">
        <p14:creationId xmlns:p14="http://schemas.microsoft.com/office/powerpoint/2010/main" val="1282419197"/>
      </p:ext>
    </p:extLst>
  </p:cSld>
  <p:clrMapOvr>
    <a:masterClrMapping/>
  </p:clrMapOvr>
  <p:transition>
    <p:strips dir="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 xmlns:a16="http://schemas.microsoft.com/office/drawing/2014/main" id="{0FE12F71-80F2-42E1-B157-6800067CB918}"/>
              </a:ext>
            </a:extLst>
          </p:cNvPr>
          <p:cNvSpPr>
            <a:spLocks noGrp="1" noRot="1" noChangeArrowheads="1"/>
          </p:cNvSpPr>
          <p:nvPr>
            <p:ph type="title"/>
          </p:nvPr>
        </p:nvSpPr>
        <p:spPr>
          <a:xfrm>
            <a:off x="839841" y="0"/>
            <a:ext cx="9692640" cy="1325562"/>
          </a:xfrm>
        </p:spPr>
        <p:txBody>
          <a:bodyPr/>
          <a:lstStyle/>
          <a:p>
            <a:pPr algn="ctr" eaLnBrk="1" hangingPunct="1"/>
            <a:r>
              <a:rPr lang="en-US" altLang="zh-TW" dirty="0">
                <a:latin typeface="Times New Roman" panose="02020603050405020304" pitchFamily="18" charset="0"/>
                <a:ea typeface="新細明體" panose="02020500000000000000" pitchFamily="18" charset="-120"/>
              </a:rPr>
              <a:t>The Need for Data Mining</a:t>
            </a:r>
          </a:p>
        </p:txBody>
      </p:sp>
      <p:sp>
        <p:nvSpPr>
          <p:cNvPr id="47107" name="Rectangle 3">
            <a:extLst>
              <a:ext uri="{FF2B5EF4-FFF2-40B4-BE49-F238E27FC236}">
                <a16:creationId xmlns="" xmlns:a16="http://schemas.microsoft.com/office/drawing/2014/main" id="{3454B401-577F-4FAF-B6D3-B733B4FC9412}"/>
              </a:ext>
            </a:extLst>
          </p:cNvPr>
          <p:cNvSpPr>
            <a:spLocks noGrp="1" noChangeArrowheads="1"/>
          </p:cNvSpPr>
          <p:nvPr>
            <p:ph idx="1"/>
          </p:nvPr>
        </p:nvSpPr>
        <p:spPr>
          <a:xfrm>
            <a:off x="1261872" y="1631852"/>
            <a:ext cx="9879740" cy="4548285"/>
          </a:xfrm>
        </p:spPr>
        <p:txBody>
          <a:bodyPr>
            <a:normAutofit/>
          </a:bodyPr>
          <a:lstStyle/>
          <a:p>
            <a:pPr eaLnBrk="1" hangingPunct="1"/>
            <a:r>
              <a:rPr lang="en-US" altLang="zh-TW" sz="2400" dirty="0">
                <a:latin typeface="Times New Roman" panose="02020603050405020304" pitchFamily="18" charset="0"/>
                <a:ea typeface="新細明體" panose="02020500000000000000" pitchFamily="18" charset="-120"/>
              </a:rPr>
              <a:t>The amount of raw data stored in corporate data warehouses is growing rapidly. </a:t>
            </a:r>
            <a:r>
              <a:rPr lang="en-US" altLang="zh-TW" sz="2400" dirty="0" smtClean="0">
                <a:latin typeface="Times New Roman" panose="02020603050405020304" pitchFamily="18" charset="0"/>
                <a:ea typeface="新細明體" panose="02020500000000000000" pitchFamily="18" charset="-120"/>
              </a:rPr>
              <a:t/>
            </a:r>
            <a:br>
              <a:rPr lang="en-US" altLang="zh-TW" sz="2400" dirty="0" smtClean="0">
                <a:latin typeface="Times New Roman" panose="02020603050405020304" pitchFamily="18" charset="0"/>
                <a:ea typeface="新細明體" panose="02020500000000000000" pitchFamily="18" charset="-120"/>
              </a:rPr>
            </a:br>
            <a:endParaRPr lang="en-US" altLang="zh-TW" sz="2400" dirty="0">
              <a:latin typeface="Times New Roman" panose="02020603050405020304" pitchFamily="18" charset="0"/>
              <a:ea typeface="新細明體" panose="02020500000000000000" pitchFamily="18" charset="-120"/>
            </a:endParaRPr>
          </a:p>
          <a:p>
            <a:pPr eaLnBrk="1" hangingPunct="1"/>
            <a:r>
              <a:rPr lang="en-US" altLang="zh-TW" sz="2400" dirty="0">
                <a:latin typeface="Times New Roman" panose="02020603050405020304" pitchFamily="18" charset="0"/>
                <a:ea typeface="新細明體" panose="02020500000000000000" pitchFamily="18" charset="-120"/>
              </a:rPr>
              <a:t>There is too much data and complexity that might be relevant to a specific problem. </a:t>
            </a:r>
            <a:r>
              <a:rPr lang="en-US" altLang="zh-TW" sz="2400" dirty="0" smtClean="0">
                <a:latin typeface="Times New Roman" panose="02020603050405020304" pitchFamily="18" charset="0"/>
                <a:ea typeface="新細明體" panose="02020500000000000000" pitchFamily="18" charset="-120"/>
              </a:rPr>
              <a:t/>
            </a:r>
            <a:br>
              <a:rPr lang="en-US" altLang="zh-TW" sz="2400" dirty="0" smtClean="0">
                <a:latin typeface="Times New Roman" panose="02020603050405020304" pitchFamily="18" charset="0"/>
                <a:ea typeface="新細明體" panose="02020500000000000000" pitchFamily="18" charset="-120"/>
              </a:rPr>
            </a:br>
            <a:endParaRPr lang="en-US" altLang="zh-TW" sz="2400" dirty="0">
              <a:latin typeface="Times New Roman" panose="02020603050405020304" pitchFamily="18" charset="0"/>
              <a:ea typeface="新細明體" panose="02020500000000000000" pitchFamily="18" charset="-120"/>
            </a:endParaRPr>
          </a:p>
          <a:p>
            <a:pPr eaLnBrk="1" hangingPunct="1"/>
            <a:r>
              <a:rPr lang="en-US" altLang="zh-TW" sz="2400" dirty="0">
                <a:latin typeface="Times New Roman" panose="02020603050405020304" pitchFamily="18" charset="0"/>
                <a:ea typeface="新細明體" panose="02020500000000000000" pitchFamily="18" charset="-120"/>
              </a:rPr>
              <a:t>Data mining promises to bridge the analytical gap by giving </a:t>
            </a:r>
            <a:r>
              <a:rPr lang="en-US" altLang="zh-TW" sz="2400" dirty="0" smtClean="0">
                <a:latin typeface="Times New Roman" panose="02020603050405020304" pitchFamily="18" charset="0"/>
                <a:ea typeface="新細明體" panose="02020500000000000000" pitchFamily="18" charset="-120"/>
              </a:rPr>
              <a:t>knowledge workers </a:t>
            </a:r>
            <a:r>
              <a:rPr lang="en-US" altLang="zh-TW" sz="2400" dirty="0">
                <a:latin typeface="Times New Roman" panose="02020603050405020304" pitchFamily="18" charset="0"/>
                <a:ea typeface="新細明體" panose="02020500000000000000" pitchFamily="18" charset="-120"/>
              </a:rPr>
              <a:t>the tools to navigate this complex analytical space. </a:t>
            </a:r>
            <a:endParaRPr lang="en-US" altLang="zh-TW" sz="2400" dirty="0" smtClean="0">
              <a:latin typeface="Times New Roman" panose="02020603050405020304" pitchFamily="18" charset="0"/>
              <a:ea typeface="新細明體" panose="02020500000000000000" pitchFamily="18" charset="-120"/>
            </a:endParaRPr>
          </a:p>
          <a:p>
            <a:r>
              <a:rPr lang="en-US" altLang="zh-TW" sz="2400" dirty="0">
                <a:latin typeface="Times New Roman" panose="02020603050405020304" pitchFamily="18" charset="0"/>
                <a:ea typeface="新細明體" panose="02020500000000000000" pitchFamily="18" charset="-120"/>
              </a:rPr>
              <a:t>The need for information has resulted in the proliferation of data warehouses that integrate information multiple sources to support decision making. </a:t>
            </a:r>
          </a:p>
        </p:txBody>
      </p:sp>
      <p:sp>
        <p:nvSpPr>
          <p:cNvPr id="2" name="Slide Number Placeholder 1">
            <a:extLst>
              <a:ext uri="{FF2B5EF4-FFF2-40B4-BE49-F238E27FC236}">
                <a16:creationId xmlns="" xmlns:a16="http://schemas.microsoft.com/office/drawing/2014/main" id="{D9DECFCD-A78C-4B35-89FF-2EC4A46365B0}"/>
              </a:ext>
            </a:extLst>
          </p:cNvPr>
          <p:cNvSpPr>
            <a:spLocks noGrp="1"/>
          </p:cNvSpPr>
          <p:nvPr>
            <p:ph type="sldNum" sz="quarter" idx="12"/>
          </p:nvPr>
        </p:nvSpPr>
        <p:spPr/>
        <p:txBody>
          <a:bodyPr>
            <a:normAutofit lnSpcReduction="10000"/>
          </a:bodyPr>
          <a:lstStyle/>
          <a:p>
            <a:fld id="{B3A56E86-3D7C-4541-92E7-267EC584995E}" type="slidenum">
              <a:rPr lang="en-US" smtClean="0"/>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502" y="1505242"/>
            <a:ext cx="9692640" cy="2785403"/>
          </a:xfrm>
        </p:spPr>
        <p:txBody>
          <a:bodyPr>
            <a:normAutofit/>
          </a:bodyPr>
          <a:lstStyle/>
          <a:p>
            <a:pPr algn="ctr">
              <a:lnSpc>
                <a:spcPct val="150000"/>
              </a:lnSpc>
            </a:pPr>
            <a:r>
              <a:rPr lang="en-US" dirty="0" err="1" smtClean="0"/>
              <a:t>Sutna</a:t>
            </a:r>
            <a:r>
              <a:rPr lang="en-US" dirty="0" smtClean="0"/>
              <a:t> </a:t>
            </a:r>
            <a:r>
              <a:rPr lang="en-US" dirty="0" err="1" smtClean="0"/>
              <a:t>pugyo</a:t>
            </a:r>
            <a:r>
              <a:rPr lang="en-US" dirty="0" smtClean="0"/>
              <a:t>?</a:t>
            </a:r>
            <a:br>
              <a:rPr lang="en-US" dirty="0" smtClean="0"/>
            </a:br>
            <a:r>
              <a:rPr lang="en-US" dirty="0" smtClean="0"/>
              <a:t>Aba </a:t>
            </a:r>
            <a:r>
              <a:rPr lang="en-US" dirty="0" err="1" smtClean="0"/>
              <a:t>uthne</a:t>
            </a:r>
            <a:r>
              <a:rPr lang="en-US" dirty="0" smtClean="0"/>
              <a:t> Attendance </a:t>
            </a:r>
            <a:r>
              <a:rPr lang="en-US" dirty="0" err="1" smtClean="0"/>
              <a:t>hudai</a:t>
            </a:r>
            <a:r>
              <a:rPr lang="en-US" dirty="0" smtClean="0"/>
              <a:t> </a:t>
            </a:r>
            <a:r>
              <a:rPr lang="en-US" dirty="0" err="1" smtClean="0"/>
              <a:t>xa</a:t>
            </a:r>
            <a:r>
              <a:rPr lang="en-US" dirty="0" smtClean="0"/>
              <a:t>!</a:t>
            </a:r>
            <a:endParaRPr lang="en-US" dirty="0"/>
          </a:p>
        </p:txBody>
      </p:sp>
      <p:sp>
        <p:nvSpPr>
          <p:cNvPr id="4" name="Slide Number Placeholder 3"/>
          <p:cNvSpPr>
            <a:spLocks noGrp="1"/>
          </p:cNvSpPr>
          <p:nvPr>
            <p:ph type="sldNum" sz="quarter" idx="12"/>
          </p:nvPr>
        </p:nvSpPr>
        <p:spPr/>
        <p:txBody>
          <a:bodyPr>
            <a:normAutofit lnSpcReduction="10000"/>
          </a:bodyPr>
          <a:lstStyle/>
          <a:p>
            <a:fld id="{B3A56E86-3D7C-4541-92E7-267EC584995E}" type="slidenum">
              <a:rPr lang="en-US" smtClean="0"/>
              <a:t>27</a:t>
            </a:fld>
            <a:endParaRPr lang="en-US"/>
          </a:p>
        </p:txBody>
      </p:sp>
    </p:spTree>
    <p:extLst>
      <p:ext uri="{BB962C8B-B14F-4D97-AF65-F5344CB8AC3E}">
        <p14:creationId xmlns:p14="http://schemas.microsoft.com/office/powerpoint/2010/main" val="36297383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 xmlns:a16="http://schemas.microsoft.com/office/drawing/2014/main" id="{1AAEEB8F-FD63-4214-8F6F-853F7AD1DCBB}"/>
              </a:ext>
            </a:extLst>
          </p:cNvPr>
          <p:cNvSpPr>
            <a:spLocks noGrp="1" noChangeArrowheads="1"/>
          </p:cNvSpPr>
          <p:nvPr>
            <p:ph type="title"/>
          </p:nvPr>
        </p:nvSpPr>
        <p:spPr>
          <a:xfrm>
            <a:off x="952383" y="0"/>
            <a:ext cx="9692640" cy="1325562"/>
          </a:xfrm>
        </p:spPr>
        <p:txBody>
          <a:bodyPr/>
          <a:lstStyle/>
          <a:p>
            <a:pPr algn="ctr"/>
            <a:r>
              <a:rPr lang="en-US" altLang="en-US" dirty="0"/>
              <a:t>Data Mining Step in Detail</a:t>
            </a:r>
          </a:p>
        </p:txBody>
      </p:sp>
      <p:sp>
        <p:nvSpPr>
          <p:cNvPr id="65539" name="Rectangle 3">
            <a:extLst>
              <a:ext uri="{FF2B5EF4-FFF2-40B4-BE49-F238E27FC236}">
                <a16:creationId xmlns="" xmlns:a16="http://schemas.microsoft.com/office/drawing/2014/main" id="{C3192B7C-4BFA-42F3-A4F5-C349D6465CF1}"/>
              </a:ext>
            </a:extLst>
          </p:cNvPr>
          <p:cNvSpPr>
            <a:spLocks noGrp="1" noChangeArrowheads="1"/>
          </p:cNvSpPr>
          <p:nvPr>
            <p:ph idx="1"/>
          </p:nvPr>
        </p:nvSpPr>
        <p:spPr/>
        <p:txBody>
          <a:bodyPr>
            <a:normAutofit/>
          </a:bodyPr>
          <a:lstStyle/>
          <a:p>
            <a:pPr marL="609600" indent="-609600">
              <a:buNone/>
            </a:pPr>
            <a:r>
              <a:rPr lang="en-US" altLang="en-US" sz="2400" dirty="0"/>
              <a:t>2.1 Data preprocessing</a:t>
            </a:r>
          </a:p>
          <a:p>
            <a:pPr marL="990600" lvl="1" indent="-533400"/>
            <a:r>
              <a:rPr lang="en-US" altLang="en-US" sz="2000" dirty="0"/>
              <a:t>Data selection: Identify target datasets and relevant fields</a:t>
            </a:r>
          </a:p>
          <a:p>
            <a:pPr marL="990600" lvl="1" indent="-533400"/>
            <a:r>
              <a:rPr lang="en-US" altLang="en-US" sz="2000" dirty="0"/>
              <a:t>Data cleaning</a:t>
            </a:r>
          </a:p>
          <a:p>
            <a:pPr marL="1371600" lvl="2" indent="-457200"/>
            <a:r>
              <a:rPr lang="en-US" altLang="en-US" sz="1800" dirty="0"/>
              <a:t>Remove noise and outliers</a:t>
            </a:r>
          </a:p>
          <a:p>
            <a:pPr marL="1371600" lvl="2" indent="-457200"/>
            <a:r>
              <a:rPr lang="en-US" altLang="en-US" sz="1800" dirty="0"/>
              <a:t>Data transformation</a:t>
            </a:r>
          </a:p>
          <a:p>
            <a:pPr marL="1371600" lvl="2" indent="-457200"/>
            <a:r>
              <a:rPr lang="en-US" altLang="en-US" sz="1800" dirty="0"/>
              <a:t>Create common units</a:t>
            </a:r>
          </a:p>
          <a:p>
            <a:pPr marL="1371600" lvl="2" indent="-457200"/>
            <a:r>
              <a:rPr lang="en-US" altLang="en-US" sz="1800" dirty="0"/>
              <a:t>Generate new fields</a:t>
            </a:r>
          </a:p>
          <a:p>
            <a:pPr marL="609600" indent="-609600">
              <a:buNone/>
            </a:pPr>
            <a:r>
              <a:rPr lang="en-US" altLang="en-US" sz="2400" dirty="0"/>
              <a:t>2.2 Data mining model construction</a:t>
            </a:r>
          </a:p>
          <a:p>
            <a:pPr marL="609600" indent="-609600">
              <a:buNone/>
            </a:pPr>
            <a:r>
              <a:rPr lang="en-US" altLang="en-US" sz="2400" dirty="0"/>
              <a:t>2.3 Model evaluation</a:t>
            </a:r>
          </a:p>
        </p:txBody>
      </p:sp>
      <p:sp>
        <p:nvSpPr>
          <p:cNvPr id="2" name="Slide Number Placeholder 1">
            <a:extLst>
              <a:ext uri="{FF2B5EF4-FFF2-40B4-BE49-F238E27FC236}">
                <a16:creationId xmlns="" xmlns:a16="http://schemas.microsoft.com/office/drawing/2014/main" id="{88470E63-EBC1-4566-B8C2-AAAEF7C4DF1C}"/>
              </a:ext>
            </a:extLst>
          </p:cNvPr>
          <p:cNvSpPr>
            <a:spLocks noGrp="1"/>
          </p:cNvSpPr>
          <p:nvPr>
            <p:ph type="sldNum" sz="quarter" idx="12"/>
          </p:nvPr>
        </p:nvSpPr>
        <p:spPr/>
        <p:txBody>
          <a:bodyPr>
            <a:normAutofit lnSpcReduction="10000"/>
          </a:bodyPr>
          <a:lstStyle/>
          <a:p>
            <a:fld id="{B3A56E86-3D7C-4541-92E7-267EC584995E}" type="slidenum">
              <a:rPr lang="en-US" smtClean="0"/>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 xmlns:a16="http://schemas.microsoft.com/office/drawing/2014/main" id="{225A507A-40FB-411D-87A2-CA06AD1AD702}"/>
              </a:ext>
            </a:extLst>
          </p:cNvPr>
          <p:cNvSpPr>
            <a:spLocks noGrp="1" noChangeArrowheads="1"/>
          </p:cNvSpPr>
          <p:nvPr>
            <p:ph type="title"/>
          </p:nvPr>
        </p:nvSpPr>
        <p:spPr>
          <a:xfrm>
            <a:off x="391800" y="-1191"/>
            <a:ext cx="10381168" cy="967855"/>
          </a:xfrm>
        </p:spPr>
        <p:txBody>
          <a:bodyPr/>
          <a:lstStyle/>
          <a:p>
            <a:pPr algn="ctr"/>
            <a:r>
              <a:rPr lang="en-US" altLang="en-US" dirty="0"/>
              <a:t>Preprocessing and Mining</a:t>
            </a:r>
          </a:p>
        </p:txBody>
      </p:sp>
      <p:sp>
        <p:nvSpPr>
          <p:cNvPr id="2" name="Slide Number Placeholder 1">
            <a:extLst>
              <a:ext uri="{FF2B5EF4-FFF2-40B4-BE49-F238E27FC236}">
                <a16:creationId xmlns="" xmlns:a16="http://schemas.microsoft.com/office/drawing/2014/main" id="{DA917015-96F7-4FA4-843E-BBBFAFEDAA0F}"/>
              </a:ext>
            </a:extLst>
          </p:cNvPr>
          <p:cNvSpPr>
            <a:spLocks noGrp="1"/>
          </p:cNvSpPr>
          <p:nvPr>
            <p:ph type="sldNum" sz="quarter" idx="12"/>
          </p:nvPr>
        </p:nvSpPr>
        <p:spPr/>
        <p:txBody>
          <a:bodyPr>
            <a:normAutofit lnSpcReduction="10000"/>
          </a:bodyPr>
          <a:lstStyle/>
          <a:p>
            <a:fld id="{B3A56E86-3D7C-4541-92E7-267EC584995E}" type="slidenum">
              <a:rPr lang="en-US" smtClean="0"/>
              <a:t>29</a:t>
            </a:fld>
            <a:endParaRPr lang="en-US"/>
          </a:p>
        </p:txBody>
      </p:sp>
      <p:grpSp>
        <p:nvGrpSpPr>
          <p:cNvPr id="66563" name="Group 3">
            <a:extLst>
              <a:ext uri="{FF2B5EF4-FFF2-40B4-BE49-F238E27FC236}">
                <a16:creationId xmlns="" xmlns:a16="http://schemas.microsoft.com/office/drawing/2014/main" id="{3C3F5754-C01F-4411-A4A1-877C4D141A70}"/>
              </a:ext>
            </a:extLst>
          </p:cNvPr>
          <p:cNvGrpSpPr>
            <a:grpSpLocks/>
          </p:cNvGrpSpPr>
          <p:nvPr/>
        </p:nvGrpSpPr>
        <p:grpSpPr bwMode="auto">
          <a:xfrm>
            <a:off x="1905000" y="4724400"/>
            <a:ext cx="1447800" cy="1524000"/>
            <a:chOff x="4467" y="3038"/>
            <a:chExt cx="379" cy="382"/>
          </a:xfrm>
        </p:grpSpPr>
        <p:sp>
          <p:nvSpPr>
            <p:cNvPr id="66612" name="Rectangle 4">
              <a:extLst>
                <a:ext uri="{FF2B5EF4-FFF2-40B4-BE49-F238E27FC236}">
                  <a16:creationId xmlns="" xmlns:a16="http://schemas.microsoft.com/office/drawing/2014/main" id="{2D8C6B78-7C48-42E3-8C9A-6C095351E477}"/>
                </a:ext>
              </a:extLst>
            </p:cNvPr>
            <p:cNvSpPr>
              <a:spLocks noChangeArrowheads="1"/>
            </p:cNvSpPr>
            <p:nvPr/>
          </p:nvSpPr>
          <p:spPr bwMode="auto">
            <a:xfrm>
              <a:off x="4467" y="3094"/>
              <a:ext cx="376" cy="274"/>
            </a:xfrm>
            <a:prstGeom prst="rect">
              <a:avLst/>
            </a:prstGeom>
            <a:solidFill>
              <a:schemeClr val="accent2"/>
            </a:solidFill>
            <a:ln w="9525">
              <a:solidFill>
                <a:schemeClr val="bg1"/>
              </a:solidFill>
              <a:miter lim="800000"/>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grpSp>
          <p:nvGrpSpPr>
            <p:cNvPr id="66613" name="Group 5">
              <a:extLst>
                <a:ext uri="{FF2B5EF4-FFF2-40B4-BE49-F238E27FC236}">
                  <a16:creationId xmlns="" xmlns:a16="http://schemas.microsoft.com/office/drawing/2014/main" id="{A660473E-1F7D-4AB7-A146-E7548FF412AA}"/>
                </a:ext>
              </a:extLst>
            </p:cNvPr>
            <p:cNvGrpSpPr>
              <a:grpSpLocks/>
            </p:cNvGrpSpPr>
            <p:nvPr/>
          </p:nvGrpSpPr>
          <p:grpSpPr bwMode="auto">
            <a:xfrm>
              <a:off x="4468" y="3038"/>
              <a:ext cx="378" cy="382"/>
              <a:chOff x="4468" y="3038"/>
              <a:chExt cx="378" cy="382"/>
            </a:xfrm>
          </p:grpSpPr>
          <p:sp>
            <p:nvSpPr>
              <p:cNvPr id="66614" name="Line 6">
                <a:extLst>
                  <a:ext uri="{FF2B5EF4-FFF2-40B4-BE49-F238E27FC236}">
                    <a16:creationId xmlns="" xmlns:a16="http://schemas.microsoft.com/office/drawing/2014/main" id="{F63C83AC-2990-4969-B375-2354B5CF65C8}"/>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6615" name="Line 7">
                <a:extLst>
                  <a:ext uri="{FF2B5EF4-FFF2-40B4-BE49-F238E27FC236}">
                    <a16:creationId xmlns="" xmlns:a16="http://schemas.microsoft.com/office/drawing/2014/main" id="{925CA6FF-7BF6-477A-8F05-1EE17ADE3FCF}"/>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6616" name="Oval 8">
                <a:extLst>
                  <a:ext uri="{FF2B5EF4-FFF2-40B4-BE49-F238E27FC236}">
                    <a16:creationId xmlns="" xmlns:a16="http://schemas.microsoft.com/office/drawing/2014/main" id="{5AF455FF-A83B-4D32-A1B9-B5F27B85AB4F}"/>
                  </a:ext>
                </a:extLst>
              </p:cNvPr>
              <p:cNvSpPr>
                <a:spLocks noChangeArrowheads="1"/>
              </p:cNvSpPr>
              <p:nvPr/>
            </p:nvSpPr>
            <p:spPr bwMode="auto">
              <a:xfrm>
                <a:off x="4469" y="3038"/>
                <a:ext cx="376" cy="90"/>
              </a:xfrm>
              <a:prstGeom prst="ellipse">
                <a:avLst/>
              </a:prstGeom>
              <a:solidFill>
                <a:schemeClr val="accent2"/>
              </a:solidFill>
              <a:ln w="9525">
                <a:solidFill>
                  <a:schemeClr val="tx1"/>
                </a:solidFill>
                <a:round/>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66617" name="Oval 9">
                <a:extLst>
                  <a:ext uri="{FF2B5EF4-FFF2-40B4-BE49-F238E27FC236}">
                    <a16:creationId xmlns="" xmlns:a16="http://schemas.microsoft.com/office/drawing/2014/main" id="{099797B2-E17D-41C3-92D3-4D67FD03E171}"/>
                  </a:ext>
                </a:extLst>
              </p:cNvPr>
              <p:cNvSpPr>
                <a:spLocks noChangeArrowheads="1"/>
              </p:cNvSpPr>
              <p:nvPr/>
            </p:nvSpPr>
            <p:spPr bwMode="auto">
              <a:xfrm>
                <a:off x="4469" y="3331"/>
                <a:ext cx="376" cy="89"/>
              </a:xfrm>
              <a:prstGeom prst="ellipse">
                <a:avLst/>
              </a:prstGeom>
              <a:solidFill>
                <a:schemeClr val="accent2"/>
              </a:solidFill>
              <a:ln w="9525">
                <a:solidFill>
                  <a:schemeClr val="tx1"/>
                </a:solidFill>
                <a:round/>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grpSp>
      </p:grpSp>
      <p:grpSp>
        <p:nvGrpSpPr>
          <p:cNvPr id="66564" name="Group 10">
            <a:extLst>
              <a:ext uri="{FF2B5EF4-FFF2-40B4-BE49-F238E27FC236}">
                <a16:creationId xmlns="" xmlns:a16="http://schemas.microsoft.com/office/drawing/2014/main" id="{9DE51CC7-95FE-422A-98CC-9FD7C7C6B90C}"/>
              </a:ext>
            </a:extLst>
          </p:cNvPr>
          <p:cNvGrpSpPr>
            <a:grpSpLocks/>
          </p:cNvGrpSpPr>
          <p:nvPr/>
        </p:nvGrpSpPr>
        <p:grpSpPr bwMode="auto">
          <a:xfrm>
            <a:off x="5943600" y="3200400"/>
            <a:ext cx="914400" cy="1143000"/>
            <a:chOff x="1680" y="2400"/>
            <a:chExt cx="576" cy="720"/>
          </a:xfrm>
        </p:grpSpPr>
        <p:sp>
          <p:nvSpPr>
            <p:cNvPr id="66604" name="Rectangle 11">
              <a:extLst>
                <a:ext uri="{FF2B5EF4-FFF2-40B4-BE49-F238E27FC236}">
                  <a16:creationId xmlns="" xmlns:a16="http://schemas.microsoft.com/office/drawing/2014/main" id="{B982E67C-BA90-4CF5-A35E-3E558EE04A89}"/>
                </a:ext>
              </a:extLst>
            </p:cNvPr>
            <p:cNvSpPr>
              <a:spLocks noChangeArrowheads="1"/>
            </p:cNvSpPr>
            <p:nvPr/>
          </p:nvSpPr>
          <p:spPr bwMode="auto">
            <a:xfrm>
              <a:off x="1680" y="2400"/>
              <a:ext cx="576" cy="720"/>
            </a:xfrm>
            <a:prstGeom prst="rect">
              <a:avLst/>
            </a:prstGeom>
            <a:solidFill>
              <a:schemeClr val="accent1"/>
            </a:solidFill>
            <a:ln w="12700">
              <a:solidFill>
                <a:schemeClr val="tx1"/>
              </a:solidFill>
              <a:miter lim="800000"/>
              <a:headEnd type="none" w="sm" len="sm"/>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66605" name="Line 12">
              <a:extLst>
                <a:ext uri="{FF2B5EF4-FFF2-40B4-BE49-F238E27FC236}">
                  <a16:creationId xmlns="" xmlns:a16="http://schemas.microsoft.com/office/drawing/2014/main" id="{87264D41-BE7C-407B-A281-281029E533A2}"/>
                </a:ext>
              </a:extLst>
            </p:cNvPr>
            <p:cNvSpPr>
              <a:spLocks noChangeShapeType="1"/>
            </p:cNvSpPr>
            <p:nvPr/>
          </p:nvSpPr>
          <p:spPr bwMode="auto">
            <a:xfrm>
              <a:off x="1680" y="2544"/>
              <a:ext cx="576" cy="0"/>
            </a:xfrm>
            <a:prstGeom prst="line">
              <a:avLst/>
            </a:prstGeom>
            <a:noFill/>
            <a:ln w="12700">
              <a:solidFill>
                <a:schemeClr val="tx1"/>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66606" name="Line 13">
              <a:extLst>
                <a:ext uri="{FF2B5EF4-FFF2-40B4-BE49-F238E27FC236}">
                  <a16:creationId xmlns="" xmlns:a16="http://schemas.microsoft.com/office/drawing/2014/main" id="{BDEAF21D-4BB1-454B-BFEE-A16BE6D3945A}"/>
                </a:ext>
              </a:extLst>
            </p:cNvPr>
            <p:cNvSpPr>
              <a:spLocks noChangeShapeType="1"/>
            </p:cNvSpPr>
            <p:nvPr/>
          </p:nvSpPr>
          <p:spPr bwMode="auto">
            <a:xfrm>
              <a:off x="1824" y="2400"/>
              <a:ext cx="0" cy="720"/>
            </a:xfrm>
            <a:prstGeom prst="line">
              <a:avLst/>
            </a:prstGeom>
            <a:noFill/>
            <a:ln w="12700">
              <a:solidFill>
                <a:schemeClr val="tx1"/>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66607" name="Line 14">
              <a:extLst>
                <a:ext uri="{FF2B5EF4-FFF2-40B4-BE49-F238E27FC236}">
                  <a16:creationId xmlns="" xmlns:a16="http://schemas.microsoft.com/office/drawing/2014/main" id="{F20B620C-ADEC-46CC-91C2-E5B97EF426A0}"/>
                </a:ext>
              </a:extLst>
            </p:cNvPr>
            <p:cNvSpPr>
              <a:spLocks noChangeShapeType="1"/>
            </p:cNvSpPr>
            <p:nvPr/>
          </p:nvSpPr>
          <p:spPr bwMode="auto">
            <a:xfrm>
              <a:off x="1968" y="2400"/>
              <a:ext cx="0" cy="720"/>
            </a:xfrm>
            <a:prstGeom prst="line">
              <a:avLst/>
            </a:prstGeom>
            <a:noFill/>
            <a:ln w="12700">
              <a:solidFill>
                <a:schemeClr val="tx1"/>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66608" name="Line 15">
              <a:extLst>
                <a:ext uri="{FF2B5EF4-FFF2-40B4-BE49-F238E27FC236}">
                  <a16:creationId xmlns="" xmlns:a16="http://schemas.microsoft.com/office/drawing/2014/main" id="{D62FA7B1-519D-4D52-A65D-FD8F2013FA07}"/>
                </a:ext>
              </a:extLst>
            </p:cNvPr>
            <p:cNvSpPr>
              <a:spLocks noChangeShapeType="1"/>
            </p:cNvSpPr>
            <p:nvPr/>
          </p:nvSpPr>
          <p:spPr bwMode="auto">
            <a:xfrm>
              <a:off x="2112" y="2400"/>
              <a:ext cx="0" cy="720"/>
            </a:xfrm>
            <a:prstGeom prst="line">
              <a:avLst/>
            </a:prstGeom>
            <a:noFill/>
            <a:ln w="12700">
              <a:solidFill>
                <a:schemeClr val="tx1"/>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66609" name="Line 16">
              <a:extLst>
                <a:ext uri="{FF2B5EF4-FFF2-40B4-BE49-F238E27FC236}">
                  <a16:creationId xmlns="" xmlns:a16="http://schemas.microsoft.com/office/drawing/2014/main" id="{94EB96ED-5BA8-4C7E-A338-35946C710E00}"/>
                </a:ext>
              </a:extLst>
            </p:cNvPr>
            <p:cNvSpPr>
              <a:spLocks noChangeShapeType="1"/>
            </p:cNvSpPr>
            <p:nvPr/>
          </p:nvSpPr>
          <p:spPr bwMode="auto">
            <a:xfrm>
              <a:off x="1680" y="2688"/>
              <a:ext cx="576" cy="0"/>
            </a:xfrm>
            <a:prstGeom prst="line">
              <a:avLst/>
            </a:prstGeom>
            <a:noFill/>
            <a:ln w="12700">
              <a:solidFill>
                <a:schemeClr val="tx1"/>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66610" name="Line 17">
              <a:extLst>
                <a:ext uri="{FF2B5EF4-FFF2-40B4-BE49-F238E27FC236}">
                  <a16:creationId xmlns="" xmlns:a16="http://schemas.microsoft.com/office/drawing/2014/main" id="{05B5AA69-0985-4352-8C5D-DD198378E8C7}"/>
                </a:ext>
              </a:extLst>
            </p:cNvPr>
            <p:cNvSpPr>
              <a:spLocks noChangeShapeType="1"/>
            </p:cNvSpPr>
            <p:nvPr/>
          </p:nvSpPr>
          <p:spPr bwMode="auto">
            <a:xfrm>
              <a:off x="1680" y="2832"/>
              <a:ext cx="576" cy="0"/>
            </a:xfrm>
            <a:prstGeom prst="line">
              <a:avLst/>
            </a:prstGeom>
            <a:noFill/>
            <a:ln w="12700">
              <a:solidFill>
                <a:schemeClr val="tx1"/>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66611" name="Line 18">
              <a:extLst>
                <a:ext uri="{FF2B5EF4-FFF2-40B4-BE49-F238E27FC236}">
                  <a16:creationId xmlns="" xmlns:a16="http://schemas.microsoft.com/office/drawing/2014/main" id="{DC1495A6-979D-44E5-A3CB-BCF7FA9CCF18}"/>
                </a:ext>
              </a:extLst>
            </p:cNvPr>
            <p:cNvSpPr>
              <a:spLocks noChangeShapeType="1"/>
            </p:cNvSpPr>
            <p:nvPr/>
          </p:nvSpPr>
          <p:spPr bwMode="auto">
            <a:xfrm>
              <a:off x="1680" y="2976"/>
              <a:ext cx="576" cy="0"/>
            </a:xfrm>
            <a:prstGeom prst="line">
              <a:avLst/>
            </a:prstGeom>
            <a:noFill/>
            <a:ln w="12700">
              <a:solidFill>
                <a:schemeClr val="tx1"/>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grpSp>
      <p:grpSp>
        <p:nvGrpSpPr>
          <p:cNvPr id="66565" name="Group 19">
            <a:extLst>
              <a:ext uri="{FF2B5EF4-FFF2-40B4-BE49-F238E27FC236}">
                <a16:creationId xmlns="" xmlns:a16="http://schemas.microsoft.com/office/drawing/2014/main" id="{31DD7B47-AD91-4A4D-AD90-A43083B1F9B5}"/>
              </a:ext>
            </a:extLst>
          </p:cNvPr>
          <p:cNvGrpSpPr>
            <a:grpSpLocks/>
          </p:cNvGrpSpPr>
          <p:nvPr/>
        </p:nvGrpSpPr>
        <p:grpSpPr bwMode="auto">
          <a:xfrm>
            <a:off x="2057400" y="4876800"/>
            <a:ext cx="1447800" cy="1524000"/>
            <a:chOff x="4467" y="3038"/>
            <a:chExt cx="379" cy="382"/>
          </a:xfrm>
        </p:grpSpPr>
        <p:sp>
          <p:nvSpPr>
            <p:cNvPr id="66598" name="Rectangle 20">
              <a:extLst>
                <a:ext uri="{FF2B5EF4-FFF2-40B4-BE49-F238E27FC236}">
                  <a16:creationId xmlns="" xmlns:a16="http://schemas.microsoft.com/office/drawing/2014/main" id="{60AB1659-8642-41B7-B865-B2F88B60CFDA}"/>
                </a:ext>
              </a:extLst>
            </p:cNvPr>
            <p:cNvSpPr>
              <a:spLocks noChangeArrowheads="1"/>
            </p:cNvSpPr>
            <p:nvPr/>
          </p:nvSpPr>
          <p:spPr bwMode="auto">
            <a:xfrm>
              <a:off x="4467" y="3094"/>
              <a:ext cx="376" cy="274"/>
            </a:xfrm>
            <a:prstGeom prst="rect">
              <a:avLst/>
            </a:prstGeom>
            <a:solidFill>
              <a:schemeClr val="accent2"/>
            </a:solidFill>
            <a:ln w="9525">
              <a:solidFill>
                <a:schemeClr val="bg1"/>
              </a:solidFill>
              <a:miter lim="800000"/>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grpSp>
          <p:nvGrpSpPr>
            <p:cNvPr id="66599" name="Group 21">
              <a:extLst>
                <a:ext uri="{FF2B5EF4-FFF2-40B4-BE49-F238E27FC236}">
                  <a16:creationId xmlns="" xmlns:a16="http://schemas.microsoft.com/office/drawing/2014/main" id="{8C2E6256-1F6C-49B0-9214-EB4689441DAC}"/>
                </a:ext>
              </a:extLst>
            </p:cNvPr>
            <p:cNvGrpSpPr>
              <a:grpSpLocks/>
            </p:cNvGrpSpPr>
            <p:nvPr/>
          </p:nvGrpSpPr>
          <p:grpSpPr bwMode="auto">
            <a:xfrm>
              <a:off x="4468" y="3038"/>
              <a:ext cx="378" cy="382"/>
              <a:chOff x="4468" y="3038"/>
              <a:chExt cx="378" cy="382"/>
            </a:xfrm>
          </p:grpSpPr>
          <p:sp>
            <p:nvSpPr>
              <p:cNvPr id="66600" name="Line 22">
                <a:extLst>
                  <a:ext uri="{FF2B5EF4-FFF2-40B4-BE49-F238E27FC236}">
                    <a16:creationId xmlns="" xmlns:a16="http://schemas.microsoft.com/office/drawing/2014/main" id="{175B7501-4C0F-4B74-9047-7F56894D2E05}"/>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6601" name="Line 23">
                <a:extLst>
                  <a:ext uri="{FF2B5EF4-FFF2-40B4-BE49-F238E27FC236}">
                    <a16:creationId xmlns="" xmlns:a16="http://schemas.microsoft.com/office/drawing/2014/main" id="{51C854C2-633F-47BB-96A3-1328A9746C9E}"/>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6602" name="Oval 24">
                <a:extLst>
                  <a:ext uri="{FF2B5EF4-FFF2-40B4-BE49-F238E27FC236}">
                    <a16:creationId xmlns="" xmlns:a16="http://schemas.microsoft.com/office/drawing/2014/main" id="{4D2FCCDD-2BA1-4E4E-A761-717FAF2DD2BD}"/>
                  </a:ext>
                </a:extLst>
              </p:cNvPr>
              <p:cNvSpPr>
                <a:spLocks noChangeArrowheads="1"/>
              </p:cNvSpPr>
              <p:nvPr/>
            </p:nvSpPr>
            <p:spPr bwMode="auto">
              <a:xfrm>
                <a:off x="4469" y="3038"/>
                <a:ext cx="376" cy="90"/>
              </a:xfrm>
              <a:prstGeom prst="ellipse">
                <a:avLst/>
              </a:prstGeom>
              <a:solidFill>
                <a:schemeClr val="accent2"/>
              </a:solidFill>
              <a:ln w="9525">
                <a:solidFill>
                  <a:schemeClr val="tx1"/>
                </a:solidFill>
                <a:round/>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66603" name="Oval 25">
                <a:extLst>
                  <a:ext uri="{FF2B5EF4-FFF2-40B4-BE49-F238E27FC236}">
                    <a16:creationId xmlns="" xmlns:a16="http://schemas.microsoft.com/office/drawing/2014/main" id="{254362D0-DBAD-4843-B58F-D6F0BA7F36D8}"/>
                  </a:ext>
                </a:extLst>
              </p:cNvPr>
              <p:cNvSpPr>
                <a:spLocks noChangeArrowheads="1"/>
              </p:cNvSpPr>
              <p:nvPr/>
            </p:nvSpPr>
            <p:spPr bwMode="auto">
              <a:xfrm>
                <a:off x="4469" y="3331"/>
                <a:ext cx="376" cy="89"/>
              </a:xfrm>
              <a:prstGeom prst="ellipse">
                <a:avLst/>
              </a:prstGeom>
              <a:solidFill>
                <a:schemeClr val="accent2"/>
              </a:solidFill>
              <a:ln w="9525">
                <a:solidFill>
                  <a:schemeClr val="tx1"/>
                </a:solidFill>
                <a:round/>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grpSp>
      </p:grpSp>
      <p:grpSp>
        <p:nvGrpSpPr>
          <p:cNvPr id="66566" name="Group 26">
            <a:extLst>
              <a:ext uri="{FF2B5EF4-FFF2-40B4-BE49-F238E27FC236}">
                <a16:creationId xmlns="" xmlns:a16="http://schemas.microsoft.com/office/drawing/2014/main" id="{44A8D8C4-0026-437A-A9DB-14A0351EA960}"/>
              </a:ext>
            </a:extLst>
          </p:cNvPr>
          <p:cNvGrpSpPr>
            <a:grpSpLocks/>
          </p:cNvGrpSpPr>
          <p:nvPr/>
        </p:nvGrpSpPr>
        <p:grpSpPr bwMode="auto">
          <a:xfrm>
            <a:off x="2209800" y="5029200"/>
            <a:ext cx="1447800" cy="1524000"/>
            <a:chOff x="4467" y="3038"/>
            <a:chExt cx="379" cy="382"/>
          </a:xfrm>
        </p:grpSpPr>
        <p:sp>
          <p:nvSpPr>
            <p:cNvPr id="66592" name="Rectangle 27">
              <a:extLst>
                <a:ext uri="{FF2B5EF4-FFF2-40B4-BE49-F238E27FC236}">
                  <a16:creationId xmlns="" xmlns:a16="http://schemas.microsoft.com/office/drawing/2014/main" id="{0772C7D6-663F-4ADE-AF9A-B47A64AA9C22}"/>
                </a:ext>
              </a:extLst>
            </p:cNvPr>
            <p:cNvSpPr>
              <a:spLocks noChangeArrowheads="1"/>
            </p:cNvSpPr>
            <p:nvPr/>
          </p:nvSpPr>
          <p:spPr bwMode="auto">
            <a:xfrm>
              <a:off x="4467" y="3094"/>
              <a:ext cx="376" cy="274"/>
            </a:xfrm>
            <a:prstGeom prst="rect">
              <a:avLst/>
            </a:prstGeom>
            <a:solidFill>
              <a:schemeClr val="accent2"/>
            </a:solidFill>
            <a:ln w="9525">
              <a:solidFill>
                <a:schemeClr val="bg1"/>
              </a:solidFill>
              <a:miter lim="800000"/>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grpSp>
          <p:nvGrpSpPr>
            <p:cNvPr id="66593" name="Group 28">
              <a:extLst>
                <a:ext uri="{FF2B5EF4-FFF2-40B4-BE49-F238E27FC236}">
                  <a16:creationId xmlns="" xmlns:a16="http://schemas.microsoft.com/office/drawing/2014/main" id="{8D0D7B5E-6CE0-471D-96C4-1EEAC45790B3}"/>
                </a:ext>
              </a:extLst>
            </p:cNvPr>
            <p:cNvGrpSpPr>
              <a:grpSpLocks/>
            </p:cNvGrpSpPr>
            <p:nvPr/>
          </p:nvGrpSpPr>
          <p:grpSpPr bwMode="auto">
            <a:xfrm>
              <a:off x="4468" y="3038"/>
              <a:ext cx="378" cy="382"/>
              <a:chOff x="4468" y="3038"/>
              <a:chExt cx="378" cy="382"/>
            </a:xfrm>
          </p:grpSpPr>
          <p:sp>
            <p:nvSpPr>
              <p:cNvPr id="66594" name="Line 29">
                <a:extLst>
                  <a:ext uri="{FF2B5EF4-FFF2-40B4-BE49-F238E27FC236}">
                    <a16:creationId xmlns="" xmlns:a16="http://schemas.microsoft.com/office/drawing/2014/main" id="{5B9E6FD2-5774-4754-BC6D-4E2DCA2F5892}"/>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6595" name="Line 30">
                <a:extLst>
                  <a:ext uri="{FF2B5EF4-FFF2-40B4-BE49-F238E27FC236}">
                    <a16:creationId xmlns="" xmlns:a16="http://schemas.microsoft.com/office/drawing/2014/main" id="{0C2F9476-4BC9-4687-B04D-AB1DEF58DB46}"/>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6596" name="Oval 31">
                <a:extLst>
                  <a:ext uri="{FF2B5EF4-FFF2-40B4-BE49-F238E27FC236}">
                    <a16:creationId xmlns="" xmlns:a16="http://schemas.microsoft.com/office/drawing/2014/main" id="{C7618B72-D7F9-45A3-BACE-8190C7F47B06}"/>
                  </a:ext>
                </a:extLst>
              </p:cNvPr>
              <p:cNvSpPr>
                <a:spLocks noChangeArrowheads="1"/>
              </p:cNvSpPr>
              <p:nvPr/>
            </p:nvSpPr>
            <p:spPr bwMode="auto">
              <a:xfrm>
                <a:off x="4469" y="3038"/>
                <a:ext cx="376" cy="90"/>
              </a:xfrm>
              <a:prstGeom prst="ellipse">
                <a:avLst/>
              </a:prstGeom>
              <a:solidFill>
                <a:schemeClr val="accent2"/>
              </a:solidFill>
              <a:ln w="9525">
                <a:solidFill>
                  <a:schemeClr val="tx1"/>
                </a:solidFill>
                <a:round/>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66597" name="Oval 32">
                <a:extLst>
                  <a:ext uri="{FF2B5EF4-FFF2-40B4-BE49-F238E27FC236}">
                    <a16:creationId xmlns="" xmlns:a16="http://schemas.microsoft.com/office/drawing/2014/main" id="{04FF94F5-DB02-4158-98D0-3D0DADBAD1E0}"/>
                  </a:ext>
                </a:extLst>
              </p:cNvPr>
              <p:cNvSpPr>
                <a:spLocks noChangeArrowheads="1"/>
              </p:cNvSpPr>
              <p:nvPr/>
            </p:nvSpPr>
            <p:spPr bwMode="auto">
              <a:xfrm>
                <a:off x="4469" y="3331"/>
                <a:ext cx="376" cy="89"/>
              </a:xfrm>
              <a:prstGeom prst="ellipse">
                <a:avLst/>
              </a:prstGeom>
              <a:solidFill>
                <a:schemeClr val="accent2"/>
              </a:solidFill>
              <a:ln w="9525">
                <a:solidFill>
                  <a:schemeClr val="tx1"/>
                </a:solidFill>
                <a:round/>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grpSp>
      </p:grpSp>
      <p:grpSp>
        <p:nvGrpSpPr>
          <p:cNvPr id="66567" name="Group 33">
            <a:extLst>
              <a:ext uri="{FF2B5EF4-FFF2-40B4-BE49-F238E27FC236}">
                <a16:creationId xmlns="" xmlns:a16="http://schemas.microsoft.com/office/drawing/2014/main" id="{1424F38A-CEB5-4095-8114-257B3FE63722}"/>
              </a:ext>
            </a:extLst>
          </p:cNvPr>
          <p:cNvGrpSpPr>
            <a:grpSpLocks/>
          </p:cNvGrpSpPr>
          <p:nvPr/>
        </p:nvGrpSpPr>
        <p:grpSpPr bwMode="auto">
          <a:xfrm>
            <a:off x="4343400" y="3962400"/>
            <a:ext cx="914400" cy="1143000"/>
            <a:chOff x="4467" y="3038"/>
            <a:chExt cx="379" cy="382"/>
          </a:xfrm>
        </p:grpSpPr>
        <p:sp>
          <p:nvSpPr>
            <p:cNvPr id="66586" name="Rectangle 34">
              <a:extLst>
                <a:ext uri="{FF2B5EF4-FFF2-40B4-BE49-F238E27FC236}">
                  <a16:creationId xmlns="" xmlns:a16="http://schemas.microsoft.com/office/drawing/2014/main" id="{A25235E2-83ED-40BD-A676-F1830B5C59CA}"/>
                </a:ext>
              </a:extLst>
            </p:cNvPr>
            <p:cNvSpPr>
              <a:spLocks noChangeArrowheads="1"/>
            </p:cNvSpPr>
            <p:nvPr/>
          </p:nvSpPr>
          <p:spPr bwMode="auto">
            <a:xfrm>
              <a:off x="4467" y="3094"/>
              <a:ext cx="376" cy="274"/>
            </a:xfrm>
            <a:prstGeom prst="rect">
              <a:avLst/>
            </a:prstGeom>
            <a:solidFill>
              <a:schemeClr val="tx2"/>
            </a:solidFill>
            <a:ln w="9525">
              <a:solidFill>
                <a:schemeClr val="bg1"/>
              </a:solidFill>
              <a:miter lim="800000"/>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grpSp>
          <p:nvGrpSpPr>
            <p:cNvPr id="66587" name="Group 35">
              <a:extLst>
                <a:ext uri="{FF2B5EF4-FFF2-40B4-BE49-F238E27FC236}">
                  <a16:creationId xmlns="" xmlns:a16="http://schemas.microsoft.com/office/drawing/2014/main" id="{82B8DD75-2E5D-442B-B308-0561D9C234AA}"/>
                </a:ext>
              </a:extLst>
            </p:cNvPr>
            <p:cNvGrpSpPr>
              <a:grpSpLocks/>
            </p:cNvGrpSpPr>
            <p:nvPr/>
          </p:nvGrpSpPr>
          <p:grpSpPr bwMode="auto">
            <a:xfrm>
              <a:off x="4468" y="3038"/>
              <a:ext cx="378" cy="382"/>
              <a:chOff x="4468" y="3038"/>
              <a:chExt cx="378" cy="382"/>
            </a:xfrm>
          </p:grpSpPr>
          <p:sp>
            <p:nvSpPr>
              <p:cNvPr id="66588" name="Line 36">
                <a:extLst>
                  <a:ext uri="{FF2B5EF4-FFF2-40B4-BE49-F238E27FC236}">
                    <a16:creationId xmlns="" xmlns:a16="http://schemas.microsoft.com/office/drawing/2014/main" id="{73DCF950-13F8-4E19-96AB-15163F11B09A}"/>
                  </a:ext>
                </a:extLst>
              </p:cNvPr>
              <p:cNvSpPr>
                <a:spLocks noChangeShapeType="1"/>
              </p:cNvSpPr>
              <p:nvPr/>
            </p:nvSpPr>
            <p:spPr bwMode="auto">
              <a:xfrm>
                <a:off x="4468" y="3087"/>
                <a:ext cx="0" cy="29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6589" name="Line 37">
                <a:extLst>
                  <a:ext uri="{FF2B5EF4-FFF2-40B4-BE49-F238E27FC236}">
                    <a16:creationId xmlns="" xmlns:a16="http://schemas.microsoft.com/office/drawing/2014/main" id="{61343982-6A6A-4880-A2BF-D9E4FEF86B09}"/>
                  </a:ext>
                </a:extLst>
              </p:cNvPr>
              <p:cNvSpPr>
                <a:spLocks noChangeShapeType="1"/>
              </p:cNvSpPr>
              <p:nvPr/>
            </p:nvSpPr>
            <p:spPr bwMode="auto">
              <a:xfrm>
                <a:off x="4846" y="3089"/>
                <a:ext cx="0" cy="29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6590" name="Oval 38">
                <a:extLst>
                  <a:ext uri="{FF2B5EF4-FFF2-40B4-BE49-F238E27FC236}">
                    <a16:creationId xmlns="" xmlns:a16="http://schemas.microsoft.com/office/drawing/2014/main" id="{17B2D1C6-930E-4FD3-BA64-16A8DE546408}"/>
                  </a:ext>
                </a:extLst>
              </p:cNvPr>
              <p:cNvSpPr>
                <a:spLocks noChangeArrowheads="1"/>
              </p:cNvSpPr>
              <p:nvPr/>
            </p:nvSpPr>
            <p:spPr bwMode="auto">
              <a:xfrm>
                <a:off x="4469" y="3038"/>
                <a:ext cx="376" cy="90"/>
              </a:xfrm>
              <a:prstGeom prst="ellipse">
                <a:avLst/>
              </a:prstGeom>
              <a:solidFill>
                <a:schemeClr val="tx2"/>
              </a:solidFill>
              <a:ln w="9525">
                <a:solidFill>
                  <a:schemeClr val="tx1"/>
                </a:solidFill>
                <a:round/>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66591" name="Oval 39">
                <a:extLst>
                  <a:ext uri="{FF2B5EF4-FFF2-40B4-BE49-F238E27FC236}">
                    <a16:creationId xmlns="" xmlns:a16="http://schemas.microsoft.com/office/drawing/2014/main" id="{1880F2EF-686A-4E39-B626-D31B4302583D}"/>
                  </a:ext>
                </a:extLst>
              </p:cNvPr>
              <p:cNvSpPr>
                <a:spLocks noChangeArrowheads="1"/>
              </p:cNvSpPr>
              <p:nvPr/>
            </p:nvSpPr>
            <p:spPr bwMode="auto">
              <a:xfrm>
                <a:off x="4469" y="3331"/>
                <a:ext cx="376" cy="89"/>
              </a:xfrm>
              <a:prstGeom prst="ellipse">
                <a:avLst/>
              </a:prstGeom>
              <a:solidFill>
                <a:schemeClr val="tx2"/>
              </a:solidFill>
              <a:ln w="9525">
                <a:solidFill>
                  <a:schemeClr val="tx1"/>
                </a:solidFill>
                <a:round/>
                <a:headEnd/>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grpSp>
      </p:grpSp>
      <p:sp>
        <p:nvSpPr>
          <p:cNvPr id="66568" name="AutoShape 40">
            <a:extLst>
              <a:ext uri="{FF2B5EF4-FFF2-40B4-BE49-F238E27FC236}">
                <a16:creationId xmlns="" xmlns:a16="http://schemas.microsoft.com/office/drawing/2014/main" id="{FE7ED059-4EF4-47A3-BCD1-980A3A3AB987}"/>
              </a:ext>
            </a:extLst>
          </p:cNvPr>
          <p:cNvSpPr>
            <a:spLocks noChangeArrowheads="1"/>
          </p:cNvSpPr>
          <p:nvPr/>
        </p:nvSpPr>
        <p:spPr bwMode="auto">
          <a:xfrm>
            <a:off x="7239000" y="2362200"/>
            <a:ext cx="304800" cy="533400"/>
          </a:xfrm>
          <a:prstGeom prst="moon">
            <a:avLst>
              <a:gd name="adj" fmla="val 50000"/>
            </a:avLst>
          </a:prstGeom>
          <a:solidFill>
            <a:srgbClr val="0033CC"/>
          </a:solidFill>
          <a:ln w="12700">
            <a:solidFill>
              <a:schemeClr val="tx1"/>
            </a:solidFill>
            <a:miter lim="800000"/>
            <a:headEnd type="none" w="sm" len="sm"/>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66569" name="AutoShape 41">
            <a:extLst>
              <a:ext uri="{FF2B5EF4-FFF2-40B4-BE49-F238E27FC236}">
                <a16:creationId xmlns="" xmlns:a16="http://schemas.microsoft.com/office/drawing/2014/main" id="{BA151B4A-A924-4682-865C-FC4C41DB5917}"/>
              </a:ext>
            </a:extLst>
          </p:cNvPr>
          <p:cNvSpPr>
            <a:spLocks noChangeArrowheads="1"/>
          </p:cNvSpPr>
          <p:nvPr/>
        </p:nvSpPr>
        <p:spPr bwMode="auto">
          <a:xfrm>
            <a:off x="7696200" y="2286000"/>
            <a:ext cx="381000" cy="457200"/>
          </a:xfrm>
          <a:prstGeom prst="triangle">
            <a:avLst>
              <a:gd name="adj" fmla="val 50000"/>
            </a:avLst>
          </a:prstGeom>
          <a:solidFill>
            <a:srgbClr val="0033CC"/>
          </a:solidFill>
          <a:ln w="12700">
            <a:solidFill>
              <a:schemeClr val="tx1"/>
            </a:solidFill>
            <a:miter lim="800000"/>
            <a:headEnd type="none" w="sm" len="sm"/>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66570" name="AutoShape 42">
            <a:extLst>
              <a:ext uri="{FF2B5EF4-FFF2-40B4-BE49-F238E27FC236}">
                <a16:creationId xmlns="" xmlns:a16="http://schemas.microsoft.com/office/drawing/2014/main" id="{B5D7EB90-A368-4D62-9482-E7B4CA2A2679}"/>
              </a:ext>
            </a:extLst>
          </p:cNvPr>
          <p:cNvSpPr>
            <a:spLocks noChangeArrowheads="1"/>
          </p:cNvSpPr>
          <p:nvPr/>
        </p:nvSpPr>
        <p:spPr bwMode="auto">
          <a:xfrm>
            <a:off x="7620000" y="2895600"/>
            <a:ext cx="381000" cy="38100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0033CC"/>
          </a:solidFill>
          <a:ln w="12700">
            <a:solidFill>
              <a:schemeClr val="tx1"/>
            </a:solidFill>
            <a:round/>
            <a:headEnd type="none" w="sm" len="sm"/>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66571" name="AutoShape 43">
            <a:extLst>
              <a:ext uri="{FF2B5EF4-FFF2-40B4-BE49-F238E27FC236}">
                <a16:creationId xmlns="" xmlns:a16="http://schemas.microsoft.com/office/drawing/2014/main" id="{A7568065-D3E3-4A9D-8330-70286AD93244}"/>
              </a:ext>
            </a:extLst>
          </p:cNvPr>
          <p:cNvSpPr>
            <a:spLocks noChangeArrowheads="1"/>
          </p:cNvSpPr>
          <p:nvPr/>
        </p:nvSpPr>
        <p:spPr bwMode="auto">
          <a:xfrm>
            <a:off x="8839200" y="1905000"/>
            <a:ext cx="914400" cy="914400"/>
          </a:xfrm>
          <a:prstGeom prst="smileyFace">
            <a:avLst>
              <a:gd name="adj" fmla="val 4653"/>
            </a:avLst>
          </a:prstGeom>
          <a:solidFill>
            <a:srgbClr val="FFFF00"/>
          </a:solidFill>
          <a:ln w="12700">
            <a:solidFill>
              <a:schemeClr val="tx1"/>
            </a:solidFill>
            <a:round/>
            <a:headEnd type="none" w="sm" len="sm"/>
            <a:tailEnd/>
          </a:ln>
        </p:spPr>
        <p:txBody>
          <a:bodyPr wrap="none" anchor="ct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66572" name="Line 44">
            <a:extLst>
              <a:ext uri="{FF2B5EF4-FFF2-40B4-BE49-F238E27FC236}">
                <a16:creationId xmlns="" xmlns:a16="http://schemas.microsoft.com/office/drawing/2014/main" id="{5A691F53-3BDD-4BD5-9424-0095D6995189}"/>
              </a:ext>
            </a:extLst>
          </p:cNvPr>
          <p:cNvSpPr>
            <a:spLocks noChangeShapeType="1"/>
          </p:cNvSpPr>
          <p:nvPr/>
        </p:nvSpPr>
        <p:spPr bwMode="auto">
          <a:xfrm flipV="1">
            <a:off x="3810000" y="4876800"/>
            <a:ext cx="457200" cy="381000"/>
          </a:xfrm>
          <a:prstGeom prst="line">
            <a:avLst/>
          </a:prstGeom>
          <a:noFill/>
          <a:ln w="5715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66573" name="Line 45">
            <a:extLst>
              <a:ext uri="{FF2B5EF4-FFF2-40B4-BE49-F238E27FC236}">
                <a16:creationId xmlns="" xmlns:a16="http://schemas.microsoft.com/office/drawing/2014/main" id="{EC3CC184-9E1D-419E-ABC5-EFC8BB44CC62}"/>
              </a:ext>
            </a:extLst>
          </p:cNvPr>
          <p:cNvSpPr>
            <a:spLocks noChangeShapeType="1"/>
          </p:cNvSpPr>
          <p:nvPr/>
        </p:nvSpPr>
        <p:spPr bwMode="auto">
          <a:xfrm flipV="1">
            <a:off x="5334000" y="4038600"/>
            <a:ext cx="457200" cy="381000"/>
          </a:xfrm>
          <a:prstGeom prst="line">
            <a:avLst/>
          </a:prstGeom>
          <a:noFill/>
          <a:ln w="5715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66574" name="Line 46">
            <a:extLst>
              <a:ext uri="{FF2B5EF4-FFF2-40B4-BE49-F238E27FC236}">
                <a16:creationId xmlns="" xmlns:a16="http://schemas.microsoft.com/office/drawing/2014/main" id="{E1C82696-7957-407F-BBC3-49089E2D41AA}"/>
              </a:ext>
            </a:extLst>
          </p:cNvPr>
          <p:cNvSpPr>
            <a:spLocks noChangeShapeType="1"/>
          </p:cNvSpPr>
          <p:nvPr/>
        </p:nvSpPr>
        <p:spPr bwMode="auto">
          <a:xfrm flipV="1">
            <a:off x="6934200" y="3124200"/>
            <a:ext cx="457200" cy="304800"/>
          </a:xfrm>
          <a:prstGeom prst="line">
            <a:avLst/>
          </a:prstGeom>
          <a:noFill/>
          <a:ln w="5715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66575" name="Line 47">
            <a:extLst>
              <a:ext uri="{FF2B5EF4-FFF2-40B4-BE49-F238E27FC236}">
                <a16:creationId xmlns="" xmlns:a16="http://schemas.microsoft.com/office/drawing/2014/main" id="{B2E9013C-1974-4D27-AA57-12D37BA94905}"/>
              </a:ext>
            </a:extLst>
          </p:cNvPr>
          <p:cNvSpPr>
            <a:spLocks noChangeShapeType="1"/>
          </p:cNvSpPr>
          <p:nvPr/>
        </p:nvSpPr>
        <p:spPr bwMode="auto">
          <a:xfrm flipV="1">
            <a:off x="8153400" y="2362200"/>
            <a:ext cx="457200" cy="304800"/>
          </a:xfrm>
          <a:prstGeom prst="line">
            <a:avLst/>
          </a:prstGeom>
          <a:noFill/>
          <a:ln w="5715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66576" name="Text Box 48">
            <a:extLst>
              <a:ext uri="{FF2B5EF4-FFF2-40B4-BE49-F238E27FC236}">
                <a16:creationId xmlns="" xmlns:a16="http://schemas.microsoft.com/office/drawing/2014/main" id="{97231555-BB8B-46B1-8269-D51D232EFDE7}"/>
              </a:ext>
            </a:extLst>
          </p:cNvPr>
          <p:cNvSpPr txBox="1">
            <a:spLocks noChangeArrowheads="1"/>
          </p:cNvSpPr>
          <p:nvPr/>
        </p:nvSpPr>
        <p:spPr bwMode="auto">
          <a:xfrm>
            <a:off x="1828801" y="4038601"/>
            <a:ext cx="18662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r>
              <a:rPr lang="en-US" altLang="en-US"/>
              <a:t>Original Data</a:t>
            </a:r>
          </a:p>
        </p:txBody>
      </p:sp>
      <p:sp>
        <p:nvSpPr>
          <p:cNvPr id="66577" name="Text Box 49">
            <a:extLst>
              <a:ext uri="{FF2B5EF4-FFF2-40B4-BE49-F238E27FC236}">
                <a16:creationId xmlns="" xmlns:a16="http://schemas.microsoft.com/office/drawing/2014/main" id="{89CCB346-E83A-4757-A39E-09912FD3A39C}"/>
              </a:ext>
            </a:extLst>
          </p:cNvPr>
          <p:cNvSpPr txBox="1">
            <a:spLocks noChangeArrowheads="1"/>
          </p:cNvSpPr>
          <p:nvPr/>
        </p:nvSpPr>
        <p:spPr bwMode="auto">
          <a:xfrm>
            <a:off x="4251325" y="302418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p>
        </p:txBody>
      </p:sp>
      <p:sp>
        <p:nvSpPr>
          <p:cNvPr id="66578" name="Text Box 50">
            <a:extLst>
              <a:ext uri="{FF2B5EF4-FFF2-40B4-BE49-F238E27FC236}">
                <a16:creationId xmlns="" xmlns:a16="http://schemas.microsoft.com/office/drawing/2014/main" id="{2EBEFCD6-18FD-4042-902E-DD5086276429}"/>
              </a:ext>
            </a:extLst>
          </p:cNvPr>
          <p:cNvSpPr txBox="1">
            <a:spLocks noChangeArrowheads="1"/>
          </p:cNvSpPr>
          <p:nvPr/>
        </p:nvSpPr>
        <p:spPr bwMode="auto">
          <a:xfrm>
            <a:off x="4191001" y="2971801"/>
            <a:ext cx="95910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r>
              <a:rPr lang="en-US" altLang="en-US"/>
              <a:t>Target</a:t>
            </a:r>
            <a:br>
              <a:rPr lang="en-US" altLang="en-US"/>
            </a:br>
            <a:r>
              <a:rPr lang="en-US" altLang="en-US"/>
              <a:t>Data</a:t>
            </a:r>
          </a:p>
        </p:txBody>
      </p:sp>
      <p:sp>
        <p:nvSpPr>
          <p:cNvPr id="66579" name="Text Box 51">
            <a:extLst>
              <a:ext uri="{FF2B5EF4-FFF2-40B4-BE49-F238E27FC236}">
                <a16:creationId xmlns="" xmlns:a16="http://schemas.microsoft.com/office/drawing/2014/main" id="{E7D1525D-5548-420C-9652-20E0CD80EC25}"/>
              </a:ext>
            </a:extLst>
          </p:cNvPr>
          <p:cNvSpPr txBox="1">
            <a:spLocks noChangeArrowheads="1"/>
          </p:cNvSpPr>
          <p:nvPr/>
        </p:nvSpPr>
        <p:spPr bwMode="auto">
          <a:xfrm>
            <a:off x="5257800" y="2286001"/>
            <a:ext cx="180850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r>
              <a:rPr lang="en-US" altLang="en-US"/>
              <a:t>Preprocessed</a:t>
            </a:r>
            <a:br>
              <a:rPr lang="en-US" altLang="en-US"/>
            </a:br>
            <a:r>
              <a:rPr lang="en-US" altLang="en-US"/>
              <a:t>Data</a:t>
            </a:r>
          </a:p>
        </p:txBody>
      </p:sp>
      <p:sp>
        <p:nvSpPr>
          <p:cNvPr id="66580" name="Text Box 52">
            <a:extLst>
              <a:ext uri="{FF2B5EF4-FFF2-40B4-BE49-F238E27FC236}">
                <a16:creationId xmlns="" xmlns:a16="http://schemas.microsoft.com/office/drawing/2014/main" id="{350334C0-953B-4531-80EB-4A322C7FD7E2}"/>
              </a:ext>
            </a:extLst>
          </p:cNvPr>
          <p:cNvSpPr txBox="1">
            <a:spLocks noChangeArrowheads="1"/>
          </p:cNvSpPr>
          <p:nvPr/>
        </p:nvSpPr>
        <p:spPr bwMode="auto">
          <a:xfrm>
            <a:off x="7162800" y="1752601"/>
            <a:ext cx="11753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r>
              <a:rPr lang="en-US" altLang="en-US"/>
              <a:t>Patterns</a:t>
            </a:r>
          </a:p>
        </p:txBody>
      </p:sp>
      <p:sp>
        <p:nvSpPr>
          <p:cNvPr id="66581" name="Text Box 53">
            <a:extLst>
              <a:ext uri="{FF2B5EF4-FFF2-40B4-BE49-F238E27FC236}">
                <a16:creationId xmlns="" xmlns:a16="http://schemas.microsoft.com/office/drawing/2014/main" id="{AD4152F1-7D29-415D-B010-50D9C62417F0}"/>
              </a:ext>
            </a:extLst>
          </p:cNvPr>
          <p:cNvSpPr txBox="1">
            <a:spLocks noChangeArrowheads="1"/>
          </p:cNvSpPr>
          <p:nvPr/>
        </p:nvSpPr>
        <p:spPr bwMode="auto">
          <a:xfrm>
            <a:off x="8534400" y="1371601"/>
            <a:ext cx="1603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r>
              <a:rPr lang="en-US" altLang="en-US"/>
              <a:t>Knowledge</a:t>
            </a:r>
          </a:p>
        </p:txBody>
      </p:sp>
      <p:sp>
        <p:nvSpPr>
          <p:cNvPr id="66582" name="Text Box 54">
            <a:extLst>
              <a:ext uri="{FF2B5EF4-FFF2-40B4-BE49-F238E27FC236}">
                <a16:creationId xmlns="" xmlns:a16="http://schemas.microsoft.com/office/drawing/2014/main" id="{6CD63B4E-D6BF-4435-A275-5D77399E6BB5}"/>
              </a:ext>
            </a:extLst>
          </p:cNvPr>
          <p:cNvSpPr txBox="1">
            <a:spLocks noChangeArrowheads="1"/>
          </p:cNvSpPr>
          <p:nvPr/>
        </p:nvSpPr>
        <p:spPr bwMode="auto">
          <a:xfrm>
            <a:off x="3733801" y="5257801"/>
            <a:ext cx="184858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r>
              <a:rPr lang="en-US" altLang="en-US">
                <a:solidFill>
                  <a:schemeClr val="tx1"/>
                </a:solidFill>
              </a:rPr>
              <a:t>Data</a:t>
            </a:r>
            <a:br>
              <a:rPr lang="en-US" altLang="en-US">
                <a:solidFill>
                  <a:schemeClr val="tx1"/>
                </a:solidFill>
              </a:rPr>
            </a:br>
            <a:r>
              <a:rPr lang="en-US" altLang="en-US">
                <a:solidFill>
                  <a:schemeClr val="tx1"/>
                </a:solidFill>
              </a:rPr>
              <a:t>Integration</a:t>
            </a:r>
            <a:br>
              <a:rPr lang="en-US" altLang="en-US">
                <a:solidFill>
                  <a:schemeClr val="tx1"/>
                </a:solidFill>
              </a:rPr>
            </a:br>
            <a:r>
              <a:rPr lang="en-US" altLang="en-US">
                <a:solidFill>
                  <a:schemeClr val="tx1"/>
                </a:solidFill>
              </a:rPr>
              <a:t>and Selection</a:t>
            </a:r>
          </a:p>
        </p:txBody>
      </p:sp>
      <p:sp>
        <p:nvSpPr>
          <p:cNvPr id="66583" name="Text Box 55">
            <a:extLst>
              <a:ext uri="{FF2B5EF4-FFF2-40B4-BE49-F238E27FC236}">
                <a16:creationId xmlns="" xmlns:a16="http://schemas.microsoft.com/office/drawing/2014/main" id="{88C760AF-9A04-43C1-94B4-0D43B1845469}"/>
              </a:ext>
            </a:extLst>
          </p:cNvPr>
          <p:cNvSpPr txBox="1">
            <a:spLocks noChangeArrowheads="1"/>
          </p:cNvSpPr>
          <p:nvPr/>
        </p:nvSpPr>
        <p:spPr bwMode="auto">
          <a:xfrm>
            <a:off x="5410201" y="4648201"/>
            <a:ext cx="19111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r>
              <a:rPr lang="en-US" altLang="en-US">
                <a:solidFill>
                  <a:schemeClr val="tx1"/>
                </a:solidFill>
              </a:rPr>
              <a:t>Preprocessing</a:t>
            </a:r>
          </a:p>
        </p:txBody>
      </p:sp>
      <p:sp>
        <p:nvSpPr>
          <p:cNvPr id="66584" name="Text Box 56">
            <a:extLst>
              <a:ext uri="{FF2B5EF4-FFF2-40B4-BE49-F238E27FC236}">
                <a16:creationId xmlns="" xmlns:a16="http://schemas.microsoft.com/office/drawing/2014/main" id="{557FDA1D-C1CC-475B-8F0D-331765A37470}"/>
              </a:ext>
            </a:extLst>
          </p:cNvPr>
          <p:cNvSpPr txBox="1">
            <a:spLocks noChangeArrowheads="1"/>
          </p:cNvSpPr>
          <p:nvPr/>
        </p:nvSpPr>
        <p:spPr bwMode="auto">
          <a:xfrm>
            <a:off x="7010400" y="3657601"/>
            <a:ext cx="177324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r>
              <a:rPr lang="en-US" altLang="en-US">
                <a:solidFill>
                  <a:schemeClr val="tx1"/>
                </a:solidFill>
              </a:rPr>
              <a:t>Model</a:t>
            </a:r>
            <a:br>
              <a:rPr lang="en-US" altLang="en-US">
                <a:solidFill>
                  <a:schemeClr val="tx1"/>
                </a:solidFill>
              </a:rPr>
            </a:br>
            <a:r>
              <a:rPr lang="en-US" altLang="en-US">
                <a:solidFill>
                  <a:schemeClr val="tx1"/>
                </a:solidFill>
              </a:rPr>
              <a:t>Construction</a:t>
            </a:r>
          </a:p>
        </p:txBody>
      </p:sp>
      <p:sp>
        <p:nvSpPr>
          <p:cNvPr id="66585" name="Text Box 57">
            <a:extLst>
              <a:ext uri="{FF2B5EF4-FFF2-40B4-BE49-F238E27FC236}">
                <a16:creationId xmlns="" xmlns:a16="http://schemas.microsoft.com/office/drawing/2014/main" id="{B5EBF24E-D4E1-4F61-88EC-33E00FEB81E1}"/>
              </a:ext>
            </a:extLst>
          </p:cNvPr>
          <p:cNvSpPr txBox="1">
            <a:spLocks noChangeArrowheads="1"/>
          </p:cNvSpPr>
          <p:nvPr/>
        </p:nvSpPr>
        <p:spPr bwMode="auto">
          <a:xfrm>
            <a:off x="8229600" y="3048001"/>
            <a:ext cx="18565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r>
              <a:rPr lang="en-US" altLang="en-US">
                <a:solidFill>
                  <a:schemeClr val="tx1"/>
                </a:solidFill>
              </a:rPr>
              <a:t>Interpretation</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6" name="Rectangle 2">
            <a:extLst>
              <a:ext uri="{FF2B5EF4-FFF2-40B4-BE49-F238E27FC236}">
                <a16:creationId xmlns="" xmlns:a16="http://schemas.microsoft.com/office/drawing/2014/main" id="{D819901F-CD3E-4D3F-B435-FBBB08D228E7}"/>
              </a:ext>
            </a:extLst>
          </p:cNvPr>
          <p:cNvSpPr>
            <a:spLocks noGrp="1" noChangeArrowheads="1"/>
          </p:cNvSpPr>
          <p:nvPr>
            <p:ph type="title"/>
          </p:nvPr>
        </p:nvSpPr>
        <p:spPr>
          <a:xfrm>
            <a:off x="609600" y="122238"/>
            <a:ext cx="10058400" cy="651485"/>
          </a:xfrm>
        </p:spPr>
        <p:txBody>
          <a:bodyPr>
            <a:normAutofit fontScale="90000"/>
          </a:bodyPr>
          <a:lstStyle/>
          <a:p>
            <a:pPr algn="ctr" eaLnBrk="1" hangingPunct="1"/>
            <a:r>
              <a:rPr lang="en-US" altLang="en-US" dirty="0"/>
              <a:t>Data Mining Techniques</a:t>
            </a:r>
          </a:p>
        </p:txBody>
      </p:sp>
      <p:sp>
        <p:nvSpPr>
          <p:cNvPr id="2075" name="Slide Number Placeholder 5">
            <a:extLst>
              <a:ext uri="{FF2B5EF4-FFF2-40B4-BE49-F238E27FC236}">
                <a16:creationId xmlns="" xmlns:a16="http://schemas.microsoft.com/office/drawing/2014/main" id="{CE98CBDC-8BEA-4E16-A91F-3CEC701A1AD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8067E34B-20C8-401F-8F42-01C2687E5188}" type="slidenum">
              <a:rPr lang="en-US" altLang="en-US" sz="1400">
                <a:solidFill>
                  <a:schemeClr val="tx1"/>
                </a:solidFill>
                <a:latin typeface="Arial" panose="020B0604020202020204" pitchFamily="34" charset="0"/>
              </a:rPr>
              <a:pPr/>
              <a:t>30</a:t>
            </a:fld>
            <a:endParaRPr lang="en-US" altLang="en-US" sz="1400">
              <a:solidFill>
                <a:schemeClr val="tx1"/>
              </a:solidFill>
              <a:latin typeface="Arial" panose="020B0604020202020204" pitchFamily="34" charset="0"/>
            </a:endParaRPr>
          </a:p>
        </p:txBody>
      </p:sp>
      <p:graphicFrame>
        <p:nvGraphicFramePr>
          <p:cNvPr id="2" name="Diagram 1">
            <a:extLst>
              <a:ext uri="{FF2B5EF4-FFF2-40B4-BE49-F238E27FC236}">
                <a16:creationId xmlns="" xmlns:a16="http://schemas.microsoft.com/office/drawing/2014/main" id="{2F063F77-5752-4687-95E6-4CFA62BAD995}"/>
              </a:ext>
            </a:extLst>
          </p:cNvPr>
          <p:cNvGraphicFramePr/>
          <p:nvPr>
            <p:extLst>
              <p:ext uri="{D42A27DB-BD31-4B8C-83A1-F6EECF244321}">
                <p14:modId xmlns:p14="http://schemas.microsoft.com/office/powerpoint/2010/main" val="2260261268"/>
              </p:ext>
            </p:extLst>
          </p:nvPr>
        </p:nvGraphicFramePr>
        <p:xfrm>
          <a:off x="-525738" y="984738"/>
          <a:ext cx="10527560" cy="5484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a:extLst>
              <a:ext uri="{FF2B5EF4-FFF2-40B4-BE49-F238E27FC236}">
                <a16:creationId xmlns="" xmlns:a16="http://schemas.microsoft.com/office/drawing/2014/main" id="{149BBC08-A102-413D-BD79-EDA8F9539C0C}"/>
              </a:ext>
            </a:extLst>
          </p:cNvPr>
          <p:cNvSpPr>
            <a:spLocks noGrp="1" noChangeArrowheads="1"/>
          </p:cNvSpPr>
          <p:nvPr>
            <p:ph type="title"/>
          </p:nvPr>
        </p:nvSpPr>
        <p:spPr>
          <a:xfrm>
            <a:off x="2057400" y="228600"/>
            <a:ext cx="8001000" cy="1219200"/>
          </a:xfrm>
        </p:spPr>
        <p:txBody>
          <a:bodyPr>
            <a:normAutofit fontScale="90000"/>
          </a:bodyPr>
          <a:lstStyle/>
          <a:p>
            <a:pPr algn="ctr" eaLnBrk="1" hangingPunct="1"/>
            <a:r>
              <a:rPr lang="en-US" altLang="en-US" dirty="0"/>
              <a:t>Data Mining Models and Tasks</a:t>
            </a:r>
          </a:p>
        </p:txBody>
      </p:sp>
      <p:sp>
        <p:nvSpPr>
          <p:cNvPr id="67586" name="Slide Number Placeholder 3">
            <a:extLst>
              <a:ext uri="{FF2B5EF4-FFF2-40B4-BE49-F238E27FC236}">
                <a16:creationId xmlns="" xmlns:a16="http://schemas.microsoft.com/office/drawing/2014/main" id="{88493D76-0B7D-49EE-BAE4-BD34BFE918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E2F21588-214E-44C3-8D67-F00FA8D8C8C3}" type="slidenum">
              <a:rPr lang="en-US" altLang="en-US" sz="1400">
                <a:solidFill>
                  <a:schemeClr val="tx1"/>
                </a:solidFill>
                <a:latin typeface="Arial" panose="020B0604020202020204" pitchFamily="34" charset="0"/>
              </a:rPr>
              <a:pPr/>
              <a:t>31</a:t>
            </a:fld>
            <a:endParaRPr lang="en-US" altLang="en-US" sz="1400">
              <a:solidFill>
                <a:schemeClr val="tx1"/>
              </a:solidFill>
              <a:latin typeface="Arial" panose="020B0604020202020204" pitchFamily="34" charset="0"/>
            </a:endParaRPr>
          </a:p>
        </p:txBody>
      </p:sp>
      <p:pic>
        <p:nvPicPr>
          <p:cNvPr id="67588" name="Picture 3" descr="C:\Documents and Settings\Administrator\Desktop\model.BMP">
            <a:extLst>
              <a:ext uri="{FF2B5EF4-FFF2-40B4-BE49-F238E27FC236}">
                <a16:creationId xmlns="" xmlns:a16="http://schemas.microsoft.com/office/drawing/2014/main" id="{9A54AF55-C99D-4097-AFD7-B54FCB49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6426" y="1911350"/>
            <a:ext cx="8437563" cy="3346450"/>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a:extLst>
              <a:ext uri="{FF2B5EF4-FFF2-40B4-BE49-F238E27FC236}">
                <a16:creationId xmlns="" xmlns:a16="http://schemas.microsoft.com/office/drawing/2014/main" id="{3F38DC79-3658-49E2-938E-53BD834680C1}"/>
              </a:ext>
            </a:extLst>
          </p:cNvPr>
          <p:cNvSpPr>
            <a:spLocks noGrp="1" noChangeArrowheads="1"/>
          </p:cNvSpPr>
          <p:nvPr>
            <p:ph type="title"/>
          </p:nvPr>
        </p:nvSpPr>
        <p:spPr>
          <a:xfrm>
            <a:off x="2209800" y="0"/>
            <a:ext cx="7772400" cy="1219200"/>
          </a:xfrm>
        </p:spPr>
        <p:txBody>
          <a:bodyPr/>
          <a:lstStyle/>
          <a:p>
            <a:pPr algn="ctr" eaLnBrk="1" hangingPunct="1"/>
            <a:r>
              <a:rPr lang="en-US" altLang="en-US" dirty="0"/>
              <a:t>Basic Data Mining Tasks</a:t>
            </a:r>
          </a:p>
        </p:txBody>
      </p:sp>
      <p:sp>
        <p:nvSpPr>
          <p:cNvPr id="68612" name="Rectangle 3">
            <a:extLst>
              <a:ext uri="{FF2B5EF4-FFF2-40B4-BE49-F238E27FC236}">
                <a16:creationId xmlns="" xmlns:a16="http://schemas.microsoft.com/office/drawing/2014/main" id="{AC3C29AB-999E-4E8D-9C84-D6B3D60915BE}"/>
              </a:ext>
            </a:extLst>
          </p:cNvPr>
          <p:cNvSpPr>
            <a:spLocks noGrp="1" noChangeArrowheads="1"/>
          </p:cNvSpPr>
          <p:nvPr>
            <p:ph idx="1"/>
          </p:nvPr>
        </p:nvSpPr>
        <p:spPr>
          <a:xfrm>
            <a:off x="2209799" y="1783324"/>
            <a:ext cx="8551985" cy="4454525"/>
          </a:xfrm>
        </p:spPr>
        <p:txBody>
          <a:bodyPr>
            <a:noAutofit/>
          </a:bodyPr>
          <a:lstStyle/>
          <a:p>
            <a:pPr eaLnBrk="1" hangingPunct="1">
              <a:lnSpc>
                <a:spcPct val="90000"/>
              </a:lnSpc>
            </a:pPr>
            <a:r>
              <a:rPr lang="en-US" altLang="en-US" sz="2000" b="1" i="1" dirty="0">
                <a:solidFill>
                  <a:srgbClr val="FF0000"/>
                </a:solidFill>
              </a:rPr>
              <a:t>Classification</a:t>
            </a:r>
            <a:r>
              <a:rPr lang="en-US" altLang="en-US" sz="2000" b="1" i="1" dirty="0">
                <a:solidFill>
                  <a:schemeClr val="tx2"/>
                </a:solidFill>
              </a:rPr>
              <a:t> </a:t>
            </a:r>
            <a:r>
              <a:rPr lang="en-US" altLang="en-US" sz="2000" b="1" dirty="0">
                <a:ea typeface="MS Mincho" panose="02020609040205080304" pitchFamily="49" charset="-128"/>
              </a:rPr>
              <a:t>maps data into predefined groups or classes</a:t>
            </a:r>
          </a:p>
          <a:p>
            <a:pPr lvl="1" eaLnBrk="1" hangingPunct="1">
              <a:lnSpc>
                <a:spcPct val="90000"/>
              </a:lnSpc>
            </a:pPr>
            <a:r>
              <a:rPr lang="en-US" altLang="en-US" sz="1800" b="1" dirty="0">
                <a:cs typeface="Courier New" panose="02070309020205020404" pitchFamily="49" charset="0"/>
              </a:rPr>
              <a:t>Supervised learning</a:t>
            </a:r>
          </a:p>
          <a:p>
            <a:pPr lvl="1" eaLnBrk="1" hangingPunct="1">
              <a:lnSpc>
                <a:spcPct val="90000"/>
              </a:lnSpc>
            </a:pPr>
            <a:r>
              <a:rPr lang="en-US" altLang="en-US" sz="1800" b="1" dirty="0">
                <a:cs typeface="Courier New" panose="02070309020205020404" pitchFamily="49" charset="0"/>
              </a:rPr>
              <a:t>Pattern recognition</a:t>
            </a:r>
          </a:p>
          <a:p>
            <a:pPr lvl="1" eaLnBrk="1" hangingPunct="1">
              <a:lnSpc>
                <a:spcPct val="90000"/>
              </a:lnSpc>
            </a:pPr>
            <a:r>
              <a:rPr lang="en-US" altLang="en-US" sz="1800" b="1" dirty="0" smtClean="0">
                <a:cs typeface="Courier New" panose="02070309020205020404" pitchFamily="49" charset="0"/>
              </a:rPr>
              <a:t>Prediction</a:t>
            </a:r>
            <a:br>
              <a:rPr lang="en-US" altLang="en-US" sz="1800" b="1" dirty="0" smtClean="0">
                <a:cs typeface="Courier New" panose="02070309020205020404" pitchFamily="49" charset="0"/>
              </a:rPr>
            </a:br>
            <a:endParaRPr lang="en-US" altLang="en-US" sz="1800" b="1" dirty="0">
              <a:cs typeface="Courier New" panose="02070309020205020404" pitchFamily="49" charset="0"/>
            </a:endParaRPr>
          </a:p>
          <a:p>
            <a:pPr eaLnBrk="1" hangingPunct="1">
              <a:lnSpc>
                <a:spcPct val="90000"/>
              </a:lnSpc>
            </a:pPr>
            <a:r>
              <a:rPr lang="en-US" altLang="en-US" sz="2000" b="1" i="1" dirty="0">
                <a:solidFill>
                  <a:srgbClr val="FF0000"/>
                </a:solidFill>
                <a:cs typeface="Courier New" panose="02070309020205020404" pitchFamily="49" charset="0"/>
              </a:rPr>
              <a:t>Regression</a:t>
            </a:r>
            <a:r>
              <a:rPr lang="en-US" altLang="en-US" sz="2000" b="1" dirty="0">
                <a:cs typeface="Courier New" panose="02070309020205020404" pitchFamily="49" charset="0"/>
              </a:rPr>
              <a:t> is used to map a data item to a real valued prediction variable</a:t>
            </a:r>
            <a:r>
              <a:rPr lang="en-US" altLang="en-US" sz="2000" b="1" dirty="0" smtClean="0">
                <a:cs typeface="Courier New" panose="02070309020205020404" pitchFamily="49" charset="0"/>
              </a:rPr>
              <a:t>.</a:t>
            </a:r>
            <a:br>
              <a:rPr lang="en-US" altLang="en-US" sz="2000" b="1" dirty="0" smtClean="0">
                <a:cs typeface="Courier New" panose="02070309020205020404" pitchFamily="49" charset="0"/>
              </a:rPr>
            </a:br>
            <a:endParaRPr lang="en-US" altLang="en-US" sz="2000" b="1" dirty="0">
              <a:cs typeface="Courier New" panose="02070309020205020404" pitchFamily="49" charset="0"/>
            </a:endParaRPr>
          </a:p>
          <a:p>
            <a:pPr eaLnBrk="1" hangingPunct="1">
              <a:lnSpc>
                <a:spcPct val="90000"/>
              </a:lnSpc>
            </a:pPr>
            <a:r>
              <a:rPr lang="en-US" altLang="en-US" sz="2000" b="1" i="1" dirty="0">
                <a:solidFill>
                  <a:srgbClr val="FF0000"/>
                </a:solidFill>
              </a:rPr>
              <a:t>Clustering</a:t>
            </a:r>
            <a:r>
              <a:rPr lang="en-US" altLang="en-US" sz="2000" b="1" i="1" dirty="0">
                <a:solidFill>
                  <a:schemeClr val="tx2"/>
                </a:solidFill>
              </a:rPr>
              <a:t> </a:t>
            </a:r>
            <a:r>
              <a:rPr lang="en-US" altLang="en-US" sz="2000" b="1" dirty="0"/>
              <a:t>groups similar data together into clusters.</a:t>
            </a:r>
          </a:p>
          <a:p>
            <a:pPr lvl="1" eaLnBrk="1" hangingPunct="1">
              <a:lnSpc>
                <a:spcPct val="90000"/>
              </a:lnSpc>
            </a:pPr>
            <a:r>
              <a:rPr lang="en-US" altLang="en-US" sz="1800" b="1" dirty="0"/>
              <a:t>Unsupervised learning</a:t>
            </a:r>
          </a:p>
          <a:p>
            <a:pPr lvl="1" eaLnBrk="1" hangingPunct="1">
              <a:lnSpc>
                <a:spcPct val="90000"/>
              </a:lnSpc>
            </a:pPr>
            <a:r>
              <a:rPr lang="en-US" altLang="en-US" sz="1800" b="1" dirty="0"/>
              <a:t>Segmentation</a:t>
            </a:r>
          </a:p>
          <a:p>
            <a:pPr lvl="1" eaLnBrk="1" hangingPunct="1">
              <a:lnSpc>
                <a:spcPct val="90000"/>
              </a:lnSpc>
            </a:pPr>
            <a:r>
              <a:rPr lang="en-US" altLang="en-US" sz="1800" b="1" dirty="0"/>
              <a:t>Partitioning</a:t>
            </a:r>
          </a:p>
        </p:txBody>
      </p:sp>
      <p:sp>
        <p:nvSpPr>
          <p:cNvPr id="68610" name="Slide Number Placeholder 4">
            <a:extLst>
              <a:ext uri="{FF2B5EF4-FFF2-40B4-BE49-F238E27FC236}">
                <a16:creationId xmlns="" xmlns:a16="http://schemas.microsoft.com/office/drawing/2014/main" id="{27A3FC0C-8FF7-4895-9807-142DF03A944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58D44890-9D42-40AE-B13F-67A67832EA73}" type="slidenum">
              <a:rPr lang="en-US" altLang="en-US" sz="1400">
                <a:solidFill>
                  <a:schemeClr val="tx1"/>
                </a:solidFill>
                <a:latin typeface="Arial" panose="020B0604020202020204" pitchFamily="34" charset="0"/>
              </a:rPr>
              <a:pPr/>
              <a:t>32</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a:extLst>
              <a:ext uri="{FF2B5EF4-FFF2-40B4-BE49-F238E27FC236}">
                <a16:creationId xmlns="" xmlns:a16="http://schemas.microsoft.com/office/drawing/2014/main" id="{97CCF4D1-B59E-4A13-A64C-E717EE237EB9}"/>
              </a:ext>
            </a:extLst>
          </p:cNvPr>
          <p:cNvSpPr>
            <a:spLocks noGrp="1" noChangeArrowheads="1"/>
          </p:cNvSpPr>
          <p:nvPr>
            <p:ph type="title"/>
          </p:nvPr>
        </p:nvSpPr>
        <p:spPr>
          <a:xfrm>
            <a:off x="1093060" y="0"/>
            <a:ext cx="9692640" cy="1325562"/>
          </a:xfrm>
        </p:spPr>
        <p:txBody>
          <a:bodyPr/>
          <a:lstStyle/>
          <a:p>
            <a:pPr algn="ctr" eaLnBrk="1" hangingPunct="1"/>
            <a:r>
              <a:rPr lang="en-US" altLang="en-US" dirty="0"/>
              <a:t>Basic Data Mining Tasks (cont’d)</a:t>
            </a:r>
          </a:p>
        </p:txBody>
      </p:sp>
      <p:sp>
        <p:nvSpPr>
          <p:cNvPr id="69636" name="Rectangle 3">
            <a:extLst>
              <a:ext uri="{FF2B5EF4-FFF2-40B4-BE49-F238E27FC236}">
                <a16:creationId xmlns="" xmlns:a16="http://schemas.microsoft.com/office/drawing/2014/main" id="{4AA53403-EB42-458E-B1EC-7C619060BC67}"/>
              </a:ext>
            </a:extLst>
          </p:cNvPr>
          <p:cNvSpPr>
            <a:spLocks noGrp="1" noChangeArrowheads="1"/>
          </p:cNvSpPr>
          <p:nvPr>
            <p:ph idx="1"/>
          </p:nvPr>
        </p:nvSpPr>
        <p:spPr/>
        <p:txBody>
          <a:bodyPr>
            <a:normAutofit/>
          </a:bodyPr>
          <a:lstStyle/>
          <a:p>
            <a:pPr eaLnBrk="1" hangingPunct="1"/>
            <a:r>
              <a:rPr lang="en-US" altLang="en-US" sz="2400" b="1" i="1" dirty="0">
                <a:solidFill>
                  <a:srgbClr val="FF0000"/>
                </a:solidFill>
              </a:rPr>
              <a:t>Summarization</a:t>
            </a:r>
            <a:r>
              <a:rPr lang="en-US" altLang="en-US" sz="2400" b="1" i="1" dirty="0">
                <a:solidFill>
                  <a:schemeClr val="tx2"/>
                </a:solidFill>
              </a:rPr>
              <a:t> </a:t>
            </a:r>
            <a:r>
              <a:rPr lang="en-US" altLang="en-US" sz="2400" b="1" dirty="0"/>
              <a:t>maps data into subsets with associated simple descriptions.</a:t>
            </a:r>
          </a:p>
          <a:p>
            <a:pPr lvl="1" eaLnBrk="1" hangingPunct="1"/>
            <a:r>
              <a:rPr lang="en-US" altLang="en-US" sz="2000" b="1" dirty="0"/>
              <a:t>Characterization</a:t>
            </a:r>
          </a:p>
          <a:p>
            <a:pPr lvl="1" eaLnBrk="1" hangingPunct="1"/>
            <a:r>
              <a:rPr lang="en-US" altLang="en-US" sz="2000" b="1" dirty="0"/>
              <a:t>Generalization</a:t>
            </a:r>
          </a:p>
          <a:p>
            <a:pPr eaLnBrk="1" hangingPunct="1"/>
            <a:r>
              <a:rPr lang="en-US" altLang="en-US" sz="2400" b="1" i="1" dirty="0">
                <a:solidFill>
                  <a:srgbClr val="FF0000"/>
                </a:solidFill>
              </a:rPr>
              <a:t>Link Analysis</a:t>
            </a:r>
            <a:r>
              <a:rPr lang="en-US" altLang="en-US" sz="2400" b="1" dirty="0">
                <a:solidFill>
                  <a:srgbClr val="FF0000"/>
                </a:solidFill>
              </a:rPr>
              <a:t> </a:t>
            </a:r>
            <a:r>
              <a:rPr lang="en-US" altLang="en-US" sz="2400" b="1" dirty="0"/>
              <a:t>uncovers relationships among data.</a:t>
            </a:r>
          </a:p>
          <a:p>
            <a:pPr lvl="1" eaLnBrk="1" hangingPunct="1"/>
            <a:r>
              <a:rPr lang="en-US" altLang="en-US" sz="2000" b="1" dirty="0"/>
              <a:t>Affinity Analysis</a:t>
            </a:r>
          </a:p>
          <a:p>
            <a:pPr lvl="1" eaLnBrk="1" hangingPunct="1"/>
            <a:r>
              <a:rPr lang="en-US" altLang="en-US" sz="2000" b="1" dirty="0"/>
              <a:t>Association Rules</a:t>
            </a:r>
          </a:p>
          <a:p>
            <a:pPr lvl="1" eaLnBrk="1" hangingPunct="1"/>
            <a:r>
              <a:rPr lang="en-US" altLang="en-US" sz="2000" b="1" dirty="0"/>
              <a:t>Sequential Analysis determines sequential patterns.</a:t>
            </a:r>
          </a:p>
        </p:txBody>
      </p:sp>
      <p:sp>
        <p:nvSpPr>
          <p:cNvPr id="69634" name="Slide Number Placeholder 4">
            <a:extLst>
              <a:ext uri="{FF2B5EF4-FFF2-40B4-BE49-F238E27FC236}">
                <a16:creationId xmlns="" xmlns:a16="http://schemas.microsoft.com/office/drawing/2014/main" id="{A12C34F4-FAA6-42B1-86D6-6BD233B5502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1E4C01DF-B898-4366-835A-763B032E9AF7}" type="slidenum">
              <a:rPr lang="en-US" altLang="en-US" sz="1400">
                <a:solidFill>
                  <a:schemeClr val="tx1"/>
                </a:solidFill>
                <a:latin typeface="Arial" panose="020B0604020202020204" pitchFamily="34" charset="0"/>
              </a:rPr>
              <a:pPr/>
              <a:t>33</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a:extLst>
              <a:ext uri="{FF2B5EF4-FFF2-40B4-BE49-F238E27FC236}">
                <a16:creationId xmlns="" xmlns:a16="http://schemas.microsoft.com/office/drawing/2014/main" id="{EF6D4151-C029-4F28-91B6-C2CFB8DC59F8}"/>
              </a:ext>
            </a:extLst>
          </p:cNvPr>
          <p:cNvSpPr>
            <a:spLocks noGrp="1" noChangeArrowheads="1"/>
          </p:cNvSpPr>
          <p:nvPr>
            <p:ph type="title"/>
          </p:nvPr>
        </p:nvSpPr>
        <p:spPr>
          <a:xfrm>
            <a:off x="443394" y="0"/>
            <a:ext cx="10363200" cy="1066800"/>
          </a:xfrm>
        </p:spPr>
        <p:txBody>
          <a:bodyPr/>
          <a:lstStyle/>
          <a:p>
            <a:pPr algn="ctr" eaLnBrk="1" hangingPunct="1"/>
            <a:r>
              <a:rPr lang="en-US" altLang="en-US" dirty="0"/>
              <a:t>Ex:  Time Series Analysis</a:t>
            </a:r>
          </a:p>
        </p:txBody>
      </p:sp>
      <p:sp>
        <p:nvSpPr>
          <p:cNvPr id="3077" name="Rectangle 3">
            <a:extLst>
              <a:ext uri="{FF2B5EF4-FFF2-40B4-BE49-F238E27FC236}">
                <a16:creationId xmlns="" xmlns:a16="http://schemas.microsoft.com/office/drawing/2014/main" id="{09C37D57-082E-466B-8361-8EDAA48AD09A}"/>
              </a:ext>
            </a:extLst>
          </p:cNvPr>
          <p:cNvSpPr>
            <a:spLocks noGrp="1" noChangeArrowheads="1"/>
          </p:cNvSpPr>
          <p:nvPr>
            <p:ph type="body" sz="half" idx="1"/>
          </p:nvPr>
        </p:nvSpPr>
        <p:spPr>
          <a:xfrm>
            <a:off x="2209800" y="1447801"/>
            <a:ext cx="7772400" cy="1787525"/>
          </a:xfrm>
        </p:spPr>
        <p:txBody>
          <a:bodyPr>
            <a:normAutofit/>
          </a:bodyPr>
          <a:lstStyle/>
          <a:p>
            <a:pPr eaLnBrk="1" hangingPunct="1">
              <a:lnSpc>
                <a:spcPct val="90000"/>
              </a:lnSpc>
            </a:pPr>
            <a:r>
              <a:rPr lang="en-US" altLang="en-US" dirty="0"/>
              <a:t>Example: Stock Market</a:t>
            </a:r>
          </a:p>
          <a:p>
            <a:pPr eaLnBrk="1" hangingPunct="1">
              <a:lnSpc>
                <a:spcPct val="90000"/>
              </a:lnSpc>
            </a:pPr>
            <a:r>
              <a:rPr lang="en-US" altLang="en-US" dirty="0"/>
              <a:t>Predict future values</a:t>
            </a:r>
          </a:p>
          <a:p>
            <a:pPr eaLnBrk="1" hangingPunct="1">
              <a:lnSpc>
                <a:spcPct val="90000"/>
              </a:lnSpc>
            </a:pPr>
            <a:r>
              <a:rPr lang="en-US" altLang="en-US" dirty="0"/>
              <a:t>Determine similar patterns over time</a:t>
            </a:r>
          </a:p>
          <a:p>
            <a:pPr eaLnBrk="1" hangingPunct="1">
              <a:lnSpc>
                <a:spcPct val="90000"/>
              </a:lnSpc>
            </a:pPr>
            <a:r>
              <a:rPr lang="en-US" altLang="en-US" dirty="0"/>
              <a:t>Classify behavior</a:t>
            </a:r>
          </a:p>
        </p:txBody>
      </p:sp>
      <p:graphicFrame>
        <p:nvGraphicFramePr>
          <p:cNvPr id="3074" name="Object 6">
            <a:extLst>
              <a:ext uri="{FF2B5EF4-FFF2-40B4-BE49-F238E27FC236}">
                <a16:creationId xmlns="" xmlns:a16="http://schemas.microsoft.com/office/drawing/2014/main" id="{E10CE79E-1995-4E29-9F2A-C03A8DE45536}"/>
              </a:ext>
            </a:extLst>
          </p:cNvPr>
          <p:cNvGraphicFramePr>
            <a:graphicFrameLocks noGrp="1" noChangeAspect="1"/>
          </p:cNvGraphicFramePr>
          <p:nvPr>
            <p:ph type="clipArt" sz="half" idx="2"/>
          </p:nvPr>
        </p:nvGraphicFramePr>
        <p:xfrm>
          <a:off x="3632200" y="3429000"/>
          <a:ext cx="4849813" cy="2590800"/>
        </p:xfrm>
        <a:graphic>
          <a:graphicData uri="http://schemas.openxmlformats.org/presentationml/2006/ole">
            <mc:AlternateContent xmlns:mc="http://schemas.openxmlformats.org/markup-compatibility/2006">
              <mc:Choice xmlns:v="urn:schemas-microsoft-com:vml" Requires="v">
                <p:oleObj spid="_x0000_s8222" name="Artwork" r:id="rId3" imgW="6885000" imgH="3678480" progId="Adobe.Illustrator.8">
                  <p:embed/>
                </p:oleObj>
              </mc:Choice>
              <mc:Fallback>
                <p:oleObj name="Artwork" r:id="rId3" imgW="6885000" imgH="3678480" progId="Adobe.Illustrator.8">
                  <p:embed/>
                  <p:pic>
                    <p:nvPicPr>
                      <p:cNvPr id="3074" name="Object 6">
                        <a:extLst>
                          <a:ext uri="{FF2B5EF4-FFF2-40B4-BE49-F238E27FC236}">
                            <a16:creationId xmlns="" xmlns:a16="http://schemas.microsoft.com/office/drawing/2014/main" id="{E10CE79E-1995-4E29-9F2A-C03A8DE455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2200" y="3429000"/>
                        <a:ext cx="4849813" cy="2590800"/>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5" name="Slide Number Placeholder 5">
            <a:extLst>
              <a:ext uri="{FF2B5EF4-FFF2-40B4-BE49-F238E27FC236}">
                <a16:creationId xmlns="" xmlns:a16="http://schemas.microsoft.com/office/drawing/2014/main" id="{19977DEC-EC43-41B2-9191-55DD3946404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2E59FF57-BC97-4191-A223-312D47117E66}" type="slidenum">
              <a:rPr lang="en-US" altLang="en-US" sz="1400">
                <a:solidFill>
                  <a:schemeClr val="tx1"/>
                </a:solidFill>
                <a:latin typeface="Arial" panose="020B0604020202020204" pitchFamily="34" charset="0"/>
              </a:rPr>
              <a:pPr/>
              <a:t>34</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a:extLst>
              <a:ext uri="{FF2B5EF4-FFF2-40B4-BE49-F238E27FC236}">
                <a16:creationId xmlns="" xmlns:a16="http://schemas.microsoft.com/office/drawing/2014/main" id="{8BB56243-BFEA-48BC-9075-59C8C99AAB60}"/>
              </a:ext>
            </a:extLst>
          </p:cNvPr>
          <p:cNvSpPr>
            <a:spLocks noGrp="1" noChangeArrowheads="1"/>
          </p:cNvSpPr>
          <p:nvPr>
            <p:ph type="title"/>
          </p:nvPr>
        </p:nvSpPr>
        <p:spPr>
          <a:xfrm>
            <a:off x="938315" y="0"/>
            <a:ext cx="9692640" cy="1325562"/>
          </a:xfrm>
        </p:spPr>
        <p:txBody>
          <a:bodyPr/>
          <a:lstStyle/>
          <a:p>
            <a:pPr algn="ctr" eaLnBrk="1" hangingPunct="1"/>
            <a:r>
              <a:rPr lang="en-US" altLang="en-US" dirty="0"/>
              <a:t>Data Mining vs. KDD</a:t>
            </a:r>
          </a:p>
        </p:txBody>
      </p:sp>
      <p:sp>
        <p:nvSpPr>
          <p:cNvPr id="70660" name="Rectangle 3">
            <a:extLst>
              <a:ext uri="{FF2B5EF4-FFF2-40B4-BE49-F238E27FC236}">
                <a16:creationId xmlns="" xmlns:a16="http://schemas.microsoft.com/office/drawing/2014/main" id="{642494A7-DD09-4761-B20C-6BA901B32B18}"/>
              </a:ext>
            </a:extLst>
          </p:cNvPr>
          <p:cNvSpPr>
            <a:spLocks noGrp="1" noChangeArrowheads="1"/>
          </p:cNvSpPr>
          <p:nvPr>
            <p:ph idx="1"/>
          </p:nvPr>
        </p:nvSpPr>
        <p:spPr>
          <a:xfrm>
            <a:off x="1261872" y="1828800"/>
            <a:ext cx="9795334" cy="4351337"/>
          </a:xfrm>
        </p:spPr>
        <p:txBody>
          <a:bodyPr>
            <a:normAutofit/>
          </a:bodyPr>
          <a:lstStyle/>
          <a:p>
            <a:pPr eaLnBrk="1" hangingPunct="1">
              <a:lnSpc>
                <a:spcPct val="150000"/>
              </a:lnSpc>
            </a:pPr>
            <a:r>
              <a:rPr lang="en-US" altLang="en-US" sz="2400" b="1" i="1" dirty="0">
                <a:solidFill>
                  <a:srgbClr val="FF0000"/>
                </a:solidFill>
              </a:rPr>
              <a:t>Knowledge Discovery in Databases (KDD):</a:t>
            </a:r>
            <a:r>
              <a:rPr lang="en-US" altLang="en-US" sz="2400" dirty="0">
                <a:solidFill>
                  <a:srgbClr val="FF0000"/>
                </a:solidFill>
              </a:rPr>
              <a:t> </a:t>
            </a:r>
            <a:r>
              <a:rPr lang="en-US" altLang="en-US" sz="2400" dirty="0"/>
              <a:t>process of finding useful information and patterns in data</a:t>
            </a:r>
            <a:r>
              <a:rPr lang="en-US" altLang="en-US" sz="2400" dirty="0" smtClean="0"/>
              <a:t>.</a:t>
            </a:r>
            <a:br>
              <a:rPr lang="en-US" altLang="en-US" sz="2400" dirty="0" smtClean="0"/>
            </a:br>
            <a:endParaRPr lang="en-US" altLang="en-US" sz="2400" dirty="0"/>
          </a:p>
          <a:p>
            <a:pPr eaLnBrk="1" hangingPunct="1">
              <a:lnSpc>
                <a:spcPct val="150000"/>
              </a:lnSpc>
            </a:pPr>
            <a:r>
              <a:rPr lang="en-US" altLang="en-US" sz="2400" b="1" i="1" dirty="0">
                <a:solidFill>
                  <a:srgbClr val="00B050"/>
                </a:solidFill>
              </a:rPr>
              <a:t>Data Mining</a:t>
            </a:r>
            <a:r>
              <a:rPr lang="en-US" altLang="en-US" sz="2400" b="1" i="1" dirty="0">
                <a:solidFill>
                  <a:schemeClr val="tx2"/>
                </a:solidFill>
              </a:rPr>
              <a:t>:</a:t>
            </a:r>
            <a:r>
              <a:rPr lang="en-US" altLang="en-US" sz="2400" dirty="0"/>
              <a:t>  Use of algorithms to extract the information and patterns derived by the KDD process. </a:t>
            </a:r>
          </a:p>
        </p:txBody>
      </p:sp>
      <p:sp>
        <p:nvSpPr>
          <p:cNvPr id="70658" name="Slide Number Placeholder 4">
            <a:extLst>
              <a:ext uri="{FF2B5EF4-FFF2-40B4-BE49-F238E27FC236}">
                <a16:creationId xmlns="" xmlns:a16="http://schemas.microsoft.com/office/drawing/2014/main" id="{F355F9E4-D85B-4388-8272-557CFFF790E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F04228E5-EA4C-4035-9F4E-A7DE9EEC2B8F}" type="slidenum">
              <a:rPr lang="en-US" altLang="en-US" sz="1400">
                <a:solidFill>
                  <a:schemeClr val="tx1"/>
                </a:solidFill>
                <a:latin typeface="Arial" panose="020B0604020202020204" pitchFamily="34" charset="0"/>
              </a:rPr>
              <a:pPr/>
              <a:t>35</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a:extLst>
              <a:ext uri="{FF2B5EF4-FFF2-40B4-BE49-F238E27FC236}">
                <a16:creationId xmlns="" xmlns:a16="http://schemas.microsoft.com/office/drawing/2014/main" id="{FE498104-0B80-4F4D-B686-9D57BE769CFD}"/>
              </a:ext>
            </a:extLst>
          </p:cNvPr>
          <p:cNvSpPr>
            <a:spLocks noGrp="1" noChangeArrowheads="1"/>
          </p:cNvSpPr>
          <p:nvPr>
            <p:ph type="title"/>
          </p:nvPr>
        </p:nvSpPr>
        <p:spPr>
          <a:xfrm>
            <a:off x="1891082" y="-37762"/>
            <a:ext cx="7786955" cy="727075"/>
          </a:xfrm>
        </p:spPr>
        <p:txBody>
          <a:bodyPr>
            <a:normAutofit/>
          </a:bodyPr>
          <a:lstStyle/>
          <a:p>
            <a:pPr algn="ctr" eaLnBrk="1" hangingPunct="1"/>
            <a:r>
              <a:rPr lang="en-US" altLang="en-US" sz="4000" dirty="0"/>
              <a:t>Data Mining Development</a:t>
            </a:r>
          </a:p>
        </p:txBody>
      </p:sp>
      <p:sp>
        <p:nvSpPr>
          <p:cNvPr id="71682" name="Slide Number Placeholder 4">
            <a:extLst>
              <a:ext uri="{FF2B5EF4-FFF2-40B4-BE49-F238E27FC236}">
                <a16:creationId xmlns="" xmlns:a16="http://schemas.microsoft.com/office/drawing/2014/main" id="{896AB595-FD06-405E-96AE-8E7EABAA45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74401C68-4982-4914-A59F-2AB2ECF3B449}" type="slidenum">
              <a:rPr lang="en-US" altLang="en-US" sz="1400">
                <a:solidFill>
                  <a:schemeClr val="tx1"/>
                </a:solidFill>
                <a:latin typeface="Arial" panose="020B0604020202020204" pitchFamily="34" charset="0"/>
              </a:rPr>
              <a:pPr/>
              <a:t>36</a:t>
            </a:fld>
            <a:endParaRPr lang="en-US" altLang="en-US" sz="1400">
              <a:solidFill>
                <a:schemeClr val="tx1"/>
              </a:solidFill>
              <a:latin typeface="Arial" panose="020B0604020202020204" pitchFamily="34" charset="0"/>
            </a:endParaRPr>
          </a:p>
        </p:txBody>
      </p:sp>
      <p:sp>
        <p:nvSpPr>
          <p:cNvPr id="71684" name="Text Box 10">
            <a:extLst>
              <a:ext uri="{FF2B5EF4-FFF2-40B4-BE49-F238E27FC236}">
                <a16:creationId xmlns="" xmlns:a16="http://schemas.microsoft.com/office/drawing/2014/main" id="{1FDD06BC-F7FA-420A-BE44-3F625048E56B}"/>
              </a:ext>
            </a:extLst>
          </p:cNvPr>
          <p:cNvSpPr txBox="1">
            <a:spLocks noChangeArrowheads="1"/>
          </p:cNvSpPr>
          <p:nvPr/>
        </p:nvSpPr>
        <p:spPr bwMode="auto">
          <a:xfrm>
            <a:off x="8839201" y="1524000"/>
            <a:ext cx="2225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endParaRPr lang="en-US" altLang="en-US">
              <a:solidFill>
                <a:schemeClr val="tx1"/>
              </a:solidFill>
            </a:endParaRPr>
          </a:p>
        </p:txBody>
      </p:sp>
      <p:sp>
        <p:nvSpPr>
          <p:cNvPr id="32780" name="Text Box 12">
            <a:extLst>
              <a:ext uri="{FF2B5EF4-FFF2-40B4-BE49-F238E27FC236}">
                <a16:creationId xmlns="" xmlns:a16="http://schemas.microsoft.com/office/drawing/2014/main" id="{21699748-36F2-4BFB-9BCE-DC2628C3907A}"/>
              </a:ext>
            </a:extLst>
          </p:cNvPr>
          <p:cNvSpPr txBox="1">
            <a:spLocks noChangeArrowheads="1"/>
          </p:cNvSpPr>
          <p:nvPr/>
        </p:nvSpPr>
        <p:spPr bwMode="auto">
          <a:xfrm>
            <a:off x="5974130" y="721362"/>
            <a:ext cx="3216275"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lnSpc>
                <a:spcPct val="80000"/>
              </a:lnSpc>
              <a:buFontTx/>
              <a:buChar char="•"/>
            </a:pPr>
            <a:r>
              <a:rPr lang="en-US" altLang="en-US" sz="2000" dirty="0">
                <a:solidFill>
                  <a:schemeClr val="tx1"/>
                </a:solidFill>
              </a:rPr>
              <a:t>Similarity Measures</a:t>
            </a:r>
          </a:p>
          <a:p>
            <a:pPr>
              <a:buFontTx/>
              <a:buChar char="•"/>
            </a:pPr>
            <a:r>
              <a:rPr lang="en-US" altLang="en-US" sz="2000" dirty="0">
                <a:solidFill>
                  <a:schemeClr val="tx1"/>
                </a:solidFill>
              </a:rPr>
              <a:t>Hierarchical Clustering</a:t>
            </a:r>
          </a:p>
          <a:p>
            <a:pPr>
              <a:buFontTx/>
              <a:buChar char="•"/>
            </a:pPr>
            <a:r>
              <a:rPr lang="en-US" altLang="en-US" sz="2000" dirty="0">
                <a:solidFill>
                  <a:schemeClr val="tx1"/>
                </a:solidFill>
              </a:rPr>
              <a:t>IR Systems</a:t>
            </a:r>
          </a:p>
          <a:p>
            <a:pPr>
              <a:buFontTx/>
              <a:buChar char="•"/>
            </a:pPr>
            <a:r>
              <a:rPr lang="en-US" altLang="en-US" sz="2000" dirty="0">
                <a:solidFill>
                  <a:schemeClr val="tx1"/>
                </a:solidFill>
              </a:rPr>
              <a:t>Imprecise Queries</a:t>
            </a:r>
          </a:p>
          <a:p>
            <a:pPr>
              <a:buFontTx/>
              <a:buChar char="•"/>
            </a:pPr>
            <a:r>
              <a:rPr lang="en-US" altLang="en-US" sz="2000" dirty="0">
                <a:solidFill>
                  <a:schemeClr val="tx1"/>
                </a:solidFill>
              </a:rPr>
              <a:t>Textual Data</a:t>
            </a:r>
          </a:p>
          <a:p>
            <a:pPr>
              <a:buFontTx/>
              <a:buChar char="•"/>
            </a:pPr>
            <a:r>
              <a:rPr lang="en-US" altLang="en-US" sz="2000" dirty="0">
                <a:solidFill>
                  <a:schemeClr val="tx1"/>
                </a:solidFill>
              </a:rPr>
              <a:t>Web Search Engines</a:t>
            </a:r>
          </a:p>
          <a:p>
            <a:endParaRPr lang="en-US" altLang="en-US" sz="2000" dirty="0">
              <a:solidFill>
                <a:schemeClr val="tx1"/>
              </a:solidFill>
            </a:endParaRPr>
          </a:p>
        </p:txBody>
      </p:sp>
      <p:sp>
        <p:nvSpPr>
          <p:cNvPr id="32781" name="Text Box 13">
            <a:extLst>
              <a:ext uri="{FF2B5EF4-FFF2-40B4-BE49-F238E27FC236}">
                <a16:creationId xmlns="" xmlns:a16="http://schemas.microsoft.com/office/drawing/2014/main" id="{CDBE1219-C7CB-4C30-9B98-4C6D8BD9A3C8}"/>
              </a:ext>
            </a:extLst>
          </p:cNvPr>
          <p:cNvSpPr txBox="1">
            <a:spLocks noChangeArrowheads="1"/>
          </p:cNvSpPr>
          <p:nvPr/>
        </p:nvSpPr>
        <p:spPr bwMode="auto">
          <a:xfrm>
            <a:off x="8388616" y="3017153"/>
            <a:ext cx="3216275"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buFontTx/>
              <a:buChar char="•"/>
            </a:pPr>
            <a:r>
              <a:rPr lang="en-US" altLang="en-US" sz="2000">
                <a:solidFill>
                  <a:schemeClr val="tx1"/>
                </a:solidFill>
              </a:rPr>
              <a:t>Bayes Theorem</a:t>
            </a:r>
          </a:p>
          <a:p>
            <a:pPr>
              <a:buFontTx/>
              <a:buChar char="•"/>
            </a:pPr>
            <a:r>
              <a:rPr lang="en-US" altLang="en-US" sz="2000">
                <a:solidFill>
                  <a:schemeClr val="tx1"/>
                </a:solidFill>
              </a:rPr>
              <a:t>Regression Analysis</a:t>
            </a:r>
          </a:p>
          <a:p>
            <a:pPr>
              <a:buFontTx/>
              <a:buChar char="•"/>
            </a:pPr>
            <a:r>
              <a:rPr lang="en-US" altLang="en-US" sz="2000">
                <a:solidFill>
                  <a:schemeClr val="tx1"/>
                </a:solidFill>
              </a:rPr>
              <a:t>EM Algorithm</a:t>
            </a:r>
          </a:p>
          <a:p>
            <a:pPr>
              <a:buFontTx/>
              <a:buChar char="•"/>
            </a:pPr>
            <a:r>
              <a:rPr lang="en-US" altLang="en-US" sz="2000">
                <a:solidFill>
                  <a:schemeClr val="tx1"/>
                </a:solidFill>
              </a:rPr>
              <a:t>K-Means Clustering</a:t>
            </a:r>
          </a:p>
          <a:p>
            <a:pPr>
              <a:buFontTx/>
              <a:buChar char="•"/>
            </a:pPr>
            <a:r>
              <a:rPr lang="en-US" altLang="en-US" sz="2000">
                <a:solidFill>
                  <a:schemeClr val="tx1"/>
                </a:solidFill>
              </a:rPr>
              <a:t>Time Series Analysis</a:t>
            </a:r>
          </a:p>
        </p:txBody>
      </p:sp>
      <p:sp>
        <p:nvSpPr>
          <p:cNvPr id="32782" name="Text Box 14">
            <a:extLst>
              <a:ext uri="{FF2B5EF4-FFF2-40B4-BE49-F238E27FC236}">
                <a16:creationId xmlns="" xmlns:a16="http://schemas.microsoft.com/office/drawing/2014/main" id="{1FFEE4C5-70F5-4229-BE37-975EB993C07A}"/>
              </a:ext>
            </a:extLst>
          </p:cNvPr>
          <p:cNvSpPr txBox="1">
            <a:spLocks noChangeArrowheads="1"/>
          </p:cNvSpPr>
          <p:nvPr/>
        </p:nvSpPr>
        <p:spPr bwMode="auto">
          <a:xfrm>
            <a:off x="7940039" y="5781940"/>
            <a:ext cx="3216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buFontTx/>
              <a:buChar char="•"/>
            </a:pPr>
            <a:r>
              <a:rPr lang="en-US" altLang="en-US" sz="2000" dirty="0">
                <a:solidFill>
                  <a:schemeClr val="tx1"/>
                </a:solidFill>
              </a:rPr>
              <a:t>Neural Networks</a:t>
            </a:r>
          </a:p>
          <a:p>
            <a:pPr>
              <a:buFontTx/>
              <a:buChar char="•"/>
            </a:pPr>
            <a:r>
              <a:rPr lang="en-US" altLang="en-US" sz="2000" dirty="0">
                <a:solidFill>
                  <a:schemeClr val="tx1"/>
                </a:solidFill>
              </a:rPr>
              <a:t>Decision Tree Algorithms</a:t>
            </a:r>
          </a:p>
        </p:txBody>
      </p:sp>
      <p:sp>
        <p:nvSpPr>
          <p:cNvPr id="32783" name="Text Box 15">
            <a:extLst>
              <a:ext uri="{FF2B5EF4-FFF2-40B4-BE49-F238E27FC236}">
                <a16:creationId xmlns="" xmlns:a16="http://schemas.microsoft.com/office/drawing/2014/main" id="{F5998DDE-9356-404F-A078-F84A34433763}"/>
              </a:ext>
            </a:extLst>
          </p:cNvPr>
          <p:cNvSpPr txBox="1">
            <a:spLocks noChangeArrowheads="1"/>
          </p:cNvSpPr>
          <p:nvPr/>
        </p:nvSpPr>
        <p:spPr bwMode="auto">
          <a:xfrm>
            <a:off x="952502" y="5084299"/>
            <a:ext cx="37338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lnSpc>
                <a:spcPct val="90000"/>
              </a:lnSpc>
              <a:buFontTx/>
              <a:buChar char="•"/>
            </a:pPr>
            <a:r>
              <a:rPr lang="en-US" altLang="en-US" sz="2000" dirty="0">
                <a:solidFill>
                  <a:schemeClr val="tx1"/>
                </a:solidFill>
              </a:rPr>
              <a:t>Algorithm Design Techniques</a:t>
            </a:r>
          </a:p>
          <a:p>
            <a:pPr>
              <a:lnSpc>
                <a:spcPct val="70000"/>
              </a:lnSpc>
              <a:buFontTx/>
              <a:buChar char="•"/>
            </a:pPr>
            <a:r>
              <a:rPr lang="en-US" altLang="en-US" sz="2000" dirty="0">
                <a:solidFill>
                  <a:schemeClr val="tx1"/>
                </a:solidFill>
              </a:rPr>
              <a:t>Algorithm Analysis</a:t>
            </a:r>
          </a:p>
          <a:p>
            <a:pPr>
              <a:lnSpc>
                <a:spcPct val="90000"/>
              </a:lnSpc>
              <a:buFontTx/>
              <a:buChar char="•"/>
            </a:pPr>
            <a:r>
              <a:rPr lang="en-US" altLang="en-US" sz="2000" dirty="0">
                <a:solidFill>
                  <a:schemeClr val="tx1"/>
                </a:solidFill>
              </a:rPr>
              <a:t>Data Structures</a:t>
            </a:r>
          </a:p>
        </p:txBody>
      </p:sp>
      <p:sp>
        <p:nvSpPr>
          <p:cNvPr id="32784" name="Text Box 16">
            <a:extLst>
              <a:ext uri="{FF2B5EF4-FFF2-40B4-BE49-F238E27FC236}">
                <a16:creationId xmlns="" xmlns:a16="http://schemas.microsoft.com/office/drawing/2014/main" id="{07C87D4D-0E21-4A09-8ECA-1D11D35FB19B}"/>
              </a:ext>
            </a:extLst>
          </p:cNvPr>
          <p:cNvSpPr txBox="1">
            <a:spLocks noChangeArrowheads="1"/>
          </p:cNvSpPr>
          <p:nvPr/>
        </p:nvSpPr>
        <p:spPr bwMode="auto">
          <a:xfrm>
            <a:off x="578486" y="1346761"/>
            <a:ext cx="3521075"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pPr>
              <a:lnSpc>
                <a:spcPct val="80000"/>
              </a:lnSpc>
              <a:buFontTx/>
              <a:buChar char="•"/>
            </a:pPr>
            <a:r>
              <a:rPr lang="en-US" altLang="en-US" sz="2000" dirty="0">
                <a:solidFill>
                  <a:schemeClr val="tx1"/>
                </a:solidFill>
              </a:rPr>
              <a:t>Relational Data Model</a:t>
            </a:r>
          </a:p>
          <a:p>
            <a:pPr>
              <a:lnSpc>
                <a:spcPct val="80000"/>
              </a:lnSpc>
              <a:buFontTx/>
              <a:buChar char="•"/>
            </a:pPr>
            <a:r>
              <a:rPr lang="en-US" altLang="en-US" sz="2000" dirty="0">
                <a:solidFill>
                  <a:schemeClr val="tx1"/>
                </a:solidFill>
              </a:rPr>
              <a:t>SQL</a:t>
            </a:r>
          </a:p>
          <a:p>
            <a:pPr>
              <a:lnSpc>
                <a:spcPct val="80000"/>
              </a:lnSpc>
              <a:buFontTx/>
              <a:buChar char="•"/>
            </a:pPr>
            <a:r>
              <a:rPr lang="en-US" altLang="en-US" sz="2000" dirty="0">
                <a:solidFill>
                  <a:schemeClr val="tx1"/>
                </a:solidFill>
              </a:rPr>
              <a:t>Association Rule Algorithms</a:t>
            </a:r>
          </a:p>
          <a:p>
            <a:pPr>
              <a:lnSpc>
                <a:spcPct val="80000"/>
              </a:lnSpc>
              <a:buFontTx/>
              <a:buChar char="•"/>
            </a:pPr>
            <a:r>
              <a:rPr lang="en-US" altLang="en-US" sz="2000" dirty="0">
                <a:solidFill>
                  <a:schemeClr val="tx1"/>
                </a:solidFill>
              </a:rPr>
              <a:t>Data Warehousing</a:t>
            </a:r>
          </a:p>
          <a:p>
            <a:pPr>
              <a:lnSpc>
                <a:spcPct val="80000"/>
              </a:lnSpc>
              <a:buFontTx/>
              <a:buChar char="•"/>
            </a:pPr>
            <a:r>
              <a:rPr lang="en-US" altLang="en-US" sz="2000" dirty="0">
                <a:solidFill>
                  <a:schemeClr val="tx1"/>
                </a:solidFill>
              </a:rPr>
              <a:t>Scalability Techniques</a:t>
            </a:r>
          </a:p>
          <a:p>
            <a:pPr>
              <a:lnSpc>
                <a:spcPct val="80000"/>
              </a:lnSpc>
            </a:pPr>
            <a:endParaRPr lang="en-US" altLang="en-US" sz="2000" dirty="0">
              <a:solidFill>
                <a:schemeClr val="tx1"/>
              </a:solidFill>
            </a:endParaRPr>
          </a:p>
        </p:txBody>
      </p:sp>
      <p:pic>
        <p:nvPicPr>
          <p:cNvPr id="71690" name="Picture 23" descr="C:\Documents and Settings\Administrator\Desktop\history.gif">
            <a:extLst>
              <a:ext uri="{FF2B5EF4-FFF2-40B4-BE49-F238E27FC236}">
                <a16:creationId xmlns="" xmlns:a16="http://schemas.microsoft.com/office/drawing/2014/main" id="{72FB6DCB-CB8D-4F13-9D17-7DFD1DB874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551128"/>
            <a:ext cx="5645416" cy="4802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780"/>
                                        </p:tgtEl>
                                        <p:attrNameLst>
                                          <p:attrName>style.visibility</p:attrName>
                                        </p:attrNameLst>
                                      </p:cBhvr>
                                      <p:to>
                                        <p:strVal val="visible"/>
                                      </p:to>
                                    </p:set>
                                    <p:animEffect transition="in" filter="dissolve">
                                      <p:cBhvr>
                                        <p:cTn id="7" dur="500"/>
                                        <p:tgtEl>
                                          <p:spTgt spid="32780"/>
                                        </p:tgtEl>
                                      </p:cBhvr>
                                    </p:animEffect>
                                  </p:childTnLst>
                                  <p:subTnLst>
                                    <p:set>
                                      <p:cBhvr override="childStyle">
                                        <p:cTn dur="1" fill="hold" display="0" masterRel="nextClick" afterEffect="1"/>
                                        <p:tgtEl>
                                          <p:spTgt spid="32780"/>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781"/>
                                        </p:tgtEl>
                                        <p:attrNameLst>
                                          <p:attrName>style.visibility</p:attrName>
                                        </p:attrNameLst>
                                      </p:cBhvr>
                                      <p:to>
                                        <p:strVal val="visible"/>
                                      </p:to>
                                    </p:set>
                                    <p:animEffect transition="in" filter="dissolve">
                                      <p:cBhvr>
                                        <p:cTn id="12" dur="500"/>
                                        <p:tgtEl>
                                          <p:spTgt spid="32781"/>
                                        </p:tgtEl>
                                      </p:cBhvr>
                                    </p:animEffect>
                                  </p:childTnLst>
                                  <p:subTnLst>
                                    <p:set>
                                      <p:cBhvr override="childStyle">
                                        <p:cTn dur="1" fill="hold" display="0" masterRel="nextClick" afterEffect="1"/>
                                        <p:tgtEl>
                                          <p:spTgt spid="32781"/>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782"/>
                                        </p:tgtEl>
                                        <p:attrNameLst>
                                          <p:attrName>style.visibility</p:attrName>
                                        </p:attrNameLst>
                                      </p:cBhvr>
                                      <p:to>
                                        <p:strVal val="visible"/>
                                      </p:to>
                                    </p:set>
                                    <p:animEffect transition="in" filter="dissolve">
                                      <p:cBhvr>
                                        <p:cTn id="17" dur="500"/>
                                        <p:tgtEl>
                                          <p:spTgt spid="32782"/>
                                        </p:tgtEl>
                                      </p:cBhvr>
                                    </p:animEffect>
                                  </p:childTnLst>
                                  <p:subTnLst>
                                    <p:set>
                                      <p:cBhvr override="childStyle">
                                        <p:cTn dur="1" fill="hold" display="0" masterRel="nextClick" afterEffect="1"/>
                                        <p:tgtEl>
                                          <p:spTgt spid="32782"/>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2783"/>
                                        </p:tgtEl>
                                        <p:attrNameLst>
                                          <p:attrName>style.visibility</p:attrName>
                                        </p:attrNameLst>
                                      </p:cBhvr>
                                      <p:to>
                                        <p:strVal val="visible"/>
                                      </p:to>
                                    </p:set>
                                    <p:animEffect transition="in" filter="dissolve">
                                      <p:cBhvr>
                                        <p:cTn id="22" dur="500"/>
                                        <p:tgtEl>
                                          <p:spTgt spid="32783"/>
                                        </p:tgtEl>
                                      </p:cBhvr>
                                    </p:animEffect>
                                  </p:childTnLst>
                                  <p:subTnLst>
                                    <p:set>
                                      <p:cBhvr override="childStyle">
                                        <p:cTn dur="1" fill="hold" display="0" masterRel="nextClick" afterEffect="1"/>
                                        <p:tgtEl>
                                          <p:spTgt spid="32783"/>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2784"/>
                                        </p:tgtEl>
                                        <p:attrNameLst>
                                          <p:attrName>style.visibility</p:attrName>
                                        </p:attrNameLst>
                                      </p:cBhvr>
                                      <p:to>
                                        <p:strVal val="visible"/>
                                      </p:to>
                                    </p:set>
                                    <p:animEffect transition="in" filter="dissolve">
                                      <p:cBhvr>
                                        <p:cTn id="27" dur="500"/>
                                        <p:tgtEl>
                                          <p:spTgt spid="32784"/>
                                        </p:tgtEl>
                                      </p:cBhvr>
                                    </p:animEffect>
                                  </p:childTnLst>
                                  <p:subTnLst>
                                    <p:set>
                                      <p:cBhvr override="childStyle">
                                        <p:cTn dur="1" fill="hold" display="0" masterRel="nextClick" afterEffect="1"/>
                                        <p:tgtEl>
                                          <p:spTgt spid="3278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0" grpId="0" autoUpdateAnimBg="0"/>
      <p:bldP spid="32781" grpId="0" autoUpdateAnimBg="0"/>
      <p:bldP spid="32782" grpId="0" autoUpdateAnimBg="0"/>
      <p:bldP spid="32783" grpId="0" autoUpdateAnimBg="0"/>
      <p:bldP spid="32784"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a:extLst>
              <a:ext uri="{FF2B5EF4-FFF2-40B4-BE49-F238E27FC236}">
                <a16:creationId xmlns="" xmlns:a16="http://schemas.microsoft.com/office/drawing/2014/main" id="{92D9868F-0E61-4315-9D97-953881F9DE24}"/>
              </a:ext>
            </a:extLst>
          </p:cNvPr>
          <p:cNvSpPr>
            <a:spLocks noGrp="1" noChangeArrowheads="1"/>
          </p:cNvSpPr>
          <p:nvPr>
            <p:ph type="title"/>
          </p:nvPr>
        </p:nvSpPr>
        <p:spPr>
          <a:xfrm>
            <a:off x="2209800" y="0"/>
            <a:ext cx="7772400" cy="1219200"/>
          </a:xfrm>
        </p:spPr>
        <p:txBody>
          <a:bodyPr/>
          <a:lstStyle/>
          <a:p>
            <a:pPr algn="ctr" eaLnBrk="1" hangingPunct="1"/>
            <a:r>
              <a:rPr lang="en-US" altLang="en-US" dirty="0"/>
              <a:t>KDD Issues</a:t>
            </a:r>
          </a:p>
        </p:txBody>
      </p:sp>
      <p:sp>
        <p:nvSpPr>
          <p:cNvPr id="72708" name="Rectangle 3">
            <a:extLst>
              <a:ext uri="{FF2B5EF4-FFF2-40B4-BE49-F238E27FC236}">
                <a16:creationId xmlns="" xmlns:a16="http://schemas.microsoft.com/office/drawing/2014/main" id="{BC46AC9E-D382-4277-979F-C6595DA0FDEC}"/>
              </a:ext>
            </a:extLst>
          </p:cNvPr>
          <p:cNvSpPr>
            <a:spLocks noGrp="1" noChangeArrowheads="1"/>
          </p:cNvSpPr>
          <p:nvPr>
            <p:ph idx="1"/>
          </p:nvPr>
        </p:nvSpPr>
        <p:spPr>
          <a:xfrm>
            <a:off x="1962150" y="1965325"/>
            <a:ext cx="8267700" cy="4800600"/>
          </a:xfrm>
        </p:spPr>
        <p:txBody>
          <a:bodyPr>
            <a:normAutofit/>
          </a:bodyPr>
          <a:lstStyle/>
          <a:p>
            <a:pPr eaLnBrk="1" hangingPunct="1"/>
            <a:r>
              <a:rPr lang="en-US" altLang="en-US" sz="2000" b="1" dirty="0"/>
              <a:t>Human Interaction</a:t>
            </a:r>
            <a:endParaRPr lang="en-US" altLang="en-US" sz="2000" dirty="0"/>
          </a:p>
          <a:p>
            <a:pPr eaLnBrk="1" hangingPunct="1"/>
            <a:r>
              <a:rPr lang="en-US" altLang="en-US" sz="2000" b="1" dirty="0"/>
              <a:t>Overfitting</a:t>
            </a:r>
            <a:r>
              <a:rPr lang="en-US" altLang="en-US" sz="2000" dirty="0"/>
              <a:t> </a:t>
            </a:r>
          </a:p>
          <a:p>
            <a:pPr eaLnBrk="1" hangingPunct="1"/>
            <a:r>
              <a:rPr lang="en-US" altLang="en-US" sz="2000" b="1" dirty="0"/>
              <a:t>Outliers</a:t>
            </a:r>
            <a:r>
              <a:rPr lang="en-US" altLang="en-US" sz="2000" dirty="0"/>
              <a:t> </a:t>
            </a:r>
          </a:p>
          <a:p>
            <a:pPr eaLnBrk="1" hangingPunct="1"/>
            <a:r>
              <a:rPr lang="en-US" altLang="en-US" sz="2000" b="1" dirty="0"/>
              <a:t>Interpretation</a:t>
            </a:r>
          </a:p>
          <a:p>
            <a:pPr eaLnBrk="1" hangingPunct="1"/>
            <a:r>
              <a:rPr lang="en-US" altLang="en-US" sz="2000" b="1" dirty="0"/>
              <a:t>Visualization </a:t>
            </a:r>
          </a:p>
          <a:p>
            <a:pPr eaLnBrk="1" hangingPunct="1"/>
            <a:r>
              <a:rPr lang="en-US" altLang="en-US" sz="2000" b="1" dirty="0"/>
              <a:t>Large Datasets</a:t>
            </a:r>
          </a:p>
          <a:p>
            <a:pPr eaLnBrk="1" hangingPunct="1"/>
            <a:r>
              <a:rPr lang="en-US" altLang="en-US" sz="2000" b="1" dirty="0"/>
              <a:t>High Dimensionality</a:t>
            </a:r>
          </a:p>
        </p:txBody>
      </p:sp>
      <p:sp>
        <p:nvSpPr>
          <p:cNvPr id="72706" name="Slide Number Placeholder 4">
            <a:extLst>
              <a:ext uri="{FF2B5EF4-FFF2-40B4-BE49-F238E27FC236}">
                <a16:creationId xmlns="" xmlns:a16="http://schemas.microsoft.com/office/drawing/2014/main" id="{D34C0BDA-4293-4C12-A11F-576D7EB5AC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43B57E2E-C751-4068-95F4-77753418E3F5}" type="slidenum">
              <a:rPr lang="en-US" altLang="en-US" sz="1400">
                <a:solidFill>
                  <a:schemeClr val="tx1"/>
                </a:solidFill>
                <a:latin typeface="Arial" panose="020B0604020202020204" pitchFamily="34" charset="0"/>
              </a:rPr>
              <a:pPr/>
              <a:t>37</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a:extLst>
              <a:ext uri="{FF2B5EF4-FFF2-40B4-BE49-F238E27FC236}">
                <a16:creationId xmlns="" xmlns:a16="http://schemas.microsoft.com/office/drawing/2014/main" id="{801DB38A-B7AD-488A-A919-BABAF1260DCC}"/>
              </a:ext>
            </a:extLst>
          </p:cNvPr>
          <p:cNvSpPr>
            <a:spLocks noGrp="1" noChangeArrowheads="1"/>
          </p:cNvSpPr>
          <p:nvPr>
            <p:ph type="title"/>
          </p:nvPr>
        </p:nvSpPr>
        <p:spPr>
          <a:xfrm>
            <a:off x="994586" y="0"/>
            <a:ext cx="9692640" cy="1325562"/>
          </a:xfrm>
        </p:spPr>
        <p:txBody>
          <a:bodyPr/>
          <a:lstStyle/>
          <a:p>
            <a:pPr algn="ctr" eaLnBrk="1" hangingPunct="1"/>
            <a:r>
              <a:rPr lang="en-US" altLang="en-US" dirty="0"/>
              <a:t>KDD Issues (cont’d)</a:t>
            </a:r>
          </a:p>
        </p:txBody>
      </p:sp>
      <p:sp>
        <p:nvSpPr>
          <p:cNvPr id="73732" name="Rectangle 3">
            <a:extLst>
              <a:ext uri="{FF2B5EF4-FFF2-40B4-BE49-F238E27FC236}">
                <a16:creationId xmlns="" xmlns:a16="http://schemas.microsoft.com/office/drawing/2014/main" id="{A2FD6DAB-F155-47A6-9ADF-797BB445A4B1}"/>
              </a:ext>
            </a:extLst>
          </p:cNvPr>
          <p:cNvSpPr>
            <a:spLocks noGrp="1" noChangeArrowheads="1"/>
          </p:cNvSpPr>
          <p:nvPr>
            <p:ph idx="1"/>
          </p:nvPr>
        </p:nvSpPr>
        <p:spPr>
          <a:xfrm>
            <a:off x="2221992" y="2014537"/>
            <a:ext cx="7772400" cy="4454525"/>
          </a:xfrm>
        </p:spPr>
        <p:txBody>
          <a:bodyPr>
            <a:normAutofit/>
          </a:bodyPr>
          <a:lstStyle/>
          <a:p>
            <a:pPr eaLnBrk="1" hangingPunct="1"/>
            <a:r>
              <a:rPr lang="en-US" altLang="en-US" sz="2000" b="1" dirty="0"/>
              <a:t>Multimedia Data</a:t>
            </a:r>
          </a:p>
          <a:p>
            <a:pPr eaLnBrk="1" hangingPunct="1"/>
            <a:r>
              <a:rPr lang="en-US" altLang="en-US" sz="2000" b="1" dirty="0"/>
              <a:t>Missing Data</a:t>
            </a:r>
          </a:p>
          <a:p>
            <a:pPr eaLnBrk="1" hangingPunct="1"/>
            <a:r>
              <a:rPr lang="en-US" altLang="en-US" sz="2000" b="1" dirty="0"/>
              <a:t>Irrelevant Data</a:t>
            </a:r>
          </a:p>
          <a:p>
            <a:pPr eaLnBrk="1" hangingPunct="1"/>
            <a:r>
              <a:rPr lang="en-US" altLang="en-US" sz="2000" b="1" dirty="0"/>
              <a:t>Noisy Data</a:t>
            </a:r>
          </a:p>
          <a:p>
            <a:pPr eaLnBrk="1" hangingPunct="1"/>
            <a:r>
              <a:rPr lang="en-US" altLang="en-US" sz="2000" b="1" dirty="0"/>
              <a:t>Changing Data</a:t>
            </a:r>
          </a:p>
          <a:p>
            <a:pPr eaLnBrk="1" hangingPunct="1"/>
            <a:r>
              <a:rPr lang="en-US" altLang="en-US" sz="2000" b="1" dirty="0"/>
              <a:t>Integration</a:t>
            </a:r>
          </a:p>
          <a:p>
            <a:pPr eaLnBrk="1" hangingPunct="1"/>
            <a:r>
              <a:rPr lang="en-US" altLang="en-US" sz="2000" b="1" dirty="0"/>
              <a:t>Application</a:t>
            </a:r>
            <a:endParaRPr lang="en-US" altLang="en-US" sz="2000" dirty="0"/>
          </a:p>
        </p:txBody>
      </p:sp>
      <p:sp>
        <p:nvSpPr>
          <p:cNvPr id="73730" name="Slide Number Placeholder 4">
            <a:extLst>
              <a:ext uri="{FF2B5EF4-FFF2-40B4-BE49-F238E27FC236}">
                <a16:creationId xmlns="" xmlns:a16="http://schemas.microsoft.com/office/drawing/2014/main" id="{1463FE69-0119-4704-A5D4-CF8DA522DE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8D9A7081-6DB6-4B44-8B8E-337C9EBD02A8}" type="slidenum">
              <a:rPr lang="en-US" altLang="en-US" sz="1400">
                <a:solidFill>
                  <a:schemeClr val="tx1"/>
                </a:solidFill>
                <a:latin typeface="Arial" panose="020B0604020202020204" pitchFamily="34" charset="0"/>
              </a:rPr>
              <a:pPr/>
              <a:t>38</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a:extLst>
              <a:ext uri="{FF2B5EF4-FFF2-40B4-BE49-F238E27FC236}">
                <a16:creationId xmlns="" xmlns:a16="http://schemas.microsoft.com/office/drawing/2014/main" id="{CF0AA006-88DB-4250-AACF-569AB6D81A00}"/>
              </a:ext>
            </a:extLst>
          </p:cNvPr>
          <p:cNvSpPr>
            <a:spLocks noGrp="1" noChangeArrowheads="1"/>
          </p:cNvSpPr>
          <p:nvPr>
            <p:ph type="title"/>
          </p:nvPr>
        </p:nvSpPr>
        <p:spPr>
          <a:xfrm>
            <a:off x="1078992" y="112541"/>
            <a:ext cx="9692640" cy="692516"/>
          </a:xfrm>
        </p:spPr>
        <p:txBody>
          <a:bodyPr>
            <a:normAutofit/>
          </a:bodyPr>
          <a:lstStyle/>
          <a:p>
            <a:pPr algn="ctr" eaLnBrk="1" hangingPunct="1"/>
            <a:r>
              <a:rPr lang="en-US" altLang="en-US" sz="3600" dirty="0"/>
              <a:t>Data Mining </a:t>
            </a:r>
            <a:r>
              <a:rPr lang="en-US" altLang="en-US" sz="3600" dirty="0" smtClean="0"/>
              <a:t>Applications: Retail</a:t>
            </a:r>
            <a:endParaRPr lang="en-US" altLang="en-US" sz="3600" dirty="0"/>
          </a:p>
        </p:txBody>
      </p:sp>
      <p:sp>
        <p:nvSpPr>
          <p:cNvPr id="20483" name="Rectangle 3">
            <a:extLst>
              <a:ext uri="{FF2B5EF4-FFF2-40B4-BE49-F238E27FC236}">
                <a16:creationId xmlns="" xmlns:a16="http://schemas.microsoft.com/office/drawing/2014/main" id="{F897E635-9D73-4984-87F6-EDBB30F40DEC}"/>
              </a:ext>
            </a:extLst>
          </p:cNvPr>
          <p:cNvSpPr>
            <a:spLocks noGrp="1" noChangeArrowheads="1"/>
          </p:cNvSpPr>
          <p:nvPr>
            <p:ph idx="1"/>
          </p:nvPr>
        </p:nvSpPr>
        <p:spPr>
          <a:xfrm>
            <a:off x="1981200" y="1524000"/>
            <a:ext cx="8229600" cy="5105400"/>
          </a:xfrm>
        </p:spPr>
        <p:txBody>
          <a:bodyPr>
            <a:normAutofit lnSpcReduction="10000"/>
          </a:bodyPr>
          <a:lstStyle/>
          <a:p>
            <a:pPr eaLnBrk="1" hangingPunct="1">
              <a:lnSpc>
                <a:spcPct val="80000"/>
              </a:lnSpc>
            </a:pPr>
            <a:r>
              <a:rPr lang="en-US" altLang="en-US" sz="2100" b="1" dirty="0">
                <a:solidFill>
                  <a:srgbClr val="00B050"/>
                </a:solidFill>
              </a:rPr>
              <a:t>Performing basket analysis</a:t>
            </a:r>
          </a:p>
          <a:p>
            <a:pPr lvl="1" eaLnBrk="1" hangingPunct="1">
              <a:lnSpc>
                <a:spcPct val="80000"/>
              </a:lnSpc>
            </a:pPr>
            <a:r>
              <a:rPr lang="en-US" altLang="en-US" sz="2000" dirty="0"/>
              <a:t>Which items customers tend to purchase together. This knowledge can improve stocking, store layout strategies, and promotions.</a:t>
            </a:r>
          </a:p>
          <a:p>
            <a:pPr eaLnBrk="1" hangingPunct="1">
              <a:lnSpc>
                <a:spcPct val="80000"/>
              </a:lnSpc>
            </a:pPr>
            <a:r>
              <a:rPr lang="en-US" altLang="en-US" sz="2100" b="1" dirty="0">
                <a:solidFill>
                  <a:srgbClr val="FF0000"/>
                </a:solidFill>
              </a:rPr>
              <a:t>Sales forecasting</a:t>
            </a:r>
          </a:p>
          <a:p>
            <a:pPr lvl="1" eaLnBrk="1" hangingPunct="1">
              <a:lnSpc>
                <a:spcPct val="80000"/>
              </a:lnSpc>
            </a:pPr>
            <a:r>
              <a:rPr lang="en-US" altLang="en-US" sz="2000" dirty="0"/>
              <a:t>Examining time-based patterns helps retailers make stocking decisions. If a customer purchases an item today, when are they likely to purchase a complementary item?</a:t>
            </a:r>
          </a:p>
          <a:p>
            <a:pPr eaLnBrk="1" hangingPunct="1">
              <a:lnSpc>
                <a:spcPct val="80000"/>
              </a:lnSpc>
            </a:pPr>
            <a:r>
              <a:rPr lang="en-US" altLang="en-US" sz="2100" b="1" dirty="0">
                <a:solidFill>
                  <a:srgbClr val="00B0F0"/>
                </a:solidFill>
              </a:rPr>
              <a:t>Database marketing</a:t>
            </a:r>
          </a:p>
          <a:p>
            <a:pPr lvl="1" eaLnBrk="1" hangingPunct="1">
              <a:lnSpc>
                <a:spcPct val="80000"/>
              </a:lnSpc>
            </a:pPr>
            <a:r>
              <a:rPr lang="en-US" altLang="en-US" sz="2000" dirty="0"/>
              <a:t>Retailers can develop profiles of customers with certain behaviors, for example, those who purchase designer labels clothing or those who attend sales. This information can be used to focus cost–effective promotions.</a:t>
            </a:r>
          </a:p>
          <a:p>
            <a:pPr eaLnBrk="1" hangingPunct="1">
              <a:lnSpc>
                <a:spcPct val="80000"/>
              </a:lnSpc>
            </a:pPr>
            <a:r>
              <a:rPr lang="en-US" altLang="en-US" sz="2100" b="1" dirty="0">
                <a:solidFill>
                  <a:srgbClr val="C00000"/>
                </a:solidFill>
              </a:rPr>
              <a:t>Merchandise planning and allocation</a:t>
            </a:r>
          </a:p>
          <a:p>
            <a:pPr lvl="1" eaLnBrk="1" hangingPunct="1">
              <a:lnSpc>
                <a:spcPct val="80000"/>
              </a:lnSpc>
            </a:pPr>
            <a:r>
              <a:rPr lang="en-US" altLang="en-US" sz="2000" dirty="0"/>
              <a:t>When retailers add new stores, they can improve merchandise planning and allocation by examining patterns in stores with similar demographic characteristics. Retailers can also use data mining to determine the ideal layout for a specific store.</a:t>
            </a:r>
            <a:endParaRPr lang="en-US" altLang="en-US" sz="1900" dirty="0"/>
          </a:p>
        </p:txBody>
      </p:sp>
      <p:sp>
        <p:nvSpPr>
          <p:cNvPr id="76802" name="Slide Number Placeholder 5">
            <a:extLst>
              <a:ext uri="{FF2B5EF4-FFF2-40B4-BE49-F238E27FC236}">
                <a16:creationId xmlns="" xmlns:a16="http://schemas.microsoft.com/office/drawing/2014/main" id="{7E40B75E-FAFF-43E2-8AE4-DC1DFFB853D5}"/>
              </a:ext>
            </a:extLst>
          </p:cNvPr>
          <p:cNvSpPr>
            <a:spLocks noGrp="1"/>
          </p:cNvSpPr>
          <p:nvPr>
            <p:ph type="sldNum" sz="quarter" idx="12"/>
          </p:nvPr>
        </p:nvSpPr>
        <p:spPr>
          <a:xfrm>
            <a:off x="8077200" y="62484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4FE64935-5BF2-4B77-B816-6EB96A7B1790}" type="slidenum">
              <a:rPr lang="en-US" altLang="en-US" sz="1400">
                <a:solidFill>
                  <a:schemeClr val="tx1"/>
                </a:solidFill>
                <a:latin typeface="Arial" panose="020B0604020202020204" pitchFamily="34" charset="0"/>
              </a:rPr>
              <a:pPr/>
              <a:t>39</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checkerboard(across)">
                                      <p:cBhvr>
                                        <p:cTn id="7" dur="500"/>
                                        <p:tgtEl>
                                          <p:spTgt spid="20483">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0483">
                                            <p:txEl>
                                              <p:pRg st="1" end="1"/>
                                            </p:txEl>
                                          </p:spTgt>
                                        </p:tgtEl>
                                        <p:attrNameLst>
                                          <p:attrName>style.visibility</p:attrName>
                                        </p:attrNameLst>
                                      </p:cBhvr>
                                      <p:to>
                                        <p:strVal val="visible"/>
                                      </p:to>
                                    </p:set>
                                    <p:animEffect transition="in" filter="checkerboard(across)">
                                      <p:cBhvr>
                                        <p:cTn id="10" dur="500"/>
                                        <p:tgtEl>
                                          <p:spTgt spid="2048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Effect transition="in" filter="checkerboard(across)">
                                      <p:cBhvr>
                                        <p:cTn id="15" dur="500"/>
                                        <p:tgtEl>
                                          <p:spTgt spid="20483">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20483">
                                            <p:txEl>
                                              <p:pRg st="3" end="3"/>
                                            </p:txEl>
                                          </p:spTgt>
                                        </p:tgtEl>
                                        <p:attrNameLst>
                                          <p:attrName>style.visibility</p:attrName>
                                        </p:attrNameLst>
                                      </p:cBhvr>
                                      <p:to>
                                        <p:strVal val="visible"/>
                                      </p:to>
                                    </p:set>
                                    <p:animEffect transition="in" filter="checkerboard(across)">
                                      <p:cBhvr>
                                        <p:cTn id="18" dur="500"/>
                                        <p:tgtEl>
                                          <p:spTgt spid="2048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animEffect transition="in" filter="checkerboard(across)">
                                      <p:cBhvr>
                                        <p:cTn id="23" dur="500"/>
                                        <p:tgtEl>
                                          <p:spTgt spid="20483">
                                            <p:txEl>
                                              <p:pRg st="4" end="4"/>
                                            </p:txEl>
                                          </p:spTgt>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20483">
                                            <p:txEl>
                                              <p:pRg st="5" end="5"/>
                                            </p:txEl>
                                          </p:spTgt>
                                        </p:tgtEl>
                                        <p:attrNameLst>
                                          <p:attrName>style.visibility</p:attrName>
                                        </p:attrNameLst>
                                      </p:cBhvr>
                                      <p:to>
                                        <p:strVal val="visible"/>
                                      </p:to>
                                    </p:set>
                                    <p:animEffect transition="in" filter="checkerboard(across)">
                                      <p:cBhvr>
                                        <p:cTn id="26" dur="500"/>
                                        <p:tgtEl>
                                          <p:spTgt spid="20483">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0483">
                                            <p:txEl>
                                              <p:pRg st="6" end="6"/>
                                            </p:txEl>
                                          </p:spTgt>
                                        </p:tgtEl>
                                        <p:attrNameLst>
                                          <p:attrName>style.visibility</p:attrName>
                                        </p:attrNameLst>
                                      </p:cBhvr>
                                      <p:to>
                                        <p:strVal val="visible"/>
                                      </p:to>
                                    </p:set>
                                    <p:animEffect transition="in" filter="checkerboard(across)">
                                      <p:cBhvr>
                                        <p:cTn id="31" dur="500"/>
                                        <p:tgtEl>
                                          <p:spTgt spid="20483">
                                            <p:txEl>
                                              <p:pRg st="6" end="6"/>
                                            </p:txEl>
                                          </p:spTgt>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20483">
                                            <p:txEl>
                                              <p:pRg st="7" end="7"/>
                                            </p:txEl>
                                          </p:spTgt>
                                        </p:tgtEl>
                                        <p:attrNameLst>
                                          <p:attrName>style.visibility</p:attrName>
                                        </p:attrNameLst>
                                      </p:cBhvr>
                                      <p:to>
                                        <p:strVal val="visible"/>
                                      </p:to>
                                    </p:set>
                                    <p:animEffect transition="in" filter="checkerboard(across)">
                                      <p:cBhvr>
                                        <p:cTn id="34" dur="500"/>
                                        <p:tgtEl>
                                          <p:spTgt spid="204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a:extLst>
              <a:ext uri="{FF2B5EF4-FFF2-40B4-BE49-F238E27FC236}">
                <a16:creationId xmlns="" xmlns:a16="http://schemas.microsoft.com/office/drawing/2014/main" id="{4C3D6B06-42C8-45E7-AC0E-01640483D7E2}"/>
              </a:ext>
            </a:extLst>
          </p:cNvPr>
          <p:cNvSpPr>
            <a:spLocks noGrp="1" noChangeArrowheads="1"/>
          </p:cNvSpPr>
          <p:nvPr>
            <p:ph type="title"/>
          </p:nvPr>
        </p:nvSpPr>
        <p:spPr>
          <a:xfrm>
            <a:off x="924247" y="0"/>
            <a:ext cx="9692640" cy="798342"/>
          </a:xfrm>
        </p:spPr>
        <p:txBody>
          <a:bodyPr>
            <a:normAutofit/>
          </a:bodyPr>
          <a:lstStyle/>
          <a:p>
            <a:pPr algn="ctr" eaLnBrk="1" hangingPunct="1"/>
            <a:r>
              <a:rPr lang="en-US" altLang="en-US" sz="3600" dirty="0"/>
              <a:t>Data Mining </a:t>
            </a:r>
            <a:r>
              <a:rPr lang="en-US" altLang="en-US" sz="3600" dirty="0" smtClean="0"/>
              <a:t>Applications: Banking</a:t>
            </a:r>
            <a:endParaRPr lang="en-US" altLang="en-US" sz="3600" dirty="0"/>
          </a:p>
        </p:txBody>
      </p:sp>
      <p:sp>
        <p:nvSpPr>
          <p:cNvPr id="22531" name="Rectangle 3">
            <a:extLst>
              <a:ext uri="{FF2B5EF4-FFF2-40B4-BE49-F238E27FC236}">
                <a16:creationId xmlns="" xmlns:a16="http://schemas.microsoft.com/office/drawing/2014/main" id="{CCEFADB3-9460-4358-AE99-61EBC92EC74E}"/>
              </a:ext>
            </a:extLst>
          </p:cNvPr>
          <p:cNvSpPr>
            <a:spLocks noGrp="1" noChangeArrowheads="1"/>
          </p:cNvSpPr>
          <p:nvPr>
            <p:ph idx="1"/>
          </p:nvPr>
        </p:nvSpPr>
        <p:spPr>
          <a:xfrm>
            <a:off x="2057400" y="1600200"/>
            <a:ext cx="8229600" cy="4876800"/>
          </a:xfrm>
        </p:spPr>
        <p:txBody>
          <a:bodyPr>
            <a:normAutofit lnSpcReduction="10000"/>
          </a:bodyPr>
          <a:lstStyle/>
          <a:p>
            <a:pPr eaLnBrk="1" hangingPunct="1">
              <a:lnSpc>
                <a:spcPct val="80000"/>
              </a:lnSpc>
            </a:pPr>
            <a:r>
              <a:rPr lang="en-US" altLang="en-US" sz="2100" b="1" dirty="0">
                <a:solidFill>
                  <a:srgbClr val="C00000"/>
                </a:solidFill>
              </a:rPr>
              <a:t>Card marketing</a:t>
            </a:r>
          </a:p>
          <a:p>
            <a:pPr lvl="1" eaLnBrk="1" hangingPunct="1">
              <a:lnSpc>
                <a:spcPct val="80000"/>
              </a:lnSpc>
            </a:pPr>
            <a:r>
              <a:rPr lang="en-US" altLang="en-US" sz="2000" dirty="0"/>
              <a:t>By identifying customer segments, card issuers and acquirers can improve profitability with more effective acquisition and retention programs, targeted product development, and customized pricing.</a:t>
            </a:r>
          </a:p>
          <a:p>
            <a:pPr eaLnBrk="1" hangingPunct="1">
              <a:lnSpc>
                <a:spcPct val="80000"/>
              </a:lnSpc>
            </a:pPr>
            <a:r>
              <a:rPr lang="en-US" altLang="en-US" sz="2100" b="1" dirty="0">
                <a:solidFill>
                  <a:srgbClr val="00B050"/>
                </a:solidFill>
              </a:rPr>
              <a:t>Cardholder pricing and profitability</a:t>
            </a:r>
          </a:p>
          <a:p>
            <a:pPr lvl="1" eaLnBrk="1" hangingPunct="1">
              <a:lnSpc>
                <a:spcPct val="80000"/>
              </a:lnSpc>
            </a:pPr>
            <a:r>
              <a:rPr lang="en-US" altLang="en-US" sz="2000" dirty="0"/>
              <a:t>Card issuers can take advantage of data mining technology to price their products so as to maximize profit and minimize loss of customers. Includes risk-based pricing.</a:t>
            </a:r>
          </a:p>
          <a:p>
            <a:pPr eaLnBrk="1" hangingPunct="1">
              <a:lnSpc>
                <a:spcPct val="80000"/>
              </a:lnSpc>
            </a:pPr>
            <a:r>
              <a:rPr lang="en-US" altLang="en-US" sz="2100" b="1" dirty="0">
                <a:solidFill>
                  <a:srgbClr val="FF0000"/>
                </a:solidFill>
              </a:rPr>
              <a:t>Fraud detection </a:t>
            </a:r>
          </a:p>
          <a:p>
            <a:pPr lvl="1" eaLnBrk="1" hangingPunct="1">
              <a:lnSpc>
                <a:spcPct val="80000"/>
              </a:lnSpc>
            </a:pPr>
            <a:r>
              <a:rPr lang="en-US" altLang="en-US" sz="2000" dirty="0"/>
              <a:t>Fraud is enormously costly. By analyzing past transactions that were later determined to be fraudulent, banks can identify patterns.</a:t>
            </a:r>
          </a:p>
          <a:p>
            <a:pPr eaLnBrk="1" hangingPunct="1">
              <a:lnSpc>
                <a:spcPct val="80000"/>
              </a:lnSpc>
            </a:pPr>
            <a:r>
              <a:rPr lang="en-US" altLang="en-US" sz="2100" dirty="0"/>
              <a:t> </a:t>
            </a:r>
            <a:r>
              <a:rPr lang="en-US" altLang="en-US" sz="2100" b="1" dirty="0">
                <a:solidFill>
                  <a:srgbClr val="00B0F0"/>
                </a:solidFill>
              </a:rPr>
              <a:t>Predictive life-cycle management</a:t>
            </a:r>
          </a:p>
          <a:p>
            <a:pPr lvl="1" eaLnBrk="1" hangingPunct="1">
              <a:lnSpc>
                <a:spcPct val="80000"/>
              </a:lnSpc>
            </a:pPr>
            <a:r>
              <a:rPr lang="en-US" altLang="en-US" sz="2000" dirty="0"/>
              <a:t>DM helps banks predict each customer’s lifetime value and to service each segment appropriately (for example, offering special deals and discounts).</a:t>
            </a:r>
            <a:endParaRPr lang="en-US" altLang="en-US" sz="1800" dirty="0"/>
          </a:p>
        </p:txBody>
      </p:sp>
      <p:sp>
        <p:nvSpPr>
          <p:cNvPr id="77826" name="Slide Number Placeholder 5">
            <a:extLst>
              <a:ext uri="{FF2B5EF4-FFF2-40B4-BE49-F238E27FC236}">
                <a16:creationId xmlns="" xmlns:a16="http://schemas.microsoft.com/office/drawing/2014/main" id="{CF97BB20-75AC-4526-9B09-D6CAE988C809}"/>
              </a:ext>
            </a:extLst>
          </p:cNvPr>
          <p:cNvSpPr>
            <a:spLocks noGrp="1"/>
          </p:cNvSpPr>
          <p:nvPr>
            <p:ph type="sldNum" sz="quarter" idx="12"/>
          </p:nvPr>
        </p:nvSpPr>
        <p:spPr>
          <a:xfrm>
            <a:off x="8077200" y="62484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4A1B7E9A-C014-4533-AFEA-07802065C744}" type="slidenum">
              <a:rPr lang="en-US" altLang="en-US" sz="1400">
                <a:solidFill>
                  <a:schemeClr val="tx1"/>
                </a:solidFill>
                <a:latin typeface="Arial" panose="020B0604020202020204" pitchFamily="34" charset="0"/>
              </a:rPr>
              <a:pPr/>
              <a:t>40</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checkerboard(across)">
                                      <p:cBhvr>
                                        <p:cTn id="7" dur="500"/>
                                        <p:tgtEl>
                                          <p:spTgt spid="22531">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2531">
                                            <p:txEl>
                                              <p:pRg st="1" end="1"/>
                                            </p:txEl>
                                          </p:spTgt>
                                        </p:tgtEl>
                                        <p:attrNameLst>
                                          <p:attrName>style.visibility</p:attrName>
                                        </p:attrNameLst>
                                      </p:cBhvr>
                                      <p:to>
                                        <p:strVal val="visible"/>
                                      </p:to>
                                    </p:set>
                                    <p:animEffect transition="in" filter="checkerboard(across)">
                                      <p:cBhvr>
                                        <p:cTn id="10" dur="500"/>
                                        <p:tgtEl>
                                          <p:spTgt spid="2253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animEffect transition="in" filter="checkerboard(across)">
                                      <p:cBhvr>
                                        <p:cTn id="15" dur="500"/>
                                        <p:tgtEl>
                                          <p:spTgt spid="22531">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22531">
                                            <p:txEl>
                                              <p:pRg st="3" end="3"/>
                                            </p:txEl>
                                          </p:spTgt>
                                        </p:tgtEl>
                                        <p:attrNameLst>
                                          <p:attrName>style.visibility</p:attrName>
                                        </p:attrNameLst>
                                      </p:cBhvr>
                                      <p:to>
                                        <p:strVal val="visible"/>
                                      </p:to>
                                    </p:set>
                                    <p:animEffect transition="in" filter="checkerboard(across)">
                                      <p:cBhvr>
                                        <p:cTn id="18" dur="500"/>
                                        <p:tgtEl>
                                          <p:spTgt spid="22531">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22531">
                                            <p:txEl>
                                              <p:pRg st="4" end="4"/>
                                            </p:txEl>
                                          </p:spTgt>
                                        </p:tgtEl>
                                        <p:attrNameLst>
                                          <p:attrName>style.visibility</p:attrName>
                                        </p:attrNameLst>
                                      </p:cBhvr>
                                      <p:to>
                                        <p:strVal val="visible"/>
                                      </p:to>
                                    </p:set>
                                    <p:animEffect transition="in" filter="checkerboard(across)">
                                      <p:cBhvr>
                                        <p:cTn id="23" dur="500"/>
                                        <p:tgtEl>
                                          <p:spTgt spid="22531">
                                            <p:txEl>
                                              <p:pRg st="4" end="4"/>
                                            </p:txEl>
                                          </p:spTgt>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22531">
                                            <p:txEl>
                                              <p:pRg st="5" end="5"/>
                                            </p:txEl>
                                          </p:spTgt>
                                        </p:tgtEl>
                                        <p:attrNameLst>
                                          <p:attrName>style.visibility</p:attrName>
                                        </p:attrNameLst>
                                      </p:cBhvr>
                                      <p:to>
                                        <p:strVal val="visible"/>
                                      </p:to>
                                    </p:set>
                                    <p:animEffect transition="in" filter="checkerboard(across)">
                                      <p:cBhvr>
                                        <p:cTn id="26" dur="500"/>
                                        <p:tgtEl>
                                          <p:spTgt spid="22531">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2531">
                                            <p:txEl>
                                              <p:pRg st="6" end="6"/>
                                            </p:txEl>
                                          </p:spTgt>
                                        </p:tgtEl>
                                        <p:attrNameLst>
                                          <p:attrName>style.visibility</p:attrName>
                                        </p:attrNameLst>
                                      </p:cBhvr>
                                      <p:to>
                                        <p:strVal val="visible"/>
                                      </p:to>
                                    </p:set>
                                    <p:animEffect transition="in" filter="checkerboard(across)">
                                      <p:cBhvr>
                                        <p:cTn id="31" dur="500"/>
                                        <p:tgtEl>
                                          <p:spTgt spid="22531">
                                            <p:txEl>
                                              <p:pRg st="6" end="6"/>
                                            </p:txEl>
                                          </p:spTgt>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22531">
                                            <p:txEl>
                                              <p:pRg st="7" end="7"/>
                                            </p:txEl>
                                          </p:spTgt>
                                        </p:tgtEl>
                                        <p:attrNameLst>
                                          <p:attrName>style.visibility</p:attrName>
                                        </p:attrNameLst>
                                      </p:cBhvr>
                                      <p:to>
                                        <p:strVal val="visible"/>
                                      </p:to>
                                    </p:set>
                                    <p:animEffect transition="in" filter="checkerboard(across)">
                                      <p:cBhvr>
                                        <p:cTn id="34" dur="500"/>
                                        <p:tgtEl>
                                          <p:spTgt spid="225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a:extLst>
              <a:ext uri="{FF2B5EF4-FFF2-40B4-BE49-F238E27FC236}">
                <a16:creationId xmlns="" xmlns:a16="http://schemas.microsoft.com/office/drawing/2014/main" id="{39B2BA63-3713-4560-B777-DF512C4CE1BE}"/>
              </a:ext>
            </a:extLst>
          </p:cNvPr>
          <p:cNvSpPr>
            <a:spLocks noGrp="1" noChangeArrowheads="1"/>
          </p:cNvSpPr>
          <p:nvPr>
            <p:ph type="title"/>
          </p:nvPr>
        </p:nvSpPr>
        <p:spPr>
          <a:xfrm>
            <a:off x="1064924" y="154743"/>
            <a:ext cx="9692640" cy="650313"/>
          </a:xfrm>
        </p:spPr>
        <p:txBody>
          <a:bodyPr>
            <a:normAutofit/>
          </a:bodyPr>
          <a:lstStyle/>
          <a:p>
            <a:pPr algn="ctr" eaLnBrk="1" hangingPunct="1"/>
            <a:r>
              <a:rPr lang="en-US" altLang="en-US" sz="3200" dirty="0"/>
              <a:t>Data Mining </a:t>
            </a:r>
            <a:r>
              <a:rPr lang="en-US" altLang="en-US" sz="3200" dirty="0" smtClean="0"/>
              <a:t>Applications: Telecommunication</a:t>
            </a:r>
            <a:endParaRPr lang="en-US" altLang="en-US" sz="3200" dirty="0"/>
          </a:p>
        </p:txBody>
      </p:sp>
      <p:sp>
        <p:nvSpPr>
          <p:cNvPr id="23555" name="Rectangle 3">
            <a:extLst>
              <a:ext uri="{FF2B5EF4-FFF2-40B4-BE49-F238E27FC236}">
                <a16:creationId xmlns="" xmlns:a16="http://schemas.microsoft.com/office/drawing/2014/main" id="{239210B2-93EB-42FF-AACD-0798D53339CA}"/>
              </a:ext>
            </a:extLst>
          </p:cNvPr>
          <p:cNvSpPr>
            <a:spLocks noGrp="1" noChangeArrowheads="1"/>
          </p:cNvSpPr>
          <p:nvPr>
            <p:ph idx="1"/>
          </p:nvPr>
        </p:nvSpPr>
        <p:spPr>
          <a:xfrm>
            <a:off x="2057400" y="1600200"/>
            <a:ext cx="8229600" cy="4876800"/>
          </a:xfrm>
        </p:spPr>
        <p:txBody>
          <a:bodyPr/>
          <a:lstStyle/>
          <a:p>
            <a:pPr eaLnBrk="1" hangingPunct="1"/>
            <a:r>
              <a:rPr lang="en-US" altLang="en-US" sz="2600" b="1" dirty="0">
                <a:solidFill>
                  <a:srgbClr val="00B0F0"/>
                </a:solidFill>
              </a:rPr>
              <a:t>Call detail record analysis</a:t>
            </a:r>
          </a:p>
          <a:p>
            <a:pPr lvl="1" eaLnBrk="1" hangingPunct="1"/>
            <a:r>
              <a:rPr lang="en-US" altLang="en-US" sz="2200" dirty="0"/>
              <a:t>Telecommunication companies accumulate detailed call records. By identifying customer segments with similar use patterns, the companies can develop attractive pricing and feature promotions.</a:t>
            </a:r>
          </a:p>
          <a:p>
            <a:pPr eaLnBrk="1" hangingPunct="1"/>
            <a:r>
              <a:rPr lang="en-US" altLang="en-US" sz="2600" b="1" dirty="0">
                <a:solidFill>
                  <a:srgbClr val="FF0000"/>
                </a:solidFill>
              </a:rPr>
              <a:t>Customer loyalty</a:t>
            </a:r>
          </a:p>
          <a:p>
            <a:pPr lvl="1" eaLnBrk="1" hangingPunct="1"/>
            <a:r>
              <a:rPr lang="en-US" altLang="en-US" sz="2200" dirty="0"/>
              <a:t>Some customers repeatedly switch providers, or “</a:t>
            </a:r>
            <a:r>
              <a:rPr lang="en-US" altLang="en-US" sz="2200" dirty="0">
                <a:solidFill>
                  <a:schemeClr val="accent1"/>
                </a:solidFill>
              </a:rPr>
              <a:t>churn</a:t>
            </a:r>
            <a:r>
              <a:rPr lang="en-US" altLang="en-US" sz="2200" dirty="0"/>
              <a:t>”, to take advantage of attractive incentives by competing companies. The companies can use DM to identify the characteristics of customers who are likely to remain loyal once they switch, thus enabling the companies to target their spending on customers who will produce the most profit.</a:t>
            </a:r>
            <a:endParaRPr lang="en-US" altLang="en-US" sz="2000" dirty="0"/>
          </a:p>
        </p:txBody>
      </p:sp>
      <p:sp>
        <p:nvSpPr>
          <p:cNvPr id="78850" name="Slide Number Placeholder 5">
            <a:extLst>
              <a:ext uri="{FF2B5EF4-FFF2-40B4-BE49-F238E27FC236}">
                <a16:creationId xmlns="" xmlns:a16="http://schemas.microsoft.com/office/drawing/2014/main" id="{5F38AC3E-083E-41F1-AD5F-0916157B332C}"/>
              </a:ext>
            </a:extLst>
          </p:cNvPr>
          <p:cNvSpPr>
            <a:spLocks noGrp="1"/>
          </p:cNvSpPr>
          <p:nvPr>
            <p:ph type="sldNum" sz="quarter" idx="12"/>
          </p:nvPr>
        </p:nvSpPr>
        <p:spPr>
          <a:xfrm>
            <a:off x="8077200" y="62484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83E14A6C-7201-4188-AF4F-2DB0CD5450D1}" type="slidenum">
              <a:rPr lang="en-US" altLang="en-US" sz="1400">
                <a:solidFill>
                  <a:schemeClr val="tx1"/>
                </a:solidFill>
                <a:latin typeface="Arial" panose="020B0604020202020204" pitchFamily="34" charset="0"/>
              </a:rPr>
              <a:pPr/>
              <a:t>41</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checkerboard(across)">
                                      <p:cBhvr>
                                        <p:cTn id="7" dur="500"/>
                                        <p:tgtEl>
                                          <p:spTgt spid="23555">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3555">
                                            <p:txEl>
                                              <p:pRg st="1" end="1"/>
                                            </p:txEl>
                                          </p:spTgt>
                                        </p:tgtEl>
                                        <p:attrNameLst>
                                          <p:attrName>style.visibility</p:attrName>
                                        </p:attrNameLst>
                                      </p:cBhvr>
                                      <p:to>
                                        <p:strVal val="visible"/>
                                      </p:to>
                                    </p:set>
                                    <p:animEffect transition="in" filter="checkerboard(across)">
                                      <p:cBhvr>
                                        <p:cTn id="10" dur="500"/>
                                        <p:tgtEl>
                                          <p:spTgt spid="2355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animEffect transition="in" filter="checkerboard(across)">
                                      <p:cBhvr>
                                        <p:cTn id="15" dur="500"/>
                                        <p:tgtEl>
                                          <p:spTgt spid="23555">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23555">
                                            <p:txEl>
                                              <p:pRg st="3" end="3"/>
                                            </p:txEl>
                                          </p:spTgt>
                                        </p:tgtEl>
                                        <p:attrNameLst>
                                          <p:attrName>style.visibility</p:attrName>
                                        </p:attrNameLst>
                                      </p:cBhvr>
                                      <p:to>
                                        <p:strVal val="visible"/>
                                      </p:to>
                                    </p:set>
                                    <p:animEffect transition="in" filter="checkerboard(across)">
                                      <p:cBhvr>
                                        <p:cTn id="18" dur="500"/>
                                        <p:tgtEl>
                                          <p:spTgt spid="235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a:extLst>
              <a:ext uri="{FF2B5EF4-FFF2-40B4-BE49-F238E27FC236}">
                <a16:creationId xmlns="" xmlns:a16="http://schemas.microsoft.com/office/drawing/2014/main" id="{030100B9-38F7-41C1-8B49-4263EAE5E78E}"/>
              </a:ext>
            </a:extLst>
          </p:cNvPr>
          <p:cNvSpPr>
            <a:spLocks noGrp="1" noChangeArrowheads="1"/>
          </p:cNvSpPr>
          <p:nvPr>
            <p:ph type="title"/>
          </p:nvPr>
        </p:nvSpPr>
        <p:spPr>
          <a:xfrm>
            <a:off x="1107127" y="154744"/>
            <a:ext cx="9692640" cy="622177"/>
          </a:xfrm>
        </p:spPr>
        <p:txBody>
          <a:bodyPr>
            <a:normAutofit/>
          </a:bodyPr>
          <a:lstStyle/>
          <a:p>
            <a:pPr algn="ctr" eaLnBrk="1" hangingPunct="1"/>
            <a:r>
              <a:rPr lang="en-US" altLang="en-US" sz="3200" dirty="0"/>
              <a:t>Data Mining </a:t>
            </a:r>
            <a:r>
              <a:rPr lang="en-US" altLang="en-US" sz="3200" dirty="0" smtClean="0"/>
              <a:t>Applications: Other </a:t>
            </a:r>
            <a:r>
              <a:rPr lang="en-US" altLang="en-US" sz="3200" dirty="0"/>
              <a:t>Applications</a:t>
            </a:r>
          </a:p>
        </p:txBody>
      </p:sp>
      <p:sp>
        <p:nvSpPr>
          <p:cNvPr id="24579" name="Rectangle 3">
            <a:extLst>
              <a:ext uri="{FF2B5EF4-FFF2-40B4-BE49-F238E27FC236}">
                <a16:creationId xmlns="" xmlns:a16="http://schemas.microsoft.com/office/drawing/2014/main" id="{C3F3049B-CA29-40B7-B02E-3540A0852EAD}"/>
              </a:ext>
            </a:extLst>
          </p:cNvPr>
          <p:cNvSpPr>
            <a:spLocks noGrp="1" noChangeArrowheads="1"/>
          </p:cNvSpPr>
          <p:nvPr>
            <p:ph idx="1"/>
          </p:nvPr>
        </p:nvSpPr>
        <p:spPr>
          <a:xfrm>
            <a:off x="2057400" y="1600200"/>
            <a:ext cx="8229600" cy="4876800"/>
          </a:xfrm>
        </p:spPr>
        <p:txBody>
          <a:bodyPr>
            <a:normAutofit fontScale="92500"/>
          </a:bodyPr>
          <a:lstStyle/>
          <a:p>
            <a:pPr eaLnBrk="1" hangingPunct="1">
              <a:lnSpc>
                <a:spcPct val="90000"/>
              </a:lnSpc>
            </a:pPr>
            <a:r>
              <a:rPr lang="en-US" altLang="en-US" sz="2100" b="1" dirty="0">
                <a:solidFill>
                  <a:srgbClr val="FF0000"/>
                </a:solidFill>
              </a:rPr>
              <a:t>Customer segmentation</a:t>
            </a:r>
          </a:p>
          <a:p>
            <a:pPr lvl="1" eaLnBrk="1" hangingPunct="1">
              <a:lnSpc>
                <a:spcPct val="90000"/>
              </a:lnSpc>
            </a:pPr>
            <a:r>
              <a:rPr lang="en-US" altLang="en-US" sz="2000" dirty="0"/>
              <a:t>All industries can take advantage of DM to discover discrete segments in their customer bases by considering additional variables beyond traditional analysis.</a:t>
            </a:r>
          </a:p>
          <a:p>
            <a:pPr eaLnBrk="1" hangingPunct="1">
              <a:lnSpc>
                <a:spcPct val="90000"/>
              </a:lnSpc>
            </a:pPr>
            <a:r>
              <a:rPr lang="en-US" altLang="en-US" sz="2100" b="1" dirty="0">
                <a:solidFill>
                  <a:srgbClr val="00B050"/>
                </a:solidFill>
              </a:rPr>
              <a:t>Manufacturing</a:t>
            </a:r>
          </a:p>
          <a:p>
            <a:pPr lvl="1" eaLnBrk="1" hangingPunct="1">
              <a:lnSpc>
                <a:spcPct val="90000"/>
              </a:lnSpc>
            </a:pPr>
            <a:r>
              <a:rPr lang="en-US" altLang="en-US" sz="2000" dirty="0"/>
              <a:t>Through choice boards, manufacturers are beginning to customize products for customers; therefore they must be able to predict which features should be bundled to meet customer demand.</a:t>
            </a:r>
          </a:p>
          <a:p>
            <a:pPr eaLnBrk="1" hangingPunct="1">
              <a:lnSpc>
                <a:spcPct val="90000"/>
              </a:lnSpc>
            </a:pPr>
            <a:r>
              <a:rPr lang="en-US" altLang="en-US" sz="2100" b="1" dirty="0">
                <a:solidFill>
                  <a:srgbClr val="C00000"/>
                </a:solidFill>
              </a:rPr>
              <a:t>Warranties</a:t>
            </a:r>
          </a:p>
          <a:p>
            <a:pPr lvl="1" eaLnBrk="1" hangingPunct="1">
              <a:lnSpc>
                <a:spcPct val="90000"/>
              </a:lnSpc>
            </a:pPr>
            <a:r>
              <a:rPr lang="en-US" altLang="en-US" sz="2000" dirty="0"/>
              <a:t>Manufacturers need to predict the number of customers who will submit warranty claims and the average cost of those claims.</a:t>
            </a:r>
          </a:p>
          <a:p>
            <a:pPr eaLnBrk="1" hangingPunct="1">
              <a:lnSpc>
                <a:spcPct val="90000"/>
              </a:lnSpc>
            </a:pPr>
            <a:r>
              <a:rPr lang="en-US" altLang="en-US" sz="2100" b="1" dirty="0">
                <a:solidFill>
                  <a:srgbClr val="00B0F0"/>
                </a:solidFill>
              </a:rPr>
              <a:t>Frequent flier incentives</a:t>
            </a:r>
          </a:p>
          <a:p>
            <a:pPr lvl="1" eaLnBrk="1" hangingPunct="1">
              <a:lnSpc>
                <a:spcPct val="90000"/>
              </a:lnSpc>
            </a:pPr>
            <a:r>
              <a:rPr lang="en-US" altLang="en-US" sz="2000" dirty="0"/>
              <a:t>Airlines can identify groups of customers that can be given incentives to fly more.</a:t>
            </a:r>
            <a:endParaRPr lang="en-US" altLang="en-US" sz="1800" dirty="0"/>
          </a:p>
        </p:txBody>
      </p:sp>
      <p:sp>
        <p:nvSpPr>
          <p:cNvPr id="79874" name="Slide Number Placeholder 5">
            <a:extLst>
              <a:ext uri="{FF2B5EF4-FFF2-40B4-BE49-F238E27FC236}">
                <a16:creationId xmlns="" xmlns:a16="http://schemas.microsoft.com/office/drawing/2014/main" id="{BABD0272-0A72-41E8-8852-B1838B3BC5F4}"/>
              </a:ext>
            </a:extLst>
          </p:cNvPr>
          <p:cNvSpPr>
            <a:spLocks noGrp="1"/>
          </p:cNvSpPr>
          <p:nvPr>
            <p:ph type="sldNum" sz="quarter" idx="12"/>
          </p:nvPr>
        </p:nvSpPr>
        <p:spPr>
          <a:xfrm>
            <a:off x="8077200" y="62484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2"/>
                </a:solidFill>
                <a:latin typeface="Times New Roman" panose="02020603050405020304" pitchFamily="18" charset="0"/>
              </a:defRPr>
            </a:lvl9pPr>
          </a:lstStyle>
          <a:p>
            <a:fld id="{300A96A0-7BA9-49BF-9C40-A5E5A8E9204F}" type="slidenum">
              <a:rPr lang="en-US" altLang="en-US" sz="1400">
                <a:solidFill>
                  <a:schemeClr val="tx1"/>
                </a:solidFill>
                <a:latin typeface="Arial" panose="020B0604020202020204" pitchFamily="34" charset="0"/>
              </a:rPr>
              <a:pPr/>
              <a:t>42</a:t>
            </a:fld>
            <a:endParaRPr lang="en-US" altLang="en-US" sz="1400">
              <a:solidFill>
                <a:schemeClr val="tx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checkerboard(across)">
                                      <p:cBhvr>
                                        <p:cTn id="7" dur="500"/>
                                        <p:tgtEl>
                                          <p:spTgt spid="24579">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4579">
                                            <p:txEl>
                                              <p:pRg st="1" end="1"/>
                                            </p:txEl>
                                          </p:spTgt>
                                        </p:tgtEl>
                                        <p:attrNameLst>
                                          <p:attrName>style.visibility</p:attrName>
                                        </p:attrNameLst>
                                      </p:cBhvr>
                                      <p:to>
                                        <p:strVal val="visible"/>
                                      </p:to>
                                    </p:set>
                                    <p:animEffect transition="in" filter="checkerboard(across)">
                                      <p:cBhvr>
                                        <p:cTn id="10" dur="500"/>
                                        <p:tgtEl>
                                          <p:spTgt spid="2457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4579">
                                            <p:txEl>
                                              <p:pRg st="2" end="2"/>
                                            </p:txEl>
                                          </p:spTgt>
                                        </p:tgtEl>
                                        <p:attrNameLst>
                                          <p:attrName>style.visibility</p:attrName>
                                        </p:attrNameLst>
                                      </p:cBhvr>
                                      <p:to>
                                        <p:strVal val="visible"/>
                                      </p:to>
                                    </p:set>
                                    <p:animEffect transition="in" filter="checkerboard(across)">
                                      <p:cBhvr>
                                        <p:cTn id="15" dur="500"/>
                                        <p:tgtEl>
                                          <p:spTgt spid="24579">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24579">
                                            <p:txEl>
                                              <p:pRg st="3" end="3"/>
                                            </p:txEl>
                                          </p:spTgt>
                                        </p:tgtEl>
                                        <p:attrNameLst>
                                          <p:attrName>style.visibility</p:attrName>
                                        </p:attrNameLst>
                                      </p:cBhvr>
                                      <p:to>
                                        <p:strVal val="visible"/>
                                      </p:to>
                                    </p:set>
                                    <p:animEffect transition="in" filter="checkerboard(across)">
                                      <p:cBhvr>
                                        <p:cTn id="18" dur="500"/>
                                        <p:tgtEl>
                                          <p:spTgt spid="2457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24579">
                                            <p:txEl>
                                              <p:pRg st="4" end="4"/>
                                            </p:txEl>
                                          </p:spTgt>
                                        </p:tgtEl>
                                        <p:attrNameLst>
                                          <p:attrName>style.visibility</p:attrName>
                                        </p:attrNameLst>
                                      </p:cBhvr>
                                      <p:to>
                                        <p:strVal val="visible"/>
                                      </p:to>
                                    </p:set>
                                    <p:animEffect transition="in" filter="checkerboard(across)">
                                      <p:cBhvr>
                                        <p:cTn id="23" dur="500"/>
                                        <p:tgtEl>
                                          <p:spTgt spid="24579">
                                            <p:txEl>
                                              <p:pRg st="4" end="4"/>
                                            </p:txEl>
                                          </p:spTgt>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24579">
                                            <p:txEl>
                                              <p:pRg st="5" end="5"/>
                                            </p:txEl>
                                          </p:spTgt>
                                        </p:tgtEl>
                                        <p:attrNameLst>
                                          <p:attrName>style.visibility</p:attrName>
                                        </p:attrNameLst>
                                      </p:cBhvr>
                                      <p:to>
                                        <p:strVal val="visible"/>
                                      </p:to>
                                    </p:set>
                                    <p:animEffect transition="in" filter="checkerboard(across)">
                                      <p:cBhvr>
                                        <p:cTn id="26" dur="500"/>
                                        <p:tgtEl>
                                          <p:spTgt spid="24579">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4579">
                                            <p:txEl>
                                              <p:pRg st="6" end="6"/>
                                            </p:txEl>
                                          </p:spTgt>
                                        </p:tgtEl>
                                        <p:attrNameLst>
                                          <p:attrName>style.visibility</p:attrName>
                                        </p:attrNameLst>
                                      </p:cBhvr>
                                      <p:to>
                                        <p:strVal val="visible"/>
                                      </p:to>
                                    </p:set>
                                    <p:animEffect transition="in" filter="checkerboard(across)">
                                      <p:cBhvr>
                                        <p:cTn id="31" dur="500"/>
                                        <p:tgtEl>
                                          <p:spTgt spid="24579">
                                            <p:txEl>
                                              <p:pRg st="6" end="6"/>
                                            </p:txEl>
                                          </p:spTgt>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24579">
                                            <p:txEl>
                                              <p:pRg st="7" end="7"/>
                                            </p:txEl>
                                          </p:spTgt>
                                        </p:tgtEl>
                                        <p:attrNameLst>
                                          <p:attrName>style.visibility</p:attrName>
                                        </p:attrNameLst>
                                      </p:cBhvr>
                                      <p:to>
                                        <p:strVal val="visible"/>
                                      </p:to>
                                    </p:set>
                                    <p:animEffect transition="in" filter="checkerboard(across)">
                                      <p:cBhvr>
                                        <p:cTn id="34" dur="500"/>
                                        <p:tgtEl>
                                          <p:spTgt spid="245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409" y="2419643"/>
            <a:ext cx="9692640" cy="1325562"/>
          </a:xfrm>
        </p:spPr>
        <p:txBody>
          <a:bodyPr>
            <a:normAutofit fontScale="90000"/>
          </a:bodyPr>
          <a:lstStyle/>
          <a:p>
            <a:pPr algn="ctr"/>
            <a:r>
              <a:rPr lang="en-US" b="1" dirty="0" smtClean="0"/>
              <a:t>Aba </a:t>
            </a:r>
            <a:r>
              <a:rPr lang="en-US" b="1" dirty="0" err="1" smtClean="0"/>
              <a:t>sutey</a:t>
            </a:r>
            <a:r>
              <a:rPr lang="en-US" b="1" dirty="0" smtClean="0"/>
              <a:t> </a:t>
            </a:r>
            <a:r>
              <a:rPr lang="en-US" b="1" dirty="0" err="1" smtClean="0"/>
              <a:t>hunxa</a:t>
            </a:r>
            <a:r>
              <a:rPr lang="en-US" b="1" dirty="0" smtClean="0"/>
              <a:t>,</a:t>
            </a:r>
            <a:br>
              <a:rPr lang="en-US" b="1" dirty="0" smtClean="0"/>
            </a:br>
            <a:r>
              <a:rPr lang="en-US" b="1" dirty="0" smtClean="0"/>
              <a:t> </a:t>
            </a:r>
            <a:br>
              <a:rPr lang="en-US" b="1" dirty="0" smtClean="0"/>
            </a:br>
            <a:r>
              <a:rPr lang="en-US" b="1" dirty="0" smtClean="0"/>
              <a:t>Slides </a:t>
            </a:r>
            <a:r>
              <a:rPr lang="en-US" b="1" dirty="0" err="1" smtClean="0"/>
              <a:t>Sakiyo</a:t>
            </a:r>
            <a:r>
              <a:rPr lang="en-US" b="1" dirty="0" smtClean="0"/>
              <a:t>!</a:t>
            </a:r>
            <a:endParaRPr lang="en-US" b="1" dirty="0"/>
          </a:p>
        </p:txBody>
      </p:sp>
      <p:sp>
        <p:nvSpPr>
          <p:cNvPr id="4" name="Slide Number Placeholder 3"/>
          <p:cNvSpPr>
            <a:spLocks noGrp="1"/>
          </p:cNvSpPr>
          <p:nvPr>
            <p:ph type="sldNum" sz="quarter" idx="12"/>
          </p:nvPr>
        </p:nvSpPr>
        <p:spPr/>
        <p:txBody>
          <a:bodyPr>
            <a:normAutofit lnSpcReduction="10000"/>
          </a:bodyPr>
          <a:lstStyle/>
          <a:p>
            <a:fld id="{B3A56E86-3D7C-4541-92E7-267EC584995E}" type="slidenum">
              <a:rPr lang="en-US" smtClean="0"/>
              <a:t>43</a:t>
            </a:fld>
            <a:endParaRPr lang="en-US"/>
          </a:p>
        </p:txBody>
      </p:sp>
    </p:spTree>
    <p:extLst>
      <p:ext uri="{BB962C8B-B14F-4D97-AF65-F5344CB8AC3E}">
        <p14:creationId xmlns:p14="http://schemas.microsoft.com/office/powerpoint/2010/main" val="2922719798"/>
      </p:ext>
    </p:extLst>
  </p:cSld>
  <p:clrMapOvr>
    <a:masterClrMapping/>
  </p:clrMapOvr>
  <p:timing>
    <p:tnLst>
      <p:par>
        <p:cTn id="1" dur="indefinite" restart="never" nodeType="tmRoot"/>
      </p:par>
    </p:tnLst>
  </p:timing>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1833</TotalTime>
  <Words>1463</Words>
  <Application>Microsoft Office PowerPoint</Application>
  <PresentationFormat>Widescreen</PresentationFormat>
  <Paragraphs>349</Paragraphs>
  <Slides>43</Slides>
  <Notes>2</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2</vt:i4>
      </vt:variant>
      <vt:variant>
        <vt:lpstr>Slide Titles</vt:lpstr>
      </vt:variant>
      <vt:variant>
        <vt:i4>43</vt:i4>
      </vt:variant>
    </vt:vector>
  </HeadingPairs>
  <TitlesOfParts>
    <vt:vector size="59" baseType="lpstr">
      <vt:lpstr>MS Mincho</vt:lpstr>
      <vt:lpstr>Arial</vt:lpstr>
      <vt:lpstr>Calibri</vt:lpstr>
      <vt:lpstr>Century Schoolbook</vt:lpstr>
      <vt:lpstr>Courier New</vt:lpstr>
      <vt:lpstr>Monotype Sorts</vt:lpstr>
      <vt:lpstr>新細明體</vt:lpstr>
      <vt:lpstr>Symbol</vt:lpstr>
      <vt:lpstr>Tahoma</vt:lpstr>
      <vt:lpstr>Times New Roman</vt:lpstr>
      <vt:lpstr>Verdana</vt:lpstr>
      <vt:lpstr>Wingdings</vt:lpstr>
      <vt:lpstr>Wingdings 2</vt:lpstr>
      <vt:lpstr>View</vt:lpstr>
      <vt:lpstr>Clip</vt:lpstr>
      <vt:lpstr>Artwork</vt:lpstr>
      <vt:lpstr>Lecture 8</vt:lpstr>
      <vt:lpstr>A producer wants to know….</vt:lpstr>
      <vt:lpstr>Data, Data everywhere yet ...</vt:lpstr>
      <vt:lpstr> What is a Data Warehouse?</vt:lpstr>
      <vt:lpstr> Data Warehouse</vt:lpstr>
      <vt:lpstr> Data Warehouse</vt:lpstr>
      <vt:lpstr>Data Warehouse Architecture</vt:lpstr>
      <vt:lpstr>PowerPoint Presentation</vt:lpstr>
      <vt:lpstr>OLTP vs OLAP</vt:lpstr>
      <vt:lpstr>PowerPoint Presentation</vt:lpstr>
      <vt:lpstr>Comparison of OLTP  and  Data Warehousing(OLAP)</vt:lpstr>
      <vt:lpstr>OLTP vs Data Warehouse</vt:lpstr>
      <vt:lpstr>To summarize ...</vt:lpstr>
      <vt:lpstr>OLAP Tools</vt:lpstr>
      <vt:lpstr>Data Cubes</vt:lpstr>
      <vt:lpstr>Data Cube Operations</vt:lpstr>
      <vt:lpstr>Data Mining Definition</vt:lpstr>
      <vt:lpstr>Query Examples</vt:lpstr>
      <vt:lpstr>Related Fields</vt:lpstr>
      <vt:lpstr>What is data mining?</vt:lpstr>
      <vt:lpstr>What is Data Mining?</vt:lpstr>
      <vt:lpstr>Data Mining</vt:lpstr>
      <vt:lpstr>PowerPoint Presentation</vt:lpstr>
      <vt:lpstr>Data Mining is Not …</vt:lpstr>
      <vt:lpstr>Major Application Areas for  Data Mining Solutions</vt:lpstr>
      <vt:lpstr>The Need for Data Mining</vt:lpstr>
      <vt:lpstr>Sutna pugyo? Aba uthne Attendance hudai xa!</vt:lpstr>
      <vt:lpstr>Data Mining Step in Detail</vt:lpstr>
      <vt:lpstr>Preprocessing and Mining</vt:lpstr>
      <vt:lpstr>Data Mining Techniques</vt:lpstr>
      <vt:lpstr>Data Mining Models and Tasks</vt:lpstr>
      <vt:lpstr>Basic Data Mining Tasks</vt:lpstr>
      <vt:lpstr>Basic Data Mining Tasks (cont’d)</vt:lpstr>
      <vt:lpstr>Ex:  Time Series Analysis</vt:lpstr>
      <vt:lpstr>Data Mining vs. KDD</vt:lpstr>
      <vt:lpstr>Data Mining Development</vt:lpstr>
      <vt:lpstr>KDD Issues</vt:lpstr>
      <vt:lpstr>KDD Issues (cont’d)</vt:lpstr>
      <vt:lpstr>Data Mining Applications: Retail</vt:lpstr>
      <vt:lpstr>Data Mining Applications: Banking</vt:lpstr>
      <vt:lpstr>Data Mining Applications: Telecommunication</vt:lpstr>
      <vt:lpstr>Data Mining Applications: Other Applications</vt:lpstr>
      <vt:lpstr>Aba sutey hunxa,   Slides Sakiyo!</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8</dc:title>
  <dc:creator>boharag</dc:creator>
  <cp:lastModifiedBy>Hemuni</cp:lastModifiedBy>
  <cp:revision>87</cp:revision>
  <dcterms:created xsi:type="dcterms:W3CDTF">2019-12-23T10:42:25Z</dcterms:created>
  <dcterms:modified xsi:type="dcterms:W3CDTF">2020-01-08T06:03:48Z</dcterms:modified>
</cp:coreProperties>
</file>