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4" r:id="rId4"/>
    <p:sldId id="444" r:id="rId5"/>
    <p:sldId id="445" r:id="rId6"/>
    <p:sldId id="441" r:id="rId7"/>
    <p:sldId id="413" r:id="rId8"/>
    <p:sldId id="443" r:id="rId9"/>
    <p:sldId id="395" r:id="rId10"/>
    <p:sldId id="259" r:id="rId11"/>
    <p:sldId id="447" r:id="rId12"/>
    <p:sldId id="260" r:id="rId13"/>
    <p:sldId id="261" r:id="rId14"/>
    <p:sldId id="262" r:id="rId15"/>
    <p:sldId id="263" r:id="rId16"/>
    <p:sldId id="448" r:id="rId17"/>
    <p:sldId id="449" r:id="rId18"/>
    <p:sldId id="302" r:id="rId19"/>
    <p:sldId id="265" r:id="rId20"/>
    <p:sldId id="450" r:id="rId21"/>
    <p:sldId id="269" r:id="rId22"/>
    <p:sldId id="270" r:id="rId23"/>
    <p:sldId id="271" r:id="rId24"/>
    <p:sldId id="272" r:id="rId25"/>
    <p:sldId id="273" r:id="rId26"/>
    <p:sldId id="44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25A787-5045-42CC-9CFF-D1BF8E5CFE6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734097-A23A-44E2-9E01-39ED089BEB78}">
      <dgm:prSet/>
      <dgm:spPr/>
      <dgm:t>
        <a:bodyPr/>
        <a:lstStyle/>
        <a:p>
          <a:pPr rtl="0"/>
          <a:r>
            <a:rPr lang="en-US" dirty="0"/>
            <a:t>Date and time functions</a:t>
          </a:r>
          <a:endParaRPr lang="en-CA" dirty="0"/>
        </a:p>
      </dgm:t>
    </dgm:pt>
    <dgm:pt modelId="{082C79AE-9C11-41EC-90BE-0686346B1EE6}" type="parTrans" cxnId="{2930EE33-2BB6-4D21-9602-E710BFA50AFD}">
      <dgm:prSet/>
      <dgm:spPr/>
      <dgm:t>
        <a:bodyPr/>
        <a:lstStyle/>
        <a:p>
          <a:endParaRPr lang="en-US"/>
        </a:p>
      </dgm:t>
    </dgm:pt>
    <dgm:pt modelId="{216C5302-8596-468F-9402-1A2E92376951}" type="sibTrans" cxnId="{2930EE33-2BB6-4D21-9602-E710BFA50AFD}">
      <dgm:prSet/>
      <dgm:spPr/>
      <dgm:t>
        <a:bodyPr/>
        <a:lstStyle/>
        <a:p>
          <a:endParaRPr lang="en-US"/>
        </a:p>
      </dgm:t>
    </dgm:pt>
    <dgm:pt modelId="{A8D2DFF9-D6A2-4DB2-AD23-5DDD2465F894}">
      <dgm:prSet/>
      <dgm:spPr/>
      <dgm:t>
        <a:bodyPr/>
        <a:lstStyle/>
        <a:p>
          <a:pPr rtl="0"/>
          <a:r>
            <a:rPr lang="en-US" dirty="0"/>
            <a:t>Numeric functions</a:t>
          </a:r>
          <a:endParaRPr lang="en-CA" dirty="0"/>
        </a:p>
      </dgm:t>
    </dgm:pt>
    <dgm:pt modelId="{4B5575BC-760B-45B3-81F9-351380120173}" type="parTrans" cxnId="{76D758E9-5B17-4CE5-9D45-980EF3D694B3}">
      <dgm:prSet/>
      <dgm:spPr/>
      <dgm:t>
        <a:bodyPr/>
        <a:lstStyle/>
        <a:p>
          <a:endParaRPr lang="en-US"/>
        </a:p>
      </dgm:t>
    </dgm:pt>
    <dgm:pt modelId="{7803B6A8-9B99-4FE9-84DA-0D2FDE2A9F84}" type="sibTrans" cxnId="{76D758E9-5B17-4CE5-9D45-980EF3D694B3}">
      <dgm:prSet/>
      <dgm:spPr/>
      <dgm:t>
        <a:bodyPr/>
        <a:lstStyle/>
        <a:p>
          <a:endParaRPr lang="en-US"/>
        </a:p>
      </dgm:t>
    </dgm:pt>
    <dgm:pt modelId="{887FB0FB-C89F-4E8F-846E-03D8DBBD57D5}">
      <dgm:prSet/>
      <dgm:spPr/>
      <dgm:t>
        <a:bodyPr/>
        <a:lstStyle/>
        <a:p>
          <a:pPr rtl="0"/>
          <a:r>
            <a:rPr lang="en-US" dirty="0"/>
            <a:t>String functions</a:t>
          </a:r>
          <a:endParaRPr lang="en-CA" dirty="0"/>
        </a:p>
      </dgm:t>
    </dgm:pt>
    <dgm:pt modelId="{1012A526-CE65-4334-B29E-F939E85C2ED2}" type="parTrans" cxnId="{C2A83CEF-3C63-43FE-ADDD-8F5629C9B545}">
      <dgm:prSet/>
      <dgm:spPr/>
      <dgm:t>
        <a:bodyPr/>
        <a:lstStyle/>
        <a:p>
          <a:endParaRPr lang="en-US"/>
        </a:p>
      </dgm:t>
    </dgm:pt>
    <dgm:pt modelId="{FB1FCFF4-248D-4C96-AD05-CD5ACACAD63D}" type="sibTrans" cxnId="{C2A83CEF-3C63-43FE-ADDD-8F5629C9B545}">
      <dgm:prSet/>
      <dgm:spPr/>
      <dgm:t>
        <a:bodyPr/>
        <a:lstStyle/>
        <a:p>
          <a:endParaRPr lang="en-US"/>
        </a:p>
      </dgm:t>
    </dgm:pt>
    <dgm:pt modelId="{097E1FC6-C3D4-4250-BB8A-C42FCBE846DF}">
      <dgm:prSet/>
      <dgm:spPr/>
      <dgm:t>
        <a:bodyPr/>
        <a:lstStyle/>
        <a:p>
          <a:pPr rtl="0"/>
          <a:r>
            <a:rPr lang="en-US" dirty="0"/>
            <a:t>Conversion functions</a:t>
          </a:r>
          <a:endParaRPr lang="en-CA" dirty="0"/>
        </a:p>
      </dgm:t>
    </dgm:pt>
    <dgm:pt modelId="{7E26B58C-8ADB-41EB-B703-935CBAC73029}" type="parTrans" cxnId="{0B8499A2-D1B7-4311-A9FC-C629B2DD69E2}">
      <dgm:prSet/>
      <dgm:spPr/>
      <dgm:t>
        <a:bodyPr/>
        <a:lstStyle/>
        <a:p>
          <a:endParaRPr lang="en-US"/>
        </a:p>
      </dgm:t>
    </dgm:pt>
    <dgm:pt modelId="{2D54ABFA-F7F6-4036-BD08-27FF532D7C37}" type="sibTrans" cxnId="{0B8499A2-D1B7-4311-A9FC-C629B2DD69E2}">
      <dgm:prSet/>
      <dgm:spPr/>
      <dgm:t>
        <a:bodyPr/>
        <a:lstStyle/>
        <a:p>
          <a:endParaRPr lang="en-US"/>
        </a:p>
      </dgm:t>
    </dgm:pt>
    <dgm:pt modelId="{FB16F01F-162C-46D9-A833-3B49DBB71875}" type="pres">
      <dgm:prSet presAssocID="{2025A787-5045-42CC-9CFF-D1BF8E5CFE6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3B740F9-75D2-4F91-9455-E59F0DE8C863}" type="pres">
      <dgm:prSet presAssocID="{4A734097-A23A-44E2-9E01-39ED089BEB78}" presName="parentLin" presStyleCnt="0"/>
      <dgm:spPr/>
    </dgm:pt>
    <dgm:pt modelId="{9485ECEA-DC21-4663-BEC3-0EE5D83D29C8}" type="pres">
      <dgm:prSet presAssocID="{4A734097-A23A-44E2-9E01-39ED089BEB78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CCEFE3B9-367E-4CF3-9D55-9D0575E0DB2C}" type="pres">
      <dgm:prSet presAssocID="{4A734097-A23A-44E2-9E01-39ED089BEB7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E8D73B-8415-412D-92EB-75375AFFA289}" type="pres">
      <dgm:prSet presAssocID="{4A734097-A23A-44E2-9E01-39ED089BEB78}" presName="negativeSpace" presStyleCnt="0"/>
      <dgm:spPr/>
    </dgm:pt>
    <dgm:pt modelId="{5A6BC79C-BDD1-4723-A0F7-7A3DE2A3E4C5}" type="pres">
      <dgm:prSet presAssocID="{4A734097-A23A-44E2-9E01-39ED089BEB78}" presName="childText" presStyleLbl="conFgAcc1" presStyleIdx="0" presStyleCnt="4">
        <dgm:presLayoutVars>
          <dgm:bulletEnabled val="1"/>
        </dgm:presLayoutVars>
      </dgm:prSet>
      <dgm:spPr/>
    </dgm:pt>
    <dgm:pt modelId="{C0275240-9FE2-4538-BD7B-8955BBE94DC6}" type="pres">
      <dgm:prSet presAssocID="{216C5302-8596-468F-9402-1A2E92376951}" presName="spaceBetweenRectangles" presStyleCnt="0"/>
      <dgm:spPr/>
    </dgm:pt>
    <dgm:pt modelId="{862FF8EF-684A-4928-B473-1DDB0EE4C75C}" type="pres">
      <dgm:prSet presAssocID="{A8D2DFF9-D6A2-4DB2-AD23-5DDD2465F894}" presName="parentLin" presStyleCnt="0"/>
      <dgm:spPr/>
    </dgm:pt>
    <dgm:pt modelId="{75A4127E-98D9-4A86-8208-EF87C4731464}" type="pres">
      <dgm:prSet presAssocID="{A8D2DFF9-D6A2-4DB2-AD23-5DDD2465F894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AC2AE475-25E2-4625-876D-102479171EA8}" type="pres">
      <dgm:prSet presAssocID="{A8D2DFF9-D6A2-4DB2-AD23-5DDD2465F89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606CF7-A885-49C2-9C8D-578282916E35}" type="pres">
      <dgm:prSet presAssocID="{A8D2DFF9-D6A2-4DB2-AD23-5DDD2465F894}" presName="negativeSpace" presStyleCnt="0"/>
      <dgm:spPr/>
    </dgm:pt>
    <dgm:pt modelId="{A2385641-DAA8-4CEF-AA98-FF9B0C844DDA}" type="pres">
      <dgm:prSet presAssocID="{A8D2DFF9-D6A2-4DB2-AD23-5DDD2465F894}" presName="childText" presStyleLbl="conFgAcc1" presStyleIdx="1" presStyleCnt="4">
        <dgm:presLayoutVars>
          <dgm:bulletEnabled val="1"/>
        </dgm:presLayoutVars>
      </dgm:prSet>
      <dgm:spPr/>
    </dgm:pt>
    <dgm:pt modelId="{8C5AC906-4AB0-4755-BA05-A395EE04E30C}" type="pres">
      <dgm:prSet presAssocID="{7803B6A8-9B99-4FE9-84DA-0D2FDE2A9F84}" presName="spaceBetweenRectangles" presStyleCnt="0"/>
      <dgm:spPr/>
    </dgm:pt>
    <dgm:pt modelId="{D31E085A-80A9-4730-A429-85BE3929F957}" type="pres">
      <dgm:prSet presAssocID="{887FB0FB-C89F-4E8F-846E-03D8DBBD57D5}" presName="parentLin" presStyleCnt="0"/>
      <dgm:spPr/>
    </dgm:pt>
    <dgm:pt modelId="{4F7DAC1F-7822-418B-8FC7-606E21E1342D}" type="pres">
      <dgm:prSet presAssocID="{887FB0FB-C89F-4E8F-846E-03D8DBBD57D5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DAB34EDA-5CA9-4A98-A005-55A849DB6AC2}" type="pres">
      <dgm:prSet presAssocID="{887FB0FB-C89F-4E8F-846E-03D8DBBD57D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A51BEE-4883-4427-B269-1F4E6C329099}" type="pres">
      <dgm:prSet presAssocID="{887FB0FB-C89F-4E8F-846E-03D8DBBD57D5}" presName="negativeSpace" presStyleCnt="0"/>
      <dgm:spPr/>
    </dgm:pt>
    <dgm:pt modelId="{BDB8808B-A293-4476-B3FF-5B11FA465DDC}" type="pres">
      <dgm:prSet presAssocID="{887FB0FB-C89F-4E8F-846E-03D8DBBD57D5}" presName="childText" presStyleLbl="conFgAcc1" presStyleIdx="2" presStyleCnt="4">
        <dgm:presLayoutVars>
          <dgm:bulletEnabled val="1"/>
        </dgm:presLayoutVars>
      </dgm:prSet>
      <dgm:spPr/>
    </dgm:pt>
    <dgm:pt modelId="{77E2DE28-957C-4745-B0A0-07191B41119E}" type="pres">
      <dgm:prSet presAssocID="{FB1FCFF4-248D-4C96-AD05-CD5ACACAD63D}" presName="spaceBetweenRectangles" presStyleCnt="0"/>
      <dgm:spPr/>
    </dgm:pt>
    <dgm:pt modelId="{1E147B2B-47CE-45D3-9D88-FAF76CBB95B5}" type="pres">
      <dgm:prSet presAssocID="{097E1FC6-C3D4-4250-BB8A-C42FCBE846DF}" presName="parentLin" presStyleCnt="0"/>
      <dgm:spPr/>
    </dgm:pt>
    <dgm:pt modelId="{A809F965-03AE-44DB-A65D-1C0053E5C11E}" type="pres">
      <dgm:prSet presAssocID="{097E1FC6-C3D4-4250-BB8A-C42FCBE846DF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55BA2535-1AEA-4AA6-96B4-B47E299440DC}" type="pres">
      <dgm:prSet presAssocID="{097E1FC6-C3D4-4250-BB8A-C42FCBE846D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EAD489-C115-4552-B8E1-0BC0E17C3401}" type="pres">
      <dgm:prSet presAssocID="{097E1FC6-C3D4-4250-BB8A-C42FCBE846DF}" presName="negativeSpace" presStyleCnt="0"/>
      <dgm:spPr/>
    </dgm:pt>
    <dgm:pt modelId="{A0854975-6102-4F4F-9639-16A7ECCDA571}" type="pres">
      <dgm:prSet presAssocID="{097E1FC6-C3D4-4250-BB8A-C42FCBE846D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C2BB10A-DFA1-4075-8A89-C869F119A347}" type="presOf" srcId="{2025A787-5045-42CC-9CFF-D1BF8E5CFE6B}" destId="{FB16F01F-162C-46D9-A833-3B49DBB71875}" srcOrd="0" destOrd="0" presId="urn:microsoft.com/office/officeart/2005/8/layout/list1"/>
    <dgm:cxn modelId="{F612FB7E-7914-497A-968E-7C5FDDA1A2EC}" type="presOf" srcId="{887FB0FB-C89F-4E8F-846E-03D8DBBD57D5}" destId="{4F7DAC1F-7822-418B-8FC7-606E21E1342D}" srcOrd="0" destOrd="0" presId="urn:microsoft.com/office/officeart/2005/8/layout/list1"/>
    <dgm:cxn modelId="{C34F1D95-7EED-4FD1-B04B-28EBD3EC3281}" type="presOf" srcId="{887FB0FB-C89F-4E8F-846E-03D8DBBD57D5}" destId="{DAB34EDA-5CA9-4A98-A005-55A849DB6AC2}" srcOrd="1" destOrd="0" presId="urn:microsoft.com/office/officeart/2005/8/layout/list1"/>
    <dgm:cxn modelId="{7B70161E-0E70-43BB-8F3D-B5181D582C7A}" type="presOf" srcId="{097E1FC6-C3D4-4250-BB8A-C42FCBE846DF}" destId="{A809F965-03AE-44DB-A65D-1C0053E5C11E}" srcOrd="0" destOrd="0" presId="urn:microsoft.com/office/officeart/2005/8/layout/list1"/>
    <dgm:cxn modelId="{C2A83CEF-3C63-43FE-ADDD-8F5629C9B545}" srcId="{2025A787-5045-42CC-9CFF-D1BF8E5CFE6B}" destId="{887FB0FB-C89F-4E8F-846E-03D8DBBD57D5}" srcOrd="2" destOrd="0" parTransId="{1012A526-CE65-4334-B29E-F939E85C2ED2}" sibTransId="{FB1FCFF4-248D-4C96-AD05-CD5ACACAD63D}"/>
    <dgm:cxn modelId="{EBE00614-7D5B-406D-83E3-1E107E7AF014}" type="presOf" srcId="{A8D2DFF9-D6A2-4DB2-AD23-5DDD2465F894}" destId="{75A4127E-98D9-4A86-8208-EF87C4731464}" srcOrd="0" destOrd="0" presId="urn:microsoft.com/office/officeart/2005/8/layout/list1"/>
    <dgm:cxn modelId="{76D758E9-5B17-4CE5-9D45-980EF3D694B3}" srcId="{2025A787-5045-42CC-9CFF-D1BF8E5CFE6B}" destId="{A8D2DFF9-D6A2-4DB2-AD23-5DDD2465F894}" srcOrd="1" destOrd="0" parTransId="{4B5575BC-760B-45B3-81F9-351380120173}" sibTransId="{7803B6A8-9B99-4FE9-84DA-0D2FDE2A9F84}"/>
    <dgm:cxn modelId="{B3E70E2A-2658-4AA3-9A8C-C2C3172321F1}" type="presOf" srcId="{097E1FC6-C3D4-4250-BB8A-C42FCBE846DF}" destId="{55BA2535-1AEA-4AA6-96B4-B47E299440DC}" srcOrd="1" destOrd="0" presId="urn:microsoft.com/office/officeart/2005/8/layout/list1"/>
    <dgm:cxn modelId="{BA7AEB25-B307-4DC2-B8AE-A660E98CDFFD}" type="presOf" srcId="{4A734097-A23A-44E2-9E01-39ED089BEB78}" destId="{CCEFE3B9-367E-4CF3-9D55-9D0575E0DB2C}" srcOrd="1" destOrd="0" presId="urn:microsoft.com/office/officeart/2005/8/layout/list1"/>
    <dgm:cxn modelId="{B0B87D5D-8E8B-4A76-A88E-EECDD34EAAD4}" type="presOf" srcId="{A8D2DFF9-D6A2-4DB2-AD23-5DDD2465F894}" destId="{AC2AE475-25E2-4625-876D-102479171EA8}" srcOrd="1" destOrd="0" presId="urn:microsoft.com/office/officeart/2005/8/layout/list1"/>
    <dgm:cxn modelId="{A8671CCF-9ACA-465E-8493-D3B204B982BE}" type="presOf" srcId="{4A734097-A23A-44E2-9E01-39ED089BEB78}" destId="{9485ECEA-DC21-4663-BEC3-0EE5D83D29C8}" srcOrd="0" destOrd="0" presId="urn:microsoft.com/office/officeart/2005/8/layout/list1"/>
    <dgm:cxn modelId="{0B8499A2-D1B7-4311-A9FC-C629B2DD69E2}" srcId="{2025A787-5045-42CC-9CFF-D1BF8E5CFE6B}" destId="{097E1FC6-C3D4-4250-BB8A-C42FCBE846DF}" srcOrd="3" destOrd="0" parTransId="{7E26B58C-8ADB-41EB-B703-935CBAC73029}" sibTransId="{2D54ABFA-F7F6-4036-BD08-27FF532D7C37}"/>
    <dgm:cxn modelId="{2930EE33-2BB6-4D21-9602-E710BFA50AFD}" srcId="{2025A787-5045-42CC-9CFF-D1BF8E5CFE6B}" destId="{4A734097-A23A-44E2-9E01-39ED089BEB78}" srcOrd="0" destOrd="0" parTransId="{082C79AE-9C11-41EC-90BE-0686346B1EE6}" sibTransId="{216C5302-8596-468F-9402-1A2E92376951}"/>
    <dgm:cxn modelId="{DC12C31E-B4F1-4509-B851-7A434E693820}" type="presParOf" srcId="{FB16F01F-162C-46D9-A833-3B49DBB71875}" destId="{53B740F9-75D2-4F91-9455-E59F0DE8C863}" srcOrd="0" destOrd="0" presId="urn:microsoft.com/office/officeart/2005/8/layout/list1"/>
    <dgm:cxn modelId="{5AF3D8AC-0F4B-4058-9449-6C2922AEF643}" type="presParOf" srcId="{53B740F9-75D2-4F91-9455-E59F0DE8C863}" destId="{9485ECEA-DC21-4663-BEC3-0EE5D83D29C8}" srcOrd="0" destOrd="0" presId="urn:microsoft.com/office/officeart/2005/8/layout/list1"/>
    <dgm:cxn modelId="{06117E46-2BEB-4B57-A146-26E4B285A459}" type="presParOf" srcId="{53B740F9-75D2-4F91-9455-E59F0DE8C863}" destId="{CCEFE3B9-367E-4CF3-9D55-9D0575E0DB2C}" srcOrd="1" destOrd="0" presId="urn:microsoft.com/office/officeart/2005/8/layout/list1"/>
    <dgm:cxn modelId="{669F0E1A-3916-48E9-A3EE-FB5104F613F1}" type="presParOf" srcId="{FB16F01F-162C-46D9-A833-3B49DBB71875}" destId="{2AE8D73B-8415-412D-92EB-75375AFFA289}" srcOrd="1" destOrd="0" presId="urn:microsoft.com/office/officeart/2005/8/layout/list1"/>
    <dgm:cxn modelId="{17AF9397-AD28-49FC-8A45-F3DA07975133}" type="presParOf" srcId="{FB16F01F-162C-46D9-A833-3B49DBB71875}" destId="{5A6BC79C-BDD1-4723-A0F7-7A3DE2A3E4C5}" srcOrd="2" destOrd="0" presId="urn:microsoft.com/office/officeart/2005/8/layout/list1"/>
    <dgm:cxn modelId="{D2252974-A517-4504-8460-C3270A0CA71F}" type="presParOf" srcId="{FB16F01F-162C-46D9-A833-3B49DBB71875}" destId="{C0275240-9FE2-4538-BD7B-8955BBE94DC6}" srcOrd="3" destOrd="0" presId="urn:microsoft.com/office/officeart/2005/8/layout/list1"/>
    <dgm:cxn modelId="{5CC2F5F2-6E18-4654-9033-4DE3CC8B50F8}" type="presParOf" srcId="{FB16F01F-162C-46D9-A833-3B49DBB71875}" destId="{862FF8EF-684A-4928-B473-1DDB0EE4C75C}" srcOrd="4" destOrd="0" presId="urn:microsoft.com/office/officeart/2005/8/layout/list1"/>
    <dgm:cxn modelId="{2A276E04-D2E2-47DD-A4CC-23A8EF4729EC}" type="presParOf" srcId="{862FF8EF-684A-4928-B473-1DDB0EE4C75C}" destId="{75A4127E-98D9-4A86-8208-EF87C4731464}" srcOrd="0" destOrd="0" presId="urn:microsoft.com/office/officeart/2005/8/layout/list1"/>
    <dgm:cxn modelId="{6D58683E-2C3C-4F96-9E37-0A27C605D955}" type="presParOf" srcId="{862FF8EF-684A-4928-B473-1DDB0EE4C75C}" destId="{AC2AE475-25E2-4625-876D-102479171EA8}" srcOrd="1" destOrd="0" presId="urn:microsoft.com/office/officeart/2005/8/layout/list1"/>
    <dgm:cxn modelId="{D569F037-D8EF-4FC0-9999-CC2CA6E81665}" type="presParOf" srcId="{FB16F01F-162C-46D9-A833-3B49DBB71875}" destId="{E0606CF7-A885-49C2-9C8D-578282916E35}" srcOrd="5" destOrd="0" presId="urn:microsoft.com/office/officeart/2005/8/layout/list1"/>
    <dgm:cxn modelId="{D6A574BD-9DFE-4BF1-AB31-DEB3F59024E6}" type="presParOf" srcId="{FB16F01F-162C-46D9-A833-3B49DBB71875}" destId="{A2385641-DAA8-4CEF-AA98-FF9B0C844DDA}" srcOrd="6" destOrd="0" presId="urn:microsoft.com/office/officeart/2005/8/layout/list1"/>
    <dgm:cxn modelId="{04A01B02-84D7-47F2-9E72-0D212E4746AA}" type="presParOf" srcId="{FB16F01F-162C-46D9-A833-3B49DBB71875}" destId="{8C5AC906-4AB0-4755-BA05-A395EE04E30C}" srcOrd="7" destOrd="0" presId="urn:microsoft.com/office/officeart/2005/8/layout/list1"/>
    <dgm:cxn modelId="{52F3489A-33D4-472E-8E7B-D6B396D9250E}" type="presParOf" srcId="{FB16F01F-162C-46D9-A833-3B49DBB71875}" destId="{D31E085A-80A9-4730-A429-85BE3929F957}" srcOrd="8" destOrd="0" presId="urn:microsoft.com/office/officeart/2005/8/layout/list1"/>
    <dgm:cxn modelId="{AF4FE362-9C6F-4469-A963-400C283F8FF6}" type="presParOf" srcId="{D31E085A-80A9-4730-A429-85BE3929F957}" destId="{4F7DAC1F-7822-418B-8FC7-606E21E1342D}" srcOrd="0" destOrd="0" presId="urn:microsoft.com/office/officeart/2005/8/layout/list1"/>
    <dgm:cxn modelId="{1DB11EFD-9F0F-4A83-B7A1-9272F1F630FA}" type="presParOf" srcId="{D31E085A-80A9-4730-A429-85BE3929F957}" destId="{DAB34EDA-5CA9-4A98-A005-55A849DB6AC2}" srcOrd="1" destOrd="0" presId="urn:microsoft.com/office/officeart/2005/8/layout/list1"/>
    <dgm:cxn modelId="{BD655951-07AF-4228-A844-1EA85341A54C}" type="presParOf" srcId="{FB16F01F-162C-46D9-A833-3B49DBB71875}" destId="{DBA51BEE-4883-4427-B269-1F4E6C329099}" srcOrd="9" destOrd="0" presId="urn:microsoft.com/office/officeart/2005/8/layout/list1"/>
    <dgm:cxn modelId="{E30087E6-C238-4B59-B6D7-6A511E5369C5}" type="presParOf" srcId="{FB16F01F-162C-46D9-A833-3B49DBB71875}" destId="{BDB8808B-A293-4476-B3FF-5B11FA465DDC}" srcOrd="10" destOrd="0" presId="urn:microsoft.com/office/officeart/2005/8/layout/list1"/>
    <dgm:cxn modelId="{600B03FB-90A3-4BBF-BE76-91ECDF3FF16F}" type="presParOf" srcId="{FB16F01F-162C-46D9-A833-3B49DBB71875}" destId="{77E2DE28-957C-4745-B0A0-07191B41119E}" srcOrd="11" destOrd="0" presId="urn:microsoft.com/office/officeart/2005/8/layout/list1"/>
    <dgm:cxn modelId="{A967AEAF-683A-463B-A591-1F0D511698BA}" type="presParOf" srcId="{FB16F01F-162C-46D9-A833-3B49DBB71875}" destId="{1E147B2B-47CE-45D3-9D88-FAF76CBB95B5}" srcOrd="12" destOrd="0" presId="urn:microsoft.com/office/officeart/2005/8/layout/list1"/>
    <dgm:cxn modelId="{E2CFDAA8-8190-4566-81F0-DD01B05EB760}" type="presParOf" srcId="{1E147B2B-47CE-45D3-9D88-FAF76CBB95B5}" destId="{A809F965-03AE-44DB-A65D-1C0053E5C11E}" srcOrd="0" destOrd="0" presId="urn:microsoft.com/office/officeart/2005/8/layout/list1"/>
    <dgm:cxn modelId="{51AB80D8-A11D-4460-836F-01B10E09A539}" type="presParOf" srcId="{1E147B2B-47CE-45D3-9D88-FAF76CBB95B5}" destId="{55BA2535-1AEA-4AA6-96B4-B47E299440DC}" srcOrd="1" destOrd="0" presId="urn:microsoft.com/office/officeart/2005/8/layout/list1"/>
    <dgm:cxn modelId="{584BAEC3-4561-484E-95A3-9016B696F058}" type="presParOf" srcId="{FB16F01F-162C-46D9-A833-3B49DBB71875}" destId="{78EAD489-C115-4552-B8E1-0BC0E17C3401}" srcOrd="13" destOrd="0" presId="urn:microsoft.com/office/officeart/2005/8/layout/list1"/>
    <dgm:cxn modelId="{23930906-5CF8-44D0-AA50-4E0C723E003F}" type="presParOf" srcId="{FB16F01F-162C-46D9-A833-3B49DBB71875}" destId="{A0854975-6102-4F4F-9639-16A7ECCDA57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BC79C-BDD1-4723-A0F7-7A3DE2A3E4C5}">
      <dsp:nvSpPr>
        <dsp:cNvPr id="0" name=""/>
        <dsp:cNvSpPr/>
      </dsp:nvSpPr>
      <dsp:spPr>
        <a:xfrm>
          <a:off x="0" y="454500"/>
          <a:ext cx="80772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EFE3B9-367E-4CF3-9D55-9D0575E0DB2C}">
      <dsp:nvSpPr>
        <dsp:cNvPr id="0" name=""/>
        <dsp:cNvSpPr/>
      </dsp:nvSpPr>
      <dsp:spPr>
        <a:xfrm>
          <a:off x="403860" y="85500"/>
          <a:ext cx="565404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Date and time functions</a:t>
          </a:r>
          <a:endParaRPr lang="en-CA" sz="2500" kern="1200" dirty="0"/>
        </a:p>
      </dsp:txBody>
      <dsp:txXfrm>
        <a:off x="439886" y="121526"/>
        <a:ext cx="5581988" cy="665948"/>
      </dsp:txXfrm>
    </dsp:sp>
    <dsp:sp modelId="{A2385641-DAA8-4CEF-AA98-FF9B0C844DDA}">
      <dsp:nvSpPr>
        <dsp:cNvPr id="0" name=""/>
        <dsp:cNvSpPr/>
      </dsp:nvSpPr>
      <dsp:spPr>
        <a:xfrm>
          <a:off x="0" y="1588500"/>
          <a:ext cx="80772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AE475-25E2-4625-876D-102479171EA8}">
      <dsp:nvSpPr>
        <dsp:cNvPr id="0" name=""/>
        <dsp:cNvSpPr/>
      </dsp:nvSpPr>
      <dsp:spPr>
        <a:xfrm>
          <a:off x="403860" y="1219500"/>
          <a:ext cx="565404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Numeric functions</a:t>
          </a:r>
          <a:endParaRPr lang="en-CA" sz="2500" kern="1200" dirty="0"/>
        </a:p>
      </dsp:txBody>
      <dsp:txXfrm>
        <a:off x="439886" y="1255526"/>
        <a:ext cx="5581988" cy="665948"/>
      </dsp:txXfrm>
    </dsp:sp>
    <dsp:sp modelId="{BDB8808B-A293-4476-B3FF-5B11FA465DDC}">
      <dsp:nvSpPr>
        <dsp:cNvPr id="0" name=""/>
        <dsp:cNvSpPr/>
      </dsp:nvSpPr>
      <dsp:spPr>
        <a:xfrm>
          <a:off x="0" y="2722500"/>
          <a:ext cx="80772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B34EDA-5CA9-4A98-A005-55A849DB6AC2}">
      <dsp:nvSpPr>
        <dsp:cNvPr id="0" name=""/>
        <dsp:cNvSpPr/>
      </dsp:nvSpPr>
      <dsp:spPr>
        <a:xfrm>
          <a:off x="403860" y="2353500"/>
          <a:ext cx="565404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String functions</a:t>
          </a:r>
          <a:endParaRPr lang="en-CA" sz="2500" kern="1200" dirty="0"/>
        </a:p>
      </dsp:txBody>
      <dsp:txXfrm>
        <a:off x="439886" y="2389526"/>
        <a:ext cx="5581988" cy="665948"/>
      </dsp:txXfrm>
    </dsp:sp>
    <dsp:sp modelId="{A0854975-6102-4F4F-9639-16A7ECCDA571}">
      <dsp:nvSpPr>
        <dsp:cNvPr id="0" name=""/>
        <dsp:cNvSpPr/>
      </dsp:nvSpPr>
      <dsp:spPr>
        <a:xfrm>
          <a:off x="0" y="3856500"/>
          <a:ext cx="80772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A2535-1AEA-4AA6-96B4-B47E299440DC}">
      <dsp:nvSpPr>
        <dsp:cNvPr id="0" name=""/>
        <dsp:cNvSpPr/>
      </dsp:nvSpPr>
      <dsp:spPr>
        <a:xfrm>
          <a:off x="403860" y="3487500"/>
          <a:ext cx="565404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Conversion functions</a:t>
          </a:r>
          <a:endParaRPr lang="en-CA" sz="2500" kern="1200" dirty="0"/>
        </a:p>
      </dsp:txBody>
      <dsp:txXfrm>
        <a:off x="439886" y="3523526"/>
        <a:ext cx="5581988" cy="665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xmlns="" id="{B9E98229-6AC2-4927-9873-C408193C07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9F6F277-0C74-400E-A1FB-75CA397A643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3823369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xmlns="" id="{6BCEB730-68F0-47EF-9027-7A10ED72E1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xmlns="" id="{D7E333AA-2CF9-42E7-A68A-170539F4B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xmlns="" id="{0D2D4AE5-DBD2-453B-92C8-D63D0E7F5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356EB5-9010-43F8-AECD-4CFC3F03D130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354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xmlns="" id="{E1E2F5C2-0984-4C07-9D28-770963C811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xmlns="" id="{A9653961-260D-412F-BCA4-D8FF11884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xmlns="" id="{850DA15C-E6D1-490E-BA18-E10E7E1BD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FA1807-50B9-4CD8-8995-5363CF519AC0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3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4A9B3-F217-4A55-ACA5-9748B396CB0B}" type="datetimeFigureOut">
              <a:rPr lang="en-US" smtClean="0"/>
              <a:t>12/30/2019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Database Design and Implementation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7</a:t>
            </a:r>
            <a:endParaRPr lang="en-US" dirty="0"/>
          </a:p>
          <a:p>
            <a:r>
              <a:rPr lang="en-US" dirty="0"/>
              <a:t>Advanced SQL</a:t>
            </a:r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E0AA5FFF-3C95-4CF8-817A-A5B1F87E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xmlns="" id="{82925BFD-A616-40E3-A831-222388AA9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 this Lecture, the student will learn:</a:t>
            </a:r>
          </a:p>
          <a:p>
            <a:pPr lvl="1" eaLnBrk="1" hangingPunct="1"/>
            <a:r>
              <a:rPr lang="en-US" altLang="en-US" dirty="0"/>
              <a:t>How to use the advanced SQL JOIN operator syntax</a:t>
            </a:r>
          </a:p>
          <a:p>
            <a:pPr lvl="1" eaLnBrk="1" hangingPunct="1"/>
            <a:r>
              <a:rPr lang="en-US" altLang="en-US" dirty="0"/>
              <a:t>About the different types of subqueries and correlated queries</a:t>
            </a:r>
          </a:p>
          <a:p>
            <a:pPr lvl="1" eaLnBrk="1" hangingPunct="1"/>
            <a:r>
              <a:rPr lang="en-US" altLang="en-US" dirty="0"/>
              <a:t>How to use SQL functions to manipulate dates, strings, and other data</a:t>
            </a:r>
          </a:p>
          <a:p>
            <a:pPr lvl="1" eaLnBrk="1" hangingPunct="1"/>
            <a:r>
              <a:rPr lang="en-US" altLang="en-US" dirty="0"/>
              <a:t>About the relational set operators UNION, UNION ALL, INTERSECT, and MINUS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5F36854-AAF8-4600-BE04-5DCC56DB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90BF47-6FF8-41D2-8ABF-DDF8603C7BFC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topic will cover:</a:t>
            </a:r>
          </a:p>
          <a:p>
            <a:pPr lvl="1"/>
            <a:r>
              <a:rPr lang="en-GB" altLang="en-US" dirty="0"/>
              <a:t>Introduction to the module</a:t>
            </a:r>
          </a:p>
          <a:p>
            <a:pPr lvl="1"/>
            <a:r>
              <a:rPr lang="en-GB" altLang="en-US" dirty="0"/>
              <a:t>Review of key material from level 4 Database Concepts module</a:t>
            </a:r>
          </a:p>
          <a:p>
            <a:pPr lvl="1"/>
            <a:r>
              <a:rPr lang="en-US" altLang="en-US" dirty="0"/>
              <a:t>Systems Development Life Cycle(SDLC)</a:t>
            </a:r>
            <a:endParaRPr lang="en-GB" altLang="en-US" dirty="0"/>
          </a:p>
          <a:p>
            <a:pPr lvl="1"/>
            <a:r>
              <a:rPr lang="en-US" altLang="en-US" dirty="0"/>
              <a:t>Database Life Cycle (DBLC)</a:t>
            </a:r>
          </a:p>
          <a:p>
            <a:pPr lvl="1"/>
            <a:r>
              <a:rPr lang="en-GB" altLang="en-US" dirty="0"/>
              <a:t>Database Design</a:t>
            </a:r>
          </a:p>
          <a:p>
            <a:pPr lvl="1"/>
            <a:r>
              <a:rPr lang="en-US" dirty="0"/>
              <a:t>The main phases of database design: conceptual, logical, and physical design</a:t>
            </a:r>
          </a:p>
          <a:p>
            <a:pPr lvl="1"/>
            <a:r>
              <a:rPr lang="en-US" altLang="en-US" dirty="0"/>
              <a:t>Implementation</a:t>
            </a:r>
            <a:endParaRPr lang="en-GB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xmlns="" id="{3CA7614C-1055-4674-ACD3-73ADD8DA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/>
              <a:t>SQL Data Definition Command </a:t>
            </a:r>
          </a:p>
        </p:txBody>
      </p:sp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xmlns="" id="{AED6378B-A6C7-4226-9393-357402DD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C3D1AF9-E3F9-403D-87B2-419E586B5D7F}" type="slidenum">
              <a:rPr lang="en-US" altLang="en-US" sz="1400">
                <a:latin typeface="Times New Roman" panose="02020603050405020304" pitchFamily="18" charset="0"/>
              </a:rPr>
              <a:pPr/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16388" name="Picture 5">
            <a:extLst>
              <a:ext uri="{FF2B5EF4-FFF2-40B4-BE49-F238E27FC236}">
                <a16:creationId xmlns:a16="http://schemas.microsoft.com/office/drawing/2014/main" xmlns="" id="{3036CCFB-390D-4E60-8C3F-C67C4D32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1752600"/>
            <a:ext cx="8366125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xmlns="" id="{8B85E74A-7EAB-44CD-A21B-494200D5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/>
              <a:t>SQL Data Manipulation Commands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xmlns="" id="{A727FB87-3B5B-43C2-82F0-4F680C62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8C5462-126E-4CB4-A303-954BD2D2CD74}" type="slidenum">
              <a:rPr lang="en-US" altLang="en-US" sz="1400">
                <a:latin typeface="Times New Roman" panose="02020603050405020304" pitchFamily="18" charset="0"/>
              </a:rPr>
              <a:pPr/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17412" name="Picture 5">
            <a:extLst>
              <a:ext uri="{FF2B5EF4-FFF2-40B4-BE49-F238E27FC236}">
                <a16:creationId xmlns:a16="http://schemas.microsoft.com/office/drawing/2014/main" xmlns="" id="{B28B2BDC-B86D-462C-8B9B-B4D1FBA8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1674814"/>
            <a:ext cx="6024563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xmlns="" id="{45E5A8EB-71A8-4178-B64B-7A0C7332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altLang="en-US" dirty="0"/>
              <a:t>Some Basic SQL Aggerate Functions</a:t>
            </a:r>
          </a:p>
        </p:txBody>
      </p:sp>
      <p:sp>
        <p:nvSpPr>
          <p:cNvPr id="52227" name="Slide Number Placeholder 4">
            <a:extLst>
              <a:ext uri="{FF2B5EF4-FFF2-40B4-BE49-F238E27FC236}">
                <a16:creationId xmlns:a16="http://schemas.microsoft.com/office/drawing/2014/main" xmlns="" id="{CDF7A7B3-A5E0-4930-9C67-1BD80A26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3293BD-8AA9-431D-A37D-F671550AA70F}" type="slidenum">
              <a:rPr lang="en-US" altLang="en-US" sz="1400">
                <a:latin typeface="Times New Roman" panose="02020603050405020304" pitchFamily="18" charset="0"/>
              </a:rPr>
              <a:pPr/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52228" name="Picture 4">
            <a:extLst>
              <a:ext uri="{FF2B5EF4-FFF2-40B4-BE49-F238E27FC236}">
                <a16:creationId xmlns:a16="http://schemas.microsoft.com/office/drawing/2014/main" xmlns="" id="{32AE11A2-8A5E-4BBA-982D-DC088F317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819400"/>
            <a:ext cx="86106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xmlns="" id="{A0322A6A-D784-48A5-A123-FDEF7D566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Grouping Data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xmlns="" id="{A2186288-4FAD-4E3D-B1E5-C41D45ED61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Frequency distributions created by </a:t>
            </a:r>
            <a:r>
              <a:rPr lang="en-US" altLang="en-US" b="1" dirty="0"/>
              <a:t>GROUP BY </a:t>
            </a:r>
            <a:r>
              <a:rPr lang="en-US" altLang="en-US" dirty="0"/>
              <a:t>clause within SELECT statement</a:t>
            </a:r>
          </a:p>
          <a:p>
            <a:pPr eaLnBrk="1" hangingPunct="1"/>
            <a:r>
              <a:rPr lang="en-US" altLang="en-US" dirty="0"/>
              <a:t>Syntax - </a:t>
            </a:r>
            <a:r>
              <a:rPr lang="en-US" altLang="en-US" b="1" dirty="0">
                <a:solidFill>
                  <a:srgbClr val="00B0F0"/>
                </a:solidFill>
              </a:rPr>
              <a:t>SELECT </a:t>
            </a:r>
            <a:r>
              <a:rPr lang="en-US" altLang="en-US" b="1" i="1" dirty="0" err="1">
                <a:solidFill>
                  <a:srgbClr val="00B0F0"/>
                </a:solidFill>
              </a:rPr>
              <a:t>columnlist</a:t>
            </a:r>
            <a:endParaRPr lang="en-US" altLang="en-US" b="1" i="1" dirty="0">
              <a:solidFill>
                <a:srgbClr val="00B0F0"/>
              </a:solidFill>
            </a:endParaRPr>
          </a:p>
          <a:p>
            <a:pPr marL="1762125" lvl="1" indent="4763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FROM </a:t>
            </a:r>
            <a:r>
              <a:rPr lang="en-US" altLang="en-US" b="1" i="1" dirty="0" err="1">
                <a:solidFill>
                  <a:srgbClr val="00B0F0"/>
                </a:solidFill>
              </a:rPr>
              <a:t>tablelist</a:t>
            </a:r>
            <a:endParaRPr lang="en-US" altLang="en-US" b="1" i="1" dirty="0">
              <a:solidFill>
                <a:srgbClr val="00B0F0"/>
              </a:solidFill>
            </a:endParaRPr>
          </a:p>
          <a:p>
            <a:pPr marL="1762125" lvl="1" indent="4763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[WHERE </a:t>
            </a:r>
            <a:r>
              <a:rPr lang="en-US" altLang="en-US" b="1" i="1" dirty="0" err="1">
                <a:solidFill>
                  <a:srgbClr val="00B0F0"/>
                </a:solidFill>
              </a:rPr>
              <a:t>conditionlist</a:t>
            </a:r>
            <a:r>
              <a:rPr lang="en-US" altLang="en-US" b="1" dirty="0">
                <a:solidFill>
                  <a:srgbClr val="00B0F0"/>
                </a:solidFill>
              </a:rPr>
              <a:t>]</a:t>
            </a:r>
          </a:p>
          <a:p>
            <a:pPr marL="1762125" lvl="1" indent="4763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[GROUP BY </a:t>
            </a:r>
            <a:r>
              <a:rPr lang="en-US" altLang="en-US" b="1" i="1" dirty="0" err="1">
                <a:solidFill>
                  <a:srgbClr val="00B0F0"/>
                </a:solidFill>
              </a:rPr>
              <a:t>columnlist</a:t>
            </a:r>
            <a:r>
              <a:rPr lang="en-US" altLang="en-US" b="1" dirty="0">
                <a:solidFill>
                  <a:srgbClr val="00B0F0"/>
                </a:solidFill>
              </a:rPr>
              <a:t>]</a:t>
            </a:r>
          </a:p>
          <a:p>
            <a:pPr marL="1762125" lvl="1" indent="4763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[HAVING </a:t>
            </a:r>
            <a:r>
              <a:rPr lang="en-US" altLang="en-US" b="1" i="1" dirty="0" err="1">
                <a:solidFill>
                  <a:srgbClr val="00B0F0"/>
                </a:solidFill>
              </a:rPr>
              <a:t>conditionlist</a:t>
            </a:r>
            <a:r>
              <a:rPr lang="en-US" altLang="en-US" b="1" dirty="0">
                <a:solidFill>
                  <a:srgbClr val="00B0F0"/>
                </a:solidFill>
              </a:rPr>
              <a:t>]</a:t>
            </a:r>
          </a:p>
          <a:p>
            <a:pPr marL="1762125" lvl="1" indent="4763">
              <a:buNone/>
            </a:pPr>
            <a:r>
              <a:rPr lang="en-US" altLang="en-US" b="1" dirty="0">
                <a:solidFill>
                  <a:srgbClr val="00B0F0"/>
                </a:solidFill>
              </a:rPr>
              <a:t>[ORDER BY	</a:t>
            </a:r>
            <a:r>
              <a:rPr lang="en-US" altLang="en-US" b="1" i="1" dirty="0" err="1">
                <a:solidFill>
                  <a:srgbClr val="00B0F0"/>
                </a:solidFill>
              </a:rPr>
              <a:t>columnlist</a:t>
            </a:r>
            <a:r>
              <a:rPr lang="en-US" altLang="en-US" b="1" i="1" dirty="0">
                <a:solidFill>
                  <a:srgbClr val="00B0F0"/>
                </a:solidFill>
              </a:rPr>
              <a:t> </a:t>
            </a:r>
            <a:r>
              <a:rPr lang="en-US" altLang="en-US" b="1" dirty="0">
                <a:solidFill>
                  <a:srgbClr val="00B0F0"/>
                </a:solidFill>
              </a:rPr>
              <a:t>[ASC | DESC]];</a:t>
            </a:r>
          </a:p>
        </p:txBody>
      </p:sp>
      <p:sp>
        <p:nvSpPr>
          <p:cNvPr id="53252" name="Slide Number Placeholder 4">
            <a:extLst>
              <a:ext uri="{FF2B5EF4-FFF2-40B4-BE49-F238E27FC236}">
                <a16:creationId xmlns:a16="http://schemas.microsoft.com/office/drawing/2014/main" xmlns="" id="{5AD9ED5C-1B2F-4FA5-882B-678B8A91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E2C387-1351-44E8-B349-C498EEA05354}" type="slidenum">
              <a:rPr lang="en-US" altLang="en-US" sz="1400">
                <a:latin typeface="Times New Roman" panose="02020603050405020304" pitchFamily="18" charset="0"/>
              </a:rPr>
              <a:pPr/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xmlns="" id="{D1F2BC33-46A0-44C0-860C-3A07364F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HAVING Clause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xmlns="" id="{7646B3E6-0A40-4CFD-BD6A-4990028A0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Extension of GROUP BY feature</a:t>
            </a:r>
          </a:p>
          <a:p>
            <a:pPr eaLnBrk="1" hangingPunct="1"/>
            <a:r>
              <a:rPr lang="en-US" altLang="en-US"/>
              <a:t>Applied to output of GROUP BY operation</a:t>
            </a:r>
          </a:p>
          <a:p>
            <a:pPr eaLnBrk="1" hangingPunct="1"/>
            <a:r>
              <a:rPr lang="en-US" altLang="en-US"/>
              <a:t>Used in conjunction with GROUP BY clause in second SQL command set</a:t>
            </a:r>
          </a:p>
          <a:p>
            <a:pPr eaLnBrk="1" hangingPunct="1"/>
            <a:r>
              <a:rPr lang="en-US" altLang="en-US"/>
              <a:t>Similar to WHERE clause in SELECT statement</a:t>
            </a:r>
          </a:p>
        </p:txBody>
      </p:sp>
      <p:sp>
        <p:nvSpPr>
          <p:cNvPr id="54276" name="Slide Number Placeholder 4">
            <a:extLst>
              <a:ext uri="{FF2B5EF4-FFF2-40B4-BE49-F238E27FC236}">
                <a16:creationId xmlns:a16="http://schemas.microsoft.com/office/drawing/2014/main" xmlns="" id="{ED0C19E5-178C-4255-BA84-C0ED1D80A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20B138-905B-4E90-A27F-8E6B91DA3EFE}" type="slidenum">
              <a:rPr lang="en-US" altLang="en-US" sz="1400">
                <a:latin typeface="Times New Roman" panose="02020603050405020304" pitchFamily="18" charset="0"/>
              </a:rPr>
              <a:pPr/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xmlns="" id="{28EB46B8-2E2D-402B-A97B-BCE787C9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Joining Database Tables</a:t>
            </a:r>
          </a:p>
        </p:txBody>
      </p:sp>
      <p:sp>
        <p:nvSpPr>
          <p:cNvPr id="55299" name="Rectangle 5">
            <a:extLst>
              <a:ext uri="{FF2B5EF4-FFF2-40B4-BE49-F238E27FC236}">
                <a16:creationId xmlns:a16="http://schemas.microsoft.com/office/drawing/2014/main" xmlns="" id="{08117E94-9F67-4808-8D1D-52C1FD0FF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Performed when data are retrieved from more than one table at a time</a:t>
            </a:r>
          </a:p>
          <a:p>
            <a:pPr lvl="1" eaLnBrk="1" hangingPunct="1"/>
            <a:r>
              <a:rPr lang="en-US" altLang="en-US"/>
              <a:t>Equality comparison between foreign key and primary key of related tables</a:t>
            </a:r>
          </a:p>
          <a:p>
            <a:pPr eaLnBrk="1" hangingPunct="1"/>
            <a:r>
              <a:rPr lang="en-US" altLang="en-US"/>
              <a:t>Tables are joined by listing tables in FROM clause of SELECT statement</a:t>
            </a:r>
          </a:p>
          <a:p>
            <a:pPr lvl="1" eaLnBrk="1" hangingPunct="1"/>
            <a:r>
              <a:rPr lang="en-US" altLang="en-US"/>
              <a:t>DBMS creates Cartesian product of every table in the FROM clause</a:t>
            </a:r>
          </a:p>
        </p:txBody>
      </p:sp>
      <p:sp>
        <p:nvSpPr>
          <p:cNvPr id="55300" name="Slide Number Placeholder 4">
            <a:extLst>
              <a:ext uri="{FF2B5EF4-FFF2-40B4-BE49-F238E27FC236}">
                <a16:creationId xmlns:a16="http://schemas.microsoft.com/office/drawing/2014/main" xmlns="" id="{B51CD1E9-18AE-4ACF-BBB2-F17BC5D5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C5684C2-B963-4FBD-B0CF-152220335DEF}" type="slidenum">
              <a:rPr lang="en-US" altLang="en-US" sz="1400">
                <a:latin typeface="Times New Roman" panose="02020603050405020304" pitchFamily="18" charset="0"/>
              </a:rPr>
              <a:pPr/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xmlns="" id="{B08B9C78-81DF-48FA-A514-7AFE3A64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SQL Join Operators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xmlns="" id="{F1770C60-3CB0-4DF5-8A3B-3BD30BFF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Relational join operation merges rows from two tables and returns rows with one of the following</a:t>
            </a:r>
          </a:p>
          <a:p>
            <a:pPr lvl="1" eaLnBrk="1" hangingPunct="1"/>
            <a:r>
              <a:rPr lang="en-US" altLang="en-US" dirty="0" smtClean="0"/>
              <a:t>Have </a:t>
            </a:r>
            <a:r>
              <a:rPr lang="en-US" altLang="en-US" dirty="0"/>
              <a:t>common values in common columns</a:t>
            </a:r>
          </a:p>
          <a:p>
            <a:pPr lvl="1" eaLnBrk="1" hangingPunct="1"/>
            <a:r>
              <a:rPr lang="en-US" altLang="en-US" dirty="0" smtClean="0"/>
              <a:t>Meet </a:t>
            </a:r>
            <a:r>
              <a:rPr lang="en-US" altLang="en-US" dirty="0"/>
              <a:t>a given join condition </a:t>
            </a:r>
          </a:p>
          <a:p>
            <a:pPr lvl="1" eaLnBrk="1" hangingPunct="1"/>
            <a:r>
              <a:rPr lang="en-US" altLang="en-US" dirty="0" smtClean="0"/>
              <a:t>Have </a:t>
            </a:r>
            <a:r>
              <a:rPr lang="en-US" altLang="en-US" dirty="0"/>
              <a:t>common values in common columns or have no matching </a:t>
            </a:r>
            <a:r>
              <a:rPr lang="en-US" altLang="en-US" dirty="0" smtClean="0"/>
              <a:t>values</a:t>
            </a:r>
          </a:p>
          <a:p>
            <a:pPr marL="457200" lvl="1" indent="0" eaLnBrk="1" hangingPunct="1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44EAC6A-2D5A-432A-9102-2517516D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B1CE15-69B2-4B7F-ADFA-429E21413BF0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45" y="737203"/>
            <a:ext cx="11870675" cy="50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9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xmlns="" id="{6DB96305-2D8A-4238-B250-6C95716E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SQL Join Expression Styles</a:t>
            </a: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xmlns="" id="{5AA127AD-9A1D-471B-8EA7-554493978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4" y="1752600"/>
            <a:ext cx="865663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F289D50-3409-411E-91BC-1543F4AD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FE4C74-7BE7-47DE-9589-49285A635DCB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142E1532-CF2C-4B9C-977C-C35685D5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SQL Join Expression Styles</a:t>
            </a: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xmlns="" id="{50C44A2D-D7B6-4C7B-85D5-460BC9F89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95500"/>
            <a:ext cx="88392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8342460-23B9-42C0-8863-DE73168D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4F862E-A3F9-43C8-B948-5BDE91E9ADF0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xmlns="" id="{D65A25FE-34BA-4DDB-893C-E77BF025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Subqueries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xmlns="" id="{400E3D30-3B46-4B2D-A2B9-788D5507E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Subquery is a query inside another </a:t>
            </a:r>
            <a:r>
              <a:rPr lang="en-US" altLang="en-US" dirty="0" smtClean="0"/>
              <a:t>query</a:t>
            </a:r>
          </a:p>
          <a:p>
            <a:r>
              <a:rPr lang="en-US" dirty="0"/>
              <a:t>Subqueries can be used with the </a:t>
            </a:r>
            <a:r>
              <a:rPr lang="en-US" dirty="0">
                <a:solidFill>
                  <a:srgbClr val="00B0F0"/>
                </a:solidFill>
              </a:rPr>
              <a:t>SELECT, INSERT, UPDATE, and DELETE </a:t>
            </a:r>
            <a:r>
              <a:rPr lang="en-US" dirty="0"/>
              <a:t>statements along with the operators like =, &lt;, &gt;, &gt;=, &lt;=, IN, BETWEEN, etc.</a:t>
            </a:r>
            <a:endParaRPr lang="en-US" altLang="en-US" dirty="0"/>
          </a:p>
          <a:p>
            <a:pPr eaLnBrk="1" hangingPunct="1"/>
            <a:r>
              <a:rPr lang="en-US" altLang="en-US" dirty="0"/>
              <a:t>Subquery can return:</a:t>
            </a:r>
          </a:p>
          <a:p>
            <a:pPr lvl="1" eaLnBrk="1" hangingPunct="1"/>
            <a:r>
              <a:rPr lang="en-US" altLang="en-US" dirty="0"/>
              <a:t>One single value - One column and one row</a:t>
            </a:r>
          </a:p>
          <a:p>
            <a:pPr lvl="1" eaLnBrk="1" hangingPunct="1"/>
            <a:r>
              <a:rPr lang="en-US" altLang="en-US" dirty="0"/>
              <a:t>A list of values - One column and multiple rows</a:t>
            </a:r>
          </a:p>
          <a:p>
            <a:pPr lvl="1" eaLnBrk="1" hangingPunct="1"/>
            <a:r>
              <a:rPr lang="en-US" altLang="en-US" dirty="0"/>
              <a:t>A virtual table - Multicolumn, </a:t>
            </a:r>
            <a:r>
              <a:rPr lang="en-US" altLang="en-US" dirty="0" err="1"/>
              <a:t>multirow</a:t>
            </a:r>
            <a:r>
              <a:rPr lang="en-US" altLang="en-US" dirty="0"/>
              <a:t> set of values</a:t>
            </a:r>
          </a:p>
          <a:p>
            <a:pPr lvl="1" eaLnBrk="1" hangingPunct="1"/>
            <a:r>
              <a:rPr lang="en-US" altLang="en-US" dirty="0"/>
              <a:t>No value - Output of the outer query might result in an error or a null empty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9DDA7B5-961F-41C7-8838-39C40DB3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858E32-7831-4637-8614-6379247D1F4D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xmlns="" id="{2ECBD795-CFE7-4C57-901F-2B697BE3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WHERE Subqueries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xmlns="" id="{95819C36-98C6-4D3F-B78B-58BE4A371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Uses inner SELECT subquery on the right side of a WHERE comparison expression</a:t>
            </a:r>
          </a:p>
          <a:p>
            <a:pPr eaLnBrk="1" hangingPunct="1"/>
            <a:r>
              <a:rPr lang="en-US" altLang="en-US" dirty="0"/>
              <a:t>Value generated by the subquery must be of a comparable data type</a:t>
            </a:r>
          </a:p>
          <a:p>
            <a:pPr eaLnBrk="1" hangingPunct="1"/>
            <a:r>
              <a:rPr lang="en-US" altLang="en-US" dirty="0"/>
              <a:t>If the query returns more than a single value, the DBMS will generate an </a:t>
            </a:r>
            <a:r>
              <a:rPr lang="en-US" altLang="en-US" dirty="0" smtClean="0"/>
              <a:t>error</a:t>
            </a:r>
          </a:p>
          <a:p>
            <a:r>
              <a:rPr lang="en-US" dirty="0"/>
              <a:t>A subquery can have only one column in the SELECT clause</a:t>
            </a:r>
            <a:endParaRPr lang="en-US" altLang="en-US" dirty="0"/>
          </a:p>
          <a:p>
            <a:pPr eaLnBrk="1" hangingPunct="1"/>
            <a:r>
              <a:rPr lang="en-US" altLang="en-US" dirty="0"/>
              <a:t>Can be used in combination with joins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4B46759-20FE-4CCE-8433-9439BB1B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95517D-3222-45B5-88EC-9F8464F89571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484" y="599548"/>
            <a:ext cx="11933516" cy="49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6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989" y="540407"/>
            <a:ext cx="11770022" cy="570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2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xmlns="" id="{3F19587F-4CD0-4256-A6C3-45625B41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 and HAVING Subqueries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xmlns="" id="{56B8E27A-C7EF-4F6D-8574-FDC7A5EAB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subqueries</a:t>
            </a:r>
          </a:p>
          <a:p>
            <a:pPr lvl="1" eaLnBrk="1" hangingPunct="1"/>
            <a:r>
              <a:rPr lang="en-US" altLang="en-US"/>
              <a:t>Used to compare a single attribute to a list of values</a:t>
            </a:r>
          </a:p>
          <a:p>
            <a:pPr eaLnBrk="1" hangingPunct="1"/>
            <a:r>
              <a:rPr lang="en-US" altLang="en-US"/>
              <a:t>HAVING subqueries</a:t>
            </a:r>
          </a:p>
          <a:p>
            <a:pPr lvl="1" eaLnBrk="1" hangingPunct="1"/>
            <a:r>
              <a:rPr lang="en-US" altLang="en-US"/>
              <a:t>HAVING clause restricts the output of a GROUP BY query by applying conditional criteria to the grouped rows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4876011-C702-45FD-AC1F-4CD1013D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3DD5B8-40EB-4CF0-A5DC-C971A836B471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xmlns="" id="{0CE50EF6-7AE5-4DAB-A393-94AA175BE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Multirow Subquery Operators: </a:t>
            </a:r>
            <a:br>
              <a:rPr lang="en-US" altLang="en-US" dirty="0"/>
            </a:br>
            <a:r>
              <a:rPr lang="en-US" altLang="en-US" dirty="0"/>
              <a:t> ANY and ALL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xmlns="" id="{24B59CA9-5100-4D4B-B2E7-B26A43148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The ANY and ALL operators are used with a WHERE or HAVING clause</a:t>
            </a:r>
            <a:r>
              <a:rPr lang="en-US" dirty="0" smtClean="0">
                <a:solidFill>
                  <a:srgbClr val="00B0F0"/>
                </a:solidFill>
              </a:rPr>
              <a:t>.</a:t>
            </a:r>
          </a:p>
          <a:p>
            <a:r>
              <a:rPr lang="en-US" dirty="0">
                <a:solidFill>
                  <a:srgbClr val="00B0F0"/>
                </a:solidFill>
              </a:rPr>
              <a:t>The ANY operator returns true if any of the subquery values meet the condition.</a:t>
            </a:r>
          </a:p>
          <a:p>
            <a:r>
              <a:rPr lang="en-US" dirty="0">
                <a:solidFill>
                  <a:srgbClr val="00B0F0"/>
                </a:solidFill>
              </a:rPr>
              <a:t>The ALL operator returns true if all of the subquery values meet the condition</a:t>
            </a:r>
            <a:r>
              <a:rPr lang="en-US" dirty="0" smtClean="0">
                <a:solidFill>
                  <a:srgbClr val="00B0F0"/>
                </a:solidFill>
              </a:rPr>
              <a:t>.</a:t>
            </a:r>
            <a:endParaRPr lang="en-US" altLang="en-US" dirty="0" smtClean="0">
              <a:solidFill>
                <a:srgbClr val="00B0F0"/>
              </a:solidFill>
            </a:endParaRPr>
          </a:p>
          <a:p>
            <a:pPr eaLnBrk="1" hangingPunct="1"/>
            <a:r>
              <a:rPr lang="en-US" altLang="en-US" dirty="0" smtClean="0"/>
              <a:t>ALL </a:t>
            </a:r>
            <a:r>
              <a:rPr lang="en-US" altLang="en-US" dirty="0"/>
              <a:t>operator</a:t>
            </a:r>
          </a:p>
          <a:p>
            <a:pPr lvl="1" eaLnBrk="1" hangingPunct="1"/>
            <a:r>
              <a:rPr lang="en-US" altLang="en-US" dirty="0"/>
              <a:t>Allows comparison of a single value with a list of values returned by the first subquery </a:t>
            </a:r>
          </a:p>
          <a:p>
            <a:pPr lvl="2" eaLnBrk="1" hangingPunct="1"/>
            <a:r>
              <a:rPr lang="en-US" altLang="en-US" dirty="0"/>
              <a:t>Uses a comparison operator other than equals</a:t>
            </a:r>
          </a:p>
          <a:p>
            <a:pPr eaLnBrk="1" hangingPunct="1"/>
            <a:r>
              <a:rPr lang="en-US" altLang="en-US" dirty="0"/>
              <a:t>ANY operator</a:t>
            </a:r>
          </a:p>
          <a:p>
            <a:pPr lvl="1" eaLnBrk="1" hangingPunct="1"/>
            <a:r>
              <a:rPr lang="en-US" altLang="en-US" dirty="0"/>
              <a:t>Allows comparison of a single value to a list of values and selects only the rows for which the value is greater than or less than any value in the list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BB06C6D-B5F0-461D-A3DF-88E801DA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8E5D08E-45A4-42B7-BE33-9DC23785BA73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062" y="0"/>
            <a:ext cx="7410557" cy="6706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54619" y="3353124"/>
            <a:ext cx="3605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Operators</a:t>
            </a:r>
          </a:p>
          <a:p>
            <a:r>
              <a:rPr lang="en-US" b="1" dirty="0" smtClean="0">
                <a:solidFill>
                  <a:srgbClr val="FF0000"/>
                </a:solidFill>
                <a:latin typeface="Verdana" panose="020B0604030504040204" pitchFamily="34" charset="0"/>
              </a:rPr>
              <a:t>=, </a:t>
            </a:r>
            <a:r>
              <a:rPr lang="en-US" b="1" dirty="0">
                <a:solidFill>
                  <a:srgbClr val="FF0000"/>
                </a:solidFill>
                <a:latin typeface="Verdana" panose="020B0604030504040204" pitchFamily="34" charset="0"/>
              </a:rPr>
              <a:t>&lt;&gt;, !=, &gt;, &gt;=, &lt;, or &lt;=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98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xmlns="" id="{AD44FAC2-45E1-4444-8760-BDAF2427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SQL Functions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xmlns="" id="{60D50A86-116E-4B3C-BB37-344D88656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Functions always use a numerical, date, or string value</a:t>
            </a:r>
          </a:p>
          <a:p>
            <a:pPr eaLnBrk="1" hangingPunct="1"/>
            <a:r>
              <a:rPr lang="en-US" altLang="en-US" dirty="0"/>
              <a:t>Value may be part of a command or may be an attribute located in a table</a:t>
            </a:r>
          </a:p>
          <a:p>
            <a:pPr eaLnBrk="1" hangingPunct="1"/>
            <a:r>
              <a:rPr lang="en-US" altLang="en-US" dirty="0"/>
              <a:t>Function may appear anywhere in an SQL statement where a value or an attribute can be used </a:t>
            </a:r>
            <a:endParaRPr lang="en-US" altLang="en-US" dirty="0" smtClean="0"/>
          </a:p>
          <a:p>
            <a:r>
              <a:rPr lang="en-US" dirty="0"/>
              <a:t>AVG() - Returns the average value.</a:t>
            </a:r>
          </a:p>
          <a:p>
            <a:r>
              <a:rPr lang="en-US" dirty="0"/>
              <a:t>COUNT() - Returns the number of rows.</a:t>
            </a:r>
          </a:p>
          <a:p>
            <a:r>
              <a:rPr lang="en-US" dirty="0"/>
              <a:t>FIRST() - Returns the first value.</a:t>
            </a:r>
          </a:p>
          <a:p>
            <a:r>
              <a:rPr lang="en-US" dirty="0"/>
              <a:t>LAST() - Returns the last value.</a:t>
            </a:r>
          </a:p>
          <a:p>
            <a:r>
              <a:rPr lang="en-US" dirty="0"/>
              <a:t>MAX() - Returns the largest value.</a:t>
            </a:r>
          </a:p>
          <a:p>
            <a:r>
              <a:rPr lang="en-US" dirty="0"/>
              <a:t>MIN() - Returns the smallest value.</a:t>
            </a:r>
          </a:p>
          <a:p>
            <a:r>
              <a:rPr lang="en-US" dirty="0"/>
              <a:t>SUM() - Returns the sum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021040E-7CDF-439B-85D6-3E6D38BD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7A762E9-B3A4-4615-B1A8-6AA90199C5E8}" type="slidenum">
              <a:rPr lang="en-US" altLang="en-US"/>
              <a:pPr eaLnBrk="1" hangingPunct="1"/>
              <a:t>21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xmlns="" id="{81470CCF-0F05-4B76-8924-E279CBD8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SQL Functions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xmlns="" id="{7DE3EAD5-B78A-4DC6-B8D2-892AC64E61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57400" y="1676400"/>
          <a:ext cx="8077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BCD3F14-933E-4C8C-9E2F-F778756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2E5AB0-274E-496A-81A8-317D983FACD4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xmlns="" id="{C5FD1ABF-60F3-4EDA-90BE-35A767AF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Relational Set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3C8AF0-D095-4C5F-82BE-F659D55FB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>
              <a:defRPr/>
            </a:pPr>
            <a:r>
              <a:rPr lang="en-US" altLang="en-US" dirty="0"/>
              <a:t>SQL data manipulation commands are set-oriented</a:t>
            </a:r>
          </a:p>
          <a:p>
            <a:pPr marL="658368" lvl="1" indent="-246888">
              <a:defRPr/>
            </a:pPr>
            <a:r>
              <a:rPr lang="en-US" altLang="en-US" b="1" dirty="0"/>
              <a:t>Set-oriented</a:t>
            </a:r>
            <a:r>
              <a:rPr lang="en-US" altLang="en-US" dirty="0"/>
              <a:t>: Operate over entire sets of rows and columns at once</a:t>
            </a:r>
          </a:p>
          <a:p>
            <a:pPr marL="365760" indent="-256032">
              <a:defRPr/>
            </a:pPr>
            <a:r>
              <a:rPr lang="en-US" altLang="en-US" dirty="0"/>
              <a:t>UNION, INTERSECT, and Except (MINUS) work properly when relations are union-compatible</a:t>
            </a:r>
          </a:p>
          <a:p>
            <a:pPr marL="658368" lvl="1" indent="-246888">
              <a:defRPr/>
            </a:pPr>
            <a:r>
              <a:rPr lang="en-US" altLang="en-US" b="1" dirty="0"/>
              <a:t>Union-compatible</a:t>
            </a:r>
            <a:r>
              <a:rPr lang="en-US" altLang="en-US" dirty="0"/>
              <a:t>: Number of attributes are the same and their corresponding data types are alike </a:t>
            </a:r>
          </a:p>
          <a:p>
            <a:pPr marL="365760" indent="-256032">
              <a:defRPr/>
            </a:pPr>
            <a:r>
              <a:rPr lang="en-US" altLang="en-US" dirty="0"/>
              <a:t>UNION</a:t>
            </a:r>
          </a:p>
          <a:p>
            <a:pPr marL="658368" lvl="1" indent="-246888">
              <a:defRPr/>
            </a:pPr>
            <a:r>
              <a:rPr lang="en-US" altLang="en-US" dirty="0"/>
              <a:t>Combines rows from two or more queries without including duplicate rows</a:t>
            </a:r>
          </a:p>
          <a:p>
            <a:pPr marL="658368" lvl="1" indent="-246888">
              <a:defRPr/>
            </a:pPr>
            <a:endParaRPr lang="en-US" altLang="en-US" dirty="0"/>
          </a:p>
          <a:p>
            <a:pPr marL="109728" indent="0">
              <a:buNone/>
              <a:defRPr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61FB13E-6D2C-408A-8BF3-E4F64C65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72A1115-5839-4028-A2DF-420180F1D0EF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xmlns="" id="{9373CDBB-7FA7-4FB4-8E61-D79CCCCF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Relational Set Operators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xmlns="" id="{F429334A-2ACE-450C-B815-76ABB912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/>
              <a:t>Syntax - query UNION query </a:t>
            </a:r>
          </a:p>
          <a:p>
            <a:pPr eaLnBrk="1" hangingPunct="1"/>
            <a:r>
              <a:rPr lang="en-US" altLang="en-US"/>
              <a:t>UNION ALL</a:t>
            </a:r>
          </a:p>
          <a:p>
            <a:pPr lvl="1" eaLnBrk="1" hangingPunct="1"/>
            <a:r>
              <a:rPr lang="en-US" altLang="en-US"/>
              <a:t>Produces a relation that retains duplicate rows</a:t>
            </a:r>
          </a:p>
          <a:p>
            <a:pPr lvl="1" eaLnBrk="1" hangingPunct="1"/>
            <a:r>
              <a:rPr lang="en-US" altLang="en-US"/>
              <a:t>Can be used to unite more than two queries</a:t>
            </a:r>
          </a:p>
          <a:p>
            <a:pPr eaLnBrk="1" hangingPunct="1"/>
            <a:r>
              <a:rPr lang="en-US" altLang="en-US"/>
              <a:t>INTERSECT</a:t>
            </a:r>
          </a:p>
          <a:p>
            <a:pPr lvl="1" eaLnBrk="1" hangingPunct="1"/>
            <a:r>
              <a:rPr lang="en-US" altLang="en-US"/>
              <a:t>Combines rows from two queries, returning only the rows that appear in both sets</a:t>
            </a:r>
          </a:p>
          <a:p>
            <a:pPr lvl="1" eaLnBrk="1" hangingPunct="1"/>
            <a:r>
              <a:rPr lang="en-US" altLang="en-US"/>
              <a:t>Syntax - query INTERSECT query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E0C0550-A757-4BFE-A272-5AC197BA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415468-E8BC-4AC9-8656-8F7B00400452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xmlns="" id="{C8A93A00-0A0F-4937-9DB2-F8D100B6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Relational Set Operators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xmlns="" id="{6EE3860D-1DDF-4ACF-ADD2-87123AF72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EXCEPT (MINUS)</a:t>
            </a:r>
          </a:p>
          <a:p>
            <a:pPr lvl="1" eaLnBrk="1" hangingPunct="1"/>
            <a:r>
              <a:rPr lang="en-US" altLang="en-US"/>
              <a:t>Combines rows from two queries and returns only the rows that appear in the first set </a:t>
            </a:r>
          </a:p>
          <a:p>
            <a:pPr lvl="1" eaLnBrk="1" hangingPunct="1"/>
            <a:r>
              <a:rPr lang="en-US" altLang="en-US"/>
              <a:t>Syntax</a:t>
            </a:r>
          </a:p>
          <a:p>
            <a:pPr lvl="2" eaLnBrk="1" hangingPunct="1"/>
            <a:r>
              <a:rPr lang="en-US" altLang="en-US"/>
              <a:t>query EXCEPT query </a:t>
            </a:r>
          </a:p>
          <a:p>
            <a:pPr lvl="2" eaLnBrk="1" hangingPunct="1"/>
            <a:r>
              <a:rPr lang="en-US" altLang="en-US"/>
              <a:t>query MINUS query</a:t>
            </a:r>
          </a:p>
          <a:p>
            <a:pPr eaLnBrk="1" hangingPunct="1"/>
            <a:r>
              <a:rPr lang="en-US" altLang="en-US"/>
              <a:t>Syntax alternatives</a:t>
            </a:r>
          </a:p>
          <a:p>
            <a:pPr lvl="1" eaLnBrk="1" hangingPunct="1"/>
            <a:r>
              <a:rPr lang="en-US" altLang="en-US"/>
              <a:t>IN and NOT IN subqueries can be used in place of INTERSECT</a:t>
            </a:r>
          </a:p>
          <a:p>
            <a:pPr lvl="1"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lvl="1" eaLnBrk="1" hangingPunct="1">
              <a:buFontTx/>
              <a:buNone/>
            </a:pPr>
            <a:r>
              <a:rPr lang="en-US" altLang="en-US"/>
              <a:t>  </a:t>
            </a:r>
          </a:p>
          <a:p>
            <a:pPr eaLnBrk="1" hangingPunct="1"/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CDBB862-94C0-49ED-AA69-A5223BF3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3EAC396-2818-4D78-99E6-DB127400E0EF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061D22-8C01-45FB-BAE7-B578B0C6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4A97F9-0E0D-4488-AA0F-7A80F05A9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Systems: Design, Implementation, and Management by Carlos Coronel and Steven Morris,13th Edition, Cengage, Chapter 8.</a:t>
            </a:r>
          </a:p>
          <a:p>
            <a:r>
              <a:rPr lang="en-US" dirty="0"/>
              <a:t>Database Systems A Practical Approach to Design, Implementation and Management by  Thomas Connolly and Carolyn </a:t>
            </a:r>
            <a:r>
              <a:rPr lang="en-US" dirty="0" err="1"/>
              <a:t>Begg</a:t>
            </a:r>
            <a:r>
              <a:rPr lang="en-US" dirty="0"/>
              <a:t>, Sixth Edition, Pearson, </a:t>
            </a:r>
            <a:r>
              <a:rPr lang="en-US"/>
              <a:t>Chapter 8</a:t>
            </a:r>
            <a:endParaRPr lang="en-US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6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938</Words>
  <Application>Microsoft Office PowerPoint</Application>
  <PresentationFormat>Widescreen</PresentationFormat>
  <Paragraphs>145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ＭＳ Ｐゴシック</vt:lpstr>
      <vt:lpstr>Arial</vt:lpstr>
      <vt:lpstr>Calibri</vt:lpstr>
      <vt:lpstr>Calibri Light</vt:lpstr>
      <vt:lpstr>Georgia</vt:lpstr>
      <vt:lpstr>Times New Roman</vt:lpstr>
      <vt:lpstr>Verdana</vt:lpstr>
      <vt:lpstr>Office Theme</vt:lpstr>
      <vt:lpstr>Database Design and Implementation</vt:lpstr>
      <vt:lpstr>Learning Outcomes</vt:lpstr>
      <vt:lpstr>Agenda</vt:lpstr>
      <vt:lpstr>SQL Data Definition Command </vt:lpstr>
      <vt:lpstr>SQL Data Manipulation Commands</vt:lpstr>
      <vt:lpstr>Some Basic SQL Aggerate Functions</vt:lpstr>
      <vt:lpstr>Grouping Data</vt:lpstr>
      <vt:lpstr>HAVING Clause</vt:lpstr>
      <vt:lpstr>Joining Database Tables</vt:lpstr>
      <vt:lpstr>SQL Join Operators</vt:lpstr>
      <vt:lpstr>PowerPoint Presentation</vt:lpstr>
      <vt:lpstr>SQL Join Expression Styles</vt:lpstr>
      <vt:lpstr>SQL Join Expression Styles</vt:lpstr>
      <vt:lpstr>Subqueries</vt:lpstr>
      <vt:lpstr>WHERE Subqueries</vt:lpstr>
      <vt:lpstr>PowerPoint Presentation</vt:lpstr>
      <vt:lpstr>PowerPoint Presentation</vt:lpstr>
      <vt:lpstr>IN and HAVING Subqueries</vt:lpstr>
      <vt:lpstr>Multirow Subquery Operators:   ANY and ALL</vt:lpstr>
      <vt:lpstr>PowerPoint Presentation</vt:lpstr>
      <vt:lpstr>SQL Functions</vt:lpstr>
      <vt:lpstr>SQL Functions</vt:lpstr>
      <vt:lpstr>Relational Set Operators</vt:lpstr>
      <vt:lpstr>Relational Set Operators</vt:lpstr>
      <vt:lpstr>Relational Set Operators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130</cp:revision>
  <dcterms:created xsi:type="dcterms:W3CDTF">2019-11-08T16:18:41Z</dcterms:created>
  <dcterms:modified xsi:type="dcterms:W3CDTF">2019-12-31T08:45:40Z</dcterms:modified>
</cp:coreProperties>
</file>