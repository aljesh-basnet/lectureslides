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64" r:id="rId4"/>
    <p:sldId id="259" r:id="rId5"/>
    <p:sldId id="261" r:id="rId6"/>
    <p:sldId id="262" r:id="rId7"/>
    <p:sldId id="263" r:id="rId8"/>
    <p:sldId id="317" r:id="rId9"/>
    <p:sldId id="323" r:id="rId10"/>
    <p:sldId id="325" r:id="rId11"/>
    <p:sldId id="326" r:id="rId12"/>
    <p:sldId id="322" r:id="rId13"/>
    <p:sldId id="294" r:id="rId14"/>
    <p:sldId id="316" r:id="rId15"/>
    <p:sldId id="295" r:id="rId16"/>
    <p:sldId id="327" r:id="rId17"/>
    <p:sldId id="318" r:id="rId18"/>
    <p:sldId id="319" r:id="rId19"/>
    <p:sldId id="320" r:id="rId20"/>
    <p:sldId id="321" r:id="rId21"/>
    <p:sldId id="296" r:id="rId22"/>
    <p:sldId id="305" r:id="rId23"/>
    <p:sldId id="306" r:id="rId24"/>
    <p:sldId id="285" r:id="rId25"/>
    <p:sldId id="297" r:id="rId26"/>
    <p:sldId id="307" r:id="rId27"/>
    <p:sldId id="310" r:id="rId28"/>
    <p:sldId id="298" r:id="rId29"/>
    <p:sldId id="32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CFF6B-943C-4681-864D-D49BF6B9501E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0F3B-D70C-4D5E-B99B-3FE48113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7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xmlns="" id="{B9E98229-6AC2-4927-9873-C408193C07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9F6F277-0C74-400E-A1FB-75CA397A6439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xmlns="" id="{E4C78276-FDF4-4E74-8ECA-2D87D43A27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xmlns="" id="{35AE802B-F775-4717-A665-14D192FCD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NCC Education - Slide Master</a:t>
            </a:r>
          </a:p>
        </p:txBody>
      </p:sp>
    </p:spTree>
    <p:extLst>
      <p:ext uri="{BB962C8B-B14F-4D97-AF65-F5344CB8AC3E}">
        <p14:creationId xmlns:p14="http://schemas.microsoft.com/office/powerpoint/2010/main" val="3948891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B3FF77-BA6B-4FC5-B1AB-D3565D008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9200E80-6DA0-4867-BB2A-029822C85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2C1A6A-CF05-44DB-B536-338D481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55E442-EC83-4A4A-8D0E-A73DA4D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CEC075-30C2-4F80-B23F-4696AE89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00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BE3F2D-F426-414B-8459-F3BB322B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2AD7DD-41FC-4F58-A5D7-1AB9FFB35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D64FC1-DD2B-40EF-B4ED-EF5FC06C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3107AB-A3DF-44A1-BF7E-7A8BC2D96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2FF080-246F-43D2-966B-DDB4F586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6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E209C4-4CE6-4416-8E16-FFCF375B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CB20E4-1145-4BBF-90E7-2043D3258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0D1E3D-0284-4278-9CDD-28517836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26CE0EF-311B-4320-948B-A7E16FAE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CF42ED-9F4A-462D-B4AF-7273DE71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0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819E23-BBD6-48BC-8C31-88C760E5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A4AE62-C82F-4761-8C46-1AFD04442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32838F3-5264-4B5D-A56E-E2B94A320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7FF58A1-78CF-489C-A934-F1CA503E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232C1E0-E42B-4E8C-A50B-DC748C19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39DC3C-D5E4-4B08-918C-EB24D5E4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44DBA8-5CD2-4270-8192-70AC9B07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AA2F23-BB3B-4876-BEE0-BD6497181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DC4B075-4A86-4088-8653-1FE6FEDD5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02A4EB3-7494-4126-ADA1-7C72AB74C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E6F5B88-74D4-4130-ADFE-E1B846104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F78AC17-538E-4CFE-A335-F00830A97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8E90F69-9BF8-45DC-A90F-9879EBADF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2AAF99C-9720-4D62-B806-7ACB6066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1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6A31B-42E3-411C-AF11-931243F1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B9640F0-E8D1-481E-AB2B-BC485C9A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B3AA353-C481-4D1A-BFF3-0C7E98EA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BBC1754-D0CD-491F-971C-D904D47E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8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DA6A44B-11CB-4B98-BA97-40B26BF36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83A931-E466-4960-B950-86BD90A0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0BB91E5-0A9D-4057-B4A5-C43A83A8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4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245B8C-A12A-417A-B58D-44E3E084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E265E8-F83C-4C62-842D-036470F5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B1FF749-8953-4988-BC6D-5F194DDB5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C51E09D-8703-4359-A7E8-6564FB5D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3660755-7B5D-4FF2-8948-9A305ACFC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504F54-019F-4FFF-A560-C2E2C318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9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1CA7CB-85FC-4545-992D-2F7ED320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5D88532-C399-44CA-89A5-102DE4931B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2C0A3E2-8649-4A55-BD01-D51B9D5E9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C85A1AF-6D43-48E5-95A6-B6CD6B2A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1F6EF7D-142D-4E7F-ABB2-12A87B0F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EEE9635-3439-42FE-8F55-896565DC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1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4223CC-54FE-440C-A65C-D8EAA1A8B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0D21E6E-BE63-4D1B-9DD1-0414DC7FF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17EC02-4C1E-420C-BC03-C1CCEECE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D844C6-A82E-46BF-8DF7-E4A18FF8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4848E6-4C47-4388-924D-8CD33816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1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9251429-1C2B-4CEF-9788-F842A6B36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F19692-519F-4DF0-B41D-F637E8FD7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F8FE00D-D86F-44DA-A58E-F740F1E4E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49BE037-CE50-4994-B45A-D2B7BE42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250EBF-4C49-44FD-9F00-9A92F498B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2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F6A7EA1-87F1-4089-AE0B-13AE19F0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CEDE96A-5957-4889-B71D-8063FEF1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604720-998A-4BFA-A217-D237A0568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4A9B3-F217-4A55-ACA5-9748B396CB0B}" type="datetimeFigureOut">
              <a:rPr lang="en-US" smtClean="0"/>
              <a:t>11/19/2019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89E370-F09A-4F89-A56D-096879088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EE34A5-2BA4-40BA-9A61-A2D6A72ED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3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76A6AC-E7BA-4D3C-ACB8-E272345138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b="1" dirty="0"/>
              <a:t>Database Design and Implementation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89A4B10-A1D7-447D-A2B5-0E24B7DFC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Lecture 1</a:t>
            </a:r>
          </a:p>
          <a:p>
            <a:r>
              <a:rPr lang="en-US" b="1" dirty="0"/>
              <a:t>Introduction to Database Design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2843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xmlns="" id="{3B5997E9-3F85-4B22-84C8-FB2178EDA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Learning Outcomes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xmlns="" id="{81150BB9-1FD5-43E4-9A71-4B157CB94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dirty="0"/>
              <a:t>In this Lecture, you will learn:</a:t>
            </a:r>
          </a:p>
          <a:p>
            <a:pPr lvl="1" eaLnBrk="1" hangingPunct="1">
              <a:defRPr/>
            </a:pPr>
            <a:r>
              <a:rPr lang="en-US" altLang="en-US" dirty="0"/>
              <a:t>That successful database design must reflect the information system of which the database is a part</a:t>
            </a:r>
          </a:p>
          <a:p>
            <a:pPr lvl="1" eaLnBrk="1" hangingPunct="1">
              <a:defRPr/>
            </a:pPr>
            <a:r>
              <a:rPr lang="en-US" altLang="en-US" dirty="0"/>
              <a:t>That successful information systems are developed within a framework known as the Systems Development Life Cycle (SDLC)</a:t>
            </a:r>
          </a:p>
          <a:p>
            <a:pPr lvl="1"/>
            <a:r>
              <a:rPr lang="en-US" altLang="en-US" dirty="0"/>
              <a:t>That within the information system, the most successful databases are subject to frequent evaluation and revision within a framework known as the Database Life Cycle (DBLC)</a:t>
            </a:r>
          </a:p>
          <a:p>
            <a:pPr lvl="1"/>
            <a:r>
              <a:rPr lang="en-US" altLang="en-US" dirty="0"/>
              <a:t>How to conduct evaluation and revision within the SDLC and DBLC frameworks</a:t>
            </a:r>
          </a:p>
          <a:p>
            <a:pPr lvl="1"/>
            <a:r>
              <a:rPr lang="en-US" altLang="en-US" dirty="0"/>
              <a:t>About database design strategies: top-down vs. bottom-up design</a:t>
            </a:r>
          </a:p>
          <a:p>
            <a:pPr marL="457200" lvl="1" indent="0" eaLnBrk="1" hangingPunct="1">
              <a:buNone/>
              <a:defRPr/>
            </a:pPr>
            <a:endParaRPr lang="en-US" altLang="en-US" dirty="0"/>
          </a:p>
          <a:p>
            <a:pPr marL="109537" indent="0">
              <a:buNone/>
              <a:defRPr/>
            </a:pPr>
            <a:endParaRPr lang="en-US" altLang="en-US" dirty="0">
              <a:latin typeface="Times New Roman" charset="0"/>
              <a:cs typeface="Times New Roman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85E44DC-86EE-46DB-96A8-F5F8BF8E4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F33AB02-830C-4C4B-A49B-DD3C9CA6EEDC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78DCBB2F-EADB-400C-BEB9-05D6E88D43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 dirty="0"/>
              <a:t>Agenda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xmlns="" id="{C4577AC5-AA27-42FE-83E4-0438D9A77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This Lecture will cover:</a:t>
            </a:r>
          </a:p>
          <a:p>
            <a:pPr lvl="1"/>
            <a:r>
              <a:rPr lang="en-GB" altLang="en-US" dirty="0"/>
              <a:t>The Information System</a:t>
            </a:r>
          </a:p>
          <a:p>
            <a:pPr lvl="1"/>
            <a:r>
              <a:rPr lang="en-GB" altLang="en-US" dirty="0"/>
              <a:t>Systems Development Life Cycle</a:t>
            </a:r>
          </a:p>
          <a:p>
            <a:pPr lvl="1"/>
            <a:r>
              <a:rPr lang="en-GB" altLang="en-US" dirty="0"/>
              <a:t>Database Life Cycle  </a:t>
            </a:r>
          </a:p>
          <a:p>
            <a:pPr lvl="1"/>
            <a:r>
              <a:rPr lang="en-GB" altLang="en-US" dirty="0"/>
              <a:t>Database Design</a:t>
            </a:r>
          </a:p>
          <a:p>
            <a:pPr lvl="1"/>
            <a:r>
              <a:rPr lang="en-GB" altLang="en-US" dirty="0"/>
              <a:t>Approaches to Database Design</a:t>
            </a:r>
          </a:p>
          <a:p>
            <a:pPr lvl="1"/>
            <a:r>
              <a:rPr lang="en-GB" altLang="en-US" dirty="0"/>
              <a:t>Database Design Process</a:t>
            </a:r>
          </a:p>
          <a:p>
            <a:pPr lvl="1"/>
            <a:r>
              <a:rPr lang="en-GB" altLang="en-US" dirty="0"/>
              <a:t>Database Implementation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xmlns="" id="{D0BFF8A9-96E9-4732-A55C-70D1AF2AD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The Information System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xmlns="" id="{803DA204-9347-4F6A-A2ED-39BD81A66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Provides for data collection, storage, and retrieval</a:t>
            </a:r>
          </a:p>
          <a:p>
            <a:pPr eaLnBrk="1" hangingPunct="1"/>
            <a:r>
              <a:rPr lang="en-US" altLang="en-US"/>
              <a:t>Composed of:</a:t>
            </a:r>
          </a:p>
          <a:p>
            <a:pPr lvl="1" eaLnBrk="1" hangingPunct="1"/>
            <a:r>
              <a:rPr lang="en-US" altLang="en-US"/>
              <a:t>People, hardware, software</a:t>
            </a:r>
          </a:p>
          <a:p>
            <a:pPr lvl="1" eaLnBrk="1" hangingPunct="1"/>
            <a:r>
              <a:rPr lang="en-US" altLang="en-US"/>
              <a:t>Database(s), application programs, procedures</a:t>
            </a:r>
          </a:p>
          <a:p>
            <a:pPr eaLnBrk="1" hangingPunct="1"/>
            <a:r>
              <a:rPr lang="en-US" altLang="en-US" b="1"/>
              <a:t>Systems analysis</a:t>
            </a:r>
            <a:r>
              <a:rPr lang="en-US" altLang="en-US"/>
              <a:t>: Process that establishes need for and extent of information system</a:t>
            </a:r>
          </a:p>
          <a:p>
            <a:pPr eaLnBrk="1" hangingPunct="1"/>
            <a:r>
              <a:rPr lang="en-US" altLang="en-US" b="1"/>
              <a:t>Systems development</a:t>
            </a:r>
            <a:r>
              <a:rPr lang="en-US" altLang="en-US"/>
              <a:t>: Process of creating information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D45E472-01D3-49AD-B51D-B60355FA8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E19CF8E-18EF-423F-8F42-EB675119AEEE}" type="slidenum">
              <a:rPr lang="en-US" altLang="en-US"/>
              <a:pPr eaLnBrk="1" hangingPunct="1"/>
              <a:t>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xmlns="" id="{00DE7C66-F2D4-47C2-8489-20FE78F94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Performance Factors of an Information System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xmlns="" id="{1067071A-407C-4530-8474-F16F5E3B4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Database design and implementation</a:t>
            </a:r>
          </a:p>
          <a:p>
            <a:pPr eaLnBrk="1" hangingPunct="1"/>
            <a:r>
              <a:rPr lang="en-US" altLang="en-US"/>
              <a:t>Application design and implementation</a:t>
            </a:r>
          </a:p>
          <a:p>
            <a:pPr eaLnBrk="1" hangingPunct="1"/>
            <a:r>
              <a:rPr lang="en-US" altLang="en-US"/>
              <a:t>Administrative procedures</a:t>
            </a:r>
          </a:p>
          <a:p>
            <a:pPr eaLnBrk="1" hangingPunct="1"/>
            <a:r>
              <a:rPr lang="en-US" altLang="en-US" b="1"/>
              <a:t>Database development</a:t>
            </a:r>
            <a:r>
              <a:rPr lang="en-US" altLang="en-US"/>
              <a:t>: Process of database design and its 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E564CFB-8D17-4CFB-B701-A31F5366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07C4EF0-4D0E-424A-B3E4-E8E2DF809DF1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xmlns="" id="{8B41C32F-4041-4239-82FE-BBA3A4407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Systems Development Life Cycle (SDLC)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xmlns="" id="{C0D587DA-00D1-4CD5-8B83-479C1D82C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Traces history of an information system</a:t>
            </a:r>
          </a:p>
          <a:p>
            <a:pPr eaLnBrk="1" hangingPunct="1"/>
            <a:r>
              <a:rPr lang="en-US" altLang="en-US"/>
              <a:t>Provides a picture within which database design and application development are mapped out and evaluated</a:t>
            </a:r>
          </a:p>
          <a:p>
            <a:pPr eaLnBrk="1" hangingPunct="1"/>
            <a:r>
              <a:rPr lang="en-US" altLang="en-US"/>
              <a:t>Iterative rather than sequential process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BF829E9-3C88-41CD-9CE9-4C3AEFAC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AB55E02-F945-4B4E-8C17-3FBC1012B147}" type="slidenum">
              <a:rPr lang="en-US" altLang="en-US"/>
              <a:pPr eaLnBrk="1" hangingPunct="1"/>
              <a:t>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xmlns="" id="{4DB2F77E-3464-47CE-A491-AA565B0A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Systems Development Life Cycle (SDLC)</a:t>
            </a:r>
          </a:p>
        </p:txBody>
      </p:sp>
      <p:pic>
        <p:nvPicPr>
          <p:cNvPr id="19459" name="Picture 1">
            <a:extLst>
              <a:ext uri="{FF2B5EF4-FFF2-40B4-BE49-F238E27FC236}">
                <a16:creationId xmlns:a16="http://schemas.microsoft.com/office/drawing/2014/main" xmlns="" id="{1FC1B0B7-1A70-493F-9725-BC26B956F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900" y="1676400"/>
            <a:ext cx="5410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51041A9D-6506-4453-9BF4-43026D24F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6324600"/>
            <a:ext cx="18288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defRPr/>
            </a:pPr>
            <a:r>
              <a:rPr lang="en-US" altLang="en-US" sz="1000" kern="0" dirty="0">
                <a:solidFill>
                  <a:srgbClr val="000000"/>
                </a:solidFill>
                <a:cs typeface="Arial" charset="0"/>
              </a:rPr>
              <a:t>Cengage Learning © 2015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F987B8D-57C2-4E0E-B977-53B036BB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BE6D0B0-BC2E-47C8-9FC9-36D55D68A754}" type="slidenum">
              <a:rPr lang="en-US" altLang="en-US"/>
              <a:pPr eaLnBrk="1" hangingPunct="1"/>
              <a:t>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xmlns="" id="{106A89C6-C11A-46BC-9E0E-0ED2298A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The Database Life Cycle (DBLC)</a:t>
            </a:r>
          </a:p>
        </p:txBody>
      </p:sp>
      <p:pic>
        <p:nvPicPr>
          <p:cNvPr id="21507" name="Picture 1">
            <a:extLst>
              <a:ext uri="{FF2B5EF4-FFF2-40B4-BE49-F238E27FC236}">
                <a16:creationId xmlns:a16="http://schemas.microsoft.com/office/drawing/2014/main" xmlns="" id="{F555B774-F90E-40B9-9CB6-1E82104B1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1676400"/>
            <a:ext cx="530701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62D62F6F-E4AF-40DE-9B72-2824FB05B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6248400"/>
            <a:ext cx="18288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defRPr/>
            </a:pPr>
            <a:r>
              <a:rPr lang="en-US" altLang="en-US" sz="1000" kern="0" dirty="0">
                <a:solidFill>
                  <a:srgbClr val="000000"/>
                </a:solidFill>
                <a:cs typeface="Arial" charset="0"/>
              </a:rPr>
              <a:t>Cengage Learning © 2015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386391E-83EB-4D2E-BC71-E6B103A79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9D5D72B-A960-4B14-8436-9DDA98977352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xmlns="" id="{BD98F890-234B-4687-88C5-FD718241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Parallel Activities in the DBLC and the SDLC</a:t>
            </a:r>
          </a:p>
        </p:txBody>
      </p:sp>
      <p:pic>
        <p:nvPicPr>
          <p:cNvPr id="32771" name="Picture 1">
            <a:extLst>
              <a:ext uri="{FF2B5EF4-FFF2-40B4-BE49-F238E27FC236}">
                <a16:creationId xmlns:a16="http://schemas.microsoft.com/office/drawing/2014/main" xmlns="" id="{260BAEAA-7F7A-4DFB-BFD7-F65D7E126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575" y="1819276"/>
            <a:ext cx="6292850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957F235-15A2-4FA3-AF3F-3A6D41BF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0A2CBCD-EBDC-454A-8D9E-42EEA49B727C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382" y="249908"/>
            <a:ext cx="6443003" cy="6443003"/>
          </a:xfrm>
        </p:spPr>
      </p:pic>
    </p:spTree>
    <p:extLst>
      <p:ext uri="{BB962C8B-B14F-4D97-AF65-F5344CB8AC3E}">
        <p14:creationId xmlns:p14="http://schemas.microsoft.com/office/powerpoint/2010/main" val="156723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253" y="0"/>
            <a:ext cx="5192476" cy="6781841"/>
          </a:xfrm>
        </p:spPr>
      </p:pic>
    </p:spTree>
    <p:extLst>
      <p:ext uri="{BB962C8B-B14F-4D97-AF65-F5344CB8AC3E}">
        <p14:creationId xmlns:p14="http://schemas.microsoft.com/office/powerpoint/2010/main" val="99514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xmlns="" id="{2D58926F-B484-4FEB-BE36-3CDB5733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Database Design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xmlns="" id="{26AC6A08-7867-462E-9D1C-EBC3A69CB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process of creating a design that will support the enterprise’s mission statement and mission objectives for the required database system</a:t>
            </a:r>
            <a:endParaRPr lang="en-US" altLang="en-US" dirty="0"/>
          </a:p>
          <a:p>
            <a:pPr eaLnBrk="1" hangingPunct="1"/>
            <a:r>
              <a:rPr lang="en-US" altLang="en-US" dirty="0"/>
              <a:t>Supports company’s operations and objectives</a:t>
            </a:r>
          </a:p>
          <a:p>
            <a:pPr eaLnBrk="1" hangingPunct="1"/>
            <a:r>
              <a:rPr lang="en-US" altLang="en-US" dirty="0"/>
              <a:t>Checks the ultimate final product from all perspectives</a:t>
            </a:r>
          </a:p>
          <a:p>
            <a:pPr eaLnBrk="1" hangingPunct="1"/>
            <a:r>
              <a:rPr lang="en-US" altLang="en-US" dirty="0"/>
              <a:t>Pointers for examining completion procedures</a:t>
            </a:r>
          </a:p>
          <a:p>
            <a:pPr lvl="1" eaLnBrk="1" hangingPunct="1"/>
            <a:r>
              <a:rPr lang="en-US" altLang="en-US" dirty="0"/>
              <a:t>Data component is an element of whole system</a:t>
            </a:r>
          </a:p>
          <a:p>
            <a:pPr lvl="1" eaLnBrk="1" hangingPunct="1"/>
            <a:r>
              <a:rPr lang="en-US" altLang="en-US" dirty="0"/>
              <a:t>System analysts/programmers design procedures to convert data into information</a:t>
            </a:r>
          </a:p>
          <a:p>
            <a:pPr lvl="1" eaLnBrk="1" hangingPunct="1"/>
            <a:r>
              <a:rPr lang="en-US" altLang="en-US" dirty="0"/>
              <a:t>Database design is an iterative process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BC51556-A296-40BE-A945-67DAAE51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7E99BB3-B314-4D0A-9CE5-12554766AF1A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C0F608-ED10-4A78-B4A0-D2DA0132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Approaches to Database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374172-2AA6-4257-9972-CD989E16D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Bottom-up</a:t>
            </a:r>
          </a:p>
          <a:p>
            <a:pPr lvl="1"/>
            <a:r>
              <a:rPr lang="en-US" dirty="0"/>
              <a:t>Begins at the fundamental level of attributes</a:t>
            </a:r>
          </a:p>
          <a:p>
            <a:pPr lvl="2"/>
            <a:r>
              <a:rPr lang="en-US" dirty="0"/>
              <a:t>Entities</a:t>
            </a:r>
          </a:p>
          <a:p>
            <a:pPr lvl="2"/>
            <a:r>
              <a:rPr lang="en-US" dirty="0"/>
              <a:t>Relationships</a:t>
            </a:r>
          </a:p>
          <a:p>
            <a:pPr lvl="1"/>
            <a:r>
              <a:rPr lang="en-US" dirty="0"/>
              <a:t>Appropriate for the design of simple databases with a relatively small number of attributes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Top-down</a:t>
            </a:r>
          </a:p>
          <a:p>
            <a:pPr marL="685800" lvl="2">
              <a:spcBef>
                <a:spcPts val="1000"/>
              </a:spcBef>
            </a:pPr>
            <a:r>
              <a:rPr lang="en-US" dirty="0"/>
              <a:t>starts with the development of data model</a:t>
            </a:r>
          </a:p>
          <a:p>
            <a:pPr marL="685800" lvl="2">
              <a:spcBef>
                <a:spcPts val="1000"/>
              </a:spcBef>
            </a:pPr>
            <a:r>
              <a:rPr lang="en-US" dirty="0"/>
              <a:t>applies successive top-down refinements to identify lower-level entities, relationships, and the associated attributes</a:t>
            </a:r>
          </a:p>
          <a:p>
            <a:pPr marL="685800" lvl="2">
              <a:spcBef>
                <a:spcPts val="1000"/>
              </a:spcBef>
            </a:pPr>
            <a:r>
              <a:rPr lang="en-US" dirty="0"/>
              <a:t>illustrated using the concepts of the Entity-Relationship (ER) model</a:t>
            </a:r>
          </a:p>
        </p:txBody>
      </p:sp>
    </p:spTree>
    <p:extLst>
      <p:ext uri="{BB962C8B-B14F-4D97-AF65-F5344CB8AC3E}">
        <p14:creationId xmlns:p14="http://schemas.microsoft.com/office/powerpoint/2010/main" val="4071328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xmlns="" id="{085131DB-4635-40F0-B668-3BDAB35F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altLang="en-US" b="1" dirty="0"/>
              <a:t>Database Design Process</a:t>
            </a:r>
            <a:endParaRPr lang="en-US" altLang="en-US" b="1" dirty="0"/>
          </a:p>
        </p:txBody>
      </p:sp>
      <p:grpSp>
        <p:nvGrpSpPr>
          <p:cNvPr id="26627" name="Group 39">
            <a:extLst>
              <a:ext uri="{FF2B5EF4-FFF2-40B4-BE49-F238E27FC236}">
                <a16:creationId xmlns:a16="http://schemas.microsoft.com/office/drawing/2014/main" xmlns="" id="{5DD04D7D-36A8-4A38-9954-FF386EC6C53F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676400"/>
            <a:ext cx="8458200" cy="4876800"/>
            <a:chOff x="152400" y="1676400"/>
            <a:chExt cx="8458200" cy="48768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39A2F04A-876A-4583-9572-44A8C45B1433}"/>
                </a:ext>
              </a:extLst>
            </p:cNvPr>
            <p:cNvSpPr/>
            <p:nvPr/>
          </p:nvSpPr>
          <p:spPr>
            <a:xfrm>
              <a:off x="2438400" y="5638800"/>
              <a:ext cx="6172200" cy="914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4BB59B20-4BE5-4EA3-A6DA-87D5CC4D74B1}"/>
                </a:ext>
              </a:extLst>
            </p:cNvPr>
            <p:cNvSpPr/>
            <p:nvPr/>
          </p:nvSpPr>
          <p:spPr>
            <a:xfrm>
              <a:off x="2401888" y="1676400"/>
              <a:ext cx="6205537" cy="12001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318" name="TextBox 3">
              <a:extLst>
                <a:ext uri="{FF2B5EF4-FFF2-40B4-BE49-F238E27FC236}">
                  <a16:creationId xmlns:a16="http://schemas.microsoft.com/office/drawing/2014/main" xmlns="" id="{C8B85739-486F-4ECA-8DA7-EFFB731C8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1752600"/>
              <a:ext cx="6096000" cy="1066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3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85750" indent="-285750">
                <a:buFont typeface="Arial" charset="0"/>
                <a:buChar char="•"/>
                <a:defRPr/>
              </a:pPr>
              <a:r>
                <a:rPr lang="en-US" sz="1600" b="1" dirty="0">
                  <a:cs typeface="Arial" charset="0"/>
                </a:rPr>
                <a:t>Data analysis and requirements</a:t>
              </a:r>
            </a:p>
            <a:p>
              <a:pPr marL="285750" indent="-285750">
                <a:buFont typeface="Arial" charset="0"/>
                <a:buChar char="•"/>
                <a:defRPr/>
              </a:pPr>
              <a:r>
                <a:rPr lang="en-US" sz="1600" b="1" dirty="0">
                  <a:cs typeface="Arial" charset="0"/>
                </a:rPr>
                <a:t>Entity Relationship modeling and normalization</a:t>
              </a:r>
            </a:p>
            <a:p>
              <a:pPr marL="285750" indent="-285750">
                <a:buFont typeface="Arial" charset="0"/>
                <a:buChar char="•"/>
                <a:defRPr/>
              </a:pPr>
              <a:r>
                <a:rPr lang="en-US" sz="1600" b="1" dirty="0">
                  <a:cs typeface="Arial" charset="0"/>
                </a:rPr>
                <a:t>Data model verification</a:t>
              </a:r>
            </a:p>
            <a:p>
              <a:pPr marL="285750" indent="-285750">
                <a:buFont typeface="Arial" charset="0"/>
                <a:buChar char="•"/>
                <a:defRPr/>
              </a:pPr>
              <a:r>
                <a:rPr lang="en-US" sz="1600" b="1" dirty="0">
                  <a:cs typeface="Arial" charset="0"/>
                </a:rPr>
                <a:t>Distributed database design</a:t>
              </a:r>
              <a:endParaRPr lang="en-US" sz="1600" dirty="0">
                <a:cs typeface="Arial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E52C092E-554C-45C7-AF06-C301143F56CB}"/>
                </a:ext>
              </a:extLst>
            </p:cNvPr>
            <p:cNvSpPr/>
            <p:nvPr/>
          </p:nvSpPr>
          <p:spPr>
            <a:xfrm>
              <a:off x="2438400" y="4114800"/>
              <a:ext cx="6172200" cy="12001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320" name="TextBox 4">
              <a:extLst>
                <a:ext uri="{FF2B5EF4-FFF2-40B4-BE49-F238E27FC236}">
                  <a16:creationId xmlns:a16="http://schemas.microsoft.com/office/drawing/2014/main" xmlns="" id="{EF5EC68F-6DD9-4D77-8D9D-514F15453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4288" y="4179888"/>
              <a:ext cx="6056312" cy="107791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3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85750" indent="-285750">
                <a:buFont typeface="Arial" charset="0"/>
                <a:buChar char="•"/>
                <a:defRPr/>
              </a:pPr>
              <a:r>
                <a:rPr lang="en-US" sz="1600" b="1" dirty="0">
                  <a:cs typeface="Arial" charset="0"/>
                </a:rPr>
                <a:t>Map conceptual model to logical model components</a:t>
              </a:r>
            </a:p>
            <a:p>
              <a:pPr marL="285750" indent="-285750">
                <a:buFont typeface="Arial" charset="0"/>
                <a:buChar char="•"/>
                <a:defRPr/>
              </a:pPr>
              <a:r>
                <a:rPr lang="en-US" sz="1600" b="1" dirty="0">
                  <a:cs typeface="Arial" charset="0"/>
                </a:rPr>
                <a:t>Validate logical model using normalization</a:t>
              </a:r>
            </a:p>
            <a:p>
              <a:pPr marL="285750" indent="-285750">
                <a:buFont typeface="Arial" charset="0"/>
                <a:buChar char="•"/>
                <a:defRPr/>
              </a:pPr>
              <a:r>
                <a:rPr lang="en-US" sz="1600" b="1" dirty="0">
                  <a:cs typeface="Arial" charset="0"/>
                </a:rPr>
                <a:t>Validate logical model integrity constraints</a:t>
              </a:r>
            </a:p>
            <a:p>
              <a:pPr marL="285750" indent="-285750">
                <a:buFont typeface="Arial" charset="0"/>
                <a:buChar char="•"/>
                <a:defRPr/>
              </a:pPr>
              <a:r>
                <a:rPr lang="en-US" sz="1600" b="1" dirty="0">
                  <a:cs typeface="Arial" charset="0"/>
                </a:rPr>
                <a:t>Validate logical model against user requirements</a:t>
              </a:r>
              <a:endParaRPr lang="en-US" sz="1600" dirty="0">
                <a:cs typeface="Arial" charset="0"/>
              </a:endParaRPr>
            </a:p>
          </p:txBody>
        </p:sp>
        <p:sp>
          <p:nvSpPr>
            <p:cNvPr id="13321" name="TextBox 7">
              <a:extLst>
                <a:ext uri="{FF2B5EF4-FFF2-40B4-BE49-F238E27FC236}">
                  <a16:creationId xmlns:a16="http://schemas.microsoft.com/office/drawing/2014/main" xmlns="" id="{CDF2F497-5768-4059-8504-AC6C9E55C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4450" y="5691188"/>
              <a:ext cx="6026150" cy="86201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3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85750" indent="-285750">
                <a:buFont typeface="Arial" charset="0"/>
                <a:buChar char="•"/>
                <a:defRPr/>
              </a:pPr>
              <a:r>
                <a:rPr lang="en-US" sz="1600" b="1">
                  <a:cs typeface="Arial" charset="0"/>
                </a:rPr>
                <a:t>Define data storage organization</a:t>
              </a:r>
            </a:p>
            <a:p>
              <a:pPr marL="285750" indent="-285750">
                <a:buFont typeface="Arial" charset="0"/>
                <a:buChar char="•"/>
                <a:defRPr/>
              </a:pPr>
              <a:r>
                <a:rPr lang="en-US" sz="1600" b="1">
                  <a:cs typeface="Arial" charset="0"/>
                </a:rPr>
                <a:t>Define integrity and security measures</a:t>
              </a:r>
            </a:p>
            <a:p>
              <a:pPr marL="285750" indent="-285750">
                <a:buFont typeface="Arial" charset="0"/>
                <a:buChar char="•"/>
                <a:defRPr/>
              </a:pPr>
              <a:r>
                <a:rPr lang="en-US" sz="1600" b="1">
                  <a:cs typeface="Arial" charset="0"/>
                </a:rPr>
                <a:t>Determine performance measures</a:t>
              </a:r>
              <a:endParaRPr lang="en-US" sz="1600">
                <a:cs typeface="Arial" charset="0"/>
              </a:endParaRPr>
            </a:p>
          </p:txBody>
        </p:sp>
        <p:sp>
          <p:nvSpPr>
            <p:cNvPr id="10" name="Flowchart: Decision 9">
              <a:extLst>
                <a:ext uri="{FF2B5EF4-FFF2-40B4-BE49-F238E27FC236}">
                  <a16:creationId xmlns:a16="http://schemas.microsoft.com/office/drawing/2014/main" xmlns="" id="{4E67E05C-CEE8-4F46-BDAD-9EEA86F55F47}"/>
                </a:ext>
              </a:extLst>
            </p:cNvPr>
            <p:cNvSpPr/>
            <p:nvPr/>
          </p:nvSpPr>
          <p:spPr>
            <a:xfrm>
              <a:off x="4267200" y="3200400"/>
              <a:ext cx="2514600" cy="609600"/>
            </a:xfrm>
            <a:prstGeom prst="flowChartDecision">
              <a:avLst/>
            </a:prstGeom>
            <a:solidFill>
              <a:schemeClr val="accent4">
                <a:lumMod val="40000"/>
                <a:lumOff val="60000"/>
              </a:schemeClr>
            </a:solidFill>
            <a:ln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6635" name="TextBox 10">
              <a:extLst>
                <a:ext uri="{FF2B5EF4-FFF2-40B4-BE49-F238E27FC236}">
                  <a16:creationId xmlns:a16="http://schemas.microsoft.com/office/drawing/2014/main" xmlns="" id="{D29FF46E-EE0F-4ECB-89F4-62DC43145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600" y="3225224"/>
              <a:ext cx="152400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ts val="300"/>
                </a:spcBef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ts val="300"/>
                </a:spcBef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§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ts val="300"/>
                </a:spcBef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ts val="300"/>
                </a:spcBef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§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ts val="300"/>
                </a:spcBef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ts val="600"/>
                </a:spcAft>
                <a:buClr>
                  <a:srgbClr val="0070C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600" b="1">
                  <a:latin typeface="Georgia" panose="02040502050405020303" pitchFamily="18" charset="0"/>
                  <a:cs typeface="Arial" panose="020B0604020202020204" pitchFamily="34" charset="0"/>
                </a:rPr>
                <a:t>Select the DBMS</a:t>
              </a:r>
              <a:endParaRPr lang="en-US" altLang="en-US" sz="1600">
                <a:latin typeface="Georgia" panose="020405020504050203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23BF1343-7D7D-4715-B143-346582283957}"/>
                </a:ext>
              </a:extLst>
            </p:cNvPr>
            <p:cNvSpPr txBox="1"/>
            <p:nvPr/>
          </p:nvSpPr>
          <p:spPr>
            <a:xfrm>
              <a:off x="914400" y="1676400"/>
              <a:ext cx="1447800" cy="58477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600" b="1" dirty="0"/>
                <a:t>Conceptual</a:t>
              </a:r>
            </a:p>
            <a:p>
              <a:pPr algn="ctr">
                <a:defRPr/>
              </a:pPr>
              <a:r>
                <a:rPr lang="en-US" sz="1600" b="1" dirty="0"/>
                <a:t>Design</a:t>
              </a:r>
              <a:endParaRPr lang="en-US" sz="16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80AAC2BC-8715-4338-B559-C64AA7D89718}"/>
                </a:ext>
              </a:extLst>
            </p:cNvPr>
            <p:cNvSpPr txBox="1"/>
            <p:nvPr/>
          </p:nvSpPr>
          <p:spPr>
            <a:xfrm>
              <a:off x="914400" y="3225225"/>
              <a:ext cx="1447800" cy="584775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sz="1600" b="1" dirty="0"/>
                <a:t>DBMS</a:t>
              </a:r>
            </a:p>
            <a:p>
              <a:pPr>
                <a:defRPr/>
              </a:pPr>
              <a:r>
                <a:rPr lang="en-US" sz="1600" b="1" dirty="0"/>
                <a:t>Selection</a:t>
              </a:r>
              <a:endParaRPr lang="en-US" sz="16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A1F28E95-2ABC-48FA-8AC9-690AFD2A26A7}"/>
                </a:ext>
              </a:extLst>
            </p:cNvPr>
            <p:cNvSpPr txBox="1"/>
            <p:nvPr/>
          </p:nvSpPr>
          <p:spPr>
            <a:xfrm>
              <a:off x="954771" y="4114800"/>
              <a:ext cx="1447800" cy="58477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600" b="1" dirty="0"/>
                <a:t>Logical</a:t>
              </a:r>
            </a:p>
            <a:p>
              <a:pPr algn="ctr">
                <a:defRPr/>
              </a:pPr>
              <a:r>
                <a:rPr lang="en-US" sz="1600" b="1" dirty="0"/>
                <a:t>Design</a:t>
              </a:r>
              <a:endParaRPr lang="en-US" sz="16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6F6ACC80-F39A-4D18-85FB-CBD30A73042D}"/>
                </a:ext>
              </a:extLst>
            </p:cNvPr>
            <p:cNvSpPr txBox="1"/>
            <p:nvPr/>
          </p:nvSpPr>
          <p:spPr>
            <a:xfrm>
              <a:off x="950222" y="5638800"/>
              <a:ext cx="1447800" cy="584775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600" b="1" dirty="0"/>
                <a:t>Physical</a:t>
              </a:r>
            </a:p>
            <a:p>
              <a:pPr algn="ctr">
                <a:defRPr/>
              </a:pPr>
              <a:r>
                <a:rPr lang="en-US" sz="1600" b="1" dirty="0"/>
                <a:t>Design</a:t>
              </a:r>
              <a:endParaRPr lang="en-US" sz="1600" dirty="0"/>
            </a:p>
          </p:txBody>
        </p:sp>
        <p:sp>
          <p:nvSpPr>
            <p:cNvPr id="17" name="Down Arrow 16">
              <a:extLst>
                <a:ext uri="{FF2B5EF4-FFF2-40B4-BE49-F238E27FC236}">
                  <a16:creationId xmlns:a16="http://schemas.microsoft.com/office/drawing/2014/main" xmlns="" id="{B5D6ED65-25B2-4E6C-A674-986DDA62817A}"/>
                </a:ext>
              </a:extLst>
            </p:cNvPr>
            <p:cNvSpPr/>
            <p:nvPr/>
          </p:nvSpPr>
          <p:spPr>
            <a:xfrm>
              <a:off x="5410200" y="5314950"/>
              <a:ext cx="228600" cy="2921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xmlns="" id="{5F6F515C-D034-4800-BF9B-95A3D817CF0E}"/>
                </a:ext>
              </a:extLst>
            </p:cNvPr>
            <p:cNvSpPr/>
            <p:nvPr/>
          </p:nvSpPr>
          <p:spPr>
            <a:xfrm>
              <a:off x="5410200" y="2898775"/>
              <a:ext cx="228600" cy="2921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Down Arrow 23">
              <a:extLst>
                <a:ext uri="{FF2B5EF4-FFF2-40B4-BE49-F238E27FC236}">
                  <a16:creationId xmlns:a16="http://schemas.microsoft.com/office/drawing/2014/main" xmlns="" id="{8B60974D-F513-491D-ADDC-6020C94921C6}"/>
                </a:ext>
              </a:extLst>
            </p:cNvPr>
            <p:cNvSpPr/>
            <p:nvPr/>
          </p:nvSpPr>
          <p:spPr>
            <a:xfrm>
              <a:off x="5411788" y="3810000"/>
              <a:ext cx="228600" cy="2921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6" name="Right Arrow 25">
              <a:extLst>
                <a:ext uri="{FF2B5EF4-FFF2-40B4-BE49-F238E27FC236}">
                  <a16:creationId xmlns:a16="http://schemas.microsoft.com/office/drawing/2014/main" xmlns="" id="{DCA6BCF2-628F-44A2-88C2-417B0145C641}"/>
                </a:ext>
              </a:extLst>
            </p:cNvPr>
            <p:cNvSpPr/>
            <p:nvPr/>
          </p:nvSpPr>
          <p:spPr>
            <a:xfrm>
              <a:off x="228600" y="4179888"/>
              <a:ext cx="722313" cy="379412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" name="Bent Arrow 33">
              <a:extLst>
                <a:ext uri="{FF2B5EF4-FFF2-40B4-BE49-F238E27FC236}">
                  <a16:creationId xmlns:a16="http://schemas.microsoft.com/office/drawing/2014/main" xmlns="" id="{E5BADC2C-957B-46A0-9F41-A7272DCEA6E9}"/>
                </a:ext>
              </a:extLst>
            </p:cNvPr>
            <p:cNvSpPr/>
            <p:nvPr/>
          </p:nvSpPr>
          <p:spPr>
            <a:xfrm>
              <a:off x="152400" y="1752600"/>
              <a:ext cx="762000" cy="4178300"/>
            </a:xfrm>
            <a:prstGeom prst="ben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xmlns="" id="{5954B4C8-E04E-45E5-B21A-C6FAE2CD0DDC}"/>
                </a:ext>
              </a:extLst>
            </p:cNvPr>
            <p:cNvCxnSpPr/>
            <p:nvPr/>
          </p:nvCxnSpPr>
          <p:spPr>
            <a:xfrm>
              <a:off x="152400" y="5930900"/>
              <a:ext cx="798513" cy="0"/>
            </a:xfrm>
            <a:prstGeom prst="line">
              <a:avLst/>
            </a:prstGeom>
            <a:ln w="2159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A74962-B140-42DC-878A-9D27091C3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Phases of Database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431D24-ED56-4B93-9957-2E056A773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Conceptual database design</a:t>
            </a:r>
          </a:p>
          <a:p>
            <a:r>
              <a:rPr lang="en-US" dirty="0"/>
              <a:t>Logical database design</a:t>
            </a:r>
          </a:p>
          <a:p>
            <a:r>
              <a:rPr lang="en-US" dirty="0"/>
              <a:t>Physical database design</a:t>
            </a:r>
          </a:p>
        </p:txBody>
      </p:sp>
    </p:spTree>
    <p:extLst>
      <p:ext uri="{BB962C8B-B14F-4D97-AF65-F5344CB8AC3E}">
        <p14:creationId xmlns:p14="http://schemas.microsoft.com/office/powerpoint/2010/main" val="224866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922" y="-112541"/>
            <a:ext cx="12380085" cy="7074334"/>
          </a:xfrm>
        </p:spPr>
      </p:pic>
    </p:spTree>
    <p:extLst>
      <p:ext uri="{BB962C8B-B14F-4D97-AF65-F5344CB8AC3E}">
        <p14:creationId xmlns:p14="http://schemas.microsoft.com/office/powerpoint/2010/main" val="54365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xmlns="" id="{D13EE46F-5FC4-484A-AE56-599AA057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Conceptual Design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xmlns="" id="{6B5ECE3A-F7F6-4483-AD22-7F45FA1D3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Designs a database independent of database software and physical details</a:t>
            </a:r>
          </a:p>
          <a:p>
            <a:pPr eaLnBrk="1" hangingPunct="1"/>
            <a:r>
              <a:rPr lang="en-US" altLang="en-US" dirty="0"/>
              <a:t>Conceptual data model - Describes main data entities, attributes, relationships, and constrains</a:t>
            </a:r>
          </a:p>
          <a:p>
            <a:pPr eaLnBrk="1" hangingPunct="1"/>
            <a:r>
              <a:rPr lang="en-US" altLang="en-US" dirty="0"/>
              <a:t>Designed as software and hardware independent</a:t>
            </a:r>
          </a:p>
          <a:p>
            <a:pPr eaLnBrk="1" hangingPunct="1"/>
            <a:r>
              <a:rPr lang="en-US" altLang="en-US" b="1" dirty="0"/>
              <a:t>Minimum data rule</a:t>
            </a:r>
            <a:r>
              <a:rPr lang="en-US" altLang="en-US" dirty="0"/>
              <a:t>: All that is needed is there, and all that is there is needed</a:t>
            </a:r>
            <a:endParaRPr lang="en-US" alt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4C154F6-CFD4-4465-B436-CBB7494A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CA28F5B-D233-4661-97D4-CEB9881E9599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292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xmlns="" id="{9A128B0E-F1B9-4705-849B-42B094D8C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Conceptual Design Steps</a:t>
            </a:r>
          </a:p>
        </p:txBody>
      </p:sp>
      <p:pic>
        <p:nvPicPr>
          <p:cNvPr id="34819" name="Picture 1">
            <a:extLst>
              <a:ext uri="{FF2B5EF4-FFF2-40B4-BE49-F238E27FC236}">
                <a16:creationId xmlns:a16="http://schemas.microsoft.com/office/drawing/2014/main" xmlns="" id="{D04F1470-7D9A-47ED-889A-702407DEB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925763"/>
            <a:ext cx="85661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E0F444DE-3487-4ADF-9215-60A48B21E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114800"/>
            <a:ext cx="18288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defRPr/>
            </a:pPr>
            <a:r>
              <a:rPr lang="en-US" altLang="en-US" sz="1000" kern="0" dirty="0">
                <a:solidFill>
                  <a:srgbClr val="000000"/>
                </a:solidFill>
                <a:cs typeface="Arial" charset="0"/>
              </a:rPr>
              <a:t>Cengage Learning © 2015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5E149C5-4EE8-48D8-A129-732E08D47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7E77E0C-BAC3-47CA-AED0-2C8CD74480CF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xmlns="" id="{3CCB15EE-E9FE-460D-A9AD-3347BB73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Developing the Conceptual Model Using ER Diagrams</a:t>
            </a:r>
          </a:p>
        </p:txBody>
      </p:sp>
      <p:pic>
        <p:nvPicPr>
          <p:cNvPr id="36867" name="Picture 1">
            <a:extLst>
              <a:ext uri="{FF2B5EF4-FFF2-40B4-BE49-F238E27FC236}">
                <a16:creationId xmlns:a16="http://schemas.microsoft.com/office/drawing/2014/main" xmlns="" id="{6CBE3D4B-D440-4198-88D9-87B5C35B7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2819400"/>
            <a:ext cx="86931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9DB5A104-AB63-4E79-A8B5-B7F3D548C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5029200"/>
            <a:ext cx="18288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defRPr/>
            </a:pPr>
            <a:r>
              <a:rPr lang="en-US" altLang="en-US" sz="1000" kern="0" dirty="0">
                <a:solidFill>
                  <a:srgbClr val="000000"/>
                </a:solidFill>
                <a:cs typeface="Arial" charset="0"/>
              </a:rPr>
              <a:t>Cengage Learning © 2015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A8F127D-F5B0-4E4A-9825-2CD8987B1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6084125-4B73-48C9-95A1-8DF63FDAD1E4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xmlns="" id="{4237AE4A-FDD3-4210-94F4-C3067774C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Conceptual Design Tools and Information Sources</a:t>
            </a:r>
          </a:p>
        </p:txBody>
      </p:sp>
      <p:pic>
        <p:nvPicPr>
          <p:cNvPr id="38915" name="Picture 1">
            <a:extLst>
              <a:ext uri="{FF2B5EF4-FFF2-40B4-BE49-F238E27FC236}">
                <a16:creationId xmlns:a16="http://schemas.microsoft.com/office/drawing/2014/main" xmlns="" id="{2F11BDF9-88FD-47C9-B526-5AFF8E2F9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75" y="1752600"/>
            <a:ext cx="827405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991162F-AAFE-4B4F-8850-3FA80FB8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1EA51A4-B6A7-47F4-8D14-3EFFBF69C2A1}" type="slidenum">
              <a:rPr lang="en-US" altLang="en-US"/>
              <a:pPr eaLnBrk="1" hangingPunct="1"/>
              <a:t>20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A74962-B140-42DC-878A-9D27091C3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Logical 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431D24-ED56-4B93-9957-2E056A773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en-US" sz="2800" dirty="0"/>
              <a:t>The process of constructing a model of the data used in an enterprise based on a specific data model, but independent of a particular DBMS and other physical considerations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Based on the target data model for the database (for example, the relational data model)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Any other aspects of the chosen DBMS and, in particular, any physical details, such as storage structures or indexes are ignored</a:t>
            </a:r>
          </a:p>
        </p:txBody>
      </p:sp>
    </p:spTree>
    <p:extLst>
      <p:ext uri="{BB962C8B-B14F-4D97-AF65-F5344CB8AC3E}">
        <p14:creationId xmlns:p14="http://schemas.microsoft.com/office/powerpoint/2010/main" val="25756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xmlns="" id="{1D918783-1EB9-4481-8B5D-114C3D11F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Logical Design Steps</a:t>
            </a:r>
          </a:p>
        </p:txBody>
      </p:sp>
      <p:pic>
        <p:nvPicPr>
          <p:cNvPr id="47107" name="Picture 1">
            <a:extLst>
              <a:ext uri="{FF2B5EF4-FFF2-40B4-BE49-F238E27FC236}">
                <a16:creationId xmlns:a16="http://schemas.microsoft.com/office/drawing/2014/main" xmlns="" id="{7DB38B1B-5D8D-4CC2-A45F-5E3CD2D89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62288"/>
            <a:ext cx="8686800" cy="120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5B15BFA7-7920-4CDF-B5E8-CB6310241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343400"/>
            <a:ext cx="18288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defRPr/>
            </a:pPr>
            <a:r>
              <a:rPr lang="en-US" altLang="en-US" sz="1000" kern="0" dirty="0">
                <a:solidFill>
                  <a:srgbClr val="000000"/>
                </a:solidFill>
                <a:cs typeface="Arial" charset="0"/>
              </a:rPr>
              <a:t>Cengage Learning © 2015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B28E6CE-5E6E-478D-954B-CE14E193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1A63629-9E5F-41C8-B14F-36BDA2936A57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xmlns="" id="{89E1BB52-6C33-473F-823A-EC294646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Mapping the Conceptual Model to the Relational Model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3FF8FA21-89EB-4B78-B086-A10634852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495800"/>
            <a:ext cx="18288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defRPr/>
            </a:pPr>
            <a:r>
              <a:rPr lang="en-US" altLang="en-US" sz="1000" kern="0" dirty="0">
                <a:solidFill>
                  <a:srgbClr val="000000"/>
                </a:solidFill>
                <a:cs typeface="Arial" charset="0"/>
              </a:rPr>
              <a:t>Cengage Learning © 2015 </a:t>
            </a:r>
          </a:p>
        </p:txBody>
      </p:sp>
      <p:pic>
        <p:nvPicPr>
          <p:cNvPr id="48132" name="Picture 1">
            <a:extLst>
              <a:ext uri="{FF2B5EF4-FFF2-40B4-BE49-F238E27FC236}">
                <a16:creationId xmlns:a16="http://schemas.microsoft.com/office/drawing/2014/main" xmlns="" id="{64E6E84C-FD37-4814-B297-06B74CD34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971800"/>
            <a:ext cx="86868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04A4279B-F719-46AA-B7E9-EBF20873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6BB742C-2A18-41A3-AD52-660C0D91C5AC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xmlns="" id="{859F91FD-8E29-4DE6-98E2-B6B533202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/>
              <a:t>Difference between Conceptual and Logical Design</a:t>
            </a:r>
          </a:p>
        </p:txBody>
      </p:sp>
      <p:sp>
        <p:nvSpPr>
          <p:cNvPr id="25603" name="Rectangle 5">
            <a:extLst>
              <a:ext uri="{FF2B5EF4-FFF2-40B4-BE49-F238E27FC236}">
                <a16:creationId xmlns:a16="http://schemas.microsoft.com/office/drawing/2014/main" xmlns="" id="{AC5E5D7B-9DD9-4083-8CF3-FA293FAD18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6319" y="1916114"/>
            <a:ext cx="10089223" cy="4319587"/>
          </a:xfrm>
        </p:spPr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en-US" altLang="en-US" sz="2800" dirty="0"/>
              <a:t>Conceptual design is independent of data model and target DBMS</a:t>
            </a:r>
          </a:p>
          <a:p>
            <a:pPr marL="228600" lvl="1">
              <a:spcBef>
                <a:spcPts val="1000"/>
              </a:spcBef>
            </a:pPr>
            <a:endParaRPr lang="en-US" altLang="en-US" sz="2800" dirty="0"/>
          </a:p>
          <a:p>
            <a:pPr marL="228600" lvl="1">
              <a:spcBef>
                <a:spcPts val="1000"/>
              </a:spcBef>
            </a:pPr>
            <a:r>
              <a:rPr lang="en-US" altLang="en-US" sz="2800" dirty="0"/>
              <a:t>Logical model takes account of data model (but not DBMS)</a:t>
            </a:r>
          </a:p>
          <a:p>
            <a:pPr marL="228600" lvl="1">
              <a:spcBef>
                <a:spcPts val="1000"/>
              </a:spcBef>
            </a:pPr>
            <a:endParaRPr lang="en-US" altLang="en-US" sz="2800" dirty="0"/>
          </a:p>
          <a:p>
            <a:pPr marL="228600" lvl="1">
              <a:spcBef>
                <a:spcPts val="1000"/>
              </a:spcBef>
            </a:pPr>
            <a:r>
              <a:rPr lang="en-US" altLang="en-US" sz="2800" dirty="0"/>
              <a:t>Thus in logical design we know we are dealing with, for example, a relational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A74962-B140-42DC-878A-9D27091C3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Physical 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431D24-ED56-4B93-9957-2E056A773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lvl="1">
              <a:spcBef>
                <a:spcPts val="1000"/>
              </a:spcBef>
            </a:pPr>
            <a:r>
              <a:rPr lang="en-US" sz="2800" dirty="0"/>
              <a:t>The process of producing a description of the implementation of the database on secondary storage; it describes the base relations, file organizations, and indexes used to achieve efficient access to the data, and any associated integrity constraints and security measures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Physical design is tailored to a specific DBMS system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For the relational model</a:t>
            </a:r>
          </a:p>
          <a:p>
            <a:pPr marL="685800" lvl="3">
              <a:spcBef>
                <a:spcPts val="1000"/>
              </a:spcBef>
            </a:pPr>
            <a:r>
              <a:rPr lang="en-US" sz="2600" dirty="0"/>
              <a:t>creating a set of relational tables and the constraints</a:t>
            </a:r>
          </a:p>
          <a:p>
            <a:pPr marL="685800" lvl="3">
              <a:spcBef>
                <a:spcPts val="1000"/>
              </a:spcBef>
            </a:pPr>
            <a:r>
              <a:rPr lang="en-US" sz="2600" dirty="0"/>
              <a:t>identifying the specific storage structures and access methods for the data</a:t>
            </a:r>
          </a:p>
          <a:p>
            <a:pPr marL="685800" lvl="3">
              <a:spcBef>
                <a:spcPts val="1000"/>
              </a:spcBef>
            </a:pPr>
            <a:r>
              <a:rPr lang="en-US" sz="2600" dirty="0"/>
              <a:t>designing security protection for the system</a:t>
            </a:r>
          </a:p>
        </p:txBody>
      </p:sp>
    </p:spTree>
    <p:extLst>
      <p:ext uri="{BB962C8B-B14F-4D97-AF65-F5344CB8AC3E}">
        <p14:creationId xmlns:p14="http://schemas.microsoft.com/office/powerpoint/2010/main" val="158935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xmlns="" id="{AA1FB8C0-F9E9-4115-BC1D-FAEBA0671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/>
              <a:t>Physical Design Steps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94F89B8B-8FEB-41E5-943A-41F65785C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267200"/>
            <a:ext cx="18288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defRPr/>
            </a:pPr>
            <a:r>
              <a:rPr lang="en-US" altLang="en-US" sz="1000" kern="0" dirty="0">
                <a:solidFill>
                  <a:srgbClr val="000000"/>
                </a:solidFill>
                <a:cs typeface="Arial" charset="0"/>
              </a:rPr>
              <a:t>Cengage Learning © 2015 </a:t>
            </a:r>
          </a:p>
        </p:txBody>
      </p:sp>
      <p:pic>
        <p:nvPicPr>
          <p:cNvPr id="49156" name="Picture 1">
            <a:extLst>
              <a:ext uri="{FF2B5EF4-FFF2-40B4-BE49-F238E27FC236}">
                <a16:creationId xmlns:a16="http://schemas.microsoft.com/office/drawing/2014/main" xmlns="" id="{856EC420-562D-4E54-99D9-1527813CB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194050"/>
            <a:ext cx="8839200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DE0A801-5366-42FB-B348-45B11BD54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15E37EF-DDF5-4E43-B96A-D42B6A756EA1}" type="slidenum">
              <a:rPr lang="en-US" altLang="en-US"/>
              <a:pPr eaLnBrk="1" hangingPunct="1"/>
              <a:t>26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xmlns="" id="{322D17A4-0F79-4255-82D5-E0BFD6E58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Top-down vs. Bottom-up Design Sequencing</a:t>
            </a:r>
          </a:p>
        </p:txBody>
      </p:sp>
      <p:pic>
        <p:nvPicPr>
          <p:cNvPr id="52227" name="Picture 1">
            <a:extLst>
              <a:ext uri="{FF2B5EF4-FFF2-40B4-BE49-F238E27FC236}">
                <a16:creationId xmlns:a16="http://schemas.microsoft.com/office/drawing/2014/main" xmlns="" id="{CEA2D046-5981-45DC-9540-7E3F0BF12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14" y="2379664"/>
            <a:ext cx="8588375" cy="325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EE27589-2BAB-4277-B24C-36BBDDB1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D8DB2D0-FB23-4364-B5AD-AFEECD9AD9C4}" type="slidenum">
              <a:rPr lang="en-US" altLang="en-US"/>
              <a:pPr eaLnBrk="1" hangingPunct="1"/>
              <a:t>27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F5734E-4747-42C5-AC43-576E33A4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Database Implementation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DDE7E6-57C4-4F7B-8F90-D4B40E749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physical realization of the database and application designs</a:t>
            </a:r>
          </a:p>
          <a:p>
            <a:r>
              <a:rPr lang="en-US" dirty="0"/>
              <a:t>On completion of the design stages, implement the database and the application programs</a:t>
            </a:r>
          </a:p>
          <a:p>
            <a:r>
              <a:rPr lang="en-US" dirty="0"/>
              <a:t>Database implementation is achieved using the DDL of the selected DBMS or a GUI</a:t>
            </a:r>
          </a:p>
          <a:p>
            <a:r>
              <a:rPr lang="en-US" dirty="0"/>
              <a:t>The DDL statements are used to create the database structures and empty database files</a:t>
            </a:r>
          </a:p>
        </p:txBody>
      </p:sp>
    </p:spTree>
    <p:extLst>
      <p:ext uri="{BB962C8B-B14F-4D97-AF65-F5344CB8AC3E}">
        <p14:creationId xmlns:p14="http://schemas.microsoft.com/office/powerpoint/2010/main" val="19985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31202D-7852-4C85-8889-08095249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A80AC8-69B3-4689-A186-EE34B35C4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Database Systems: Design, Implementation, and Management by Carlos Coronel and Steven Morris,13th Edition, Cengage, Chapter 9.</a:t>
            </a:r>
          </a:p>
          <a:p>
            <a:r>
              <a:rPr lang="en-US" dirty="0"/>
              <a:t>Database Systems A Practical Approach to Design, Implementation and Management by  Thomas Connolly and Carolyn </a:t>
            </a:r>
            <a:r>
              <a:rPr lang="en-US" dirty="0" err="1"/>
              <a:t>Begg</a:t>
            </a:r>
            <a:r>
              <a:rPr lang="en-US" dirty="0"/>
              <a:t>, Sixth Edition, Pearson, Chapter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31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908</Words>
  <Application>Microsoft Office PowerPoint</Application>
  <PresentationFormat>Widescreen</PresentationFormat>
  <Paragraphs>143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ＭＳ Ｐゴシック</vt:lpstr>
      <vt:lpstr>Arial</vt:lpstr>
      <vt:lpstr>Calibri</vt:lpstr>
      <vt:lpstr>Calibri Light</vt:lpstr>
      <vt:lpstr>Georgia</vt:lpstr>
      <vt:lpstr>Times New Roman</vt:lpstr>
      <vt:lpstr>Office Theme</vt:lpstr>
      <vt:lpstr>Database Design and Implementation</vt:lpstr>
      <vt:lpstr>Learning Outcomes</vt:lpstr>
      <vt:lpstr>Agenda</vt:lpstr>
      <vt:lpstr>The Information System</vt:lpstr>
      <vt:lpstr>Performance Factors of an Information System</vt:lpstr>
      <vt:lpstr>Systems Development Life Cycle (SDLC)</vt:lpstr>
      <vt:lpstr>Systems Development Life Cycle (SDLC)</vt:lpstr>
      <vt:lpstr>The Database Life Cycle (DBLC)</vt:lpstr>
      <vt:lpstr>Parallel Activities in the DBLC and the SDLC</vt:lpstr>
      <vt:lpstr>PowerPoint Presentation</vt:lpstr>
      <vt:lpstr>PowerPoint Presentation</vt:lpstr>
      <vt:lpstr>Database Design</vt:lpstr>
      <vt:lpstr>Approaches to Database Design</vt:lpstr>
      <vt:lpstr>Database Design Process</vt:lpstr>
      <vt:lpstr>Phases of Database Design</vt:lpstr>
      <vt:lpstr>PowerPoint Presentation</vt:lpstr>
      <vt:lpstr>Conceptual Design</vt:lpstr>
      <vt:lpstr>Conceptual Design Steps</vt:lpstr>
      <vt:lpstr>Developing the Conceptual Model Using ER Diagrams</vt:lpstr>
      <vt:lpstr>Conceptual Design Tools and Information Sources</vt:lpstr>
      <vt:lpstr>Logical database design</vt:lpstr>
      <vt:lpstr>Logical Design Steps</vt:lpstr>
      <vt:lpstr>Mapping the Conceptual Model to the Relational Model</vt:lpstr>
      <vt:lpstr>Difference between Conceptual and Logical Design</vt:lpstr>
      <vt:lpstr>Physical database design</vt:lpstr>
      <vt:lpstr>Physical Design Steps</vt:lpstr>
      <vt:lpstr>Top-down vs. Bottom-up Design Sequencing</vt:lpstr>
      <vt:lpstr>Database Implementation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boharag</dc:creator>
  <cp:lastModifiedBy>Hemuni</cp:lastModifiedBy>
  <cp:revision>91</cp:revision>
  <dcterms:created xsi:type="dcterms:W3CDTF">2019-11-08T16:18:41Z</dcterms:created>
  <dcterms:modified xsi:type="dcterms:W3CDTF">2019-11-19T09:08:33Z</dcterms:modified>
</cp:coreProperties>
</file>