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53"/>
  </p:notesMasterIdLst>
  <p:sldIdLst>
    <p:sldId id="256" r:id="rId2"/>
    <p:sldId id="258" r:id="rId3"/>
    <p:sldId id="259" r:id="rId4"/>
    <p:sldId id="326" r:id="rId5"/>
    <p:sldId id="327" r:id="rId6"/>
    <p:sldId id="328" r:id="rId7"/>
    <p:sldId id="261" r:id="rId8"/>
    <p:sldId id="265" r:id="rId9"/>
    <p:sldId id="266" r:id="rId10"/>
    <p:sldId id="267" r:id="rId11"/>
    <p:sldId id="268" r:id="rId12"/>
    <p:sldId id="269" r:id="rId13"/>
    <p:sldId id="270" r:id="rId14"/>
    <p:sldId id="275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9" r:id="rId23"/>
    <p:sldId id="290" r:id="rId24"/>
    <p:sldId id="292" r:id="rId25"/>
    <p:sldId id="293" r:id="rId26"/>
    <p:sldId id="294" r:id="rId27"/>
    <p:sldId id="295" r:id="rId28"/>
    <p:sldId id="296" r:id="rId29"/>
    <p:sldId id="297" r:id="rId30"/>
    <p:sldId id="306" r:id="rId31"/>
    <p:sldId id="308" r:id="rId32"/>
    <p:sldId id="309" r:id="rId33"/>
    <p:sldId id="312" r:id="rId34"/>
    <p:sldId id="314" r:id="rId35"/>
    <p:sldId id="318" r:id="rId36"/>
    <p:sldId id="315" r:id="rId37"/>
    <p:sldId id="316" r:id="rId38"/>
    <p:sldId id="317" r:id="rId39"/>
    <p:sldId id="319" r:id="rId40"/>
    <p:sldId id="320" r:id="rId41"/>
    <p:sldId id="329" r:id="rId42"/>
    <p:sldId id="330" r:id="rId43"/>
    <p:sldId id="332" r:id="rId44"/>
    <p:sldId id="333" r:id="rId45"/>
    <p:sldId id="336" r:id="rId46"/>
    <p:sldId id="403" r:id="rId47"/>
    <p:sldId id="404" r:id="rId48"/>
    <p:sldId id="406" r:id="rId49"/>
    <p:sldId id="408" r:id="rId50"/>
    <p:sldId id="409" r:id="rId51"/>
    <p:sldId id="337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6CEBA-6EEC-4A85-AD75-CB735F79BF89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3E95F-6DBC-4645-85D9-A6DCDD12B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0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="" xmlns:a16="http://schemas.microsoft.com/office/drawing/2014/main" id="{977AB01B-213D-4D24-B7DE-F679E34B9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E351F953-F3F7-4443-AB9B-5D4898D7D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="" xmlns:a16="http://schemas.microsoft.com/office/drawing/2014/main" id="{843D8D3D-1E52-48DD-AF20-AA117843A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Rectangle 5">
            <a:extLst>
              <a:ext uri="{FF2B5EF4-FFF2-40B4-BE49-F238E27FC236}">
                <a16:creationId xmlns="" xmlns:a16="http://schemas.microsoft.com/office/drawing/2014/main" id="{3A45E2B8-95A2-4B18-A3C1-1335104D5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="" xmlns:a16="http://schemas.microsoft.com/office/drawing/2014/main" id="{6F4A4E66-C0B1-478B-A2A5-0A20FD67B3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9223" name="Rectangle 7">
            <a:extLst>
              <a:ext uri="{FF2B5EF4-FFF2-40B4-BE49-F238E27FC236}">
                <a16:creationId xmlns="" xmlns:a16="http://schemas.microsoft.com/office/drawing/2014/main" id="{B6A1D864-9D2F-4FFB-A0D2-37A82240E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14417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="" xmlns:a16="http://schemas.microsoft.com/office/drawing/2014/main" id="{9EE4CE7A-B90E-49C6-A39E-DD21937E3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="" xmlns:a16="http://schemas.microsoft.com/office/drawing/2014/main" id="{325A789A-AC01-4C43-AB82-6B1CD349A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4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="" xmlns:a16="http://schemas.microsoft.com/office/drawing/2014/main" id="{868BED35-1F85-433B-BB53-E140FD00C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="" xmlns:a16="http://schemas.microsoft.com/office/drawing/2014/main" id="{00DA1315-96CE-4DFC-A8FA-59A034CBE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="" xmlns:a16="http://schemas.microsoft.com/office/drawing/2014/main" id="{96CE24AB-30B7-46BE-A642-0E9E6217CD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1271" name="Rectangle 7">
            <a:extLst>
              <a:ext uri="{FF2B5EF4-FFF2-40B4-BE49-F238E27FC236}">
                <a16:creationId xmlns="" xmlns:a16="http://schemas.microsoft.com/office/drawing/2014/main" id="{208CA21D-2794-4AF1-AAF8-AC05E25F5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24178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="" xmlns:a16="http://schemas.microsoft.com/office/drawing/2014/main" id="{229F9FD8-2F0C-4EB7-9C54-9F9692AD49F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82600" y="633413"/>
            <a:ext cx="5897563" cy="331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2083660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="" xmlns:a16="http://schemas.microsoft.com/office/drawing/2014/main" id="{B620A030-6288-411E-BEF2-7EAC791BC5C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82600" y="633413"/>
            <a:ext cx="5897563" cy="331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585810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="" xmlns:a16="http://schemas.microsoft.com/office/drawing/2014/main" id="{90C20B7B-9522-41B5-AFA4-C94AC1686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="" xmlns:a16="http://schemas.microsoft.com/office/drawing/2014/main" id="{A4AA7474-C120-41C2-8B27-29195439F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6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="" xmlns:a16="http://schemas.microsoft.com/office/drawing/2014/main" id="{02AE00FD-E630-433E-98E2-F8277FA8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>
            <a:extLst>
              <a:ext uri="{FF2B5EF4-FFF2-40B4-BE49-F238E27FC236}">
                <a16:creationId xmlns="" xmlns:a16="http://schemas.microsoft.com/office/drawing/2014/main" id="{B44D6522-F9FE-42A7-868F-D90BC0BA9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="" xmlns:a16="http://schemas.microsoft.com/office/drawing/2014/main" id="{34CF0A0D-A8F4-4F53-A5B7-7B3261546A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5367" name="Rectangle 7">
            <a:extLst>
              <a:ext uri="{FF2B5EF4-FFF2-40B4-BE49-F238E27FC236}">
                <a16:creationId xmlns="" xmlns:a16="http://schemas.microsoft.com/office/drawing/2014/main" id="{06DDAD01-01B5-4004-8744-C4CEC7F23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250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="" xmlns:a16="http://schemas.microsoft.com/office/drawing/2014/main" id="{8E525437-092B-48D6-9F50-D1741FA04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="" xmlns:a16="http://schemas.microsoft.com/office/drawing/2014/main" id="{DCCE9A56-78AE-4BFE-BF09-A05ADA09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10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="" xmlns:a16="http://schemas.microsoft.com/office/drawing/2014/main" id="{10003DE4-248F-4478-A612-E7A0865B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Rectangle 5">
            <a:extLst>
              <a:ext uri="{FF2B5EF4-FFF2-40B4-BE49-F238E27FC236}">
                <a16:creationId xmlns="" xmlns:a16="http://schemas.microsoft.com/office/drawing/2014/main" id="{909A9E8B-21CB-48C4-AF59-5914EC296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="" xmlns:a16="http://schemas.microsoft.com/office/drawing/2014/main" id="{27A72A5C-F94D-4099-8C42-B56538649D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3559" name="Rectangle 7">
            <a:extLst>
              <a:ext uri="{FF2B5EF4-FFF2-40B4-BE49-F238E27FC236}">
                <a16:creationId xmlns="" xmlns:a16="http://schemas.microsoft.com/office/drawing/2014/main" id="{62CB9F9A-AC51-412A-B2B5-69043ADB0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6374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="" xmlns:a16="http://schemas.microsoft.com/office/drawing/2014/main" id="{346AB726-F88E-4CC9-9E3E-EF5CE0829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="" xmlns:a16="http://schemas.microsoft.com/office/drawing/2014/main" id="{771A9F7A-F085-4BAB-8D87-58D08CD5D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11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="" xmlns:a16="http://schemas.microsoft.com/office/drawing/2014/main" id="{4D3C111C-5234-4303-8E31-B952CFE6B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5">
            <a:extLst>
              <a:ext uri="{FF2B5EF4-FFF2-40B4-BE49-F238E27FC236}">
                <a16:creationId xmlns="" xmlns:a16="http://schemas.microsoft.com/office/drawing/2014/main" id="{2F574C7B-B2D2-4F23-8F91-EB22C1561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="" xmlns:a16="http://schemas.microsoft.com/office/drawing/2014/main" id="{C7F0E56B-7989-46F0-A534-397E5892B4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5607" name="Rectangle 7">
            <a:extLst>
              <a:ext uri="{FF2B5EF4-FFF2-40B4-BE49-F238E27FC236}">
                <a16:creationId xmlns="" xmlns:a16="http://schemas.microsoft.com/office/drawing/2014/main" id="{BE14CE8C-65FA-44D9-93EB-75918DA36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63838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="" xmlns:a16="http://schemas.microsoft.com/office/drawing/2014/main" id="{6B285873-DF3F-4FE8-85A6-19D092DF3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F21C33E0-91B2-45C6-902A-85F97309E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12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="" xmlns:a16="http://schemas.microsoft.com/office/drawing/2014/main" id="{37BB7600-91F5-4209-B008-CDD42969E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Rectangle 5">
            <a:extLst>
              <a:ext uri="{FF2B5EF4-FFF2-40B4-BE49-F238E27FC236}">
                <a16:creationId xmlns="" xmlns:a16="http://schemas.microsoft.com/office/drawing/2014/main" id="{4ACF2F08-381E-45AF-A263-D6462F99B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="" xmlns:a16="http://schemas.microsoft.com/office/drawing/2014/main" id="{55815216-DA64-4CC3-9BB4-C036A080E3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7655" name="Rectangle 7">
            <a:extLst>
              <a:ext uri="{FF2B5EF4-FFF2-40B4-BE49-F238E27FC236}">
                <a16:creationId xmlns="" xmlns:a16="http://schemas.microsoft.com/office/drawing/2014/main" id="{6A849419-5AB9-4836-AA8C-00DFFFB46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09336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="" xmlns:a16="http://schemas.microsoft.com/office/drawing/2014/main" id="{9499BAEF-E05A-47BA-A5E5-4818D8E6E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="" xmlns:a16="http://schemas.microsoft.com/office/drawing/2014/main" id="{124D2C43-9161-4DAE-9D62-952537C58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13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="" xmlns:a16="http://schemas.microsoft.com/office/drawing/2014/main" id="{9036102B-ACBA-49DD-B880-427CB8C75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Rectangle 5">
            <a:extLst>
              <a:ext uri="{FF2B5EF4-FFF2-40B4-BE49-F238E27FC236}">
                <a16:creationId xmlns="" xmlns:a16="http://schemas.microsoft.com/office/drawing/2014/main" id="{527BAE40-3B29-46B8-9A5A-68490697B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="" xmlns:a16="http://schemas.microsoft.com/office/drawing/2014/main" id="{38CFBE61-5302-47E3-8324-B64AD39AEB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="" xmlns:a16="http://schemas.microsoft.com/office/drawing/2014/main" id="{F631BF0A-002B-4346-8CC7-A2EE0AF1F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57149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="" xmlns:a16="http://schemas.microsoft.com/office/drawing/2014/main" id="{C80AAB8F-8D1E-4706-9DE2-B800E4FFC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="" xmlns:a16="http://schemas.microsoft.com/office/drawing/2014/main" id="{DF83E619-3944-4CED-9FD0-0BDE6BCDD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14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="" xmlns:a16="http://schemas.microsoft.com/office/drawing/2014/main" id="{EAEF46A7-737B-446C-BC5F-85E889AD9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Rectangle 5">
            <a:extLst>
              <a:ext uri="{FF2B5EF4-FFF2-40B4-BE49-F238E27FC236}">
                <a16:creationId xmlns="" xmlns:a16="http://schemas.microsoft.com/office/drawing/2014/main" id="{E61698E0-23CE-45FC-9515-0D57D00FF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="" xmlns:a16="http://schemas.microsoft.com/office/drawing/2014/main" id="{E69C1D86-BEC0-4184-A83D-228FB8B60E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31751" name="Rectangle 7">
            <a:extLst>
              <a:ext uri="{FF2B5EF4-FFF2-40B4-BE49-F238E27FC236}">
                <a16:creationId xmlns="" xmlns:a16="http://schemas.microsoft.com/office/drawing/2014/main" id="{73AA159B-44EB-40E4-AE73-D6E8F4FD0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8260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="" xmlns:a16="http://schemas.microsoft.com/office/drawing/2014/main" id="{06D1677D-6309-468D-A035-51E606356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="" xmlns:a16="http://schemas.microsoft.com/office/drawing/2014/main" id="{2273F043-7DC9-4940-AAAF-0CC619BCF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15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="" xmlns:a16="http://schemas.microsoft.com/office/drawing/2014/main" id="{C4E325AB-476A-450A-9051-07EE3B59C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Rectangle 5">
            <a:extLst>
              <a:ext uri="{FF2B5EF4-FFF2-40B4-BE49-F238E27FC236}">
                <a16:creationId xmlns="" xmlns:a16="http://schemas.microsoft.com/office/drawing/2014/main" id="{3FABE0B3-0CB5-4C81-B4AC-959BC33FD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="" xmlns:a16="http://schemas.microsoft.com/office/drawing/2014/main" id="{04515C65-426D-4BF2-AFE4-152A69E040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33799" name="Rectangle 7">
            <a:extLst>
              <a:ext uri="{FF2B5EF4-FFF2-40B4-BE49-F238E27FC236}">
                <a16:creationId xmlns="" xmlns:a16="http://schemas.microsoft.com/office/drawing/2014/main" id="{05C93549-D86E-4EAE-82CE-270DFFB47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8900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="" xmlns:a16="http://schemas.microsoft.com/office/drawing/2014/main" id="{F2056B21-81F5-42F0-8B23-15117D50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="" xmlns:a16="http://schemas.microsoft.com/office/drawing/2014/main" id="{497EDAA3-8E5D-4C56-8115-E591121CD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20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="" xmlns:a16="http://schemas.microsoft.com/office/drawing/2014/main" id="{C0098E73-226C-4DAB-B1F1-60EBA1152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7" name="Rectangle 5">
            <a:extLst>
              <a:ext uri="{FF2B5EF4-FFF2-40B4-BE49-F238E27FC236}">
                <a16:creationId xmlns="" xmlns:a16="http://schemas.microsoft.com/office/drawing/2014/main" id="{46228F67-5DB5-4CC5-8FB0-4662C3EC0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="" xmlns:a16="http://schemas.microsoft.com/office/drawing/2014/main" id="{A4DB2B93-AEB3-47A0-88AB-A30D180F6C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="" xmlns:a16="http://schemas.microsoft.com/office/drawing/2014/main" id="{3F77A4BE-F444-445C-B23D-D5E9FA413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8017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="" xmlns:a16="http://schemas.microsoft.com/office/drawing/2014/main" id="{A8195285-BAB0-408A-90A5-3C0ACFE9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="" xmlns:a16="http://schemas.microsoft.com/office/drawing/2014/main" id="{274F4464-A0AF-4F95-ABAE-1A0E7821B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26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="" xmlns:a16="http://schemas.microsoft.com/office/drawing/2014/main" id="{447D92E5-A5CB-4224-9B23-E33379614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5" name="Rectangle 5">
            <a:extLst>
              <a:ext uri="{FF2B5EF4-FFF2-40B4-BE49-F238E27FC236}">
                <a16:creationId xmlns="" xmlns:a16="http://schemas.microsoft.com/office/drawing/2014/main" id="{DEDAA86B-B75E-4E80-8BB6-BE9C92110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56326" name="Rectangle 6">
            <a:extLst>
              <a:ext uri="{FF2B5EF4-FFF2-40B4-BE49-F238E27FC236}">
                <a16:creationId xmlns="" xmlns:a16="http://schemas.microsoft.com/office/drawing/2014/main" id="{B12F07BB-6143-4044-B0AE-09D154BCBB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="" xmlns:a16="http://schemas.microsoft.com/office/drawing/2014/main" id="{5D2A4EE9-BE1C-4258-BEA4-668863F0D1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6205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="" xmlns:a16="http://schemas.microsoft.com/office/drawing/2014/main" id="{E71E92BC-AF9F-4874-80E2-3D7F3CEA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="" xmlns:a16="http://schemas.microsoft.com/office/drawing/2014/main" id="{8CE49D41-5FDD-4D09-8E45-D5039F281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27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="" xmlns:a16="http://schemas.microsoft.com/office/drawing/2014/main" id="{438B43A0-2E2F-437A-9251-BD4D99577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3" name="Rectangle 5">
            <a:extLst>
              <a:ext uri="{FF2B5EF4-FFF2-40B4-BE49-F238E27FC236}">
                <a16:creationId xmlns="" xmlns:a16="http://schemas.microsoft.com/office/drawing/2014/main" id="{0F3D28A7-69DF-41D2-83D4-6A7AE667F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="" xmlns:a16="http://schemas.microsoft.com/office/drawing/2014/main" id="{3F7DA5AD-5869-4F47-A2D1-F5A587A3FB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="" xmlns:a16="http://schemas.microsoft.com/office/drawing/2014/main" id="{C4113834-415E-47E6-A14E-914C881D97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2729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="" xmlns:a16="http://schemas.microsoft.com/office/drawing/2014/main" id="{D3F58892-5070-4786-9AF9-270224A1D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="" xmlns:a16="http://schemas.microsoft.com/office/drawing/2014/main" id="{571BB90B-797A-4FB7-A881-197C2A782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28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="" xmlns:a16="http://schemas.microsoft.com/office/drawing/2014/main" id="{F4E98BA1-445F-4797-AB26-825A21AA5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1" name="Rectangle 5">
            <a:extLst>
              <a:ext uri="{FF2B5EF4-FFF2-40B4-BE49-F238E27FC236}">
                <a16:creationId xmlns="" xmlns:a16="http://schemas.microsoft.com/office/drawing/2014/main" id="{31142330-D9C9-4FA2-9912-AF6D0249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="" xmlns:a16="http://schemas.microsoft.com/office/drawing/2014/main" id="{B2890E0F-EC7C-4F63-AE04-5A19F16426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="" xmlns:a16="http://schemas.microsoft.com/office/drawing/2014/main" id="{9EF56F48-1A46-47D4-8FE0-108658DCF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7944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="" xmlns:a16="http://schemas.microsoft.com/office/drawing/2014/main" id="{E9886228-ED52-4EB5-8C91-42AFEE4C4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="" xmlns:a16="http://schemas.microsoft.com/office/drawing/2014/main" id="{1701632C-60C5-4ED6-811A-5DA7134E7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29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="" xmlns:a16="http://schemas.microsoft.com/office/drawing/2014/main" id="{6258B3F6-4F5F-4332-9FCD-0596DA6E4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69" name="Rectangle 5">
            <a:extLst>
              <a:ext uri="{FF2B5EF4-FFF2-40B4-BE49-F238E27FC236}">
                <a16:creationId xmlns="" xmlns:a16="http://schemas.microsoft.com/office/drawing/2014/main" id="{35A6F18D-D5FA-4042-B3BB-DC8A94A03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62470" name="Rectangle 6">
            <a:extLst>
              <a:ext uri="{FF2B5EF4-FFF2-40B4-BE49-F238E27FC236}">
                <a16:creationId xmlns="" xmlns:a16="http://schemas.microsoft.com/office/drawing/2014/main" id="{60825C9F-0F2A-43CD-A034-CE31876798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="" xmlns:a16="http://schemas.microsoft.com/office/drawing/2014/main" id="{037BB5B6-6FD7-454A-A719-7902F076E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51769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="" xmlns:a16="http://schemas.microsoft.com/office/drawing/2014/main" id="{79EEB5BD-2290-4E0E-A050-EFBF468FE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="" xmlns:a16="http://schemas.microsoft.com/office/drawing/2014/main" id="{5CFBE1D6-F8D7-4EC6-B79E-B6A7EA78E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30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="" xmlns:a16="http://schemas.microsoft.com/office/drawing/2014/main" id="{4D40B22F-D049-40C6-ABC0-12C803732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7" name="Rectangle 5">
            <a:extLst>
              <a:ext uri="{FF2B5EF4-FFF2-40B4-BE49-F238E27FC236}">
                <a16:creationId xmlns="" xmlns:a16="http://schemas.microsoft.com/office/drawing/2014/main" id="{A6683292-EBD9-4996-B194-086D7DABD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="" xmlns:a16="http://schemas.microsoft.com/office/drawing/2014/main" id="{851C61BF-0FE5-452B-BB75-C3F13A694A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="" xmlns:a16="http://schemas.microsoft.com/office/drawing/2014/main" id="{73689371-85F8-4A7F-B3AF-AC88C0138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6989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="" xmlns:a16="http://schemas.microsoft.com/office/drawing/2014/main" id="{E18EB9EC-C882-4D60-92CD-C8380CFA3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="" xmlns:a16="http://schemas.microsoft.com/office/drawing/2014/main" id="{F2A1E687-D771-4CAF-B644-E98BF9807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31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="" xmlns:a16="http://schemas.microsoft.com/office/drawing/2014/main" id="{A52084C6-C1A1-4D20-9CE5-ABA5F3F20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5" name="Rectangle 5">
            <a:extLst>
              <a:ext uri="{FF2B5EF4-FFF2-40B4-BE49-F238E27FC236}">
                <a16:creationId xmlns="" xmlns:a16="http://schemas.microsoft.com/office/drawing/2014/main" id="{5CFAE662-E593-4860-A238-D1A07BB7D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="" xmlns:a16="http://schemas.microsoft.com/office/drawing/2014/main" id="{B3101FC7-C0D6-411B-8FA1-FBE54AAA8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="" xmlns:a16="http://schemas.microsoft.com/office/drawing/2014/main" id="{50C75AA1-27BF-4CCA-9F02-8BF2A57E1D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08724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="" xmlns:a16="http://schemas.microsoft.com/office/drawing/2014/main" id="{D59EA86E-D3FF-4A33-B2F4-2F4423CA2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="" xmlns:a16="http://schemas.microsoft.com/office/drawing/2014/main" id="{1D17E9FB-0FC9-435D-98C1-0236D4692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32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="" xmlns:a16="http://schemas.microsoft.com/office/drawing/2014/main" id="{FDD099C3-5E86-4407-B1FB-817E6D4E8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3" name="Rectangle 5">
            <a:extLst>
              <a:ext uri="{FF2B5EF4-FFF2-40B4-BE49-F238E27FC236}">
                <a16:creationId xmlns="" xmlns:a16="http://schemas.microsoft.com/office/drawing/2014/main" id="{2B716654-CF5A-4A32-A0E1-73368E232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68614" name="Rectangle 6">
            <a:extLst>
              <a:ext uri="{FF2B5EF4-FFF2-40B4-BE49-F238E27FC236}">
                <a16:creationId xmlns="" xmlns:a16="http://schemas.microsoft.com/office/drawing/2014/main" id="{FE0C39F2-26BC-46CA-8E4F-F6707E0AA5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="" xmlns:a16="http://schemas.microsoft.com/office/drawing/2014/main" id="{108BAB13-E845-4799-9B5E-C6AFE21844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7783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="" xmlns:a16="http://schemas.microsoft.com/office/drawing/2014/main" id="{034B78F5-689A-45D6-8277-C0506AC86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="" xmlns:a16="http://schemas.microsoft.com/office/drawing/2014/main" id="{565F6DB1-06B4-4CD2-B139-8BFED0F05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34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="" xmlns:a16="http://schemas.microsoft.com/office/drawing/2014/main" id="{9C316AA8-FCF1-4BCA-86A0-3DDCE4141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09" name="Rectangle 5">
            <a:extLst>
              <a:ext uri="{FF2B5EF4-FFF2-40B4-BE49-F238E27FC236}">
                <a16:creationId xmlns="" xmlns:a16="http://schemas.microsoft.com/office/drawing/2014/main" id="{F97C4C7D-B4AD-496E-A25A-2B4027C21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72710" name="Rectangle 6">
            <a:extLst>
              <a:ext uri="{FF2B5EF4-FFF2-40B4-BE49-F238E27FC236}">
                <a16:creationId xmlns="" xmlns:a16="http://schemas.microsoft.com/office/drawing/2014/main" id="{2C8D4FD8-AC49-4D55-9DA0-A7C3A50D74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72711" name="Rectangle 7">
            <a:extLst>
              <a:ext uri="{FF2B5EF4-FFF2-40B4-BE49-F238E27FC236}">
                <a16:creationId xmlns="" xmlns:a16="http://schemas.microsoft.com/office/drawing/2014/main" id="{49C2894E-93DD-4879-B086-9ECABA42E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704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="" xmlns:a16="http://schemas.microsoft.com/office/drawing/2014/main" id="{6B8E1751-58C3-4ADE-8395-C52B70FF6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="" xmlns:a16="http://schemas.microsoft.com/office/drawing/2014/main" id="{86CE0593-A253-4D05-B92A-14FB6F5EA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35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="" xmlns:a16="http://schemas.microsoft.com/office/drawing/2014/main" id="{B219B138-698E-4368-86C0-437E3D9E1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57" name="Rectangle 5">
            <a:extLst>
              <a:ext uri="{FF2B5EF4-FFF2-40B4-BE49-F238E27FC236}">
                <a16:creationId xmlns="" xmlns:a16="http://schemas.microsoft.com/office/drawing/2014/main" id="{2E3A1835-2C1D-437F-97D8-64172EDC7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="" xmlns:a16="http://schemas.microsoft.com/office/drawing/2014/main" id="{4764A9C4-6942-4747-9BD6-D575D00198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74759" name="Rectangle 7">
            <a:extLst>
              <a:ext uri="{FF2B5EF4-FFF2-40B4-BE49-F238E27FC236}">
                <a16:creationId xmlns="" xmlns:a16="http://schemas.microsoft.com/office/drawing/2014/main" id="{DF1CD046-DDE5-4C93-B13D-06DD0592D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8429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="" xmlns:a16="http://schemas.microsoft.com/office/drawing/2014/main" id="{0474F735-3A56-4380-B0D7-BD574EA84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="" xmlns:a16="http://schemas.microsoft.com/office/drawing/2014/main" id="{F3995132-3D3F-4279-8387-BD50E8566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37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="" xmlns:a16="http://schemas.microsoft.com/office/drawing/2014/main" id="{FCE25F1E-6643-451C-8177-DD213D56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3" name="Rectangle 5">
            <a:extLst>
              <a:ext uri="{FF2B5EF4-FFF2-40B4-BE49-F238E27FC236}">
                <a16:creationId xmlns="" xmlns:a16="http://schemas.microsoft.com/office/drawing/2014/main" id="{0DF04044-4C40-4F00-8462-5C3B81E96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78854" name="Rectangle 6">
            <a:extLst>
              <a:ext uri="{FF2B5EF4-FFF2-40B4-BE49-F238E27FC236}">
                <a16:creationId xmlns="" xmlns:a16="http://schemas.microsoft.com/office/drawing/2014/main" id="{7FB1093B-639E-4F57-9B64-83383D6BA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78855" name="Rectangle 7">
            <a:extLst>
              <a:ext uri="{FF2B5EF4-FFF2-40B4-BE49-F238E27FC236}">
                <a16:creationId xmlns="" xmlns:a16="http://schemas.microsoft.com/office/drawing/2014/main" id="{B75A7A60-3197-4594-9D21-A3D517924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26182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="" xmlns:a16="http://schemas.microsoft.com/office/drawing/2014/main" id="{21D11153-B962-4042-AF40-18849E1D9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="" xmlns:a16="http://schemas.microsoft.com/office/drawing/2014/main" id="{D237A8F5-1956-4D2E-A8E9-11F169838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="" xmlns:a16="http://schemas.microsoft.com/office/drawing/2014/main" id="{1B50D474-1093-4A40-9EB1-3AD01F259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1" name="Rectangle 5">
            <a:extLst>
              <a:ext uri="{FF2B5EF4-FFF2-40B4-BE49-F238E27FC236}">
                <a16:creationId xmlns="" xmlns:a16="http://schemas.microsoft.com/office/drawing/2014/main" id="{1D7256E9-B3B3-454C-BB4B-10AB62E31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80902" name="Rectangle 6">
            <a:extLst>
              <a:ext uri="{FF2B5EF4-FFF2-40B4-BE49-F238E27FC236}">
                <a16:creationId xmlns="" xmlns:a16="http://schemas.microsoft.com/office/drawing/2014/main" id="{0BFAA271-3E63-4AD5-BB1F-95F18ADB6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="" xmlns:a16="http://schemas.microsoft.com/office/drawing/2014/main" id="{06406F9E-933E-4BBF-A4AE-FC4F7BE988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35870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="" xmlns:a16="http://schemas.microsoft.com/office/drawing/2014/main" id="{4C1054B4-FA01-4F4D-8B3A-703D816A9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="" xmlns:a16="http://schemas.microsoft.com/office/drawing/2014/main" id="{F587689D-754A-4519-AA77-6A469FCE8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39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="" xmlns:a16="http://schemas.microsoft.com/office/drawing/2014/main" id="{A08DB3EA-6391-4612-8171-2E8CCE4E2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49" name="Rectangle 5">
            <a:extLst>
              <a:ext uri="{FF2B5EF4-FFF2-40B4-BE49-F238E27FC236}">
                <a16:creationId xmlns="" xmlns:a16="http://schemas.microsoft.com/office/drawing/2014/main" id="{326F955B-518F-4440-BA7C-92B7E579C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82950" name="Rectangle 6">
            <a:extLst>
              <a:ext uri="{FF2B5EF4-FFF2-40B4-BE49-F238E27FC236}">
                <a16:creationId xmlns="" xmlns:a16="http://schemas.microsoft.com/office/drawing/2014/main" id="{2B63ECE1-539A-4F41-B70D-9511927F5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="" xmlns:a16="http://schemas.microsoft.com/office/drawing/2014/main" id="{79EC1E69-AFD3-4F9D-96C6-2EB3F645A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632213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="" xmlns:a16="http://schemas.microsoft.com/office/drawing/2014/main" id="{5ADFFD4A-28B6-4476-9BF8-EF066B50B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="" xmlns:a16="http://schemas.microsoft.com/office/drawing/2014/main" id="{2303340D-B95E-449C-8CD4-198E97036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40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="" xmlns:a16="http://schemas.microsoft.com/office/drawing/2014/main" id="{8CF2772F-6A9C-436D-9328-72945B872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7" name="Rectangle 5">
            <a:extLst>
              <a:ext uri="{FF2B5EF4-FFF2-40B4-BE49-F238E27FC236}">
                <a16:creationId xmlns="" xmlns:a16="http://schemas.microsoft.com/office/drawing/2014/main" id="{D4D7F97E-6E81-4E1E-BB62-86036FAD8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84998" name="Rectangle 6">
            <a:extLst>
              <a:ext uri="{FF2B5EF4-FFF2-40B4-BE49-F238E27FC236}">
                <a16:creationId xmlns="" xmlns:a16="http://schemas.microsoft.com/office/drawing/2014/main" id="{509ECCDC-98C3-42A0-BF68-A5A88BA40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84999" name="Rectangle 7">
            <a:extLst>
              <a:ext uri="{FF2B5EF4-FFF2-40B4-BE49-F238E27FC236}">
                <a16:creationId xmlns="" xmlns:a16="http://schemas.microsoft.com/office/drawing/2014/main" id="{3ED9DFD3-F2DD-482A-95AB-DDEAD9678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975243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="" xmlns:a16="http://schemas.microsoft.com/office/drawing/2014/main" id="{A2BCC9DE-F04D-4F44-B6F0-6A9A99635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="" xmlns:a16="http://schemas.microsoft.com/office/drawing/2014/main" id="{E5707919-DAF6-4443-BDCB-6D3723CAF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41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="" xmlns:a16="http://schemas.microsoft.com/office/drawing/2014/main" id="{FB9B828D-A9CB-467F-A19E-BDF5B1968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5" name="Rectangle 5">
            <a:extLst>
              <a:ext uri="{FF2B5EF4-FFF2-40B4-BE49-F238E27FC236}">
                <a16:creationId xmlns="" xmlns:a16="http://schemas.microsoft.com/office/drawing/2014/main" id="{B90EA6EB-AC3A-431C-8842-43CF2F7BB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87046" name="Rectangle 6">
            <a:extLst>
              <a:ext uri="{FF2B5EF4-FFF2-40B4-BE49-F238E27FC236}">
                <a16:creationId xmlns="" xmlns:a16="http://schemas.microsoft.com/office/drawing/2014/main" id="{312DF4E0-44E4-4510-BC49-A6E4EB28B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="" xmlns:a16="http://schemas.microsoft.com/office/drawing/2014/main" id="{B1466642-5624-421C-AD96-D43BF70B1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86289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="" xmlns:a16="http://schemas.microsoft.com/office/drawing/2014/main" id="{3BF44F8F-467F-4A1A-A767-013DEFDC6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="" xmlns:a16="http://schemas.microsoft.com/office/drawing/2014/main" id="{4C3F6EDA-E0C6-46E6-BE13-44C5CFF87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42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="" xmlns:a16="http://schemas.microsoft.com/office/drawing/2014/main" id="{F1770E48-68A6-428A-B47B-ED9467B66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3" name="Rectangle 5">
            <a:extLst>
              <a:ext uri="{FF2B5EF4-FFF2-40B4-BE49-F238E27FC236}">
                <a16:creationId xmlns="" xmlns:a16="http://schemas.microsoft.com/office/drawing/2014/main" id="{3965C504-CF5A-4D8E-A469-4D006CCC9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89094" name="Rectangle 6">
            <a:extLst>
              <a:ext uri="{FF2B5EF4-FFF2-40B4-BE49-F238E27FC236}">
                <a16:creationId xmlns="" xmlns:a16="http://schemas.microsoft.com/office/drawing/2014/main" id="{42946CAC-29B3-41FD-969D-8B3472F157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="" xmlns:a16="http://schemas.microsoft.com/office/drawing/2014/main" id="{9301BF23-31D1-4711-9E0F-13999DEC8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088427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="" xmlns:a16="http://schemas.microsoft.com/office/drawing/2014/main" id="{7CCBF16E-1DD7-4C2A-92B9-BA028FC0C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="" xmlns:a16="http://schemas.microsoft.com/office/drawing/2014/main" id="{8A29B517-48FA-49E4-A231-7BFC440D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51</a:t>
            </a:r>
          </a:p>
        </p:txBody>
      </p:sp>
      <p:sp>
        <p:nvSpPr>
          <p:cNvPr id="107524" name="Rectangle 4">
            <a:extLst>
              <a:ext uri="{FF2B5EF4-FFF2-40B4-BE49-F238E27FC236}">
                <a16:creationId xmlns="" xmlns:a16="http://schemas.microsoft.com/office/drawing/2014/main" id="{07C6BA4C-40FB-46AA-97FF-E690BC052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5" name="Rectangle 5">
            <a:extLst>
              <a:ext uri="{FF2B5EF4-FFF2-40B4-BE49-F238E27FC236}">
                <a16:creationId xmlns="" xmlns:a16="http://schemas.microsoft.com/office/drawing/2014/main" id="{2F713CC8-BE58-4D5A-8C96-894EBF5A3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07526" name="Rectangle 6">
            <a:extLst>
              <a:ext uri="{FF2B5EF4-FFF2-40B4-BE49-F238E27FC236}">
                <a16:creationId xmlns="" xmlns:a16="http://schemas.microsoft.com/office/drawing/2014/main" id="{5E0C4CDC-047B-4057-908D-1CB2C3E3E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07527" name="Rectangle 7">
            <a:extLst>
              <a:ext uri="{FF2B5EF4-FFF2-40B4-BE49-F238E27FC236}">
                <a16:creationId xmlns="" xmlns:a16="http://schemas.microsoft.com/office/drawing/2014/main" id="{15CCB285-1234-47CF-9D24-CD3C018A8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389628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="" xmlns:a16="http://schemas.microsoft.com/office/drawing/2014/main" id="{049F45A4-6BD7-412C-8E77-17EAD8C6F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="" xmlns:a16="http://schemas.microsoft.com/office/drawing/2014/main" id="{F48D472E-71E1-4646-91BA-BC8A99684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53</a:t>
            </a:r>
          </a:p>
        </p:txBody>
      </p:sp>
      <p:sp>
        <p:nvSpPr>
          <p:cNvPr id="111620" name="Rectangle 4">
            <a:extLst>
              <a:ext uri="{FF2B5EF4-FFF2-40B4-BE49-F238E27FC236}">
                <a16:creationId xmlns="" xmlns:a16="http://schemas.microsoft.com/office/drawing/2014/main" id="{6479EE82-A7CB-404A-B64F-806AD5D0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1" name="Rectangle 5">
            <a:extLst>
              <a:ext uri="{FF2B5EF4-FFF2-40B4-BE49-F238E27FC236}">
                <a16:creationId xmlns="" xmlns:a16="http://schemas.microsoft.com/office/drawing/2014/main" id="{E0CB961D-B603-451A-9FFA-9B4207B8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11622" name="Rectangle 6">
            <a:extLst>
              <a:ext uri="{FF2B5EF4-FFF2-40B4-BE49-F238E27FC236}">
                <a16:creationId xmlns="" xmlns:a16="http://schemas.microsoft.com/office/drawing/2014/main" id="{1369D5BA-72CB-4C95-A661-48CF7F8931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11623" name="Rectangle 7">
            <a:extLst>
              <a:ext uri="{FF2B5EF4-FFF2-40B4-BE49-F238E27FC236}">
                <a16:creationId xmlns="" xmlns:a16="http://schemas.microsoft.com/office/drawing/2014/main" id="{E6EA072A-266A-48F8-9F40-1DA5B4894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534938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="" xmlns:a16="http://schemas.microsoft.com/office/drawing/2014/main" id="{97567628-D383-4422-B536-7C2C2367D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="" xmlns:a16="http://schemas.microsoft.com/office/drawing/2014/main" id="{5438B0D3-06CF-4093-950D-10D38A2D3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54</a:t>
            </a:r>
          </a:p>
        </p:txBody>
      </p:sp>
      <p:sp>
        <p:nvSpPr>
          <p:cNvPr id="113668" name="Rectangle 4">
            <a:extLst>
              <a:ext uri="{FF2B5EF4-FFF2-40B4-BE49-F238E27FC236}">
                <a16:creationId xmlns="" xmlns:a16="http://schemas.microsoft.com/office/drawing/2014/main" id="{58D86120-6FAE-4BA9-8C59-8497014F2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9" name="Rectangle 5">
            <a:extLst>
              <a:ext uri="{FF2B5EF4-FFF2-40B4-BE49-F238E27FC236}">
                <a16:creationId xmlns="" xmlns:a16="http://schemas.microsoft.com/office/drawing/2014/main" id="{5C1FDA81-973E-4E38-9B8D-47E67C80C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13670" name="Rectangle 6">
            <a:extLst>
              <a:ext uri="{FF2B5EF4-FFF2-40B4-BE49-F238E27FC236}">
                <a16:creationId xmlns="" xmlns:a16="http://schemas.microsoft.com/office/drawing/2014/main" id="{49E0BAB6-173D-4687-B40B-FACC06CEC0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13671" name="Rectangle 7">
            <a:extLst>
              <a:ext uri="{FF2B5EF4-FFF2-40B4-BE49-F238E27FC236}">
                <a16:creationId xmlns="" xmlns:a16="http://schemas.microsoft.com/office/drawing/2014/main" id="{AE4ACAB5-C8AB-4E41-8801-733D52946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68264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="" xmlns:a16="http://schemas.microsoft.com/office/drawing/2014/main" id="{B28CD33D-527C-473B-A5F1-396D7A963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="" xmlns:a16="http://schemas.microsoft.com/office/drawing/2014/main" id="{3C727FCC-E28E-450B-A687-06988FED3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57</a:t>
            </a:r>
          </a:p>
        </p:txBody>
      </p:sp>
      <p:sp>
        <p:nvSpPr>
          <p:cNvPr id="119812" name="Rectangle 4">
            <a:extLst>
              <a:ext uri="{FF2B5EF4-FFF2-40B4-BE49-F238E27FC236}">
                <a16:creationId xmlns="" xmlns:a16="http://schemas.microsoft.com/office/drawing/2014/main" id="{0F6A9B01-C294-452D-B3FB-DCAD41EA5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13" name="Rectangle 5">
            <a:extLst>
              <a:ext uri="{FF2B5EF4-FFF2-40B4-BE49-F238E27FC236}">
                <a16:creationId xmlns="" xmlns:a16="http://schemas.microsoft.com/office/drawing/2014/main" id="{211FEDAE-FF85-4AA1-86BA-521B90BB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19814" name="Rectangle 6">
            <a:extLst>
              <a:ext uri="{FF2B5EF4-FFF2-40B4-BE49-F238E27FC236}">
                <a16:creationId xmlns="" xmlns:a16="http://schemas.microsoft.com/office/drawing/2014/main" id="{2DF202EF-E303-4D2D-9CF1-80E3B03945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19815" name="Rectangle 7">
            <a:extLst>
              <a:ext uri="{FF2B5EF4-FFF2-40B4-BE49-F238E27FC236}">
                <a16:creationId xmlns="" xmlns:a16="http://schemas.microsoft.com/office/drawing/2014/main" id="{FE1DD559-EE1F-44EA-B747-70E140D89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73425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="" xmlns:a16="http://schemas.microsoft.com/office/drawing/2014/main" id="{E7E2A0A9-D014-44F3-A666-F9D3E5C23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="" xmlns:a16="http://schemas.microsoft.com/office/drawing/2014/main" id="{54E64F32-72F8-47D3-98B1-B1A9EF5F5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59</a:t>
            </a:r>
          </a:p>
        </p:txBody>
      </p:sp>
      <p:sp>
        <p:nvSpPr>
          <p:cNvPr id="123908" name="Rectangle 4">
            <a:extLst>
              <a:ext uri="{FF2B5EF4-FFF2-40B4-BE49-F238E27FC236}">
                <a16:creationId xmlns="" xmlns:a16="http://schemas.microsoft.com/office/drawing/2014/main" id="{76936FEA-319E-45E9-8E0C-FA73A16AF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09" name="Rectangle 5">
            <a:extLst>
              <a:ext uri="{FF2B5EF4-FFF2-40B4-BE49-F238E27FC236}">
                <a16:creationId xmlns="" xmlns:a16="http://schemas.microsoft.com/office/drawing/2014/main" id="{4ED91995-9318-4D14-B5A1-441A796F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23910" name="Rectangle 6">
            <a:extLst>
              <a:ext uri="{FF2B5EF4-FFF2-40B4-BE49-F238E27FC236}">
                <a16:creationId xmlns="" xmlns:a16="http://schemas.microsoft.com/office/drawing/2014/main" id="{9652F6A6-B6E1-4A3B-8D2E-A787DA42CB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23911" name="Rectangle 7">
            <a:extLst>
              <a:ext uri="{FF2B5EF4-FFF2-40B4-BE49-F238E27FC236}">
                <a16:creationId xmlns="" xmlns:a16="http://schemas.microsoft.com/office/drawing/2014/main" id="{24E13D2B-590B-4F6F-AB94-F032E8D74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78099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="" xmlns:a16="http://schemas.microsoft.com/office/drawing/2014/main" id="{86AA4056-3557-49F4-B858-4D43382E6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="" xmlns:a16="http://schemas.microsoft.com/office/drawing/2014/main" id="{682DA428-CB91-41A7-B131-30D1D623F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63</a:t>
            </a:r>
          </a:p>
        </p:txBody>
      </p:sp>
      <p:sp>
        <p:nvSpPr>
          <p:cNvPr id="132100" name="Rectangle 4">
            <a:extLst>
              <a:ext uri="{FF2B5EF4-FFF2-40B4-BE49-F238E27FC236}">
                <a16:creationId xmlns="" xmlns:a16="http://schemas.microsoft.com/office/drawing/2014/main" id="{8692E335-3108-4D74-8D8D-B9FAFCE6F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101" name="Rectangle 5">
            <a:extLst>
              <a:ext uri="{FF2B5EF4-FFF2-40B4-BE49-F238E27FC236}">
                <a16:creationId xmlns="" xmlns:a16="http://schemas.microsoft.com/office/drawing/2014/main" id="{06BBAAED-B9E4-4DB6-BFBB-D8B7D060B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32102" name="Rectangle 6">
            <a:extLst>
              <a:ext uri="{FF2B5EF4-FFF2-40B4-BE49-F238E27FC236}">
                <a16:creationId xmlns="" xmlns:a16="http://schemas.microsoft.com/office/drawing/2014/main" id="{BAB88F8B-955E-4C57-BEEB-5BD3F81A61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32103" name="Rectangle 7">
            <a:extLst>
              <a:ext uri="{FF2B5EF4-FFF2-40B4-BE49-F238E27FC236}">
                <a16:creationId xmlns="" xmlns:a16="http://schemas.microsoft.com/office/drawing/2014/main" id="{7BF17C1D-549D-4A08-A8B0-E84F1B6FE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89919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="" xmlns:a16="http://schemas.microsoft.com/office/drawing/2014/main" id="{2A4D037B-E316-4F5C-9480-8C622EE7F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="" xmlns:a16="http://schemas.microsoft.com/office/drawing/2014/main" id="{2337A76F-835C-47CF-A567-CB232DF40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60</a:t>
            </a:r>
          </a:p>
        </p:txBody>
      </p:sp>
      <p:sp>
        <p:nvSpPr>
          <p:cNvPr id="125956" name="Rectangle 4">
            <a:extLst>
              <a:ext uri="{FF2B5EF4-FFF2-40B4-BE49-F238E27FC236}">
                <a16:creationId xmlns="" xmlns:a16="http://schemas.microsoft.com/office/drawing/2014/main" id="{0081F1A9-7044-4217-9AC0-F446B21D8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57" name="Rectangle 5">
            <a:extLst>
              <a:ext uri="{FF2B5EF4-FFF2-40B4-BE49-F238E27FC236}">
                <a16:creationId xmlns="" xmlns:a16="http://schemas.microsoft.com/office/drawing/2014/main" id="{A7CFD64C-CA9C-44F3-97C4-41F39A3F7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25958" name="Rectangle 6">
            <a:extLst>
              <a:ext uri="{FF2B5EF4-FFF2-40B4-BE49-F238E27FC236}">
                <a16:creationId xmlns="" xmlns:a16="http://schemas.microsoft.com/office/drawing/2014/main" id="{3DB7B769-C06B-4406-87F9-E7FF48DFBC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25959" name="Rectangle 7">
            <a:extLst>
              <a:ext uri="{FF2B5EF4-FFF2-40B4-BE49-F238E27FC236}">
                <a16:creationId xmlns="" xmlns:a16="http://schemas.microsoft.com/office/drawing/2014/main" id="{89A2F917-E99D-4FB1-9F1D-44302EFF0B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769404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="" xmlns:a16="http://schemas.microsoft.com/office/drawing/2014/main" id="{47DF93C0-44C1-455A-90E6-B38A71C60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="" xmlns:a16="http://schemas.microsoft.com/office/drawing/2014/main" id="{510BA7F0-0772-443E-BC7E-82B51C258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61</a:t>
            </a:r>
          </a:p>
        </p:txBody>
      </p:sp>
      <p:sp>
        <p:nvSpPr>
          <p:cNvPr id="128004" name="Rectangle 4">
            <a:extLst>
              <a:ext uri="{FF2B5EF4-FFF2-40B4-BE49-F238E27FC236}">
                <a16:creationId xmlns="" xmlns:a16="http://schemas.microsoft.com/office/drawing/2014/main" id="{23782D18-81E3-4402-B5F7-C3451028E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05" name="Rectangle 5">
            <a:extLst>
              <a:ext uri="{FF2B5EF4-FFF2-40B4-BE49-F238E27FC236}">
                <a16:creationId xmlns="" xmlns:a16="http://schemas.microsoft.com/office/drawing/2014/main" id="{CB4D0D4D-B2DE-4330-9D78-00F07E4CF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28006" name="Rectangle 6">
            <a:extLst>
              <a:ext uri="{FF2B5EF4-FFF2-40B4-BE49-F238E27FC236}">
                <a16:creationId xmlns="" xmlns:a16="http://schemas.microsoft.com/office/drawing/2014/main" id="{7000318E-9571-4F5F-9403-EA4524664D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28007" name="Rectangle 7">
            <a:extLst>
              <a:ext uri="{FF2B5EF4-FFF2-40B4-BE49-F238E27FC236}">
                <a16:creationId xmlns="" xmlns:a16="http://schemas.microsoft.com/office/drawing/2014/main" id="{1222EA1F-E00F-4F3E-BDCB-CD0F497FF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587119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="" xmlns:a16="http://schemas.microsoft.com/office/drawing/2014/main" id="{EECA2F09-0B22-4BAD-AD8A-80FF7ED6D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="" xmlns:a16="http://schemas.microsoft.com/office/drawing/2014/main" id="{4DFB2EB1-42A4-4631-865E-748717AF1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62</a:t>
            </a:r>
          </a:p>
        </p:txBody>
      </p:sp>
      <p:sp>
        <p:nvSpPr>
          <p:cNvPr id="130052" name="Rectangle 4">
            <a:extLst>
              <a:ext uri="{FF2B5EF4-FFF2-40B4-BE49-F238E27FC236}">
                <a16:creationId xmlns="" xmlns:a16="http://schemas.microsoft.com/office/drawing/2014/main" id="{0A63C99D-3FA8-4D4B-B104-CA2CE03D0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53" name="Rectangle 5">
            <a:extLst>
              <a:ext uri="{FF2B5EF4-FFF2-40B4-BE49-F238E27FC236}">
                <a16:creationId xmlns="" xmlns:a16="http://schemas.microsoft.com/office/drawing/2014/main" id="{B95D3CF3-1F65-428B-AC1B-E4F4582BB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30054" name="Rectangle 6">
            <a:extLst>
              <a:ext uri="{FF2B5EF4-FFF2-40B4-BE49-F238E27FC236}">
                <a16:creationId xmlns="" xmlns:a16="http://schemas.microsoft.com/office/drawing/2014/main" id="{903179A1-833B-4E80-914A-63C7E6A20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30055" name="Rectangle 7">
            <a:extLst>
              <a:ext uri="{FF2B5EF4-FFF2-40B4-BE49-F238E27FC236}">
                <a16:creationId xmlns="" xmlns:a16="http://schemas.microsoft.com/office/drawing/2014/main" id="{BBEEBD48-CD82-46C9-B017-CCC3D7AF9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815375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="" xmlns:a16="http://schemas.microsoft.com/office/drawing/2014/main" id="{0D072192-76D8-448A-8C8F-6A29010B6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="" xmlns:a16="http://schemas.microsoft.com/office/drawing/2014/main" id="{F5DA493D-5FB3-4587-9B8A-7C0D1E0D0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64</a:t>
            </a:r>
          </a:p>
        </p:txBody>
      </p:sp>
      <p:sp>
        <p:nvSpPr>
          <p:cNvPr id="134148" name="Rectangle 4">
            <a:extLst>
              <a:ext uri="{FF2B5EF4-FFF2-40B4-BE49-F238E27FC236}">
                <a16:creationId xmlns="" xmlns:a16="http://schemas.microsoft.com/office/drawing/2014/main" id="{9B8E44BF-7EC7-4920-A56D-FC5497B00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149" name="Rectangle 5">
            <a:extLst>
              <a:ext uri="{FF2B5EF4-FFF2-40B4-BE49-F238E27FC236}">
                <a16:creationId xmlns="" xmlns:a16="http://schemas.microsoft.com/office/drawing/2014/main" id="{6AE08914-8A6E-41A0-9154-A21242721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34150" name="Rectangle 6">
            <a:extLst>
              <a:ext uri="{FF2B5EF4-FFF2-40B4-BE49-F238E27FC236}">
                <a16:creationId xmlns="" xmlns:a16="http://schemas.microsoft.com/office/drawing/2014/main" id="{791A021E-4028-4389-AE5D-C365D581AB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34151" name="Rectangle 7">
            <a:extLst>
              <a:ext uri="{FF2B5EF4-FFF2-40B4-BE49-F238E27FC236}">
                <a16:creationId xmlns="" xmlns:a16="http://schemas.microsoft.com/office/drawing/2014/main" id="{FAB2BDFF-520F-477E-B24A-F29023F5CD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956154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="" xmlns:a16="http://schemas.microsoft.com/office/drawing/2014/main" id="{6F000066-A057-4FBD-B56F-F8887D99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0"/>
            <a:ext cx="3001962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September 98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="" xmlns:a16="http://schemas.microsoft.com/office/drawing/2014/main" id="{81C2494C-8F7A-422B-9DEB-4956CB8DA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8664575"/>
            <a:ext cx="30019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65</a:t>
            </a:r>
          </a:p>
        </p:txBody>
      </p:sp>
      <p:sp>
        <p:nvSpPr>
          <p:cNvPr id="136196" name="Rectangle 4">
            <a:extLst>
              <a:ext uri="{FF2B5EF4-FFF2-40B4-BE49-F238E27FC236}">
                <a16:creationId xmlns="" xmlns:a16="http://schemas.microsoft.com/office/drawing/2014/main" id="{C548ED60-2884-4B64-9EF2-CED0DEF3D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4575"/>
            <a:ext cx="30003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6197" name="Rectangle 5">
            <a:extLst>
              <a:ext uri="{FF2B5EF4-FFF2-40B4-BE49-F238E27FC236}">
                <a16:creationId xmlns="" xmlns:a16="http://schemas.microsoft.com/office/drawing/2014/main" id="{CB41515C-5373-4251-8F81-20F61BC1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0037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 sz="1200">
                <a:solidFill>
                  <a:schemeClr val="tx1"/>
                </a:solidFill>
                <a:latin typeface="Eras Medium ITC" panose="020B0602030504020804" pitchFamily="34" charset="0"/>
              </a:rPr>
              <a:t>Chapter Name</a:t>
            </a:r>
          </a:p>
        </p:txBody>
      </p:sp>
      <p:sp>
        <p:nvSpPr>
          <p:cNvPr id="136198" name="Rectangle 6">
            <a:extLst>
              <a:ext uri="{FF2B5EF4-FFF2-40B4-BE49-F238E27FC236}">
                <a16:creationId xmlns="" xmlns:a16="http://schemas.microsoft.com/office/drawing/2014/main" id="{9A8FF6D4-48D8-4C4C-A76C-256E81221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36199" name="Rectangle 7">
            <a:extLst>
              <a:ext uri="{FF2B5EF4-FFF2-40B4-BE49-F238E27FC236}">
                <a16:creationId xmlns="" xmlns:a16="http://schemas.microsoft.com/office/drawing/2014/main" id="{47DAFAA0-9D59-4053-AC51-DBA6F0886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33574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1B799-5CC3-4D04-9ACF-F622D2D11A2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9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D06DF55-4803-4324-905D-9812FF6FE24D}" type="datetime1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3950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B3848-EE12-42ED-A750-607FC1996F83}" type="datetime1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3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36AE5-CAEF-412C-9D17-0040F70AFD7F}" type="datetime1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270113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4874E-4D97-4FBC-A3B9-9A0FFA6460FA}" type="datetime1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5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29A-5F05-412C-B441-93D8DE7515C1}" type="datetime1">
              <a:rPr lang="en-US" smtClean="0"/>
              <a:t>1/16/2020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69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997C-B8C1-4874-94A6-75F878AC769B}" type="datetime1">
              <a:rPr lang="en-US" smtClean="0"/>
              <a:t>1/16/2020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4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88E4F-3F32-447F-A190-EB7F0D7AA7EE}" type="datetime1">
              <a:rPr lang="en-US" smtClean="0"/>
              <a:t>1/16/2020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9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4BDB-DE46-4DA2-92EF-FB4913674785}" type="datetime1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0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59E-21D0-4449-BE32-CD6C21967BA6}" type="datetime1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9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0739-8017-4B94-B597-CBF09D1B7372}" type="datetime1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3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264A8-946B-4DBB-A724-9909745DF990}" type="datetime1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70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25C5198-562E-4C02-BB92-A4FA9B1C3F8E}" type="datetime1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41F600E-9D81-4723-887F-45C439008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5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5B1AF5-D1E8-49BB-8DB7-3C408DF60C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Lecture 9: 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dirty="0" smtClean="0">
                <a:solidFill>
                  <a:srgbClr val="00B0F0"/>
                </a:solidFill>
              </a:rPr>
              <a:t>Distributed </a:t>
            </a:r>
            <a:r>
              <a:rPr lang="en-US" dirty="0">
                <a:solidFill>
                  <a:srgbClr val="00B0F0"/>
                </a:solidFill>
              </a:rPr>
              <a:t>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DE3AF52-982D-4869-9FC3-2147BDACB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6012180"/>
            <a:ext cx="9418320" cy="1691640"/>
          </a:xfrm>
        </p:spPr>
        <p:txBody>
          <a:bodyPr>
            <a:normAutofit/>
          </a:bodyPr>
          <a:lstStyle/>
          <a:p>
            <a:r>
              <a:rPr lang="en-US" dirty="0" err="1" smtClean="0"/>
              <a:t>Hemanga</a:t>
            </a:r>
            <a:r>
              <a:rPr lang="en-US" dirty="0" smtClean="0"/>
              <a:t> </a:t>
            </a:r>
            <a:r>
              <a:rPr lang="en-US" dirty="0" err="1" smtClean="0"/>
              <a:t>Gautam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hemanga.gautam@heraldcollege.edu.np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ECE4547-3E45-4DC2-AC1F-36FA54DC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8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="" xmlns:a16="http://schemas.microsoft.com/office/drawing/2014/main" id="{41334F13-73BC-4AC2-A916-8DE2C9457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89694"/>
            <a:ext cx="10515600" cy="13255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b">
            <a:normAutofit/>
          </a:bodyPr>
          <a:lstStyle/>
          <a:p>
            <a:pPr algn="ctr"/>
            <a:r>
              <a:rPr lang="en-US" altLang="en-US" sz="3700" dirty="0">
                <a:latin typeface="Arial Rounded MT Bold" panose="020F0704030504030204" pitchFamily="34" charset="0"/>
              </a:rPr>
              <a:t>Concepts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="" xmlns:a16="http://schemas.microsoft.com/office/drawing/2014/main" id="{C74017D8-4373-476B-9B69-A8E58F7B61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3880" y="1736328"/>
            <a:ext cx="10091791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dirty="0"/>
              <a:t>Distributed Database.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dirty="0"/>
              <a:t>	A logically interrelated collection of shared data (and a description of this data), physically distributed over a computer network.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/>
              <a:t>Distributed DBMS.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dirty="0"/>
              <a:t>	Software system that permits the management of the distributed database and makes the distribution transparent to users.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DB1701E-911B-48E7-A962-5ECCAE84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="" xmlns:a16="http://schemas.microsoft.com/office/drawing/2014/main" id="{56AA54F4-6109-4C46-8FF1-060A4EEFA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8517" y="1113693"/>
            <a:ext cx="815340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r>
              <a:rPr lang="en-US" altLang="en-US" sz="2400" dirty="0"/>
              <a:t>Collection of logically-related shared data.</a:t>
            </a:r>
          </a:p>
          <a:p>
            <a:r>
              <a:rPr lang="en-US" altLang="en-US" sz="2400" dirty="0"/>
              <a:t>Data split into fragments.</a:t>
            </a:r>
          </a:p>
          <a:p>
            <a:r>
              <a:rPr lang="en-US" altLang="en-US" sz="2400" dirty="0"/>
              <a:t>Fragments may be replicated.</a:t>
            </a:r>
          </a:p>
          <a:p>
            <a:r>
              <a:rPr lang="en-US" altLang="en-US" sz="2400" dirty="0"/>
              <a:t>Fragments/replicas allocated to sites.</a:t>
            </a:r>
          </a:p>
          <a:p>
            <a:r>
              <a:rPr lang="en-US" altLang="en-US" sz="2400" dirty="0"/>
              <a:t>Sites linked by a communications network.</a:t>
            </a:r>
          </a:p>
          <a:p>
            <a:r>
              <a:rPr lang="en-US" altLang="en-US" sz="2400" dirty="0"/>
              <a:t>Data at each site is under control of a DBMS.</a:t>
            </a:r>
          </a:p>
          <a:p>
            <a:r>
              <a:rPr lang="en-US" altLang="en-US" sz="2400" dirty="0"/>
              <a:t>DBMSs handle local applications autonomously</a:t>
            </a:r>
            <a:r>
              <a:rPr lang="en-US" altLang="en-US" sz="2400" dirty="0" smtClean="0"/>
              <a:t>.</a:t>
            </a: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ED9F6F2-FF62-443B-B88A-B4267D7D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="" xmlns:a16="http://schemas.microsoft.com/office/drawing/2014/main" id="{CE5705D9-9223-49DB-A86A-3536C0F30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240" y="196054"/>
            <a:ext cx="10515600" cy="525464"/>
          </a:xfrm>
          <a:noFill/>
          <a:ln/>
        </p:spPr>
        <p:txBody>
          <a:bodyPr anchor="b">
            <a:normAutofit fontScale="90000"/>
          </a:bodyPr>
          <a:lstStyle/>
          <a:p>
            <a:pPr algn="ctr"/>
            <a:r>
              <a:rPr lang="en-US" altLang="en-US" sz="3200" b="1" dirty="0"/>
              <a:t>Component Architecture for a DDBMS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7E0F7AF-89DB-45B9-89E7-186C55C8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Image result for distributed data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337" y="1521348"/>
            <a:ext cx="6653189" cy="385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="" xmlns:a16="http://schemas.microsoft.com/office/drawing/2014/main" id="{E25902A5-A0B5-45C0-A6CE-F5C3AD7B6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0857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The Ideal Situation</a:t>
            </a:r>
          </a:p>
        </p:txBody>
      </p:sp>
      <p:sp>
        <p:nvSpPr>
          <p:cNvPr id="150531" name="Rectangle 3">
            <a:extLst>
              <a:ext uri="{FF2B5EF4-FFF2-40B4-BE49-F238E27FC236}">
                <a16:creationId xmlns="" xmlns:a16="http://schemas.microsoft.com/office/drawing/2014/main" id="{CE19C948-DAD7-41DD-AA9D-A5DC2408F0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1" y="1828800"/>
            <a:ext cx="9302965" cy="4351337"/>
          </a:xfrm>
        </p:spPr>
        <p:txBody>
          <a:bodyPr>
            <a:normAutofit/>
          </a:bodyPr>
          <a:lstStyle/>
          <a:p>
            <a:pPr>
              <a:spcAft>
                <a:spcPct val="40000"/>
              </a:spcAft>
            </a:pPr>
            <a:r>
              <a:rPr lang="en-US" altLang="en-US" sz="2400" dirty="0"/>
              <a:t>A single application should be able to operate transparently  on data that is:</a:t>
            </a:r>
          </a:p>
          <a:p>
            <a:pPr lvl="1">
              <a:spcAft>
                <a:spcPct val="40000"/>
              </a:spcAft>
            </a:pPr>
            <a:r>
              <a:rPr lang="en-US" altLang="en-US" sz="2000" dirty="0"/>
              <a:t>spread across a variety of different DBMS's</a:t>
            </a:r>
          </a:p>
          <a:p>
            <a:pPr lvl="1">
              <a:spcAft>
                <a:spcPct val="40000"/>
              </a:spcAft>
            </a:pPr>
            <a:r>
              <a:rPr lang="en-US" altLang="en-US" sz="2000" dirty="0"/>
              <a:t>running on a variety of different machines</a:t>
            </a:r>
          </a:p>
          <a:p>
            <a:pPr lvl="1">
              <a:spcAft>
                <a:spcPct val="40000"/>
              </a:spcAft>
            </a:pPr>
            <a:r>
              <a:rPr lang="en-US" altLang="en-US" sz="2000" dirty="0"/>
              <a:t>supported by a variety of different operating systems</a:t>
            </a:r>
          </a:p>
          <a:p>
            <a:pPr lvl="1">
              <a:spcAft>
                <a:spcPct val="40000"/>
              </a:spcAft>
            </a:pPr>
            <a:r>
              <a:rPr lang="en-US" altLang="en-US" sz="2000" dirty="0"/>
              <a:t>connected together by a variety of different communication networks</a:t>
            </a:r>
          </a:p>
          <a:p>
            <a:pPr>
              <a:spcAft>
                <a:spcPct val="40000"/>
              </a:spcAft>
            </a:pPr>
            <a:r>
              <a:rPr lang="en-US" altLang="en-US" sz="2400" dirty="0"/>
              <a:t>The distribution can be </a:t>
            </a:r>
            <a:r>
              <a:rPr lang="en-US" altLang="en-US" sz="2400" b="1" dirty="0">
                <a:solidFill>
                  <a:srgbClr val="FF0000"/>
                </a:solidFill>
              </a:rPr>
              <a:t>geographical or local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B2A3993-6651-4E59-909E-36455EF8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="" xmlns:a16="http://schemas.microsoft.com/office/drawing/2014/main" id="{40272824-F5B3-4AF8-BF67-A683CDEF8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23289"/>
            <a:ext cx="10515600" cy="1119882"/>
          </a:xfrm>
          <a:noFill/>
          <a:ln/>
        </p:spPr>
        <p:txBody>
          <a:bodyPr anchor="b"/>
          <a:lstStyle/>
          <a:p>
            <a:pPr algn="ctr"/>
            <a:r>
              <a:rPr lang="en-US" altLang="en-US" b="1" dirty="0"/>
              <a:t>Workable definition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="" xmlns:a16="http://schemas.microsoft.com/office/drawing/2014/main" id="{516C12EF-391A-4FE9-90AF-C5EB49DCF1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9317" y="1219200"/>
            <a:ext cx="9902483" cy="5167532"/>
          </a:xfrm>
          <a:noFill/>
          <a:ln/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A distributed database system consists of a collection of sites connected together via some kind of communications network,  in which </a:t>
            </a:r>
            <a:r>
              <a:rPr lang="en-US" altLang="en-US" sz="2400" dirty="0" smtClean="0"/>
              <a:t>:</a:t>
            </a:r>
            <a:br>
              <a:rPr lang="en-US" altLang="en-US" sz="2400" dirty="0" smtClean="0"/>
            </a:br>
            <a:endParaRPr lang="en-US" altLang="en-US" sz="2400" dirty="0"/>
          </a:p>
          <a:p>
            <a:pPr marL="763588" lvl="1"/>
            <a:r>
              <a:rPr lang="en-US" altLang="en-US" sz="2000" dirty="0">
                <a:solidFill>
                  <a:srgbClr val="FF0000"/>
                </a:solidFill>
              </a:rPr>
              <a:t>E</a:t>
            </a:r>
            <a:r>
              <a:rPr lang="en-US" altLang="en-US" sz="2000" dirty="0" smtClean="0">
                <a:solidFill>
                  <a:srgbClr val="FF0000"/>
                </a:solidFill>
              </a:rPr>
              <a:t>ach </a:t>
            </a:r>
            <a:r>
              <a:rPr lang="en-US" altLang="en-US" sz="2000" dirty="0">
                <a:solidFill>
                  <a:srgbClr val="FF0000"/>
                </a:solidFill>
              </a:rPr>
              <a:t>site is a database system site in its own right</a:t>
            </a:r>
            <a:r>
              <a:rPr lang="en-US" altLang="en-US" sz="2000" dirty="0" smtClean="0">
                <a:solidFill>
                  <a:srgbClr val="FF0000"/>
                </a:solidFill>
              </a:rPr>
              <a:t>;</a:t>
            </a:r>
            <a:br>
              <a:rPr lang="en-US" altLang="en-US" sz="2000" dirty="0" smtClean="0">
                <a:solidFill>
                  <a:srgbClr val="FF0000"/>
                </a:solidFill>
              </a:rPr>
            </a:br>
            <a:endParaRPr lang="en-US" altLang="en-US" sz="2000" dirty="0">
              <a:solidFill>
                <a:srgbClr val="FF0000"/>
              </a:solidFill>
            </a:endParaRPr>
          </a:p>
          <a:p>
            <a:pPr marL="763588" lvl="1"/>
            <a:r>
              <a:rPr lang="en-US" altLang="en-US" sz="2000" dirty="0" smtClean="0">
                <a:solidFill>
                  <a:srgbClr val="00B0F0"/>
                </a:solidFill>
              </a:rPr>
              <a:t>All the </a:t>
            </a:r>
            <a:r>
              <a:rPr lang="en-US" altLang="en-US" sz="2000" dirty="0">
                <a:solidFill>
                  <a:srgbClr val="00B0F0"/>
                </a:solidFill>
              </a:rPr>
              <a:t>sites agree to work together, so that a user at any site can access data  anywhere in the network exactly as if the data were all stored at the user's own </a:t>
            </a:r>
            <a:r>
              <a:rPr lang="en-US" altLang="en-US" sz="2000" dirty="0" smtClean="0">
                <a:solidFill>
                  <a:srgbClr val="00B0F0"/>
                </a:solidFill>
              </a:rPr>
              <a:t>site</a:t>
            </a:r>
            <a:r>
              <a:rPr lang="en-US" altLang="en-US" sz="1800" dirty="0" smtClean="0"/>
              <a:t/>
            </a:r>
            <a:br>
              <a:rPr lang="en-US" altLang="en-US" sz="1800" dirty="0" smtClean="0"/>
            </a:br>
            <a:endParaRPr lang="en-US" alt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It is a logical union of real databases </a:t>
            </a:r>
          </a:p>
          <a:p>
            <a:pPr marL="230188" indent="-230188"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0FCF6A7-A178-4E8B-A394-9B045E4E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="" xmlns:a16="http://schemas.microsoft.com/office/drawing/2014/main" id="{F8727160-9F01-4209-A4AB-09453C08E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altLang="en-US" sz="800">
                <a:latin typeface="Eras Medium ITC" panose="020B0602030504020804" pitchFamily="34" charset="0"/>
              </a:rPr>
              <a:t>6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="" xmlns:a16="http://schemas.microsoft.com/office/drawing/2014/main" id="{E008A975-96BD-4868-BB35-DA9542471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Distributed Processing</a:t>
            </a:r>
          </a:p>
        </p:txBody>
      </p:sp>
      <p:sp>
        <p:nvSpPr>
          <p:cNvPr id="14344" name="Rectangle 8">
            <a:extLst>
              <a:ext uri="{FF2B5EF4-FFF2-40B4-BE49-F238E27FC236}">
                <a16:creationId xmlns="" xmlns:a16="http://schemas.microsoft.com/office/drawing/2014/main" id="{43880750-EFFC-48EC-9F37-3CC9B85E8C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2" y="1573212"/>
            <a:ext cx="8595360" cy="4351337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centralized database </a:t>
            </a:r>
            <a:r>
              <a:rPr lang="en-US" altLang="en-US" sz="2000" dirty="0"/>
              <a:t>that can be accessed over a computer network.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AC0B5CC-E740-49D1-9E90-83AF44D4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7</a:t>
            </a:fld>
            <a:endParaRPr lang="en-US"/>
          </a:p>
        </p:txBody>
      </p:sp>
      <p:pic>
        <p:nvPicPr>
          <p:cNvPr id="14342" name="Picture 6">
            <a:extLst>
              <a:ext uri="{FF2B5EF4-FFF2-40B4-BE49-F238E27FC236}">
                <a16:creationId xmlns="" xmlns:a16="http://schemas.microsoft.com/office/drawing/2014/main" id="{C972974E-D68E-45A1-90F2-D0F098740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80" y="1984374"/>
            <a:ext cx="5257800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5">
            <a:extLst>
              <a:ext uri="{FF2B5EF4-FFF2-40B4-BE49-F238E27FC236}">
                <a16:creationId xmlns="" xmlns:a16="http://schemas.microsoft.com/office/drawing/2014/main" id="{F2B95E89-CD93-4324-9053-599CCAF38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Advantages of DDBMSs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="" xmlns:a16="http://schemas.microsoft.com/office/drawing/2014/main" id="{3980550F-3596-4637-A91B-79EB161549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Organizational Structure</a:t>
            </a:r>
          </a:p>
          <a:p>
            <a:r>
              <a:rPr lang="en-US" altLang="en-US" sz="2400" dirty="0" smtClean="0"/>
              <a:t>Sharable </a:t>
            </a:r>
            <a:r>
              <a:rPr lang="en-US" altLang="en-US" sz="2400" dirty="0"/>
              <a:t>and Local Autonomy</a:t>
            </a:r>
          </a:p>
          <a:p>
            <a:r>
              <a:rPr lang="en-US" altLang="en-US" sz="2400" dirty="0"/>
              <a:t>Improved </a:t>
            </a:r>
            <a:r>
              <a:rPr lang="en-US" altLang="en-US" sz="2400" dirty="0" smtClean="0"/>
              <a:t>Availability</a:t>
            </a:r>
          </a:p>
          <a:p>
            <a:r>
              <a:rPr lang="en-US" altLang="en-US" sz="2400" dirty="0" smtClean="0"/>
              <a:t>Improved </a:t>
            </a:r>
            <a:r>
              <a:rPr lang="en-US" altLang="en-US" sz="2400" dirty="0"/>
              <a:t>Reliability</a:t>
            </a:r>
          </a:p>
          <a:p>
            <a:r>
              <a:rPr lang="en-US" altLang="en-US" sz="2400" dirty="0" smtClean="0"/>
              <a:t>Economics</a:t>
            </a:r>
            <a:endParaRPr lang="en-US" altLang="en-US" sz="2400" dirty="0"/>
          </a:p>
          <a:p>
            <a:r>
              <a:rPr lang="en-US" altLang="en-US" sz="2400" dirty="0"/>
              <a:t>Modular </a:t>
            </a:r>
            <a:r>
              <a:rPr lang="en-US" altLang="en-US" sz="2400" dirty="0" smtClean="0"/>
              <a:t>Growth</a:t>
            </a:r>
          </a:p>
          <a:p>
            <a:r>
              <a:rPr lang="en-US" altLang="en-US" sz="2400" dirty="0"/>
              <a:t>Improved performance</a:t>
            </a:r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9BA95EE-26A2-46C1-A399-4755789F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5">
            <a:extLst>
              <a:ext uri="{FF2B5EF4-FFF2-40B4-BE49-F238E27FC236}">
                <a16:creationId xmlns="" xmlns:a16="http://schemas.microsoft.com/office/drawing/2014/main" id="{6B2B601E-026A-4DFA-B4A9-892C813F4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9330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Disadvantages of DDBMSs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="" xmlns:a16="http://schemas.microsoft.com/office/drawing/2014/main" id="{3D382659-2295-4B1E-A633-469B6A6CD7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smtClean="0"/>
              <a:t>Cost</a:t>
            </a:r>
            <a:endParaRPr lang="en-US" altLang="en-US" sz="2400" dirty="0"/>
          </a:p>
          <a:p>
            <a:r>
              <a:rPr lang="en-US" altLang="en-US" sz="2400" dirty="0"/>
              <a:t>Security</a:t>
            </a:r>
          </a:p>
          <a:p>
            <a:r>
              <a:rPr lang="en-US" altLang="en-US" sz="2400" dirty="0"/>
              <a:t>Integrity Control More Difficult</a:t>
            </a:r>
          </a:p>
          <a:p>
            <a:r>
              <a:rPr lang="en-US" altLang="en-US" sz="2400" dirty="0" smtClean="0"/>
              <a:t>Lack </a:t>
            </a:r>
            <a:r>
              <a:rPr lang="en-US" altLang="en-US" sz="2400" dirty="0"/>
              <a:t>of Experience</a:t>
            </a:r>
          </a:p>
          <a:p>
            <a:r>
              <a:rPr lang="en-US" altLang="en-US" sz="2400" dirty="0"/>
              <a:t>Database Design More Complex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33EFFE4-F014-4677-AF81-9B8B3FDC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5">
            <a:extLst>
              <a:ext uri="{FF2B5EF4-FFF2-40B4-BE49-F238E27FC236}">
                <a16:creationId xmlns="" xmlns:a16="http://schemas.microsoft.com/office/drawing/2014/main" id="{7547D276-9B81-4A33-8E87-9CC23FCF5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Types of DDBMS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="" xmlns:a16="http://schemas.microsoft.com/office/drawing/2014/main" id="{8F38D659-2A56-4A14-B0B6-12210BC228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Homogeneous </a:t>
            </a:r>
            <a:r>
              <a:rPr lang="en-US" altLang="en-US" sz="2400" dirty="0" smtClean="0"/>
              <a:t>DDBMS</a:t>
            </a:r>
            <a:br>
              <a:rPr lang="en-US" altLang="en-US" sz="2400" dirty="0" smtClean="0"/>
            </a:br>
            <a:endParaRPr lang="en-US" altLang="en-US" sz="2400" dirty="0"/>
          </a:p>
          <a:p>
            <a:r>
              <a:rPr lang="en-US" altLang="en-US" sz="2400" dirty="0"/>
              <a:t>Heterogeneous DDBMS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32ABA15-2042-4B0F-B586-4D1B4FBB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5">
            <a:extLst>
              <a:ext uri="{FF2B5EF4-FFF2-40B4-BE49-F238E27FC236}">
                <a16:creationId xmlns="" xmlns:a16="http://schemas.microsoft.com/office/drawing/2014/main" id="{3E0CB44D-252A-4241-8676-BA1EEA9ED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Homogeneous DDBMS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="" xmlns:a16="http://schemas.microsoft.com/office/drawing/2014/main" id="{DD1F0BD9-A585-4A71-872F-B4C940EF6C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All sites use same DBMS product. </a:t>
            </a:r>
            <a:r>
              <a:rPr lang="en-US" altLang="en-US" sz="2400" dirty="0" smtClean="0">
                <a:solidFill>
                  <a:srgbClr val="FF0000"/>
                </a:solidFill>
              </a:rPr>
              <a:t>(same software)</a:t>
            </a:r>
            <a:endParaRPr lang="en-US" altLang="en-US" sz="2400" dirty="0">
              <a:solidFill>
                <a:srgbClr val="FF0000"/>
              </a:solidFill>
            </a:endParaRPr>
          </a:p>
          <a:p>
            <a:r>
              <a:rPr lang="en-US" altLang="en-US" sz="2400" dirty="0"/>
              <a:t>Much easier to design and manage. </a:t>
            </a:r>
          </a:p>
          <a:p>
            <a:r>
              <a:rPr lang="en-US" altLang="en-US" sz="2400" dirty="0"/>
              <a:t>Approach provides incremental growth and allows increased performance.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3849EC8-60C9-4322-AE69-87578347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5">
            <a:extLst>
              <a:ext uri="{FF2B5EF4-FFF2-40B4-BE49-F238E27FC236}">
                <a16:creationId xmlns="" xmlns:a16="http://schemas.microsoft.com/office/drawing/2014/main" id="{404C68CD-B0B9-4FB3-9F32-02DB29107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7127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Heterogeneous DDBMS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="" xmlns:a16="http://schemas.microsoft.com/office/drawing/2014/main" id="{B0D7852A-D939-445C-873F-04943D062E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1" y="1828800"/>
            <a:ext cx="9537895" cy="4351337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Occurs </a:t>
            </a:r>
            <a:r>
              <a:rPr lang="en-US" altLang="en-US" sz="2400" dirty="0"/>
              <a:t>when sites have implemented their own databases and integration is considered later. </a:t>
            </a:r>
            <a:r>
              <a:rPr lang="en-US" altLang="en-US" sz="2400" dirty="0" smtClean="0"/>
              <a:t/>
            </a:r>
            <a:br>
              <a:rPr lang="en-US" altLang="en-US" sz="2400" dirty="0" smtClean="0"/>
            </a:br>
            <a:endParaRPr lang="en-US" altLang="en-US" sz="2400" dirty="0"/>
          </a:p>
          <a:p>
            <a:pPr lvl="1"/>
            <a:r>
              <a:rPr lang="en-US" altLang="en-US" sz="2000" dirty="0" smtClean="0">
                <a:solidFill>
                  <a:srgbClr val="00B0F0"/>
                </a:solidFill>
              </a:rPr>
              <a:t>Different </a:t>
            </a:r>
            <a:r>
              <a:rPr lang="en-US" altLang="en-US" sz="2000" dirty="0">
                <a:solidFill>
                  <a:srgbClr val="00B0F0"/>
                </a:solidFill>
              </a:rPr>
              <a:t>hardware</a:t>
            </a:r>
            <a:r>
              <a:rPr lang="en-US" altLang="en-US" sz="2000" dirty="0" smtClean="0">
                <a:solidFill>
                  <a:srgbClr val="00B0F0"/>
                </a:solidFill>
              </a:rPr>
              <a:t>. (or OS)</a:t>
            </a:r>
            <a:endParaRPr lang="en-US" altLang="en-US" sz="2000" dirty="0">
              <a:solidFill>
                <a:srgbClr val="00B0F0"/>
              </a:solidFill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</a:rPr>
              <a:t>Different DBMS </a:t>
            </a:r>
            <a:r>
              <a:rPr lang="en-US" altLang="en-US" sz="2000" dirty="0" smtClean="0">
                <a:solidFill>
                  <a:srgbClr val="00B0F0"/>
                </a:solidFill>
              </a:rPr>
              <a:t>products/</a:t>
            </a:r>
            <a:r>
              <a:rPr lang="en-US" altLang="en-US" sz="2000" dirty="0" err="1" smtClean="0">
                <a:solidFill>
                  <a:srgbClr val="00B0F0"/>
                </a:solidFill>
              </a:rPr>
              <a:t>softwares</a:t>
            </a:r>
            <a:r>
              <a:rPr lang="en-US" altLang="en-US" sz="2000" dirty="0" smtClean="0">
                <a:solidFill>
                  <a:srgbClr val="00B0F0"/>
                </a:solidFill>
              </a:rPr>
              <a:t>.</a:t>
            </a:r>
            <a:endParaRPr lang="en-US" altLang="en-US" sz="2000" dirty="0">
              <a:solidFill>
                <a:srgbClr val="00B0F0"/>
              </a:solidFill>
            </a:endParaRP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Different hardware and different DBMS products</a:t>
            </a:r>
            <a:r>
              <a:rPr lang="en-US" altLang="en-US" sz="2000" dirty="0" smtClean="0">
                <a:solidFill>
                  <a:srgbClr val="FF0000"/>
                </a:solidFill>
              </a:rPr>
              <a:t>.</a:t>
            </a:r>
            <a:r>
              <a:rPr lang="en-US" altLang="en-US" sz="2000" dirty="0" smtClean="0"/>
              <a:t/>
            </a:r>
            <a:br>
              <a:rPr lang="en-US" altLang="en-US" sz="2000" dirty="0" smtClean="0"/>
            </a:br>
            <a:endParaRPr lang="en-US" altLang="en-US" sz="2000" dirty="0"/>
          </a:p>
          <a:p>
            <a:r>
              <a:rPr lang="en-US" altLang="en-US" sz="2400" dirty="0"/>
              <a:t>Typical solution is to use gateways</a:t>
            </a:r>
            <a:r>
              <a:rPr lang="en-US" altLang="en-US" sz="2400" dirty="0" smtClean="0"/>
              <a:t>.</a:t>
            </a:r>
          </a:p>
          <a:p>
            <a:r>
              <a:rPr lang="en-US" sz="2400" dirty="0"/>
              <a:t>Query processing is complex due to dissimilar schemas.</a:t>
            </a: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A956AC7-1997-40A9-BA1B-0C00057B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5">
            <a:extLst>
              <a:ext uri="{FF2B5EF4-FFF2-40B4-BE49-F238E27FC236}">
                <a16:creationId xmlns="" xmlns:a16="http://schemas.microsoft.com/office/drawing/2014/main" id="{D2CF522E-249C-4F2D-803F-C4767D667C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3398" y="0"/>
            <a:ext cx="9692640" cy="1325562"/>
          </a:xfrm>
        </p:spPr>
        <p:txBody>
          <a:bodyPr/>
          <a:lstStyle/>
          <a:p>
            <a:pPr algn="ctr"/>
            <a:r>
              <a:rPr lang="en-US" altLang="en-US" sz="2800" b="1" dirty="0"/>
              <a:t>Open Database Access and Interoperability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="" xmlns:a16="http://schemas.microsoft.com/office/drawing/2014/main" id="{10F73AE1-2977-442E-9F09-82F48BCB3A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6775" y="1828800"/>
            <a:ext cx="10279263" cy="4351337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Common </a:t>
            </a:r>
            <a:r>
              <a:rPr lang="en-US" altLang="en-US" sz="2400" dirty="0"/>
              <a:t>SQL API that allows client applications to be written that do not need to know vendor of DBMS they are accessing</a:t>
            </a:r>
            <a:r>
              <a:rPr lang="en-US" altLang="en-US" sz="2400" dirty="0" smtClean="0"/>
              <a:t>.</a:t>
            </a:r>
            <a:br>
              <a:rPr lang="en-US" altLang="en-US" sz="2400" dirty="0" smtClean="0"/>
            </a:br>
            <a:endParaRPr lang="en-US" altLang="en-US" sz="2400" dirty="0"/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Common database protocol that enables DBMS from one vendor to communicate directly with DBMS from </a:t>
            </a:r>
            <a:r>
              <a:rPr lang="en-US" altLang="en-US" sz="2000" dirty="0" smtClean="0">
                <a:solidFill>
                  <a:srgbClr val="FF0000"/>
                </a:solidFill>
              </a:rPr>
              <a:t>another.</a:t>
            </a:r>
            <a:br>
              <a:rPr lang="en-US" altLang="en-US" sz="2000" dirty="0" smtClean="0">
                <a:solidFill>
                  <a:srgbClr val="FF0000"/>
                </a:solidFill>
              </a:rPr>
            </a:br>
            <a:endParaRPr lang="en-US" altLang="en-US" sz="2000" dirty="0">
              <a:solidFill>
                <a:srgbClr val="FF0000"/>
              </a:solidFill>
            </a:endParaRP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C</a:t>
            </a:r>
            <a:r>
              <a:rPr lang="en-US" altLang="en-US" sz="2000" dirty="0" smtClean="0">
                <a:solidFill>
                  <a:srgbClr val="FF0000"/>
                </a:solidFill>
              </a:rPr>
              <a:t>ommon </a:t>
            </a:r>
            <a:r>
              <a:rPr lang="en-US" altLang="en-US" sz="2000" dirty="0">
                <a:solidFill>
                  <a:srgbClr val="FF0000"/>
                </a:solidFill>
              </a:rPr>
              <a:t>network protocol that allows communications between different DBMSs.</a:t>
            </a:r>
          </a:p>
          <a:p>
            <a:r>
              <a:rPr lang="en-US" altLang="en-US" sz="2400" dirty="0" smtClean="0"/>
              <a:t>Goal </a:t>
            </a:r>
            <a:r>
              <a:rPr lang="en-US" altLang="en-US" sz="2400" dirty="0"/>
              <a:t>is to find a way to enable transaction to span DBMSs from different vendors without use of a gateway.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7C72A8A-4DEC-4C89-83A7-C354DA70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5">
            <a:extLst>
              <a:ext uri="{FF2B5EF4-FFF2-40B4-BE49-F238E27FC236}">
                <a16:creationId xmlns="" xmlns:a16="http://schemas.microsoft.com/office/drawing/2014/main" id="{31C13779-F754-4020-8AAD-78EB3B8DB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3398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Functions of a DDBMS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="" xmlns:a16="http://schemas.microsoft.com/office/drawing/2014/main" id="{60C42B24-65D1-4F0F-933B-05F22CFC15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Expect DDBMS to have at least the functionality of a DBMS.</a:t>
            </a:r>
          </a:p>
          <a:p>
            <a:r>
              <a:rPr lang="en-US" altLang="en-US" sz="2400" dirty="0"/>
              <a:t>Also to have following functionality</a:t>
            </a:r>
            <a:r>
              <a:rPr lang="en-US" altLang="en-US" sz="2400" dirty="0" smtClean="0"/>
              <a:t>:</a:t>
            </a:r>
            <a:br>
              <a:rPr lang="en-US" altLang="en-US" sz="2400" dirty="0" smtClean="0"/>
            </a:br>
            <a:endParaRPr lang="en-US" altLang="en-US" sz="2400" dirty="0"/>
          </a:p>
          <a:p>
            <a:pPr lvl="1"/>
            <a:r>
              <a:rPr lang="en-US" altLang="en-US" sz="2000" dirty="0"/>
              <a:t>	</a:t>
            </a:r>
            <a:r>
              <a:rPr lang="en-US" altLang="en-US" sz="2000" dirty="0" smtClean="0">
                <a:solidFill>
                  <a:srgbClr val="FF0000"/>
                </a:solidFill>
              </a:rPr>
              <a:t>Extended </a:t>
            </a:r>
            <a:r>
              <a:rPr lang="en-US" altLang="en-US" sz="2000" dirty="0">
                <a:solidFill>
                  <a:srgbClr val="FF0000"/>
                </a:solidFill>
              </a:rPr>
              <a:t>Data Dictionary.</a:t>
            </a:r>
          </a:p>
          <a:p>
            <a:pPr lvl="1"/>
            <a:r>
              <a:rPr lang="en-US" altLang="en-US" sz="2000" dirty="0">
                <a:solidFill>
                  <a:srgbClr val="00B050"/>
                </a:solidFill>
              </a:rPr>
              <a:t>	Distributed query processing.</a:t>
            </a:r>
          </a:p>
          <a:p>
            <a:pPr lvl="1"/>
            <a:r>
              <a:rPr lang="en-US" altLang="en-US" sz="2000" dirty="0">
                <a:solidFill>
                  <a:srgbClr val="00B050"/>
                </a:solidFill>
              </a:rPr>
              <a:t>	</a:t>
            </a:r>
            <a:r>
              <a:rPr lang="en-US" altLang="en-US" sz="2000" dirty="0">
                <a:solidFill>
                  <a:srgbClr val="FF0000"/>
                </a:solidFill>
              </a:rPr>
              <a:t>Extended concurrency control.</a:t>
            </a:r>
          </a:p>
          <a:p>
            <a:pPr lvl="1"/>
            <a:r>
              <a:rPr lang="en-US" altLang="en-US" sz="2000" dirty="0">
                <a:solidFill>
                  <a:srgbClr val="00B050"/>
                </a:solidFill>
              </a:rPr>
              <a:t>	Extended recovery services.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C79244C-8084-427D-BB35-FDDDD3BE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5">
            <a:extLst>
              <a:ext uri="{FF2B5EF4-FFF2-40B4-BE49-F238E27FC236}">
                <a16:creationId xmlns="" xmlns:a16="http://schemas.microsoft.com/office/drawing/2014/main" id="{F8484D3B-A92B-4483-8BE5-258DBF01B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/>
              <a:t>Distributed Database Design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="" xmlns:a16="http://schemas.microsoft.com/office/drawing/2014/main" id="{4D70EB70-08DF-4D93-B582-2C6C791ED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1" y="1828800"/>
            <a:ext cx="9048319" cy="4351337"/>
          </a:xfrm>
        </p:spPr>
        <p:txBody>
          <a:bodyPr>
            <a:normAutofit/>
          </a:bodyPr>
          <a:lstStyle/>
          <a:p>
            <a:endParaRPr lang="en-US" altLang="en-US" sz="2400" dirty="0" smtClean="0"/>
          </a:p>
          <a:p>
            <a:r>
              <a:rPr lang="en-US" altLang="en-US" sz="2400" dirty="0" smtClean="0"/>
              <a:t>Three </a:t>
            </a:r>
            <a:r>
              <a:rPr lang="en-US" altLang="en-US" sz="2400" dirty="0"/>
              <a:t>key </a:t>
            </a:r>
            <a:r>
              <a:rPr lang="en-US" altLang="en-US" sz="2400" dirty="0" smtClean="0"/>
              <a:t>issues/processes to deal with when using DDBMS:</a:t>
            </a:r>
            <a:endParaRPr lang="en-US" altLang="en-US" sz="2400" dirty="0"/>
          </a:p>
          <a:p>
            <a:pPr lvl="1"/>
            <a:endParaRPr lang="en-US" altLang="en-US" sz="2000" dirty="0"/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Fragmentation.</a:t>
            </a:r>
          </a:p>
          <a:p>
            <a:pPr lvl="1"/>
            <a:r>
              <a:rPr lang="en-US" altLang="en-US" sz="2400" b="1" dirty="0">
                <a:solidFill>
                  <a:srgbClr val="00B050"/>
                </a:solidFill>
              </a:rPr>
              <a:t>Allocation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</a:rPr>
              <a:t>Replication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6C95E4F-04E5-4A90-B74B-FEDE1F36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>
            <a:extLst>
              <a:ext uri="{FF2B5EF4-FFF2-40B4-BE49-F238E27FC236}">
                <a16:creationId xmlns="" xmlns:a16="http://schemas.microsoft.com/office/drawing/2014/main" id="{56CC2BB5-C444-43FB-A1D6-4B0E0FC12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67774"/>
          </a:xfrm>
        </p:spPr>
        <p:txBody>
          <a:bodyPr/>
          <a:lstStyle/>
          <a:p>
            <a:pPr algn="ctr"/>
            <a:r>
              <a:rPr lang="en-US" altLang="en-US" b="1" dirty="0"/>
              <a:t>Distributed Database Design</a:t>
            </a:r>
          </a:p>
        </p:txBody>
      </p:sp>
      <p:sp>
        <p:nvSpPr>
          <p:cNvPr id="57350" name="Rectangle 6">
            <a:extLst>
              <a:ext uri="{FF2B5EF4-FFF2-40B4-BE49-F238E27FC236}">
                <a16:creationId xmlns="" xmlns:a16="http://schemas.microsoft.com/office/drawing/2014/main" id="{A99A9BF6-4D7B-42CE-B821-C42329D3D4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1371600"/>
            <a:ext cx="8796338" cy="518160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Fragmentation</a:t>
            </a:r>
          </a:p>
          <a:p>
            <a:pPr lvl="1"/>
            <a:r>
              <a:rPr lang="en-US" altLang="en-US" sz="2000" dirty="0"/>
              <a:t>Relation may be divided into a number of sub-relations, which are then distributed.</a:t>
            </a:r>
          </a:p>
          <a:p>
            <a:endParaRPr lang="en-US" altLang="en-US" sz="2400" dirty="0"/>
          </a:p>
          <a:p>
            <a:r>
              <a:rPr lang="en-US" altLang="en-US" sz="2400" dirty="0">
                <a:solidFill>
                  <a:srgbClr val="00B050"/>
                </a:solidFill>
              </a:rPr>
              <a:t>Allocation</a:t>
            </a:r>
          </a:p>
          <a:p>
            <a:pPr lvl="1"/>
            <a:r>
              <a:rPr lang="en-US" altLang="en-US" sz="2000" dirty="0"/>
              <a:t>Each fragment is stored at site with "optimal" distribution.</a:t>
            </a:r>
          </a:p>
          <a:p>
            <a:endParaRPr lang="en-US" altLang="en-US" sz="2400" dirty="0"/>
          </a:p>
          <a:p>
            <a:r>
              <a:rPr lang="en-US" altLang="en-US" sz="2400" dirty="0">
                <a:solidFill>
                  <a:srgbClr val="00B0F0"/>
                </a:solidFill>
              </a:rPr>
              <a:t>Replication</a:t>
            </a:r>
          </a:p>
          <a:p>
            <a:pPr lvl="1"/>
            <a:r>
              <a:rPr lang="en-US" altLang="en-US" sz="2000" dirty="0"/>
              <a:t>Copy of fragment may be maintained at several sites.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33C78F9-EB1E-481E-9C1F-5163611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Rectangle 5">
            <a:extLst>
              <a:ext uri="{FF2B5EF4-FFF2-40B4-BE49-F238E27FC236}">
                <a16:creationId xmlns="" xmlns:a16="http://schemas.microsoft.com/office/drawing/2014/main" id="{C18FAB24-03A9-4C4B-9BBC-E67C92AED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3398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Fragmentation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="" xmlns:a16="http://schemas.microsoft.com/office/drawing/2014/main" id="{D231164C-9B7C-4274-BF22-CF15DC68F6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Definition and allocation of fragments carried out strategically to achieve</a:t>
            </a:r>
            <a:r>
              <a:rPr lang="en-US" altLang="en-US" sz="2400" dirty="0" smtClean="0"/>
              <a:t>:</a:t>
            </a:r>
            <a:endParaRPr lang="en-US" altLang="en-US" sz="2400" dirty="0"/>
          </a:p>
          <a:p>
            <a:pPr lvl="1"/>
            <a:r>
              <a:rPr lang="en-US" altLang="en-US" sz="2000" dirty="0" smtClean="0">
                <a:solidFill>
                  <a:srgbClr val="00B0F0"/>
                </a:solidFill>
              </a:rPr>
              <a:t>Improved </a:t>
            </a:r>
            <a:r>
              <a:rPr lang="en-US" altLang="en-US" sz="2000" dirty="0">
                <a:solidFill>
                  <a:srgbClr val="00B0F0"/>
                </a:solidFill>
              </a:rPr>
              <a:t>Availability</a:t>
            </a:r>
          </a:p>
          <a:p>
            <a:pPr lvl="1"/>
            <a:r>
              <a:rPr lang="en-US" altLang="en-US" sz="2000" dirty="0">
                <a:solidFill>
                  <a:srgbClr val="00B0F0"/>
                </a:solidFill>
              </a:rPr>
              <a:t>Improved Performance</a:t>
            </a:r>
          </a:p>
          <a:p>
            <a:pPr lvl="1"/>
            <a:r>
              <a:rPr lang="en-US" altLang="en-US" sz="2000" dirty="0">
                <a:solidFill>
                  <a:srgbClr val="00B0F0"/>
                </a:solidFill>
              </a:rPr>
              <a:t>Balanced Storage Capacities and Costs</a:t>
            </a:r>
          </a:p>
          <a:p>
            <a:pPr lvl="1"/>
            <a:r>
              <a:rPr lang="en-US" altLang="en-US" sz="2000" dirty="0">
                <a:solidFill>
                  <a:srgbClr val="00B0F0"/>
                </a:solidFill>
              </a:rPr>
              <a:t>Minimal Communication Costs</a:t>
            </a:r>
            <a:r>
              <a:rPr lang="en-US" altLang="en-US" sz="2000" dirty="0" smtClean="0">
                <a:solidFill>
                  <a:srgbClr val="00B0F0"/>
                </a:solidFill>
              </a:rPr>
              <a:t>.</a:t>
            </a:r>
          </a:p>
          <a:p>
            <a:r>
              <a:rPr lang="en-US" altLang="en-US" sz="2400" dirty="0" smtClean="0"/>
              <a:t>Involves analyzing most important applications, based on quantitative/qualitative information. </a:t>
            </a: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C9EE407-D0CE-451B-8E16-26A42A8B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5">
            <a:extLst>
              <a:ext uri="{FF2B5EF4-FFF2-40B4-BE49-F238E27FC236}">
                <a16:creationId xmlns="" xmlns:a16="http://schemas.microsoft.com/office/drawing/2014/main" id="{7E5EA2FD-23A2-4386-8174-B99822BEAB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Fragmentation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="" xmlns:a16="http://schemas.microsoft.com/office/drawing/2014/main" id="{92651F47-A038-4483-8A6E-9904A1EC27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Quantitative information may include:</a:t>
            </a:r>
          </a:p>
          <a:p>
            <a:pPr lvl="1"/>
            <a:r>
              <a:rPr lang="en-US" altLang="en-US" sz="2000" dirty="0"/>
              <a:t>frequency with which an application is run;</a:t>
            </a:r>
          </a:p>
          <a:p>
            <a:pPr lvl="1"/>
            <a:r>
              <a:rPr lang="en-US" altLang="en-US" sz="2000" dirty="0"/>
              <a:t>site from which an application is </a:t>
            </a:r>
            <a:r>
              <a:rPr lang="en-US" altLang="en-US" sz="2000" dirty="0" smtClean="0"/>
              <a:t>run</a:t>
            </a:r>
            <a:br>
              <a:rPr lang="en-US" altLang="en-US" sz="2000" dirty="0" smtClean="0"/>
            </a:br>
            <a:endParaRPr lang="en-US" altLang="en-US" sz="2000" dirty="0"/>
          </a:p>
          <a:p>
            <a:r>
              <a:rPr lang="en-US" altLang="en-US" sz="2400" dirty="0" smtClean="0"/>
              <a:t>Qualitative </a:t>
            </a:r>
            <a:r>
              <a:rPr lang="en-US" altLang="en-US" sz="2400" dirty="0"/>
              <a:t>information may include </a:t>
            </a:r>
            <a:r>
              <a:rPr lang="en-US" altLang="en-US" sz="2400" dirty="0" smtClean="0"/>
              <a:t/>
            </a:r>
            <a:br>
              <a:rPr lang="en-US" altLang="en-US" sz="2400" dirty="0" smtClean="0"/>
            </a:br>
            <a:r>
              <a:rPr lang="en-US" altLang="en-US" sz="2400" dirty="0"/>
              <a:t>	</a:t>
            </a:r>
            <a:r>
              <a:rPr lang="en-US" altLang="en-US" sz="2000" dirty="0" smtClean="0"/>
              <a:t>type </a:t>
            </a:r>
            <a:r>
              <a:rPr lang="en-US" altLang="en-US" sz="2000" dirty="0"/>
              <a:t>of access (read or write), </a:t>
            </a:r>
            <a:r>
              <a:rPr lang="en-US" altLang="en-US" sz="2000" dirty="0" smtClean="0"/>
              <a:t/>
            </a:r>
            <a:br>
              <a:rPr lang="en-US" altLang="en-US" sz="2000" dirty="0" smtClean="0"/>
            </a:br>
            <a:r>
              <a:rPr lang="en-US" altLang="en-US" sz="2000" dirty="0" smtClean="0"/>
              <a:t>	</a:t>
            </a: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83E7B1B-6769-4025-970C-D8D2D2C7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6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5">
            <a:extLst>
              <a:ext uri="{FF2B5EF4-FFF2-40B4-BE49-F238E27FC236}">
                <a16:creationId xmlns="" xmlns:a16="http://schemas.microsoft.com/office/drawing/2014/main" id="{2D75D5C6-7AD1-4A8E-8C53-29632FF0B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7127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Data Allocation</a:t>
            </a:r>
          </a:p>
        </p:txBody>
      </p:sp>
      <p:sp>
        <p:nvSpPr>
          <p:cNvPr id="63494" name="Rectangle 6">
            <a:extLst>
              <a:ext uri="{FF2B5EF4-FFF2-40B4-BE49-F238E27FC236}">
                <a16:creationId xmlns="" xmlns:a16="http://schemas.microsoft.com/office/drawing/2014/main" id="{FCD64041-0537-4C55-A092-58B817DB59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Four alternative strategies regarding placement of data:</a:t>
            </a:r>
          </a:p>
          <a:p>
            <a:pPr lvl="1"/>
            <a:r>
              <a:rPr lang="en-US" altLang="en-US" sz="2000" dirty="0"/>
              <a:t>Centralized</a:t>
            </a:r>
          </a:p>
          <a:p>
            <a:pPr lvl="1"/>
            <a:r>
              <a:rPr lang="en-US" altLang="en-US" sz="2000" dirty="0"/>
              <a:t>Partitioned (or Fragmented)</a:t>
            </a:r>
          </a:p>
          <a:p>
            <a:pPr lvl="1"/>
            <a:r>
              <a:rPr lang="en-US" altLang="en-US" sz="2000" dirty="0"/>
              <a:t>Complete Replication</a:t>
            </a:r>
          </a:p>
          <a:p>
            <a:pPr lvl="1"/>
            <a:r>
              <a:rPr lang="en-US" altLang="en-US" sz="2000" dirty="0"/>
              <a:t>Selective Replication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8215B280-EFA3-4508-845E-B9767907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Rectangle 5">
            <a:extLst>
              <a:ext uri="{FF2B5EF4-FFF2-40B4-BE49-F238E27FC236}">
                <a16:creationId xmlns="" xmlns:a16="http://schemas.microsoft.com/office/drawing/2014/main" id="{503CA990-BF0D-4CC6-BE48-62985AE8F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3398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Data Allocation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="" xmlns:a16="http://schemas.microsoft.com/office/drawing/2014/main" id="{0494C4E5-03E5-409C-A01B-D807AD9D0E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Centralized</a:t>
            </a:r>
          </a:p>
          <a:p>
            <a:pPr lvl="1"/>
            <a:r>
              <a:rPr lang="en-US" altLang="en-US" sz="2000" dirty="0"/>
              <a:t>Consists of single database and DBMS stored at one site with users distributed across the network.</a:t>
            </a:r>
          </a:p>
          <a:p>
            <a:pPr lvl="1"/>
            <a:endParaRPr lang="en-US" altLang="en-US" sz="2000" dirty="0"/>
          </a:p>
          <a:p>
            <a:r>
              <a:rPr lang="en-US" altLang="en-US" sz="2400" dirty="0"/>
              <a:t>Partitioned</a:t>
            </a:r>
          </a:p>
          <a:p>
            <a:pPr lvl="1"/>
            <a:r>
              <a:rPr lang="en-US" altLang="en-US" sz="2000" dirty="0"/>
              <a:t>Database partitioned into disjoint fragments, each fragment assigned to one site.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58F6F11-B1FF-4C23-B017-004E35E3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9" name="Rectangle 5">
            <a:extLst>
              <a:ext uri="{FF2B5EF4-FFF2-40B4-BE49-F238E27FC236}">
                <a16:creationId xmlns="" xmlns:a16="http://schemas.microsoft.com/office/drawing/2014/main" id="{57B376D7-9DA2-4E43-9C3F-9ACADE003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1195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Data Allocation</a:t>
            </a:r>
          </a:p>
        </p:txBody>
      </p:sp>
      <p:sp>
        <p:nvSpPr>
          <p:cNvPr id="67590" name="Rectangle 6">
            <a:extLst>
              <a:ext uri="{FF2B5EF4-FFF2-40B4-BE49-F238E27FC236}">
                <a16:creationId xmlns="" xmlns:a16="http://schemas.microsoft.com/office/drawing/2014/main" id="{004BD8E8-94EB-4B77-9D06-1D6CA07EE4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Complete Replication</a:t>
            </a:r>
          </a:p>
          <a:p>
            <a:pPr lvl="1"/>
            <a:r>
              <a:rPr lang="en-US" altLang="en-US" sz="2000" dirty="0"/>
              <a:t>Consists of maintaining complete copy of database at each site.</a:t>
            </a:r>
          </a:p>
          <a:p>
            <a:pPr lvl="1"/>
            <a:endParaRPr lang="en-US" altLang="en-US" sz="2000" dirty="0"/>
          </a:p>
          <a:p>
            <a:r>
              <a:rPr lang="en-US" altLang="en-US" sz="2400" dirty="0"/>
              <a:t>Selective Replication</a:t>
            </a:r>
          </a:p>
          <a:p>
            <a:pPr lvl="1"/>
            <a:r>
              <a:rPr lang="en-US" altLang="en-US" sz="2000" dirty="0"/>
              <a:t>Combination of partitioning, replication, and centralization.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D449F2E-7408-486E-A3A2-71A3DEBE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5">
            <a:extLst>
              <a:ext uri="{FF2B5EF4-FFF2-40B4-BE49-F238E27FC236}">
                <a16:creationId xmlns="" xmlns:a16="http://schemas.microsoft.com/office/drawing/2014/main" id="{9EC49413-F637-46CE-B41F-082615210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899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Why Fragment?</a:t>
            </a:r>
          </a:p>
        </p:txBody>
      </p:sp>
      <p:sp>
        <p:nvSpPr>
          <p:cNvPr id="71686" name="Rectangle 6">
            <a:extLst>
              <a:ext uri="{FF2B5EF4-FFF2-40B4-BE49-F238E27FC236}">
                <a16:creationId xmlns="" xmlns:a16="http://schemas.microsoft.com/office/drawing/2014/main" id="{364B590B-6C16-40A7-9D37-1C31404A3A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Usage</a:t>
            </a:r>
          </a:p>
          <a:p>
            <a:pPr lvl="1"/>
            <a:r>
              <a:rPr lang="en-US" altLang="en-US" sz="2000" dirty="0"/>
              <a:t>Applications work with views rather than entire relations</a:t>
            </a:r>
            <a:r>
              <a:rPr lang="en-US" altLang="en-US" sz="2000" dirty="0" smtClean="0"/>
              <a:t>.</a:t>
            </a:r>
            <a:br>
              <a:rPr lang="en-US" altLang="en-US" sz="2000" dirty="0" smtClean="0"/>
            </a:br>
            <a:r>
              <a:rPr lang="en-US" altLang="en-US" sz="2000" dirty="0" smtClean="0"/>
              <a:t> </a:t>
            </a:r>
            <a:endParaRPr lang="en-US" altLang="en-US" sz="2000" dirty="0"/>
          </a:p>
          <a:p>
            <a:r>
              <a:rPr lang="en-US" altLang="en-US" sz="2400" dirty="0"/>
              <a:t>Efficiency</a:t>
            </a:r>
          </a:p>
          <a:p>
            <a:pPr lvl="1"/>
            <a:r>
              <a:rPr lang="en-US" altLang="en-US" sz="2000" dirty="0"/>
              <a:t>Data is stored close to where it is most frequently used. </a:t>
            </a:r>
          </a:p>
          <a:p>
            <a:pPr lvl="1"/>
            <a:r>
              <a:rPr lang="en-US" altLang="en-US" sz="2000" dirty="0"/>
              <a:t>Data that is not needed by local applications is not stored.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EA3465F-5920-4B92-9D9F-1BC35715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3" name="Rectangle 5">
            <a:extLst>
              <a:ext uri="{FF2B5EF4-FFF2-40B4-BE49-F238E27FC236}">
                <a16:creationId xmlns="" xmlns:a16="http://schemas.microsoft.com/office/drawing/2014/main" id="{018235C6-5131-4017-AF23-A8E33493B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721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Why Fragment?</a:t>
            </a:r>
          </a:p>
        </p:txBody>
      </p:sp>
      <p:sp>
        <p:nvSpPr>
          <p:cNvPr id="73734" name="Rectangle 6">
            <a:extLst>
              <a:ext uri="{FF2B5EF4-FFF2-40B4-BE49-F238E27FC236}">
                <a16:creationId xmlns="" xmlns:a16="http://schemas.microsoft.com/office/drawing/2014/main" id="{0195F2E8-5194-4D11-8540-1D33EF3916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Parallelism</a:t>
            </a:r>
          </a:p>
          <a:p>
            <a:pPr lvl="1"/>
            <a:r>
              <a:rPr lang="en-US" altLang="en-US" sz="2000" dirty="0"/>
              <a:t>With fragments as unit of distribution, transaction can be divided into several subqueries that operate on fragments. </a:t>
            </a:r>
          </a:p>
          <a:p>
            <a:r>
              <a:rPr lang="en-US" altLang="en-US" sz="2400" dirty="0"/>
              <a:t>Security</a:t>
            </a:r>
          </a:p>
          <a:p>
            <a:pPr lvl="1"/>
            <a:r>
              <a:rPr lang="en-US" altLang="en-US" sz="2000" dirty="0"/>
              <a:t>Data not required by local applications is not stored and so not available to unauthorized users.</a:t>
            </a:r>
          </a:p>
          <a:p>
            <a:pPr lvl="1"/>
            <a:endParaRPr lang="en-US" altLang="en-US" sz="20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Disadvantages</a:t>
            </a:r>
          </a:p>
          <a:p>
            <a:pPr lvl="1"/>
            <a:r>
              <a:rPr lang="en-US" altLang="en-US" sz="2000" dirty="0"/>
              <a:t>Performance</a:t>
            </a:r>
          </a:p>
          <a:p>
            <a:pPr lvl="1"/>
            <a:r>
              <a:rPr lang="en-US" altLang="en-US" sz="2000" dirty="0"/>
              <a:t>Integrity.</a:t>
            </a:r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4D3C676-8E94-4294-AE40-933892C4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9" name="Rectangle 5">
            <a:extLst>
              <a:ext uri="{FF2B5EF4-FFF2-40B4-BE49-F238E27FC236}">
                <a16:creationId xmlns="" xmlns:a16="http://schemas.microsoft.com/office/drawing/2014/main" id="{6301AFF5-1E0D-4F5C-BFB0-3135E67927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Correctness of Fragmentation</a:t>
            </a:r>
          </a:p>
        </p:txBody>
      </p:sp>
      <p:sp>
        <p:nvSpPr>
          <p:cNvPr id="77830" name="Rectangle 6">
            <a:extLst>
              <a:ext uri="{FF2B5EF4-FFF2-40B4-BE49-F238E27FC236}">
                <a16:creationId xmlns="" xmlns:a16="http://schemas.microsoft.com/office/drawing/2014/main" id="{FD1EFCB9-6339-45D3-9DB5-222EECDD22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Three correctness rules:</a:t>
            </a:r>
          </a:p>
          <a:p>
            <a:pPr lvl="1"/>
            <a:endParaRPr lang="en-US" altLang="en-US" sz="2000" dirty="0"/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Completeness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Reconstruction</a:t>
            </a:r>
          </a:p>
          <a:p>
            <a:pPr lvl="1"/>
            <a:r>
              <a:rPr lang="en-US" altLang="en-US" sz="2400" b="1" dirty="0" err="1">
                <a:solidFill>
                  <a:srgbClr val="FF0000"/>
                </a:solidFill>
              </a:rPr>
              <a:t>Disjointness</a:t>
            </a:r>
            <a:r>
              <a:rPr lang="en-US" altLang="en-US" sz="24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8BDCE53F-5EDF-4630-B3B7-0A01B2E4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0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Rectangle 5">
            <a:extLst>
              <a:ext uri="{FF2B5EF4-FFF2-40B4-BE49-F238E27FC236}">
                <a16:creationId xmlns="" xmlns:a16="http://schemas.microsoft.com/office/drawing/2014/main" id="{D7DDB555-6204-45B9-9A42-821C27353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Correctness of Fragmentation</a:t>
            </a:r>
          </a:p>
        </p:txBody>
      </p:sp>
      <p:sp>
        <p:nvSpPr>
          <p:cNvPr id="79878" name="Rectangle 6">
            <a:extLst>
              <a:ext uri="{FF2B5EF4-FFF2-40B4-BE49-F238E27FC236}">
                <a16:creationId xmlns="" xmlns:a16="http://schemas.microsoft.com/office/drawing/2014/main" id="{2F1E835D-7858-418B-A159-BFAD5365A5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2" y="1828800"/>
            <a:ext cx="9692640" cy="435133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Completeness</a:t>
            </a:r>
          </a:p>
          <a:p>
            <a:pPr lvl="1"/>
            <a:r>
              <a:rPr lang="en-US" altLang="en-US" sz="2000" dirty="0"/>
              <a:t>	If relation R is decomposed into fragments R1, R2, ...  Rn, each data item that can be found in R must appear in at least one fragment.</a:t>
            </a:r>
          </a:p>
          <a:p>
            <a:pPr lvl="1"/>
            <a:endParaRPr lang="en-US" altLang="en-US" sz="2000" dirty="0"/>
          </a:p>
          <a:p>
            <a:r>
              <a:rPr lang="en-US" altLang="en-US" sz="2400" dirty="0"/>
              <a:t>Reconstruction</a:t>
            </a:r>
          </a:p>
          <a:p>
            <a:pPr lvl="1"/>
            <a:r>
              <a:rPr lang="en-US" altLang="en-US" sz="2000" dirty="0"/>
              <a:t>Must be possible to define a relational operation that will reconstruct R from the fragments.</a:t>
            </a:r>
          </a:p>
          <a:p>
            <a:pPr lvl="1"/>
            <a:r>
              <a:rPr lang="en-US" altLang="en-US" sz="2000" dirty="0"/>
              <a:t>Reconstruction for horizontal fragmentation is Union operation and Join for vertical 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38BA86B-54E5-4B9D-8697-2D7D8881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Rectangle 5">
            <a:extLst>
              <a:ext uri="{FF2B5EF4-FFF2-40B4-BE49-F238E27FC236}">
                <a16:creationId xmlns="" xmlns:a16="http://schemas.microsoft.com/office/drawing/2014/main" id="{7AFD789F-9C7A-41FA-91E7-09688537D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Correctness of Fragmentation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="" xmlns:a16="http://schemas.microsoft.com/office/drawing/2014/main" id="{FC77F819-D74F-4829-8B18-AFAB8C22F7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err="1"/>
              <a:t>Disjointness</a:t>
            </a:r>
            <a:endParaRPr lang="en-US" altLang="en-US" sz="2400" dirty="0"/>
          </a:p>
          <a:p>
            <a:pPr lvl="1"/>
            <a:r>
              <a:rPr lang="en-US" altLang="en-US" sz="2000" dirty="0"/>
              <a:t>If data item di appears in fragment Ri, then it should not appear in any other fragment. </a:t>
            </a:r>
          </a:p>
          <a:p>
            <a:pPr lvl="1"/>
            <a:r>
              <a:rPr lang="en-US" altLang="en-US" sz="2000" dirty="0"/>
              <a:t>Exception: vertical fragmentation, where primary key attributes must be repeated to allow reconstruction.</a:t>
            </a:r>
          </a:p>
          <a:p>
            <a:pPr lvl="1"/>
            <a:r>
              <a:rPr lang="en-US" altLang="en-US" sz="2000" dirty="0"/>
              <a:t>For horizontal fragmentation, data item is a tuple</a:t>
            </a:r>
          </a:p>
          <a:p>
            <a:pPr lvl="1"/>
            <a:r>
              <a:rPr lang="en-US" altLang="en-US" sz="2000" dirty="0"/>
              <a:t>For vertical fragmentation, data item is an attribute.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8078A07-9ACF-4B88-B947-42BCE0869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3" name="Rectangle 5">
            <a:extLst>
              <a:ext uri="{FF2B5EF4-FFF2-40B4-BE49-F238E27FC236}">
                <a16:creationId xmlns="" xmlns:a16="http://schemas.microsoft.com/office/drawing/2014/main" id="{EF6091AC-C8A2-4BC1-B992-87A0428AA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899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Types of Fragmentation</a:t>
            </a:r>
          </a:p>
        </p:txBody>
      </p:sp>
      <p:sp>
        <p:nvSpPr>
          <p:cNvPr id="83974" name="Rectangle 6">
            <a:extLst>
              <a:ext uri="{FF2B5EF4-FFF2-40B4-BE49-F238E27FC236}">
                <a16:creationId xmlns="" xmlns:a16="http://schemas.microsoft.com/office/drawing/2014/main" id="{C5FE3AE6-15FC-433D-9C29-60FAC9A2A0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smtClean="0"/>
              <a:t>Three </a:t>
            </a:r>
            <a:r>
              <a:rPr lang="en-US" altLang="en-US" sz="2400" dirty="0"/>
              <a:t>types of fragmentation:</a:t>
            </a:r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Horizontal</a:t>
            </a:r>
          </a:p>
          <a:p>
            <a:pPr lvl="1"/>
            <a:r>
              <a:rPr lang="en-US" altLang="en-US" sz="2000" dirty="0"/>
              <a:t>Vertical</a:t>
            </a:r>
          </a:p>
          <a:p>
            <a:pPr lvl="1"/>
            <a:r>
              <a:rPr lang="en-US" altLang="en-US" sz="2000" dirty="0"/>
              <a:t>Mixed</a:t>
            </a:r>
          </a:p>
          <a:p>
            <a:pPr marL="274320" lvl="1" indent="0">
              <a:buNone/>
            </a:pPr>
            <a:endParaRPr lang="en-US" altLang="en-US" sz="2000" dirty="0"/>
          </a:p>
          <a:p>
            <a:r>
              <a:rPr lang="en-US" altLang="en-US" sz="2400" dirty="0">
                <a:solidFill>
                  <a:srgbClr val="00B0F0"/>
                </a:solidFill>
              </a:rPr>
              <a:t>Other possibility is no fragmentation:</a:t>
            </a:r>
          </a:p>
          <a:p>
            <a:pPr lvl="1"/>
            <a:endParaRPr lang="en-US" altLang="en-US" sz="2000" dirty="0">
              <a:solidFill>
                <a:srgbClr val="00B0F0"/>
              </a:solidFill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</a:rPr>
              <a:t>If relation is small and not updated frequently, may be better not to fragment relation.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08D7C3D5-695C-4132-B279-5F60E4C6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="" xmlns:a16="http://schemas.microsoft.com/office/drawing/2014/main" id="{9B7CAA89-F533-440B-95CF-18E1D2A6D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altLang="en-US" sz="800">
                <a:latin typeface="Eras Medium ITC" panose="020B0602030504020804" pitchFamily="34" charset="0"/>
              </a:rPr>
              <a:t>41</a:t>
            </a:r>
          </a:p>
        </p:txBody>
      </p:sp>
      <p:sp>
        <p:nvSpPr>
          <p:cNvPr id="86023" name="Rectangle 7">
            <a:extLst>
              <a:ext uri="{FF2B5EF4-FFF2-40B4-BE49-F238E27FC236}">
                <a16:creationId xmlns="" xmlns:a16="http://schemas.microsoft.com/office/drawing/2014/main" id="{A39E7DD0-8D2B-4F81-92C0-E98315BE6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/>
              <a:t>Horizontal and Vertical Fragmentation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9BDFBB4-321F-4C22-91E2-F7666D30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28</a:t>
            </a:fld>
            <a:endParaRPr lang="en-US"/>
          </a:p>
        </p:txBody>
      </p:sp>
      <p:pic>
        <p:nvPicPr>
          <p:cNvPr id="86022" name="Picture 6">
            <a:extLst>
              <a:ext uri="{FF2B5EF4-FFF2-40B4-BE49-F238E27FC236}">
                <a16:creationId xmlns="" xmlns:a16="http://schemas.microsoft.com/office/drawing/2014/main" id="{65958554-2D4C-4281-8004-DCD8111FA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76400"/>
            <a:ext cx="7620000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1" name="Rectangle 7">
            <a:extLst>
              <a:ext uri="{FF2B5EF4-FFF2-40B4-BE49-F238E27FC236}">
                <a16:creationId xmlns="" xmlns:a16="http://schemas.microsoft.com/office/drawing/2014/main" id="{2FA717BB-3D99-417F-980F-A92B936A9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/>
              <a:t>Mixed Fragmentation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F3C1DD7-B442-4432-8E92-C39685C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29</a:t>
            </a:fld>
            <a:endParaRPr lang="en-US"/>
          </a:p>
        </p:txBody>
      </p:sp>
      <p:pic>
        <p:nvPicPr>
          <p:cNvPr id="88070" name="Picture 6">
            <a:extLst>
              <a:ext uri="{FF2B5EF4-FFF2-40B4-BE49-F238E27FC236}">
                <a16:creationId xmlns="" xmlns:a16="http://schemas.microsoft.com/office/drawing/2014/main" id="{C871E8C9-FCB3-4081-BB40-C2FEC3A49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1"/>
            <a:ext cx="7696200" cy="421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1" name="Rectangle 5">
            <a:extLst>
              <a:ext uri="{FF2B5EF4-FFF2-40B4-BE49-F238E27FC236}">
                <a16:creationId xmlns="" xmlns:a16="http://schemas.microsoft.com/office/drawing/2014/main" id="{FF378CBC-C0CE-45B2-A213-D77729672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Transparencies in a DDBMS</a:t>
            </a:r>
          </a:p>
        </p:txBody>
      </p:sp>
      <p:sp>
        <p:nvSpPr>
          <p:cNvPr id="106502" name="Rectangle 6">
            <a:extLst>
              <a:ext uri="{FF2B5EF4-FFF2-40B4-BE49-F238E27FC236}">
                <a16:creationId xmlns="" xmlns:a16="http://schemas.microsoft.com/office/drawing/2014/main" id="{DBB64D17-DDC6-465D-8742-52FA862E6E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sz="2000" b="1" dirty="0" smtClean="0"/>
              <a:t>Fragmentation </a:t>
            </a:r>
            <a:r>
              <a:rPr lang="en-US" altLang="en-US" sz="2000" b="1" dirty="0"/>
              <a:t>Transparency</a:t>
            </a:r>
          </a:p>
          <a:p>
            <a:pPr lvl="1"/>
            <a:r>
              <a:rPr lang="en-US" altLang="en-US" sz="2000" b="1" dirty="0"/>
              <a:t>Location Transparency</a:t>
            </a:r>
          </a:p>
          <a:p>
            <a:pPr lvl="1"/>
            <a:r>
              <a:rPr lang="en-US" altLang="en-US" sz="2000" b="1" dirty="0"/>
              <a:t>Replication Transparency</a:t>
            </a:r>
          </a:p>
          <a:p>
            <a:pPr lvl="1"/>
            <a:r>
              <a:rPr lang="en-US" altLang="en-US" sz="2000" b="1" dirty="0" smtClean="0"/>
              <a:t>Naming Transparency</a:t>
            </a:r>
          </a:p>
          <a:p>
            <a:pPr lvl="1"/>
            <a:r>
              <a:rPr lang="en-US" altLang="en-US" sz="2000" b="1" dirty="0" smtClean="0"/>
              <a:t>Transaction Transparency</a:t>
            </a:r>
          </a:p>
          <a:p>
            <a:pPr lvl="2"/>
            <a:r>
              <a:rPr lang="en-US" altLang="en-US" sz="1800" dirty="0"/>
              <a:t>Concurrency Transparency</a:t>
            </a:r>
          </a:p>
          <a:p>
            <a:pPr lvl="2"/>
            <a:r>
              <a:rPr lang="en-US" altLang="en-US" sz="1800" dirty="0"/>
              <a:t>Failure </a:t>
            </a:r>
            <a:r>
              <a:rPr lang="en-US" altLang="en-US" sz="1800" dirty="0" smtClean="0"/>
              <a:t>Transparency</a:t>
            </a:r>
          </a:p>
          <a:p>
            <a:pPr lvl="1"/>
            <a:r>
              <a:rPr lang="en-US" altLang="en-US" sz="2000" b="1" dirty="0" smtClean="0"/>
              <a:t>Performance Transparency</a:t>
            </a:r>
          </a:p>
          <a:p>
            <a:pPr lvl="1"/>
            <a:r>
              <a:rPr lang="en-US" altLang="en-US" sz="2000" b="1" dirty="0" smtClean="0"/>
              <a:t>DBMS Transparency</a:t>
            </a:r>
            <a:endParaRPr lang="en-US" altLang="en-US" sz="2000" b="1" dirty="0"/>
          </a:p>
          <a:p>
            <a:pPr lvl="2"/>
            <a:endParaRPr lang="en-US" alt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2F1E2D8-A0A7-42EB-B3AF-1715367F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7" name="Rectangle 5">
            <a:extLst>
              <a:ext uri="{FF2B5EF4-FFF2-40B4-BE49-F238E27FC236}">
                <a16:creationId xmlns="" xmlns:a16="http://schemas.microsoft.com/office/drawing/2014/main" id="{84AE7673-823B-4126-B0AB-4F2E37966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Distribution Transparency</a:t>
            </a:r>
          </a:p>
        </p:txBody>
      </p:sp>
      <p:sp>
        <p:nvSpPr>
          <p:cNvPr id="110598" name="Rectangle 6">
            <a:extLst>
              <a:ext uri="{FF2B5EF4-FFF2-40B4-BE49-F238E27FC236}">
                <a16:creationId xmlns="" xmlns:a16="http://schemas.microsoft.com/office/drawing/2014/main" id="{1CE14B30-ADFF-4AF5-BA5F-B776653B89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/>
              <a:t>Distribution transparency allows user to </a:t>
            </a:r>
            <a:r>
              <a:rPr lang="en-US" altLang="en-US" sz="2000" dirty="0">
                <a:solidFill>
                  <a:srgbClr val="00B0F0"/>
                </a:solidFill>
              </a:rPr>
              <a:t>perceive database as single</a:t>
            </a:r>
            <a:r>
              <a:rPr lang="en-US" altLang="en-US" sz="2000" dirty="0"/>
              <a:t>, logical entity. </a:t>
            </a:r>
          </a:p>
          <a:p>
            <a:r>
              <a:rPr lang="en-US" altLang="en-US" sz="2000" dirty="0"/>
              <a:t>If DDBMS exhibits distribution transparency, </a:t>
            </a:r>
            <a:r>
              <a:rPr lang="en-US" altLang="en-US" sz="2000" dirty="0">
                <a:solidFill>
                  <a:srgbClr val="FF0000"/>
                </a:solidFill>
              </a:rPr>
              <a:t>user does not need to know</a:t>
            </a:r>
            <a:r>
              <a:rPr lang="en-US" altLang="en-US" sz="2000" dirty="0" smtClean="0">
                <a:solidFill>
                  <a:srgbClr val="FF0000"/>
                </a:solidFill>
              </a:rPr>
              <a:t>:</a:t>
            </a:r>
            <a:br>
              <a:rPr lang="en-US" altLang="en-US" sz="2000" dirty="0" smtClean="0">
                <a:solidFill>
                  <a:srgbClr val="FF0000"/>
                </a:solidFill>
              </a:rPr>
            </a:br>
            <a:endParaRPr lang="en-US" altLang="en-US" sz="2000" dirty="0">
              <a:solidFill>
                <a:srgbClr val="FF0000"/>
              </a:solidFill>
            </a:endParaRPr>
          </a:p>
          <a:p>
            <a:pPr lvl="1"/>
            <a:r>
              <a:rPr lang="en-US" altLang="en-US" sz="1800" b="1" dirty="0">
                <a:solidFill>
                  <a:srgbClr val="C00000"/>
                </a:solidFill>
              </a:rPr>
              <a:t>data is fragmented (fragmentation transparency), </a:t>
            </a:r>
          </a:p>
          <a:p>
            <a:pPr lvl="1"/>
            <a:r>
              <a:rPr lang="en-US" altLang="en-US" sz="1800" b="1" dirty="0">
                <a:solidFill>
                  <a:srgbClr val="C00000"/>
                </a:solidFill>
              </a:rPr>
              <a:t>location of data items (location transparency</a:t>
            </a:r>
            <a:r>
              <a:rPr lang="en-US" altLang="en-US" sz="1800" b="1" dirty="0" smtClean="0">
                <a:solidFill>
                  <a:srgbClr val="C00000"/>
                </a:solidFill>
              </a:rPr>
              <a:t>),</a:t>
            </a:r>
            <a:endParaRPr lang="en-US" altLang="en-US" sz="1800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D6B93E5-19B2-406D-B91F-98CDFF43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8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5" name="Rectangle 5">
            <a:extLst>
              <a:ext uri="{FF2B5EF4-FFF2-40B4-BE49-F238E27FC236}">
                <a16:creationId xmlns="" xmlns:a16="http://schemas.microsoft.com/office/drawing/2014/main" id="{0777ED18-04BC-4E4B-9622-13A73DA86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Naming Transparency</a:t>
            </a:r>
          </a:p>
        </p:txBody>
      </p:sp>
      <p:sp>
        <p:nvSpPr>
          <p:cNvPr id="112646" name="Rectangle 6">
            <a:extLst>
              <a:ext uri="{FF2B5EF4-FFF2-40B4-BE49-F238E27FC236}">
                <a16:creationId xmlns="" xmlns:a16="http://schemas.microsoft.com/office/drawing/2014/main" id="{78A305C6-43A7-44AD-B0A2-6A5D237DE7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</a:rPr>
              <a:t>Each item in a DDB must have a unique name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DDBMS must ensure that </a:t>
            </a:r>
            <a:r>
              <a:rPr lang="en-US" altLang="en-US" sz="2400" dirty="0">
                <a:solidFill>
                  <a:srgbClr val="00B050"/>
                </a:solidFill>
              </a:rPr>
              <a:t>no two sites create a database object with same name. </a:t>
            </a:r>
          </a:p>
          <a:p>
            <a:r>
              <a:rPr lang="en-US" altLang="en-US" sz="2400" dirty="0">
                <a:solidFill>
                  <a:srgbClr val="00B0F0"/>
                </a:solidFill>
              </a:rPr>
              <a:t>One solution is to create central name server. However, this results in</a:t>
            </a:r>
            <a:r>
              <a:rPr lang="en-US" altLang="en-US" sz="2400" dirty="0" smtClean="0">
                <a:solidFill>
                  <a:srgbClr val="00B0F0"/>
                </a:solidFill>
              </a:rPr>
              <a:t>:</a:t>
            </a:r>
            <a:br>
              <a:rPr lang="en-US" altLang="en-US" sz="2400" dirty="0" smtClean="0">
                <a:solidFill>
                  <a:srgbClr val="00B0F0"/>
                </a:solidFill>
              </a:rPr>
            </a:br>
            <a:endParaRPr lang="en-US" altLang="en-US" sz="2400" dirty="0">
              <a:solidFill>
                <a:srgbClr val="00B0F0"/>
              </a:solidFill>
            </a:endParaRPr>
          </a:p>
          <a:p>
            <a:pPr lvl="1"/>
            <a:r>
              <a:rPr lang="en-US" altLang="en-US" sz="2000" b="1" dirty="0">
                <a:solidFill>
                  <a:srgbClr val="00B0F0"/>
                </a:solidFill>
              </a:rPr>
              <a:t>loss of some local autonomy;</a:t>
            </a:r>
          </a:p>
          <a:p>
            <a:pPr lvl="1"/>
            <a:r>
              <a:rPr lang="en-US" altLang="en-US" sz="2000" b="1" dirty="0">
                <a:solidFill>
                  <a:srgbClr val="00B0F0"/>
                </a:solidFill>
              </a:rPr>
              <a:t>central site may become a bottleneck;</a:t>
            </a:r>
          </a:p>
          <a:p>
            <a:pPr lvl="1"/>
            <a:r>
              <a:rPr lang="en-US" altLang="en-US" sz="2000" b="1" dirty="0">
                <a:solidFill>
                  <a:srgbClr val="00B0F0"/>
                </a:solidFill>
              </a:rPr>
              <a:t>low availability; if the central site fails, remaining sites cannot create any new objects.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13B7113-C99E-4108-89C6-CBB8168F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5">
            <a:extLst>
              <a:ext uri="{FF2B5EF4-FFF2-40B4-BE49-F238E27FC236}">
                <a16:creationId xmlns="" xmlns:a16="http://schemas.microsoft.com/office/drawing/2014/main" id="{0E374455-B2E0-491D-BF6A-3D3444E1E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1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Transaction Transparency</a:t>
            </a:r>
          </a:p>
        </p:txBody>
      </p:sp>
      <p:sp>
        <p:nvSpPr>
          <p:cNvPr id="118790" name="Rectangle 6">
            <a:extLst>
              <a:ext uri="{FF2B5EF4-FFF2-40B4-BE49-F238E27FC236}">
                <a16:creationId xmlns="" xmlns:a16="http://schemas.microsoft.com/office/drawing/2014/main" id="{22156E28-EBCB-442B-9F7D-E3E71FFBD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1" y="1828800"/>
            <a:ext cx="9499913" cy="435133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Ensures that all distributed transactions maintain distributed database’s integrity and consistency. </a:t>
            </a:r>
          </a:p>
          <a:p>
            <a:r>
              <a:rPr lang="en-US" altLang="en-US" sz="2400" dirty="0"/>
              <a:t>Distributed transaction accesses data stored at more than one location. </a:t>
            </a:r>
          </a:p>
          <a:p>
            <a:r>
              <a:rPr lang="en-US" altLang="en-US" sz="2400" dirty="0"/>
              <a:t>Each transaction is divided into number of sub-transactions, one for each site that has to be accessed.</a:t>
            </a:r>
          </a:p>
          <a:p>
            <a:r>
              <a:rPr lang="en-US" altLang="en-US" sz="2400" dirty="0"/>
              <a:t>DDBMS must ensure the </a:t>
            </a:r>
            <a:r>
              <a:rPr lang="en-US" altLang="en-US" sz="2400" dirty="0">
                <a:solidFill>
                  <a:srgbClr val="00B0F0"/>
                </a:solidFill>
              </a:rPr>
              <a:t>indivisibility of both the global transaction and each </a:t>
            </a:r>
            <a:r>
              <a:rPr lang="en-US" altLang="en-US" sz="2400" dirty="0" smtClean="0">
                <a:solidFill>
                  <a:srgbClr val="00B0F0"/>
                </a:solidFill>
              </a:rPr>
              <a:t>sub transactions.</a:t>
            </a:r>
            <a:endParaRPr lang="en-US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E1D8D1D-6B0F-4CA4-8D6D-93B71C8F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0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5" name="Rectangle 5">
            <a:extLst>
              <a:ext uri="{FF2B5EF4-FFF2-40B4-BE49-F238E27FC236}">
                <a16:creationId xmlns="" xmlns:a16="http://schemas.microsoft.com/office/drawing/2014/main" id="{FB8C5940-50C9-4345-AD1A-37E53DBD6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9330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Concurrency Transparency</a:t>
            </a:r>
          </a:p>
        </p:txBody>
      </p:sp>
      <p:sp>
        <p:nvSpPr>
          <p:cNvPr id="122886" name="Rectangle 6">
            <a:extLst>
              <a:ext uri="{FF2B5EF4-FFF2-40B4-BE49-F238E27FC236}">
                <a16:creationId xmlns="" xmlns:a16="http://schemas.microsoft.com/office/drawing/2014/main" id="{88C11B30-0D8A-49E9-B680-6FE938EA73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9994" y="1828800"/>
            <a:ext cx="10124518" cy="435133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All transactions must execute independently and be logically consistent with results obtained if transactions executed one at a time, in some arbitrary serial order. </a:t>
            </a:r>
          </a:p>
          <a:p>
            <a:r>
              <a:rPr lang="en-US" altLang="en-US" sz="2400" dirty="0"/>
              <a:t>Same fundamental principles as for centralized DBMS. </a:t>
            </a:r>
          </a:p>
          <a:p>
            <a:r>
              <a:rPr lang="en-US" altLang="en-US" sz="2400" dirty="0"/>
              <a:t>DDBMS </a:t>
            </a:r>
            <a:r>
              <a:rPr lang="en-US" altLang="en-US" sz="2400" dirty="0">
                <a:solidFill>
                  <a:srgbClr val="00B0F0"/>
                </a:solidFill>
              </a:rPr>
              <a:t>must ensure both global and local transactions do not interfere with each other</a:t>
            </a:r>
            <a:r>
              <a:rPr lang="en-US" altLang="en-US" sz="2400" dirty="0"/>
              <a:t>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4312AD9-1669-4FC5-BDAE-8C82D54E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7" name="Rectangle 5">
            <a:extLst>
              <a:ext uri="{FF2B5EF4-FFF2-40B4-BE49-F238E27FC236}">
                <a16:creationId xmlns="" xmlns:a16="http://schemas.microsoft.com/office/drawing/2014/main" id="{0D869441-AB8E-451B-87BF-9FA5B991E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3398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Performance Transparency</a:t>
            </a:r>
          </a:p>
        </p:txBody>
      </p:sp>
      <p:sp>
        <p:nvSpPr>
          <p:cNvPr id="131078" name="Rectangle 6">
            <a:extLst>
              <a:ext uri="{FF2B5EF4-FFF2-40B4-BE49-F238E27FC236}">
                <a16:creationId xmlns="" xmlns:a16="http://schemas.microsoft.com/office/drawing/2014/main" id="{F42C4DA6-9D52-4574-AED6-36ADF48C29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2" y="1828800"/>
            <a:ext cx="9692640" cy="435133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DDBMS must perform as if it were a centralized DBMS. </a:t>
            </a:r>
          </a:p>
          <a:p>
            <a:pPr lvl="1"/>
            <a:r>
              <a:rPr lang="en-US" altLang="en-US" sz="2000" dirty="0"/>
              <a:t>DDBMS should not suffer any performance degradation due to distributed architecture.</a:t>
            </a:r>
          </a:p>
          <a:p>
            <a:pPr lvl="1"/>
            <a:r>
              <a:rPr lang="en-US" altLang="en-US" sz="2000" dirty="0"/>
              <a:t>DDBMS should determine most cost-effective strategy to execute a request.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04085AB-D1D6-423A-B220-1C242ABC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8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3" name="Rectangle 5">
            <a:extLst>
              <a:ext uri="{FF2B5EF4-FFF2-40B4-BE49-F238E27FC236}">
                <a16:creationId xmlns="" xmlns:a16="http://schemas.microsoft.com/office/drawing/2014/main" id="{F15A9D33-933A-43B7-A829-A7ADE09C6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1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Concurrency Transparency</a:t>
            </a:r>
          </a:p>
        </p:txBody>
      </p:sp>
      <p:sp>
        <p:nvSpPr>
          <p:cNvPr id="124934" name="Rectangle 6">
            <a:extLst>
              <a:ext uri="{FF2B5EF4-FFF2-40B4-BE49-F238E27FC236}">
                <a16:creationId xmlns="" xmlns:a16="http://schemas.microsoft.com/office/drawing/2014/main" id="{FD4CCC4C-2B9B-40E0-B4D9-FC916C81CD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1" y="1828800"/>
            <a:ext cx="9921943" cy="435133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Replication makes concurrency more complex. </a:t>
            </a:r>
          </a:p>
          <a:p>
            <a:r>
              <a:rPr lang="en-US" altLang="en-US" sz="2400" dirty="0"/>
              <a:t>If a copy of a replicated data item is updated, update must be propagated to all copies. </a:t>
            </a:r>
          </a:p>
          <a:p>
            <a:r>
              <a:rPr lang="en-US" altLang="en-US" sz="2400" dirty="0"/>
              <a:t>Could propagate changes as part of original transaction, making it an atomic operation.</a:t>
            </a:r>
          </a:p>
          <a:p>
            <a:r>
              <a:rPr lang="en-US" altLang="en-US" sz="2400" dirty="0"/>
              <a:t>However, if one site holding copy is not reachable, then transaction is delayed until site is reachable.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1544F27-E324-4B4F-ACCB-4A684427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1" name="Rectangle 5">
            <a:extLst>
              <a:ext uri="{FF2B5EF4-FFF2-40B4-BE49-F238E27FC236}">
                <a16:creationId xmlns="" xmlns:a16="http://schemas.microsoft.com/office/drawing/2014/main" id="{A89A21A0-2CE5-4B56-AB54-0DA54EEAE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7128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Concurrency Transparency</a:t>
            </a:r>
          </a:p>
        </p:txBody>
      </p:sp>
      <p:sp>
        <p:nvSpPr>
          <p:cNvPr id="126982" name="Rectangle 6">
            <a:extLst>
              <a:ext uri="{FF2B5EF4-FFF2-40B4-BE49-F238E27FC236}">
                <a16:creationId xmlns="" xmlns:a16="http://schemas.microsoft.com/office/drawing/2014/main" id="{F158898E-EBFA-45F4-AEFC-E2C451804D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2" y="1828800"/>
            <a:ext cx="9823470" cy="4351337"/>
          </a:xfrm>
        </p:spPr>
        <p:txBody>
          <a:bodyPr>
            <a:normAutofit/>
          </a:bodyPr>
          <a:lstStyle/>
          <a:p>
            <a:pPr>
              <a:spcAft>
                <a:spcPct val="50000"/>
              </a:spcAft>
            </a:pPr>
            <a:r>
              <a:rPr lang="en-US" altLang="en-US" sz="2400" dirty="0"/>
              <a:t>Could limit update propagation to only those sites currently available. Remaining sites updated when they become available again. </a:t>
            </a:r>
          </a:p>
          <a:p>
            <a:pPr>
              <a:spcAft>
                <a:spcPct val="50000"/>
              </a:spcAft>
            </a:pPr>
            <a:r>
              <a:rPr lang="en-US" altLang="en-US" sz="2400" dirty="0"/>
              <a:t>Could allow updates to copies to happen asynchronously, sometime after the original update. Delay in regaining consistency may range from a few seconds to several hours.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C3132A7-DE5C-4B98-99A7-D4057219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2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9" name="Rectangle 5">
            <a:extLst>
              <a:ext uri="{FF2B5EF4-FFF2-40B4-BE49-F238E27FC236}">
                <a16:creationId xmlns="" xmlns:a16="http://schemas.microsoft.com/office/drawing/2014/main" id="{7520DB20-0B20-43FF-B9C7-775649E6D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1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Failure Transparency</a:t>
            </a:r>
          </a:p>
        </p:txBody>
      </p:sp>
      <p:sp>
        <p:nvSpPr>
          <p:cNvPr id="129030" name="Rectangle 6">
            <a:extLst>
              <a:ext uri="{FF2B5EF4-FFF2-40B4-BE49-F238E27FC236}">
                <a16:creationId xmlns="" xmlns:a16="http://schemas.microsoft.com/office/drawing/2014/main" id="{B603552B-E30B-4A83-B949-9421D96479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1" y="1828800"/>
            <a:ext cx="9837537" cy="435133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DDBMS must ensure atomicity and durability of global transaction.</a:t>
            </a:r>
          </a:p>
          <a:p>
            <a:r>
              <a:rPr lang="en-US" altLang="en-US" sz="2400" dirty="0"/>
              <a:t>Means ensuring that sub-transactions of global transaction either all commit or all abort.</a:t>
            </a:r>
          </a:p>
          <a:p>
            <a:r>
              <a:rPr lang="en-US" altLang="en-US" sz="2400" dirty="0"/>
              <a:t>Thus, DDBMS must synchronize global transaction to ensure that all sub-transactions have completed successfully before recording a final COMMIT for global transaction.</a:t>
            </a:r>
          </a:p>
          <a:p>
            <a:r>
              <a:rPr lang="en-US" altLang="en-US" sz="2400" dirty="0"/>
              <a:t>Must do this in presence of site and network failures.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8CA7D23D-593E-4B2A-B0D6-48C2452E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0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5" name="Rectangle 5">
            <a:extLst>
              <a:ext uri="{FF2B5EF4-FFF2-40B4-BE49-F238E27FC236}">
                <a16:creationId xmlns="" xmlns:a16="http://schemas.microsoft.com/office/drawing/2014/main" id="{9672AB92-538D-44A4-96FD-A1085D4F93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Performance Transparency</a:t>
            </a:r>
          </a:p>
        </p:txBody>
      </p:sp>
      <p:sp>
        <p:nvSpPr>
          <p:cNvPr id="133126" name="Rectangle 6">
            <a:extLst>
              <a:ext uri="{FF2B5EF4-FFF2-40B4-BE49-F238E27FC236}">
                <a16:creationId xmlns="" xmlns:a16="http://schemas.microsoft.com/office/drawing/2014/main" id="{294859D3-157A-4FAB-9B99-10A5D49D71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2" y="1828800"/>
            <a:ext cx="9692640" cy="435133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Distributed Query Processor (DQP) maps data request into ordered sequence of operations on local databases. </a:t>
            </a:r>
          </a:p>
          <a:p>
            <a:r>
              <a:rPr lang="en-US" altLang="en-US" sz="2400" dirty="0"/>
              <a:t>Must consider fragmentation, replication, and allocation schemas. </a:t>
            </a:r>
          </a:p>
          <a:p>
            <a:r>
              <a:rPr lang="en-US" altLang="en-US" sz="2400" dirty="0"/>
              <a:t>DQP has to decide:</a:t>
            </a:r>
          </a:p>
          <a:p>
            <a:pPr lvl="1"/>
            <a:r>
              <a:rPr lang="en-US" altLang="en-US" sz="2000" dirty="0"/>
              <a:t>which fragment to access;</a:t>
            </a:r>
          </a:p>
          <a:p>
            <a:pPr lvl="1"/>
            <a:r>
              <a:rPr lang="en-US" altLang="en-US" sz="2000" dirty="0"/>
              <a:t>which copy of a fragment to use;</a:t>
            </a:r>
          </a:p>
          <a:p>
            <a:pPr lvl="1"/>
            <a:r>
              <a:rPr lang="en-US" altLang="en-US" sz="2000" dirty="0"/>
              <a:t>which location to use.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53AA683-915F-4627-B2B2-2612603E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3" name="Rectangle 5">
            <a:extLst>
              <a:ext uri="{FF2B5EF4-FFF2-40B4-BE49-F238E27FC236}">
                <a16:creationId xmlns="" xmlns:a16="http://schemas.microsoft.com/office/drawing/2014/main" id="{18727BC6-2234-488C-A808-D728D5538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3398" y="0"/>
            <a:ext cx="9692640" cy="1325562"/>
          </a:xfrm>
        </p:spPr>
        <p:txBody>
          <a:bodyPr/>
          <a:lstStyle/>
          <a:p>
            <a:pPr algn="ctr"/>
            <a:r>
              <a:rPr lang="en-US" altLang="en-US" b="1" dirty="0"/>
              <a:t>Performance Transparency</a:t>
            </a:r>
          </a:p>
        </p:txBody>
      </p:sp>
      <p:sp>
        <p:nvSpPr>
          <p:cNvPr id="135174" name="Rectangle 6">
            <a:extLst>
              <a:ext uri="{FF2B5EF4-FFF2-40B4-BE49-F238E27FC236}">
                <a16:creationId xmlns="" xmlns:a16="http://schemas.microsoft.com/office/drawing/2014/main" id="{F02A9FC1-12E1-412E-98F2-27ABF42BC2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872" y="1828800"/>
            <a:ext cx="9809402" cy="435133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DQP produces execution strategy optimized with respect to some cost function. </a:t>
            </a:r>
          </a:p>
          <a:p>
            <a:r>
              <a:rPr lang="en-US" altLang="en-US" sz="2400" dirty="0"/>
              <a:t>Typically, costs associated with a distributed request include:</a:t>
            </a:r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I/O cost;</a:t>
            </a:r>
          </a:p>
          <a:p>
            <a:pPr lvl="1"/>
            <a:r>
              <a:rPr lang="en-US" altLang="en-US" sz="2000" dirty="0"/>
              <a:t>CPU cost;</a:t>
            </a:r>
          </a:p>
          <a:p>
            <a:pPr lvl="1"/>
            <a:r>
              <a:rPr lang="en-US" altLang="en-US" sz="2000" dirty="0"/>
              <a:t>communication cost.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118AED8-F03E-4FBD-BDF1-AABDAB0B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Scaling Traditional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Traditional RDBMSs can be either scaled: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rgbClr val="C00000"/>
                </a:solidFill>
              </a:rPr>
              <a:t>Vertically</a:t>
            </a:r>
            <a:r>
              <a:rPr lang="en-US" sz="3200" dirty="0"/>
              <a:t> (or </a:t>
            </a:r>
            <a:r>
              <a:rPr lang="en-US" sz="3200" dirty="0">
                <a:solidFill>
                  <a:srgbClr val="C00000"/>
                </a:solidFill>
              </a:rPr>
              <a:t>Up</a:t>
            </a:r>
            <a:r>
              <a:rPr lang="en-US" sz="3200" dirty="0"/>
              <a:t>)</a:t>
            </a:r>
          </a:p>
          <a:p>
            <a:pPr lvl="2">
              <a:buFont typeface="Wingdings" pitchFamily="2" charset="2"/>
              <a:buChar char="§"/>
            </a:pPr>
            <a:r>
              <a:rPr lang="en-US" sz="1800" dirty="0"/>
              <a:t>Can be achieved by hardware upgrades (e.g., faster CPU, more memory, or larger disk)</a:t>
            </a:r>
          </a:p>
          <a:p>
            <a:pPr lvl="2">
              <a:buFont typeface="Wingdings" pitchFamily="2" charset="2"/>
              <a:buChar char="§"/>
            </a:pPr>
            <a:r>
              <a:rPr lang="en-US" sz="1800" dirty="0"/>
              <a:t>Limited by the amount of CPU, RAM and disk that can be configured on a single machine</a:t>
            </a: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rgbClr val="C00000"/>
                </a:solidFill>
              </a:rPr>
              <a:t>Horizontally</a:t>
            </a:r>
            <a:r>
              <a:rPr lang="en-US" sz="3200" dirty="0"/>
              <a:t> (or </a:t>
            </a:r>
            <a:r>
              <a:rPr lang="en-US" sz="3200" dirty="0">
                <a:solidFill>
                  <a:srgbClr val="C00000"/>
                </a:solidFill>
              </a:rPr>
              <a:t>Out</a:t>
            </a:r>
            <a:r>
              <a:rPr lang="en-US" sz="3200" dirty="0"/>
              <a:t>)</a:t>
            </a:r>
          </a:p>
          <a:p>
            <a:pPr lvl="2">
              <a:buFont typeface="Wingdings" pitchFamily="2" charset="2"/>
              <a:buChar char="§"/>
            </a:pPr>
            <a:r>
              <a:rPr lang="en-US" sz="1800" dirty="0"/>
              <a:t>Can be achieved by adding more machines</a:t>
            </a:r>
          </a:p>
          <a:p>
            <a:pPr lvl="2">
              <a:buFont typeface="Wingdings" pitchFamily="2" charset="2"/>
              <a:buChar char="§"/>
            </a:pPr>
            <a:r>
              <a:rPr lang="en-US" sz="1800" dirty="0"/>
              <a:t>Requires database </a:t>
            </a:r>
            <a:r>
              <a:rPr lang="en-US" sz="1800" i="1" dirty="0">
                <a:solidFill>
                  <a:srgbClr val="0070C0"/>
                </a:solidFill>
              </a:rPr>
              <a:t>sharding</a:t>
            </a:r>
            <a:r>
              <a:rPr lang="en-US" sz="1800" dirty="0"/>
              <a:t> and probably </a:t>
            </a:r>
            <a:r>
              <a:rPr lang="en-US" sz="1800" i="1" dirty="0">
                <a:solidFill>
                  <a:srgbClr val="0070C0"/>
                </a:solidFill>
              </a:rPr>
              <a:t>replication</a:t>
            </a:r>
          </a:p>
          <a:p>
            <a:pPr lvl="2">
              <a:buFont typeface="Wingdings" pitchFamily="2" charset="2"/>
              <a:buChar char="§"/>
            </a:pPr>
            <a:r>
              <a:rPr lang="en-US" sz="1800" dirty="0"/>
              <a:t>Limited by the Read-to-Write ratio and communication overhead</a:t>
            </a:r>
          </a:p>
          <a:p>
            <a:pPr lvl="1">
              <a:buFont typeface="Wingdings" pitchFamily="2" charset="2"/>
              <a:buChar char="§"/>
            </a:pPr>
            <a:endParaRPr lang="en-US" sz="2000" dirty="0"/>
          </a:p>
          <a:p>
            <a:pPr lvl="2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6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dirty="0"/>
              <a:t>Why Sharding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Data is typically </a:t>
            </a:r>
            <a:r>
              <a:rPr lang="en-US" i="1" dirty="0"/>
              <a:t>sharded</a:t>
            </a:r>
            <a:r>
              <a:rPr lang="en-US" dirty="0"/>
              <a:t> (or </a:t>
            </a:r>
            <a:r>
              <a:rPr lang="en-US" i="1" dirty="0"/>
              <a:t>striped</a:t>
            </a:r>
            <a:r>
              <a:rPr lang="en-US" dirty="0"/>
              <a:t>) to allow for concurrent/parallel accesses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419600" y="2895600"/>
            <a:ext cx="30480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Input data: A large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3733800"/>
            <a:ext cx="144780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1400" dirty="0"/>
              <a:t>Machine 1</a:t>
            </a:r>
          </a:p>
          <a:p>
            <a:pPr algn="ctr">
              <a:defRPr/>
            </a:pPr>
            <a:endParaRPr lang="en-US"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2847975" y="3990975"/>
            <a:ext cx="1371600" cy="304800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100" dirty="0"/>
              <a:t>Chunk1 of input data</a:t>
            </a:r>
          </a:p>
        </p:txBody>
      </p:sp>
      <p:sp>
        <p:nvSpPr>
          <p:cNvPr id="7" name="Down Arrow 6"/>
          <p:cNvSpPr/>
          <p:nvPr/>
        </p:nvSpPr>
        <p:spPr>
          <a:xfrm>
            <a:off x="3276600" y="3200400"/>
            <a:ext cx="533400" cy="4572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09950" y="3048001"/>
            <a:ext cx="1009650" cy="1571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8077200" y="3200400"/>
            <a:ext cx="533400" cy="4572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467600" y="3048001"/>
            <a:ext cx="1009650" cy="1571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81600" y="3733800"/>
            <a:ext cx="144780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1400" dirty="0"/>
              <a:t>Machine 2</a:t>
            </a:r>
          </a:p>
          <a:p>
            <a:pPr algn="ctr">
              <a:defRPr/>
            </a:pPr>
            <a:endParaRPr lang="en-US" sz="1200" dirty="0"/>
          </a:p>
        </p:txBody>
      </p:sp>
      <p:sp>
        <p:nvSpPr>
          <p:cNvPr id="12" name="Rounded Rectangle 11"/>
          <p:cNvSpPr/>
          <p:nvPr/>
        </p:nvSpPr>
        <p:spPr>
          <a:xfrm>
            <a:off x="5219700" y="3990975"/>
            <a:ext cx="1371600" cy="3048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100" dirty="0"/>
              <a:t>Chunk3 of input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3733800"/>
            <a:ext cx="144780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1400" dirty="0"/>
              <a:t>Machine 3</a:t>
            </a:r>
          </a:p>
          <a:p>
            <a:pPr algn="ctr">
              <a:defRPr/>
            </a:pPr>
            <a:endParaRPr lang="en-US"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7658100" y="3990975"/>
            <a:ext cx="1371600" cy="3048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100" dirty="0"/>
              <a:t>Chunk5 of input data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38800" y="3352800"/>
            <a:ext cx="533400" cy="3048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849563" y="4324350"/>
            <a:ext cx="1371600" cy="304800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100" dirty="0"/>
              <a:t>Chunk2 of input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88" y="4324350"/>
            <a:ext cx="1371600" cy="3048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100" dirty="0"/>
              <a:t>Chunk4 of input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59688" y="4324350"/>
            <a:ext cx="1371600" cy="3048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sz="1100" dirty="0" err="1"/>
              <a:t>Chunk6</a:t>
            </a:r>
            <a:r>
              <a:rPr lang="en-US" sz="1100" dirty="0"/>
              <a:t> of input data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3533775" y="4648200"/>
            <a:ext cx="0" cy="533400"/>
          </a:xfrm>
          <a:prstGeom prst="straightConnector1">
            <a:avLst/>
          </a:prstGeom>
          <a:ln w="60325">
            <a:solidFill>
              <a:srgbClr val="0070C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533775" y="5181600"/>
            <a:ext cx="4826476" cy="0"/>
          </a:xfrm>
          <a:prstGeom prst="line">
            <a:avLst/>
          </a:prstGeom>
          <a:ln w="60325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7" idx="2"/>
          </p:cNvCxnSpPr>
          <p:nvPr/>
        </p:nvCxnSpPr>
        <p:spPr>
          <a:xfrm flipV="1">
            <a:off x="5907088" y="4629150"/>
            <a:ext cx="0" cy="552450"/>
          </a:xfrm>
          <a:prstGeom prst="straightConnector1">
            <a:avLst/>
          </a:prstGeom>
          <a:ln w="60325">
            <a:solidFill>
              <a:srgbClr val="0070C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8360251" y="4629150"/>
            <a:ext cx="0" cy="552450"/>
          </a:xfrm>
          <a:prstGeom prst="straightConnector1">
            <a:avLst/>
          </a:prstGeom>
          <a:ln w="60325">
            <a:solidFill>
              <a:srgbClr val="0070C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5345669"/>
            <a:ext cx="6349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E.g., Chunks 1, 3 and 5 can be accessed in parallel</a:t>
            </a:r>
          </a:p>
        </p:txBody>
      </p:sp>
    </p:spTree>
    <p:extLst>
      <p:ext uri="{BB962C8B-B14F-4D97-AF65-F5344CB8AC3E}">
        <p14:creationId xmlns:p14="http://schemas.microsoft.com/office/powerpoint/2010/main" val="111704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dirty="0"/>
              <a:t>Why Replicating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Replicating data across servers helps in: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Avoiding performance bottlenecks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Avoiding single point of failures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And, hence, enhancing scalability and availability</a:t>
            </a:r>
          </a:p>
          <a:p>
            <a:pPr lvl="1">
              <a:buFont typeface="Wingdings" pitchFamily="2" charset="2"/>
              <a:buChar char="§"/>
            </a:pPr>
            <a:endParaRPr lang="en-US" sz="2000" dirty="0"/>
          </a:p>
          <a:p>
            <a:pPr lvl="2">
              <a:buFont typeface="Wingdings" pitchFamily="2" charset="2"/>
              <a:buChar char="§"/>
            </a:pP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87" name="Picture 2" descr="http://igcministries.org/images/WorldMap.gi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213992" y="3429000"/>
            <a:ext cx="5472809" cy="2690026"/>
          </a:xfrm>
          <a:prstGeom prst="rect">
            <a:avLst/>
          </a:prstGeom>
          <a:noFill/>
        </p:spPr>
      </p:pic>
      <p:sp>
        <p:nvSpPr>
          <p:cNvPr id="88" name="Can 87"/>
          <p:cNvSpPr/>
          <p:nvPr/>
        </p:nvSpPr>
        <p:spPr>
          <a:xfrm>
            <a:off x="3505200" y="4191000"/>
            <a:ext cx="228600" cy="152400"/>
          </a:xfrm>
          <a:prstGeom prst="ca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" name="Can 88"/>
          <p:cNvSpPr/>
          <p:nvPr/>
        </p:nvSpPr>
        <p:spPr>
          <a:xfrm>
            <a:off x="4038600" y="4876800"/>
            <a:ext cx="228600" cy="152400"/>
          </a:xfrm>
          <a:prstGeom prst="ca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" name="Can 89"/>
          <p:cNvSpPr/>
          <p:nvPr/>
        </p:nvSpPr>
        <p:spPr>
          <a:xfrm>
            <a:off x="5334000" y="3962400"/>
            <a:ext cx="228600" cy="152400"/>
          </a:xfrm>
          <a:prstGeom prst="ca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1" name="Can 90"/>
          <p:cNvSpPr/>
          <p:nvPr/>
        </p:nvSpPr>
        <p:spPr>
          <a:xfrm>
            <a:off x="6781800" y="4572000"/>
            <a:ext cx="228600" cy="152400"/>
          </a:xfrm>
          <a:prstGeom prst="ca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" name="Can 91"/>
          <p:cNvSpPr/>
          <p:nvPr/>
        </p:nvSpPr>
        <p:spPr>
          <a:xfrm>
            <a:off x="7162800" y="4267200"/>
            <a:ext cx="228600" cy="152400"/>
          </a:xfrm>
          <a:prstGeom prst="ca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3" name="Can 92"/>
          <p:cNvSpPr/>
          <p:nvPr/>
        </p:nvSpPr>
        <p:spPr>
          <a:xfrm>
            <a:off x="7772400" y="5410200"/>
            <a:ext cx="228600" cy="152400"/>
          </a:xfrm>
          <a:prstGeom prst="ca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4" name="Straight Connector 93"/>
          <p:cNvCxnSpPr/>
          <p:nvPr/>
        </p:nvCxnSpPr>
        <p:spPr>
          <a:xfrm>
            <a:off x="3619500" y="4343400"/>
            <a:ext cx="5334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3733800" y="4038600"/>
            <a:ext cx="16002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5448300" y="4114800"/>
            <a:ext cx="13335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3619500" y="4343400"/>
            <a:ext cx="4152900" cy="1143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 flipV="1">
            <a:off x="5562600" y="4038600"/>
            <a:ext cx="1600200" cy="304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16"/>
          <p:cNvSpPr txBox="1">
            <a:spLocks noChangeArrowheads="1"/>
          </p:cNvSpPr>
          <p:nvPr/>
        </p:nvSpPr>
        <p:spPr bwMode="auto">
          <a:xfrm>
            <a:off x="3276600" y="3505201"/>
            <a:ext cx="11049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/>
              <a:t>Main Server</a:t>
            </a:r>
          </a:p>
        </p:txBody>
      </p:sp>
      <p:cxnSp>
        <p:nvCxnSpPr>
          <p:cNvPr id="100" name="Straight Connector 99"/>
          <p:cNvCxnSpPr/>
          <p:nvPr/>
        </p:nvCxnSpPr>
        <p:spPr>
          <a:xfrm>
            <a:off x="3619500" y="3690938"/>
            <a:ext cx="0" cy="500062"/>
          </a:xfrm>
          <a:prstGeom prst="line">
            <a:avLst/>
          </a:prstGeom>
          <a:ln w="6350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 flipV="1">
            <a:off x="4152900" y="5029200"/>
            <a:ext cx="1181100" cy="609600"/>
          </a:xfrm>
          <a:prstGeom prst="line">
            <a:avLst/>
          </a:prstGeom>
          <a:ln w="6350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9"/>
          <p:cNvSpPr txBox="1">
            <a:spLocks noChangeArrowheads="1"/>
          </p:cNvSpPr>
          <p:nvPr/>
        </p:nvSpPr>
        <p:spPr bwMode="auto">
          <a:xfrm>
            <a:off x="5329238" y="5638801"/>
            <a:ext cx="156686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dirty="0"/>
              <a:t>Replicated Servers</a:t>
            </a:r>
          </a:p>
        </p:txBody>
      </p:sp>
      <p:cxnSp>
        <p:nvCxnSpPr>
          <p:cNvPr id="103" name="Straight Connector 102"/>
          <p:cNvCxnSpPr/>
          <p:nvPr/>
        </p:nvCxnSpPr>
        <p:spPr>
          <a:xfrm flipV="1">
            <a:off x="6781800" y="5486401"/>
            <a:ext cx="990600" cy="290513"/>
          </a:xfrm>
          <a:prstGeom prst="line">
            <a:avLst/>
          </a:prstGeom>
          <a:ln w="6350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13701" y="49530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5" name="Straight Connector 104"/>
          <p:cNvCxnSpPr/>
          <p:nvPr/>
        </p:nvCxnSpPr>
        <p:spPr>
          <a:xfrm flipH="1">
            <a:off x="8013701" y="5372100"/>
            <a:ext cx="188913" cy="1143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43564" y="3690938"/>
            <a:ext cx="376237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7" name="Straight Connector 106"/>
          <p:cNvCxnSpPr/>
          <p:nvPr/>
        </p:nvCxnSpPr>
        <p:spPr>
          <a:xfrm flipH="1">
            <a:off x="5448300" y="3781426"/>
            <a:ext cx="247650" cy="180975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3025" y="3843338"/>
            <a:ext cx="376238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9" name="Straight Connector 108"/>
          <p:cNvCxnSpPr/>
          <p:nvPr/>
        </p:nvCxnSpPr>
        <p:spPr>
          <a:xfrm flipH="1">
            <a:off x="3686175" y="4052888"/>
            <a:ext cx="196850" cy="138112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1" y="44196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201" y="39624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1" y="45720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3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53401" y="55626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1" y="48768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1" y="38100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201" y="43434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1" y="34290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1" y="43434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1" y="52578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1" y="5181600"/>
            <a:ext cx="3778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1" name="Straight Connector 120"/>
          <p:cNvCxnSpPr>
            <a:stCxn id="88" idx="3"/>
            <a:endCxn id="110" idx="1"/>
          </p:cNvCxnSpPr>
          <p:nvPr/>
        </p:nvCxnSpPr>
        <p:spPr>
          <a:xfrm flipH="1">
            <a:off x="3505200" y="4343400"/>
            <a:ext cx="114300" cy="28575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89" idx="3"/>
            <a:endCxn id="120" idx="0"/>
          </p:cNvCxnSpPr>
          <p:nvPr/>
        </p:nvCxnSpPr>
        <p:spPr>
          <a:xfrm flipH="1">
            <a:off x="3998914" y="5029200"/>
            <a:ext cx="153987" cy="1524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endCxn id="119" idx="0"/>
          </p:cNvCxnSpPr>
          <p:nvPr/>
        </p:nvCxnSpPr>
        <p:spPr>
          <a:xfrm>
            <a:off x="4191001" y="5029200"/>
            <a:ext cx="188913" cy="2286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0" idx="0"/>
            <a:endCxn id="117" idx="2"/>
          </p:cNvCxnSpPr>
          <p:nvPr/>
        </p:nvCxnSpPr>
        <p:spPr>
          <a:xfrm flipH="1" flipV="1">
            <a:off x="5370514" y="3848100"/>
            <a:ext cx="77787" cy="1524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endCxn id="118" idx="0"/>
          </p:cNvCxnSpPr>
          <p:nvPr/>
        </p:nvCxnSpPr>
        <p:spPr>
          <a:xfrm>
            <a:off x="5410201" y="4114800"/>
            <a:ext cx="36513" cy="2286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1" idx="3"/>
            <a:endCxn id="114" idx="0"/>
          </p:cNvCxnSpPr>
          <p:nvPr/>
        </p:nvCxnSpPr>
        <p:spPr>
          <a:xfrm>
            <a:off x="6896101" y="4724400"/>
            <a:ext cx="227013" cy="1524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endCxn id="112" idx="1"/>
          </p:cNvCxnSpPr>
          <p:nvPr/>
        </p:nvCxnSpPr>
        <p:spPr>
          <a:xfrm>
            <a:off x="6934200" y="4724400"/>
            <a:ext cx="304800" cy="5715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stCxn id="92" idx="0"/>
            <a:endCxn id="115" idx="1"/>
          </p:cNvCxnSpPr>
          <p:nvPr/>
        </p:nvCxnSpPr>
        <p:spPr>
          <a:xfrm flipV="1">
            <a:off x="7277100" y="4019550"/>
            <a:ext cx="38100" cy="28575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92" idx="4"/>
          </p:cNvCxnSpPr>
          <p:nvPr/>
        </p:nvCxnSpPr>
        <p:spPr>
          <a:xfrm flipV="1">
            <a:off x="7391400" y="4191000"/>
            <a:ext cx="304800" cy="1524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92" idx="4"/>
            <a:endCxn id="116" idx="1"/>
          </p:cNvCxnSpPr>
          <p:nvPr/>
        </p:nvCxnSpPr>
        <p:spPr>
          <a:xfrm>
            <a:off x="7391400" y="4343400"/>
            <a:ext cx="304800" cy="20955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>
            <a:stCxn id="93" idx="1"/>
            <a:endCxn id="104" idx="1"/>
          </p:cNvCxnSpPr>
          <p:nvPr/>
        </p:nvCxnSpPr>
        <p:spPr>
          <a:xfrm flipV="1">
            <a:off x="7886700" y="5162550"/>
            <a:ext cx="127000" cy="24765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93" idx="3"/>
            <a:endCxn id="113" idx="1"/>
          </p:cNvCxnSpPr>
          <p:nvPr/>
        </p:nvCxnSpPr>
        <p:spPr>
          <a:xfrm>
            <a:off x="7886700" y="5562600"/>
            <a:ext cx="266700" cy="20955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>
            <a:endCxn id="88" idx="4"/>
          </p:cNvCxnSpPr>
          <p:nvPr/>
        </p:nvCxnSpPr>
        <p:spPr>
          <a:xfrm flipH="1">
            <a:off x="3733800" y="4052888"/>
            <a:ext cx="304800" cy="2143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117" idx="1"/>
          </p:cNvCxnSpPr>
          <p:nvPr/>
        </p:nvCxnSpPr>
        <p:spPr>
          <a:xfrm flipH="1">
            <a:off x="3784600" y="3638550"/>
            <a:ext cx="1397000" cy="6286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06" idx="1"/>
          </p:cNvCxnSpPr>
          <p:nvPr/>
        </p:nvCxnSpPr>
        <p:spPr>
          <a:xfrm flipH="1">
            <a:off x="3784601" y="3900488"/>
            <a:ext cx="1858963" cy="3667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endCxn id="88" idx="4"/>
          </p:cNvCxnSpPr>
          <p:nvPr/>
        </p:nvCxnSpPr>
        <p:spPr>
          <a:xfrm flipH="1" flipV="1">
            <a:off x="3733800" y="4267201"/>
            <a:ext cx="1595438" cy="1809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115" idx="1"/>
            <a:endCxn id="88" idx="4"/>
          </p:cNvCxnSpPr>
          <p:nvPr/>
        </p:nvCxnSpPr>
        <p:spPr>
          <a:xfrm flipH="1">
            <a:off x="3733800" y="4019550"/>
            <a:ext cx="3581400" cy="2476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111" idx="1"/>
            <a:endCxn id="88" idx="4"/>
          </p:cNvCxnSpPr>
          <p:nvPr/>
        </p:nvCxnSpPr>
        <p:spPr>
          <a:xfrm flipH="1">
            <a:off x="3733800" y="4171950"/>
            <a:ext cx="3962400" cy="952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116" idx="1"/>
          </p:cNvCxnSpPr>
          <p:nvPr/>
        </p:nvCxnSpPr>
        <p:spPr>
          <a:xfrm flipH="1" flipV="1">
            <a:off x="3784600" y="4267200"/>
            <a:ext cx="3911600" cy="2857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>
            <a:stCxn id="112" idx="1"/>
          </p:cNvCxnSpPr>
          <p:nvPr/>
        </p:nvCxnSpPr>
        <p:spPr>
          <a:xfrm flipH="1" flipV="1">
            <a:off x="3733800" y="4267200"/>
            <a:ext cx="3505200" cy="5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114" idx="1"/>
            <a:endCxn id="88" idx="4"/>
          </p:cNvCxnSpPr>
          <p:nvPr/>
        </p:nvCxnSpPr>
        <p:spPr>
          <a:xfrm flipH="1" flipV="1">
            <a:off x="3733800" y="4267200"/>
            <a:ext cx="3200400" cy="8191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1"/>
            <a:endCxn id="88" idx="4"/>
          </p:cNvCxnSpPr>
          <p:nvPr/>
        </p:nvCxnSpPr>
        <p:spPr>
          <a:xfrm flipH="1" flipV="1">
            <a:off x="3733800" y="4267200"/>
            <a:ext cx="4279900" cy="895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>
            <a:stCxn id="113" idx="1"/>
            <a:endCxn id="88" idx="4"/>
          </p:cNvCxnSpPr>
          <p:nvPr/>
        </p:nvCxnSpPr>
        <p:spPr>
          <a:xfrm flipH="1" flipV="1">
            <a:off x="3733800" y="4267200"/>
            <a:ext cx="4419600" cy="15049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endCxn id="88" idx="4"/>
          </p:cNvCxnSpPr>
          <p:nvPr/>
        </p:nvCxnSpPr>
        <p:spPr>
          <a:xfrm flipV="1">
            <a:off x="3694112" y="4267200"/>
            <a:ext cx="39688" cy="2857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20" idx="0"/>
            <a:endCxn id="88" idx="4"/>
          </p:cNvCxnSpPr>
          <p:nvPr/>
        </p:nvCxnSpPr>
        <p:spPr>
          <a:xfrm flipH="1" flipV="1">
            <a:off x="3733801" y="4267200"/>
            <a:ext cx="265113" cy="9144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119" idx="0"/>
            <a:endCxn id="88" idx="4"/>
          </p:cNvCxnSpPr>
          <p:nvPr/>
        </p:nvCxnSpPr>
        <p:spPr>
          <a:xfrm flipH="1" flipV="1">
            <a:off x="3733801" y="4267200"/>
            <a:ext cx="646113" cy="9906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15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9" grpId="0"/>
      <p:bldP spid="10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But, Consistency Becomes a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An example: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/>
              <a:t>In an e-commerce application, the bank database has been replicated across two servers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/>
              <a:t>Maintaining consistency of replicated data is a challenge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an 3"/>
          <p:cNvSpPr/>
          <p:nvPr/>
        </p:nvSpPr>
        <p:spPr>
          <a:xfrm>
            <a:off x="3319462" y="4800600"/>
            <a:ext cx="990600" cy="1447800"/>
          </a:xfrm>
          <a:prstGeom prst="can">
            <a:avLst/>
          </a:prstGeom>
          <a:solidFill>
            <a:schemeClr val="bg2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395663" y="54102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6" name="Can 5"/>
          <p:cNvSpPr/>
          <p:nvPr/>
        </p:nvSpPr>
        <p:spPr>
          <a:xfrm>
            <a:off x="7396162" y="4800600"/>
            <a:ext cx="990600" cy="1447800"/>
          </a:xfrm>
          <a:prstGeom prst="can">
            <a:avLst/>
          </a:prstGeom>
          <a:solidFill>
            <a:schemeClr val="bg2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472363" y="54102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=1000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4957763" y="5867401"/>
            <a:ext cx="1905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/>
              <a:t>Replicated Database</a:t>
            </a:r>
          </a:p>
        </p:txBody>
      </p:sp>
      <p:cxnSp>
        <p:nvCxnSpPr>
          <p:cNvPr id="9" name="Straight Connector 8"/>
          <p:cNvCxnSpPr>
            <a:stCxn id="8" idx="1"/>
          </p:cNvCxnSpPr>
          <p:nvPr/>
        </p:nvCxnSpPr>
        <p:spPr>
          <a:xfrm flipH="1" flipV="1">
            <a:off x="4310063" y="5562600"/>
            <a:ext cx="647700" cy="45878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8" idx="3"/>
          </p:cNvCxnSpPr>
          <p:nvPr/>
        </p:nvCxnSpPr>
        <p:spPr>
          <a:xfrm flipV="1">
            <a:off x="6862763" y="5503864"/>
            <a:ext cx="533400" cy="51752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633663" y="3848100"/>
            <a:ext cx="2362200" cy="3429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chemeClr val="tx1"/>
                </a:solidFill>
              </a:rPr>
              <a:t>Event 1 = Add $1000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6526" y="3830638"/>
            <a:ext cx="2809875" cy="342900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>
                <a:solidFill>
                  <a:srgbClr val="0000FF"/>
                </a:solidFill>
              </a:rPr>
              <a:t>Event 2 = Add interest of 5%</a:t>
            </a:r>
          </a:p>
        </p:txBody>
      </p:sp>
      <p:cxnSp>
        <p:nvCxnSpPr>
          <p:cNvPr id="13" name="Straight Arrow Connector 12"/>
          <p:cNvCxnSpPr>
            <a:stCxn id="11" idx="2"/>
            <a:endCxn id="5" idx="0"/>
          </p:cNvCxnSpPr>
          <p:nvPr/>
        </p:nvCxnSpPr>
        <p:spPr>
          <a:xfrm>
            <a:off x="3814763" y="4191000"/>
            <a:ext cx="0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1" idx="2"/>
            <a:endCxn id="7" idx="1"/>
          </p:cNvCxnSpPr>
          <p:nvPr/>
        </p:nvCxnSpPr>
        <p:spPr>
          <a:xfrm>
            <a:off x="3814763" y="4191000"/>
            <a:ext cx="3657600" cy="1371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84550" y="54102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=2000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3763" y="44196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</p:txBody>
      </p:sp>
      <p:cxnSp>
        <p:nvCxnSpPr>
          <p:cNvPr id="17" name="Straight Arrow Connector 16"/>
          <p:cNvCxnSpPr>
            <a:stCxn id="12" idx="2"/>
            <a:endCxn id="7" idx="0"/>
          </p:cNvCxnSpPr>
          <p:nvPr/>
        </p:nvCxnSpPr>
        <p:spPr>
          <a:xfrm>
            <a:off x="7891463" y="4173538"/>
            <a:ext cx="0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72363" y="44069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2363" y="54102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=1050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34163" y="54102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2363" y="54102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=2050</a:t>
            </a:r>
          </a:p>
        </p:txBody>
      </p:sp>
      <p:cxnSp>
        <p:nvCxnSpPr>
          <p:cNvPr id="22" name="Straight Arrow Connector 21"/>
          <p:cNvCxnSpPr>
            <a:stCxn id="12" idx="2"/>
          </p:cNvCxnSpPr>
          <p:nvPr/>
        </p:nvCxnSpPr>
        <p:spPr>
          <a:xfrm flipH="1">
            <a:off x="4222751" y="4173538"/>
            <a:ext cx="3668713" cy="123666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33913" y="5372100"/>
            <a:ext cx="3048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4075" y="5410200"/>
            <a:ext cx="838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</a:rPr>
              <a:t>Bal</a:t>
            </a:r>
            <a:r>
              <a:rPr lang="en-US" sz="1200" dirty="0">
                <a:solidFill>
                  <a:schemeClr val="tx1"/>
                </a:solidFill>
              </a:rPr>
              <a:t>=2100</a:t>
            </a:r>
          </a:p>
        </p:txBody>
      </p:sp>
      <p:pic>
        <p:nvPicPr>
          <p:cNvPr id="25" name="Picture 3" descr="C:\Users\vkolar\AppData\Local\Microsoft\Windows\Temporary Internet Files\Content.IE5\HRUY4RJ7\MC900441523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678238"/>
            <a:ext cx="1047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Oval 25"/>
          <p:cNvSpPr/>
          <p:nvPr/>
        </p:nvSpPr>
        <p:spPr>
          <a:xfrm>
            <a:off x="2971801" y="5126038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7089776" y="5126038"/>
            <a:ext cx="1662113" cy="895350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2" grpId="0" animBg="1"/>
      <p:bldP spid="15" grpId="0" animBg="1"/>
      <p:bldP spid="15" grpId="1" animBg="1"/>
      <p:bldP spid="16" grpId="0" animBg="1"/>
      <p:bldP spid="18" grpId="0" animBg="1"/>
      <p:bldP spid="19" grpId="0" animBg="1"/>
      <p:bldP spid="19" grpId="1" animBg="1"/>
      <p:bldP spid="20" grpId="0" animBg="1"/>
      <p:bldP spid="21" grpId="0" animBg="1"/>
      <p:bldP spid="21" grpId="1" animBg="1"/>
      <p:bldP spid="23" grpId="0" animBg="1"/>
      <p:bldP spid="24" grpId="0" animBg="1"/>
      <p:bldP spid="24" grpId="1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dirty="0"/>
              <a:t>The CAP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The limitations of distributed databases can be described in the so called the </a:t>
            </a:r>
            <a:r>
              <a:rPr lang="en-US" sz="2800" dirty="0">
                <a:solidFill>
                  <a:srgbClr val="000099"/>
                </a:solidFill>
              </a:rPr>
              <a:t>CAP theorem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b="1" u="sng" dirty="0">
                <a:solidFill>
                  <a:srgbClr val="C00000"/>
                </a:solidFill>
              </a:rPr>
              <a:t>C</a:t>
            </a:r>
            <a:r>
              <a:rPr lang="en-US" sz="1800" dirty="0">
                <a:solidFill>
                  <a:srgbClr val="C00000"/>
                </a:solidFill>
              </a:rPr>
              <a:t>onsistency</a:t>
            </a:r>
            <a:r>
              <a:rPr lang="en-US" sz="1800" dirty="0"/>
              <a:t>: every node always sees the same data at any given instance (i.e., strict consistency)</a:t>
            </a: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r>
              <a:rPr lang="en-US" sz="1800" b="1" u="sng" dirty="0">
                <a:solidFill>
                  <a:srgbClr val="C00000"/>
                </a:solidFill>
              </a:rPr>
              <a:t>A</a:t>
            </a:r>
            <a:r>
              <a:rPr lang="en-US" sz="1800" dirty="0">
                <a:solidFill>
                  <a:srgbClr val="C00000"/>
                </a:solidFill>
              </a:rPr>
              <a:t>vailability</a:t>
            </a:r>
            <a:r>
              <a:rPr lang="en-US" sz="1800" dirty="0"/>
              <a:t>: the system continues to operate, even if nodes in a cluster crash, or some hardware or software parts are down due to upgrades</a:t>
            </a: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r>
              <a:rPr lang="en-US" sz="1800" b="1" u="sng" dirty="0">
                <a:solidFill>
                  <a:srgbClr val="C00000"/>
                </a:solidFill>
              </a:rPr>
              <a:t>P</a:t>
            </a:r>
            <a:r>
              <a:rPr lang="en-US" sz="1800" dirty="0">
                <a:solidFill>
                  <a:srgbClr val="C00000"/>
                </a:solidFill>
              </a:rPr>
              <a:t>artition Tolerance</a:t>
            </a:r>
            <a:r>
              <a:rPr lang="en-US" sz="1800" dirty="0"/>
              <a:t>: the system continues to operate in the presence of network partitions</a:t>
            </a:r>
          </a:p>
          <a:p>
            <a:pPr lvl="2">
              <a:buFont typeface="Wingdings" pitchFamily="2" charset="2"/>
              <a:buChar char="§"/>
            </a:pPr>
            <a:endParaRPr lang="en-US" sz="2000" dirty="0"/>
          </a:p>
          <a:p>
            <a:pPr lvl="1">
              <a:buFont typeface="Wingdings" pitchFamily="2" charset="2"/>
              <a:buChar char="§"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1905000" y="6096000"/>
            <a:ext cx="8458200" cy="6096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CAP theorem: any distributed database with shared data, can have </a:t>
            </a:r>
            <a:r>
              <a:rPr lang="en-US" sz="2000" i="1" u="sng" dirty="0">
                <a:solidFill>
                  <a:schemeClr val="tx1"/>
                </a:solidFill>
              </a:rPr>
              <a:t>at most two</a:t>
            </a:r>
            <a:r>
              <a:rPr lang="en-US" sz="2000" dirty="0">
                <a:solidFill>
                  <a:schemeClr val="tx1"/>
                </a:solidFill>
              </a:rPr>
              <a:t> of the three desirable properties, C, A or P</a:t>
            </a:r>
          </a:p>
        </p:txBody>
      </p:sp>
    </p:spTree>
    <p:extLst>
      <p:ext uri="{BB962C8B-B14F-4D97-AF65-F5344CB8AC3E}">
        <p14:creationId xmlns:p14="http://schemas.microsoft.com/office/powerpoint/2010/main" val="301416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The CAP Theorem (</a:t>
            </a:r>
            <a:r>
              <a:rPr lang="en-US" i="1" dirty="0"/>
              <a:t>Cont’d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295400"/>
            <a:ext cx="8534400" cy="5562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Let us assume two nodes on opposite sides of a </a:t>
            </a:r>
            <a:br>
              <a:rPr lang="en-US" sz="2600" dirty="0"/>
            </a:br>
            <a:r>
              <a:rPr lang="en-US" sz="2600" dirty="0"/>
              <a:t>network partition: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Availability + Partition Tolerance forfeit Consistency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Consistency + Partition Tolerance entails that one side of the partition must act as if it is unavailable, thus </a:t>
            </a:r>
            <a:br>
              <a:rPr lang="en-US" sz="2600" dirty="0"/>
            </a:br>
            <a:r>
              <a:rPr lang="en-US" sz="2600" dirty="0"/>
              <a:t>forfeiting Availability</a:t>
            </a:r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Consistency + Availability is only possible if there is no network partition, thereby forfeiting Partition Tolerance</a:t>
            </a: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32CA6E1-22BA-4D76-9775-41698E0F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493" y="2133600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455" y="2133600"/>
            <a:ext cx="1066799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76800" y="2667000"/>
            <a:ext cx="175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ightning Bolt 10"/>
          <p:cNvSpPr/>
          <p:nvPr/>
        </p:nvSpPr>
        <p:spPr>
          <a:xfrm>
            <a:off x="5410200" y="2133600"/>
            <a:ext cx="762000" cy="10668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5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dirty="0"/>
              <a:t>Large-Scale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When companies such as Google and Amazon were designing large-scale databases, 24/7 Availability was a key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A few minutes of downtime means lost revenue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When </a:t>
            </a:r>
            <a:r>
              <a:rPr lang="en-US" sz="2600" i="1" dirty="0"/>
              <a:t>horizontally</a:t>
            </a:r>
            <a:r>
              <a:rPr lang="en-US" sz="2600" dirty="0"/>
              <a:t> scaling databases to 1000s of machines, the likelihood of a node or a network failure </a:t>
            </a:r>
            <a:br>
              <a:rPr lang="en-US" sz="2600" dirty="0"/>
            </a:br>
            <a:r>
              <a:rPr lang="en-US" sz="2600" dirty="0"/>
              <a:t>increases tremendously 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Therefore, in order to have strong guarantees on Availability and Partition Tolerance, they had to sacrifice “strict” Consistency (</a:t>
            </a:r>
            <a:r>
              <a:rPr lang="en-US" sz="2600" i="1" dirty="0"/>
              <a:t>implied by the CAP theorem</a:t>
            </a:r>
            <a:r>
              <a:rPr lang="en-US" sz="2600" dirty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8B9E631-12F5-4D54-8A1A-7536CD65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3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dirty="0"/>
              <a:t>Trading-Off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Maintaining consistency should balance between the strictness of consistency versus availability/scalability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Good-enough consistency </a:t>
            </a:r>
            <a:r>
              <a:rPr lang="en-US" i="1" u="sng" dirty="0"/>
              <a:t>depends on your application</a:t>
            </a:r>
          </a:p>
          <a:p>
            <a:pPr lvl="4"/>
            <a:endParaRPr lang="en-US" sz="105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7B788CB7-1618-4B9E-B58D-BBD244415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48</a:t>
            </a:fld>
            <a:endParaRPr lang="en-US"/>
          </a:p>
        </p:txBody>
      </p:sp>
      <p:sp>
        <p:nvSpPr>
          <p:cNvPr id="4" name="Left-Right Arrow 3"/>
          <p:cNvSpPr/>
          <p:nvPr/>
        </p:nvSpPr>
        <p:spPr>
          <a:xfrm>
            <a:off x="2438400" y="3697070"/>
            <a:ext cx="7162800" cy="951131"/>
          </a:xfrm>
          <a:prstGeom prst="left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24800" y="3175337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>
                <a:solidFill>
                  <a:srgbClr val="0000FF"/>
                </a:solidFill>
              </a:rPr>
              <a:t>Strict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010400" y="4992470"/>
            <a:ext cx="327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lvl="1" indent="-6350" algn="ctr"/>
            <a:r>
              <a:rPr lang="en-US" dirty="0"/>
              <a:t>Generally hard to implement, and is inefficient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316366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b="1" dirty="0">
                <a:solidFill>
                  <a:srgbClr val="0000FF"/>
                </a:solidFill>
              </a:rPr>
              <a:t>Loose Consistency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3601" y="4916270"/>
            <a:ext cx="24061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7475" indent="-117475"/>
            <a:r>
              <a:rPr lang="en-US" dirty="0"/>
              <a:t>Easier to implement, and is efficient </a:t>
            </a:r>
          </a:p>
        </p:txBody>
      </p:sp>
      <p:pic>
        <p:nvPicPr>
          <p:cNvPr id="9" name="Picture 2" descr="C:\Documents and Settings\dd\Local Settings\Temporary Internet Files\Content.IE5\2JSTM34V\MM900288870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1" y="3076576"/>
            <a:ext cx="619125" cy="8096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362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34948 0.0034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948 0.00347 L 0.11614 0.0034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dirty="0"/>
              <a:t>Eventual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A database is termed as </a:t>
            </a:r>
            <a:r>
              <a:rPr lang="en-US" i="1" dirty="0"/>
              <a:t>Eventually Consistent</a:t>
            </a:r>
            <a:r>
              <a:rPr lang="en-US" dirty="0"/>
              <a:t> if: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/>
              <a:t>All replicas will </a:t>
            </a:r>
            <a:r>
              <a:rPr lang="en-US" sz="2600" i="1" dirty="0"/>
              <a:t>gradually</a:t>
            </a:r>
            <a:r>
              <a:rPr lang="en-US" sz="2600" dirty="0"/>
              <a:t> become consistent in the absence of updates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="" xmlns:a16="http://schemas.microsoft.com/office/drawing/2014/main" id="{825D8A49-6220-4F10-A97C-1BDA1FBD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49</a:t>
            </a:fld>
            <a:endParaRPr lang="en-US"/>
          </a:p>
        </p:txBody>
      </p:sp>
      <p:pic>
        <p:nvPicPr>
          <p:cNvPr id="4" name="Picture 2" descr="http://igcministries.org/images/WorldMap.gi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906491" y="3352801"/>
            <a:ext cx="6006209" cy="3082871"/>
          </a:xfrm>
          <a:prstGeom prst="rect">
            <a:avLst/>
          </a:prstGeom>
          <a:noFill/>
        </p:spPr>
      </p:pic>
      <p:grpSp>
        <p:nvGrpSpPr>
          <p:cNvPr id="5" name="Group 4"/>
          <p:cNvGrpSpPr/>
          <p:nvPr/>
        </p:nvGrpSpPr>
        <p:grpSpPr>
          <a:xfrm>
            <a:off x="3363691" y="3557134"/>
            <a:ext cx="5382267" cy="2713836"/>
            <a:chOff x="1143000" y="3674663"/>
            <a:chExt cx="5382267" cy="2713836"/>
          </a:xfrm>
        </p:grpSpPr>
        <p:sp>
          <p:nvSpPr>
            <p:cNvPr id="6" name="Can 5"/>
            <p:cNvSpPr/>
            <p:nvPr/>
          </p:nvSpPr>
          <p:spPr>
            <a:xfrm>
              <a:off x="1600200" y="4876800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Can 6"/>
            <p:cNvSpPr/>
            <p:nvPr/>
          </p:nvSpPr>
          <p:spPr>
            <a:xfrm>
              <a:off x="4640304" y="5491162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Can 7"/>
            <p:cNvSpPr/>
            <p:nvPr/>
          </p:nvSpPr>
          <p:spPr>
            <a:xfrm>
              <a:off x="4446254" y="4593825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Can 8"/>
            <p:cNvSpPr/>
            <p:nvPr/>
          </p:nvSpPr>
          <p:spPr>
            <a:xfrm>
              <a:off x="5192310" y="3732860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Can 9"/>
            <p:cNvSpPr/>
            <p:nvPr/>
          </p:nvSpPr>
          <p:spPr>
            <a:xfrm>
              <a:off x="2794305" y="3674663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Can 10"/>
            <p:cNvSpPr/>
            <p:nvPr/>
          </p:nvSpPr>
          <p:spPr>
            <a:xfrm>
              <a:off x="1143000" y="3769183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975470" y="5777673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cxnSp>
        <p:nvCxnSpPr>
          <p:cNvPr id="13" name="Straight Connector 12"/>
          <p:cNvCxnSpPr>
            <a:stCxn id="12" idx="3"/>
            <a:endCxn id="31" idx="1"/>
          </p:cNvCxnSpPr>
          <p:nvPr/>
        </p:nvCxnSpPr>
        <p:spPr>
          <a:xfrm flipV="1">
            <a:off x="8079478" y="5731268"/>
            <a:ext cx="388914" cy="184905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745958" y="4759271"/>
            <a:ext cx="1769643" cy="4649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Event: Update Webpage-A</a:t>
            </a:r>
          </a:p>
        </p:txBody>
      </p:sp>
      <p:pic>
        <p:nvPicPr>
          <p:cNvPr id="15" name="Picture 4" descr="C:\Users\vkolar\AppData\Local\Microsoft\Windows\Temporary Internet Files\Content.IE5\E2H73JIM\MC90044203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613" y="3650258"/>
            <a:ext cx="709463" cy="88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C:\Users\vkolar\AppData\Local\Microsoft\Windows\Temporary Internet Files\Content.IE5\E2H73JIM\MC90044203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898" y="5493471"/>
            <a:ext cx="709463" cy="88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6781418" y="4909335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7474" y="4005803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3848" y="3925500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8164" y="4026626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5364" y="5186334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cxnSp>
        <p:nvCxnSpPr>
          <p:cNvPr id="22" name="Straight Connector 21"/>
          <p:cNvCxnSpPr>
            <a:stCxn id="15" idx="3"/>
            <a:endCxn id="20" idx="1"/>
          </p:cNvCxnSpPr>
          <p:nvPr/>
        </p:nvCxnSpPr>
        <p:spPr>
          <a:xfrm>
            <a:off x="2898075" y="4092377"/>
            <a:ext cx="580088" cy="72749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6" idx="3"/>
            <a:endCxn id="21" idx="1"/>
          </p:cNvCxnSpPr>
          <p:nvPr/>
        </p:nvCxnSpPr>
        <p:spPr>
          <a:xfrm flipV="1">
            <a:off x="2801361" y="5324833"/>
            <a:ext cx="1134003" cy="610756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69873" y="5777673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0264" y="4911672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1247" y="4008289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8030" y="3921072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4673" y="4030323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1873" y="5184340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pic>
        <p:nvPicPr>
          <p:cNvPr id="31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68392" y="5292671"/>
            <a:ext cx="787480" cy="87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58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Eventual Consistency: </a:t>
            </a:r>
            <a:br>
              <a:rPr lang="en-US" dirty="0"/>
            </a:br>
            <a:r>
              <a:rPr lang="en-US" dirty="0"/>
              <a:t>A Main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/>
              <a:t>But, what if the client accesses the data from different replicas?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D58C196-00F0-45E9-A863-C33E3D81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41F600E-9D81-4723-887F-45C4390085A8}" type="slidenum">
              <a:rPr lang="en-US" smtClean="0"/>
              <a:t>50</a:t>
            </a:fld>
            <a:endParaRPr lang="en-US"/>
          </a:p>
        </p:txBody>
      </p:sp>
      <p:pic>
        <p:nvPicPr>
          <p:cNvPr id="32" name="Picture 2" descr="http://igcministries.org/images/WorldMap.gi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906491" y="2971801"/>
            <a:ext cx="6006209" cy="3082871"/>
          </a:xfrm>
          <a:prstGeom prst="rect">
            <a:avLst/>
          </a:prstGeom>
          <a:noFill/>
        </p:spPr>
      </p:pic>
      <p:grpSp>
        <p:nvGrpSpPr>
          <p:cNvPr id="33" name="Group 32"/>
          <p:cNvGrpSpPr/>
          <p:nvPr/>
        </p:nvGrpSpPr>
        <p:grpSpPr>
          <a:xfrm>
            <a:off x="3363691" y="3176134"/>
            <a:ext cx="5382267" cy="2713836"/>
            <a:chOff x="1143000" y="3674663"/>
            <a:chExt cx="5382267" cy="2713836"/>
          </a:xfrm>
        </p:grpSpPr>
        <p:sp>
          <p:nvSpPr>
            <p:cNvPr id="34" name="Can 33"/>
            <p:cNvSpPr/>
            <p:nvPr/>
          </p:nvSpPr>
          <p:spPr>
            <a:xfrm>
              <a:off x="1600200" y="4876800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" name="Can 34"/>
            <p:cNvSpPr/>
            <p:nvPr/>
          </p:nvSpPr>
          <p:spPr>
            <a:xfrm>
              <a:off x="4640304" y="5491162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" name="Can 35"/>
            <p:cNvSpPr/>
            <p:nvPr/>
          </p:nvSpPr>
          <p:spPr>
            <a:xfrm>
              <a:off x="4446254" y="4593825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" name="Can 36"/>
            <p:cNvSpPr/>
            <p:nvPr/>
          </p:nvSpPr>
          <p:spPr>
            <a:xfrm>
              <a:off x="5192310" y="3732860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Can 37"/>
            <p:cNvSpPr/>
            <p:nvPr/>
          </p:nvSpPr>
          <p:spPr>
            <a:xfrm>
              <a:off x="2794305" y="3674663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Can 38"/>
            <p:cNvSpPr/>
            <p:nvPr/>
          </p:nvSpPr>
          <p:spPr>
            <a:xfrm>
              <a:off x="1143000" y="3769183"/>
              <a:ext cx="1332957" cy="897337"/>
            </a:xfrm>
            <a:prstGeom prst="can">
              <a:avLst/>
            </a:prstGeom>
            <a:solidFill>
              <a:schemeClr val="bg2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975470" y="5396673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cxnSp>
        <p:nvCxnSpPr>
          <p:cNvPr id="41" name="Straight Connector 40"/>
          <p:cNvCxnSpPr>
            <a:stCxn id="40" idx="3"/>
            <a:endCxn id="59" idx="1"/>
          </p:cNvCxnSpPr>
          <p:nvPr/>
        </p:nvCxnSpPr>
        <p:spPr>
          <a:xfrm flipV="1">
            <a:off x="8079478" y="5350268"/>
            <a:ext cx="388914" cy="184905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745958" y="4378271"/>
            <a:ext cx="1769643" cy="4649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Event: Update Webpage-A</a:t>
            </a:r>
          </a:p>
        </p:txBody>
      </p:sp>
      <p:pic>
        <p:nvPicPr>
          <p:cNvPr id="43" name="Picture 4" descr="C:\Users\vkolar\AppData\Local\Microsoft\Windows\Temporary Internet Files\Content.IE5\E2H73JIM\MC90044203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613" y="3269258"/>
            <a:ext cx="709463" cy="88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C:\Users\vkolar\AppData\Local\Microsoft\Windows\Temporary Internet Files\Content.IE5\E2H73JIM\MC90044203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898" y="5112471"/>
            <a:ext cx="709463" cy="88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6781418" y="4528335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7474" y="3624803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3848" y="3544500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8164" y="3645626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5364" y="4805334"/>
            <a:ext cx="1104009" cy="276999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cxnSp>
        <p:nvCxnSpPr>
          <p:cNvPr id="50" name="Straight Connector 49"/>
          <p:cNvCxnSpPr>
            <a:stCxn id="43" idx="3"/>
            <a:endCxn id="48" idx="1"/>
          </p:cNvCxnSpPr>
          <p:nvPr/>
        </p:nvCxnSpPr>
        <p:spPr>
          <a:xfrm>
            <a:off x="2898075" y="3711377"/>
            <a:ext cx="580088" cy="72749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4" idx="3"/>
            <a:endCxn id="49" idx="1"/>
          </p:cNvCxnSpPr>
          <p:nvPr/>
        </p:nvCxnSpPr>
        <p:spPr>
          <a:xfrm flipV="1">
            <a:off x="2801361" y="4943833"/>
            <a:ext cx="1134003" cy="610756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969873" y="5396673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80264" y="4530672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1247" y="3627289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8030" y="3540072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64673" y="3649323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21873" y="4803340"/>
            <a:ext cx="1104009" cy="276999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Webpage-A</a:t>
            </a:r>
          </a:p>
        </p:txBody>
      </p:sp>
      <p:cxnSp>
        <p:nvCxnSpPr>
          <p:cNvPr id="58" name="Straight Connector 57"/>
          <p:cNvCxnSpPr>
            <a:endCxn id="55" idx="2"/>
          </p:cNvCxnSpPr>
          <p:nvPr/>
        </p:nvCxnSpPr>
        <p:spPr>
          <a:xfrm flipV="1">
            <a:off x="5681474" y="3817070"/>
            <a:ext cx="28561" cy="336424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2" descr="C:\Users\vkolar\AppData\Local\Microsoft\Windows\Temporary Internet Files\Content.IE5\E2H73JIM\MC900322405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68392" y="4911671"/>
            <a:ext cx="787480" cy="87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0" name="Straight Connector 59"/>
          <p:cNvCxnSpPr>
            <a:endCxn id="55" idx="2"/>
          </p:cNvCxnSpPr>
          <p:nvPr/>
        </p:nvCxnSpPr>
        <p:spPr>
          <a:xfrm flipV="1">
            <a:off x="5681474" y="3817070"/>
            <a:ext cx="28561" cy="314598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32308" y="6172200"/>
            <a:ext cx="7154572" cy="609600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Protocols like Read Your Own Writes (RYOW) can be applied!</a:t>
            </a:r>
          </a:p>
        </p:txBody>
      </p:sp>
    </p:spTree>
    <p:extLst>
      <p:ext uri="{BB962C8B-B14F-4D97-AF65-F5344CB8AC3E}">
        <p14:creationId xmlns:p14="http://schemas.microsoft.com/office/powerpoint/2010/main" val="291970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42054E-6 L -0.34861 -0.1193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31" y="-5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dirty="0"/>
              <a:t>The BASE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0"/>
            <a:ext cx="8458200" cy="5257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The CAP theorem proves that it is impossible to guarantee strict Consistency and Availability while being able to tolerate network partitions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This resulted in databases with relaxed ACID guarantees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In particular, such databases apply the BASE properties: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/>
              <a:t>B</a:t>
            </a:r>
            <a:r>
              <a:rPr lang="en-US" dirty="0"/>
              <a:t>asically </a:t>
            </a:r>
            <a:r>
              <a:rPr lang="en-US" b="1" u="sng" dirty="0"/>
              <a:t>A</a:t>
            </a:r>
            <a:r>
              <a:rPr lang="en-US" dirty="0"/>
              <a:t>vailable: the system guarantees Availability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/>
              <a:t>S</a:t>
            </a:r>
            <a:r>
              <a:rPr lang="en-US" dirty="0"/>
              <a:t>oft-State: the state of the system may change over time</a:t>
            </a:r>
          </a:p>
          <a:p>
            <a:pPr lvl="1">
              <a:buFont typeface="Wingdings" pitchFamily="2" charset="2"/>
              <a:buChar char="§"/>
            </a:pPr>
            <a:r>
              <a:rPr lang="en-US" b="1" u="sng" dirty="0"/>
              <a:t>E</a:t>
            </a:r>
            <a:r>
              <a:rPr lang="en-US" dirty="0"/>
              <a:t>ventual Consistency: the system will </a:t>
            </a:r>
            <a:r>
              <a:rPr lang="en-US" i="1" dirty="0"/>
              <a:t>eventually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become consistent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2">
              <a:buFont typeface="Wingdings" pitchFamily="2" charset="2"/>
              <a:buChar char="§"/>
            </a:pP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8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687</TotalTime>
  <Words>1972</Words>
  <Application>Microsoft Office PowerPoint</Application>
  <PresentationFormat>Widescreen</PresentationFormat>
  <Paragraphs>521</Paragraphs>
  <Slides>51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Arial Rounded MT Bold</vt:lpstr>
      <vt:lpstr>Calibri</vt:lpstr>
      <vt:lpstr>Century Schoolbook</vt:lpstr>
      <vt:lpstr>Eras Medium ITC</vt:lpstr>
      <vt:lpstr>Wingdings</vt:lpstr>
      <vt:lpstr>Wingdings 2</vt:lpstr>
      <vt:lpstr>View</vt:lpstr>
      <vt:lpstr>Lecture 9:  Distributed Database</vt:lpstr>
      <vt:lpstr>Concepts</vt:lpstr>
      <vt:lpstr>PowerPoint Presentation</vt:lpstr>
      <vt:lpstr>Component Architecture for a DDBMS</vt:lpstr>
      <vt:lpstr>The Ideal Situation</vt:lpstr>
      <vt:lpstr>Workable definition</vt:lpstr>
      <vt:lpstr>Distributed Processing</vt:lpstr>
      <vt:lpstr>Advantages of DDBMSs</vt:lpstr>
      <vt:lpstr>Disadvantages of DDBMSs</vt:lpstr>
      <vt:lpstr>Types of DDBMS</vt:lpstr>
      <vt:lpstr>Homogeneous DDBMS</vt:lpstr>
      <vt:lpstr>Heterogeneous DDBMS</vt:lpstr>
      <vt:lpstr>Open Database Access and Interoperability</vt:lpstr>
      <vt:lpstr>Functions of a DDBMS</vt:lpstr>
      <vt:lpstr>Distributed Database Design</vt:lpstr>
      <vt:lpstr>Distributed Database Design</vt:lpstr>
      <vt:lpstr>Fragmentation</vt:lpstr>
      <vt:lpstr>Fragmentation</vt:lpstr>
      <vt:lpstr>Data Allocation</vt:lpstr>
      <vt:lpstr>Data Allocation</vt:lpstr>
      <vt:lpstr>Data Allocation</vt:lpstr>
      <vt:lpstr>Why Fragment?</vt:lpstr>
      <vt:lpstr>Why Fragment?</vt:lpstr>
      <vt:lpstr>Correctness of Fragmentation</vt:lpstr>
      <vt:lpstr>Correctness of Fragmentation</vt:lpstr>
      <vt:lpstr>Correctness of Fragmentation</vt:lpstr>
      <vt:lpstr>Types of Fragmentation</vt:lpstr>
      <vt:lpstr>Horizontal and Vertical Fragmentation</vt:lpstr>
      <vt:lpstr>Mixed Fragmentation</vt:lpstr>
      <vt:lpstr>Transparencies in a DDBMS</vt:lpstr>
      <vt:lpstr>Distribution Transparency</vt:lpstr>
      <vt:lpstr>Naming Transparency</vt:lpstr>
      <vt:lpstr>Transaction Transparency</vt:lpstr>
      <vt:lpstr>Concurrency Transparency</vt:lpstr>
      <vt:lpstr>Performance Transparency</vt:lpstr>
      <vt:lpstr>Concurrency Transparency</vt:lpstr>
      <vt:lpstr>Concurrency Transparency</vt:lpstr>
      <vt:lpstr>Failure Transparency</vt:lpstr>
      <vt:lpstr>Performance Transparency</vt:lpstr>
      <vt:lpstr>Performance Transparency</vt:lpstr>
      <vt:lpstr>Scaling Traditional Databases</vt:lpstr>
      <vt:lpstr>Why Sharding Data?</vt:lpstr>
      <vt:lpstr>Why Replicating Data?</vt:lpstr>
      <vt:lpstr>But, Consistency Becomes a Challenge</vt:lpstr>
      <vt:lpstr>The CAP Theorem</vt:lpstr>
      <vt:lpstr>The CAP Theorem (Cont’d)</vt:lpstr>
      <vt:lpstr>Large-Scale Databases</vt:lpstr>
      <vt:lpstr>Trading-Off Consistency</vt:lpstr>
      <vt:lpstr>Eventual Consistency</vt:lpstr>
      <vt:lpstr>Eventual Consistency:  A Main Challenge</vt:lpstr>
      <vt:lpstr>The BASE Properties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9: Distributed Database</dc:title>
  <dc:creator>boharag</dc:creator>
  <cp:lastModifiedBy>Hemuni</cp:lastModifiedBy>
  <cp:revision>79</cp:revision>
  <dcterms:created xsi:type="dcterms:W3CDTF">2019-12-25T15:14:15Z</dcterms:created>
  <dcterms:modified xsi:type="dcterms:W3CDTF">2020-01-16T03:05:37Z</dcterms:modified>
</cp:coreProperties>
</file>