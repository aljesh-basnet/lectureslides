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300" r:id="rId3"/>
    <p:sldId id="264" r:id="rId4"/>
    <p:sldId id="262" r:id="rId5"/>
    <p:sldId id="327" r:id="rId6"/>
    <p:sldId id="263" r:id="rId7"/>
    <p:sldId id="267" r:id="rId8"/>
    <p:sldId id="270" r:id="rId9"/>
    <p:sldId id="272" r:id="rId10"/>
    <p:sldId id="273" r:id="rId11"/>
    <p:sldId id="275" r:id="rId12"/>
    <p:sldId id="277" r:id="rId13"/>
    <p:sldId id="279" r:id="rId14"/>
    <p:sldId id="286" r:id="rId15"/>
    <p:sldId id="287" r:id="rId16"/>
    <p:sldId id="288" r:id="rId17"/>
    <p:sldId id="32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0D9A25DD-8644-49A9-9044-FF42CFBA62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FED43A58-42BF-4544-B411-9A57C257E20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F7D743-DF63-4010-86C2-45EDE029D189}" type="datetimeFigureOut">
              <a:rPr lang="en-US" smtClean="0"/>
              <a:t>12/19/2019</a:t>
            </a:fld>
            <a:endParaRPr lang="en-US"/>
          </a:p>
        </p:txBody>
      </p:sp>
      <p:sp>
        <p:nvSpPr>
          <p:cNvPr id="4" name="Footer Placeholder 3">
            <a:extLst>
              <a:ext uri="{FF2B5EF4-FFF2-40B4-BE49-F238E27FC236}">
                <a16:creationId xmlns:a16="http://schemas.microsoft.com/office/drawing/2014/main" xmlns="" id="{262FD3B7-3809-41D1-A9C6-AD32BE426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28396954-81D9-41C9-933A-AD1190CB0E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CF060A-BEC7-4230-9854-02F9CA5639EC}" type="slidenum">
              <a:rPr lang="en-US" smtClean="0"/>
              <a:t>‹#›</a:t>
            </a:fld>
            <a:endParaRPr lang="en-US"/>
          </a:p>
        </p:txBody>
      </p:sp>
    </p:spTree>
    <p:extLst>
      <p:ext uri="{BB962C8B-B14F-4D97-AF65-F5344CB8AC3E}">
        <p14:creationId xmlns:p14="http://schemas.microsoft.com/office/powerpoint/2010/main" val="32308466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4CFF6B-943C-4681-864D-D49BF6B9501E}" type="datetimeFigureOut">
              <a:rPr lang="en-US" smtClean="0"/>
              <a:t>12/19/2019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10F3B-D70C-4D5E-B99B-3FE48113D571}" type="slidenum">
              <a:rPr lang="en-US" smtClean="0"/>
              <a:t>‹#›</a:t>
            </a:fld>
            <a:endParaRPr lang="en-US"/>
          </a:p>
        </p:txBody>
      </p:sp>
    </p:spTree>
    <p:extLst>
      <p:ext uri="{BB962C8B-B14F-4D97-AF65-F5344CB8AC3E}">
        <p14:creationId xmlns:p14="http://schemas.microsoft.com/office/powerpoint/2010/main" val="168807110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xmlns="" id="{E4C78276-FDF4-4E74-8ECA-2D87D43A278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xmlns="" id="{35AE802B-F775-4717-A665-14D192FCDD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NCC Education - Slide Master</a:t>
            </a:r>
          </a:p>
        </p:txBody>
      </p:sp>
    </p:spTree>
    <p:extLst>
      <p:ext uri="{BB962C8B-B14F-4D97-AF65-F5344CB8AC3E}">
        <p14:creationId xmlns:p14="http://schemas.microsoft.com/office/powerpoint/2010/main" val="763137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xmlns="" id="{C6507BBF-AFA1-46F0-A7CE-1C6EFE50EDB8}"/>
              </a:ext>
            </a:extLst>
          </p:cNvPr>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a:extLst>
              <a:ext uri="{FF2B5EF4-FFF2-40B4-BE49-F238E27FC236}">
                <a16:creationId xmlns:a16="http://schemas.microsoft.com/office/drawing/2014/main" xmlns="" id="{9D52572B-94E1-431D-9F49-11038B88D80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215508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xmlns="" id="{C1389F00-172C-4B80-A4BD-A52BBD961804}"/>
              </a:ext>
            </a:extLst>
          </p:cNvPr>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a:extLst>
              <a:ext uri="{FF2B5EF4-FFF2-40B4-BE49-F238E27FC236}">
                <a16:creationId xmlns:a16="http://schemas.microsoft.com/office/drawing/2014/main" xmlns="" id="{884B603D-D6F8-4E86-8F16-5A07A73187C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370031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xmlns="" id="{373E7184-4A89-4E42-8B28-E4EED4126861}"/>
              </a:ext>
            </a:extLst>
          </p:cNvPr>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a:extLst>
              <a:ext uri="{FF2B5EF4-FFF2-40B4-BE49-F238E27FC236}">
                <a16:creationId xmlns:a16="http://schemas.microsoft.com/office/drawing/2014/main" xmlns="" id="{0DD8D3B9-4E75-43F5-9374-2CB52B6DFAA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635077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xmlns="" id="{7839B9FE-5056-45E9-ADE7-8305D164876A}"/>
              </a:ext>
            </a:extLst>
          </p:cNvPr>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a:extLst>
              <a:ext uri="{FF2B5EF4-FFF2-40B4-BE49-F238E27FC236}">
                <a16:creationId xmlns:a16="http://schemas.microsoft.com/office/drawing/2014/main" xmlns="" id="{7A45F03F-B2CA-4373-9817-B2F775D7A4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976579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xmlns="" id="{8C6F2279-14F4-475D-B17B-CF3933EFB5F2}"/>
              </a:ext>
            </a:extLst>
          </p:cNvPr>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a:extLst>
              <a:ext uri="{FF2B5EF4-FFF2-40B4-BE49-F238E27FC236}">
                <a16:creationId xmlns:a16="http://schemas.microsoft.com/office/drawing/2014/main" xmlns="" id="{808CCBE7-982C-4B93-A9B5-1A5B6CC7875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150362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xmlns="" id="{F7D5DBB5-1816-4AC3-AE2F-B9D4781FEBBD}"/>
              </a:ext>
            </a:extLst>
          </p:cNvPr>
          <p:cNvSpPr>
            <a:spLocks noGrp="1" noRot="1" noChangeAspect="1" noChangeArrowheads="1" noTextEdit="1"/>
          </p:cNvSpPr>
          <p:nvPr>
            <p:ph type="sldImg"/>
          </p:nvPr>
        </p:nvSpPr>
        <p:spPr bwMode="auto">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a:extLst>
              <a:ext uri="{FF2B5EF4-FFF2-40B4-BE49-F238E27FC236}">
                <a16:creationId xmlns:a16="http://schemas.microsoft.com/office/drawing/2014/main" xmlns="" id="{D07D418A-0C21-49D1-B8C6-B2DE3CAFEA3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2835919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B3FF77-BA6B-4FC5-B1AB-D3565D0082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9200E80-6DA0-4867-BB2A-029822C85F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A92C1A6A-CF05-44DB-B536-338D48154712}"/>
              </a:ext>
            </a:extLst>
          </p:cNvPr>
          <p:cNvSpPr>
            <a:spLocks noGrp="1"/>
          </p:cNvSpPr>
          <p:nvPr>
            <p:ph type="dt" sz="half" idx="10"/>
          </p:nvPr>
        </p:nvSpPr>
        <p:spPr/>
        <p:txBody>
          <a:bodyPr/>
          <a:lstStyle/>
          <a:p>
            <a:fld id="{30E08990-74D9-4CA4-9533-3DE5CB1202B0}" type="datetime1">
              <a:rPr lang="en-US" smtClean="0"/>
              <a:t>12/19/2019</a:t>
            </a:fld>
            <a:endParaRPr lang="en-US"/>
          </a:p>
        </p:txBody>
      </p:sp>
      <p:sp>
        <p:nvSpPr>
          <p:cNvPr id="5" name="Footer Placeholder 4">
            <a:extLst>
              <a:ext uri="{FF2B5EF4-FFF2-40B4-BE49-F238E27FC236}">
                <a16:creationId xmlns:a16="http://schemas.microsoft.com/office/drawing/2014/main" xmlns="" id="{7F55E442-EC83-4A4A-8D0E-A73DA4D18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ECEC075-30C2-4F80-B23F-4696AE89D073}"/>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2994900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BE3F2D-F426-414B-8459-F3BB322BB9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F2AD7DD-41FC-4F58-A5D7-1AB9FFB359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7D64FC1-DD2B-40EF-B4ED-EF5FC06CA0C7}"/>
              </a:ext>
            </a:extLst>
          </p:cNvPr>
          <p:cNvSpPr>
            <a:spLocks noGrp="1"/>
          </p:cNvSpPr>
          <p:nvPr>
            <p:ph type="dt" sz="half" idx="10"/>
          </p:nvPr>
        </p:nvSpPr>
        <p:spPr/>
        <p:txBody>
          <a:bodyPr/>
          <a:lstStyle/>
          <a:p>
            <a:fld id="{25E760CA-9E9A-44B2-99B0-9CA51927D6AE}" type="datetime1">
              <a:rPr lang="en-US" smtClean="0"/>
              <a:t>12/19/2019</a:t>
            </a:fld>
            <a:endParaRPr lang="en-US"/>
          </a:p>
        </p:txBody>
      </p:sp>
      <p:sp>
        <p:nvSpPr>
          <p:cNvPr id="5" name="Footer Placeholder 4">
            <a:extLst>
              <a:ext uri="{FF2B5EF4-FFF2-40B4-BE49-F238E27FC236}">
                <a16:creationId xmlns:a16="http://schemas.microsoft.com/office/drawing/2014/main" xmlns="" id="{D93107AB-A3DF-44A1-BF7E-7A8BC2D96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82FF080-246F-43D2-966B-DDB4F58658B3}"/>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1077366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209C4-4CE6-4416-8E16-FFCF375B8B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9ECB20E4-1145-4BBF-90E7-2043D3258D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10D1E3D-0284-4278-9CDD-2851783639C3}"/>
              </a:ext>
            </a:extLst>
          </p:cNvPr>
          <p:cNvSpPr>
            <a:spLocks noGrp="1"/>
          </p:cNvSpPr>
          <p:nvPr>
            <p:ph type="dt" sz="half" idx="10"/>
          </p:nvPr>
        </p:nvSpPr>
        <p:spPr/>
        <p:txBody>
          <a:bodyPr/>
          <a:lstStyle/>
          <a:p>
            <a:fld id="{1A04D2D4-8162-4E94-A85B-261CBAA6C590}" type="datetime1">
              <a:rPr lang="en-US" smtClean="0"/>
              <a:t>12/19/2019</a:t>
            </a:fld>
            <a:endParaRPr lang="en-US"/>
          </a:p>
        </p:txBody>
      </p:sp>
      <p:sp>
        <p:nvSpPr>
          <p:cNvPr id="5" name="Footer Placeholder 4">
            <a:extLst>
              <a:ext uri="{FF2B5EF4-FFF2-40B4-BE49-F238E27FC236}">
                <a16:creationId xmlns:a16="http://schemas.microsoft.com/office/drawing/2014/main" xmlns="" id="{F26CE0EF-311B-4320-948B-A7E16FAE0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0CF42ED-9F4A-462D-B4AF-7273DE71C1E1}"/>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2403100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819E23-BBD6-48BC-8C31-88C760E588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CA4AE62-C82F-4761-8C46-1AFD044428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532838F3-5264-4B5D-A56E-E2B94A3208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E7FF58A1-78CF-489C-A934-F1CA503EFFEB}"/>
              </a:ext>
            </a:extLst>
          </p:cNvPr>
          <p:cNvSpPr>
            <a:spLocks noGrp="1"/>
          </p:cNvSpPr>
          <p:nvPr>
            <p:ph type="dt" sz="half" idx="10"/>
          </p:nvPr>
        </p:nvSpPr>
        <p:spPr/>
        <p:txBody>
          <a:bodyPr/>
          <a:lstStyle/>
          <a:p>
            <a:fld id="{A3EE8F15-DCE4-42AE-BD86-49B4421E01F5}" type="datetime1">
              <a:rPr lang="en-US" smtClean="0"/>
              <a:t>12/19/2019</a:t>
            </a:fld>
            <a:endParaRPr lang="en-US"/>
          </a:p>
        </p:txBody>
      </p:sp>
      <p:sp>
        <p:nvSpPr>
          <p:cNvPr id="6" name="Footer Placeholder 5">
            <a:extLst>
              <a:ext uri="{FF2B5EF4-FFF2-40B4-BE49-F238E27FC236}">
                <a16:creationId xmlns:a16="http://schemas.microsoft.com/office/drawing/2014/main" xmlns="" id="{7232C1E0-E42B-4E8C-A50B-DC748C191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339DC3C-D5E4-4B08-918C-EB24D5E48317}"/>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1240233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44DBA8-5CD2-4270-8192-70AC9B07E0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72AA2F23-BB3B-4876-BEE0-BD64971817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DC4B075-4A86-4088-8653-1FE6FEDD57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F02A4EB3-7494-4126-ADA1-7C72AB74C2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E6F5B88-74D4-4130-ADFE-E1B8461045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3F78AC17-538E-4CFE-A335-F00830A97703}"/>
              </a:ext>
            </a:extLst>
          </p:cNvPr>
          <p:cNvSpPr>
            <a:spLocks noGrp="1"/>
          </p:cNvSpPr>
          <p:nvPr>
            <p:ph type="dt" sz="half" idx="10"/>
          </p:nvPr>
        </p:nvSpPr>
        <p:spPr/>
        <p:txBody>
          <a:bodyPr/>
          <a:lstStyle/>
          <a:p>
            <a:fld id="{EEEB8C2F-6FD2-435A-BB3D-BF36DC56870F}" type="datetime1">
              <a:rPr lang="en-US" smtClean="0"/>
              <a:t>12/19/2019</a:t>
            </a:fld>
            <a:endParaRPr lang="en-US"/>
          </a:p>
        </p:txBody>
      </p:sp>
      <p:sp>
        <p:nvSpPr>
          <p:cNvPr id="8" name="Footer Placeholder 7">
            <a:extLst>
              <a:ext uri="{FF2B5EF4-FFF2-40B4-BE49-F238E27FC236}">
                <a16:creationId xmlns:a16="http://schemas.microsoft.com/office/drawing/2014/main" xmlns="" id="{C8E90F69-9BF8-45DC-A90F-9879EBADF7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D2AAF99C-9720-4D62-B806-7ACB6066E422}"/>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3482813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16A31B-42E3-411C-AF11-931243F1D2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FB9640F0-E8D1-481E-AB2B-BC485C9AEDAD}"/>
              </a:ext>
            </a:extLst>
          </p:cNvPr>
          <p:cNvSpPr>
            <a:spLocks noGrp="1"/>
          </p:cNvSpPr>
          <p:nvPr>
            <p:ph type="dt" sz="half" idx="10"/>
          </p:nvPr>
        </p:nvSpPr>
        <p:spPr/>
        <p:txBody>
          <a:bodyPr/>
          <a:lstStyle/>
          <a:p>
            <a:fld id="{23810D8A-EA0E-4653-A612-221E6CC6D85C}" type="datetime1">
              <a:rPr lang="en-US" smtClean="0"/>
              <a:t>12/19/2019</a:t>
            </a:fld>
            <a:endParaRPr lang="en-US"/>
          </a:p>
        </p:txBody>
      </p:sp>
      <p:sp>
        <p:nvSpPr>
          <p:cNvPr id="4" name="Footer Placeholder 3">
            <a:extLst>
              <a:ext uri="{FF2B5EF4-FFF2-40B4-BE49-F238E27FC236}">
                <a16:creationId xmlns:a16="http://schemas.microsoft.com/office/drawing/2014/main" xmlns="" id="{3B3AA353-C481-4D1A-BFF3-0C7E98EA44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CBBC1754-D0CD-491F-971C-D904D47E5DE5}"/>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1995284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DA6A44B-11CB-4B98-BA97-40B26BF366B7}"/>
              </a:ext>
            </a:extLst>
          </p:cNvPr>
          <p:cNvSpPr>
            <a:spLocks noGrp="1"/>
          </p:cNvSpPr>
          <p:nvPr>
            <p:ph type="dt" sz="half" idx="10"/>
          </p:nvPr>
        </p:nvSpPr>
        <p:spPr/>
        <p:txBody>
          <a:bodyPr/>
          <a:lstStyle/>
          <a:p>
            <a:fld id="{FCDE14F7-CB53-428A-8A2D-405EE7145FC1}" type="datetime1">
              <a:rPr lang="en-US" smtClean="0"/>
              <a:t>12/19/2019</a:t>
            </a:fld>
            <a:endParaRPr lang="en-US"/>
          </a:p>
        </p:txBody>
      </p:sp>
      <p:sp>
        <p:nvSpPr>
          <p:cNvPr id="3" name="Footer Placeholder 2">
            <a:extLst>
              <a:ext uri="{FF2B5EF4-FFF2-40B4-BE49-F238E27FC236}">
                <a16:creationId xmlns:a16="http://schemas.microsoft.com/office/drawing/2014/main" xmlns="" id="{1A83A931-E466-4960-B950-86BD90A00A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00BB91E5-0A9D-4057-B4A5-C43A83A89505}"/>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2791443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245B8C-A12A-417A-B58D-44E3E084D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36E265E8-F83C-4C62-842D-036470F55E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B1FF749-8953-4988-BC6D-5F194DDB51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C51E09D-8703-4359-A7E8-6564FB5D6333}"/>
              </a:ext>
            </a:extLst>
          </p:cNvPr>
          <p:cNvSpPr>
            <a:spLocks noGrp="1"/>
          </p:cNvSpPr>
          <p:nvPr>
            <p:ph type="dt" sz="half" idx="10"/>
          </p:nvPr>
        </p:nvSpPr>
        <p:spPr/>
        <p:txBody>
          <a:bodyPr/>
          <a:lstStyle/>
          <a:p>
            <a:fld id="{542F9450-E710-43E2-9487-8E9EFD2F6176}" type="datetime1">
              <a:rPr lang="en-US" smtClean="0"/>
              <a:t>12/19/2019</a:t>
            </a:fld>
            <a:endParaRPr lang="en-US"/>
          </a:p>
        </p:txBody>
      </p:sp>
      <p:sp>
        <p:nvSpPr>
          <p:cNvPr id="6" name="Footer Placeholder 5">
            <a:extLst>
              <a:ext uri="{FF2B5EF4-FFF2-40B4-BE49-F238E27FC236}">
                <a16:creationId xmlns:a16="http://schemas.microsoft.com/office/drawing/2014/main" xmlns="" id="{93660755-7B5D-4FF2-8948-9A305ACFC8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6504F54-019F-4FFF-A560-C2E2C318C320}"/>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327679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1CA7CB-85FC-4545-992D-2F7ED3201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5D88532-C399-44CA-89A5-102DE4931B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02C0A3E2-8649-4A55-BD01-D51B9D5E9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C85A1AF-6D43-48E5-95A6-B6CD6B2A3719}"/>
              </a:ext>
            </a:extLst>
          </p:cNvPr>
          <p:cNvSpPr>
            <a:spLocks noGrp="1"/>
          </p:cNvSpPr>
          <p:nvPr>
            <p:ph type="dt" sz="half" idx="10"/>
          </p:nvPr>
        </p:nvSpPr>
        <p:spPr/>
        <p:txBody>
          <a:bodyPr/>
          <a:lstStyle/>
          <a:p>
            <a:fld id="{2E855E2C-4955-4D0B-B8D0-AB622D44A105}" type="datetime1">
              <a:rPr lang="en-US" smtClean="0"/>
              <a:t>12/19/2019</a:t>
            </a:fld>
            <a:endParaRPr lang="en-US"/>
          </a:p>
        </p:txBody>
      </p:sp>
      <p:sp>
        <p:nvSpPr>
          <p:cNvPr id="6" name="Footer Placeholder 5">
            <a:extLst>
              <a:ext uri="{FF2B5EF4-FFF2-40B4-BE49-F238E27FC236}">
                <a16:creationId xmlns:a16="http://schemas.microsoft.com/office/drawing/2014/main" xmlns="" id="{21F6EF7D-142D-4E7F-ABB2-12A87B0FD8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EEE9635-3439-42FE-8F55-896565DC8294}"/>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651516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4223CC-54FE-440C-A65C-D8EAA1A8B5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00D21E6E-BE63-4D1B-9DD1-0414DC7FF9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317EC02-4C1E-420C-BC03-C1CCEECE1C1A}"/>
              </a:ext>
            </a:extLst>
          </p:cNvPr>
          <p:cNvSpPr>
            <a:spLocks noGrp="1"/>
          </p:cNvSpPr>
          <p:nvPr>
            <p:ph type="dt" sz="half" idx="10"/>
          </p:nvPr>
        </p:nvSpPr>
        <p:spPr/>
        <p:txBody>
          <a:bodyPr/>
          <a:lstStyle/>
          <a:p>
            <a:fld id="{445D5AB5-5833-48B8-BB2B-B44CC05DCE00}" type="datetime1">
              <a:rPr lang="en-US" smtClean="0"/>
              <a:t>12/19/2019</a:t>
            </a:fld>
            <a:endParaRPr lang="en-US"/>
          </a:p>
        </p:txBody>
      </p:sp>
      <p:sp>
        <p:nvSpPr>
          <p:cNvPr id="5" name="Footer Placeholder 4">
            <a:extLst>
              <a:ext uri="{FF2B5EF4-FFF2-40B4-BE49-F238E27FC236}">
                <a16:creationId xmlns:a16="http://schemas.microsoft.com/office/drawing/2014/main" xmlns="" id="{16D844C6-A82E-46BF-8DF7-E4A18FF8E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D04848E6-4C47-4388-924D-8CD3381656F0}"/>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757318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9251429-1C2B-4CEF-9788-F842A6B364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67F19692-519F-4DF0-B41D-F637E8FD72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F8FE00D-D86F-44DA-A58E-F740F1E4EC84}"/>
              </a:ext>
            </a:extLst>
          </p:cNvPr>
          <p:cNvSpPr>
            <a:spLocks noGrp="1"/>
          </p:cNvSpPr>
          <p:nvPr>
            <p:ph type="dt" sz="half" idx="10"/>
          </p:nvPr>
        </p:nvSpPr>
        <p:spPr/>
        <p:txBody>
          <a:bodyPr/>
          <a:lstStyle/>
          <a:p>
            <a:fld id="{A75EF39E-B069-44F4-80A7-DF6CECF33AA7}" type="datetime1">
              <a:rPr lang="en-US" smtClean="0"/>
              <a:t>12/19/2019</a:t>
            </a:fld>
            <a:endParaRPr lang="en-US"/>
          </a:p>
        </p:txBody>
      </p:sp>
      <p:sp>
        <p:nvSpPr>
          <p:cNvPr id="5" name="Footer Placeholder 4">
            <a:extLst>
              <a:ext uri="{FF2B5EF4-FFF2-40B4-BE49-F238E27FC236}">
                <a16:creationId xmlns:a16="http://schemas.microsoft.com/office/drawing/2014/main" xmlns="" id="{149BE037-CE50-4994-B45A-D2B7BE42A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7250EBF-4C49-44FD-9F00-9A92F498BDBA}"/>
              </a:ext>
            </a:extLst>
          </p:cNvPr>
          <p:cNvSpPr>
            <a:spLocks noGrp="1"/>
          </p:cNvSpPr>
          <p:nvPr>
            <p:ph type="sldNum" sz="quarter" idx="12"/>
          </p:nvPr>
        </p:nvSpPr>
        <p:spPr/>
        <p:txBody>
          <a:bodyPr/>
          <a:lstStyle/>
          <a:p>
            <a:fld id="{FF69F5DB-05DA-4FD9-BCC0-5C97A39B7003}" type="slidenum">
              <a:rPr lang="en-US" smtClean="0"/>
              <a:t>‹#›</a:t>
            </a:fld>
            <a:endParaRPr lang="en-US"/>
          </a:p>
        </p:txBody>
      </p:sp>
    </p:spTree>
    <p:extLst>
      <p:ext uri="{BB962C8B-B14F-4D97-AF65-F5344CB8AC3E}">
        <p14:creationId xmlns:p14="http://schemas.microsoft.com/office/powerpoint/2010/main" val="3400623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266700"/>
            <a:ext cx="10363200" cy="11049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1380067" y="1676400"/>
            <a:ext cx="5050367"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633634" y="1676400"/>
            <a:ext cx="5050367" cy="4114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Slide Number Placeholder 4">
            <a:extLst>
              <a:ext uri="{FF2B5EF4-FFF2-40B4-BE49-F238E27FC236}">
                <a16:creationId xmlns:a16="http://schemas.microsoft.com/office/drawing/2014/main" xmlns="" id="{DFC9A1FC-D0AF-47C5-A6DA-CA055E37BBA5}"/>
              </a:ext>
            </a:extLst>
          </p:cNvPr>
          <p:cNvSpPr>
            <a:spLocks noGrp="1"/>
          </p:cNvSpPr>
          <p:nvPr>
            <p:ph type="sldNum" sz="quarter" idx="10"/>
          </p:nvPr>
        </p:nvSpPr>
        <p:spPr>
          <a:xfrm>
            <a:off x="9144000" y="6172200"/>
            <a:ext cx="2540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fld id="{0F17A0CE-F11E-459A-B057-1FC1BD26970B}" type="slidenum">
              <a:rPr lang="en-GB" altLang="en-US"/>
              <a:pPr/>
              <a:t>‹#›</a:t>
            </a:fld>
            <a:endParaRPr lang="en-GB" altLang="en-US"/>
          </a:p>
        </p:txBody>
      </p:sp>
    </p:spTree>
    <p:extLst>
      <p:ext uri="{BB962C8B-B14F-4D97-AF65-F5344CB8AC3E}">
        <p14:creationId xmlns:p14="http://schemas.microsoft.com/office/powerpoint/2010/main" val="2907486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F6A7EA1-87F1-4089-AE0B-13AE19F021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CCEDE96A-5957-4889-B71D-8063FEF130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A604720-998A-4BFA-A217-D237A0568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EF5D75-309A-4C9E-945F-05641D0CAD5C}" type="datetime1">
              <a:rPr lang="en-US" smtClean="0"/>
              <a:t>12/19/2019</a:t>
            </a:fld>
            <a:endParaRPr lang="en-US"/>
          </a:p>
        </p:txBody>
      </p:sp>
      <p:sp>
        <p:nvSpPr>
          <p:cNvPr id="5" name="Footer Placeholder 4">
            <a:extLst>
              <a:ext uri="{FF2B5EF4-FFF2-40B4-BE49-F238E27FC236}">
                <a16:creationId xmlns:a16="http://schemas.microsoft.com/office/drawing/2014/main" xmlns="" id="{6D89E370-F09A-4F89-A56D-0968790885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BEE34A5-2BA4-40BA-9A61-A2D6A72ED8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9F5DB-05DA-4FD9-BCC0-5C97A39B7003}" type="slidenum">
              <a:rPr lang="en-US" smtClean="0"/>
              <a:t>‹#›</a:t>
            </a:fld>
            <a:endParaRPr lang="en-US"/>
          </a:p>
        </p:txBody>
      </p:sp>
    </p:spTree>
    <p:extLst>
      <p:ext uri="{BB962C8B-B14F-4D97-AF65-F5344CB8AC3E}">
        <p14:creationId xmlns:p14="http://schemas.microsoft.com/office/powerpoint/2010/main" val="1532237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76A6AC-E7BA-4D3C-ACB8-E27234513845}"/>
              </a:ext>
            </a:extLst>
          </p:cNvPr>
          <p:cNvSpPr>
            <a:spLocks noGrp="1"/>
          </p:cNvSpPr>
          <p:nvPr>
            <p:ph type="ctrTitle"/>
          </p:nvPr>
        </p:nvSpPr>
        <p:spPr/>
        <p:txBody>
          <a:bodyPr/>
          <a:lstStyle/>
          <a:p>
            <a:r>
              <a:rPr lang="en-GB" altLang="en-US" b="1" dirty="0"/>
              <a:t>Database Design and Implementation</a:t>
            </a:r>
            <a:endParaRPr lang="en-US" b="1" dirty="0"/>
          </a:p>
        </p:txBody>
      </p:sp>
      <p:sp>
        <p:nvSpPr>
          <p:cNvPr id="3" name="Subtitle 2">
            <a:extLst>
              <a:ext uri="{FF2B5EF4-FFF2-40B4-BE49-F238E27FC236}">
                <a16:creationId xmlns:a16="http://schemas.microsoft.com/office/drawing/2014/main" xmlns="" id="{D89A4B10-A1D7-447D-A2B5-0E24B7DFCD74}"/>
              </a:ext>
            </a:extLst>
          </p:cNvPr>
          <p:cNvSpPr>
            <a:spLocks noGrp="1"/>
          </p:cNvSpPr>
          <p:nvPr>
            <p:ph type="subTitle" idx="1"/>
          </p:nvPr>
        </p:nvSpPr>
        <p:spPr/>
        <p:txBody>
          <a:bodyPr/>
          <a:lstStyle/>
          <a:p>
            <a:r>
              <a:rPr lang="en-US" b="1" dirty="0"/>
              <a:t>Lecture 5</a:t>
            </a:r>
          </a:p>
          <a:p>
            <a:r>
              <a:rPr lang="en-US" b="1" dirty="0"/>
              <a:t>Logical Database Design</a:t>
            </a:r>
          </a:p>
          <a:p>
            <a:endParaRPr lang="en-US" b="1" dirty="0"/>
          </a:p>
        </p:txBody>
      </p:sp>
      <p:sp>
        <p:nvSpPr>
          <p:cNvPr id="5" name="Slide Number Placeholder 4">
            <a:extLst>
              <a:ext uri="{FF2B5EF4-FFF2-40B4-BE49-F238E27FC236}">
                <a16:creationId xmlns:a16="http://schemas.microsoft.com/office/drawing/2014/main" xmlns="" id="{22BAC1D4-2A26-4274-B148-D4927A220CEE}"/>
              </a:ext>
            </a:extLst>
          </p:cNvPr>
          <p:cNvSpPr>
            <a:spLocks noGrp="1"/>
          </p:cNvSpPr>
          <p:nvPr>
            <p:ph type="sldNum" sz="quarter" idx="12"/>
          </p:nvPr>
        </p:nvSpPr>
        <p:spPr/>
        <p:txBody>
          <a:bodyPr/>
          <a:lstStyle/>
          <a:p>
            <a:fld id="{FF69F5DB-05DA-4FD9-BCC0-5C97A39B7003}" type="slidenum">
              <a:rPr lang="en-US" smtClean="0"/>
              <a:t>1</a:t>
            </a:fld>
            <a:endParaRPr lang="en-US"/>
          </a:p>
        </p:txBody>
      </p:sp>
    </p:spTree>
    <p:extLst>
      <p:ext uri="{BB962C8B-B14F-4D97-AF65-F5344CB8AC3E}">
        <p14:creationId xmlns:p14="http://schemas.microsoft.com/office/powerpoint/2010/main" val="3428432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xmlns="" id="{B5565710-B852-46CB-8EFA-EF134A942ED2}"/>
              </a:ext>
            </a:extLst>
          </p:cNvPr>
          <p:cNvSpPr>
            <a:spLocks noGrp="1"/>
          </p:cNvSpPr>
          <p:nvPr>
            <p:ph type="title"/>
          </p:nvPr>
        </p:nvSpPr>
        <p:spPr/>
        <p:txBody>
          <a:bodyPr/>
          <a:lstStyle/>
          <a:p>
            <a:pPr algn="ctr" eaLnBrk="1" hangingPunct="1"/>
            <a:r>
              <a:rPr lang="en-US" altLang="en-US" dirty="0"/>
              <a:t>Learning Outcomes</a:t>
            </a:r>
          </a:p>
        </p:txBody>
      </p:sp>
      <p:sp>
        <p:nvSpPr>
          <p:cNvPr id="14339" name="Content Placeholder 2">
            <a:extLst>
              <a:ext uri="{FF2B5EF4-FFF2-40B4-BE49-F238E27FC236}">
                <a16:creationId xmlns:a16="http://schemas.microsoft.com/office/drawing/2014/main" xmlns="" id="{8946503B-EAE4-4B3C-AF21-06AAB6F1FE91}"/>
              </a:ext>
            </a:extLst>
          </p:cNvPr>
          <p:cNvSpPr>
            <a:spLocks noGrp="1"/>
          </p:cNvSpPr>
          <p:nvPr>
            <p:ph idx="1"/>
          </p:nvPr>
        </p:nvSpPr>
        <p:spPr/>
        <p:txBody>
          <a:bodyPr>
            <a:normAutofit fontScale="92500" lnSpcReduction="10000"/>
          </a:bodyPr>
          <a:lstStyle/>
          <a:p>
            <a:pPr eaLnBrk="1" hangingPunct="1"/>
            <a:r>
              <a:rPr lang="en-US" altLang="en-US" dirty="0"/>
              <a:t>In this Lecture, students will learn:</a:t>
            </a:r>
          </a:p>
          <a:p>
            <a:pPr lvl="1"/>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How to derive a set of  relations from a conceptual data model.</a:t>
            </a:r>
          </a:p>
          <a:p>
            <a:pPr lvl="1"/>
            <a:endParaRPr lang="en-US" altLang="en-US" dirty="0">
              <a:latin typeface="Arial" panose="020B0604020202020204" pitchFamily="34" charset="0"/>
              <a:ea typeface="ＭＳ Ｐゴシック" panose="020B0600070205080204" pitchFamily="34" charset="-128"/>
              <a:cs typeface="Times New Roman" panose="02020603050405020304" pitchFamily="18" charset="0"/>
            </a:endParaRPr>
          </a:p>
          <a:p>
            <a:pPr lvl="1"/>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How to validate these relations using the technique of normalization.</a:t>
            </a:r>
          </a:p>
          <a:p>
            <a:pPr lvl="1"/>
            <a:endParaRPr lang="en-US" altLang="en-US" dirty="0">
              <a:latin typeface="Arial" panose="020B0604020202020204" pitchFamily="34" charset="0"/>
              <a:ea typeface="ＭＳ Ｐゴシック" panose="020B0600070205080204" pitchFamily="34" charset="-128"/>
              <a:cs typeface="Times New Roman" panose="02020603050405020304" pitchFamily="18" charset="0"/>
            </a:endParaRPr>
          </a:p>
          <a:p>
            <a:pPr lvl="1"/>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How to validate a logical data model to ensure it supports the required transactions.</a:t>
            </a:r>
          </a:p>
          <a:p>
            <a:pPr lvl="1"/>
            <a:endParaRPr lang="en-US" altLang="en-US" dirty="0">
              <a:latin typeface="Arial" panose="020B0604020202020204" pitchFamily="34" charset="0"/>
              <a:ea typeface="ＭＳ Ｐゴシック" panose="020B0600070205080204" pitchFamily="34" charset="-128"/>
              <a:cs typeface="Times New Roman" panose="02020603050405020304" pitchFamily="18" charset="0"/>
            </a:endParaRPr>
          </a:p>
          <a:p>
            <a:pPr lvl="1"/>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How to merge local logical data models based on one or more user views into a global logical data model that represents all user views. </a:t>
            </a:r>
          </a:p>
          <a:p>
            <a:pPr lvl="1"/>
            <a:endParaRPr lang="en-US" altLang="en-US" dirty="0">
              <a:latin typeface="Arial" panose="020B0604020202020204" pitchFamily="34" charset="0"/>
              <a:ea typeface="ＭＳ Ｐゴシック" panose="020B0600070205080204" pitchFamily="34" charset="-128"/>
              <a:cs typeface="Times New Roman" panose="02020603050405020304" pitchFamily="18" charset="0"/>
            </a:endParaRPr>
          </a:p>
          <a:p>
            <a:pPr lvl="1"/>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How to ensure that the final logical data model is a true and accurate representation of the data requirements of the enterprise.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xmlns="" id="{78DCBB2F-EADB-400C-BEB9-05D6E88D43F2}"/>
              </a:ext>
            </a:extLst>
          </p:cNvPr>
          <p:cNvSpPr>
            <a:spLocks noGrp="1" noChangeArrowheads="1"/>
          </p:cNvSpPr>
          <p:nvPr>
            <p:ph type="title"/>
          </p:nvPr>
        </p:nvSpPr>
        <p:spPr/>
        <p:txBody>
          <a:bodyPr/>
          <a:lstStyle/>
          <a:p>
            <a:pPr algn="ctr"/>
            <a:r>
              <a:rPr lang="en-GB" altLang="en-US" b="1" dirty="0"/>
              <a:t>Agenda</a:t>
            </a:r>
          </a:p>
        </p:txBody>
      </p:sp>
      <p:sp>
        <p:nvSpPr>
          <p:cNvPr id="5123" name="Rectangle 3">
            <a:extLst>
              <a:ext uri="{FF2B5EF4-FFF2-40B4-BE49-F238E27FC236}">
                <a16:creationId xmlns:a16="http://schemas.microsoft.com/office/drawing/2014/main" xmlns="" id="{C4577AC5-AA27-42FE-83E4-0438D9A7707E}"/>
              </a:ext>
            </a:extLst>
          </p:cNvPr>
          <p:cNvSpPr>
            <a:spLocks noGrp="1" noChangeArrowheads="1"/>
          </p:cNvSpPr>
          <p:nvPr>
            <p:ph type="body" idx="1"/>
          </p:nvPr>
        </p:nvSpPr>
        <p:spPr/>
        <p:txBody>
          <a:bodyPr/>
          <a:lstStyle/>
          <a:p>
            <a:r>
              <a:rPr lang="en-GB" altLang="en-US" dirty="0"/>
              <a:t>This Lecture will cover:</a:t>
            </a:r>
          </a:p>
          <a:p>
            <a:pPr lvl="1"/>
            <a:r>
              <a:rPr lang="en-GB" altLang="en-US" dirty="0">
                <a:latin typeface="Arial" panose="020B0604020202020204" pitchFamily="34" charset="0"/>
                <a:ea typeface="ＭＳ Ｐゴシック" panose="020B0600070205080204" pitchFamily="34" charset="-128"/>
              </a:rPr>
              <a:t>Build and Validate Logical Data Model</a:t>
            </a:r>
          </a:p>
          <a:p>
            <a:pPr lvl="1"/>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Derive relations for logical data model</a:t>
            </a:r>
          </a:p>
          <a:p>
            <a:pPr lvl="1"/>
            <a:r>
              <a:rPr lang="en-US" altLang="en-US" dirty="0">
                <a:latin typeface="Arial" panose="020B0604020202020204" pitchFamily="34" charset="0"/>
                <a:ea typeface="ＭＳ Ｐゴシック" panose="020B0600070205080204" pitchFamily="34" charset="-128"/>
              </a:rPr>
              <a:t>Validate relations using normalization</a:t>
            </a:r>
          </a:p>
          <a:p>
            <a:pPr lvl="1"/>
            <a:r>
              <a:rPr lang="en-GB" altLang="en-US" dirty="0">
                <a:latin typeface="Arial" panose="020B0604020202020204" pitchFamily="34" charset="0"/>
                <a:ea typeface="ＭＳ Ｐゴシック" panose="020B0600070205080204" pitchFamily="34" charset="-128"/>
              </a:rPr>
              <a:t>Validate relations against user transactions</a:t>
            </a:r>
          </a:p>
          <a:p>
            <a:pPr lvl="1"/>
            <a:r>
              <a:rPr lang="en-GB" altLang="en-US" dirty="0">
                <a:latin typeface="Arial" panose="020B0604020202020204" pitchFamily="34" charset="0"/>
                <a:ea typeface="ＭＳ Ｐゴシック" panose="020B0600070205080204" pitchFamily="34" charset="-128"/>
              </a:rPr>
              <a:t>Check integrity constraints</a:t>
            </a:r>
          </a:p>
          <a:p>
            <a:pPr lvl="1"/>
            <a:r>
              <a:rPr lang="en-GB" altLang="en-US" dirty="0">
                <a:latin typeface="Arial" panose="020B0604020202020204" pitchFamily="34" charset="0"/>
                <a:ea typeface="ＭＳ Ｐゴシック" panose="020B0600070205080204" pitchFamily="34" charset="-128"/>
              </a:rPr>
              <a:t>Review logical data model with user</a:t>
            </a:r>
          </a:p>
          <a:p>
            <a:pPr lvl="1"/>
            <a:endParaRPr lang="en-GB" altLang="en-US" dirty="0"/>
          </a:p>
        </p:txBody>
      </p:sp>
      <p:sp>
        <p:nvSpPr>
          <p:cNvPr id="3" name="Slide Number Placeholder 2">
            <a:extLst>
              <a:ext uri="{FF2B5EF4-FFF2-40B4-BE49-F238E27FC236}">
                <a16:creationId xmlns:a16="http://schemas.microsoft.com/office/drawing/2014/main" xmlns="" id="{E5168505-03C7-4043-83E9-A350CE9EAF56}"/>
              </a:ext>
            </a:extLst>
          </p:cNvPr>
          <p:cNvSpPr>
            <a:spLocks noGrp="1"/>
          </p:cNvSpPr>
          <p:nvPr>
            <p:ph type="sldNum" sz="quarter" idx="12"/>
          </p:nvPr>
        </p:nvSpPr>
        <p:spPr/>
        <p:txBody>
          <a:bodyPr/>
          <a:lstStyle/>
          <a:p>
            <a:fld id="{FF69F5DB-05DA-4FD9-BCC0-5C97A39B7003}"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xmlns="" id="{061CC165-7384-4490-9146-CF93A8FEA32B}"/>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196B2F56-FFDB-4865-BC52-A1F7DE3ECA83}" type="slidenum">
              <a:rPr lang="en-GB" altLang="en-US" sz="1400"/>
              <a:pPr/>
              <a:t>4</a:t>
            </a:fld>
            <a:endParaRPr lang="en-GB" altLang="en-US" sz="1400"/>
          </a:p>
        </p:txBody>
      </p:sp>
      <p:sp>
        <p:nvSpPr>
          <p:cNvPr id="6147" name="Rectangle 2">
            <a:extLst>
              <a:ext uri="{FF2B5EF4-FFF2-40B4-BE49-F238E27FC236}">
                <a16:creationId xmlns:a16="http://schemas.microsoft.com/office/drawing/2014/main" xmlns="" id="{A9E65617-0370-465E-A6B3-11C229B8DEDF}"/>
              </a:ext>
            </a:extLst>
          </p:cNvPr>
          <p:cNvSpPr>
            <a:spLocks noGrp="1" noChangeArrowheads="1"/>
          </p:cNvSpPr>
          <p:nvPr>
            <p:ph type="title"/>
          </p:nvPr>
        </p:nvSpPr>
        <p:spPr>
          <a:xfrm>
            <a:off x="174661" y="0"/>
            <a:ext cx="11517330" cy="1104900"/>
          </a:xfrm>
        </p:spPr>
        <p:txBody>
          <a:bodyPr vert="horz" lIns="90488" tIns="44450" rIns="90488" bIns="44450" rtlCol="0" anchor="ctr">
            <a:normAutofit/>
          </a:bodyPr>
          <a:lstStyle/>
          <a:p>
            <a:pPr algn="ctr"/>
            <a:r>
              <a:rPr lang="en-GB" altLang="en-US" dirty="0">
                <a:latin typeface="Arial" panose="020B0604020202020204" pitchFamily="34" charset="0"/>
                <a:ea typeface="ＭＳ Ｐゴシック" panose="020B0600070205080204" pitchFamily="34" charset="-128"/>
              </a:rPr>
              <a:t>Step 2 Build and Validate Logical Data Model</a:t>
            </a:r>
          </a:p>
        </p:txBody>
      </p:sp>
      <p:sp>
        <p:nvSpPr>
          <p:cNvPr id="6148" name="Rectangle 3">
            <a:extLst>
              <a:ext uri="{FF2B5EF4-FFF2-40B4-BE49-F238E27FC236}">
                <a16:creationId xmlns:a16="http://schemas.microsoft.com/office/drawing/2014/main" xmlns="" id="{8840E7F3-2AC0-45CF-B37F-31BBF14BF376}"/>
              </a:ext>
            </a:extLst>
          </p:cNvPr>
          <p:cNvSpPr>
            <a:spLocks noGrp="1" noChangeArrowheads="1"/>
          </p:cNvSpPr>
          <p:nvPr>
            <p:ph type="body" idx="1"/>
          </p:nvPr>
        </p:nvSpPr>
        <p:spPr/>
        <p:txBody>
          <a:bodyPr vert="horz" lIns="90488" tIns="44450" rIns="90488" bIns="44450" rtlCol="0">
            <a:normAutofit/>
          </a:bodyPr>
          <a:lstStyle/>
          <a:p>
            <a:pPr algn="just"/>
            <a:r>
              <a:rPr lang="en-US" altLang="en-US" dirty="0">
                <a:latin typeface="Arial" panose="020B0604020202020204" pitchFamily="34" charset="0"/>
                <a:ea typeface="ＭＳ Ｐゴシック" panose="020B0600070205080204" pitchFamily="34" charset="-128"/>
              </a:rPr>
              <a:t>To translate the conceptual data model into a logical data model</a:t>
            </a:r>
          </a:p>
          <a:p>
            <a:pPr algn="just"/>
            <a:r>
              <a:rPr lang="en-US" altLang="en-US" dirty="0">
                <a:latin typeface="Arial" panose="020B0604020202020204" pitchFamily="34" charset="0"/>
                <a:ea typeface="ＭＳ Ｐゴシック" panose="020B0600070205080204" pitchFamily="34" charset="-128"/>
              </a:rPr>
              <a:t>To validate this model to check that it is structurally correct using normalization and supports the required transactions. </a:t>
            </a:r>
            <a:endParaRPr lang="en-GB" altLang="en-US" dirty="0">
              <a:latin typeface="Arial" panose="020B0604020202020204" pitchFamily="34" charset="0"/>
              <a:ea typeface="ＭＳ Ｐゴシック" panose="020B0600070205080204" pitchFamily="34" charset="-128"/>
            </a:endParaRPr>
          </a:p>
        </p:txBody>
      </p:sp>
      <p:sp>
        <p:nvSpPr>
          <p:cNvPr id="6149" name="Text Box 4">
            <a:extLst>
              <a:ext uri="{FF2B5EF4-FFF2-40B4-BE49-F238E27FC236}">
                <a16:creationId xmlns:a16="http://schemas.microsoft.com/office/drawing/2014/main" xmlns="" id="{5DF24B3E-C647-48AF-9C52-49CB6754B76A}"/>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xmlns="" id="{E631632B-F715-477C-BA29-86F87FD5FE6D}"/>
              </a:ext>
            </a:extLst>
          </p:cNvPr>
          <p:cNvSpPr>
            <a:spLocks noGrp="1" noChangeArrowheads="1"/>
          </p:cNvSpPr>
          <p:nvPr>
            <p:ph type="title"/>
          </p:nvPr>
        </p:nvSpPr>
        <p:spPr>
          <a:xfrm>
            <a:off x="318499" y="365125"/>
            <a:ext cx="11743361" cy="1052709"/>
          </a:xfrm>
        </p:spPr>
        <p:txBody>
          <a:bodyPr vert="horz" lIns="90488" tIns="44450" rIns="90488" bIns="44450" rtlCol="0" anchor="ctr">
            <a:normAutofit/>
          </a:bodyPr>
          <a:lstStyle/>
          <a:p>
            <a:pPr algn="ctr"/>
            <a:r>
              <a:rPr lang="en-GB" altLang="en-US" b="1" dirty="0">
                <a:latin typeface="Arial" panose="020B0604020202020204" pitchFamily="34" charset="0"/>
                <a:ea typeface="ＭＳ Ｐゴシック" panose="020B0600070205080204" pitchFamily="34" charset="-128"/>
              </a:rPr>
              <a:t>Database Design Methodology</a:t>
            </a:r>
          </a:p>
        </p:txBody>
      </p:sp>
      <p:sp>
        <p:nvSpPr>
          <p:cNvPr id="15364" name="Rectangle 3">
            <a:extLst>
              <a:ext uri="{FF2B5EF4-FFF2-40B4-BE49-F238E27FC236}">
                <a16:creationId xmlns:a16="http://schemas.microsoft.com/office/drawing/2014/main" xmlns="" id="{0E429619-5EDD-4397-B90A-5E74CF798019}"/>
              </a:ext>
            </a:extLst>
          </p:cNvPr>
          <p:cNvSpPr>
            <a:spLocks noGrp="1" noChangeArrowheads="1"/>
          </p:cNvSpPr>
          <p:nvPr>
            <p:ph type="body" idx="1"/>
          </p:nvPr>
        </p:nvSpPr>
        <p:spPr>
          <a:xfrm>
            <a:off x="236306" y="1600200"/>
            <a:ext cx="11825554" cy="4114800"/>
          </a:xfrm>
        </p:spPr>
        <p:txBody>
          <a:bodyPr vert="horz" lIns="90488" tIns="44450" rIns="90488" bIns="44450" rtlCol="0">
            <a:normAutofit/>
          </a:bodyPr>
          <a:lstStyle/>
          <a:p>
            <a:pPr algn="ctr">
              <a:buFont typeface="Monotype Sorts"/>
              <a:buNone/>
            </a:pPr>
            <a:r>
              <a:rPr lang="en-GB" altLang="en-US" b="1" dirty="0">
                <a:solidFill>
                  <a:srgbClr val="00B0F0"/>
                </a:solidFill>
                <a:latin typeface="Arial" panose="020B0604020202020204" pitchFamily="34" charset="0"/>
                <a:ea typeface="ＭＳ Ｐゴシック" panose="020B0600070205080204" pitchFamily="34" charset="-128"/>
              </a:rPr>
              <a:t>Logical database </a:t>
            </a:r>
            <a:r>
              <a:rPr lang="en-GB" altLang="en-US" b="1" dirty="0" smtClean="0">
                <a:solidFill>
                  <a:srgbClr val="00B0F0"/>
                </a:solidFill>
                <a:latin typeface="Arial" panose="020B0604020202020204" pitchFamily="34" charset="0"/>
                <a:ea typeface="ＭＳ Ｐゴシック" panose="020B0600070205080204" pitchFamily="34" charset="-128"/>
              </a:rPr>
              <a:t>design</a:t>
            </a:r>
            <a:br>
              <a:rPr lang="en-GB" altLang="en-US" b="1" dirty="0" smtClean="0">
                <a:solidFill>
                  <a:srgbClr val="00B0F0"/>
                </a:solidFill>
                <a:latin typeface="Arial" panose="020B0604020202020204" pitchFamily="34" charset="0"/>
                <a:ea typeface="ＭＳ Ｐゴシック" panose="020B0600070205080204" pitchFamily="34" charset="-128"/>
              </a:rPr>
            </a:br>
            <a:endParaRPr lang="en-GB" altLang="en-US" b="1" dirty="0" smtClean="0">
              <a:latin typeface="Arial" panose="020B0604020202020204" pitchFamily="34" charset="0"/>
              <a:ea typeface="ＭＳ Ｐゴシック" panose="020B0600070205080204" pitchFamily="34" charset="-128"/>
            </a:endParaRPr>
          </a:p>
          <a:p>
            <a:r>
              <a:rPr lang="en-GB" altLang="en-US" b="1" dirty="0" smtClean="0">
                <a:latin typeface="Arial" panose="020B0604020202020204" pitchFamily="34" charset="0"/>
                <a:ea typeface="ＭＳ Ｐゴシック" panose="020B0600070205080204" pitchFamily="34" charset="-128"/>
              </a:rPr>
              <a:t>Step 2   </a:t>
            </a:r>
            <a:r>
              <a:rPr lang="en-US" altLang="en-US" b="1" dirty="0" smtClean="0">
                <a:latin typeface="Arial" panose="020B0604020202020204" pitchFamily="34" charset="0"/>
                <a:ea typeface="ＭＳ Ｐゴシック" panose="020B0600070205080204" pitchFamily="34" charset="-128"/>
                <a:cs typeface="Times New Roman" panose="02020603050405020304" pitchFamily="18" charset="0"/>
              </a:rPr>
              <a:t>Build and validate logical data model</a:t>
            </a:r>
            <a:endParaRPr lang="en-GB" altLang="en-US" b="1" dirty="0" smtClean="0">
              <a:latin typeface="Arial" panose="020B0604020202020204" pitchFamily="34" charset="0"/>
              <a:ea typeface="ＭＳ Ｐゴシック" panose="020B0600070205080204" pitchFamily="34" charset="-128"/>
            </a:endParaRPr>
          </a:p>
          <a:p>
            <a:pPr lvl="1"/>
            <a:r>
              <a:rPr lang="en-GB" altLang="en-US" dirty="0" smtClean="0">
                <a:latin typeface="Arial" panose="020B0604020202020204" pitchFamily="34" charset="0"/>
                <a:ea typeface="ＭＳ Ｐゴシック" panose="020B0600070205080204" pitchFamily="34" charset="-128"/>
              </a:rPr>
              <a:t>Step </a:t>
            </a:r>
            <a:r>
              <a:rPr lang="en-GB" altLang="en-US" dirty="0">
                <a:latin typeface="Arial" panose="020B0604020202020204" pitchFamily="34" charset="0"/>
                <a:ea typeface="ＭＳ Ｐゴシック" panose="020B0600070205080204" pitchFamily="34" charset="-128"/>
              </a:rPr>
              <a:t>2.1  Derive relations for logical data model</a:t>
            </a:r>
          </a:p>
          <a:p>
            <a:pPr lvl="1"/>
            <a:r>
              <a:rPr lang="en-GB" altLang="en-US" dirty="0">
                <a:latin typeface="Arial" panose="020B0604020202020204" pitchFamily="34" charset="0"/>
                <a:ea typeface="ＭＳ Ｐゴシック" panose="020B0600070205080204" pitchFamily="34" charset="-128"/>
              </a:rPr>
              <a:t>Step 2.2  Validate relations using normalization</a:t>
            </a:r>
          </a:p>
          <a:p>
            <a:pPr lvl="1"/>
            <a:r>
              <a:rPr lang="en-GB" altLang="en-US" dirty="0">
                <a:latin typeface="Arial" panose="020B0604020202020204" pitchFamily="34" charset="0"/>
                <a:ea typeface="ＭＳ Ｐゴシック" panose="020B0600070205080204" pitchFamily="34" charset="-128"/>
              </a:rPr>
              <a:t>Step 2.3  Validate relations against user transactions</a:t>
            </a:r>
          </a:p>
          <a:p>
            <a:pPr lvl="1"/>
            <a:r>
              <a:rPr lang="en-GB" altLang="en-US" dirty="0">
                <a:latin typeface="Arial" panose="020B0604020202020204" pitchFamily="34" charset="0"/>
                <a:ea typeface="ＭＳ Ｐゴシック" panose="020B0600070205080204" pitchFamily="34" charset="-128"/>
              </a:rPr>
              <a:t>Step 2.4  Define integrity </a:t>
            </a:r>
            <a:r>
              <a:rPr lang="en-GB" altLang="en-US" dirty="0" smtClean="0">
                <a:latin typeface="Arial" panose="020B0604020202020204" pitchFamily="34" charset="0"/>
                <a:ea typeface="ＭＳ Ｐゴシック" panose="020B0600070205080204" pitchFamily="34" charset="-128"/>
              </a:rPr>
              <a:t>constraints</a:t>
            </a:r>
          </a:p>
          <a:p>
            <a:pPr lvl="1"/>
            <a:r>
              <a:rPr lang="en-GB" altLang="en-US" dirty="0">
                <a:latin typeface="Arial" panose="020B0604020202020204" pitchFamily="34" charset="0"/>
                <a:ea typeface="ＭＳ Ｐゴシック" panose="020B0600070205080204" pitchFamily="34" charset="-128"/>
              </a:rPr>
              <a:t>Step 2.5  Review logical data model with user</a:t>
            </a:r>
          </a:p>
          <a:p>
            <a:pPr lvl="1"/>
            <a:r>
              <a:rPr lang="en-GB" altLang="en-US" dirty="0">
                <a:latin typeface="Arial" panose="020B0604020202020204" pitchFamily="34" charset="0"/>
                <a:ea typeface="ＭＳ Ｐゴシック" panose="020B0600070205080204" pitchFamily="34" charset="-128"/>
              </a:rPr>
              <a:t>Step 2.6  Check for future growth</a:t>
            </a:r>
          </a:p>
          <a:p>
            <a:pPr lvl="1"/>
            <a:endParaRPr lang="en-GB" altLang="en-US" dirty="0">
              <a:latin typeface="Arial" panose="020B0604020202020204" pitchFamily="34" charset="0"/>
              <a:ea typeface="ＭＳ Ｐゴシック" panose="020B0600070205080204" pitchFamily="34" charset="-128"/>
            </a:endParaRPr>
          </a:p>
          <a:p>
            <a:pPr lvl="1">
              <a:buFontTx/>
              <a:buNone/>
            </a:pPr>
            <a:endParaRPr lang="en-GB" altLang="en-US" b="1" dirty="0">
              <a:latin typeface="Arial" panose="020B0604020202020204" pitchFamily="34" charset="0"/>
              <a:ea typeface="ＭＳ Ｐゴシック" panose="020B0600070205080204" pitchFamily="34" charset="-128"/>
            </a:endParaRPr>
          </a:p>
          <a:p>
            <a:pPr lvl="1"/>
            <a:endParaRPr lang="en-GB" altLang="en-US" b="1" dirty="0">
              <a:latin typeface="Arial" panose="020B0604020202020204" pitchFamily="34" charset="0"/>
              <a:ea typeface="ＭＳ Ｐゴシック" panose="020B0600070205080204" pitchFamily="34" charset="-128"/>
            </a:endParaRPr>
          </a:p>
        </p:txBody>
      </p:sp>
      <p:sp>
        <p:nvSpPr>
          <p:cNvPr id="15365" name="Text Box 4">
            <a:extLst>
              <a:ext uri="{FF2B5EF4-FFF2-40B4-BE49-F238E27FC236}">
                <a16:creationId xmlns:a16="http://schemas.microsoft.com/office/drawing/2014/main" xmlns="" id="{72BB2B68-528D-470F-BEB3-5A2E92C9EC39}"/>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b="1"/>
              <a:t>   </a:t>
            </a:r>
            <a:endParaRPr lang="en-GB" altLang="en-US" sz="1200" b="1"/>
          </a:p>
        </p:txBody>
      </p:sp>
      <p:sp>
        <p:nvSpPr>
          <p:cNvPr id="2" name="Slide Number Placeholder 1">
            <a:extLst>
              <a:ext uri="{FF2B5EF4-FFF2-40B4-BE49-F238E27FC236}">
                <a16:creationId xmlns:a16="http://schemas.microsoft.com/office/drawing/2014/main" xmlns="" id="{7485A96E-A870-4224-B4B8-818C33A3F04B}"/>
              </a:ext>
            </a:extLst>
          </p:cNvPr>
          <p:cNvSpPr>
            <a:spLocks noGrp="1"/>
          </p:cNvSpPr>
          <p:nvPr>
            <p:ph type="sldNum" sz="quarter" idx="12"/>
          </p:nvPr>
        </p:nvSpPr>
        <p:spPr/>
        <p:txBody>
          <a:bodyPr/>
          <a:lstStyle/>
          <a:p>
            <a:fld id="{FF69F5DB-05DA-4FD9-BCC0-5C97A39B7003}" type="slidenum">
              <a:rPr lang="en-US" smtClean="0"/>
              <a:t>5</a:t>
            </a:fld>
            <a:endParaRPr lang="en-US"/>
          </a:p>
        </p:txBody>
      </p:sp>
    </p:spTree>
    <p:extLst>
      <p:ext uri="{BB962C8B-B14F-4D97-AF65-F5344CB8AC3E}">
        <p14:creationId xmlns:p14="http://schemas.microsoft.com/office/powerpoint/2010/main" val="1806981559"/>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a:extLst>
              <a:ext uri="{FF2B5EF4-FFF2-40B4-BE49-F238E27FC236}">
                <a16:creationId xmlns:a16="http://schemas.microsoft.com/office/drawing/2014/main" xmlns="" id="{C93B2E72-95D6-4C16-A57F-EA6BBBDD5E51}"/>
              </a:ext>
            </a:extLst>
          </p:cNvPr>
          <p:cNvSpPr>
            <a:spLocks noGrp="1"/>
          </p:cNvSpPr>
          <p:nvPr>
            <p:ph type="sldNum" sz="quarter" idx="4294967295"/>
          </p:nvPr>
        </p:nvSpPr>
        <p:spPr bwMode="auto">
          <a:xfrm>
            <a:off x="1719263" y="60039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006BEE80-6862-405C-B4BB-CF1DE8A2D32F}" type="slidenum">
              <a:rPr lang="en-GB" altLang="en-US" sz="1400"/>
              <a:pPr/>
              <a:t>6</a:t>
            </a:fld>
            <a:endParaRPr lang="en-GB" altLang="en-US" sz="1400"/>
          </a:p>
        </p:txBody>
      </p:sp>
      <p:sp>
        <p:nvSpPr>
          <p:cNvPr id="7172" name="Rectangle 1027">
            <a:extLst>
              <a:ext uri="{FF2B5EF4-FFF2-40B4-BE49-F238E27FC236}">
                <a16:creationId xmlns:a16="http://schemas.microsoft.com/office/drawing/2014/main" xmlns="" id="{76F5BDF5-B713-4616-BEA6-872E07E6B9C5}"/>
              </a:ext>
            </a:extLst>
          </p:cNvPr>
          <p:cNvSpPr>
            <a:spLocks noGrp="1" noChangeArrowheads="1"/>
          </p:cNvSpPr>
          <p:nvPr>
            <p:ph type="body" idx="1"/>
          </p:nvPr>
        </p:nvSpPr>
        <p:spPr>
          <a:xfrm>
            <a:off x="256854" y="1312864"/>
            <a:ext cx="11846103" cy="5341154"/>
          </a:xfrm>
        </p:spPr>
        <p:txBody>
          <a:bodyPr vert="horz" lIns="90488" tIns="44450" rIns="90488" bIns="44450" rtlCol="0">
            <a:normAutofit/>
          </a:bodyPr>
          <a:lstStyle/>
          <a:p>
            <a:pPr algn="just"/>
            <a:r>
              <a:rPr lang="en-GB" altLang="en-US" dirty="0">
                <a:latin typeface="Arial" panose="020B0604020202020204" pitchFamily="34" charset="0"/>
                <a:ea typeface="ＭＳ Ｐゴシック" panose="020B0600070205080204" pitchFamily="34" charset="-128"/>
              </a:rPr>
              <a:t>Step 2.1  </a:t>
            </a:r>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Derive relations for logical data model</a:t>
            </a:r>
            <a:r>
              <a:rPr lang="en-GB" altLang="en-US" dirty="0">
                <a:latin typeface="Arial" panose="020B0604020202020204" pitchFamily="34" charset="0"/>
                <a:ea typeface="ＭＳ Ｐゴシック" panose="020B0600070205080204" pitchFamily="34" charset="-128"/>
              </a:rPr>
              <a:t> </a:t>
            </a:r>
          </a:p>
          <a:p>
            <a:pPr lvl="1" algn="just"/>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To create relations for the logical data model to represent the entities, relationships, and attributes that have been identified.</a:t>
            </a:r>
            <a:r>
              <a:rPr lang="en-GB" altLang="en-US" sz="2000" dirty="0">
                <a:latin typeface="Arial" panose="020B0604020202020204" pitchFamily="34" charset="0"/>
                <a:ea typeface="ＭＳ Ｐゴシック" panose="020B0600070205080204" pitchFamily="34" charset="-128"/>
              </a:rPr>
              <a:t> </a:t>
            </a:r>
            <a:endParaRPr lang="en-GB" altLang="en-US" sz="2000" dirty="0" smtClean="0">
              <a:latin typeface="Arial" panose="020B0604020202020204" pitchFamily="34" charset="0"/>
              <a:ea typeface="ＭＳ Ｐゴシック" panose="020B0600070205080204" pitchFamily="34" charset="-128"/>
            </a:endParaRPr>
          </a:p>
          <a:p>
            <a:pPr marL="914400" lvl="2" indent="0" algn="just">
              <a:buNone/>
            </a:pPr>
            <a:r>
              <a:rPr lang="en-US" altLang="en-US" sz="1600" b="1" dirty="0" smtClean="0">
                <a:latin typeface="Arial" panose="020B0604020202020204" pitchFamily="34" charset="0"/>
                <a:ea typeface="ＭＳ Ｐゴシック" panose="020B0600070205080204" pitchFamily="34" charset="-128"/>
                <a:cs typeface="Times New Roman" panose="02020603050405020304" pitchFamily="18" charset="0"/>
              </a:rPr>
              <a:t>(1)</a:t>
            </a:r>
            <a:r>
              <a:rPr lang="en-US" altLang="en-US" sz="1600" dirty="0" smtClean="0">
                <a:latin typeface="Arial" panose="020B0604020202020204" pitchFamily="34" charset="0"/>
                <a:ea typeface="ＭＳ Ｐゴシック" panose="020B0600070205080204" pitchFamily="34" charset="-128"/>
                <a:cs typeface="Times New Roman" panose="02020603050405020304" pitchFamily="18" charset="0"/>
              </a:rPr>
              <a:t>  </a:t>
            </a:r>
            <a:r>
              <a:rPr lang="en-US" altLang="en-US" sz="1600" b="1" dirty="0" smtClean="0">
                <a:latin typeface="Arial" panose="020B0604020202020204" pitchFamily="34" charset="0"/>
                <a:ea typeface="ＭＳ Ｐゴシック" panose="020B0600070205080204" pitchFamily="34" charset="-128"/>
                <a:cs typeface="Times New Roman" panose="02020603050405020304" pitchFamily="18" charset="0"/>
              </a:rPr>
              <a:t>Strong </a:t>
            </a:r>
            <a:r>
              <a:rPr lang="en-US" altLang="en-US" sz="1600" b="1" dirty="0">
                <a:latin typeface="Arial" panose="020B0604020202020204" pitchFamily="34" charset="0"/>
                <a:ea typeface="ＭＳ Ｐゴシック" panose="020B0600070205080204" pitchFamily="34" charset="-128"/>
                <a:cs typeface="Times New Roman" panose="02020603050405020304" pitchFamily="18" charset="0"/>
              </a:rPr>
              <a:t>entity types</a:t>
            </a:r>
          </a:p>
          <a:p>
            <a:pPr marL="1371600" lvl="2" indent="-457200"/>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For each strong entity in the data model, create a relation that includes all the simple attributes of that entity. </a:t>
            </a:r>
          </a:p>
          <a:p>
            <a:pPr marL="1371600" lvl="2" indent="-457200"/>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For composite attributes, include only the constituent simple attributes</a:t>
            </a:r>
            <a:r>
              <a:rPr lang="en-GB" altLang="en-US" sz="1600" dirty="0">
                <a:latin typeface="Arial" panose="020B0604020202020204" pitchFamily="34" charset="0"/>
                <a:ea typeface="ＭＳ Ｐゴシック" panose="020B0600070205080204" pitchFamily="34" charset="-128"/>
              </a:rPr>
              <a:t>.</a:t>
            </a:r>
          </a:p>
          <a:p>
            <a:pPr marL="1371600" lvl="2" indent="-457200">
              <a:buFontTx/>
              <a:buAutoNum type="arabicParenBoth" startAt="2"/>
            </a:pPr>
            <a:r>
              <a:rPr lang="en-US" altLang="en-US" sz="1600" b="1" dirty="0">
                <a:latin typeface="Arial" panose="020B0604020202020204" pitchFamily="34" charset="0"/>
                <a:ea typeface="ＭＳ Ｐゴシック" panose="020B0600070205080204" pitchFamily="34" charset="-128"/>
                <a:cs typeface="Times New Roman" panose="02020603050405020304" pitchFamily="18" charset="0"/>
              </a:rPr>
              <a:t>Weak entity types</a:t>
            </a:r>
          </a:p>
          <a:p>
            <a:pPr marL="1371600" lvl="2" indent="-457200"/>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For each weak entity in the data model, create a relation that includes all the simple attributes of that entity. </a:t>
            </a:r>
          </a:p>
          <a:p>
            <a:pPr marL="1371600" lvl="2" indent="-457200"/>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The primary key of a weak entity is partially or fully derived from each owner entity and so the identification of the primary key of a weak entity cannot be made until after all the relationships with the owner entities have been mapped.</a:t>
            </a:r>
            <a:r>
              <a:rPr lang="en-GB" altLang="en-US" dirty="0">
                <a:latin typeface="Arial" panose="020B0604020202020204" pitchFamily="34" charset="0"/>
                <a:ea typeface="ＭＳ Ｐゴシック" panose="020B0600070205080204" pitchFamily="34" charset="-128"/>
              </a:rPr>
              <a:t> </a:t>
            </a:r>
          </a:p>
          <a:p>
            <a:pPr marL="914400" lvl="2" indent="0">
              <a:buNone/>
            </a:pPr>
            <a:r>
              <a:rPr lang="en-US" altLang="en-US" sz="1700" b="1" dirty="0" smtClean="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1700" b="1" dirty="0">
                <a:latin typeface="Arial" panose="020B0604020202020204" pitchFamily="34" charset="0"/>
                <a:ea typeface="ＭＳ Ｐゴシック" panose="020B0600070205080204" pitchFamily="34" charset="-128"/>
                <a:cs typeface="Times New Roman" panose="02020603050405020304" pitchFamily="18" charset="0"/>
              </a:rPr>
              <a:t>3</a:t>
            </a:r>
            <a:r>
              <a:rPr lang="en-US" altLang="en-US" sz="1700" b="1" dirty="0" smtClean="0">
                <a:latin typeface="Arial" panose="020B0604020202020204" pitchFamily="34" charset="0"/>
                <a:ea typeface="ＭＳ Ｐゴシック" panose="020B0600070205080204" pitchFamily="34" charset="-128"/>
                <a:cs typeface="Times New Roman" panose="02020603050405020304" pitchFamily="18" charset="0"/>
              </a:rPr>
              <a:t>) One-to-many </a:t>
            </a:r>
            <a:r>
              <a:rPr lang="en-US" altLang="en-US" sz="1700" b="1" dirty="0">
                <a:latin typeface="Arial" panose="020B0604020202020204" pitchFamily="34" charset="0"/>
                <a:ea typeface="ＭＳ Ｐゴシック" panose="020B0600070205080204" pitchFamily="34" charset="-128"/>
                <a:cs typeface="Times New Roman" panose="02020603050405020304" pitchFamily="18" charset="0"/>
              </a:rPr>
              <a:t>(1:*) binary relationship types</a:t>
            </a:r>
          </a:p>
          <a:p>
            <a:pPr lvl="2"/>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For each 1:* binary relationship, the entity on the ‘one side’ of the relationship is designated as the parent entity and the entity on the ‘many side’ is designated as the child entity. </a:t>
            </a:r>
          </a:p>
          <a:p>
            <a:pPr lvl="2"/>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To represent this relationship, post a copy of the primary key attribute(s) of parent entity into the relation representing the child entity, to act as a foreign key.</a:t>
            </a:r>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 </a:t>
            </a:r>
            <a:endParaRPr lang="en-GB" altLang="en-US" dirty="0">
              <a:latin typeface="Arial" panose="020B0604020202020204" pitchFamily="34" charset="0"/>
              <a:ea typeface="ＭＳ Ｐゴシック" panose="020B0600070205080204" pitchFamily="34" charset="-128"/>
              <a:cs typeface="Times New Roman" panose="02020603050405020304" pitchFamily="18" charset="0"/>
            </a:endParaRPr>
          </a:p>
          <a:p>
            <a:pPr marL="1371600" lvl="2" indent="-457200"/>
            <a:endParaRPr lang="en-GB" altLang="en-US" dirty="0">
              <a:latin typeface="Arial" panose="020B0604020202020204" pitchFamily="34" charset="0"/>
              <a:ea typeface="ＭＳ Ｐゴシック" panose="020B0600070205080204" pitchFamily="34" charset="-128"/>
            </a:endParaRPr>
          </a:p>
          <a:p>
            <a:pPr lvl="2" algn="just"/>
            <a:endParaRPr lang="en-GB" altLang="en-US" sz="1600" dirty="0">
              <a:latin typeface="Arial" panose="020B0604020202020204" pitchFamily="34" charset="0"/>
              <a:ea typeface="ＭＳ Ｐゴシック" panose="020B0600070205080204" pitchFamily="34" charset="-128"/>
            </a:endParaRPr>
          </a:p>
        </p:txBody>
      </p:sp>
      <p:sp>
        <p:nvSpPr>
          <p:cNvPr id="7173" name="Text Box 1028">
            <a:extLst>
              <a:ext uri="{FF2B5EF4-FFF2-40B4-BE49-F238E27FC236}">
                <a16:creationId xmlns:a16="http://schemas.microsoft.com/office/drawing/2014/main" xmlns="" id="{4C0CB44D-D64D-406D-97B0-EB898C78EF31}"/>
              </a:ext>
            </a:extLst>
          </p:cNvPr>
          <p:cNvSpPr txBox="1">
            <a:spLocks noChangeArrowheads="1"/>
          </p:cNvSpPr>
          <p:nvPr/>
        </p:nvSpPr>
        <p:spPr bwMode="auto">
          <a:xfrm>
            <a:off x="4648200" y="62103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xmlns="" id="{D5B28593-0B20-49F1-852F-0FCACA7FBB05}"/>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644984C2-827E-45C5-8F44-2C1B95694D1F}" type="slidenum">
              <a:rPr lang="en-GB" altLang="en-US" sz="1400"/>
              <a:pPr/>
              <a:t>7</a:t>
            </a:fld>
            <a:endParaRPr lang="en-GB" altLang="en-US" sz="1400"/>
          </a:p>
        </p:txBody>
      </p:sp>
      <p:sp>
        <p:nvSpPr>
          <p:cNvPr id="11268" name="Rectangle 3">
            <a:extLst>
              <a:ext uri="{FF2B5EF4-FFF2-40B4-BE49-F238E27FC236}">
                <a16:creationId xmlns:a16="http://schemas.microsoft.com/office/drawing/2014/main" xmlns="" id="{49859B81-8E80-4FD0-A480-65E40FBDF0B8}"/>
              </a:ext>
            </a:extLst>
          </p:cNvPr>
          <p:cNvSpPr>
            <a:spLocks noGrp="1" noChangeArrowheads="1"/>
          </p:cNvSpPr>
          <p:nvPr>
            <p:ph type="body" idx="1"/>
          </p:nvPr>
        </p:nvSpPr>
        <p:spPr>
          <a:xfrm>
            <a:off x="838200" y="126609"/>
            <a:ext cx="10515600" cy="6525016"/>
          </a:xfrm>
        </p:spPr>
        <p:txBody>
          <a:bodyPr/>
          <a:lstStyle/>
          <a:p>
            <a:pPr marL="0" indent="0">
              <a:buNone/>
            </a:pPr>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2000" dirty="0" smtClean="0">
                <a:latin typeface="Arial" panose="020B0604020202020204" pitchFamily="34" charset="0"/>
                <a:ea typeface="ＭＳ Ｐゴシック" panose="020B0600070205080204" pitchFamily="34" charset="-128"/>
                <a:cs typeface="Times New Roman" panose="02020603050405020304" pitchFamily="18" charset="0"/>
              </a:rPr>
              <a:t>4) </a:t>
            </a:r>
            <a:r>
              <a:rPr lang="en-US" altLang="en-US" sz="2000" b="1" dirty="0" smtClean="0">
                <a:latin typeface="Arial" panose="020B0604020202020204" pitchFamily="34" charset="0"/>
                <a:ea typeface="ＭＳ Ｐゴシック" panose="020B0600070205080204" pitchFamily="34" charset="-128"/>
                <a:cs typeface="Times New Roman" panose="02020603050405020304" pitchFamily="18" charset="0"/>
              </a:rPr>
              <a:t>One-to-one </a:t>
            </a: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(1:1) binary relationship types</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Creating relations to represent a 1:1 relationship is more complex as the cardinality cannot be used to identify the parent and child entities in a relationship. </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Instead, the participation constraints are used to decide whether it is best to represent the relationship by combining the entities involved into one relation or by creating two relations and posting a copy of the primary key from one relation to the other. </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Consider the following</a:t>
            </a:r>
          </a:p>
          <a:p>
            <a:pPr lvl="2"/>
            <a:r>
              <a:rPr lang="en-US" altLang="en-US" b="1" i="1" dirty="0">
                <a:latin typeface="Arial" panose="020B0604020202020204" pitchFamily="34" charset="0"/>
                <a:ea typeface="ＭＳ Ｐゴシック" panose="020B0600070205080204" pitchFamily="34" charset="-128"/>
                <a:cs typeface="Times New Roman" panose="02020603050405020304" pitchFamily="18" charset="0"/>
              </a:rPr>
              <a:t>(a) mandatory </a:t>
            </a:r>
            <a:r>
              <a:rPr lang="en-US" altLang="en-US" b="1" dirty="0">
                <a:latin typeface="Arial" panose="020B0604020202020204" pitchFamily="34" charset="0"/>
                <a:ea typeface="ＭＳ Ｐゴシック" panose="020B0600070205080204" pitchFamily="34" charset="-128"/>
                <a:cs typeface="Times New Roman" panose="02020603050405020304" pitchFamily="18" charset="0"/>
              </a:rPr>
              <a:t>participation on </a:t>
            </a:r>
            <a:r>
              <a:rPr lang="en-US" altLang="en-US" b="1" i="1" dirty="0">
                <a:latin typeface="Arial" panose="020B0604020202020204" pitchFamily="34" charset="0"/>
                <a:ea typeface="ＭＳ Ｐゴシック" panose="020B0600070205080204" pitchFamily="34" charset="-128"/>
                <a:cs typeface="Times New Roman" panose="02020603050405020304" pitchFamily="18" charset="0"/>
              </a:rPr>
              <a:t>both </a:t>
            </a:r>
            <a:r>
              <a:rPr lang="en-US" altLang="en-US" b="1" dirty="0">
                <a:latin typeface="Arial" panose="020B0604020202020204" pitchFamily="34" charset="0"/>
                <a:ea typeface="ＭＳ Ｐゴシック" panose="020B0600070205080204" pitchFamily="34" charset="-128"/>
                <a:cs typeface="Times New Roman" panose="02020603050405020304" pitchFamily="18" charset="0"/>
              </a:rPr>
              <a:t>sides of 1:1 relationship</a:t>
            </a:r>
            <a:r>
              <a:rPr lang="en-US" altLang="en-US" b="1" dirty="0" smtClean="0">
                <a:latin typeface="Arial" panose="020B0604020202020204" pitchFamily="34" charset="0"/>
                <a:ea typeface="ＭＳ Ｐゴシック" panose="020B0600070205080204" pitchFamily="34" charset="-128"/>
                <a:cs typeface="Times New Roman" panose="02020603050405020304" pitchFamily="18" charset="0"/>
              </a:rPr>
              <a:t>;</a:t>
            </a:r>
          </a:p>
          <a:p>
            <a:pPr lvl="3"/>
            <a:r>
              <a:rPr lang="en-US" altLang="en-US" sz="1400" dirty="0">
                <a:latin typeface="Arial" panose="020B0604020202020204" pitchFamily="34" charset="0"/>
                <a:ea typeface="ＭＳ Ｐゴシック" panose="020B0600070205080204" pitchFamily="34" charset="-128"/>
                <a:cs typeface="Times New Roman" panose="02020603050405020304" pitchFamily="18" charset="0"/>
              </a:rPr>
              <a:t>Combine entities involved into one relation and choose one of the primary keys of original entities to be primary key of the new relation, while the other (if one exists) is used as an alternate key.</a:t>
            </a:r>
            <a:endParaRPr lang="en-US" altLang="en-US" sz="1400" dirty="0">
              <a:latin typeface="Arial" panose="020B0604020202020204" pitchFamily="34" charset="0"/>
              <a:ea typeface="ＭＳ Ｐゴシック" panose="020B0600070205080204" pitchFamily="34" charset="-128"/>
              <a:cs typeface="Times New Roman" panose="02020603050405020304" pitchFamily="18" charset="0"/>
            </a:endParaRPr>
          </a:p>
          <a:p>
            <a:pPr lvl="2"/>
            <a:r>
              <a:rPr lang="en-US" altLang="en-US" b="1" i="1" dirty="0">
                <a:latin typeface="Arial" panose="020B0604020202020204" pitchFamily="34" charset="0"/>
                <a:ea typeface="ＭＳ Ｐゴシック" panose="020B0600070205080204" pitchFamily="34" charset="-128"/>
                <a:cs typeface="Times New Roman" panose="02020603050405020304" pitchFamily="18" charset="0"/>
              </a:rPr>
              <a:t>(b) mandatory</a:t>
            </a:r>
            <a:r>
              <a:rPr lang="en-US" altLang="en-US" b="1" dirty="0">
                <a:latin typeface="Arial" panose="020B0604020202020204" pitchFamily="34" charset="0"/>
                <a:ea typeface="ＭＳ Ｐゴシック" panose="020B0600070205080204" pitchFamily="34" charset="-128"/>
                <a:cs typeface="Times New Roman" panose="02020603050405020304" pitchFamily="18" charset="0"/>
              </a:rPr>
              <a:t> participation on </a:t>
            </a:r>
            <a:r>
              <a:rPr lang="en-US" altLang="en-US" b="1" i="1" dirty="0">
                <a:latin typeface="Arial" panose="020B0604020202020204" pitchFamily="34" charset="0"/>
                <a:ea typeface="ＭＳ Ｐゴシック" panose="020B0600070205080204" pitchFamily="34" charset="-128"/>
                <a:cs typeface="Times New Roman" panose="02020603050405020304" pitchFamily="18" charset="0"/>
              </a:rPr>
              <a:t>one</a:t>
            </a:r>
            <a:r>
              <a:rPr lang="en-US" altLang="en-US" b="1" dirty="0">
                <a:latin typeface="Arial" panose="020B0604020202020204" pitchFamily="34" charset="0"/>
                <a:ea typeface="ＭＳ Ｐゴシック" panose="020B0600070205080204" pitchFamily="34" charset="-128"/>
                <a:cs typeface="Times New Roman" panose="02020603050405020304" pitchFamily="18" charset="0"/>
              </a:rPr>
              <a:t> side of 1:1 relationship</a:t>
            </a:r>
            <a:r>
              <a:rPr lang="en-US" altLang="en-US" b="1" dirty="0" smtClean="0">
                <a:latin typeface="Arial" panose="020B0604020202020204" pitchFamily="34" charset="0"/>
                <a:ea typeface="ＭＳ Ｐゴシック" panose="020B0600070205080204" pitchFamily="34" charset="-128"/>
                <a:cs typeface="Times New Roman" panose="02020603050405020304" pitchFamily="18" charset="0"/>
              </a:rPr>
              <a:t>;</a:t>
            </a:r>
          </a:p>
          <a:p>
            <a:pPr lvl="3" algn="just"/>
            <a:r>
              <a:rPr lang="en-US" altLang="en-US" sz="1400" dirty="0">
                <a:latin typeface="Arial" panose="020B0604020202020204" pitchFamily="34" charset="0"/>
                <a:ea typeface="ＭＳ Ｐゴシック" panose="020B0600070205080204" pitchFamily="34" charset="-128"/>
                <a:cs typeface="Times New Roman" panose="02020603050405020304" pitchFamily="18" charset="0"/>
              </a:rPr>
              <a:t>Identify parent and child entities using participation constraints. </a:t>
            </a:r>
          </a:p>
          <a:p>
            <a:pPr lvl="3" algn="just"/>
            <a:r>
              <a:rPr lang="en-US" altLang="en-US" sz="1400" dirty="0">
                <a:latin typeface="Arial" panose="020B0604020202020204" pitchFamily="34" charset="0"/>
                <a:ea typeface="ＭＳ Ｐゴシック" panose="020B0600070205080204" pitchFamily="34" charset="-128"/>
                <a:cs typeface="Times New Roman" panose="02020603050405020304" pitchFamily="18" charset="0"/>
              </a:rPr>
              <a:t>Entity with optional participation in relationship is designated as parent entity, and entity with mandatory participation is designated as child entity. </a:t>
            </a:r>
          </a:p>
          <a:p>
            <a:pPr lvl="3" algn="just"/>
            <a:r>
              <a:rPr lang="en-US" altLang="en-US" sz="1400" dirty="0">
                <a:latin typeface="Arial" panose="020B0604020202020204" pitchFamily="34" charset="0"/>
                <a:ea typeface="ＭＳ Ｐゴシック" panose="020B0600070205080204" pitchFamily="34" charset="-128"/>
                <a:cs typeface="Times New Roman" panose="02020603050405020304" pitchFamily="18" charset="0"/>
              </a:rPr>
              <a:t>A copy of primary key of the parent entity is placed in the relation representing the child entity. </a:t>
            </a:r>
          </a:p>
          <a:p>
            <a:pPr lvl="3" algn="just"/>
            <a:r>
              <a:rPr lang="en-US" altLang="en-US" sz="1400" dirty="0">
                <a:latin typeface="Arial" panose="020B0604020202020204" pitchFamily="34" charset="0"/>
                <a:ea typeface="ＭＳ Ｐゴシック" panose="020B0600070205080204" pitchFamily="34" charset="-128"/>
                <a:cs typeface="Times New Roman" panose="02020603050405020304" pitchFamily="18" charset="0"/>
              </a:rPr>
              <a:t>If the relationship has one or more attributes, these attributes should follow the posting of the primary key to the child relation.</a:t>
            </a:r>
            <a:endParaRPr lang="en-US" altLang="en-US" b="1" dirty="0">
              <a:latin typeface="Arial" panose="020B0604020202020204" pitchFamily="34" charset="0"/>
              <a:ea typeface="ＭＳ Ｐゴシック" panose="020B0600070205080204" pitchFamily="34" charset="-128"/>
              <a:cs typeface="Times New Roman" panose="02020603050405020304" pitchFamily="18" charset="0"/>
            </a:endParaRPr>
          </a:p>
          <a:p>
            <a:pPr lvl="2"/>
            <a:r>
              <a:rPr lang="en-US" altLang="en-US" b="1" i="1" dirty="0">
                <a:latin typeface="Arial" panose="020B0604020202020204" pitchFamily="34" charset="0"/>
                <a:ea typeface="ＭＳ Ｐゴシック" panose="020B0600070205080204" pitchFamily="34" charset="-128"/>
                <a:cs typeface="Times New Roman" panose="02020603050405020304" pitchFamily="18" charset="0"/>
              </a:rPr>
              <a:t>(c) optional</a:t>
            </a:r>
            <a:r>
              <a:rPr lang="en-US" altLang="en-US" b="1" dirty="0">
                <a:latin typeface="Arial" panose="020B0604020202020204" pitchFamily="34" charset="0"/>
                <a:ea typeface="ＭＳ Ｐゴシック" panose="020B0600070205080204" pitchFamily="34" charset="-128"/>
                <a:cs typeface="Times New Roman" panose="02020603050405020304" pitchFamily="18" charset="0"/>
              </a:rPr>
              <a:t> participation on </a:t>
            </a:r>
            <a:r>
              <a:rPr lang="en-US" altLang="en-US" b="1" i="1" dirty="0">
                <a:latin typeface="Arial" panose="020B0604020202020204" pitchFamily="34" charset="0"/>
                <a:ea typeface="ＭＳ Ｐゴシック" panose="020B0600070205080204" pitchFamily="34" charset="-128"/>
                <a:cs typeface="Times New Roman" panose="02020603050405020304" pitchFamily="18" charset="0"/>
              </a:rPr>
              <a:t>both</a:t>
            </a:r>
            <a:r>
              <a:rPr lang="en-US" altLang="en-US" b="1" dirty="0">
                <a:latin typeface="Arial" panose="020B0604020202020204" pitchFamily="34" charset="0"/>
                <a:ea typeface="ＭＳ Ｐゴシック" panose="020B0600070205080204" pitchFamily="34" charset="-128"/>
                <a:cs typeface="Times New Roman" panose="02020603050405020304" pitchFamily="18" charset="0"/>
              </a:rPr>
              <a:t> sides of 1:1 relationship</a:t>
            </a:r>
            <a:r>
              <a:rPr lang="en-US" altLang="en-US" b="1" dirty="0" smtClean="0">
                <a:latin typeface="Arial" panose="020B0604020202020204" pitchFamily="34" charset="0"/>
                <a:ea typeface="ＭＳ Ｐゴシック" panose="020B0600070205080204" pitchFamily="34" charset="-128"/>
                <a:cs typeface="Times New Roman" panose="02020603050405020304" pitchFamily="18" charset="0"/>
              </a:rPr>
              <a:t>.</a:t>
            </a:r>
          </a:p>
          <a:p>
            <a:pPr lvl="3"/>
            <a:r>
              <a:rPr lang="en-US" altLang="en-US" sz="1400" dirty="0">
                <a:latin typeface="Arial" panose="020B0604020202020204" pitchFamily="34" charset="0"/>
                <a:ea typeface="ＭＳ Ｐゴシック" panose="020B0600070205080204" pitchFamily="34" charset="-128"/>
                <a:cs typeface="Times New Roman" panose="02020603050405020304" pitchFamily="18" charset="0"/>
              </a:rPr>
              <a:t>In this case, the designation of the parent and child entities is arbitrary unless we can find out more about the relationship that can help a decision to be made one way or the other.</a:t>
            </a:r>
            <a:endParaRPr lang="en-US" altLang="en-US" sz="1400" b="1" dirty="0">
              <a:latin typeface="Arial" panose="020B0604020202020204" pitchFamily="34" charset="0"/>
              <a:ea typeface="ＭＳ Ｐゴシック" panose="020B0600070205080204" pitchFamily="34" charset="-128"/>
              <a:cs typeface="Times New Roman" panose="02020603050405020304" pitchFamily="18" charset="0"/>
            </a:endParaRPr>
          </a:p>
          <a:p>
            <a:pPr lvl="1"/>
            <a:endParaRPr lang="en-GB" altLang="en-US" sz="2000" dirty="0">
              <a:latin typeface="Arial" panose="020B0604020202020204" pitchFamily="34" charset="0"/>
              <a:ea typeface="ＭＳ Ｐゴシック" panose="020B0600070205080204" pitchFamily="34" charset="-128"/>
              <a:cs typeface="Times New Roman" panose="02020603050405020304" pitchFamily="18" charset="0"/>
            </a:endParaRPr>
          </a:p>
        </p:txBody>
      </p:sp>
      <p:sp>
        <p:nvSpPr>
          <p:cNvPr id="11269" name="Text Box 4">
            <a:extLst>
              <a:ext uri="{FF2B5EF4-FFF2-40B4-BE49-F238E27FC236}">
                <a16:creationId xmlns:a16="http://schemas.microsoft.com/office/drawing/2014/main" xmlns="" id="{76BCF5E9-1BF2-44B0-8287-648C785E96AD}"/>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xmlns="" id="{E7856F80-1312-424B-973A-B8B31937ECD3}"/>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D8576D39-2A58-4530-A059-62BFDFBB98D0}" type="slidenum">
              <a:rPr lang="en-GB" altLang="en-US" sz="1400"/>
              <a:pPr/>
              <a:t>8</a:t>
            </a:fld>
            <a:endParaRPr lang="en-GB" altLang="en-US" sz="1400"/>
          </a:p>
        </p:txBody>
      </p:sp>
      <p:sp>
        <p:nvSpPr>
          <p:cNvPr id="14340" name="Rectangle 3">
            <a:extLst>
              <a:ext uri="{FF2B5EF4-FFF2-40B4-BE49-F238E27FC236}">
                <a16:creationId xmlns:a16="http://schemas.microsoft.com/office/drawing/2014/main" xmlns="" id="{9E07DCA6-BA78-46AE-9351-6BFF40C16E8B}"/>
              </a:ext>
            </a:extLst>
          </p:cNvPr>
          <p:cNvSpPr>
            <a:spLocks noGrp="1" noChangeArrowheads="1"/>
          </p:cNvSpPr>
          <p:nvPr>
            <p:ph type="body" idx="1"/>
          </p:nvPr>
        </p:nvSpPr>
        <p:spPr>
          <a:xfrm>
            <a:off x="838200" y="182880"/>
            <a:ext cx="10515600" cy="5994083"/>
          </a:xfrm>
        </p:spPr>
        <p:txBody>
          <a:bodyPr>
            <a:normAutofit fontScale="92500" lnSpcReduction="10000"/>
          </a:bodyPr>
          <a:lstStyle/>
          <a:p>
            <a:pPr marL="0" indent="0">
              <a:lnSpc>
                <a:spcPct val="90000"/>
              </a:lnSpc>
              <a:buNone/>
            </a:pP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2000" b="1" dirty="0" smtClean="0">
                <a:latin typeface="Arial" panose="020B0604020202020204" pitchFamily="34" charset="0"/>
                <a:ea typeface="ＭＳ Ｐゴシック" panose="020B0600070205080204" pitchFamily="34" charset="-128"/>
                <a:cs typeface="Times New Roman" panose="02020603050405020304" pitchFamily="18" charset="0"/>
              </a:rPr>
              <a:t>5) One-to-one </a:t>
            </a: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(1:1) recursive relationships</a:t>
            </a:r>
            <a:r>
              <a:rPr lang="en-GB" altLang="en-US" sz="2000" dirty="0">
                <a:latin typeface="Arial" panose="020B0604020202020204" pitchFamily="34" charset="0"/>
                <a:ea typeface="ＭＳ Ｐゴシック" panose="020B0600070205080204" pitchFamily="34" charset="-128"/>
                <a:cs typeface="Times New Roman" panose="02020603050405020304" pitchFamily="18" charset="0"/>
              </a:rPr>
              <a:t> </a:t>
            </a:r>
          </a:p>
          <a:p>
            <a:pPr lvl="1">
              <a:lnSpc>
                <a:spcPct val="90000"/>
              </a:lnSpc>
            </a:pPr>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For a 1:1 recursive relationship, follow the rules for participation as described above for a 1:1 relationship. </a:t>
            </a:r>
          </a:p>
          <a:p>
            <a:pPr lvl="2" algn="just">
              <a:lnSpc>
                <a:spcPct val="90000"/>
              </a:lnSpc>
            </a:pPr>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mandatory participation on both sides, represent the recursive relationship as a single relation with two copies of the primary key. </a:t>
            </a:r>
          </a:p>
          <a:p>
            <a:pPr lvl="2" algn="just">
              <a:lnSpc>
                <a:spcPct val="90000"/>
              </a:lnSpc>
            </a:pPr>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mandatory participation on only one side, option to create a single relation with two copies of the primary key, or to create a new relation to represent the relationship. </a:t>
            </a:r>
          </a:p>
          <a:p>
            <a:pPr lvl="3" algn="just"/>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The new relation would only have two attributes, both copies of the primary key. </a:t>
            </a:r>
          </a:p>
          <a:p>
            <a:pPr lvl="3" algn="just"/>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As before, the copies of the primary keys act as foreign keys and have to be renamed to indicate the purpose of each in the relation.</a:t>
            </a:r>
          </a:p>
          <a:p>
            <a:pPr lvl="2" algn="just">
              <a:lnSpc>
                <a:spcPct val="90000"/>
              </a:lnSpc>
            </a:pPr>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optional participation on both sides, again create a new relation as described above. </a:t>
            </a:r>
            <a:endParaRPr lang="en-US" altLang="en-US" sz="1600" dirty="0">
              <a:latin typeface="Arial" panose="020B0604020202020204" pitchFamily="34" charset="0"/>
              <a:ea typeface="ＭＳ Ｐゴシック" panose="020B0600070205080204" pitchFamily="34" charset="-128"/>
              <a:cs typeface="Times New Roman" panose="02020603050405020304" pitchFamily="18" charset="0"/>
            </a:endParaRPr>
          </a:p>
          <a:p>
            <a:pPr lvl="2" algn="just">
              <a:lnSpc>
                <a:spcPct val="90000"/>
              </a:lnSpc>
            </a:pPr>
            <a:endParaRPr lang="en-US" altLang="en-US" sz="1600" dirty="0" smtClean="0">
              <a:latin typeface="Arial" panose="020B0604020202020204" pitchFamily="34" charset="0"/>
              <a:ea typeface="ＭＳ Ｐゴシック" panose="020B0600070205080204" pitchFamily="34" charset="-128"/>
              <a:cs typeface="Times New Roman" panose="02020603050405020304" pitchFamily="18" charset="0"/>
            </a:endParaRPr>
          </a:p>
          <a:p>
            <a:pPr marL="0" indent="0">
              <a:buNone/>
            </a:pP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2000" b="1" dirty="0" smtClean="0">
                <a:latin typeface="Arial" panose="020B0604020202020204" pitchFamily="34" charset="0"/>
                <a:ea typeface="ＭＳ Ｐゴシック" panose="020B0600070205080204" pitchFamily="34" charset="-128"/>
                <a:cs typeface="Times New Roman" panose="02020603050405020304" pitchFamily="18" charset="0"/>
              </a:rPr>
              <a:t>6) Superclass/subclass </a:t>
            </a: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relationship types</a:t>
            </a:r>
          </a:p>
          <a:p>
            <a:pPr lvl="1"/>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Identify superclass entity as parent entity and subclass entity as the child entity. </a:t>
            </a:r>
          </a:p>
          <a:p>
            <a:pPr lvl="1"/>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There are various options on how to represent such a relationship as one or more relations. </a:t>
            </a:r>
          </a:p>
          <a:p>
            <a:pPr lvl="1"/>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The selection of the most appropriate option is dependent on a number of factors such as the </a:t>
            </a:r>
            <a:r>
              <a:rPr lang="en-US" altLang="en-US" sz="1600" dirty="0" err="1">
                <a:latin typeface="Arial" panose="020B0604020202020204" pitchFamily="34" charset="0"/>
                <a:ea typeface="ＭＳ Ｐゴシック" panose="020B0600070205080204" pitchFamily="34" charset="-128"/>
                <a:cs typeface="Times New Roman" panose="02020603050405020304" pitchFamily="18" charset="0"/>
              </a:rPr>
              <a:t>disjointness</a:t>
            </a:r>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 and participation constraints on the superclass/subclass relationship, whether the subclasses are involved in distinct relationships, and the number of participants in the superclass/subclass relationship.</a:t>
            </a:r>
            <a:r>
              <a:rPr lang="en-GB" altLang="en-US" sz="1600" b="1" dirty="0">
                <a:latin typeface="Arial" panose="020B0604020202020204" pitchFamily="34" charset="0"/>
                <a:ea typeface="ＭＳ Ｐゴシック" panose="020B0600070205080204" pitchFamily="34" charset="-128"/>
              </a:rPr>
              <a:t>  </a:t>
            </a:r>
          </a:p>
          <a:p>
            <a:pPr lvl="2" algn="just">
              <a:lnSpc>
                <a:spcPct val="90000"/>
              </a:lnSpc>
            </a:pPr>
            <a:endParaRPr lang="en-US" altLang="en-US" sz="1600" dirty="0" smtClean="0">
              <a:latin typeface="Arial" panose="020B0604020202020204" pitchFamily="34" charset="0"/>
              <a:ea typeface="ＭＳ Ｐゴシック" panose="020B0600070205080204" pitchFamily="34" charset="-128"/>
              <a:cs typeface="Times New Roman" panose="02020603050405020304" pitchFamily="18" charset="0"/>
            </a:endParaRPr>
          </a:p>
          <a:p>
            <a:pPr marL="0" indent="0">
              <a:buNone/>
            </a:pPr>
            <a:r>
              <a:rPr lang="en-US" altLang="en-US" sz="1900" b="1" dirty="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1900" b="1" dirty="0" smtClean="0">
                <a:latin typeface="Arial" panose="020B0604020202020204" pitchFamily="34" charset="0"/>
                <a:ea typeface="ＭＳ Ｐゴシック" panose="020B0600070205080204" pitchFamily="34" charset="-128"/>
                <a:cs typeface="Times New Roman" panose="02020603050405020304" pitchFamily="18" charset="0"/>
              </a:rPr>
              <a:t>7) Many-to-many </a:t>
            </a:r>
            <a:r>
              <a:rPr lang="en-US" altLang="en-US" sz="1900" b="1" dirty="0">
                <a:latin typeface="Arial" panose="020B0604020202020204" pitchFamily="34" charset="0"/>
                <a:ea typeface="ＭＳ Ｐゴシック" panose="020B0600070205080204" pitchFamily="34" charset="-128"/>
                <a:cs typeface="Times New Roman" panose="02020603050405020304" pitchFamily="18" charset="0"/>
              </a:rPr>
              <a:t>(*:*) binary relationship types</a:t>
            </a:r>
          </a:p>
          <a:p>
            <a:pPr lvl="1"/>
            <a:r>
              <a:rPr lang="en-US" altLang="en-US" sz="1700" dirty="0">
                <a:latin typeface="Arial" panose="020B0604020202020204" pitchFamily="34" charset="0"/>
                <a:ea typeface="ＭＳ Ｐゴシック" panose="020B0600070205080204" pitchFamily="34" charset="-128"/>
                <a:cs typeface="Times New Roman" panose="02020603050405020304" pitchFamily="18" charset="0"/>
              </a:rPr>
              <a:t>Create a relation to represent the relationship and include any attributes that are part of the relationship. </a:t>
            </a:r>
          </a:p>
          <a:p>
            <a:pPr lvl="1"/>
            <a:r>
              <a:rPr lang="en-US" altLang="en-US" sz="1700" dirty="0">
                <a:latin typeface="Arial" panose="020B0604020202020204" pitchFamily="34" charset="0"/>
                <a:ea typeface="ＭＳ Ｐゴシック" panose="020B0600070205080204" pitchFamily="34" charset="-128"/>
                <a:cs typeface="Times New Roman" panose="02020603050405020304" pitchFamily="18" charset="0"/>
              </a:rPr>
              <a:t>We post a copy of the primary key attribute(s) of the entities that participate in the relationship into the new relation, to act as foreign keys. </a:t>
            </a:r>
          </a:p>
          <a:p>
            <a:pPr lvl="1"/>
            <a:r>
              <a:rPr lang="en-US" altLang="en-US" sz="1700" dirty="0">
                <a:latin typeface="Arial" panose="020B0604020202020204" pitchFamily="34" charset="0"/>
                <a:ea typeface="ＭＳ Ｐゴシック" panose="020B0600070205080204" pitchFamily="34" charset="-128"/>
                <a:cs typeface="Times New Roman" panose="02020603050405020304" pitchFamily="18" charset="0"/>
              </a:rPr>
              <a:t>These foreign keys will also form the primary key of the new relation, possibly in combination with some of the attributes of the relationship.</a:t>
            </a:r>
            <a:r>
              <a:rPr lang="en-US" altLang="en-US" sz="1700" b="1" dirty="0">
                <a:latin typeface="Arial" panose="020B0604020202020204" pitchFamily="34" charset="0"/>
                <a:ea typeface="ＭＳ Ｐゴシック" panose="020B0600070205080204" pitchFamily="34" charset="-128"/>
                <a:cs typeface="Times New Roman" panose="02020603050405020304" pitchFamily="18" charset="0"/>
              </a:rPr>
              <a:t> </a:t>
            </a:r>
          </a:p>
          <a:p>
            <a:pPr lvl="2" algn="just"/>
            <a:endParaRPr lang="en-US" altLang="en-US" sz="1600" dirty="0">
              <a:latin typeface="Arial" panose="020B0604020202020204" pitchFamily="34" charset="0"/>
              <a:ea typeface="ＭＳ Ｐゴシック" panose="020B0600070205080204" pitchFamily="34" charset="-128"/>
              <a:cs typeface="Times New Roman" panose="02020603050405020304" pitchFamily="18" charset="0"/>
            </a:endParaRPr>
          </a:p>
        </p:txBody>
      </p:sp>
      <p:sp>
        <p:nvSpPr>
          <p:cNvPr id="14341" name="Text Box 4">
            <a:extLst>
              <a:ext uri="{FF2B5EF4-FFF2-40B4-BE49-F238E27FC236}">
                <a16:creationId xmlns:a16="http://schemas.microsoft.com/office/drawing/2014/main" xmlns="" id="{B4E83CD7-A329-4E32-A09F-BB7C89C5DCE2}"/>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xmlns="" id="{87C593B1-3D87-4225-AAD1-17D7744DDF77}"/>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540DDF0E-42DF-439A-9C21-A791F6198C2B}" type="slidenum">
              <a:rPr lang="en-GB" altLang="en-US"/>
              <a:pPr/>
              <a:t>9</a:t>
            </a:fld>
            <a:endParaRPr lang="en-GB" altLang="en-US"/>
          </a:p>
        </p:txBody>
      </p:sp>
      <p:sp>
        <p:nvSpPr>
          <p:cNvPr id="16387" name="Rectangle 1026">
            <a:extLst>
              <a:ext uri="{FF2B5EF4-FFF2-40B4-BE49-F238E27FC236}">
                <a16:creationId xmlns:a16="http://schemas.microsoft.com/office/drawing/2014/main" xmlns="" id="{0F771A35-93EA-4245-87FF-E87916C00BE1}"/>
              </a:ext>
            </a:extLst>
          </p:cNvPr>
          <p:cNvSpPr>
            <a:spLocks noGrp="1" noChangeArrowheads="1"/>
          </p:cNvSpPr>
          <p:nvPr>
            <p:ph type="title"/>
          </p:nvPr>
        </p:nvSpPr>
        <p:spPr>
          <a:xfrm>
            <a:off x="1905000" y="0"/>
            <a:ext cx="7772400" cy="1104900"/>
          </a:xfrm>
        </p:spPr>
        <p:txBody>
          <a:bodyPr>
            <a:normAutofit fontScale="90000"/>
          </a:bodyPr>
          <a:lstStyle/>
          <a:p>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Guidelines for representation of  superclass / subclass relationship</a:t>
            </a:r>
            <a:endParaRPr lang="en-GB" altLang="en-US" dirty="0">
              <a:latin typeface="Arial" panose="020B0604020202020204" pitchFamily="34" charset="0"/>
              <a:ea typeface="ＭＳ Ｐゴシック" panose="020B0600070205080204" pitchFamily="34" charset="-128"/>
            </a:endParaRPr>
          </a:p>
        </p:txBody>
      </p:sp>
      <p:pic>
        <p:nvPicPr>
          <p:cNvPr id="16388" name="Picture 1032" descr="C16NT01">
            <a:extLst>
              <a:ext uri="{FF2B5EF4-FFF2-40B4-BE49-F238E27FC236}">
                <a16:creationId xmlns:a16="http://schemas.microsoft.com/office/drawing/2014/main" xmlns="" id="{839753F3-8327-49AD-A8A8-F7E163402C0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1132" t="16533"/>
          <a:stretch>
            <a:fillRect/>
          </a:stretch>
        </p:blipFill>
        <p:spPr>
          <a:xfrm>
            <a:off x="2208213" y="1773238"/>
            <a:ext cx="7200900" cy="3117850"/>
          </a:xfrm>
        </p:spPr>
      </p:pic>
      <p:sp>
        <p:nvSpPr>
          <p:cNvPr id="16389" name="Text Box 1033">
            <a:extLst>
              <a:ext uri="{FF2B5EF4-FFF2-40B4-BE49-F238E27FC236}">
                <a16:creationId xmlns:a16="http://schemas.microsoft.com/office/drawing/2014/main" xmlns="" id="{189E5067-1CE0-44A2-98DE-C4F4130511D9}"/>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xmlns="" id="{22160DF0-2CDF-4E15-947E-E92A55D2566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3F1BDF22-64A7-4F40-88DA-B6234C94754F}" type="slidenum">
              <a:rPr lang="en-GB" altLang="en-US"/>
              <a:pPr/>
              <a:t>10</a:t>
            </a:fld>
            <a:endParaRPr lang="en-GB" altLang="en-US"/>
          </a:p>
        </p:txBody>
      </p:sp>
      <p:sp>
        <p:nvSpPr>
          <p:cNvPr id="17411" name="Rectangle 2">
            <a:extLst>
              <a:ext uri="{FF2B5EF4-FFF2-40B4-BE49-F238E27FC236}">
                <a16:creationId xmlns:a16="http://schemas.microsoft.com/office/drawing/2014/main" xmlns="" id="{2EE608E5-6B2D-43D6-8843-DD7D20DF4DF6}"/>
              </a:ext>
            </a:extLst>
          </p:cNvPr>
          <p:cNvSpPr>
            <a:spLocks noGrp="1" noChangeArrowheads="1"/>
          </p:cNvSpPr>
          <p:nvPr>
            <p:ph type="title"/>
          </p:nvPr>
        </p:nvSpPr>
        <p:spPr>
          <a:xfrm>
            <a:off x="82193" y="0"/>
            <a:ext cx="11979668" cy="1104900"/>
          </a:xfrm>
        </p:spPr>
        <p:txBody>
          <a:bodyPr/>
          <a:lstStyle/>
          <a:p>
            <a:pPr algn="ctr"/>
            <a:r>
              <a:rPr lang="en-US" altLang="en-US" sz="2800" dirty="0">
                <a:latin typeface="Arial" panose="020B0604020202020204" pitchFamily="34" charset="0"/>
                <a:ea typeface="ＭＳ Ｐゴシック" panose="020B0600070205080204" pitchFamily="34" charset="-128"/>
                <a:cs typeface="Times New Roman" panose="02020603050405020304" pitchFamily="18" charset="0"/>
              </a:rPr>
              <a:t>Representation of  superclass / subclass relationship based on participation and </a:t>
            </a:r>
            <a:r>
              <a:rPr lang="en-US" altLang="en-US" sz="2800" dirty="0" err="1">
                <a:latin typeface="Arial" panose="020B0604020202020204" pitchFamily="34" charset="0"/>
                <a:ea typeface="ＭＳ Ｐゴシック" panose="020B0600070205080204" pitchFamily="34" charset="-128"/>
                <a:cs typeface="Times New Roman" panose="02020603050405020304" pitchFamily="18" charset="0"/>
              </a:rPr>
              <a:t>disjointness</a:t>
            </a:r>
            <a:endParaRPr lang="en-GB" altLang="en-US" sz="2800" dirty="0">
              <a:latin typeface="Arial" panose="020B0604020202020204" pitchFamily="34" charset="0"/>
              <a:ea typeface="ＭＳ Ｐゴシック" panose="020B0600070205080204" pitchFamily="34" charset="-128"/>
            </a:endParaRPr>
          </a:p>
        </p:txBody>
      </p:sp>
      <p:pic>
        <p:nvPicPr>
          <p:cNvPr id="17412" name="Picture 5" descr="C16NF02">
            <a:extLst>
              <a:ext uri="{FF2B5EF4-FFF2-40B4-BE49-F238E27FC236}">
                <a16:creationId xmlns:a16="http://schemas.microsoft.com/office/drawing/2014/main" xmlns="" id="{F7080461-FF79-4A32-80BA-D65A7B88425D}"/>
              </a:ext>
            </a:extLst>
          </p:cNvPr>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t="-943" r="17477"/>
          <a:stretch>
            <a:fillRect/>
          </a:stretch>
        </p:blipFill>
        <p:spPr>
          <a:xfrm>
            <a:off x="2549526" y="1287464"/>
            <a:ext cx="5832475" cy="5387975"/>
          </a:xfrm>
        </p:spPr>
      </p:pic>
      <p:sp>
        <p:nvSpPr>
          <p:cNvPr id="17413" name="Text Box 6">
            <a:extLst>
              <a:ext uri="{FF2B5EF4-FFF2-40B4-BE49-F238E27FC236}">
                <a16:creationId xmlns:a16="http://schemas.microsoft.com/office/drawing/2014/main" xmlns="" id="{BA0EE940-7159-4830-8F05-BB81366336DE}"/>
              </a:ext>
            </a:extLst>
          </p:cNvPr>
          <p:cNvSpPr txBox="1">
            <a:spLocks noChangeArrowheads="1"/>
          </p:cNvSpPr>
          <p:nvPr/>
        </p:nvSpPr>
        <p:spPr bwMode="auto">
          <a:xfrm>
            <a:off x="8305800" y="6400800"/>
            <a:ext cx="2590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xmlns="" id="{4ADDC0AE-A54F-4BEC-9C2E-BFE2510636A2}"/>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EBE9E534-F81E-4FDB-B543-4C5DB46CEE2B}" type="slidenum">
              <a:rPr lang="en-GB" altLang="en-US" sz="1400"/>
              <a:pPr/>
              <a:t>11</a:t>
            </a:fld>
            <a:endParaRPr lang="en-GB" altLang="en-US" sz="1400"/>
          </a:p>
        </p:txBody>
      </p:sp>
      <p:sp>
        <p:nvSpPr>
          <p:cNvPr id="19460" name="Rectangle 3">
            <a:extLst>
              <a:ext uri="{FF2B5EF4-FFF2-40B4-BE49-F238E27FC236}">
                <a16:creationId xmlns:a16="http://schemas.microsoft.com/office/drawing/2014/main" xmlns="" id="{CD933A84-EF72-48FB-B5BC-CED969A0379B}"/>
              </a:ext>
            </a:extLst>
          </p:cNvPr>
          <p:cNvSpPr>
            <a:spLocks noGrp="1" noChangeArrowheads="1"/>
          </p:cNvSpPr>
          <p:nvPr>
            <p:ph type="body" idx="1"/>
          </p:nvPr>
        </p:nvSpPr>
        <p:spPr>
          <a:xfrm>
            <a:off x="838200" y="168812"/>
            <a:ext cx="10515600" cy="6008151"/>
          </a:xfrm>
        </p:spPr>
        <p:txBody>
          <a:bodyPr/>
          <a:lstStyle/>
          <a:p>
            <a:pPr marL="0" indent="0">
              <a:buNone/>
            </a:pP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2000" b="1" dirty="0" smtClean="0">
                <a:latin typeface="Arial" panose="020B0604020202020204" pitchFamily="34" charset="0"/>
                <a:ea typeface="ＭＳ Ｐゴシック" panose="020B0600070205080204" pitchFamily="34" charset="-128"/>
                <a:cs typeface="Times New Roman" panose="02020603050405020304" pitchFamily="18" charset="0"/>
              </a:rPr>
              <a:t>8) Complex </a:t>
            </a: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relationship types</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Create a relation to represent the relationship and include any attributes that are part of the relationship. </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Post a copy of the primary key attribute(s) of the entities that participate in the complex relationship into the new relation, to act as foreign keys. </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Any foreign keys that represent a ‘many’ relationship (for example, 1..*, 0..*) generally will also form the primary key of this new relation, possibly in combination with some of the attributes of the relationship</a:t>
            </a:r>
            <a:r>
              <a:rPr lang="en-US" altLang="en-US" sz="2000" dirty="0" smtClean="0">
                <a:latin typeface="Arial" panose="020B0604020202020204" pitchFamily="34" charset="0"/>
                <a:ea typeface="ＭＳ Ｐゴシック" panose="020B0600070205080204" pitchFamily="34" charset="-128"/>
                <a:cs typeface="Times New Roman" panose="02020603050405020304" pitchFamily="18" charset="0"/>
              </a:rPr>
              <a:t>.</a:t>
            </a:r>
            <a:br>
              <a:rPr lang="en-US" altLang="en-US" sz="2000" dirty="0" smtClean="0">
                <a:latin typeface="Arial" panose="020B0604020202020204" pitchFamily="34" charset="0"/>
                <a:ea typeface="ＭＳ Ｐゴシック" panose="020B0600070205080204" pitchFamily="34" charset="-128"/>
                <a:cs typeface="Times New Roman" panose="02020603050405020304" pitchFamily="18" charset="0"/>
              </a:rPr>
            </a:br>
            <a:endParaRPr lang="en-US" altLang="en-US" sz="2000" dirty="0" smtClean="0">
              <a:latin typeface="Arial" panose="020B0604020202020204" pitchFamily="34" charset="0"/>
              <a:ea typeface="ＭＳ Ｐゴシック" panose="020B0600070205080204" pitchFamily="34" charset="-128"/>
              <a:cs typeface="Times New Roman" panose="02020603050405020304" pitchFamily="18" charset="0"/>
            </a:endParaRPr>
          </a:p>
          <a:p>
            <a:pPr marL="0" indent="0">
              <a:buNone/>
            </a:pP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a:t>
            </a:r>
            <a:r>
              <a:rPr lang="en-US" altLang="en-US" sz="2000" b="1" dirty="0" smtClean="0">
                <a:latin typeface="Arial" panose="020B0604020202020204" pitchFamily="34" charset="0"/>
                <a:ea typeface="ＭＳ Ｐゴシック" panose="020B0600070205080204" pitchFamily="34" charset="-128"/>
                <a:cs typeface="Times New Roman" panose="02020603050405020304" pitchFamily="18" charset="0"/>
              </a:rPr>
              <a:t>9) Multi-valued </a:t>
            </a:r>
            <a:r>
              <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rPr>
              <a:t>attributes</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Create a new relation to represent multi-valued attribute and include primary key of entity in new relation, to act as a foreign key. </a:t>
            </a:r>
          </a:p>
          <a:p>
            <a:pPr lvl="1"/>
            <a:r>
              <a:rPr lang="en-US" altLang="en-US" sz="2000" dirty="0">
                <a:latin typeface="Arial" panose="020B0604020202020204" pitchFamily="34" charset="0"/>
                <a:ea typeface="ＭＳ Ｐゴシック" panose="020B0600070205080204" pitchFamily="34" charset="-128"/>
                <a:cs typeface="Times New Roman" panose="02020603050405020304" pitchFamily="18" charset="0"/>
              </a:rPr>
              <a:t>Unless the multi-valued attribute is itself an alternate key of the entity, the primary key of the new relation is the combination of the multi-valued attribute and the primary key of the entity.</a:t>
            </a:r>
          </a:p>
          <a:p>
            <a:pPr lvl="1"/>
            <a:endParaRPr lang="en-US" altLang="en-US" sz="2000" dirty="0">
              <a:latin typeface="Arial" panose="020B0604020202020204" pitchFamily="34" charset="0"/>
              <a:ea typeface="ＭＳ Ｐゴシック" panose="020B0600070205080204" pitchFamily="34" charset="-128"/>
              <a:cs typeface="Times New Roman" panose="02020603050405020304" pitchFamily="18" charset="0"/>
            </a:endParaRPr>
          </a:p>
          <a:p>
            <a:pPr lvl="1"/>
            <a:endParaRPr lang="en-US" altLang="en-US" sz="2000" b="1" dirty="0">
              <a:latin typeface="Arial" panose="020B0604020202020204" pitchFamily="34" charset="0"/>
              <a:ea typeface="ＭＳ Ｐゴシック" panose="020B0600070205080204" pitchFamily="34" charset="-128"/>
              <a:cs typeface="Times New Roman" panose="02020603050405020304" pitchFamily="18" charset="0"/>
            </a:endParaRPr>
          </a:p>
          <a:p>
            <a:endParaRPr lang="en-GB" altLang="en-US" dirty="0">
              <a:latin typeface="Arial" panose="020B0604020202020204" pitchFamily="34" charset="0"/>
              <a:ea typeface="ＭＳ Ｐゴシック" panose="020B0600070205080204" pitchFamily="34" charset="-128"/>
            </a:endParaRPr>
          </a:p>
        </p:txBody>
      </p:sp>
      <p:sp>
        <p:nvSpPr>
          <p:cNvPr id="19461" name="Text Box 4">
            <a:extLst>
              <a:ext uri="{FF2B5EF4-FFF2-40B4-BE49-F238E27FC236}">
                <a16:creationId xmlns:a16="http://schemas.microsoft.com/office/drawing/2014/main" xmlns="" id="{E9267BD0-96C7-4238-8218-2A4D578DD24C}"/>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xmlns="" id="{4A8451BA-EAED-4DA5-8E97-AC2BA66FAEBC}"/>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4BC15B76-D168-4F31-8D40-608BC5D37027}" type="slidenum">
              <a:rPr lang="en-GB" altLang="en-US" sz="1400"/>
              <a:pPr/>
              <a:t>12</a:t>
            </a:fld>
            <a:endParaRPr lang="en-GB" altLang="en-US" sz="1400"/>
          </a:p>
        </p:txBody>
      </p:sp>
      <p:sp>
        <p:nvSpPr>
          <p:cNvPr id="21507" name="Rectangle 1026">
            <a:extLst>
              <a:ext uri="{FF2B5EF4-FFF2-40B4-BE49-F238E27FC236}">
                <a16:creationId xmlns:a16="http://schemas.microsoft.com/office/drawing/2014/main" xmlns="" id="{0894AA07-CEBD-44F0-85CF-F96F9A290C40}"/>
              </a:ext>
            </a:extLst>
          </p:cNvPr>
          <p:cNvSpPr>
            <a:spLocks noGrp="1" noChangeArrowheads="1"/>
          </p:cNvSpPr>
          <p:nvPr>
            <p:ph type="title"/>
          </p:nvPr>
        </p:nvSpPr>
        <p:spPr>
          <a:xfrm>
            <a:off x="205483" y="71919"/>
            <a:ext cx="11907748" cy="901219"/>
          </a:xfrm>
        </p:spPr>
        <p:txBody>
          <a:bodyPr>
            <a:normAutofit fontScale="90000"/>
          </a:bodyPr>
          <a:lstStyle/>
          <a:p>
            <a:pPr algn="ctr"/>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Summary of how to map entities and relationships to relations</a:t>
            </a:r>
            <a:endParaRPr lang="en-GB" altLang="en-US" dirty="0">
              <a:latin typeface="Arial" panose="020B0604020202020204" pitchFamily="34" charset="0"/>
              <a:ea typeface="ＭＳ Ｐゴシック" panose="020B0600070205080204" pitchFamily="34" charset="-128"/>
            </a:endParaRPr>
          </a:p>
        </p:txBody>
      </p:sp>
      <p:pic>
        <p:nvPicPr>
          <p:cNvPr id="21508" name="Picture 1032" descr="C16NT02">
            <a:extLst>
              <a:ext uri="{FF2B5EF4-FFF2-40B4-BE49-F238E27FC236}">
                <a16:creationId xmlns:a16="http://schemas.microsoft.com/office/drawing/2014/main" xmlns="" id="{581045ED-AAAA-4C5F-A795-6DACC5D2AB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882" t="5826"/>
          <a:stretch>
            <a:fillRect/>
          </a:stretch>
        </p:blipFill>
        <p:spPr>
          <a:xfrm>
            <a:off x="2732088" y="1155700"/>
            <a:ext cx="6415087" cy="5702300"/>
          </a:xfrm>
        </p:spPr>
      </p:pic>
      <p:sp>
        <p:nvSpPr>
          <p:cNvPr id="21509" name="Text Box 1033">
            <a:extLst>
              <a:ext uri="{FF2B5EF4-FFF2-40B4-BE49-F238E27FC236}">
                <a16:creationId xmlns:a16="http://schemas.microsoft.com/office/drawing/2014/main" xmlns="" id="{A22A417B-8222-4B94-83C4-D803E644FE90}"/>
              </a:ext>
            </a:extLst>
          </p:cNvPr>
          <p:cNvSpPr txBox="1">
            <a:spLocks noChangeArrowheads="1"/>
          </p:cNvSpPr>
          <p:nvPr/>
        </p:nvSpPr>
        <p:spPr bwMode="auto">
          <a:xfrm>
            <a:off x="8229600" y="6400800"/>
            <a:ext cx="2438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xmlns="" id="{44A02046-1C8A-4F91-B7E5-777BEDC2104D}"/>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447AA893-E34C-4A69-8E11-AA2AEED9E874}" type="slidenum">
              <a:rPr lang="en-GB" altLang="en-US" sz="1400"/>
              <a:pPr/>
              <a:t>13</a:t>
            </a:fld>
            <a:endParaRPr lang="en-GB" altLang="en-US" sz="1400"/>
          </a:p>
        </p:txBody>
      </p:sp>
      <p:sp>
        <p:nvSpPr>
          <p:cNvPr id="23556" name="Rectangle 3">
            <a:extLst>
              <a:ext uri="{FF2B5EF4-FFF2-40B4-BE49-F238E27FC236}">
                <a16:creationId xmlns:a16="http://schemas.microsoft.com/office/drawing/2014/main" xmlns="" id="{0F9FD12E-634D-4F13-B026-F54BB7170A6D}"/>
              </a:ext>
            </a:extLst>
          </p:cNvPr>
          <p:cNvSpPr>
            <a:spLocks noGrp="1" noChangeArrowheads="1"/>
          </p:cNvSpPr>
          <p:nvPr>
            <p:ph type="body" idx="1"/>
          </p:nvPr>
        </p:nvSpPr>
        <p:spPr>
          <a:xfrm>
            <a:off x="404484" y="101832"/>
            <a:ext cx="11370173" cy="6436287"/>
          </a:xfrm>
        </p:spPr>
        <p:txBody>
          <a:bodyPr>
            <a:normAutofit lnSpcReduction="10000"/>
          </a:bodyPr>
          <a:lstStyle/>
          <a:p>
            <a:pPr marL="0" indent="0">
              <a:buNone/>
            </a:pPr>
            <a:r>
              <a:rPr lang="en-GB" altLang="en-US" sz="2000" b="1" dirty="0" smtClean="0">
                <a:latin typeface="Arial" panose="020B0604020202020204" pitchFamily="34" charset="0"/>
                <a:ea typeface="ＭＳ Ｐゴシック" panose="020B0600070205080204" pitchFamily="34" charset="-128"/>
              </a:rPr>
              <a:t>       Step </a:t>
            </a:r>
            <a:r>
              <a:rPr lang="en-GB" altLang="en-US" sz="2000" b="1" dirty="0">
                <a:latin typeface="Arial" panose="020B0604020202020204" pitchFamily="34" charset="0"/>
                <a:ea typeface="ＭＳ Ｐゴシック" panose="020B0600070205080204" pitchFamily="34" charset="-128"/>
              </a:rPr>
              <a:t>2.2  Validate relations using normalization</a:t>
            </a:r>
            <a:endParaRPr lang="en-US" altLang="en-US" sz="2000" b="1" dirty="0" smtClean="0">
              <a:latin typeface="Arial" panose="020B0604020202020204" pitchFamily="34" charset="0"/>
              <a:ea typeface="ＭＳ Ｐゴシック" panose="020B0600070205080204" pitchFamily="34" charset="-128"/>
              <a:cs typeface="Times New Roman" panose="02020603050405020304" pitchFamily="18" charset="0"/>
            </a:endParaRPr>
          </a:p>
          <a:p>
            <a:pPr lvl="2"/>
            <a:r>
              <a:rPr lang="en-US" altLang="en-US" dirty="0" smtClean="0">
                <a:latin typeface="Arial" panose="020B0604020202020204" pitchFamily="34" charset="0"/>
                <a:ea typeface="ＭＳ Ｐゴシック" panose="020B0600070205080204" pitchFamily="34" charset="-128"/>
                <a:cs typeface="Times New Roman" panose="02020603050405020304" pitchFamily="18" charset="0"/>
              </a:rPr>
              <a:t>To </a:t>
            </a:r>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validate the relations in the logical data model using normalization.</a:t>
            </a:r>
            <a:r>
              <a:rPr lang="en-GB" altLang="en-US" dirty="0">
                <a:latin typeface="Arial" panose="020B0604020202020204" pitchFamily="34" charset="0"/>
                <a:ea typeface="ＭＳ Ｐゴシック" panose="020B0600070205080204" pitchFamily="34" charset="-128"/>
              </a:rPr>
              <a:t> </a:t>
            </a:r>
            <a:endParaRPr lang="en-GB" altLang="en-US" dirty="0">
              <a:latin typeface="Arial" panose="020B0604020202020204" pitchFamily="34" charset="0"/>
              <a:ea typeface="ＭＳ Ｐゴシック" panose="020B0600070205080204" pitchFamily="34" charset="-128"/>
            </a:endParaRPr>
          </a:p>
          <a:p>
            <a:pPr marL="457200" lvl="1" indent="0">
              <a:buNone/>
            </a:pPr>
            <a:r>
              <a:rPr lang="en-GB" altLang="en-US" sz="2000" b="1" dirty="0" smtClean="0">
                <a:latin typeface="Arial" panose="020B0604020202020204" pitchFamily="34" charset="0"/>
                <a:ea typeface="ＭＳ Ｐゴシック" panose="020B0600070205080204" pitchFamily="34" charset="-128"/>
              </a:rPr>
              <a:t>Step </a:t>
            </a:r>
            <a:r>
              <a:rPr lang="en-GB" altLang="en-US" sz="2000" b="1" dirty="0">
                <a:latin typeface="Arial" panose="020B0604020202020204" pitchFamily="34" charset="0"/>
                <a:ea typeface="ＭＳ Ｐゴシック" panose="020B0600070205080204" pitchFamily="34" charset="-128"/>
              </a:rPr>
              <a:t>2.3  Validate relations against user </a:t>
            </a:r>
            <a:r>
              <a:rPr lang="en-GB" altLang="en-US" sz="2000" b="1" dirty="0" smtClean="0">
                <a:latin typeface="Arial" panose="020B0604020202020204" pitchFamily="34" charset="0"/>
                <a:ea typeface="ＭＳ Ｐゴシック" panose="020B0600070205080204" pitchFamily="34" charset="-128"/>
              </a:rPr>
              <a:t>transactions</a:t>
            </a:r>
          </a:p>
          <a:p>
            <a:pPr lvl="2"/>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To ensure that the relations in the logical data model support the required transactions.</a:t>
            </a:r>
            <a:r>
              <a:rPr lang="en-GB" altLang="en-US" sz="1600" dirty="0">
                <a:latin typeface="Arial" panose="020B0604020202020204" pitchFamily="34" charset="0"/>
                <a:ea typeface="ＭＳ Ｐゴシック" panose="020B0600070205080204" pitchFamily="34" charset="-128"/>
              </a:rPr>
              <a:t> </a:t>
            </a:r>
          </a:p>
          <a:p>
            <a:pPr marL="457200" lvl="1" indent="0">
              <a:buNone/>
            </a:pPr>
            <a:r>
              <a:rPr lang="en-GB" altLang="en-US" sz="2000" b="1" dirty="0">
                <a:latin typeface="Arial" panose="020B0604020202020204" pitchFamily="34" charset="0"/>
                <a:ea typeface="ＭＳ Ｐゴシック" panose="020B0600070205080204" pitchFamily="34" charset="-128"/>
              </a:rPr>
              <a:t>Step 2.4  Check integrity </a:t>
            </a:r>
            <a:r>
              <a:rPr lang="en-GB" altLang="en-US" sz="2000" b="1" dirty="0" smtClean="0">
                <a:latin typeface="Arial" panose="020B0604020202020204" pitchFamily="34" charset="0"/>
                <a:ea typeface="ＭＳ Ｐゴシック" panose="020B0600070205080204" pitchFamily="34" charset="-128"/>
              </a:rPr>
              <a:t>constraints</a:t>
            </a:r>
          </a:p>
          <a:p>
            <a:pPr lvl="2"/>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To check integrity constraints are represented in the logical data model.</a:t>
            </a:r>
            <a:r>
              <a:rPr lang="en-GB" altLang="en-US" dirty="0">
                <a:latin typeface="Arial" panose="020B0604020202020204" pitchFamily="34" charset="0"/>
                <a:ea typeface="ＭＳ Ｐゴシック" panose="020B0600070205080204" pitchFamily="34" charset="-128"/>
              </a:rPr>
              <a:t> This includes identifying:</a:t>
            </a:r>
          </a:p>
          <a:p>
            <a:pPr lvl="3"/>
            <a:r>
              <a:rPr lang="en-GB" altLang="en-US" sz="1600" dirty="0">
                <a:latin typeface="Arial" panose="020B0604020202020204" pitchFamily="34" charset="0"/>
                <a:ea typeface="ＭＳ Ｐゴシック" panose="020B0600070205080204" pitchFamily="34" charset="-128"/>
              </a:rPr>
              <a:t>Required data </a:t>
            </a:r>
          </a:p>
          <a:p>
            <a:pPr lvl="3"/>
            <a:r>
              <a:rPr lang="en-GB" altLang="en-US" sz="1600" dirty="0">
                <a:latin typeface="Arial" panose="020B0604020202020204" pitchFamily="34" charset="0"/>
                <a:ea typeface="ＭＳ Ｐゴシック" panose="020B0600070205080204" pitchFamily="34" charset="-128"/>
              </a:rPr>
              <a:t>Attribute domain constraints</a:t>
            </a:r>
          </a:p>
          <a:p>
            <a:pPr lvl="3"/>
            <a:r>
              <a:rPr lang="en-GB" altLang="en-US" sz="1600" dirty="0">
                <a:latin typeface="Arial" panose="020B0604020202020204" pitchFamily="34" charset="0"/>
                <a:ea typeface="ＭＳ Ｐゴシック" panose="020B0600070205080204" pitchFamily="34" charset="-128"/>
              </a:rPr>
              <a:t>Multiplicity</a:t>
            </a:r>
          </a:p>
          <a:p>
            <a:pPr lvl="3"/>
            <a:r>
              <a:rPr lang="en-GB" altLang="en-US" sz="1600" dirty="0">
                <a:latin typeface="Arial" panose="020B0604020202020204" pitchFamily="34" charset="0"/>
                <a:ea typeface="ＭＳ Ｐゴシック" panose="020B0600070205080204" pitchFamily="34" charset="-128"/>
              </a:rPr>
              <a:t>Entity integrity</a:t>
            </a:r>
          </a:p>
          <a:p>
            <a:pPr lvl="3"/>
            <a:r>
              <a:rPr lang="en-GB" altLang="en-US" sz="1600" dirty="0">
                <a:latin typeface="Arial" panose="020B0604020202020204" pitchFamily="34" charset="0"/>
                <a:ea typeface="ＭＳ Ｐゴシック" panose="020B0600070205080204" pitchFamily="34" charset="-128"/>
              </a:rPr>
              <a:t>Referential integrity</a:t>
            </a:r>
          </a:p>
          <a:p>
            <a:pPr lvl="3"/>
            <a:r>
              <a:rPr lang="en-GB" altLang="en-US" sz="1600" dirty="0">
                <a:latin typeface="Arial" panose="020B0604020202020204" pitchFamily="34" charset="0"/>
                <a:ea typeface="ＭＳ Ｐゴシック" panose="020B0600070205080204" pitchFamily="34" charset="-128"/>
              </a:rPr>
              <a:t>General </a:t>
            </a:r>
            <a:r>
              <a:rPr lang="en-GB" altLang="en-US" sz="1600" dirty="0" smtClean="0">
                <a:latin typeface="Arial" panose="020B0604020202020204" pitchFamily="34" charset="0"/>
                <a:ea typeface="ＭＳ Ｐゴシック" panose="020B0600070205080204" pitchFamily="34" charset="-128"/>
              </a:rPr>
              <a:t>constraints</a:t>
            </a:r>
            <a:endParaRPr lang="en-GB" altLang="en-US" sz="1600" dirty="0">
              <a:latin typeface="Arial" panose="020B0604020202020204" pitchFamily="34" charset="0"/>
              <a:ea typeface="ＭＳ Ｐゴシック" panose="020B0600070205080204" pitchFamily="34" charset="-128"/>
            </a:endParaRPr>
          </a:p>
          <a:p>
            <a:pPr marL="457200" lvl="1" indent="0">
              <a:buNone/>
            </a:pPr>
            <a:r>
              <a:rPr lang="en-GB" altLang="en-US" sz="2000" b="1" dirty="0" smtClean="0">
                <a:latin typeface="Arial" panose="020B0604020202020204" pitchFamily="34" charset="0"/>
                <a:ea typeface="ＭＳ Ｐゴシック" panose="020B0600070205080204" pitchFamily="34" charset="-128"/>
              </a:rPr>
              <a:t>Step </a:t>
            </a:r>
            <a:r>
              <a:rPr lang="en-GB" altLang="en-US" sz="2000" b="1" dirty="0">
                <a:latin typeface="Arial" panose="020B0604020202020204" pitchFamily="34" charset="0"/>
                <a:ea typeface="ＭＳ Ｐゴシック" panose="020B0600070205080204" pitchFamily="34" charset="-128"/>
              </a:rPr>
              <a:t>2.5  Review logical data model with </a:t>
            </a:r>
            <a:r>
              <a:rPr lang="en-GB" altLang="en-US" sz="2000" b="1" dirty="0" smtClean="0">
                <a:latin typeface="Arial" panose="020B0604020202020204" pitchFamily="34" charset="0"/>
                <a:ea typeface="ＭＳ Ｐゴシック" panose="020B0600070205080204" pitchFamily="34" charset="-128"/>
              </a:rPr>
              <a:t>user</a:t>
            </a:r>
          </a:p>
          <a:p>
            <a:pPr lvl="2"/>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To review the logical data model with the users to ensure that they consider the model to be a true representation of the data requirements of the enterprise.</a:t>
            </a:r>
            <a:r>
              <a:rPr lang="en-GB" altLang="en-US" sz="1600" dirty="0">
                <a:latin typeface="Arial" panose="020B0604020202020204" pitchFamily="34" charset="0"/>
                <a:ea typeface="ＭＳ Ｐゴシック" panose="020B0600070205080204" pitchFamily="34" charset="-128"/>
              </a:rPr>
              <a:t> </a:t>
            </a:r>
          </a:p>
          <a:p>
            <a:pPr marL="457200" lvl="1" indent="0">
              <a:buNone/>
            </a:pPr>
            <a:r>
              <a:rPr lang="en-GB" altLang="en-US" sz="2000" b="1" dirty="0">
                <a:latin typeface="Arial" panose="020B0604020202020204" pitchFamily="34" charset="0"/>
                <a:ea typeface="ＭＳ Ｐゴシック" panose="020B0600070205080204" pitchFamily="34" charset="-128"/>
              </a:rPr>
              <a:t>Step 2.6 Merge logical data models into global  Model (optional step</a:t>
            </a:r>
            <a:r>
              <a:rPr lang="en-GB" altLang="en-US" sz="2000" b="1" dirty="0" smtClean="0">
                <a:latin typeface="Arial" panose="020B0604020202020204" pitchFamily="34" charset="0"/>
                <a:ea typeface="ＭＳ Ｐゴシック" panose="020B0600070205080204" pitchFamily="34" charset="-128"/>
              </a:rPr>
              <a:t>)</a:t>
            </a:r>
          </a:p>
          <a:p>
            <a:pPr lvl="2"/>
            <a:r>
              <a:rPr lang="en-US" altLang="en-US" sz="1600" dirty="0">
                <a:latin typeface="Arial" panose="020B0604020202020204" pitchFamily="34" charset="0"/>
                <a:ea typeface="ＭＳ Ｐゴシック" panose="020B0600070205080204" pitchFamily="34" charset="-128"/>
                <a:cs typeface="Times New Roman" panose="02020603050405020304" pitchFamily="18" charset="0"/>
              </a:rPr>
              <a:t>To merge logical data models into a single global logical data model that represents all user views of a database.</a:t>
            </a:r>
            <a:r>
              <a:rPr lang="en-GB" altLang="en-US" sz="1600" dirty="0">
                <a:latin typeface="Arial" panose="020B0604020202020204" pitchFamily="34" charset="0"/>
                <a:ea typeface="ＭＳ Ｐゴシック" panose="020B0600070205080204" pitchFamily="34" charset="-128"/>
              </a:rPr>
              <a:t> </a:t>
            </a:r>
            <a:endParaRPr lang="en-GB" altLang="en-US" sz="1600" dirty="0" smtClean="0">
              <a:latin typeface="Arial" panose="020B0604020202020204" pitchFamily="34" charset="0"/>
              <a:ea typeface="ＭＳ Ｐゴシック" panose="020B0600070205080204" pitchFamily="34" charset="-128"/>
            </a:endParaRPr>
          </a:p>
          <a:p>
            <a:pPr lvl="2"/>
            <a:r>
              <a:rPr lang="en-GB" altLang="en-US" sz="1600" dirty="0">
                <a:latin typeface="Arial" panose="020B0604020202020204" pitchFamily="34" charset="0"/>
                <a:ea typeface="ＭＳ Ｐゴシック" panose="020B0600070205080204" pitchFamily="34" charset="-128"/>
              </a:rPr>
              <a:t>This activities in this step include: </a:t>
            </a:r>
          </a:p>
          <a:p>
            <a:pPr lvl="3"/>
            <a:r>
              <a:rPr lang="en-US" altLang="en-US" sz="1300" dirty="0">
                <a:latin typeface="Arial" panose="020B0604020202020204" pitchFamily="34" charset="0"/>
                <a:ea typeface="ＭＳ Ｐゴシック" panose="020B0600070205080204" pitchFamily="34" charset="-128"/>
              </a:rPr>
              <a:t>Step 2.6.1 Merge local logical data models into global model</a:t>
            </a:r>
          </a:p>
          <a:p>
            <a:pPr lvl="3"/>
            <a:r>
              <a:rPr lang="en-US" altLang="en-US" sz="1300" dirty="0">
                <a:latin typeface="Arial" panose="020B0604020202020204" pitchFamily="34" charset="0"/>
                <a:ea typeface="ＭＳ Ｐゴシック" panose="020B0600070205080204" pitchFamily="34" charset="-128"/>
              </a:rPr>
              <a:t>Step 2.6.2 Validate global logical data model</a:t>
            </a:r>
          </a:p>
          <a:p>
            <a:pPr lvl="3"/>
            <a:r>
              <a:rPr lang="en-US" altLang="en-US" sz="1300" dirty="0">
                <a:latin typeface="Arial" panose="020B0604020202020204" pitchFamily="34" charset="0"/>
                <a:ea typeface="ＭＳ Ｐゴシック" panose="020B0600070205080204" pitchFamily="34" charset="-128"/>
              </a:rPr>
              <a:t>Step 2.6.3 Review global logical data model with users.</a:t>
            </a:r>
            <a:endParaRPr lang="en-GB" altLang="en-US" sz="1300" dirty="0">
              <a:latin typeface="Arial" panose="020B0604020202020204" pitchFamily="34" charset="0"/>
              <a:ea typeface="ＭＳ Ｐゴシック" panose="020B0600070205080204" pitchFamily="34" charset="-128"/>
            </a:endParaRPr>
          </a:p>
          <a:p>
            <a:pPr lvl="2"/>
            <a:endParaRPr lang="en-GB" altLang="en-US" sz="1600" dirty="0">
              <a:latin typeface="Arial" panose="020B0604020202020204" pitchFamily="34" charset="0"/>
              <a:ea typeface="ＭＳ Ｐゴシック" panose="020B0600070205080204" pitchFamily="34" charset="-128"/>
            </a:endParaRPr>
          </a:p>
          <a:p>
            <a:pPr lvl="2"/>
            <a:endParaRPr lang="en-GB" altLang="en-US" sz="1600" b="1" dirty="0">
              <a:latin typeface="Arial" panose="020B0604020202020204" pitchFamily="34" charset="0"/>
              <a:ea typeface="ＭＳ Ｐゴシック" panose="020B0600070205080204" pitchFamily="34" charset="-128"/>
            </a:endParaRPr>
          </a:p>
        </p:txBody>
      </p:sp>
      <p:sp>
        <p:nvSpPr>
          <p:cNvPr id="23557" name="Text Box 4">
            <a:extLst>
              <a:ext uri="{FF2B5EF4-FFF2-40B4-BE49-F238E27FC236}">
                <a16:creationId xmlns:a16="http://schemas.microsoft.com/office/drawing/2014/main" xmlns="" id="{0004D989-9940-4319-93E2-384EDFC2CC5C}"/>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xmlns="" id="{6BDDB900-099F-450F-ABF4-0F360A98B7B7}"/>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281AE50C-2417-44B3-B149-6B1FB5DB52E1}" type="slidenum">
              <a:rPr lang="en-GB" altLang="en-US" sz="1400"/>
              <a:pPr/>
              <a:t>14</a:t>
            </a:fld>
            <a:endParaRPr lang="en-GB" altLang="en-US" sz="1400"/>
          </a:p>
        </p:txBody>
      </p:sp>
      <p:sp>
        <p:nvSpPr>
          <p:cNvPr id="30723" name="Rectangle 2">
            <a:extLst>
              <a:ext uri="{FF2B5EF4-FFF2-40B4-BE49-F238E27FC236}">
                <a16:creationId xmlns:a16="http://schemas.microsoft.com/office/drawing/2014/main" xmlns="" id="{FFF66A50-1AEA-41F6-9577-49BD7D83066B}"/>
              </a:ext>
            </a:extLst>
          </p:cNvPr>
          <p:cNvSpPr>
            <a:spLocks noGrp="1" noChangeArrowheads="1"/>
          </p:cNvSpPr>
          <p:nvPr>
            <p:ph type="title"/>
          </p:nvPr>
        </p:nvSpPr>
        <p:spPr>
          <a:xfrm>
            <a:off x="0" y="365125"/>
            <a:ext cx="12192000" cy="1325563"/>
          </a:xfrm>
        </p:spPr>
        <p:txBody>
          <a:bodyPr vert="horz" lIns="90488" tIns="44450" rIns="90488" bIns="44450" rtlCol="0" anchor="ctr">
            <a:normAutofit/>
          </a:bodyPr>
          <a:lstStyle/>
          <a:p>
            <a:pPr algn="ctr"/>
            <a:r>
              <a:rPr lang="en-GB" altLang="en-US" b="1" dirty="0">
                <a:latin typeface="Arial" panose="020B0604020202020204" pitchFamily="34" charset="0"/>
                <a:ea typeface="ＭＳ Ｐゴシック" panose="020B0600070205080204" pitchFamily="34" charset="-128"/>
              </a:rPr>
              <a:t>Step 2.6.1 Merge logical data models into a global model</a:t>
            </a:r>
          </a:p>
        </p:txBody>
      </p:sp>
      <p:sp>
        <p:nvSpPr>
          <p:cNvPr id="30724" name="Rectangle 3">
            <a:extLst>
              <a:ext uri="{FF2B5EF4-FFF2-40B4-BE49-F238E27FC236}">
                <a16:creationId xmlns:a16="http://schemas.microsoft.com/office/drawing/2014/main" xmlns="" id="{6398C96D-28BC-4E76-BC8A-682433EFF3D9}"/>
              </a:ext>
            </a:extLst>
          </p:cNvPr>
          <p:cNvSpPr>
            <a:spLocks noGrp="1" noChangeArrowheads="1"/>
          </p:cNvSpPr>
          <p:nvPr>
            <p:ph type="body" idx="1"/>
          </p:nvPr>
        </p:nvSpPr>
        <p:spPr>
          <a:xfrm>
            <a:off x="0" y="1600200"/>
            <a:ext cx="10471150" cy="4114800"/>
          </a:xfrm>
        </p:spPr>
        <p:txBody>
          <a:bodyPr vert="horz" lIns="90488" tIns="44450" rIns="90488" bIns="44450" rtlCol="0">
            <a:normAutofit/>
          </a:bodyPr>
          <a:lstStyle/>
          <a:p>
            <a:pPr>
              <a:lnSpc>
                <a:spcPct val="90000"/>
              </a:lnSpc>
            </a:pPr>
            <a:r>
              <a:rPr lang="en-GB" altLang="en-US" sz="2400" dirty="0">
                <a:latin typeface="Arial" panose="020B0604020202020204" pitchFamily="34" charset="0"/>
                <a:ea typeface="ＭＳ Ｐゴシック" panose="020B0600070205080204" pitchFamily="34" charset="-128"/>
              </a:rPr>
              <a:t>Tasks typically includes:</a:t>
            </a:r>
          </a:p>
          <a:p>
            <a:pPr lvl="2">
              <a:lnSpc>
                <a:spcPct val="90000"/>
              </a:lnSpc>
            </a:pPr>
            <a:r>
              <a:rPr lang="en-GB" altLang="en-US" sz="1800" dirty="0">
                <a:latin typeface="Arial" panose="020B0604020202020204" pitchFamily="34" charset="0"/>
                <a:ea typeface="ＭＳ Ｐゴシック" panose="020B0600070205080204" pitchFamily="34" charset="-128"/>
              </a:rPr>
              <a:t>(1)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Review the names and contents of entities/relations and their candidate keys.</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(2)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Review the names and contents of relationships/foreign keys.</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(3)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Merge entities/relations from the local data models</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(4)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Include (without merging) entities/relations unique to each local data model</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(5)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Merge relationships/foreign keys from the local data models.</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(6)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Include (without merging) relationships/foreign keys unique to each local data model.</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(7)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Check for missing entities/relations and relationships/foreign keys.</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(8)  Check foreign keys.</a:t>
            </a:r>
          </a:p>
          <a:p>
            <a:pPr lvl="2">
              <a:lnSpc>
                <a:spcPct val="90000"/>
              </a:lnSpc>
            </a:pPr>
            <a:r>
              <a:rPr lang="en-GB" altLang="en-US" sz="1800" dirty="0">
                <a:latin typeface="Arial" panose="020B0604020202020204" pitchFamily="34" charset="0"/>
                <a:ea typeface="ＭＳ Ｐゴシック" panose="020B0600070205080204" pitchFamily="34" charset="-128"/>
              </a:rPr>
              <a:t>(9)  Check Integrity Constraints.</a:t>
            </a:r>
          </a:p>
          <a:p>
            <a:pPr lvl="2">
              <a:lnSpc>
                <a:spcPct val="90000"/>
              </a:lnSpc>
            </a:pPr>
            <a:r>
              <a:rPr lang="en-GB" altLang="en-US" sz="1800" dirty="0">
                <a:latin typeface="Arial" panose="020B0604020202020204" pitchFamily="34" charset="0"/>
                <a:ea typeface="ＭＳ Ｐゴシック" panose="020B0600070205080204" pitchFamily="34" charset="-128"/>
              </a:rPr>
              <a:t>(10) </a:t>
            </a:r>
            <a:r>
              <a:rPr lang="en-US" altLang="en-US" sz="1800" dirty="0">
                <a:latin typeface="Arial" panose="020B0604020202020204" pitchFamily="34" charset="0"/>
                <a:ea typeface="ＭＳ Ｐゴシック" panose="020B0600070205080204" pitchFamily="34" charset="-128"/>
                <a:cs typeface="Times New Roman" panose="02020603050405020304" pitchFamily="18" charset="0"/>
              </a:rPr>
              <a:t>Draw the global ER/relation diagram</a:t>
            </a:r>
            <a:r>
              <a:rPr lang="en-GB" altLang="en-US" sz="1800" dirty="0">
                <a:latin typeface="Arial" panose="020B0604020202020204" pitchFamily="34" charset="0"/>
                <a:ea typeface="ＭＳ Ｐゴシック" panose="020B0600070205080204" pitchFamily="34" charset="-128"/>
              </a:rPr>
              <a:t> </a:t>
            </a:r>
          </a:p>
          <a:p>
            <a:pPr lvl="2">
              <a:lnSpc>
                <a:spcPct val="90000"/>
              </a:lnSpc>
            </a:pPr>
            <a:r>
              <a:rPr lang="en-GB" altLang="en-US" sz="1800" dirty="0">
                <a:latin typeface="Arial" panose="020B0604020202020204" pitchFamily="34" charset="0"/>
                <a:ea typeface="ＭＳ Ｐゴシック" panose="020B0600070205080204" pitchFamily="34" charset="-128"/>
              </a:rPr>
              <a:t>(11)  Update the documentation.</a:t>
            </a:r>
          </a:p>
        </p:txBody>
      </p:sp>
      <p:sp>
        <p:nvSpPr>
          <p:cNvPr id="30725" name="Text Box 4">
            <a:extLst>
              <a:ext uri="{FF2B5EF4-FFF2-40B4-BE49-F238E27FC236}">
                <a16:creationId xmlns:a16="http://schemas.microsoft.com/office/drawing/2014/main" xmlns="" id="{15B75D67-E576-4C47-A6EB-69CDC1393F70}"/>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xmlns="" id="{21C56A02-3FD1-44AF-A354-46E6FDD45D96}"/>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54ECB281-41FF-4631-A762-AE02371277B7}" type="slidenum">
              <a:rPr lang="en-GB" altLang="en-US" sz="1400"/>
              <a:pPr/>
              <a:t>15</a:t>
            </a:fld>
            <a:endParaRPr lang="en-GB" altLang="en-US" sz="1400"/>
          </a:p>
        </p:txBody>
      </p:sp>
      <p:sp>
        <p:nvSpPr>
          <p:cNvPr id="31747" name="Rectangle 2">
            <a:extLst>
              <a:ext uri="{FF2B5EF4-FFF2-40B4-BE49-F238E27FC236}">
                <a16:creationId xmlns:a16="http://schemas.microsoft.com/office/drawing/2014/main" xmlns="" id="{C1740F69-17CF-430B-80AC-016DC5FAAFDA}"/>
              </a:ext>
            </a:extLst>
          </p:cNvPr>
          <p:cNvSpPr>
            <a:spLocks noGrp="1" noChangeArrowheads="1"/>
          </p:cNvSpPr>
          <p:nvPr>
            <p:ph type="title"/>
          </p:nvPr>
        </p:nvSpPr>
        <p:spPr>
          <a:xfrm>
            <a:off x="945222" y="276225"/>
            <a:ext cx="11138043" cy="1325563"/>
          </a:xfrm>
        </p:spPr>
        <p:txBody>
          <a:bodyPr vert="horz" lIns="90488" tIns="44450" rIns="90488" bIns="44450" rtlCol="0" anchor="ctr">
            <a:normAutofit/>
          </a:bodyPr>
          <a:lstStyle/>
          <a:p>
            <a:pPr algn="ctr"/>
            <a:r>
              <a:rPr lang="en-GB" altLang="en-US" dirty="0">
                <a:latin typeface="Arial" panose="020B0604020202020204" pitchFamily="34" charset="0"/>
                <a:ea typeface="ＭＳ Ｐゴシック" panose="020B0600070205080204" pitchFamily="34" charset="-128"/>
              </a:rPr>
              <a:t>Step 2.6.2  </a:t>
            </a:r>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Validate global logical data model</a:t>
            </a:r>
            <a:r>
              <a:rPr lang="en-GB" altLang="en-US" dirty="0">
                <a:latin typeface="Arial" panose="020B0604020202020204" pitchFamily="34" charset="0"/>
                <a:ea typeface="ＭＳ Ｐゴシック" panose="020B0600070205080204" pitchFamily="34" charset="-128"/>
              </a:rPr>
              <a:t> </a:t>
            </a:r>
          </a:p>
        </p:txBody>
      </p:sp>
      <p:sp>
        <p:nvSpPr>
          <p:cNvPr id="31748" name="Rectangle 3">
            <a:extLst>
              <a:ext uri="{FF2B5EF4-FFF2-40B4-BE49-F238E27FC236}">
                <a16:creationId xmlns:a16="http://schemas.microsoft.com/office/drawing/2014/main" xmlns="" id="{575922C2-A6AC-4AEA-A037-57799C566F64}"/>
              </a:ext>
            </a:extLst>
          </p:cNvPr>
          <p:cNvSpPr>
            <a:spLocks noGrp="1" noChangeArrowheads="1"/>
          </p:cNvSpPr>
          <p:nvPr>
            <p:ph type="body" idx="1"/>
          </p:nvPr>
        </p:nvSpPr>
        <p:spPr/>
        <p:txBody>
          <a:bodyPr vert="horz" lIns="90488" tIns="44450" rIns="90488" bIns="44450" rtlCol="0">
            <a:normAutofit/>
          </a:bodyPr>
          <a:lstStyle/>
          <a:p>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To validate the relations created from the global logical data model using the technique of normalization and to ensure they support the required transactions, if necessary.</a:t>
            </a:r>
            <a:r>
              <a:rPr lang="en-GB" altLang="en-US" sz="3200" dirty="0">
                <a:latin typeface="Arial" panose="020B0604020202020204" pitchFamily="34" charset="0"/>
                <a:ea typeface="ＭＳ Ｐゴシック" panose="020B0600070205080204" pitchFamily="34" charset="-128"/>
              </a:rPr>
              <a:t> </a:t>
            </a:r>
          </a:p>
        </p:txBody>
      </p:sp>
      <p:sp>
        <p:nvSpPr>
          <p:cNvPr id="31749" name="Text Box 4">
            <a:extLst>
              <a:ext uri="{FF2B5EF4-FFF2-40B4-BE49-F238E27FC236}">
                <a16:creationId xmlns:a16="http://schemas.microsoft.com/office/drawing/2014/main" xmlns="" id="{5089253C-AE93-489B-9BBB-63DFF8B90903}"/>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xmlns="" id="{4AABBDC8-9F56-457C-A962-362D3A66E123}"/>
              </a:ext>
            </a:extLst>
          </p:cNvPr>
          <p:cNvSpPr>
            <a:spLocks noGrp="1"/>
          </p:cNvSpPr>
          <p:nvPr>
            <p:ph type="sldNum" sz="quarter" idx="4294967295"/>
          </p:nvPr>
        </p:nvSpPr>
        <p:spPr bwMode="auto">
          <a:xfrm>
            <a:off x="1719263" y="6194425"/>
            <a:ext cx="202565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fld id="{01DC56BA-F310-4392-8C7C-C14A26DABB7C}" type="slidenum">
              <a:rPr lang="en-GB" altLang="en-US" sz="1400"/>
              <a:pPr/>
              <a:t>16</a:t>
            </a:fld>
            <a:endParaRPr lang="en-GB" altLang="en-US" sz="1400"/>
          </a:p>
        </p:txBody>
      </p:sp>
      <p:sp>
        <p:nvSpPr>
          <p:cNvPr id="32771" name="Rectangle 2">
            <a:extLst>
              <a:ext uri="{FF2B5EF4-FFF2-40B4-BE49-F238E27FC236}">
                <a16:creationId xmlns:a16="http://schemas.microsoft.com/office/drawing/2014/main" xmlns="" id="{C34E18A6-3663-4E8C-8AEE-AA5E94CCFE45}"/>
              </a:ext>
            </a:extLst>
          </p:cNvPr>
          <p:cNvSpPr>
            <a:spLocks noGrp="1" noChangeArrowheads="1"/>
          </p:cNvSpPr>
          <p:nvPr>
            <p:ph type="title"/>
          </p:nvPr>
        </p:nvSpPr>
        <p:spPr>
          <a:xfrm>
            <a:off x="82193" y="365125"/>
            <a:ext cx="12109807" cy="1325563"/>
          </a:xfrm>
        </p:spPr>
        <p:txBody>
          <a:bodyPr vert="horz" lIns="90488" tIns="44450" rIns="90488" bIns="44450" rtlCol="0" anchor="ctr">
            <a:normAutofit/>
          </a:bodyPr>
          <a:lstStyle/>
          <a:p>
            <a:pPr algn="ctr"/>
            <a:r>
              <a:rPr lang="en-GB" altLang="en-US" dirty="0">
                <a:latin typeface="Arial" panose="020B0604020202020204" pitchFamily="34" charset="0"/>
                <a:ea typeface="ＭＳ Ｐゴシック" panose="020B0600070205080204" pitchFamily="34" charset="-128"/>
              </a:rPr>
              <a:t>Step 2.6.3  </a:t>
            </a:r>
            <a:r>
              <a:rPr lang="en-US" altLang="en-US" dirty="0">
                <a:latin typeface="Arial" panose="020B0604020202020204" pitchFamily="34" charset="0"/>
                <a:ea typeface="ＭＳ Ｐゴシック" panose="020B0600070205080204" pitchFamily="34" charset="-128"/>
                <a:cs typeface="Times New Roman" panose="02020603050405020304" pitchFamily="18" charset="0"/>
              </a:rPr>
              <a:t>Review global logical data model with users</a:t>
            </a:r>
            <a:endParaRPr lang="en-GB" altLang="en-US" dirty="0">
              <a:latin typeface="Arial" panose="020B0604020202020204" pitchFamily="34" charset="0"/>
              <a:ea typeface="ＭＳ Ｐゴシック" panose="020B0600070205080204" pitchFamily="34" charset="-128"/>
              <a:cs typeface="Times New Roman" panose="02020603050405020304" pitchFamily="18" charset="0"/>
            </a:endParaRPr>
          </a:p>
        </p:txBody>
      </p:sp>
      <p:sp>
        <p:nvSpPr>
          <p:cNvPr id="32772" name="Rectangle 3">
            <a:extLst>
              <a:ext uri="{FF2B5EF4-FFF2-40B4-BE49-F238E27FC236}">
                <a16:creationId xmlns:a16="http://schemas.microsoft.com/office/drawing/2014/main" xmlns="" id="{D867A956-E0B9-451D-B363-2F9212B4D8CD}"/>
              </a:ext>
            </a:extLst>
          </p:cNvPr>
          <p:cNvSpPr>
            <a:spLocks noGrp="1" noChangeArrowheads="1"/>
          </p:cNvSpPr>
          <p:nvPr>
            <p:ph type="body" idx="1"/>
          </p:nvPr>
        </p:nvSpPr>
        <p:spPr/>
        <p:txBody>
          <a:bodyPr vert="horz" lIns="90488" tIns="44450" rIns="90488" bIns="44450" rtlCol="0">
            <a:normAutofit/>
          </a:bodyPr>
          <a:lstStyle/>
          <a:p>
            <a:r>
              <a:rPr lang="en-GB" altLang="en-US" dirty="0">
                <a:latin typeface="Arial" panose="020B0604020202020204" pitchFamily="34" charset="0"/>
                <a:ea typeface="ＭＳ Ｐゴシック" panose="020B0600070205080204" pitchFamily="34" charset="-128"/>
              </a:rPr>
              <a:t>To review the global logical data model with the users to ensure that they consider the model to be a true representation of the data requirements of an enterprise.</a:t>
            </a:r>
          </a:p>
        </p:txBody>
      </p:sp>
      <p:sp>
        <p:nvSpPr>
          <p:cNvPr id="32773" name="Text Box 4">
            <a:extLst>
              <a:ext uri="{FF2B5EF4-FFF2-40B4-BE49-F238E27FC236}">
                <a16:creationId xmlns:a16="http://schemas.microsoft.com/office/drawing/2014/main" xmlns="" id="{1F5D1254-CD64-4277-BC53-DFD840A10B83}"/>
              </a:ext>
            </a:extLst>
          </p:cNvPr>
          <p:cNvSpPr txBox="1">
            <a:spLocks noChangeArrowheads="1"/>
          </p:cNvSpPr>
          <p:nvPr/>
        </p:nvSpPr>
        <p:spPr bwMode="auto">
          <a:xfrm>
            <a:off x="4648200" y="6400800"/>
            <a:ext cx="3200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1200"/>
              <a:t>   </a:t>
            </a:r>
            <a:endParaRPr lang="en-GB" altLang="en-US" sz="120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31202D-7852-4C85-8889-08095249D146}"/>
              </a:ext>
            </a:extLst>
          </p:cNvPr>
          <p:cNvSpPr>
            <a:spLocks noGrp="1"/>
          </p:cNvSpPr>
          <p:nvPr>
            <p:ph type="title"/>
          </p:nvPr>
        </p:nvSpPr>
        <p:spPr/>
        <p:txBody>
          <a:bodyPr/>
          <a:lstStyle/>
          <a:p>
            <a:pPr algn="ctr"/>
            <a:r>
              <a:rPr lang="en-US" b="1" dirty="0"/>
              <a:t>References</a:t>
            </a:r>
          </a:p>
        </p:txBody>
      </p:sp>
      <p:sp>
        <p:nvSpPr>
          <p:cNvPr id="3" name="Content Placeholder 2">
            <a:extLst>
              <a:ext uri="{FF2B5EF4-FFF2-40B4-BE49-F238E27FC236}">
                <a16:creationId xmlns:a16="http://schemas.microsoft.com/office/drawing/2014/main" xmlns="" id="{63A80AC8-69B3-4689-A186-EE34B35C491C}"/>
              </a:ext>
            </a:extLst>
          </p:cNvPr>
          <p:cNvSpPr>
            <a:spLocks noGrp="1"/>
          </p:cNvSpPr>
          <p:nvPr>
            <p:ph idx="1"/>
          </p:nvPr>
        </p:nvSpPr>
        <p:spPr/>
        <p:txBody>
          <a:bodyPr/>
          <a:lstStyle/>
          <a:p>
            <a:r>
              <a:rPr lang="en-US" dirty="0"/>
              <a:t>Database Systems A Practical Approach to Design, Implementation and Management by  Thomas Connolly and Carolyn </a:t>
            </a:r>
            <a:r>
              <a:rPr lang="en-US" dirty="0" err="1"/>
              <a:t>Begg</a:t>
            </a:r>
            <a:r>
              <a:rPr lang="en-US" dirty="0"/>
              <a:t>, Sixth Edition, Pearson, Chapter 17</a:t>
            </a:r>
          </a:p>
        </p:txBody>
      </p:sp>
      <p:sp>
        <p:nvSpPr>
          <p:cNvPr id="5" name="Slide Number Placeholder 4">
            <a:extLst>
              <a:ext uri="{FF2B5EF4-FFF2-40B4-BE49-F238E27FC236}">
                <a16:creationId xmlns:a16="http://schemas.microsoft.com/office/drawing/2014/main" xmlns="" id="{A8369B31-20A4-4EE2-925F-7407C6C08BF5}"/>
              </a:ext>
            </a:extLst>
          </p:cNvPr>
          <p:cNvSpPr>
            <a:spLocks noGrp="1"/>
          </p:cNvSpPr>
          <p:nvPr>
            <p:ph type="sldNum" sz="quarter" idx="12"/>
          </p:nvPr>
        </p:nvSpPr>
        <p:spPr/>
        <p:txBody>
          <a:bodyPr/>
          <a:lstStyle/>
          <a:p>
            <a:fld id="{FF69F5DB-05DA-4FD9-BCC0-5C97A39B7003}" type="slidenum">
              <a:rPr lang="en-US" smtClean="0"/>
              <a:t>17</a:t>
            </a:fld>
            <a:endParaRPr lang="en-US"/>
          </a:p>
        </p:txBody>
      </p:sp>
    </p:spTree>
    <p:extLst>
      <p:ext uri="{BB962C8B-B14F-4D97-AF65-F5344CB8AC3E}">
        <p14:creationId xmlns:p14="http://schemas.microsoft.com/office/powerpoint/2010/main" val="1692319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411</TotalTime>
  <Words>1556</Words>
  <Application>Microsoft Office PowerPoint</Application>
  <PresentationFormat>Widescreen</PresentationFormat>
  <Paragraphs>156</Paragraphs>
  <Slides>17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ＭＳ Ｐゴシック</vt:lpstr>
      <vt:lpstr>Arial</vt:lpstr>
      <vt:lpstr>Calibri</vt:lpstr>
      <vt:lpstr>Calibri Light</vt:lpstr>
      <vt:lpstr>Monotype Sorts</vt:lpstr>
      <vt:lpstr>Times New Roman</vt:lpstr>
      <vt:lpstr>Office Theme</vt:lpstr>
      <vt:lpstr>Database Design and Implementation</vt:lpstr>
      <vt:lpstr>Learning Outcomes</vt:lpstr>
      <vt:lpstr>Agenda</vt:lpstr>
      <vt:lpstr>Step 2 Build and Validate Logical Data Model</vt:lpstr>
      <vt:lpstr>Database Design Methodology</vt:lpstr>
      <vt:lpstr>PowerPoint Presentation</vt:lpstr>
      <vt:lpstr>PowerPoint Presentation</vt:lpstr>
      <vt:lpstr>PowerPoint Presentation</vt:lpstr>
      <vt:lpstr>Guidelines for representation of  superclass / subclass relationship</vt:lpstr>
      <vt:lpstr>Representation of  superclass / subclass relationship based on participation and disjointness</vt:lpstr>
      <vt:lpstr>PowerPoint Presentation</vt:lpstr>
      <vt:lpstr>Summary of how to map entities and relationships to relations</vt:lpstr>
      <vt:lpstr>PowerPoint Presentation</vt:lpstr>
      <vt:lpstr>Step 2.6.1 Merge logical data models into a global model</vt:lpstr>
      <vt:lpstr>Step 2.6.2  Validate global logical data model </vt:lpstr>
      <vt:lpstr>Step 2.6.3  Review global logical data model with users</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boharag</dc:creator>
  <cp:lastModifiedBy>Hemuni</cp:lastModifiedBy>
  <cp:revision>161</cp:revision>
  <dcterms:created xsi:type="dcterms:W3CDTF">2019-11-08T16:18:41Z</dcterms:created>
  <dcterms:modified xsi:type="dcterms:W3CDTF">2019-12-19T03:16:20Z</dcterms:modified>
</cp:coreProperties>
</file>