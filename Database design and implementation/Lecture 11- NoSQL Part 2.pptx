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1" r:id="rId1"/>
  </p:sldMasterIdLst>
  <p:notesMasterIdLst>
    <p:notesMasterId r:id="rId44"/>
  </p:notesMasterIdLst>
  <p:sldIdLst>
    <p:sldId id="256" r:id="rId2"/>
    <p:sldId id="528" r:id="rId3"/>
    <p:sldId id="514" r:id="rId4"/>
    <p:sldId id="515" r:id="rId5"/>
    <p:sldId id="516" r:id="rId6"/>
    <p:sldId id="483" r:id="rId7"/>
    <p:sldId id="530" r:id="rId8"/>
    <p:sldId id="531" r:id="rId9"/>
    <p:sldId id="532" r:id="rId10"/>
    <p:sldId id="533" r:id="rId11"/>
    <p:sldId id="534" r:id="rId12"/>
    <p:sldId id="535" r:id="rId13"/>
    <p:sldId id="536" r:id="rId14"/>
    <p:sldId id="537" r:id="rId15"/>
    <p:sldId id="538" r:id="rId16"/>
    <p:sldId id="496" r:id="rId17"/>
    <p:sldId id="500" r:id="rId18"/>
    <p:sldId id="497" r:id="rId19"/>
    <p:sldId id="539" r:id="rId20"/>
    <p:sldId id="498" r:id="rId21"/>
    <p:sldId id="499" r:id="rId22"/>
    <p:sldId id="542" r:id="rId23"/>
    <p:sldId id="543" r:id="rId24"/>
    <p:sldId id="502" r:id="rId25"/>
    <p:sldId id="505" r:id="rId26"/>
    <p:sldId id="506" r:id="rId27"/>
    <p:sldId id="507" r:id="rId28"/>
    <p:sldId id="512" r:id="rId29"/>
    <p:sldId id="524" r:id="rId30"/>
    <p:sldId id="508" r:id="rId31"/>
    <p:sldId id="509" r:id="rId32"/>
    <p:sldId id="501" r:id="rId33"/>
    <p:sldId id="525" r:id="rId34"/>
    <p:sldId id="517" r:id="rId35"/>
    <p:sldId id="518" r:id="rId36"/>
    <p:sldId id="519" r:id="rId37"/>
    <p:sldId id="520" r:id="rId38"/>
    <p:sldId id="521" r:id="rId39"/>
    <p:sldId id="522" r:id="rId40"/>
    <p:sldId id="504" r:id="rId41"/>
    <p:sldId id="540" r:id="rId42"/>
    <p:sldId id="529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E7D0E3-EA98-47E8-BB93-7C6C88FA865D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CBE7E9-C6A7-4EFD-9464-AD6973A906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822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https://www.couchbase.com/resources/why-nosql</a:t>
            </a:r>
          </a:p>
        </p:txBody>
      </p:sp>
    </p:spTree>
    <p:extLst>
      <p:ext uri="{BB962C8B-B14F-4D97-AF65-F5344CB8AC3E}">
        <p14:creationId xmlns:p14="http://schemas.microsoft.com/office/powerpoint/2010/main" val="4091616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https://dataconomy.com/2014/02/tesco-pioneers-big-data/</a:t>
            </a:r>
          </a:p>
        </p:txBody>
      </p:sp>
    </p:spTree>
    <p:extLst>
      <p:ext uri="{BB962C8B-B14F-4D97-AF65-F5344CB8AC3E}">
        <p14:creationId xmlns:p14="http://schemas.microsoft.com/office/powerpoint/2010/main" val="2517292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https://www.3pillarglobal.com/insights/exploring-the-different-types-of-nosql-databases</a:t>
            </a:r>
          </a:p>
        </p:txBody>
      </p:sp>
    </p:spTree>
    <p:extLst>
      <p:ext uri="{BB962C8B-B14F-4D97-AF65-F5344CB8AC3E}">
        <p14:creationId xmlns:p14="http://schemas.microsoft.com/office/powerpoint/2010/main" val="1080482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GB" dirty="0">
              <a:solidFill>
                <a:srgbClr val="009900"/>
              </a:solidFill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93783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 dirty="0" err="1">
                <a:solidFill>
                  <a:srgbClr val="009900"/>
                </a:solidFill>
              </a:rPr>
              <a:t>db.dept.find</a:t>
            </a:r>
            <a:r>
              <a:rPr lang="en-GB" dirty="0">
                <a:solidFill>
                  <a:srgbClr val="009900"/>
                </a:solidFill>
              </a:rPr>
              <a:t>({DNAME:"SALES"}) – DNAME</a:t>
            </a:r>
            <a:r>
              <a:rPr lang="en-GB" baseline="0" dirty="0">
                <a:solidFill>
                  <a:srgbClr val="009900"/>
                </a:solidFill>
              </a:rPr>
              <a:t> in capitals</a:t>
            </a:r>
            <a:endParaRPr lang="en-GB" dirty="0">
              <a:solidFill>
                <a:srgbClr val="009900"/>
              </a:solidFill>
            </a:endParaRPr>
          </a:p>
          <a:p>
            <a:pPr lvl="0"/>
            <a:r>
              <a:rPr lang="en-GB" dirty="0" err="1">
                <a:solidFill>
                  <a:srgbClr val="009900"/>
                </a:solidFill>
              </a:rPr>
              <a:t>db.DEPT.find</a:t>
            </a:r>
            <a:r>
              <a:rPr lang="en-GB" dirty="0">
                <a:solidFill>
                  <a:srgbClr val="009900"/>
                </a:solidFill>
              </a:rPr>
              <a:t>({</a:t>
            </a:r>
            <a:r>
              <a:rPr lang="en-GB" dirty="0" err="1">
                <a:solidFill>
                  <a:srgbClr val="009900"/>
                </a:solidFill>
              </a:rPr>
              <a:t>dname</a:t>
            </a:r>
            <a:r>
              <a:rPr lang="en-GB" dirty="0">
                <a:solidFill>
                  <a:srgbClr val="009900"/>
                </a:solidFill>
              </a:rPr>
              <a:t>:"SALES"}) – DEPT in capitals</a:t>
            </a:r>
          </a:p>
          <a:p>
            <a:pPr lvl="0"/>
            <a:r>
              <a:rPr lang="en-GB" dirty="0" err="1">
                <a:solidFill>
                  <a:srgbClr val="009900"/>
                </a:solidFill>
              </a:rPr>
              <a:t>db.dept.find</a:t>
            </a:r>
            <a:r>
              <a:rPr lang="en-GB" dirty="0">
                <a:solidFill>
                  <a:srgbClr val="009900"/>
                </a:solidFill>
              </a:rPr>
              <a:t>({</a:t>
            </a:r>
            <a:r>
              <a:rPr lang="en-GB" dirty="0" err="1">
                <a:solidFill>
                  <a:srgbClr val="009900"/>
                </a:solidFill>
              </a:rPr>
              <a:t>dname</a:t>
            </a:r>
            <a:r>
              <a:rPr lang="en-GB" dirty="0">
                <a:solidFill>
                  <a:srgbClr val="009900"/>
                </a:solidFill>
              </a:rPr>
              <a:t>:"sales"}) –</a:t>
            </a:r>
            <a:r>
              <a:rPr lang="en-GB" baseline="0" dirty="0">
                <a:solidFill>
                  <a:srgbClr val="009900"/>
                </a:solidFill>
              </a:rPr>
              <a:t> sales in lower case</a:t>
            </a:r>
          </a:p>
          <a:p>
            <a:endParaRPr lang="en-GB" dirty="0"/>
          </a:p>
          <a:p>
            <a:pPr lvl="2"/>
            <a:endParaRPr lang="en-GB" baseline="0" dirty="0">
              <a:solidFill>
                <a:srgbClr val="009900"/>
              </a:solidFill>
            </a:endParaRPr>
          </a:p>
          <a:p>
            <a:pPr lvl="0"/>
            <a:r>
              <a:rPr lang="en-GB" dirty="0" err="1">
                <a:solidFill>
                  <a:srgbClr val="FF0000"/>
                </a:solidFill>
              </a:rPr>
              <a:t>DB.dept.find</a:t>
            </a:r>
            <a:r>
              <a:rPr lang="en-GB" dirty="0">
                <a:solidFill>
                  <a:srgbClr val="FF0000"/>
                </a:solidFill>
              </a:rPr>
              <a:t>({</a:t>
            </a:r>
            <a:r>
              <a:rPr lang="en-GB" dirty="0" err="1">
                <a:solidFill>
                  <a:srgbClr val="FF0000"/>
                </a:solidFill>
              </a:rPr>
              <a:t>dname</a:t>
            </a:r>
            <a:r>
              <a:rPr lang="en-GB" dirty="0">
                <a:solidFill>
                  <a:srgbClr val="FF0000"/>
                </a:solidFill>
              </a:rPr>
              <a:t>:"SALES"}) – DB is not</a:t>
            </a:r>
            <a:r>
              <a:rPr lang="en-GB" baseline="0" dirty="0">
                <a:solidFill>
                  <a:srgbClr val="FF0000"/>
                </a:solidFill>
              </a:rPr>
              <a:t> recognised</a:t>
            </a:r>
            <a:r>
              <a:rPr lang="en-GB" dirty="0">
                <a:solidFill>
                  <a:srgbClr val="FF0000"/>
                </a:solidFill>
              </a:rPr>
              <a:t> </a:t>
            </a:r>
          </a:p>
          <a:p>
            <a:pPr lvl="0"/>
            <a:r>
              <a:rPr lang="en-GB" dirty="0" err="1">
                <a:solidFill>
                  <a:srgbClr val="FF0000"/>
                </a:solidFill>
              </a:rPr>
              <a:t>db.dept.FIND</a:t>
            </a:r>
            <a:r>
              <a:rPr lang="en-GB" dirty="0">
                <a:solidFill>
                  <a:srgbClr val="FF0000"/>
                </a:solidFill>
              </a:rPr>
              <a:t>({</a:t>
            </a:r>
            <a:r>
              <a:rPr lang="en-GB" dirty="0" err="1">
                <a:solidFill>
                  <a:srgbClr val="FF0000"/>
                </a:solidFill>
              </a:rPr>
              <a:t>dname</a:t>
            </a:r>
            <a:r>
              <a:rPr lang="en-GB" dirty="0">
                <a:solidFill>
                  <a:srgbClr val="FF0000"/>
                </a:solidFill>
              </a:rPr>
              <a:t>:"SALES"}) – FIND is not a function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6873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https://docs.mongodb.com/manual/reference/operator/aggregation/#aggregation-pipeline-operator-reference</a:t>
            </a:r>
          </a:p>
        </p:txBody>
      </p:sp>
    </p:spTree>
    <p:extLst>
      <p:ext uri="{BB962C8B-B14F-4D97-AF65-F5344CB8AC3E}">
        <p14:creationId xmlns:p14="http://schemas.microsoft.com/office/powerpoint/2010/main" val="4793951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Can’t use $filter</a:t>
            </a:r>
            <a:r>
              <a:rPr lang="en-GB" baseline="0" dirty="0"/>
              <a:t> by itself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81600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https://docs.mongodb.com/manual/reference/operator/aggregation/</a:t>
            </a:r>
          </a:p>
        </p:txBody>
      </p:sp>
    </p:spTree>
    <p:extLst>
      <p:ext uri="{BB962C8B-B14F-4D97-AF65-F5344CB8AC3E}">
        <p14:creationId xmlns:p14="http://schemas.microsoft.com/office/powerpoint/2010/main" val="25144476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7620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http://www.sanfoundry.com/mongodb-questions-answers-aggregation-pipeline/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47659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https://docs.oracle.com/database/121/ADXDB/json.htm#ADXDB6252</a:t>
            </a:r>
          </a:p>
        </p:txBody>
      </p:sp>
    </p:spTree>
    <p:extLst>
      <p:ext uri="{BB962C8B-B14F-4D97-AF65-F5344CB8AC3E}">
        <p14:creationId xmlns:p14="http://schemas.microsoft.com/office/powerpoint/2010/main" val="1358114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https://www.mapr.com/products/polyglot-persistence</a:t>
            </a:r>
          </a:p>
          <a:p>
            <a:r>
              <a:rPr lang="en-GB" dirty="0"/>
              <a:t>http://www.mohawksoft.org/?q=node/63</a:t>
            </a:r>
          </a:p>
        </p:txBody>
      </p:sp>
    </p:spTree>
    <p:extLst>
      <p:ext uri="{BB962C8B-B14F-4D97-AF65-F5344CB8AC3E}">
        <p14:creationId xmlns:p14="http://schemas.microsoft.com/office/powerpoint/2010/main" val="19524212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http://www.mohawksoft.org/?q=node/63</a:t>
            </a:r>
          </a:p>
          <a:p>
            <a:r>
              <a:rPr lang="en-GB" dirty="0"/>
              <a:t>Also see:</a:t>
            </a:r>
          </a:p>
          <a:p>
            <a:r>
              <a:rPr lang="en-GB" dirty="0"/>
              <a:t>https://asktom.oracle.com/pls/asktom/f?p=100:11:0::::P11_QUESTION_ID:2664632900346253817</a:t>
            </a:r>
          </a:p>
        </p:txBody>
      </p:sp>
    </p:spTree>
    <p:extLst>
      <p:ext uri="{BB962C8B-B14F-4D97-AF65-F5344CB8AC3E}">
        <p14:creationId xmlns:p14="http://schemas.microsoft.com/office/powerpoint/2010/main" val="3230460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CF90A-BC44-4A27-9252-F551650B3531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2B851935-8818-4E39-A7CD-1205CD558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2837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CF90A-BC44-4A27-9252-F551650B3531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51935-8818-4E39-A7CD-1205CD558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529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AC2CF90A-BC44-4A27-9252-F551650B3531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2B851935-8818-4E39-A7CD-1205CD558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3756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CF90A-BC44-4A27-9252-F551650B3531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51935-8818-4E39-A7CD-1205CD558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473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CF90A-BC44-4A27-9252-F551650B3531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51935-8818-4E39-A7CD-1205CD558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718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CF90A-BC44-4A27-9252-F551650B3531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51935-8818-4E39-A7CD-1205CD558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5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CF90A-BC44-4A27-9252-F551650B3531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51935-8818-4E39-A7CD-1205CD558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536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CF90A-BC44-4A27-9252-F551650B3531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51935-8818-4E39-A7CD-1205CD558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9406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CF90A-BC44-4A27-9252-F551650B3531}" type="datetimeFigureOut">
              <a:rPr lang="en-US" smtClean="0"/>
              <a:t>2/4/2020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51935-8818-4E39-A7CD-1205CD558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685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CF90A-BC44-4A27-9252-F551650B3531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51935-8818-4E39-A7CD-1205CD558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285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CF90A-BC44-4A27-9252-F551650B3531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851935-8818-4E39-A7CD-1205CD558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2067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AC2CF90A-BC44-4A27-9252-F551650B3531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2B851935-8818-4E39-A7CD-1205CD558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21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uchbase.com/customers/tesco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ouchbase.com/customers/gannett" TargetMode="External"/><Relationship Id="rId5" Type="http://schemas.openxmlformats.org/officeDocument/2006/relationships/hyperlink" Target="https://diginomica.com/2015/10/07/why-marriott-is-transforming-their-legacy-systems-with-nosql/" TargetMode="External"/><Relationship Id="rId4" Type="http://schemas.openxmlformats.org/officeDocument/2006/relationships/hyperlink" Target="https://www.computerworlduk.com/data/ryanair-invests-in-nosql-mobile-platform-boost-customer-experience-3605335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j.smith@wlv.ac.uk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mongodb/mongodb_query_document.htm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-sharpcorner.com/article/aggregation-pipeline-in-mongodb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ongodb.com/manual/reference/operator/aggregation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ongodb.com/manual/core/aggregation-pipeline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ogrammableweb.com/news/xml-vs.-json-primer/how-to/2013/11/07" TargetMode="External"/><Relationship Id="rId2" Type="http://schemas.openxmlformats.org/officeDocument/2006/relationships/hyperlink" Target="https://www.quora.com/What-are-the-advantages-of-JSON-over-X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3schools.com/js/js_json_xml.asp" TargetMode="External"/><Relationship Id="rId4" Type="http://schemas.openxmlformats.org/officeDocument/2006/relationships/hyperlink" Target="https://www.sitepoint.com/json-vs-xml/" TargetMode="Externa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39A5925-F4BE-467C-8E93-643ADDE918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Lecture 11: </a:t>
            </a:r>
            <a:r>
              <a:rPr lang="en-US" sz="6000" dirty="0">
                <a:solidFill>
                  <a:srgbClr val="00B0F0"/>
                </a:solidFill>
              </a:rPr>
              <a:t>NoSQL Databases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/>
              <a:t>Part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A3157CA-2476-48B5-809B-F7D617F469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4765" y="4360985"/>
            <a:ext cx="7891272" cy="1069848"/>
          </a:xfrm>
        </p:spPr>
        <p:txBody>
          <a:bodyPr>
            <a:normAutofit/>
          </a:bodyPr>
          <a:lstStyle/>
          <a:p>
            <a:r>
              <a:rPr lang="en-US" sz="1800" dirty="0" smtClean="0"/>
              <a:t>Mr. </a:t>
            </a:r>
            <a:r>
              <a:rPr lang="en-US" sz="1800" dirty="0" err="1" smtClean="0"/>
              <a:t>Hemanga</a:t>
            </a:r>
            <a:r>
              <a:rPr lang="en-US" sz="1800" dirty="0" smtClean="0"/>
              <a:t> </a:t>
            </a:r>
            <a:r>
              <a:rPr lang="en-US" sz="1800" dirty="0" err="1" smtClean="0"/>
              <a:t>Gautam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 smtClean="0"/>
              <a:t>hemanga.gautam@heraldcollege.edu.np</a:t>
            </a:r>
          </a:p>
        </p:txBody>
      </p:sp>
    </p:spTree>
    <p:extLst>
      <p:ext uri="{BB962C8B-B14F-4D97-AF65-F5344CB8AC3E}">
        <p14:creationId xmlns:p14="http://schemas.microsoft.com/office/powerpoint/2010/main" val="306639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8130C4E-BEA5-4D65-8D5D-38239BC12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NoSQL</a:t>
            </a:r>
          </a:p>
          <a:p>
            <a:r>
              <a:rPr lang="en-US" dirty="0"/>
              <a:t>MongoDB – Further querying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541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0861" y="0"/>
            <a:ext cx="8229600" cy="739551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Why NoSQL?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2196" y="1268760"/>
            <a:ext cx="11079011" cy="5328592"/>
          </a:xfrm>
        </p:spPr>
        <p:txBody>
          <a:bodyPr>
            <a:normAutofit/>
          </a:bodyPr>
          <a:lstStyle/>
          <a:p>
            <a:r>
              <a:rPr lang="en-US" dirty="0"/>
              <a:t>Modern applications cover the include web, mobile and Internet of Things and have different characteristics to traditional enterprise </a:t>
            </a:r>
            <a:r>
              <a:rPr lang="en-US" dirty="0" smtClean="0"/>
              <a:t>applications.</a:t>
            </a:r>
            <a:endParaRPr lang="en-US" dirty="0"/>
          </a:p>
          <a:p>
            <a:r>
              <a:rPr lang="en-US" dirty="0"/>
              <a:t>They need </a:t>
            </a:r>
            <a:r>
              <a:rPr lang="en-US" dirty="0" smtClean="0"/>
              <a:t>to: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Support large numbers of concurrent users (tens of thousands, perhaps millions)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Deliver </a:t>
            </a:r>
            <a:r>
              <a:rPr lang="en-US" dirty="0">
                <a:solidFill>
                  <a:srgbClr val="FF0000"/>
                </a:solidFill>
              </a:rPr>
              <a:t>highly responsive experiences to a globally distributed base of users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Be always available – no downtime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Handle semi- and unstructured data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Rapidly adapt to changing requirements with frequent updates and new features</a:t>
            </a:r>
          </a:p>
          <a:p>
            <a:r>
              <a:rPr lang="en-GB" dirty="0" smtClean="0"/>
              <a:t>New </a:t>
            </a:r>
            <a:r>
              <a:rPr lang="en-GB" dirty="0"/>
              <a:t>enterprise technology architecture needs to be agile and accommodate unprecedented levels of scale, speed and data variability</a:t>
            </a:r>
          </a:p>
          <a:p>
            <a:r>
              <a:rPr lang="en-GB" dirty="0"/>
              <a:t>Companies are tuning to NoSQL database technology to achieve </a:t>
            </a:r>
            <a:r>
              <a:rPr lang="en-GB" dirty="0" smtClean="0"/>
              <a:t>all of this.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1279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2018" y="0"/>
            <a:ext cx="8229600" cy="883568"/>
          </a:xfrm>
        </p:spPr>
        <p:txBody>
          <a:bodyPr/>
          <a:lstStyle/>
          <a:p>
            <a:pPr algn="ctr"/>
            <a:r>
              <a:rPr lang="en-GB" dirty="0"/>
              <a:t>Who uses NoSQL?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114" y="1250640"/>
            <a:ext cx="11099409" cy="5292824"/>
          </a:xfrm>
        </p:spPr>
        <p:txBody>
          <a:bodyPr>
            <a:normAutofit/>
          </a:bodyPr>
          <a:lstStyle/>
          <a:p>
            <a:r>
              <a:rPr lang="en-GB" dirty="0"/>
              <a:t>Example Global 2000 enterprises that are using NoSQL for mission-critical systems</a:t>
            </a:r>
            <a:r>
              <a:rPr lang="en-GB" dirty="0" smtClean="0"/>
              <a:t>:</a:t>
            </a:r>
            <a:br>
              <a:rPr lang="en-GB" dirty="0" smtClean="0"/>
            </a:br>
            <a:endParaRPr lang="en-GB" dirty="0"/>
          </a:p>
          <a:p>
            <a:pPr lvl="1"/>
            <a:r>
              <a:rPr lang="en-GB" b="1" dirty="0"/>
              <a:t>Tesco</a:t>
            </a:r>
            <a:r>
              <a:rPr lang="en-GB" dirty="0"/>
              <a:t>, Europe’s No.1 retailer, deploys NoSQL for e-commerce, product </a:t>
            </a:r>
            <a:r>
              <a:rPr lang="en-GB" dirty="0" smtClean="0"/>
              <a:t>catalogue, </a:t>
            </a:r>
            <a:r>
              <a:rPr lang="en-GB" dirty="0"/>
              <a:t>and other applications</a:t>
            </a:r>
          </a:p>
          <a:p>
            <a:pPr lvl="2"/>
            <a:r>
              <a:rPr lang="en-GB" dirty="0">
                <a:hlinkClick r:id="rId3"/>
              </a:rPr>
              <a:t>https://www.couchbase.com/customers/tesco</a:t>
            </a:r>
            <a:r>
              <a:rPr lang="en-GB" dirty="0"/>
              <a:t> </a:t>
            </a:r>
          </a:p>
          <a:p>
            <a:pPr lvl="1"/>
            <a:r>
              <a:rPr lang="en-GB" b="1" dirty="0"/>
              <a:t>Ryanair</a:t>
            </a:r>
            <a:r>
              <a:rPr lang="en-GB" dirty="0"/>
              <a:t>, the world’s busiest airline, uses NoSQL to power its mobile app serving over 3 million users</a:t>
            </a:r>
          </a:p>
          <a:p>
            <a:pPr lvl="2"/>
            <a:r>
              <a:rPr lang="en-GB" dirty="0">
                <a:hlinkClick r:id="rId4"/>
              </a:rPr>
              <a:t>https://www.computerworlduk.com/data/ryanair-invests-in-nosql-mobile-platform-boost-customer-experience-3605335/</a:t>
            </a:r>
            <a:r>
              <a:rPr lang="en-GB" dirty="0"/>
              <a:t> </a:t>
            </a:r>
          </a:p>
          <a:p>
            <a:pPr lvl="1"/>
            <a:r>
              <a:rPr lang="en-GB" b="1" dirty="0"/>
              <a:t>Marriott </a:t>
            </a:r>
            <a:r>
              <a:rPr lang="en-GB" dirty="0"/>
              <a:t>deploys NoSQL for its reservation system that books $38 billion annually</a:t>
            </a:r>
          </a:p>
          <a:p>
            <a:pPr lvl="2"/>
            <a:r>
              <a:rPr lang="en-GB" dirty="0">
                <a:hlinkClick r:id="rId5"/>
              </a:rPr>
              <a:t>https://diginomica.com/2015/10/07/why-marriott-is-transforming-their-legacy-systems-with-nosql/</a:t>
            </a:r>
            <a:r>
              <a:rPr lang="en-GB" dirty="0"/>
              <a:t> </a:t>
            </a:r>
          </a:p>
          <a:p>
            <a:pPr lvl="1"/>
            <a:r>
              <a:rPr lang="en-GB" b="1" dirty="0"/>
              <a:t>Gannett</a:t>
            </a:r>
            <a:r>
              <a:rPr lang="en-GB" dirty="0"/>
              <a:t>, the No.1 U.S. newspaper publisher, uses NoSQL for its proprietary content management system, Presto</a:t>
            </a:r>
          </a:p>
          <a:p>
            <a:pPr lvl="2"/>
            <a:r>
              <a:rPr lang="en-GB" dirty="0">
                <a:hlinkClick r:id="rId6"/>
              </a:rPr>
              <a:t>https://www.couchbase.com/customers/gannett</a:t>
            </a:r>
            <a:r>
              <a:rPr lang="en-GB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5248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/>
          <a:lstStyle/>
          <a:p>
            <a:pPr algn="ctr"/>
            <a:r>
              <a:rPr lang="en-GB" dirty="0"/>
              <a:t>NoSQL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1609344"/>
            <a:ext cx="10058400" cy="4050792"/>
          </a:xfrm>
        </p:spPr>
        <p:txBody>
          <a:bodyPr>
            <a:normAutofit/>
          </a:bodyPr>
          <a:lstStyle/>
          <a:p>
            <a:r>
              <a:rPr lang="en-GB" sz="2400" dirty="0"/>
              <a:t>Unlike relational databases there are 4 different flavours of NoSQL</a:t>
            </a:r>
          </a:p>
          <a:p>
            <a:pPr lvl="1"/>
            <a:r>
              <a:rPr lang="en-GB" sz="2000" dirty="0">
                <a:solidFill>
                  <a:srgbClr val="00B050"/>
                </a:solidFill>
              </a:rPr>
              <a:t>Key-value store</a:t>
            </a:r>
          </a:p>
          <a:p>
            <a:pPr lvl="1"/>
            <a:r>
              <a:rPr lang="en-GB" sz="2000" dirty="0">
                <a:solidFill>
                  <a:srgbClr val="00B050"/>
                </a:solidFill>
              </a:rPr>
              <a:t>Document-based store</a:t>
            </a:r>
          </a:p>
          <a:p>
            <a:pPr lvl="1"/>
            <a:r>
              <a:rPr lang="en-GB" sz="2000" dirty="0">
                <a:solidFill>
                  <a:srgbClr val="00B050"/>
                </a:solidFill>
              </a:rPr>
              <a:t>Column-based store</a:t>
            </a:r>
          </a:p>
          <a:p>
            <a:pPr lvl="1"/>
            <a:r>
              <a:rPr lang="en-GB" sz="2000" dirty="0">
                <a:solidFill>
                  <a:srgbClr val="00B050"/>
                </a:solidFill>
              </a:rPr>
              <a:t>Graph-based</a:t>
            </a:r>
          </a:p>
          <a:p>
            <a:r>
              <a:rPr lang="en-US" sz="2400" dirty="0" err="1"/>
              <a:t>Couchbase</a:t>
            </a:r>
            <a:r>
              <a:rPr lang="en-US" sz="2400" dirty="0"/>
              <a:t> and MongoDB are some of the most popular document based </a:t>
            </a:r>
            <a:r>
              <a:rPr lang="en-US" sz="2400" dirty="0" smtClean="0"/>
              <a:t>databases</a:t>
            </a:r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8204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7107" y="-29981"/>
            <a:ext cx="8229600" cy="82395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MongoDB Reminder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96752"/>
            <a:ext cx="8229600" cy="5184576"/>
          </a:xfrm>
        </p:spPr>
        <p:txBody>
          <a:bodyPr>
            <a:normAutofit fontScale="55000" lnSpcReduction="20000"/>
          </a:bodyPr>
          <a:lstStyle/>
          <a:p>
            <a:r>
              <a:rPr lang="en-GB" sz="3800" dirty="0">
                <a:solidFill>
                  <a:srgbClr val="0033CC"/>
                </a:solidFill>
              </a:rPr>
              <a:t>Document</a:t>
            </a:r>
          </a:p>
          <a:p>
            <a:pPr lvl="1"/>
            <a:r>
              <a:rPr lang="en-GB" sz="2900" dirty="0"/>
              <a:t>A document is a set of key-value pairs: </a:t>
            </a:r>
          </a:p>
          <a:p>
            <a:pPr marL="274320" lvl="1" indent="0">
              <a:buNone/>
            </a:pPr>
            <a:r>
              <a:rPr lang="en-GB" sz="2900" dirty="0">
                <a:solidFill>
                  <a:srgbClr val="0033CC"/>
                </a:solidFill>
              </a:rPr>
              <a:t>	{	</a:t>
            </a:r>
          </a:p>
          <a:p>
            <a:pPr marL="274320" lvl="1" indent="0">
              <a:buNone/>
            </a:pPr>
            <a:r>
              <a:rPr lang="en-GB" sz="2900" dirty="0">
                <a:solidFill>
                  <a:srgbClr val="0033CC"/>
                </a:solidFill>
              </a:rPr>
              <a:t>		</a:t>
            </a:r>
            <a:r>
              <a:rPr lang="en-GB" sz="2900" dirty="0" err="1">
                <a:solidFill>
                  <a:srgbClr val="0033CC"/>
                </a:solidFill>
              </a:rPr>
              <a:t>studentno</a:t>
            </a:r>
            <a:r>
              <a:rPr lang="en-GB" sz="2900" dirty="0">
                <a:solidFill>
                  <a:srgbClr val="0033CC"/>
                </a:solidFill>
              </a:rPr>
              <a:t>: 	1712345,</a:t>
            </a:r>
          </a:p>
          <a:p>
            <a:pPr marL="274320" lvl="1" indent="0">
              <a:buNone/>
            </a:pPr>
            <a:r>
              <a:rPr lang="en-GB" sz="2900" dirty="0">
                <a:solidFill>
                  <a:srgbClr val="0033CC"/>
                </a:solidFill>
              </a:rPr>
              <a:t>		</a:t>
            </a:r>
            <a:r>
              <a:rPr lang="en-GB" sz="2900" dirty="0" err="1">
                <a:solidFill>
                  <a:srgbClr val="0033CC"/>
                </a:solidFill>
              </a:rPr>
              <a:t>studentName</a:t>
            </a:r>
            <a:r>
              <a:rPr lang="en-GB" sz="2900" dirty="0">
                <a:solidFill>
                  <a:srgbClr val="0033CC"/>
                </a:solidFill>
              </a:rPr>
              <a:t>: 	“Anton Du </a:t>
            </a:r>
            <a:r>
              <a:rPr lang="en-GB" sz="2900" dirty="0" err="1">
                <a:solidFill>
                  <a:srgbClr val="0033CC"/>
                </a:solidFill>
              </a:rPr>
              <a:t>Beke</a:t>
            </a:r>
            <a:r>
              <a:rPr lang="en-GB" sz="2900" dirty="0">
                <a:solidFill>
                  <a:srgbClr val="0033CC"/>
                </a:solidFill>
              </a:rPr>
              <a:t>”,</a:t>
            </a:r>
          </a:p>
          <a:p>
            <a:pPr marL="274320" lvl="1" indent="0">
              <a:buNone/>
            </a:pPr>
            <a:r>
              <a:rPr lang="en-GB" sz="2900" dirty="0">
                <a:solidFill>
                  <a:srgbClr val="0033CC"/>
                </a:solidFill>
              </a:rPr>
              <a:t>		email:		</a:t>
            </a:r>
            <a:r>
              <a:rPr lang="en-GB" sz="2900" dirty="0">
                <a:solidFill>
                  <a:srgbClr val="0033CC"/>
                </a:solidFill>
                <a:hlinkClick r:id="rId2"/>
              </a:rPr>
              <a:t>“a.dubeke@wlv.ac.uk</a:t>
            </a:r>
            <a:r>
              <a:rPr lang="en-GB" sz="2900" dirty="0">
                <a:solidFill>
                  <a:srgbClr val="0033CC"/>
                </a:solidFill>
              </a:rPr>
              <a:t>”</a:t>
            </a:r>
          </a:p>
          <a:p>
            <a:pPr marL="274320" lvl="1" indent="0">
              <a:buNone/>
            </a:pPr>
            <a:r>
              <a:rPr lang="en-GB" sz="2900" dirty="0">
                <a:solidFill>
                  <a:srgbClr val="0033CC"/>
                </a:solidFill>
              </a:rPr>
              <a:t>	}</a:t>
            </a:r>
          </a:p>
          <a:p>
            <a:pPr lvl="1"/>
            <a:r>
              <a:rPr lang="en-GB" sz="2900" dirty="0"/>
              <a:t>Documents have a dynamic schema, which means that documents in the same collection do not need to have the same set of columns or structure. </a:t>
            </a:r>
          </a:p>
          <a:p>
            <a:pPr marL="274320" lvl="1" indent="0">
              <a:buNone/>
            </a:pPr>
            <a:r>
              <a:rPr lang="en-GB" sz="2900" dirty="0">
                <a:solidFill>
                  <a:srgbClr val="0033CC"/>
                </a:solidFill>
              </a:rPr>
              <a:t>	{	</a:t>
            </a:r>
          </a:p>
          <a:p>
            <a:pPr marL="274320" lvl="1" indent="0">
              <a:buNone/>
            </a:pPr>
            <a:r>
              <a:rPr lang="en-GB" sz="2900" dirty="0">
                <a:solidFill>
                  <a:srgbClr val="0033CC"/>
                </a:solidFill>
              </a:rPr>
              <a:t>		</a:t>
            </a:r>
            <a:r>
              <a:rPr lang="en-GB" sz="2900" dirty="0" err="1">
                <a:solidFill>
                  <a:srgbClr val="0033CC"/>
                </a:solidFill>
              </a:rPr>
              <a:t>studentno</a:t>
            </a:r>
            <a:r>
              <a:rPr lang="en-GB" sz="2900" dirty="0">
                <a:solidFill>
                  <a:srgbClr val="0033CC"/>
                </a:solidFill>
              </a:rPr>
              <a:t>: 	1754321,</a:t>
            </a:r>
          </a:p>
          <a:p>
            <a:pPr marL="274320" lvl="1" indent="0">
              <a:buNone/>
            </a:pPr>
            <a:r>
              <a:rPr lang="en-GB" sz="2900" dirty="0">
                <a:solidFill>
                  <a:srgbClr val="0033CC"/>
                </a:solidFill>
              </a:rPr>
              <a:t>		</a:t>
            </a:r>
            <a:r>
              <a:rPr lang="en-GB" sz="2900" dirty="0" err="1">
                <a:solidFill>
                  <a:srgbClr val="0033CC"/>
                </a:solidFill>
              </a:rPr>
              <a:t>studentName</a:t>
            </a:r>
            <a:r>
              <a:rPr lang="en-GB" sz="2900" dirty="0">
                <a:solidFill>
                  <a:srgbClr val="0033CC"/>
                </a:solidFill>
              </a:rPr>
              <a:t>: 	“Susan </a:t>
            </a:r>
            <a:r>
              <a:rPr lang="en-GB" sz="2900" dirty="0" err="1">
                <a:solidFill>
                  <a:srgbClr val="0033CC"/>
                </a:solidFill>
              </a:rPr>
              <a:t>Calman</a:t>
            </a:r>
            <a:r>
              <a:rPr lang="en-GB" sz="2900" dirty="0">
                <a:solidFill>
                  <a:srgbClr val="0033CC"/>
                </a:solidFill>
              </a:rPr>
              <a:t>”,</a:t>
            </a:r>
          </a:p>
          <a:p>
            <a:pPr marL="274320" lvl="1" indent="0">
              <a:buNone/>
            </a:pPr>
            <a:r>
              <a:rPr lang="en-GB" sz="2900" dirty="0">
                <a:solidFill>
                  <a:srgbClr val="0033CC"/>
                </a:solidFill>
              </a:rPr>
              <a:t>		dob:		“11-APRIL-1999”</a:t>
            </a:r>
          </a:p>
          <a:p>
            <a:pPr marL="274320" lvl="1" indent="0">
              <a:buNone/>
            </a:pPr>
            <a:r>
              <a:rPr lang="en-GB" sz="2900" dirty="0">
                <a:solidFill>
                  <a:srgbClr val="0033CC"/>
                </a:solidFill>
              </a:rPr>
              <a:t>		email:		</a:t>
            </a:r>
            <a:r>
              <a:rPr lang="en-GB" sz="2900" dirty="0">
                <a:solidFill>
                  <a:srgbClr val="0033CC"/>
                </a:solidFill>
                <a:hlinkClick r:id="rId2"/>
              </a:rPr>
              <a:t>“s.calman@wlv.ac.uk</a:t>
            </a:r>
            <a:r>
              <a:rPr lang="en-GB" sz="2900" dirty="0">
                <a:solidFill>
                  <a:srgbClr val="0033CC"/>
                </a:solidFill>
              </a:rPr>
              <a:t>”</a:t>
            </a:r>
          </a:p>
          <a:p>
            <a:pPr marL="274320" lvl="1" indent="0">
              <a:buNone/>
            </a:pPr>
            <a:r>
              <a:rPr lang="en-GB" sz="2900" dirty="0">
                <a:solidFill>
                  <a:srgbClr val="0033CC"/>
                </a:solidFill>
              </a:rPr>
              <a:t>	}</a:t>
            </a:r>
          </a:p>
          <a:p>
            <a:pPr lvl="1"/>
            <a:r>
              <a:rPr lang="en-GB" sz="2900" dirty="0"/>
              <a:t>Common fields in a collection's documents may hold different types of data too.</a:t>
            </a:r>
          </a:p>
          <a:p>
            <a:pPr marL="274320" lvl="1" indent="0">
              <a:buNone/>
            </a:pPr>
            <a:r>
              <a:rPr lang="en-GB" sz="2900" dirty="0">
                <a:solidFill>
                  <a:srgbClr val="0033CC"/>
                </a:solidFill>
              </a:rPr>
              <a:t>	{	</a:t>
            </a:r>
          </a:p>
          <a:p>
            <a:pPr marL="274320" lvl="1" indent="0">
              <a:buNone/>
            </a:pPr>
            <a:r>
              <a:rPr lang="en-GB" sz="2900" dirty="0">
                <a:solidFill>
                  <a:srgbClr val="0033CC"/>
                </a:solidFill>
              </a:rPr>
              <a:t>		</a:t>
            </a:r>
            <a:r>
              <a:rPr lang="en-GB" sz="2900" dirty="0" err="1">
                <a:solidFill>
                  <a:srgbClr val="0033CC"/>
                </a:solidFill>
              </a:rPr>
              <a:t>studentno</a:t>
            </a:r>
            <a:r>
              <a:rPr lang="en-GB" sz="2900" dirty="0">
                <a:solidFill>
                  <a:srgbClr val="0033CC"/>
                </a:solidFill>
              </a:rPr>
              <a:t>: 	1754321,</a:t>
            </a:r>
          </a:p>
          <a:p>
            <a:pPr marL="274320" lvl="1" indent="0">
              <a:buNone/>
            </a:pPr>
            <a:r>
              <a:rPr lang="en-GB" sz="2900" dirty="0">
                <a:solidFill>
                  <a:srgbClr val="0033CC"/>
                </a:solidFill>
              </a:rPr>
              <a:t>		</a:t>
            </a:r>
            <a:r>
              <a:rPr lang="en-GB" sz="2900" dirty="0" err="1">
                <a:solidFill>
                  <a:srgbClr val="0033CC"/>
                </a:solidFill>
              </a:rPr>
              <a:t>studentName</a:t>
            </a:r>
            <a:r>
              <a:rPr lang="en-GB" sz="2900" dirty="0">
                <a:solidFill>
                  <a:srgbClr val="0033CC"/>
                </a:solidFill>
              </a:rPr>
              <a:t>: 	{ </a:t>
            </a:r>
            <a:r>
              <a:rPr lang="en-GB" sz="2900" dirty="0" err="1">
                <a:solidFill>
                  <a:srgbClr val="0033CC"/>
                </a:solidFill>
              </a:rPr>
              <a:t>firstName</a:t>
            </a:r>
            <a:r>
              <a:rPr lang="en-GB" sz="2900" dirty="0">
                <a:solidFill>
                  <a:srgbClr val="0033CC"/>
                </a:solidFill>
              </a:rPr>
              <a:t>: “Kevin”, surname: “Clifton” },</a:t>
            </a:r>
          </a:p>
          <a:p>
            <a:pPr marL="274320" lvl="1" indent="0">
              <a:buNone/>
            </a:pPr>
            <a:r>
              <a:rPr lang="en-GB" sz="2900" dirty="0">
                <a:solidFill>
                  <a:srgbClr val="0033CC"/>
                </a:solidFill>
              </a:rPr>
              <a:t>		email:		</a:t>
            </a:r>
            <a:r>
              <a:rPr lang="en-GB" sz="2900" dirty="0">
                <a:solidFill>
                  <a:srgbClr val="0033CC"/>
                </a:solidFill>
                <a:hlinkClick r:id="rId2"/>
              </a:rPr>
              <a:t>“k.clifton@wlv.ac.uk</a:t>
            </a:r>
            <a:r>
              <a:rPr lang="en-GB" sz="2900" dirty="0">
                <a:solidFill>
                  <a:srgbClr val="0033CC"/>
                </a:solidFill>
              </a:rPr>
              <a:t>”</a:t>
            </a:r>
          </a:p>
          <a:p>
            <a:pPr marL="274320" lvl="1" indent="0">
              <a:buNone/>
            </a:pPr>
            <a:r>
              <a:rPr lang="en-GB" sz="2900" dirty="0">
                <a:solidFill>
                  <a:srgbClr val="0033CC"/>
                </a:solidFill>
              </a:rPr>
              <a:t>	}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5" name="Line Callout 1 4"/>
          <p:cNvSpPr/>
          <p:nvPr/>
        </p:nvSpPr>
        <p:spPr>
          <a:xfrm>
            <a:off x="2351584" y="2248653"/>
            <a:ext cx="576064" cy="388259"/>
          </a:xfrm>
          <a:prstGeom prst="borderCallout1">
            <a:avLst>
              <a:gd name="adj1" fmla="val 51430"/>
              <a:gd name="adj2" fmla="val 115385"/>
              <a:gd name="adj3" fmla="val -4215"/>
              <a:gd name="adj4" fmla="val 26045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key</a:t>
            </a:r>
          </a:p>
        </p:txBody>
      </p:sp>
      <p:sp>
        <p:nvSpPr>
          <p:cNvPr id="6" name="Line Callout 1 5"/>
          <p:cNvSpPr/>
          <p:nvPr/>
        </p:nvSpPr>
        <p:spPr>
          <a:xfrm>
            <a:off x="8663450" y="1932572"/>
            <a:ext cx="936104" cy="432048"/>
          </a:xfrm>
          <a:prstGeom prst="borderCallout1">
            <a:avLst>
              <a:gd name="adj1" fmla="val 65436"/>
              <a:gd name="adj2" fmla="val -8333"/>
              <a:gd name="adj3" fmla="val 104719"/>
              <a:gd name="adj4" fmla="val -112852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value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8804931" y="3717032"/>
            <a:ext cx="1431776" cy="432048"/>
          </a:xfrm>
          <a:prstGeom prst="borderCallout1">
            <a:avLst>
              <a:gd name="adj1" fmla="val 65436"/>
              <a:gd name="adj2" fmla="val -8333"/>
              <a:gd name="adj3" fmla="val 114258"/>
              <a:gd name="adj4" fmla="val -9495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DOB is new</a:t>
            </a:r>
          </a:p>
        </p:txBody>
      </p:sp>
      <p:sp>
        <p:nvSpPr>
          <p:cNvPr id="8" name="Line Callout 1 7"/>
          <p:cNvSpPr/>
          <p:nvPr/>
        </p:nvSpPr>
        <p:spPr>
          <a:xfrm>
            <a:off x="1617785" y="5738065"/>
            <a:ext cx="1589511" cy="571255"/>
          </a:xfrm>
          <a:prstGeom prst="borderCallout1">
            <a:avLst>
              <a:gd name="adj1" fmla="val 48958"/>
              <a:gd name="adj2" fmla="val 102492"/>
              <a:gd name="adj3" fmla="val -3000"/>
              <a:gd name="adj4" fmla="val 13936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/>
              <a:t>studentName</a:t>
            </a:r>
            <a:r>
              <a:rPr lang="en-GB" sz="1600" dirty="0"/>
              <a:t> now an </a:t>
            </a:r>
            <a:r>
              <a:rPr lang="en-GB" dirty="0"/>
              <a:t>array</a:t>
            </a:r>
          </a:p>
        </p:txBody>
      </p:sp>
    </p:spTree>
    <p:extLst>
      <p:ext uri="{BB962C8B-B14F-4D97-AF65-F5344CB8AC3E}">
        <p14:creationId xmlns:p14="http://schemas.microsoft.com/office/powerpoint/2010/main" val="846846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40783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Using MongoDB –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1505243"/>
            <a:ext cx="10058400" cy="4666957"/>
          </a:xfrm>
        </p:spPr>
        <p:txBody>
          <a:bodyPr>
            <a:normAutofit/>
          </a:bodyPr>
          <a:lstStyle/>
          <a:p>
            <a:r>
              <a:rPr lang="en-GB" sz="2400" dirty="0"/>
              <a:t>If a collection does not exist, MongoDB will automatically create the collection when you first store data for that collection. </a:t>
            </a:r>
          </a:p>
          <a:p>
            <a:r>
              <a:rPr lang="en-GB" sz="2400" dirty="0" smtClean="0"/>
              <a:t>To </a:t>
            </a:r>
            <a:r>
              <a:rPr lang="en-GB" sz="2400" dirty="0"/>
              <a:t>create a new collection:</a:t>
            </a:r>
          </a:p>
          <a:p>
            <a:pPr marL="514350" lvl="1" indent="0">
              <a:buNone/>
            </a:pPr>
            <a:r>
              <a:rPr lang="en-GB" sz="2000" b="1" dirty="0" err="1">
                <a:solidFill>
                  <a:srgbClr val="0033CC"/>
                </a:solidFill>
              </a:rPr>
              <a:t>db.createCollection</a:t>
            </a:r>
            <a:r>
              <a:rPr lang="en-GB" sz="2000" b="1" dirty="0">
                <a:solidFill>
                  <a:srgbClr val="0033CC"/>
                </a:solidFill>
              </a:rPr>
              <a:t>('</a:t>
            </a:r>
            <a:r>
              <a:rPr lang="en-GB" sz="2000" b="1" dirty="0" err="1">
                <a:solidFill>
                  <a:srgbClr val="0033CC"/>
                </a:solidFill>
              </a:rPr>
              <a:t>depts</a:t>
            </a:r>
            <a:r>
              <a:rPr lang="en-GB" sz="2000" b="1" dirty="0">
                <a:solidFill>
                  <a:srgbClr val="0033CC"/>
                </a:solidFill>
              </a:rPr>
              <a:t>', {max: 20})</a:t>
            </a:r>
          </a:p>
          <a:p>
            <a:pPr lvl="1"/>
            <a:r>
              <a:rPr lang="en-GB" sz="2000" dirty="0"/>
              <a:t>This creates a collection called </a:t>
            </a:r>
            <a:r>
              <a:rPr lang="en-GB" sz="2000" dirty="0" err="1"/>
              <a:t>depts</a:t>
            </a:r>
            <a:r>
              <a:rPr lang="en-GB" sz="2000" dirty="0"/>
              <a:t> that can hold a maximum of 20 documents.</a:t>
            </a:r>
          </a:p>
          <a:p>
            <a:r>
              <a:rPr lang="en-GB" sz="2400" dirty="0"/>
              <a:t>To show what collections you have:</a:t>
            </a:r>
          </a:p>
          <a:p>
            <a:pPr marL="514350" lvl="1" indent="0">
              <a:buNone/>
            </a:pPr>
            <a:r>
              <a:rPr lang="en-GB" sz="2000" b="1" dirty="0">
                <a:solidFill>
                  <a:srgbClr val="0033CC"/>
                </a:solidFill>
              </a:rPr>
              <a:t>show collections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024A64D-D60E-46A1-8647-7B3CAE372470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1779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645" y="0"/>
            <a:ext cx="10058400" cy="71112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Using MongoDB –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114" y="844062"/>
            <a:ext cx="11071274" cy="5328138"/>
          </a:xfrm>
        </p:spPr>
        <p:txBody>
          <a:bodyPr>
            <a:normAutofit/>
          </a:bodyPr>
          <a:lstStyle/>
          <a:p>
            <a:r>
              <a:rPr lang="en-GB" dirty="0"/>
              <a:t>Data is stored as </a:t>
            </a:r>
            <a:r>
              <a:rPr lang="en-GB" dirty="0">
                <a:solidFill>
                  <a:srgbClr val="996633"/>
                </a:solidFill>
              </a:rPr>
              <a:t>BSON</a:t>
            </a:r>
            <a:r>
              <a:rPr lang="en-GB" dirty="0"/>
              <a:t> documents in a collection.</a:t>
            </a:r>
          </a:p>
          <a:p>
            <a:pPr lvl="1"/>
            <a:r>
              <a:rPr lang="en-GB" dirty="0">
                <a:solidFill>
                  <a:srgbClr val="996633"/>
                </a:solidFill>
              </a:rPr>
              <a:t>BSON</a:t>
            </a:r>
            <a:r>
              <a:rPr lang="en-GB" dirty="0"/>
              <a:t> is a binary representation of </a:t>
            </a:r>
            <a:r>
              <a:rPr lang="en-GB" dirty="0">
                <a:solidFill>
                  <a:srgbClr val="996633"/>
                </a:solidFill>
              </a:rPr>
              <a:t>JSON</a:t>
            </a:r>
            <a:r>
              <a:rPr lang="en-GB" dirty="0"/>
              <a:t> documents.</a:t>
            </a:r>
          </a:p>
          <a:p>
            <a:r>
              <a:rPr lang="en-US" dirty="0">
                <a:solidFill>
                  <a:srgbClr val="996633"/>
                </a:solidFill>
              </a:rPr>
              <a:t>JSON</a:t>
            </a:r>
            <a:r>
              <a:rPr lang="en-US" dirty="0"/>
              <a:t> is built on two structures:</a:t>
            </a:r>
          </a:p>
          <a:p>
            <a:pPr lvl="1"/>
            <a:r>
              <a:rPr lang="en-US" dirty="0"/>
              <a:t>A collection of name/value pairs</a:t>
            </a:r>
          </a:p>
          <a:p>
            <a:pPr lvl="1"/>
            <a:r>
              <a:rPr lang="en-US" dirty="0"/>
              <a:t>An ordered list of values, such as an array</a:t>
            </a:r>
          </a:p>
          <a:p>
            <a:r>
              <a:rPr lang="en-GB" dirty="0" smtClean="0"/>
              <a:t>To </a:t>
            </a:r>
            <a:r>
              <a:rPr lang="en-GB" dirty="0"/>
              <a:t>add new data, involves the use of the INSERT command:</a:t>
            </a:r>
          </a:p>
          <a:p>
            <a:pPr marL="914400" lvl="2" indent="0">
              <a:buNone/>
            </a:pPr>
            <a:r>
              <a:rPr lang="en-GB" sz="2200" dirty="0" err="1">
                <a:solidFill>
                  <a:srgbClr val="0033CC"/>
                </a:solidFill>
              </a:rPr>
              <a:t>db.collectionName.insert</a:t>
            </a:r>
            <a:r>
              <a:rPr lang="en-GB" sz="2200" dirty="0">
                <a:solidFill>
                  <a:srgbClr val="0033CC"/>
                </a:solidFill>
              </a:rPr>
              <a:t>( { </a:t>
            </a:r>
          </a:p>
          <a:p>
            <a:pPr marL="914400" lvl="2" indent="0">
              <a:buNone/>
            </a:pPr>
            <a:r>
              <a:rPr lang="en-GB" sz="2200" dirty="0">
                <a:solidFill>
                  <a:srgbClr val="0033CC"/>
                </a:solidFill>
              </a:rPr>
              <a:t>	</a:t>
            </a:r>
            <a:r>
              <a:rPr lang="en-GB" sz="2200" dirty="0">
                <a:solidFill>
                  <a:srgbClr val="FF0000"/>
                </a:solidFill>
              </a:rPr>
              <a:t>key1</a:t>
            </a:r>
            <a:r>
              <a:rPr lang="en-GB" sz="2200" dirty="0">
                <a:solidFill>
                  <a:srgbClr val="0033CC"/>
                </a:solidFill>
              </a:rPr>
              <a:t>: 'value1', </a:t>
            </a:r>
          </a:p>
          <a:p>
            <a:pPr marL="914400" lvl="2" indent="0">
              <a:buNone/>
            </a:pPr>
            <a:r>
              <a:rPr lang="en-GB" sz="2200" dirty="0">
                <a:solidFill>
                  <a:srgbClr val="0033CC"/>
                </a:solidFill>
              </a:rPr>
              <a:t>	</a:t>
            </a:r>
            <a:r>
              <a:rPr lang="en-GB" sz="2200" dirty="0" err="1">
                <a:solidFill>
                  <a:srgbClr val="00B050"/>
                </a:solidFill>
              </a:rPr>
              <a:t>keyN</a:t>
            </a:r>
            <a:r>
              <a:rPr lang="en-GB" sz="2200" dirty="0">
                <a:solidFill>
                  <a:srgbClr val="0033CC"/>
                </a:solidFill>
              </a:rPr>
              <a:t>: </a:t>
            </a:r>
            <a:r>
              <a:rPr lang="en-GB" sz="2200" dirty="0" err="1">
                <a:solidFill>
                  <a:srgbClr val="0033CC"/>
                </a:solidFill>
              </a:rPr>
              <a:t>valueN</a:t>
            </a:r>
            <a:r>
              <a:rPr lang="en-GB" sz="2200" dirty="0">
                <a:solidFill>
                  <a:srgbClr val="0033CC"/>
                </a:solidFill>
              </a:rPr>
              <a:t> } )</a:t>
            </a:r>
          </a:p>
          <a:p>
            <a:r>
              <a:rPr lang="en-GB" dirty="0"/>
              <a:t>This is similar to an INSERT statement in SQL, where the </a:t>
            </a:r>
            <a:r>
              <a:rPr lang="en-GB" dirty="0" err="1"/>
              <a:t>collectionName</a:t>
            </a:r>
            <a:r>
              <a:rPr lang="en-GB" dirty="0"/>
              <a:t> would be the table and the key is the column and the value is the data to be stored.</a:t>
            </a:r>
          </a:p>
          <a:p>
            <a:r>
              <a:rPr lang="en-GB" dirty="0"/>
              <a:t>For example (SQL):</a:t>
            </a:r>
          </a:p>
          <a:p>
            <a:pPr marL="457200" lvl="1" indent="0">
              <a:buNone/>
            </a:pPr>
            <a:r>
              <a:rPr lang="en-GB" b="1" dirty="0">
                <a:solidFill>
                  <a:srgbClr val="7030A0"/>
                </a:solidFill>
              </a:rPr>
              <a:t>INSERT into </a:t>
            </a:r>
            <a:r>
              <a:rPr lang="en-GB" b="1" dirty="0" err="1">
                <a:solidFill>
                  <a:srgbClr val="7030A0"/>
                </a:solidFill>
              </a:rPr>
              <a:t>collectionName</a:t>
            </a:r>
            <a:r>
              <a:rPr lang="en-GB" b="1" dirty="0">
                <a:solidFill>
                  <a:srgbClr val="7030A0"/>
                </a:solidFill>
              </a:rPr>
              <a:t> (</a:t>
            </a:r>
            <a:r>
              <a:rPr lang="en-GB" b="1" dirty="0">
                <a:solidFill>
                  <a:srgbClr val="FF0000"/>
                </a:solidFill>
              </a:rPr>
              <a:t>key1</a:t>
            </a:r>
            <a:r>
              <a:rPr lang="en-GB" b="1" dirty="0">
                <a:solidFill>
                  <a:srgbClr val="7030A0"/>
                </a:solidFill>
              </a:rPr>
              <a:t>, </a:t>
            </a:r>
            <a:r>
              <a:rPr lang="en-GB" b="1" dirty="0" err="1">
                <a:solidFill>
                  <a:srgbClr val="00B050"/>
                </a:solidFill>
              </a:rPr>
              <a:t>keyN</a:t>
            </a:r>
            <a:r>
              <a:rPr lang="en-GB" b="1" dirty="0">
                <a:solidFill>
                  <a:srgbClr val="7030A0"/>
                </a:solidFill>
              </a:rPr>
              <a:t>)</a:t>
            </a:r>
          </a:p>
          <a:p>
            <a:pPr marL="457200" lvl="1" indent="0">
              <a:buNone/>
            </a:pPr>
            <a:r>
              <a:rPr lang="en-GB" b="1" dirty="0">
                <a:solidFill>
                  <a:srgbClr val="7030A0"/>
                </a:solidFill>
              </a:rPr>
              <a:t>VALUES (‘value1’, ‘</a:t>
            </a:r>
            <a:r>
              <a:rPr lang="en-GB" b="1" dirty="0" err="1">
                <a:solidFill>
                  <a:srgbClr val="7030A0"/>
                </a:solidFill>
              </a:rPr>
              <a:t>valueN</a:t>
            </a:r>
            <a:r>
              <a:rPr lang="en-GB" b="1" dirty="0">
                <a:solidFill>
                  <a:srgbClr val="7030A0"/>
                </a:solidFill>
              </a:rPr>
              <a:t>’);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024A64D-D60E-46A1-8647-7B3CAE372470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7152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0"/>
            <a:ext cx="9692640" cy="82999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MongoDB –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098" y="1828800"/>
            <a:ext cx="10856742" cy="4351337"/>
          </a:xfrm>
        </p:spPr>
        <p:txBody>
          <a:bodyPr>
            <a:normAutofit/>
          </a:bodyPr>
          <a:lstStyle/>
          <a:p>
            <a:r>
              <a:rPr lang="en-GB" sz="2000" dirty="0"/>
              <a:t>Unlike the relational model, you do not need to define a schema in advance for our documents, with the equivalent of a CREATE TABLE statement.</a:t>
            </a:r>
          </a:p>
          <a:p>
            <a:r>
              <a:rPr lang="en-GB" sz="2000" dirty="0"/>
              <a:t>In fact </a:t>
            </a:r>
            <a:r>
              <a:rPr lang="en-GB" sz="2000" dirty="0">
                <a:solidFill>
                  <a:srgbClr val="00B0F0"/>
                </a:solidFill>
              </a:rPr>
              <a:t>the structure of the </a:t>
            </a:r>
            <a:r>
              <a:rPr lang="en-GB" sz="2000" dirty="0" smtClean="0">
                <a:solidFill>
                  <a:srgbClr val="00B0F0"/>
                </a:solidFill>
              </a:rPr>
              <a:t>documents </a:t>
            </a:r>
            <a:r>
              <a:rPr lang="en-GB" sz="2000" dirty="0">
                <a:solidFill>
                  <a:srgbClr val="00B0F0"/>
                </a:solidFill>
              </a:rPr>
              <a:t>can change from one document to another</a:t>
            </a:r>
            <a:r>
              <a:rPr lang="en-GB" sz="2000" dirty="0"/>
              <a:t>.</a:t>
            </a:r>
          </a:p>
          <a:p>
            <a:r>
              <a:rPr lang="en-GB" sz="2000" dirty="0">
                <a:solidFill>
                  <a:srgbClr val="00B0F0"/>
                </a:solidFill>
              </a:rPr>
              <a:t>This is why it is referred to as being schema-less</a:t>
            </a:r>
            <a:r>
              <a:rPr lang="en-GB" sz="2000" dirty="0"/>
              <a:t>.</a:t>
            </a:r>
          </a:p>
          <a:p>
            <a:r>
              <a:rPr lang="en-GB" sz="2000" dirty="0"/>
              <a:t>In reality, most collections would contain documents of a  similar type, e.g., a collection of student information.</a:t>
            </a:r>
          </a:p>
          <a:p>
            <a:endParaRPr lang="en-GB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024A64D-D60E-46A1-8647-7B3CAE372470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1110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9680" y="0"/>
            <a:ext cx="9692640" cy="787791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Object 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775" y="1412776"/>
            <a:ext cx="9634025" cy="5292824"/>
          </a:xfrm>
        </p:spPr>
        <p:txBody>
          <a:bodyPr>
            <a:normAutofit/>
          </a:bodyPr>
          <a:lstStyle/>
          <a:p>
            <a:r>
              <a:rPr lang="en-GB" dirty="0"/>
              <a:t>MongoDB creates a unique object id for objects in the database.</a:t>
            </a:r>
          </a:p>
          <a:p>
            <a:r>
              <a:rPr lang="en-GB" dirty="0"/>
              <a:t>For example:</a:t>
            </a:r>
          </a:p>
          <a:p>
            <a:pPr marL="457200" lvl="1" indent="0">
              <a:buNone/>
            </a:pPr>
            <a:r>
              <a:rPr lang="en-GB" b="1" dirty="0" err="1">
                <a:solidFill>
                  <a:srgbClr val="0033CC"/>
                </a:solidFill>
              </a:rPr>
              <a:t>db.dept.find</a:t>
            </a:r>
            <a:r>
              <a:rPr lang="en-GB" b="1" dirty="0" smtClean="0">
                <a:solidFill>
                  <a:srgbClr val="0033CC"/>
                </a:solidFill>
              </a:rPr>
              <a:t>()</a:t>
            </a:r>
            <a:br>
              <a:rPr lang="en-GB" b="1" dirty="0" smtClean="0">
                <a:solidFill>
                  <a:srgbClr val="0033CC"/>
                </a:solidFill>
              </a:rPr>
            </a:br>
            <a:r>
              <a:rPr lang="en-GB" b="1" dirty="0" smtClean="0">
                <a:solidFill>
                  <a:srgbClr val="0033CC"/>
                </a:solidFill>
              </a:rPr>
              <a:t> </a:t>
            </a:r>
            <a:r>
              <a:rPr lang="en-GB" dirty="0" smtClean="0"/>
              <a:t>Will </a:t>
            </a:r>
            <a:r>
              <a:rPr lang="en-GB" dirty="0"/>
              <a:t>show an object id for each department document, along the lines of:</a:t>
            </a:r>
          </a:p>
          <a:p>
            <a:pPr marL="457200" lvl="1" indent="0">
              <a:buNone/>
            </a:pPr>
            <a:r>
              <a:rPr lang="en-GB" sz="2600" dirty="0"/>
              <a:t> </a:t>
            </a:r>
            <a:r>
              <a:rPr lang="en-GB" sz="2600" dirty="0">
                <a:solidFill>
                  <a:srgbClr val="0033CC"/>
                </a:solidFill>
              </a:rPr>
              <a:t>"_id" : </a:t>
            </a:r>
            <a:r>
              <a:rPr lang="en-GB" sz="2600" dirty="0" err="1">
                <a:solidFill>
                  <a:srgbClr val="0033CC"/>
                </a:solidFill>
              </a:rPr>
              <a:t>ObjectId</a:t>
            </a:r>
            <a:r>
              <a:rPr lang="en-GB" sz="2600" dirty="0">
                <a:solidFill>
                  <a:srgbClr val="0033CC"/>
                </a:solidFill>
              </a:rPr>
              <a:t>("58245944d6473dc2e8d23a26")</a:t>
            </a:r>
          </a:p>
          <a:p>
            <a:r>
              <a:rPr lang="en-GB" dirty="0" smtClean="0">
                <a:solidFill>
                  <a:srgbClr val="FF0000"/>
                </a:solidFill>
              </a:rPr>
              <a:t>This </a:t>
            </a:r>
            <a:r>
              <a:rPr lang="en-GB" dirty="0">
                <a:solidFill>
                  <a:srgbClr val="FF0000"/>
                </a:solidFill>
              </a:rPr>
              <a:t>is a system generated, but you can define your own object ids too (like a primary key)</a:t>
            </a:r>
          </a:p>
          <a:p>
            <a:r>
              <a:rPr lang="en-GB" dirty="0"/>
              <a:t>For example:</a:t>
            </a:r>
          </a:p>
          <a:p>
            <a:pPr marL="457200" lvl="1" indent="0">
              <a:buNone/>
            </a:pPr>
            <a:r>
              <a:rPr lang="en-GB" dirty="0" err="1">
                <a:solidFill>
                  <a:srgbClr val="0033CC"/>
                </a:solidFill>
              </a:rPr>
              <a:t>db.projCollection.insert</a:t>
            </a:r>
            <a:r>
              <a:rPr lang="en-GB" dirty="0">
                <a:solidFill>
                  <a:srgbClr val="0033CC"/>
                </a:solidFill>
              </a:rPr>
              <a:t>( { 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0033CC"/>
                </a:solidFill>
              </a:rPr>
              <a:t>  </a:t>
            </a:r>
            <a:r>
              <a:rPr lang="en-GB" b="1" dirty="0">
                <a:solidFill>
                  <a:srgbClr val="0033CC"/>
                </a:solidFill>
              </a:rPr>
              <a:t>_id: 10,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0033CC"/>
                </a:solidFill>
              </a:rPr>
              <a:t>  </a:t>
            </a:r>
            <a:r>
              <a:rPr lang="en-GB" dirty="0" err="1">
                <a:solidFill>
                  <a:srgbClr val="0033CC"/>
                </a:solidFill>
              </a:rPr>
              <a:t>projno</a:t>
            </a:r>
            <a:r>
              <a:rPr lang="en-GB" dirty="0">
                <a:solidFill>
                  <a:srgbClr val="0033CC"/>
                </a:solidFill>
              </a:rPr>
              <a:t>: 110, 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0033CC"/>
                </a:solidFill>
              </a:rPr>
              <a:t>  </a:t>
            </a:r>
            <a:r>
              <a:rPr lang="en-GB" dirty="0" err="1">
                <a:solidFill>
                  <a:srgbClr val="0033CC"/>
                </a:solidFill>
              </a:rPr>
              <a:t>proj_name</a:t>
            </a:r>
            <a:r>
              <a:rPr lang="en-GB" dirty="0">
                <a:solidFill>
                  <a:srgbClr val="0033CC"/>
                </a:solidFill>
              </a:rPr>
              <a:t>: 'Oracle Project',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0033CC"/>
                </a:solidFill>
              </a:rPr>
              <a:t>  budget: 10000  }  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024A64D-D60E-46A1-8647-7B3CAE372470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5128668" y="4426469"/>
            <a:ext cx="4197152" cy="144655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db.projCollection.insert</a:t>
            </a:r>
            <a:r>
              <a:rPr lang="en-US" altLang="en-US" sz="2200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 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2200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projno</a:t>
            </a:r>
            <a:r>
              <a:rPr lang="en-US" altLang="en-US" sz="2200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140,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2200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proj_name</a:t>
            </a:r>
            <a:r>
              <a:rPr lang="en-US" altLang="en-US" sz="2200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'</a:t>
            </a:r>
            <a:r>
              <a:rPr lang="en-US" altLang="en-US" sz="2200" dirty="0" err="1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ObjectId</a:t>
            </a:r>
            <a:r>
              <a:rPr lang="en-US" altLang="en-US" sz="2200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Project',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7030A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budget: 25000 } ) </a:t>
            </a:r>
          </a:p>
        </p:txBody>
      </p:sp>
      <p:sp>
        <p:nvSpPr>
          <p:cNvPr id="9" name="Line Callout 2 8"/>
          <p:cNvSpPr/>
          <p:nvPr/>
        </p:nvSpPr>
        <p:spPr bwMode="auto">
          <a:xfrm>
            <a:off x="8529916" y="5945306"/>
            <a:ext cx="2221904" cy="540296"/>
          </a:xfrm>
          <a:prstGeom prst="borderCallout2">
            <a:avLst>
              <a:gd name="adj1" fmla="val 62204"/>
              <a:gd name="adj2" fmla="val -2772"/>
              <a:gd name="adj3" fmla="val 25611"/>
              <a:gd name="adj4" fmla="val -17779"/>
              <a:gd name="adj5" fmla="val -17861"/>
              <a:gd name="adj6" fmla="val -40549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600" dirty="0">
                <a:latin typeface="Arial" charset="0"/>
              </a:rPr>
              <a:t>Or omitting an _id generates a system id</a:t>
            </a:r>
          </a:p>
        </p:txBody>
      </p:sp>
    </p:spTree>
    <p:extLst>
      <p:ext uri="{BB962C8B-B14F-4D97-AF65-F5344CB8AC3E}">
        <p14:creationId xmlns:p14="http://schemas.microsoft.com/office/powerpoint/2010/main" val="104337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1560" y="-10806"/>
            <a:ext cx="8229600" cy="65937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Collection Example: </a:t>
            </a:r>
            <a:r>
              <a:rPr lang="en-GB" dirty="0" err="1"/>
              <a:t>Dept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281354" y="1187223"/>
            <a:ext cx="8636953" cy="5482137"/>
          </a:xfrm>
        </p:spPr>
        <p:txBody>
          <a:bodyPr>
            <a:normAutofit lnSpcReduction="10000"/>
          </a:bodyPr>
          <a:lstStyle/>
          <a:p>
            <a:r>
              <a:rPr lang="en-GB" sz="2600" dirty="0"/>
              <a:t>To create the equivalent of our </a:t>
            </a:r>
            <a:r>
              <a:rPr lang="en-GB" sz="2600" dirty="0" err="1"/>
              <a:t>Dept</a:t>
            </a:r>
            <a:r>
              <a:rPr lang="en-GB" sz="2600" dirty="0"/>
              <a:t> table:</a:t>
            </a:r>
          </a:p>
          <a:p>
            <a:pPr marL="914400" lvl="2" indent="0">
              <a:buNone/>
            </a:pPr>
            <a:r>
              <a:rPr lang="en-GB" sz="2400" dirty="0" err="1">
                <a:solidFill>
                  <a:srgbClr val="0033CC"/>
                </a:solidFill>
              </a:rPr>
              <a:t>db.dept.insert</a:t>
            </a:r>
            <a:r>
              <a:rPr lang="en-GB" sz="2400" dirty="0">
                <a:solidFill>
                  <a:srgbClr val="0033CC"/>
                </a:solidFill>
              </a:rPr>
              <a:t>( [ </a:t>
            </a:r>
          </a:p>
          <a:p>
            <a:pPr marL="914400" lvl="2" indent="0">
              <a:buNone/>
            </a:pPr>
            <a:r>
              <a:rPr lang="en-GB" sz="2400" dirty="0">
                <a:solidFill>
                  <a:srgbClr val="0033CC"/>
                </a:solidFill>
              </a:rPr>
              <a:t>{</a:t>
            </a:r>
          </a:p>
          <a:p>
            <a:pPr marL="914400" lvl="2" indent="0">
              <a:buNone/>
            </a:pPr>
            <a:r>
              <a:rPr lang="en-GB" sz="2400" dirty="0">
                <a:solidFill>
                  <a:srgbClr val="0033CC"/>
                </a:solidFill>
              </a:rPr>
              <a:t>	_id:		10,</a:t>
            </a:r>
          </a:p>
          <a:p>
            <a:pPr marL="914400" lvl="2" indent="0">
              <a:buNone/>
            </a:pPr>
            <a:r>
              <a:rPr lang="en-GB" sz="2400" dirty="0">
                <a:solidFill>
                  <a:srgbClr val="0033CC"/>
                </a:solidFill>
              </a:rPr>
              <a:t>	</a:t>
            </a:r>
            <a:r>
              <a:rPr lang="en-GB" sz="2400" dirty="0" err="1">
                <a:solidFill>
                  <a:srgbClr val="0033CC"/>
                </a:solidFill>
              </a:rPr>
              <a:t>deptno</a:t>
            </a:r>
            <a:r>
              <a:rPr lang="en-GB" sz="2400" dirty="0">
                <a:solidFill>
                  <a:srgbClr val="0033CC"/>
                </a:solidFill>
              </a:rPr>
              <a:t>:	10,</a:t>
            </a:r>
          </a:p>
          <a:p>
            <a:pPr marL="914400" lvl="2" indent="0">
              <a:buNone/>
            </a:pPr>
            <a:r>
              <a:rPr lang="en-GB" sz="2400" dirty="0">
                <a:solidFill>
                  <a:srgbClr val="0033CC"/>
                </a:solidFill>
              </a:rPr>
              <a:t>	</a:t>
            </a:r>
            <a:r>
              <a:rPr lang="en-GB" sz="2400" dirty="0" err="1">
                <a:solidFill>
                  <a:srgbClr val="0033CC"/>
                </a:solidFill>
              </a:rPr>
              <a:t>dname</a:t>
            </a:r>
            <a:r>
              <a:rPr lang="en-GB" sz="2400" dirty="0">
                <a:solidFill>
                  <a:srgbClr val="0033CC"/>
                </a:solidFill>
              </a:rPr>
              <a:t>:	"ACCOUNTING",</a:t>
            </a:r>
          </a:p>
          <a:p>
            <a:pPr marL="914400" lvl="2" indent="0">
              <a:buNone/>
            </a:pPr>
            <a:r>
              <a:rPr lang="en-GB" sz="2400" dirty="0">
                <a:solidFill>
                  <a:srgbClr val="0033CC"/>
                </a:solidFill>
              </a:rPr>
              <a:t>	</a:t>
            </a:r>
            <a:r>
              <a:rPr lang="en-GB" sz="2400" dirty="0" err="1">
                <a:solidFill>
                  <a:srgbClr val="0033CC"/>
                </a:solidFill>
              </a:rPr>
              <a:t>loc</a:t>
            </a:r>
            <a:r>
              <a:rPr lang="en-GB" sz="2400" dirty="0">
                <a:solidFill>
                  <a:srgbClr val="0033CC"/>
                </a:solidFill>
              </a:rPr>
              <a:t>:		"NEW YORK"</a:t>
            </a:r>
          </a:p>
          <a:p>
            <a:pPr marL="914400" lvl="2" indent="0">
              <a:buNone/>
            </a:pPr>
            <a:r>
              <a:rPr lang="en-GB" sz="2400" dirty="0">
                <a:solidFill>
                  <a:srgbClr val="0033CC"/>
                </a:solidFill>
              </a:rPr>
              <a:t>} ,</a:t>
            </a:r>
          </a:p>
          <a:p>
            <a:pPr marL="914400" lvl="2" indent="0">
              <a:buNone/>
            </a:pPr>
            <a:r>
              <a:rPr lang="en-GB" sz="2400" dirty="0">
                <a:solidFill>
                  <a:srgbClr val="0033CC"/>
                </a:solidFill>
              </a:rPr>
              <a:t>{</a:t>
            </a:r>
          </a:p>
          <a:p>
            <a:pPr marL="914400" lvl="2" indent="0">
              <a:buNone/>
            </a:pPr>
            <a:r>
              <a:rPr lang="en-GB" sz="2400" dirty="0">
                <a:solidFill>
                  <a:srgbClr val="0033CC"/>
                </a:solidFill>
              </a:rPr>
              <a:t>	_id:		20,</a:t>
            </a:r>
          </a:p>
          <a:p>
            <a:pPr marL="914400" lvl="2" indent="0">
              <a:buNone/>
            </a:pPr>
            <a:r>
              <a:rPr lang="en-GB" sz="2400" dirty="0">
                <a:solidFill>
                  <a:srgbClr val="0033CC"/>
                </a:solidFill>
              </a:rPr>
              <a:t>	</a:t>
            </a:r>
            <a:r>
              <a:rPr lang="en-GB" sz="2400" dirty="0" err="1">
                <a:solidFill>
                  <a:srgbClr val="0033CC"/>
                </a:solidFill>
              </a:rPr>
              <a:t>deptno</a:t>
            </a:r>
            <a:r>
              <a:rPr lang="en-GB" sz="2400" dirty="0">
                <a:solidFill>
                  <a:srgbClr val="0033CC"/>
                </a:solidFill>
              </a:rPr>
              <a:t>:	20,</a:t>
            </a:r>
          </a:p>
          <a:p>
            <a:pPr marL="914400" lvl="2" indent="0">
              <a:buNone/>
            </a:pPr>
            <a:r>
              <a:rPr lang="en-GB" sz="2400" dirty="0">
                <a:solidFill>
                  <a:srgbClr val="0033CC"/>
                </a:solidFill>
              </a:rPr>
              <a:t>	</a:t>
            </a:r>
            <a:r>
              <a:rPr lang="en-GB" sz="2400" dirty="0" err="1">
                <a:solidFill>
                  <a:srgbClr val="0033CC"/>
                </a:solidFill>
              </a:rPr>
              <a:t>dname</a:t>
            </a:r>
            <a:r>
              <a:rPr lang="en-GB" sz="2400" dirty="0">
                <a:solidFill>
                  <a:srgbClr val="0033CC"/>
                </a:solidFill>
              </a:rPr>
              <a:t>:	"RESEARCH",</a:t>
            </a:r>
          </a:p>
          <a:p>
            <a:pPr marL="914400" lvl="2" indent="0">
              <a:buNone/>
            </a:pPr>
            <a:r>
              <a:rPr lang="en-GB" sz="2400" dirty="0">
                <a:solidFill>
                  <a:srgbClr val="0033CC"/>
                </a:solidFill>
              </a:rPr>
              <a:t>        	</a:t>
            </a:r>
            <a:r>
              <a:rPr lang="en-GB" sz="2400" dirty="0" err="1">
                <a:solidFill>
                  <a:srgbClr val="0033CC"/>
                </a:solidFill>
              </a:rPr>
              <a:t>loc</a:t>
            </a:r>
            <a:r>
              <a:rPr lang="en-GB" sz="2400" dirty="0">
                <a:solidFill>
                  <a:srgbClr val="0033CC"/>
                </a:solidFill>
              </a:rPr>
              <a:t>:   		"DALLAS"</a:t>
            </a:r>
          </a:p>
          <a:p>
            <a:pPr marL="914400" lvl="2" indent="0">
              <a:buNone/>
            </a:pPr>
            <a:r>
              <a:rPr lang="en-GB" sz="2400" dirty="0">
                <a:solidFill>
                  <a:srgbClr val="0033CC"/>
                </a:solidFill>
              </a:rPr>
              <a:t>] })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024A64D-D60E-46A1-8647-7B3CAE372470}" type="slidenum">
              <a:rPr lang="en-GB" smtClean="0"/>
              <a:pPr/>
              <a:t>11</a:t>
            </a:fld>
            <a:endParaRPr lang="en-GB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3465" y="2318543"/>
            <a:ext cx="2619375" cy="168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ular Callout 6"/>
          <p:cNvSpPr/>
          <p:nvPr/>
        </p:nvSpPr>
        <p:spPr>
          <a:xfrm>
            <a:off x="6888088" y="5377720"/>
            <a:ext cx="2160240" cy="802417"/>
          </a:xfrm>
          <a:prstGeom prst="wedgeRectCallout">
            <a:avLst>
              <a:gd name="adj1" fmla="val -91059"/>
              <a:gd name="adj2" fmla="val -50369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Character data must be in double quotes</a:t>
            </a:r>
          </a:p>
        </p:txBody>
      </p:sp>
      <p:sp>
        <p:nvSpPr>
          <p:cNvPr id="8" name="Line Callout 1 7"/>
          <p:cNvSpPr/>
          <p:nvPr/>
        </p:nvSpPr>
        <p:spPr>
          <a:xfrm>
            <a:off x="281354" y="2406820"/>
            <a:ext cx="1080120" cy="648072"/>
          </a:xfrm>
          <a:prstGeom prst="borderCallout1">
            <a:avLst>
              <a:gd name="adj1" fmla="val 11878"/>
              <a:gd name="adj2" fmla="val 104399"/>
              <a:gd name="adj3" fmla="val 19585"/>
              <a:gd name="adj4" fmla="val 167086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Object identifier</a:t>
            </a:r>
          </a:p>
        </p:txBody>
      </p:sp>
      <p:sp>
        <p:nvSpPr>
          <p:cNvPr id="9" name="Line Callout 1 8"/>
          <p:cNvSpPr/>
          <p:nvPr/>
        </p:nvSpPr>
        <p:spPr>
          <a:xfrm>
            <a:off x="5251694" y="1671251"/>
            <a:ext cx="2421185" cy="612808"/>
          </a:xfrm>
          <a:prstGeom prst="borderCallout1">
            <a:avLst>
              <a:gd name="adj1" fmla="val 41993"/>
              <a:gd name="adj2" fmla="val -17066"/>
              <a:gd name="adj3" fmla="val 36409"/>
              <a:gd name="adj4" fmla="val -69523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Use square brackets to add more than one record</a:t>
            </a:r>
          </a:p>
        </p:txBody>
      </p:sp>
    </p:spTree>
    <p:extLst>
      <p:ext uri="{BB962C8B-B14F-4D97-AF65-F5344CB8AC3E}">
        <p14:creationId xmlns:p14="http://schemas.microsoft.com/office/powerpoint/2010/main" val="2104556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0"/>
            <a:ext cx="9692640" cy="773723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434904"/>
            <a:ext cx="8595360" cy="4351337"/>
          </a:xfrm>
        </p:spPr>
        <p:txBody>
          <a:bodyPr>
            <a:normAutofit/>
          </a:bodyPr>
          <a:lstStyle/>
          <a:p>
            <a:r>
              <a:rPr lang="en-GB" dirty="0"/>
              <a:t>Collections can be queried using the find() method.</a:t>
            </a:r>
          </a:p>
          <a:p>
            <a:r>
              <a:rPr lang="en-GB" dirty="0"/>
              <a:t>The basic syntax is:</a:t>
            </a:r>
          </a:p>
          <a:p>
            <a:pPr marL="857250" lvl="2" indent="0">
              <a:buNone/>
            </a:pPr>
            <a:r>
              <a:rPr lang="en-GB" sz="3000" dirty="0" err="1">
                <a:solidFill>
                  <a:srgbClr val="0033CC"/>
                </a:solidFill>
              </a:rPr>
              <a:t>db.</a:t>
            </a:r>
            <a:r>
              <a:rPr lang="en-GB" sz="3000" b="1" dirty="0" err="1">
                <a:solidFill>
                  <a:srgbClr val="0033CC"/>
                </a:solidFill>
              </a:rPr>
              <a:t>collectionName</a:t>
            </a:r>
            <a:r>
              <a:rPr lang="en-GB" sz="3000" dirty="0" err="1">
                <a:solidFill>
                  <a:srgbClr val="0033CC"/>
                </a:solidFill>
              </a:rPr>
              <a:t>.find</a:t>
            </a:r>
            <a:r>
              <a:rPr lang="en-GB" sz="3000" dirty="0">
                <a:solidFill>
                  <a:srgbClr val="0033CC"/>
                </a:solidFill>
              </a:rPr>
              <a:t>()</a:t>
            </a:r>
          </a:p>
          <a:p>
            <a:r>
              <a:rPr lang="en-GB" dirty="0"/>
              <a:t>This will return the data in an unstructured way. 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  <a:p>
            <a:r>
              <a:rPr lang="en-GB" dirty="0">
                <a:solidFill>
                  <a:srgbClr val="FF0000"/>
                </a:solidFill>
              </a:rPr>
              <a:t>To improve this, use the pretty() method</a:t>
            </a:r>
            <a:r>
              <a:rPr lang="en-GB" dirty="0"/>
              <a:t>:</a:t>
            </a:r>
          </a:p>
          <a:p>
            <a:pPr marL="857250" lvl="3" indent="0">
              <a:buSzPct val="75000"/>
              <a:buNone/>
            </a:pPr>
            <a:r>
              <a:rPr lang="en-GB" sz="3000" dirty="0" err="1">
                <a:solidFill>
                  <a:srgbClr val="0033CC"/>
                </a:solidFill>
              </a:rPr>
              <a:t>db.collectionName.find</a:t>
            </a:r>
            <a:r>
              <a:rPr lang="en-GB" sz="3000" dirty="0">
                <a:solidFill>
                  <a:srgbClr val="0033CC"/>
                </a:solidFill>
              </a:rPr>
              <a:t>().</a:t>
            </a:r>
            <a:r>
              <a:rPr lang="en-GB" sz="3000" b="1" dirty="0">
                <a:solidFill>
                  <a:srgbClr val="0033CC"/>
                </a:solidFill>
              </a:rPr>
              <a:t>pretty()</a:t>
            </a:r>
            <a:endParaRPr lang="en-GB" sz="2800" b="1" dirty="0">
              <a:solidFill>
                <a:srgbClr val="0033CC"/>
              </a:solidFill>
            </a:endParaRPr>
          </a:p>
          <a:p>
            <a:r>
              <a:rPr lang="en-GB" dirty="0"/>
              <a:t>For example:</a:t>
            </a:r>
          </a:p>
          <a:p>
            <a:pPr marL="857250" lvl="2" indent="0">
              <a:buNone/>
            </a:pPr>
            <a:r>
              <a:rPr lang="en-GB" sz="3000" dirty="0" err="1">
                <a:solidFill>
                  <a:srgbClr val="0033CC"/>
                </a:solidFill>
              </a:rPr>
              <a:t>db.dept.find</a:t>
            </a:r>
            <a:r>
              <a:rPr lang="en-GB" sz="3000" dirty="0">
                <a:solidFill>
                  <a:srgbClr val="0033CC"/>
                </a:solidFill>
              </a:rPr>
              <a:t>().pretty()</a:t>
            </a:r>
            <a:endParaRPr lang="en-GB" sz="3000" dirty="0"/>
          </a:p>
          <a:p>
            <a:pPr lvl="1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024A64D-D60E-46A1-8647-7B3CAE372470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1437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9453"/>
            <a:ext cx="8229600" cy="595535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find()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1183" y="1052736"/>
            <a:ext cx="10297550" cy="3672408"/>
          </a:xfrm>
        </p:spPr>
        <p:txBody>
          <a:bodyPr>
            <a:noAutofit/>
          </a:bodyPr>
          <a:lstStyle/>
          <a:p>
            <a:r>
              <a:rPr lang="en-GB" sz="2400" dirty="0">
                <a:solidFill>
                  <a:srgbClr val="996633"/>
                </a:solidFill>
              </a:rPr>
              <a:t>find() </a:t>
            </a:r>
            <a:r>
              <a:rPr lang="en-GB" sz="2400" dirty="0"/>
              <a:t>can also contain parameters to restrict what data is returned</a:t>
            </a:r>
          </a:p>
          <a:p>
            <a:pPr lvl="1"/>
            <a:r>
              <a:rPr lang="en-GB" sz="2000" dirty="0"/>
              <a:t>Similar to the </a:t>
            </a:r>
            <a:r>
              <a:rPr lang="en-GB" sz="2000" dirty="0">
                <a:solidFill>
                  <a:srgbClr val="996633"/>
                </a:solidFill>
              </a:rPr>
              <a:t>WHERE</a:t>
            </a:r>
            <a:r>
              <a:rPr lang="en-GB" sz="2000" dirty="0"/>
              <a:t> part of a SQL </a:t>
            </a:r>
            <a:r>
              <a:rPr lang="en-GB" sz="2000" dirty="0" smtClean="0"/>
              <a:t>statement</a:t>
            </a:r>
            <a:br>
              <a:rPr lang="en-GB" sz="2000" dirty="0" smtClean="0"/>
            </a:br>
            <a:r>
              <a:rPr lang="en-GB" sz="2000" dirty="0" smtClean="0"/>
              <a:t/>
            </a:r>
            <a:br>
              <a:rPr lang="en-GB" sz="2000" dirty="0" smtClean="0"/>
            </a:br>
            <a:endParaRPr lang="en-GB" sz="2000" dirty="0"/>
          </a:p>
          <a:p>
            <a:r>
              <a:rPr lang="en-GB" sz="2400" dirty="0"/>
              <a:t>For example, to find the Sales department details:</a:t>
            </a:r>
          </a:p>
          <a:p>
            <a:pPr marL="457200" lvl="1" indent="0">
              <a:buNone/>
            </a:pPr>
            <a:r>
              <a:rPr lang="en-GB" sz="2000" b="1" dirty="0" err="1">
                <a:solidFill>
                  <a:srgbClr val="0033CC"/>
                </a:solidFill>
              </a:rPr>
              <a:t>db.dept.find</a:t>
            </a:r>
            <a:r>
              <a:rPr lang="en-GB" sz="2000" b="1" dirty="0">
                <a:solidFill>
                  <a:srgbClr val="0033CC"/>
                </a:solidFill>
              </a:rPr>
              <a:t>({</a:t>
            </a:r>
            <a:r>
              <a:rPr lang="en-GB" sz="2000" b="1" dirty="0" err="1">
                <a:solidFill>
                  <a:srgbClr val="0033CC"/>
                </a:solidFill>
              </a:rPr>
              <a:t>dname</a:t>
            </a:r>
            <a:r>
              <a:rPr lang="en-GB" sz="2000" b="1" dirty="0">
                <a:solidFill>
                  <a:srgbClr val="0033CC"/>
                </a:solidFill>
              </a:rPr>
              <a:t>:"SALES"})</a:t>
            </a:r>
          </a:p>
          <a:p>
            <a:r>
              <a:rPr lang="en-GB" sz="2400" dirty="0"/>
              <a:t>Produces:</a:t>
            </a:r>
          </a:p>
          <a:p>
            <a:pPr marL="457200" lvl="1" indent="0">
              <a:buNone/>
            </a:pPr>
            <a:r>
              <a:rPr lang="en-GB" sz="2000" b="1" i="1" dirty="0">
                <a:solidFill>
                  <a:srgbClr val="7030A0"/>
                </a:solidFill>
              </a:rPr>
              <a:t>{ "_id" : 30, "</a:t>
            </a:r>
            <a:r>
              <a:rPr lang="en-GB" sz="2000" b="1" i="1" dirty="0" err="1">
                <a:solidFill>
                  <a:srgbClr val="7030A0"/>
                </a:solidFill>
              </a:rPr>
              <a:t>deptno</a:t>
            </a:r>
            <a:r>
              <a:rPr lang="en-GB" sz="2000" b="1" i="1" dirty="0">
                <a:solidFill>
                  <a:srgbClr val="7030A0"/>
                </a:solidFill>
              </a:rPr>
              <a:t>" : 30, "</a:t>
            </a:r>
            <a:r>
              <a:rPr lang="en-GB" sz="2000" b="1" i="1" dirty="0" err="1">
                <a:solidFill>
                  <a:srgbClr val="FF0000"/>
                </a:solidFill>
              </a:rPr>
              <a:t>dname</a:t>
            </a:r>
            <a:r>
              <a:rPr lang="en-GB" sz="2000" b="1" i="1" dirty="0">
                <a:solidFill>
                  <a:srgbClr val="FF0000"/>
                </a:solidFill>
              </a:rPr>
              <a:t>" : "SALES</a:t>
            </a:r>
            <a:r>
              <a:rPr lang="en-GB" sz="2000" b="1" i="1" dirty="0">
                <a:solidFill>
                  <a:srgbClr val="7030A0"/>
                </a:solidFill>
              </a:rPr>
              <a:t>", "</a:t>
            </a:r>
            <a:r>
              <a:rPr lang="en-GB" sz="2000" b="1" i="1" dirty="0" err="1">
                <a:solidFill>
                  <a:srgbClr val="7030A0"/>
                </a:solidFill>
              </a:rPr>
              <a:t>loc</a:t>
            </a:r>
            <a:r>
              <a:rPr lang="en-GB" sz="2000" b="1" i="1" dirty="0">
                <a:solidFill>
                  <a:srgbClr val="7030A0"/>
                </a:solidFill>
              </a:rPr>
              <a:t>" : "CHICAGO" </a:t>
            </a:r>
            <a:r>
              <a:rPr lang="en-GB" sz="2000" b="1" i="1" dirty="0" smtClean="0">
                <a:solidFill>
                  <a:srgbClr val="7030A0"/>
                </a:solidFill>
              </a:rPr>
              <a:t>}</a:t>
            </a:r>
            <a:br>
              <a:rPr lang="en-GB" sz="2000" b="1" i="1" dirty="0" smtClean="0">
                <a:solidFill>
                  <a:srgbClr val="7030A0"/>
                </a:solidFill>
              </a:rPr>
            </a:br>
            <a:endParaRPr lang="en-GB" sz="2000" b="1" i="1" dirty="0">
              <a:solidFill>
                <a:srgbClr val="7030A0"/>
              </a:solidFill>
            </a:endParaRPr>
          </a:p>
          <a:p>
            <a:r>
              <a:rPr lang="en-GB" sz="2400" dirty="0"/>
              <a:t>Find the employees in department 30:</a:t>
            </a:r>
          </a:p>
          <a:p>
            <a:pPr marL="457200" lvl="1" indent="0">
              <a:buNone/>
            </a:pPr>
            <a:r>
              <a:rPr lang="en-GB" sz="2000" dirty="0" err="1">
                <a:solidFill>
                  <a:srgbClr val="0033CC"/>
                </a:solidFill>
              </a:rPr>
              <a:t>db.emp.find</a:t>
            </a:r>
            <a:r>
              <a:rPr lang="en-GB" sz="2000" dirty="0">
                <a:solidFill>
                  <a:srgbClr val="0033CC"/>
                </a:solidFill>
              </a:rPr>
              <a:t>({deptno:30})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024A64D-D60E-46A1-8647-7B3CAE372470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1390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07"/>
          <a:stretch/>
        </p:blipFill>
        <p:spPr bwMode="auto">
          <a:xfrm>
            <a:off x="615532" y="0"/>
            <a:ext cx="10338980" cy="609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6785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0"/>
            <a:ext cx="9692640" cy="80185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find()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1252025"/>
            <a:ext cx="8595360" cy="4670473"/>
          </a:xfrm>
        </p:spPr>
        <p:txBody>
          <a:bodyPr>
            <a:normAutofit/>
          </a:bodyPr>
          <a:lstStyle/>
          <a:p>
            <a:r>
              <a:rPr lang="en-GB" sz="2400" dirty="0" smtClean="0"/>
              <a:t>Note:   </a:t>
            </a:r>
            <a:r>
              <a:rPr lang="en-GB" sz="2400" b="1" u="sng" dirty="0"/>
              <a:t>everything</a:t>
            </a:r>
            <a:r>
              <a:rPr lang="en-GB" sz="2400" dirty="0"/>
              <a:t> is case sensitive</a:t>
            </a:r>
            <a:r>
              <a:rPr lang="en-GB" sz="2400" dirty="0" smtClean="0"/>
              <a:t>!</a:t>
            </a:r>
            <a:br>
              <a:rPr lang="en-GB" sz="2400" dirty="0" smtClean="0"/>
            </a:br>
            <a:endParaRPr lang="en-GB" sz="2400" dirty="0"/>
          </a:p>
          <a:p>
            <a:pPr lvl="1"/>
            <a:r>
              <a:rPr lang="en-GB" sz="2000" dirty="0"/>
              <a:t>The following will return nothing:</a:t>
            </a:r>
          </a:p>
          <a:p>
            <a:pPr lvl="2"/>
            <a:r>
              <a:rPr lang="en-GB" sz="1800" dirty="0" err="1">
                <a:solidFill>
                  <a:srgbClr val="009900"/>
                </a:solidFill>
              </a:rPr>
              <a:t>db.dept.find</a:t>
            </a:r>
            <a:r>
              <a:rPr lang="en-GB" sz="1800" dirty="0">
                <a:solidFill>
                  <a:srgbClr val="009900"/>
                </a:solidFill>
              </a:rPr>
              <a:t>({</a:t>
            </a:r>
            <a:r>
              <a:rPr lang="en-GB" sz="1800" b="1" u="sng" dirty="0">
                <a:solidFill>
                  <a:srgbClr val="009900"/>
                </a:solidFill>
              </a:rPr>
              <a:t>DNAME</a:t>
            </a:r>
            <a:r>
              <a:rPr lang="en-GB" sz="1800" dirty="0">
                <a:solidFill>
                  <a:srgbClr val="009900"/>
                </a:solidFill>
              </a:rPr>
              <a:t>:"SALES"})</a:t>
            </a:r>
          </a:p>
          <a:p>
            <a:pPr lvl="2"/>
            <a:r>
              <a:rPr lang="en-GB" sz="1800" dirty="0" err="1">
                <a:solidFill>
                  <a:srgbClr val="009900"/>
                </a:solidFill>
              </a:rPr>
              <a:t>db.</a:t>
            </a:r>
            <a:r>
              <a:rPr lang="en-GB" sz="1800" b="1" u="sng" dirty="0" err="1">
                <a:solidFill>
                  <a:srgbClr val="009900"/>
                </a:solidFill>
              </a:rPr>
              <a:t>DEPT</a:t>
            </a:r>
            <a:r>
              <a:rPr lang="en-GB" sz="1800" dirty="0" err="1">
                <a:solidFill>
                  <a:srgbClr val="009900"/>
                </a:solidFill>
              </a:rPr>
              <a:t>.find</a:t>
            </a:r>
            <a:r>
              <a:rPr lang="en-GB" sz="1800" dirty="0">
                <a:solidFill>
                  <a:srgbClr val="009900"/>
                </a:solidFill>
              </a:rPr>
              <a:t>({</a:t>
            </a:r>
            <a:r>
              <a:rPr lang="en-GB" sz="1800" dirty="0" err="1">
                <a:solidFill>
                  <a:srgbClr val="009900"/>
                </a:solidFill>
              </a:rPr>
              <a:t>dname</a:t>
            </a:r>
            <a:r>
              <a:rPr lang="en-GB" sz="1800" dirty="0">
                <a:solidFill>
                  <a:srgbClr val="009900"/>
                </a:solidFill>
              </a:rPr>
              <a:t>:"SALES"})</a:t>
            </a:r>
          </a:p>
          <a:p>
            <a:pPr lvl="2"/>
            <a:r>
              <a:rPr lang="en-GB" sz="1800" dirty="0" err="1">
                <a:solidFill>
                  <a:srgbClr val="009900"/>
                </a:solidFill>
              </a:rPr>
              <a:t>db.dept.find</a:t>
            </a:r>
            <a:r>
              <a:rPr lang="en-GB" sz="1800" dirty="0">
                <a:solidFill>
                  <a:srgbClr val="009900"/>
                </a:solidFill>
              </a:rPr>
              <a:t>({</a:t>
            </a:r>
            <a:r>
              <a:rPr lang="en-GB" sz="1800" dirty="0" err="1">
                <a:solidFill>
                  <a:srgbClr val="009900"/>
                </a:solidFill>
              </a:rPr>
              <a:t>dname</a:t>
            </a:r>
            <a:r>
              <a:rPr lang="en-GB" sz="1800" dirty="0">
                <a:solidFill>
                  <a:srgbClr val="009900"/>
                </a:solidFill>
              </a:rPr>
              <a:t>:"</a:t>
            </a:r>
            <a:r>
              <a:rPr lang="en-GB" sz="1800" b="1" u="sng" dirty="0">
                <a:solidFill>
                  <a:srgbClr val="009900"/>
                </a:solidFill>
              </a:rPr>
              <a:t>sales</a:t>
            </a:r>
            <a:r>
              <a:rPr lang="en-GB" sz="1800" dirty="0" smtClean="0">
                <a:solidFill>
                  <a:srgbClr val="009900"/>
                </a:solidFill>
              </a:rPr>
              <a:t>"})</a:t>
            </a:r>
            <a:br>
              <a:rPr lang="en-GB" sz="1800" dirty="0" smtClean="0">
                <a:solidFill>
                  <a:srgbClr val="009900"/>
                </a:solidFill>
              </a:rPr>
            </a:br>
            <a:endParaRPr lang="en-GB" sz="1800" dirty="0">
              <a:solidFill>
                <a:srgbClr val="009900"/>
              </a:solidFill>
            </a:endParaRPr>
          </a:p>
          <a:p>
            <a:pPr lvl="1"/>
            <a:r>
              <a:rPr lang="en-GB" sz="2000" dirty="0"/>
              <a:t>And these will return an error message:</a:t>
            </a:r>
          </a:p>
          <a:p>
            <a:pPr lvl="2"/>
            <a:r>
              <a:rPr lang="en-GB" sz="1800" b="1" u="sng" dirty="0" err="1">
                <a:solidFill>
                  <a:srgbClr val="FF0000"/>
                </a:solidFill>
              </a:rPr>
              <a:t>DB</a:t>
            </a:r>
            <a:r>
              <a:rPr lang="en-GB" sz="1800" dirty="0" err="1">
                <a:solidFill>
                  <a:srgbClr val="FF0000"/>
                </a:solidFill>
              </a:rPr>
              <a:t>.dept.find</a:t>
            </a:r>
            <a:r>
              <a:rPr lang="en-GB" sz="1800" dirty="0">
                <a:solidFill>
                  <a:srgbClr val="FF0000"/>
                </a:solidFill>
              </a:rPr>
              <a:t>({</a:t>
            </a:r>
            <a:r>
              <a:rPr lang="en-GB" sz="1800" dirty="0" err="1">
                <a:solidFill>
                  <a:srgbClr val="FF0000"/>
                </a:solidFill>
              </a:rPr>
              <a:t>dname</a:t>
            </a:r>
            <a:r>
              <a:rPr lang="en-GB" sz="1800" dirty="0">
                <a:solidFill>
                  <a:srgbClr val="FF0000"/>
                </a:solidFill>
              </a:rPr>
              <a:t>:"SALES"})</a:t>
            </a:r>
          </a:p>
          <a:p>
            <a:pPr lvl="2"/>
            <a:r>
              <a:rPr lang="en-GB" sz="1800" dirty="0" err="1">
                <a:solidFill>
                  <a:srgbClr val="FF0000"/>
                </a:solidFill>
              </a:rPr>
              <a:t>db.dept.</a:t>
            </a:r>
            <a:r>
              <a:rPr lang="en-GB" sz="1800" b="1" u="sng" dirty="0" err="1">
                <a:solidFill>
                  <a:srgbClr val="FF0000"/>
                </a:solidFill>
              </a:rPr>
              <a:t>FIND</a:t>
            </a:r>
            <a:r>
              <a:rPr lang="en-GB" sz="1800" dirty="0">
                <a:solidFill>
                  <a:srgbClr val="FF0000"/>
                </a:solidFill>
              </a:rPr>
              <a:t>({</a:t>
            </a:r>
            <a:r>
              <a:rPr lang="en-GB" sz="1800" dirty="0" err="1">
                <a:solidFill>
                  <a:srgbClr val="FF0000"/>
                </a:solidFill>
              </a:rPr>
              <a:t>dname</a:t>
            </a:r>
            <a:r>
              <a:rPr lang="en-GB" sz="1800" dirty="0">
                <a:solidFill>
                  <a:srgbClr val="FF0000"/>
                </a:solidFill>
              </a:rPr>
              <a:t>:"SALES</a:t>
            </a:r>
            <a:r>
              <a:rPr lang="en-GB" sz="1800" dirty="0" smtClean="0">
                <a:solidFill>
                  <a:srgbClr val="FF0000"/>
                </a:solidFill>
              </a:rPr>
              <a:t>"})</a:t>
            </a:r>
            <a:br>
              <a:rPr lang="en-GB" sz="1800" dirty="0" smtClean="0">
                <a:solidFill>
                  <a:srgbClr val="FF0000"/>
                </a:solidFill>
              </a:rPr>
            </a:br>
            <a:endParaRPr lang="en-GB" sz="1800" dirty="0">
              <a:solidFill>
                <a:srgbClr val="FF0000"/>
              </a:solidFill>
            </a:endParaRPr>
          </a:p>
          <a:p>
            <a:r>
              <a:rPr lang="en-GB" sz="2400" dirty="0"/>
              <a:t>column names can be in double quotes too:</a:t>
            </a:r>
          </a:p>
          <a:p>
            <a:pPr lvl="1"/>
            <a:r>
              <a:rPr lang="en-GB" sz="2000" dirty="0" err="1">
                <a:solidFill>
                  <a:srgbClr val="0033CC"/>
                </a:solidFill>
              </a:rPr>
              <a:t>db.dept.find</a:t>
            </a:r>
            <a:r>
              <a:rPr lang="en-GB" sz="2000" dirty="0">
                <a:solidFill>
                  <a:srgbClr val="0033CC"/>
                </a:solidFill>
              </a:rPr>
              <a:t>({</a:t>
            </a:r>
            <a:r>
              <a:rPr lang="en-GB" sz="2000" b="1" dirty="0">
                <a:solidFill>
                  <a:srgbClr val="0033CC"/>
                </a:solidFill>
              </a:rPr>
              <a:t>"</a:t>
            </a:r>
            <a:r>
              <a:rPr lang="en-GB" sz="2000" b="1" u="sng" dirty="0" err="1">
                <a:solidFill>
                  <a:srgbClr val="0033CC"/>
                </a:solidFill>
              </a:rPr>
              <a:t>dname</a:t>
            </a:r>
            <a:r>
              <a:rPr lang="en-GB" sz="2000" b="1" dirty="0">
                <a:solidFill>
                  <a:srgbClr val="0033CC"/>
                </a:solidFill>
              </a:rPr>
              <a:t>"</a:t>
            </a:r>
            <a:r>
              <a:rPr lang="en-GB" sz="2000" dirty="0">
                <a:solidFill>
                  <a:srgbClr val="0033CC"/>
                </a:solidFill>
              </a:rPr>
              <a:t>:"SALES"})</a:t>
            </a:r>
            <a:endParaRPr lang="en-GB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024A64D-D60E-46A1-8647-7B3CAE372470}" type="slidenum">
              <a:rPr lang="en-GB" smtClean="0"/>
              <a:pPr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466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78146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find()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1080399"/>
            <a:ext cx="10058400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Other examples of using find:</a:t>
            </a:r>
            <a:endParaRPr lang="en-GB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16</a:t>
            </a:fld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762363"/>
              </p:ext>
            </p:extLst>
          </p:nvPr>
        </p:nvGraphicFramePr>
        <p:xfrm>
          <a:off x="450166" y="1530996"/>
          <a:ext cx="11352628" cy="4162346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82740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7217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84538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00766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86490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Operation</a:t>
                      </a:r>
                    </a:p>
                  </a:txBody>
                  <a:tcPr marL="17929" marR="17929" marT="8964" marB="8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Syntax</a:t>
                      </a:r>
                    </a:p>
                  </a:txBody>
                  <a:tcPr marL="17929" marR="17929" marT="8964" marB="89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</a:p>
                  </a:txBody>
                  <a:tcPr marL="17929" marR="17929" marT="8964" marB="89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solidFill>
                            <a:srgbClr val="7030A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RDBMS Equivalent</a:t>
                      </a:r>
                    </a:p>
                  </a:txBody>
                  <a:tcPr marL="17929" marR="17929" marT="8964" marB="8964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79051"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Equality</a:t>
                      </a:r>
                    </a:p>
                  </a:txBody>
                  <a:tcPr marL="17929" marR="17929" marT="8964" marB="8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{&lt;key&gt;:&lt;value&gt;}</a:t>
                      </a:r>
                    </a:p>
                  </a:txBody>
                  <a:tcPr marL="17929" marR="17929" marT="8964" marB="89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 err="1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db.dept.find</a:t>
                      </a:r>
                      <a:r>
                        <a:rPr lang="en-GB" sz="1800" b="1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({</a:t>
                      </a:r>
                      <a:r>
                        <a:rPr lang="en-GB" sz="1800" b="1" dirty="0" err="1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</a:t>
                      </a:r>
                      <a:r>
                        <a:rPr lang="en-GB" sz="1800" b="1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:"NEW YORK"})</a:t>
                      </a:r>
                    </a:p>
                  </a:txBody>
                  <a:tcPr marL="17929" marR="17929" marT="8964" marB="8964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where </a:t>
                      </a:r>
                      <a:r>
                        <a:rPr lang="en-GB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</a:t>
                      </a:r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 ‘NEW YORK'</a:t>
                      </a:r>
                    </a:p>
                  </a:txBody>
                  <a:tcPr marL="17929" marR="17929" marT="8964" marB="8964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58840"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Less Than</a:t>
                      </a:r>
                    </a:p>
                  </a:txBody>
                  <a:tcPr marL="17929" marR="17929" marT="8964" marB="8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{&lt;key&gt;:{$</a:t>
                      </a:r>
                      <a:r>
                        <a:rPr lang="en-GB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lt</a:t>
                      </a:r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:&lt;value&gt;}}</a:t>
                      </a:r>
                    </a:p>
                  </a:txBody>
                  <a:tcPr marL="17929" marR="17929" marT="8964" marB="89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 err="1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db.dept.find</a:t>
                      </a:r>
                      <a:r>
                        <a:rPr lang="en-GB" sz="1800" b="1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({</a:t>
                      </a:r>
                      <a:r>
                        <a:rPr lang="en-GB" sz="1800" b="1" dirty="0" err="1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deptno</a:t>
                      </a:r>
                      <a:r>
                        <a:rPr lang="en-GB" sz="1800" b="1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:{$lt:30}})</a:t>
                      </a:r>
                    </a:p>
                  </a:txBody>
                  <a:tcPr marL="17929" marR="17929" marT="8964" marB="89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where </a:t>
                      </a:r>
                      <a:r>
                        <a:rPr lang="en-GB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deptno</a:t>
                      </a:r>
                      <a:r>
                        <a:rPr lang="en-GB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 30</a:t>
                      </a:r>
                    </a:p>
                  </a:txBody>
                  <a:tcPr marL="17929" marR="17929" marT="8964" marB="8964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64720"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Less Than Equals</a:t>
                      </a:r>
                    </a:p>
                  </a:txBody>
                  <a:tcPr marL="17929" marR="17929" marT="8964" marB="8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{&lt;key&gt;:{$</a:t>
                      </a:r>
                      <a:r>
                        <a:rPr lang="en-GB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lte</a:t>
                      </a:r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:&lt;value&gt;}}</a:t>
                      </a:r>
                    </a:p>
                  </a:txBody>
                  <a:tcPr marL="17929" marR="17929" marT="8964" marB="89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 err="1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db.dept.find</a:t>
                      </a:r>
                      <a:r>
                        <a:rPr lang="en-GB" sz="1800" b="1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({</a:t>
                      </a:r>
                      <a:r>
                        <a:rPr lang="en-GB" sz="1800" b="1" dirty="0" err="1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deptno</a:t>
                      </a:r>
                      <a:r>
                        <a:rPr lang="en-GB" sz="1800" b="1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:{$lte:30}})</a:t>
                      </a:r>
                    </a:p>
                  </a:txBody>
                  <a:tcPr marL="17929" marR="17929" marT="8964" marB="89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where </a:t>
                      </a:r>
                      <a:r>
                        <a:rPr lang="en-GB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deptno</a:t>
                      </a:r>
                      <a:r>
                        <a:rPr lang="en-GB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&lt;= 30</a:t>
                      </a:r>
                    </a:p>
                  </a:txBody>
                  <a:tcPr marL="17929" marR="17929" marT="8964" marB="8964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89616"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Greater Than</a:t>
                      </a:r>
                    </a:p>
                  </a:txBody>
                  <a:tcPr marL="17929" marR="17929" marT="8964" marB="8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{&lt;key&gt;:{$</a:t>
                      </a:r>
                      <a:r>
                        <a:rPr lang="en-GB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gt</a:t>
                      </a:r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:&lt;value&gt;}}</a:t>
                      </a:r>
                    </a:p>
                  </a:txBody>
                  <a:tcPr marL="17929" marR="17929" marT="8964" marB="89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 err="1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db.dept.find</a:t>
                      </a:r>
                      <a:r>
                        <a:rPr lang="en-GB" sz="1800" b="1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({</a:t>
                      </a:r>
                      <a:r>
                        <a:rPr lang="en-GB" sz="1800" b="1" dirty="0" err="1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deptno</a:t>
                      </a:r>
                      <a:r>
                        <a:rPr lang="en-GB" sz="1800" b="1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:{$gt:30}})</a:t>
                      </a:r>
                    </a:p>
                  </a:txBody>
                  <a:tcPr marL="17929" marR="17929" marT="8964" marB="89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where </a:t>
                      </a:r>
                      <a:r>
                        <a:rPr lang="en-GB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deptno</a:t>
                      </a:r>
                      <a:r>
                        <a:rPr lang="en-GB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 30</a:t>
                      </a:r>
                    </a:p>
                  </a:txBody>
                  <a:tcPr marL="17929" marR="17929" marT="8964" marB="8964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98223"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Greater Than Equals</a:t>
                      </a:r>
                    </a:p>
                  </a:txBody>
                  <a:tcPr marL="17929" marR="17929" marT="8964" marB="8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{&lt;key&gt;:{$</a:t>
                      </a:r>
                      <a:r>
                        <a:rPr lang="en-GB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gte</a:t>
                      </a:r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:&lt;value&gt;}}</a:t>
                      </a:r>
                    </a:p>
                  </a:txBody>
                  <a:tcPr marL="17929" marR="17929" marT="8964" marB="89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 err="1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db.dept.find</a:t>
                      </a:r>
                      <a:r>
                        <a:rPr lang="en-GB" sz="1800" b="1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({</a:t>
                      </a:r>
                      <a:r>
                        <a:rPr lang="en-GB" sz="1800" b="1" dirty="0" err="1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deptno</a:t>
                      </a:r>
                      <a:r>
                        <a:rPr lang="en-GB" sz="1800" b="1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:{$gte:30}})</a:t>
                      </a:r>
                    </a:p>
                  </a:txBody>
                  <a:tcPr marL="17929" marR="17929" marT="8964" marB="89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where </a:t>
                      </a:r>
                      <a:r>
                        <a:rPr lang="en-GB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deptno</a:t>
                      </a:r>
                      <a:r>
                        <a:rPr lang="en-GB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&gt;= 30</a:t>
                      </a:r>
                    </a:p>
                  </a:txBody>
                  <a:tcPr marL="17929" marR="17929" marT="8964" marB="8964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83558">
                <a:tc>
                  <a:txBody>
                    <a:bodyPr/>
                    <a:lstStyle/>
                    <a:p>
                      <a:r>
                        <a:rPr lang="en-GB" sz="18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Equals</a:t>
                      </a:r>
                    </a:p>
                  </a:txBody>
                  <a:tcPr marL="17929" marR="17929" marT="8964" marB="896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{&lt;key&gt;:{$ne:&lt;value&gt;}}</a:t>
                      </a:r>
                    </a:p>
                  </a:txBody>
                  <a:tcPr marL="17929" marR="17929" marT="8964" marB="89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dirty="0" err="1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db.dept.find</a:t>
                      </a:r>
                      <a:r>
                        <a:rPr lang="en-GB" sz="1800" b="1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({</a:t>
                      </a:r>
                      <a:r>
                        <a:rPr lang="en-GB" sz="1800" b="1" dirty="0" err="1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deptno</a:t>
                      </a:r>
                      <a:r>
                        <a:rPr lang="en-GB" sz="1800" b="1" dirty="0">
                          <a:solidFill>
                            <a:srgbClr val="00B0F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:{$ne:30}})</a:t>
                      </a:r>
                    </a:p>
                  </a:txBody>
                  <a:tcPr marL="17929" marR="17929" marT="8964" marB="89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where </a:t>
                      </a:r>
                      <a:r>
                        <a:rPr lang="en-GB" sz="1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deptno</a:t>
                      </a:r>
                      <a:r>
                        <a:rPr lang="en-GB" sz="18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GB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!= 30</a:t>
                      </a:r>
                    </a:p>
                  </a:txBody>
                  <a:tcPr marL="17929" marR="17929" marT="8964" marB="8964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631504" y="6421513"/>
            <a:ext cx="86409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2"/>
              </a:rPr>
              <a:t>https://www.tutorialspoint.com/mongodb/mongodb_query_document.htm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96404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82126"/>
            <a:ext cx="8229600" cy="742619"/>
          </a:xfrm>
        </p:spPr>
        <p:txBody>
          <a:bodyPr>
            <a:normAutofit fontScale="90000"/>
          </a:bodyPr>
          <a:lstStyle/>
          <a:p>
            <a:r>
              <a:rPr lang="en-GB" dirty="0"/>
              <a:t>$group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5520" y="1239847"/>
            <a:ext cx="8435280" cy="4181545"/>
          </a:xfrm>
        </p:spPr>
        <p:txBody>
          <a:bodyPr>
            <a:normAutofit/>
          </a:bodyPr>
          <a:lstStyle/>
          <a:p>
            <a:r>
              <a:rPr lang="en-GB" dirty="0"/>
              <a:t>$group will take the input document and group them by a specified key and then apply the aggregate function to each group</a:t>
            </a:r>
          </a:p>
          <a:p>
            <a:r>
              <a:rPr lang="en-GB" dirty="0"/>
              <a:t>For example, suppose we want to sum the salaries found in the </a:t>
            </a:r>
            <a:r>
              <a:rPr lang="en-GB" dirty="0" err="1"/>
              <a:t>emp</a:t>
            </a:r>
            <a:r>
              <a:rPr lang="en-GB" dirty="0"/>
              <a:t> collection</a:t>
            </a:r>
            <a:r>
              <a:rPr lang="en-GB" dirty="0" smtClean="0"/>
              <a:t>:</a:t>
            </a:r>
            <a:br>
              <a:rPr lang="en-GB" dirty="0" smtClean="0"/>
            </a:br>
            <a:endParaRPr lang="en-GB" dirty="0"/>
          </a:p>
          <a:p>
            <a:pPr marL="274320" lvl="1" indent="0">
              <a:buNone/>
            </a:pPr>
            <a:r>
              <a:rPr lang="en-GB" b="1" dirty="0" err="1">
                <a:solidFill>
                  <a:srgbClr val="0033CC"/>
                </a:solidFill>
              </a:rPr>
              <a:t>db.emp.aggregate</a:t>
            </a:r>
            <a:r>
              <a:rPr lang="en-GB" b="1" dirty="0">
                <a:solidFill>
                  <a:srgbClr val="0033CC"/>
                </a:solidFill>
              </a:rPr>
              <a:t> ( [</a:t>
            </a:r>
          </a:p>
          <a:p>
            <a:pPr marL="274320" lvl="1" indent="0">
              <a:buNone/>
            </a:pPr>
            <a:r>
              <a:rPr lang="en-GB" b="1" dirty="0">
                <a:solidFill>
                  <a:srgbClr val="0033CC"/>
                </a:solidFill>
              </a:rPr>
              <a:t>{ 	$group: </a:t>
            </a:r>
          </a:p>
          <a:p>
            <a:pPr marL="274320" lvl="1" indent="0">
              <a:buNone/>
            </a:pPr>
            <a:r>
              <a:rPr lang="en-GB" b="1" dirty="0">
                <a:solidFill>
                  <a:srgbClr val="0033CC"/>
                </a:solidFill>
              </a:rPr>
              <a:t>	{ _id: </a:t>
            </a:r>
            <a:r>
              <a:rPr lang="en-GB" b="1" dirty="0" smtClean="0">
                <a:solidFill>
                  <a:srgbClr val="0033CC"/>
                </a:solidFill>
              </a:rPr>
              <a:t>“$</a:t>
            </a:r>
            <a:r>
              <a:rPr lang="en-GB" b="1" dirty="0" err="1" smtClean="0">
                <a:solidFill>
                  <a:srgbClr val="0033CC"/>
                </a:solidFill>
              </a:rPr>
              <a:t>deptno</a:t>
            </a:r>
            <a:r>
              <a:rPr lang="en-GB" b="1" dirty="0">
                <a:solidFill>
                  <a:srgbClr val="0033CC"/>
                </a:solidFill>
              </a:rPr>
              <a:t>", total: {$sum: "$</a:t>
            </a:r>
            <a:r>
              <a:rPr lang="en-GB" b="1" dirty="0" err="1">
                <a:solidFill>
                  <a:srgbClr val="0033CC"/>
                </a:solidFill>
              </a:rPr>
              <a:t>sal</a:t>
            </a:r>
            <a:r>
              <a:rPr lang="en-GB" b="1" dirty="0">
                <a:solidFill>
                  <a:srgbClr val="0033CC"/>
                </a:solidFill>
              </a:rPr>
              <a:t>"} } }</a:t>
            </a:r>
          </a:p>
          <a:p>
            <a:pPr marL="274320" lvl="1" indent="0">
              <a:buNone/>
            </a:pPr>
            <a:r>
              <a:rPr lang="en-GB" b="1" dirty="0">
                <a:solidFill>
                  <a:srgbClr val="0033CC"/>
                </a:solidFill>
              </a:rPr>
              <a:t>	])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5" name="Rectangular Callout 4"/>
          <p:cNvSpPr/>
          <p:nvPr/>
        </p:nvSpPr>
        <p:spPr>
          <a:xfrm>
            <a:off x="6427516" y="2506634"/>
            <a:ext cx="2016224" cy="395643"/>
          </a:xfrm>
          <a:prstGeom prst="wedgeRectCallout">
            <a:avLst>
              <a:gd name="adj1" fmla="val -56614"/>
              <a:gd name="adj2" fmla="val 193279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Aggregate operator</a:t>
            </a:r>
          </a:p>
        </p:txBody>
      </p:sp>
      <p:sp>
        <p:nvSpPr>
          <p:cNvPr id="6" name="Rectangular Callout 5"/>
          <p:cNvSpPr/>
          <p:nvPr/>
        </p:nvSpPr>
        <p:spPr>
          <a:xfrm>
            <a:off x="3984986" y="4917262"/>
            <a:ext cx="2016224" cy="432048"/>
          </a:xfrm>
          <a:prstGeom prst="wedgeRectCallout">
            <a:avLst>
              <a:gd name="adj1" fmla="val 623"/>
              <a:gd name="adj2" fmla="val -319899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Name for the result</a:t>
            </a:r>
          </a:p>
        </p:txBody>
      </p:sp>
      <p:sp>
        <p:nvSpPr>
          <p:cNvPr id="7" name="Rectangular Callout 6"/>
          <p:cNvSpPr/>
          <p:nvPr/>
        </p:nvSpPr>
        <p:spPr>
          <a:xfrm>
            <a:off x="1365807" y="4652911"/>
            <a:ext cx="2016224" cy="528701"/>
          </a:xfrm>
          <a:prstGeom prst="wedgeRectCallout">
            <a:avLst>
              <a:gd name="adj1" fmla="val 77439"/>
              <a:gd name="adj2" fmla="val -227128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Key (column) we want to group by</a:t>
            </a:r>
          </a:p>
        </p:txBody>
      </p:sp>
      <p:sp>
        <p:nvSpPr>
          <p:cNvPr id="8" name="Rectangular Callout 7"/>
          <p:cNvSpPr/>
          <p:nvPr/>
        </p:nvSpPr>
        <p:spPr>
          <a:xfrm>
            <a:off x="6322811" y="5151541"/>
            <a:ext cx="2016224" cy="432048"/>
          </a:xfrm>
          <a:prstGeom prst="wedgeRectCallout">
            <a:avLst>
              <a:gd name="adj1" fmla="val -75076"/>
              <a:gd name="adj2" fmla="val -380380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Aggregate function</a:t>
            </a:r>
          </a:p>
        </p:txBody>
      </p:sp>
      <p:sp>
        <p:nvSpPr>
          <p:cNvPr id="9" name="Rectangular Callout 8"/>
          <p:cNvSpPr/>
          <p:nvPr/>
        </p:nvSpPr>
        <p:spPr>
          <a:xfrm>
            <a:off x="7951371" y="3999108"/>
            <a:ext cx="2016224" cy="568974"/>
          </a:xfrm>
          <a:prstGeom prst="wedgeRectCallout">
            <a:avLst>
              <a:gd name="adj1" fmla="val -119330"/>
              <a:gd name="adj2" fmla="val -995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Key (column) to be processed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1371" y="74208"/>
            <a:ext cx="4240629" cy="1200329"/>
          </a:xfrm>
          <a:prstGeom prst="rect">
            <a:avLst/>
          </a:prstGeom>
          <a:solidFill>
            <a:srgbClr val="99CCFF"/>
          </a:solidFill>
          <a:ln>
            <a:solidFill>
              <a:srgbClr val="6666FF"/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Similar to SQL command:</a:t>
            </a:r>
          </a:p>
          <a:p>
            <a:r>
              <a:rPr lang="en-GB" b="1" i="1" dirty="0"/>
              <a:t>SELECT </a:t>
            </a:r>
            <a:r>
              <a:rPr lang="en-GB" b="1" i="1" dirty="0" err="1"/>
              <a:t>deptno</a:t>
            </a:r>
            <a:r>
              <a:rPr lang="en-GB" b="1" i="1" dirty="0"/>
              <a:t>, SUM(</a:t>
            </a:r>
            <a:r>
              <a:rPr lang="en-GB" b="1" i="1" dirty="0" err="1"/>
              <a:t>sal</a:t>
            </a:r>
            <a:r>
              <a:rPr lang="en-GB" b="1" i="1" dirty="0"/>
              <a:t>) AS total</a:t>
            </a:r>
          </a:p>
          <a:p>
            <a:r>
              <a:rPr lang="en-GB" b="1" i="1" dirty="0"/>
              <a:t>FROM </a:t>
            </a:r>
            <a:r>
              <a:rPr lang="en-GB" b="1" i="1" dirty="0" err="1"/>
              <a:t>emp</a:t>
            </a:r>
            <a:endParaRPr lang="en-GB" b="1" i="1" dirty="0"/>
          </a:p>
          <a:p>
            <a:r>
              <a:rPr lang="en-GB" b="1" i="1" dirty="0"/>
              <a:t>GROUP BY </a:t>
            </a:r>
            <a:r>
              <a:rPr lang="en-GB" b="1" i="1" dirty="0" err="1"/>
              <a:t>deptno</a:t>
            </a:r>
            <a:r>
              <a:rPr lang="en-GB" b="1" i="1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23750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883568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Aggregation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774" y="1412776"/>
            <a:ext cx="11211951" cy="345638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More complex queries require the use of a framework called the </a:t>
            </a:r>
            <a:r>
              <a:rPr lang="en-GB" dirty="0">
                <a:solidFill>
                  <a:srgbClr val="7030A0"/>
                </a:solidFill>
              </a:rPr>
              <a:t>aggregation pipeline</a:t>
            </a:r>
          </a:p>
          <a:p>
            <a:pPr>
              <a:lnSpc>
                <a:spcPct val="150000"/>
              </a:lnSpc>
            </a:pPr>
            <a:r>
              <a:rPr lang="en-GB" dirty="0" smtClean="0"/>
              <a:t>At </a:t>
            </a:r>
            <a:r>
              <a:rPr lang="en-GB" dirty="0"/>
              <a:t>the start of the process is the collection, which is searched document by document</a:t>
            </a:r>
          </a:p>
          <a:p>
            <a:pPr>
              <a:lnSpc>
                <a:spcPct val="150000"/>
              </a:lnSpc>
            </a:pPr>
            <a:r>
              <a:rPr lang="en-GB" b="1" dirty="0"/>
              <a:t>Documents are piped through a processing pipeline and go through a series of stages until you get a result </a:t>
            </a:r>
            <a:r>
              <a:rPr lang="en-GB" b="1" dirty="0" smtClean="0"/>
              <a:t>set</a:t>
            </a:r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1775520" y="6494111"/>
            <a:ext cx="77768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>
                <a:hlinkClick r:id="rId3"/>
              </a:rPr>
              <a:t>http://www.c-sharpcorner.com/article/aggregation-pipeline-in-mongodb/</a:t>
            </a:r>
            <a:r>
              <a:rPr lang="en-GB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64939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7" y="104804"/>
            <a:ext cx="10058400" cy="894002"/>
          </a:xfrm>
        </p:spPr>
        <p:txBody>
          <a:bodyPr/>
          <a:lstStyle/>
          <a:p>
            <a:pPr algn="ctr"/>
            <a:r>
              <a:rPr lang="en-GB" dirty="0"/>
              <a:t>Aggregation Pipeline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90" y="1111348"/>
            <a:ext cx="10678714" cy="3388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778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780" y="0"/>
            <a:ext cx="10058400" cy="928468"/>
          </a:xfrm>
        </p:spPr>
        <p:txBody>
          <a:bodyPr/>
          <a:lstStyle/>
          <a:p>
            <a:pPr algn="ctr"/>
            <a:r>
              <a:rPr lang="en-GB" dirty="0"/>
              <a:t>Aggregation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717" y="1160216"/>
            <a:ext cx="11324491" cy="511256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z="2400" dirty="0" smtClean="0">
                <a:solidFill>
                  <a:srgbClr val="FF0000"/>
                </a:solidFill>
              </a:rPr>
              <a:t>This </a:t>
            </a:r>
            <a:r>
              <a:rPr lang="en-GB" sz="2400" dirty="0">
                <a:solidFill>
                  <a:srgbClr val="FF0000"/>
                </a:solidFill>
              </a:rPr>
              <a:t>is needed if you want to compute results on the data, such as sum or count</a:t>
            </a:r>
          </a:p>
          <a:p>
            <a:pPr lvl="1">
              <a:lnSpc>
                <a:spcPct val="100000"/>
              </a:lnSpc>
            </a:pPr>
            <a:r>
              <a:rPr lang="en-GB" sz="2400" dirty="0">
                <a:solidFill>
                  <a:srgbClr val="FF0000"/>
                </a:solidFill>
              </a:rPr>
              <a:t>Similar to using </a:t>
            </a:r>
            <a:r>
              <a:rPr lang="en-GB" sz="2400" dirty="0">
                <a:solidFill>
                  <a:srgbClr val="00B0F0"/>
                </a:solidFill>
              </a:rPr>
              <a:t>GROUP BY </a:t>
            </a:r>
            <a:r>
              <a:rPr lang="en-GB" sz="2400" dirty="0">
                <a:solidFill>
                  <a:srgbClr val="FF0000"/>
                </a:solidFill>
              </a:rPr>
              <a:t>in SQL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Each stage in the pipeline transforms the documents as they pass through the pipeline. </a:t>
            </a:r>
          </a:p>
          <a:p>
            <a:pPr>
              <a:lnSpc>
                <a:spcPct val="100000"/>
              </a:lnSpc>
            </a:pPr>
            <a:r>
              <a:rPr lang="en-GB" sz="2400" dirty="0"/>
              <a:t>A basic pipeline provides </a:t>
            </a:r>
            <a:r>
              <a:rPr lang="en-GB" sz="2400" dirty="0">
                <a:solidFill>
                  <a:srgbClr val="7030A0"/>
                </a:solidFill>
              </a:rPr>
              <a:t>filters </a:t>
            </a:r>
            <a:r>
              <a:rPr lang="en-GB" sz="2400" dirty="0"/>
              <a:t>that are like queries and </a:t>
            </a:r>
            <a:r>
              <a:rPr lang="en-GB" sz="2400" dirty="0">
                <a:solidFill>
                  <a:srgbClr val="7030A0"/>
                </a:solidFill>
              </a:rPr>
              <a:t>document transformations </a:t>
            </a:r>
            <a:r>
              <a:rPr lang="en-GB" sz="2400" dirty="0"/>
              <a:t>that modify the form of the output.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sz="2400" dirty="0" smtClean="0"/>
              <a:t/>
            </a:r>
            <a:br>
              <a:rPr lang="en-GB" sz="2400" dirty="0" smtClean="0"/>
            </a:br>
            <a:r>
              <a:rPr lang="en-GB" sz="2400" dirty="0" smtClean="0"/>
              <a:t/>
            </a:r>
            <a:br>
              <a:rPr lang="en-GB" sz="2400" dirty="0" smtClean="0"/>
            </a:br>
            <a:endParaRPr lang="en-GB" sz="2400" dirty="0" smtClean="0"/>
          </a:p>
          <a:p>
            <a:pPr marL="0" indent="0">
              <a:lnSpc>
                <a:spcPct val="100000"/>
              </a:lnSpc>
              <a:buNone/>
            </a:pPr>
            <a:endParaRPr lang="en-GB" sz="2400" dirty="0"/>
          </a:p>
          <a:p>
            <a:pPr marL="0" indent="0">
              <a:lnSpc>
                <a:spcPct val="100000"/>
              </a:lnSpc>
              <a:buNone/>
            </a:pPr>
            <a:endParaRPr lang="en-GB" sz="2400" dirty="0"/>
          </a:p>
          <a:p>
            <a:pPr lvl="1">
              <a:lnSpc>
                <a:spcPct val="100000"/>
              </a:lnSpc>
            </a:pPr>
            <a:r>
              <a:rPr lang="en-GB" sz="1200" dirty="0">
                <a:hlinkClick r:id="rId3"/>
              </a:rPr>
              <a:t>https://docs.mongodb.com/manual/reference/operator/aggregation/</a:t>
            </a:r>
            <a:r>
              <a:rPr lang="en-GB" sz="12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5093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6009"/>
            <a:ext cx="8229600" cy="72809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Pipeline Example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54" y="561160"/>
            <a:ext cx="7989881" cy="5750612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1775520" y="6428602"/>
            <a:ext cx="763284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https://docs.mongodb.com/manual/core/aggregation-pipeline/</a:t>
            </a:r>
            <a:r>
              <a:rPr lang="en-GB" dirty="0"/>
              <a:t> </a:t>
            </a:r>
          </a:p>
        </p:txBody>
      </p:sp>
      <p:sp>
        <p:nvSpPr>
          <p:cNvPr id="7" name="Line Callout 2 (Border and Accent Bar) 6"/>
          <p:cNvSpPr/>
          <p:nvPr/>
        </p:nvSpPr>
        <p:spPr>
          <a:xfrm>
            <a:off x="8981110" y="1444955"/>
            <a:ext cx="1637184" cy="576064"/>
          </a:xfrm>
          <a:prstGeom prst="accent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58898"/>
              <a:gd name="adj6" fmla="val -255346"/>
            </a:avLst>
          </a:prstGeom>
          <a:solidFill>
            <a:srgbClr val="99663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solidFill>
                  <a:schemeClr val="bg2">
                    <a:lumMod val="10000"/>
                  </a:schemeClr>
                </a:solidFill>
              </a:rPr>
              <a:t>document transformations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62245" y="2857688"/>
            <a:ext cx="3629755" cy="1477328"/>
          </a:xfrm>
          <a:prstGeom prst="rect">
            <a:avLst/>
          </a:prstGeom>
          <a:solidFill>
            <a:srgbClr val="99CCFF"/>
          </a:solidFill>
          <a:ln>
            <a:solidFill>
              <a:srgbClr val="6666FF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Similar to SQL statement:</a:t>
            </a:r>
          </a:p>
          <a:p>
            <a:r>
              <a:rPr lang="en-GB" b="1" dirty="0"/>
              <a:t>SELECT </a:t>
            </a:r>
            <a:r>
              <a:rPr lang="en-GB" b="1" dirty="0" err="1"/>
              <a:t>cust_id</a:t>
            </a:r>
            <a:r>
              <a:rPr lang="en-GB" b="1" dirty="0"/>
              <a:t>, </a:t>
            </a:r>
            <a:r>
              <a:rPr lang="en-GB" b="1" dirty="0">
                <a:solidFill>
                  <a:srgbClr val="00B050"/>
                </a:solidFill>
              </a:rPr>
              <a:t>SUM</a:t>
            </a:r>
            <a:r>
              <a:rPr lang="en-GB" b="1" dirty="0"/>
              <a:t>(amount)</a:t>
            </a:r>
          </a:p>
          <a:p>
            <a:r>
              <a:rPr lang="en-GB" b="1" dirty="0"/>
              <a:t>FROM orders</a:t>
            </a:r>
          </a:p>
          <a:p>
            <a:r>
              <a:rPr lang="en-GB" b="1" dirty="0"/>
              <a:t>WHERE status = ‘A’</a:t>
            </a:r>
          </a:p>
          <a:p>
            <a:r>
              <a:rPr lang="en-GB" b="1" dirty="0">
                <a:solidFill>
                  <a:srgbClr val="FF0000"/>
                </a:solidFill>
              </a:rPr>
              <a:t>GROUP BY </a:t>
            </a:r>
            <a:r>
              <a:rPr lang="en-GB" b="1" dirty="0" err="1"/>
              <a:t>cust_id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4241984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3705" y="442429"/>
            <a:ext cx="10299966" cy="539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682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168812"/>
            <a:ext cx="10525392" cy="537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829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984" y="0"/>
            <a:ext cx="10058400" cy="753325"/>
          </a:xfrm>
        </p:spPr>
        <p:txBody>
          <a:bodyPr>
            <a:normAutofit/>
          </a:bodyPr>
          <a:lstStyle/>
          <a:p>
            <a:pPr algn="ctr"/>
            <a:r>
              <a:rPr lang="en-GB" sz="4800" dirty="0"/>
              <a:t>Other functions: count and distinct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5927" y="934474"/>
            <a:ext cx="11000935" cy="5184576"/>
          </a:xfrm>
        </p:spPr>
        <p:txBody>
          <a:bodyPr>
            <a:normAutofit lnSpcReduction="10000"/>
          </a:bodyPr>
          <a:lstStyle/>
          <a:p>
            <a:r>
              <a:rPr lang="en-GB" sz="2400" dirty="0">
                <a:solidFill>
                  <a:srgbClr val="7030A0"/>
                </a:solidFill>
              </a:rPr>
              <a:t>count </a:t>
            </a:r>
            <a:r>
              <a:rPr lang="en-GB" sz="2400" dirty="0"/>
              <a:t>can be used to count the number of documents in a collection:</a:t>
            </a:r>
          </a:p>
          <a:p>
            <a:pPr marL="400050" lvl="1" indent="0">
              <a:buNone/>
            </a:pPr>
            <a:r>
              <a:rPr lang="en-GB" sz="2400" dirty="0" err="1">
                <a:solidFill>
                  <a:srgbClr val="FF0000"/>
                </a:solidFill>
              </a:rPr>
              <a:t>db.emp.</a:t>
            </a:r>
            <a:r>
              <a:rPr lang="en-GB" sz="2400" b="1" dirty="0" err="1">
                <a:solidFill>
                  <a:srgbClr val="FF0000"/>
                </a:solidFill>
              </a:rPr>
              <a:t>count</a:t>
            </a:r>
            <a:r>
              <a:rPr lang="en-GB" sz="2400" b="1" dirty="0" smtClean="0">
                <a:solidFill>
                  <a:srgbClr val="FF0000"/>
                </a:solidFill>
              </a:rPr>
              <a:t>()</a:t>
            </a:r>
            <a:r>
              <a:rPr lang="en-GB" sz="2000" dirty="0" smtClean="0">
                <a:solidFill>
                  <a:srgbClr val="0033CC"/>
                </a:solidFill>
              </a:rPr>
              <a:t/>
            </a:r>
            <a:br>
              <a:rPr lang="en-GB" sz="2000" dirty="0" smtClean="0">
                <a:solidFill>
                  <a:srgbClr val="0033CC"/>
                </a:solidFill>
              </a:rPr>
            </a:br>
            <a:endParaRPr lang="en-GB" sz="2000" dirty="0">
              <a:solidFill>
                <a:srgbClr val="0033CC"/>
              </a:solidFill>
            </a:endParaRPr>
          </a:p>
          <a:p>
            <a:r>
              <a:rPr lang="en-GB" sz="2400" dirty="0"/>
              <a:t>Can also provide a query to apply a selection criteria:</a:t>
            </a:r>
          </a:p>
          <a:p>
            <a:pPr marL="274320" lvl="2" indent="0">
              <a:buNone/>
            </a:pPr>
            <a:r>
              <a:rPr lang="en-GB" sz="3200" dirty="0">
                <a:solidFill>
                  <a:srgbClr val="0033CC"/>
                </a:solidFill>
              </a:rPr>
              <a:t> </a:t>
            </a:r>
            <a:r>
              <a:rPr lang="en-GB" sz="2800" dirty="0" err="1">
                <a:solidFill>
                  <a:srgbClr val="FF0000"/>
                </a:solidFill>
              </a:rPr>
              <a:t>db.emp.</a:t>
            </a:r>
            <a:r>
              <a:rPr lang="en-GB" sz="2800" b="1" dirty="0" err="1">
                <a:solidFill>
                  <a:srgbClr val="FF0000"/>
                </a:solidFill>
              </a:rPr>
              <a:t>count</a:t>
            </a:r>
            <a:r>
              <a:rPr lang="en-GB" sz="2800" dirty="0">
                <a:solidFill>
                  <a:srgbClr val="FF0000"/>
                </a:solidFill>
              </a:rPr>
              <a:t>({</a:t>
            </a:r>
            <a:r>
              <a:rPr lang="en-GB" sz="2800" dirty="0" err="1">
                <a:solidFill>
                  <a:srgbClr val="FF0000"/>
                </a:solidFill>
              </a:rPr>
              <a:t>deptno</a:t>
            </a:r>
            <a:r>
              <a:rPr lang="en-GB" sz="2800" dirty="0">
                <a:solidFill>
                  <a:srgbClr val="FF0000"/>
                </a:solidFill>
              </a:rPr>
              <a:t>: 10</a:t>
            </a:r>
            <a:r>
              <a:rPr lang="en-GB" sz="2800" dirty="0" smtClean="0">
                <a:solidFill>
                  <a:srgbClr val="FF0000"/>
                </a:solidFill>
              </a:rPr>
              <a:t>})</a:t>
            </a:r>
            <a:r>
              <a:rPr lang="en-GB" sz="3200" dirty="0">
                <a:solidFill>
                  <a:srgbClr val="0033CC"/>
                </a:solidFill>
              </a:rPr>
              <a:t/>
            </a:r>
            <a:br>
              <a:rPr lang="en-GB" sz="3200" dirty="0">
                <a:solidFill>
                  <a:srgbClr val="0033CC"/>
                </a:solidFill>
              </a:rPr>
            </a:br>
            <a:endParaRPr lang="en-GB" sz="3200" dirty="0">
              <a:solidFill>
                <a:srgbClr val="0033CC"/>
              </a:solidFill>
            </a:endParaRPr>
          </a:p>
          <a:p>
            <a:r>
              <a:rPr lang="en-GB" sz="2400" dirty="0"/>
              <a:t>Can also add count() to a find query to count the records returned, instead of listing them:</a:t>
            </a:r>
          </a:p>
          <a:p>
            <a:pPr marL="400050" lvl="1" indent="0">
              <a:buNone/>
            </a:pPr>
            <a:r>
              <a:rPr lang="en-GB" sz="2400" dirty="0" err="1">
                <a:solidFill>
                  <a:srgbClr val="FF0000"/>
                </a:solidFill>
              </a:rPr>
              <a:t>db.dept.find</a:t>
            </a:r>
            <a:r>
              <a:rPr lang="en-GB" sz="2400" dirty="0">
                <a:solidFill>
                  <a:srgbClr val="FF0000"/>
                </a:solidFill>
              </a:rPr>
              <a:t>({</a:t>
            </a:r>
            <a:r>
              <a:rPr lang="en-GB" sz="2400" dirty="0" err="1">
                <a:solidFill>
                  <a:srgbClr val="FF0000"/>
                </a:solidFill>
              </a:rPr>
              <a:t>dname</a:t>
            </a:r>
            <a:r>
              <a:rPr lang="en-GB" sz="2400" dirty="0">
                <a:solidFill>
                  <a:srgbClr val="FF0000"/>
                </a:solidFill>
              </a:rPr>
              <a:t>:"SALES"}).</a:t>
            </a:r>
            <a:r>
              <a:rPr lang="en-GB" sz="2400" b="1" dirty="0">
                <a:solidFill>
                  <a:srgbClr val="FF0000"/>
                </a:solidFill>
              </a:rPr>
              <a:t>count</a:t>
            </a:r>
            <a:r>
              <a:rPr lang="en-GB" sz="2400" b="1" dirty="0" smtClean="0">
                <a:solidFill>
                  <a:srgbClr val="FF0000"/>
                </a:solidFill>
              </a:rPr>
              <a:t>()</a:t>
            </a:r>
            <a:r>
              <a:rPr lang="en-GB" sz="2000" dirty="0" smtClean="0">
                <a:solidFill>
                  <a:srgbClr val="0033CC"/>
                </a:solidFill>
              </a:rPr>
              <a:t/>
            </a:r>
            <a:br>
              <a:rPr lang="en-GB" sz="2000" dirty="0" smtClean="0">
                <a:solidFill>
                  <a:srgbClr val="0033CC"/>
                </a:solidFill>
              </a:rPr>
            </a:br>
            <a:endParaRPr lang="en-GB" sz="2000" dirty="0">
              <a:solidFill>
                <a:srgbClr val="0033CC"/>
              </a:solidFill>
            </a:endParaRPr>
          </a:p>
          <a:p>
            <a:r>
              <a:rPr lang="en-GB" sz="2400" dirty="0">
                <a:solidFill>
                  <a:srgbClr val="7030A0"/>
                </a:solidFill>
              </a:rPr>
              <a:t>distinct </a:t>
            </a:r>
            <a:r>
              <a:rPr lang="en-GB" sz="2400" dirty="0"/>
              <a:t>finds the distinct values for a specified column (similar to distinct clause in SQL):</a:t>
            </a:r>
          </a:p>
          <a:p>
            <a:pPr marL="400050" lvl="1" indent="0">
              <a:buNone/>
            </a:pPr>
            <a:r>
              <a:rPr lang="en-GB" sz="2400" dirty="0" err="1">
                <a:solidFill>
                  <a:srgbClr val="FF0000"/>
                </a:solidFill>
              </a:rPr>
              <a:t>db.emp.</a:t>
            </a:r>
            <a:r>
              <a:rPr lang="en-GB" sz="2400" b="1" dirty="0" err="1">
                <a:solidFill>
                  <a:srgbClr val="FF0000"/>
                </a:solidFill>
              </a:rPr>
              <a:t>distinct</a:t>
            </a:r>
            <a:r>
              <a:rPr lang="en-GB" sz="2400" dirty="0">
                <a:solidFill>
                  <a:srgbClr val="FF0000"/>
                </a:solidFill>
              </a:rPr>
              <a:t>("</a:t>
            </a:r>
            <a:r>
              <a:rPr lang="en-GB" sz="2400" dirty="0" err="1">
                <a:solidFill>
                  <a:srgbClr val="FF0000"/>
                </a:solidFill>
              </a:rPr>
              <a:t>deptno</a:t>
            </a:r>
            <a:r>
              <a:rPr lang="en-GB" sz="2400" dirty="0">
                <a:solidFill>
                  <a:srgbClr val="FF0000"/>
                </a:solidFill>
              </a:rPr>
              <a:t>")</a:t>
            </a:r>
          </a:p>
          <a:p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7632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Nested documents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4409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5153"/>
            <a:ext cx="8229600" cy="739551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DEPT/EMP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828" y="872197"/>
            <a:ext cx="10931300" cy="5583149"/>
          </a:xfrm>
        </p:spPr>
        <p:txBody>
          <a:bodyPr>
            <a:normAutofit fontScale="85000" lnSpcReduction="20000"/>
          </a:bodyPr>
          <a:lstStyle/>
          <a:p>
            <a:r>
              <a:rPr lang="en-GB" sz="2600" dirty="0"/>
              <a:t>Instead of having two separate tables, the employee details can be nested within the department</a:t>
            </a:r>
            <a:r>
              <a:rPr lang="en-GB" sz="2600" dirty="0" smtClean="0"/>
              <a:t>:</a:t>
            </a:r>
            <a:br>
              <a:rPr lang="en-GB" sz="2600" dirty="0" smtClean="0"/>
            </a:br>
            <a:endParaRPr lang="en-GB" sz="2600" dirty="0"/>
          </a:p>
          <a:p>
            <a:pPr marL="400050" lvl="1" indent="0">
              <a:buNone/>
            </a:pPr>
            <a:r>
              <a:rPr lang="en-GB" sz="2200" b="1" dirty="0" err="1">
                <a:solidFill>
                  <a:srgbClr val="0033CC"/>
                </a:solidFill>
              </a:rPr>
              <a:t>db.</a:t>
            </a:r>
            <a:r>
              <a:rPr lang="en-GB" b="1" dirty="0" err="1">
                <a:solidFill>
                  <a:srgbClr val="0033CC"/>
                </a:solidFill>
              </a:rPr>
              <a:t>deptCollection</a:t>
            </a:r>
            <a:r>
              <a:rPr lang="en-GB" sz="2200" b="1" dirty="0" err="1">
                <a:solidFill>
                  <a:srgbClr val="0033CC"/>
                </a:solidFill>
              </a:rPr>
              <a:t>.insert</a:t>
            </a:r>
            <a:r>
              <a:rPr lang="en-GB" sz="2200" b="1" dirty="0">
                <a:solidFill>
                  <a:srgbClr val="0033CC"/>
                </a:solidFill>
              </a:rPr>
              <a:t>( </a:t>
            </a:r>
          </a:p>
          <a:p>
            <a:pPr marL="400050" lvl="1" indent="0">
              <a:buNone/>
            </a:pPr>
            <a:r>
              <a:rPr lang="en-GB" sz="2200" b="1" dirty="0">
                <a:solidFill>
                  <a:srgbClr val="0033CC"/>
                </a:solidFill>
              </a:rPr>
              <a:t>{ 	</a:t>
            </a:r>
            <a:r>
              <a:rPr lang="en-GB" sz="2200" b="1" dirty="0" err="1">
                <a:solidFill>
                  <a:srgbClr val="0033CC"/>
                </a:solidFill>
              </a:rPr>
              <a:t>deptno</a:t>
            </a:r>
            <a:r>
              <a:rPr lang="en-GB" sz="2200" b="1" dirty="0">
                <a:solidFill>
                  <a:srgbClr val="0033CC"/>
                </a:solidFill>
              </a:rPr>
              <a:t>: 10, </a:t>
            </a:r>
          </a:p>
          <a:p>
            <a:pPr marL="857250" lvl="2" indent="0">
              <a:buNone/>
            </a:pPr>
            <a:r>
              <a:rPr lang="en-GB" sz="2200" b="1" dirty="0">
                <a:solidFill>
                  <a:srgbClr val="0033CC"/>
                </a:solidFill>
              </a:rPr>
              <a:t>	</a:t>
            </a:r>
            <a:r>
              <a:rPr lang="en-GB" sz="2200" b="1" dirty="0" err="1">
                <a:solidFill>
                  <a:srgbClr val="0033CC"/>
                </a:solidFill>
              </a:rPr>
              <a:t>dname</a:t>
            </a:r>
            <a:r>
              <a:rPr lang="en-GB" sz="2200" b="1" dirty="0">
                <a:solidFill>
                  <a:srgbClr val="0033CC"/>
                </a:solidFill>
              </a:rPr>
              <a:t>: 'ACCOUNTING', </a:t>
            </a:r>
          </a:p>
          <a:p>
            <a:pPr marL="857250" lvl="2" indent="0">
              <a:buNone/>
            </a:pPr>
            <a:r>
              <a:rPr lang="en-GB" sz="2200" b="1" dirty="0">
                <a:solidFill>
                  <a:srgbClr val="0033CC"/>
                </a:solidFill>
              </a:rPr>
              <a:t>	</a:t>
            </a:r>
            <a:r>
              <a:rPr lang="en-GB" sz="2200" b="1" dirty="0" err="1">
                <a:solidFill>
                  <a:srgbClr val="0033CC"/>
                </a:solidFill>
              </a:rPr>
              <a:t>loc</a:t>
            </a:r>
            <a:r>
              <a:rPr lang="en-GB" sz="2200" b="1" dirty="0">
                <a:solidFill>
                  <a:srgbClr val="0033CC"/>
                </a:solidFill>
              </a:rPr>
              <a:t>: 'NEW YORK', </a:t>
            </a:r>
          </a:p>
          <a:p>
            <a:pPr marL="857250" lvl="2" indent="0">
              <a:buNone/>
            </a:pPr>
            <a:r>
              <a:rPr lang="en-GB" sz="2200" b="1" dirty="0">
                <a:solidFill>
                  <a:srgbClr val="0033CC"/>
                </a:solidFill>
              </a:rPr>
              <a:t>	employees: </a:t>
            </a:r>
            <a:r>
              <a:rPr lang="en-GB" sz="2200" b="1" dirty="0">
                <a:solidFill>
                  <a:srgbClr val="FF0000"/>
                </a:solidFill>
              </a:rPr>
              <a:t>[</a:t>
            </a:r>
            <a:r>
              <a:rPr lang="en-GB" sz="2200" b="1" dirty="0">
                <a:solidFill>
                  <a:srgbClr val="0033CC"/>
                </a:solidFill>
              </a:rPr>
              <a:t> </a:t>
            </a:r>
          </a:p>
          <a:p>
            <a:pPr marL="857250" lvl="2" indent="0">
              <a:buNone/>
            </a:pPr>
            <a:r>
              <a:rPr lang="en-GB" sz="2200" b="1" dirty="0">
                <a:solidFill>
                  <a:srgbClr val="0033CC"/>
                </a:solidFill>
              </a:rPr>
              <a:t>	    </a:t>
            </a:r>
            <a:r>
              <a:rPr lang="en-GB" sz="2200" b="1" dirty="0">
                <a:solidFill>
                  <a:srgbClr val="00B050"/>
                </a:solidFill>
              </a:rPr>
              <a:t>{	</a:t>
            </a:r>
            <a:r>
              <a:rPr lang="en-GB" sz="2200" b="1" dirty="0" err="1">
                <a:solidFill>
                  <a:srgbClr val="00B050"/>
                </a:solidFill>
              </a:rPr>
              <a:t>empno</a:t>
            </a:r>
            <a:r>
              <a:rPr lang="en-GB" sz="2200" b="1" dirty="0">
                <a:solidFill>
                  <a:srgbClr val="00B050"/>
                </a:solidFill>
              </a:rPr>
              <a:t>: 7782, </a:t>
            </a:r>
            <a:r>
              <a:rPr lang="en-GB" sz="2200" b="1" dirty="0" smtClean="0">
                <a:solidFill>
                  <a:srgbClr val="00B050"/>
                </a:solidFill>
              </a:rPr>
              <a:t/>
            </a:r>
            <a:br>
              <a:rPr lang="en-GB" sz="2200" b="1" dirty="0" smtClean="0">
                <a:solidFill>
                  <a:srgbClr val="00B050"/>
                </a:solidFill>
              </a:rPr>
            </a:br>
            <a:r>
              <a:rPr lang="en-GB" sz="2200" b="1" dirty="0" smtClean="0">
                <a:solidFill>
                  <a:srgbClr val="00B050"/>
                </a:solidFill>
              </a:rPr>
              <a:t>		</a:t>
            </a:r>
            <a:r>
              <a:rPr lang="en-GB" sz="2200" b="1" dirty="0" err="1" smtClean="0">
                <a:solidFill>
                  <a:srgbClr val="00B050"/>
                </a:solidFill>
              </a:rPr>
              <a:t>ename</a:t>
            </a:r>
            <a:r>
              <a:rPr lang="en-GB" sz="2200" b="1" dirty="0">
                <a:solidFill>
                  <a:srgbClr val="00B050"/>
                </a:solidFill>
              </a:rPr>
              <a:t>: 'CLARK', </a:t>
            </a:r>
          </a:p>
          <a:p>
            <a:pPr marL="857250" lvl="2" indent="0">
              <a:buNone/>
            </a:pPr>
            <a:r>
              <a:rPr lang="en-GB" sz="2200" b="1" dirty="0">
                <a:solidFill>
                  <a:srgbClr val="00B050"/>
                </a:solidFill>
              </a:rPr>
              <a:t>		job: 'MANAGER',  </a:t>
            </a:r>
            <a:r>
              <a:rPr lang="en-GB" sz="2200" b="1" dirty="0" smtClean="0">
                <a:solidFill>
                  <a:srgbClr val="00B050"/>
                </a:solidFill>
              </a:rPr>
              <a:t/>
            </a:r>
            <a:br>
              <a:rPr lang="en-GB" sz="2200" b="1" dirty="0" smtClean="0">
                <a:solidFill>
                  <a:srgbClr val="00B050"/>
                </a:solidFill>
              </a:rPr>
            </a:br>
            <a:r>
              <a:rPr lang="en-GB" sz="2200" b="1" dirty="0" smtClean="0">
                <a:solidFill>
                  <a:srgbClr val="00B050"/>
                </a:solidFill>
              </a:rPr>
              <a:t>		</a:t>
            </a:r>
            <a:r>
              <a:rPr lang="en-GB" sz="2200" b="1" dirty="0" err="1" smtClean="0">
                <a:solidFill>
                  <a:srgbClr val="00B050"/>
                </a:solidFill>
              </a:rPr>
              <a:t>sal</a:t>
            </a:r>
            <a:r>
              <a:rPr lang="en-GB" sz="2200" b="1" dirty="0">
                <a:solidFill>
                  <a:srgbClr val="00B050"/>
                </a:solidFill>
              </a:rPr>
              <a:t>: 2450 </a:t>
            </a:r>
          </a:p>
          <a:p>
            <a:pPr marL="857250" lvl="2" indent="0">
              <a:buNone/>
            </a:pPr>
            <a:r>
              <a:rPr lang="en-GB" sz="2200" b="1" dirty="0">
                <a:solidFill>
                  <a:srgbClr val="00B050"/>
                </a:solidFill>
              </a:rPr>
              <a:t>	     }</a:t>
            </a:r>
            <a:r>
              <a:rPr lang="en-GB" sz="2200" b="1" dirty="0">
                <a:solidFill>
                  <a:srgbClr val="0033CC"/>
                </a:solidFill>
              </a:rPr>
              <a:t>, </a:t>
            </a:r>
          </a:p>
          <a:p>
            <a:pPr marL="857250" lvl="2" indent="0">
              <a:buNone/>
            </a:pPr>
            <a:r>
              <a:rPr lang="en-GB" sz="2200" b="1" dirty="0">
                <a:solidFill>
                  <a:srgbClr val="0033CC"/>
                </a:solidFill>
              </a:rPr>
              <a:t>	     </a:t>
            </a:r>
            <a:r>
              <a:rPr lang="en-GB" sz="2200" b="1" dirty="0">
                <a:solidFill>
                  <a:srgbClr val="00B050"/>
                </a:solidFill>
              </a:rPr>
              <a:t>{ 	empno:7839, </a:t>
            </a:r>
            <a:r>
              <a:rPr lang="en-GB" sz="2200" b="1" dirty="0" smtClean="0">
                <a:solidFill>
                  <a:srgbClr val="00B050"/>
                </a:solidFill>
              </a:rPr>
              <a:t/>
            </a:r>
            <a:br>
              <a:rPr lang="en-GB" sz="2200" b="1" dirty="0" smtClean="0">
                <a:solidFill>
                  <a:srgbClr val="00B050"/>
                </a:solidFill>
              </a:rPr>
            </a:br>
            <a:r>
              <a:rPr lang="en-GB" sz="2200" b="1" dirty="0" smtClean="0">
                <a:solidFill>
                  <a:srgbClr val="00B050"/>
                </a:solidFill>
              </a:rPr>
              <a:t>		</a:t>
            </a:r>
            <a:r>
              <a:rPr lang="en-GB" sz="2200" b="1" dirty="0" err="1" smtClean="0">
                <a:solidFill>
                  <a:srgbClr val="00B050"/>
                </a:solidFill>
              </a:rPr>
              <a:t>ename</a:t>
            </a:r>
            <a:r>
              <a:rPr lang="en-GB" sz="2200" b="1" dirty="0">
                <a:solidFill>
                  <a:srgbClr val="00B050"/>
                </a:solidFill>
              </a:rPr>
              <a:t>: 'KING', </a:t>
            </a:r>
          </a:p>
          <a:p>
            <a:pPr marL="1371600" lvl="3" indent="0">
              <a:buNone/>
            </a:pPr>
            <a:r>
              <a:rPr lang="en-GB" sz="2200" b="1" dirty="0">
                <a:solidFill>
                  <a:srgbClr val="00B050"/>
                </a:solidFill>
              </a:rPr>
              <a:t>	job: 'PRESIDENT', </a:t>
            </a:r>
          </a:p>
          <a:p>
            <a:pPr marL="1371600" lvl="3" indent="0">
              <a:buNone/>
            </a:pPr>
            <a:r>
              <a:rPr lang="en-GB" sz="2200" b="1" dirty="0">
                <a:solidFill>
                  <a:srgbClr val="00B050"/>
                </a:solidFill>
              </a:rPr>
              <a:t>	</a:t>
            </a:r>
            <a:r>
              <a:rPr lang="en-GB" sz="2200" b="1" dirty="0" err="1" smtClean="0">
                <a:solidFill>
                  <a:srgbClr val="00B050"/>
                </a:solidFill>
              </a:rPr>
              <a:t>sal</a:t>
            </a:r>
            <a:r>
              <a:rPr lang="en-GB" sz="2200" b="1" dirty="0">
                <a:solidFill>
                  <a:srgbClr val="00B050"/>
                </a:solidFill>
              </a:rPr>
              <a:t>: 5000 </a:t>
            </a:r>
          </a:p>
          <a:p>
            <a:pPr marL="1371600" lvl="3" indent="0">
              <a:buNone/>
            </a:pPr>
            <a:r>
              <a:rPr lang="en-GB" sz="2200" b="1" dirty="0">
                <a:solidFill>
                  <a:srgbClr val="00B050"/>
                </a:solidFill>
              </a:rPr>
              <a:t>}</a:t>
            </a:r>
            <a:r>
              <a:rPr lang="en-GB" sz="2200" b="1" dirty="0">
                <a:solidFill>
                  <a:srgbClr val="0033CC"/>
                </a:solidFill>
              </a:rPr>
              <a:t>,</a:t>
            </a:r>
          </a:p>
          <a:p>
            <a:pPr marL="1097280" lvl="2" indent="0">
              <a:buNone/>
            </a:pPr>
            <a:r>
              <a:rPr lang="en-GB" sz="2400" b="1" dirty="0" smtClean="0">
                <a:solidFill>
                  <a:srgbClr val="FF0000"/>
                </a:solidFill>
              </a:rPr>
              <a:t>]</a:t>
            </a:r>
          </a:p>
          <a:p>
            <a:pPr marL="548640" indent="0">
              <a:buNone/>
            </a:pPr>
            <a:r>
              <a:rPr lang="en-GB" sz="2800" b="1" dirty="0" smtClean="0">
                <a:solidFill>
                  <a:srgbClr val="0033CC"/>
                </a:solidFill>
              </a:rPr>
              <a:t>} </a:t>
            </a:r>
            <a:r>
              <a:rPr lang="en-GB" sz="2800" b="1" dirty="0">
                <a:solidFill>
                  <a:srgbClr val="0033CC"/>
                </a:solidFill>
              </a:rPr>
              <a:t>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26</a:t>
            </a:fld>
            <a:endParaRPr lang="en-GB" dirty="0"/>
          </a:p>
        </p:txBody>
      </p:sp>
      <p:sp>
        <p:nvSpPr>
          <p:cNvPr id="5" name="Rectangular Callout 4"/>
          <p:cNvSpPr/>
          <p:nvPr/>
        </p:nvSpPr>
        <p:spPr bwMode="auto">
          <a:xfrm>
            <a:off x="6653946" y="1720944"/>
            <a:ext cx="2160240" cy="792088"/>
          </a:xfrm>
          <a:prstGeom prst="wedgeRectCallout">
            <a:avLst>
              <a:gd name="adj1" fmla="val -219590"/>
              <a:gd name="adj2" fmla="val 90219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dirty="0">
                <a:latin typeface="Arial" charset="0"/>
              </a:rPr>
              <a:t>Set of employees, stored as a array</a:t>
            </a:r>
          </a:p>
        </p:txBody>
      </p:sp>
    </p:spTree>
    <p:extLst>
      <p:ext uri="{BB962C8B-B14F-4D97-AF65-F5344CB8AC3E}">
        <p14:creationId xmlns:p14="http://schemas.microsoft.com/office/powerpoint/2010/main" val="1069247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72519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Finding data in nested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098" y="1310410"/>
            <a:ext cx="10124398" cy="4968552"/>
          </a:xfrm>
        </p:spPr>
        <p:txBody>
          <a:bodyPr>
            <a:normAutofit/>
          </a:bodyPr>
          <a:lstStyle/>
          <a:p>
            <a:r>
              <a:rPr lang="en-GB" dirty="0"/>
              <a:t>Finding data in a nested document is more complex.</a:t>
            </a:r>
          </a:p>
          <a:p>
            <a:r>
              <a:rPr lang="en-GB" dirty="0"/>
              <a:t>Need to </a:t>
            </a:r>
            <a:r>
              <a:rPr lang="en-GB" dirty="0">
                <a:solidFill>
                  <a:srgbClr val="FF0000"/>
                </a:solidFill>
              </a:rPr>
              <a:t>use dot notation </a:t>
            </a:r>
            <a:r>
              <a:rPr lang="en-GB" dirty="0"/>
              <a:t>to refer to the nested fields, such as </a:t>
            </a:r>
            <a:r>
              <a:rPr lang="en-GB" i="1" dirty="0" err="1" smtClean="0">
                <a:solidFill>
                  <a:srgbClr val="7030A0"/>
                </a:solidFill>
              </a:rPr>
              <a:t>employees.sal</a:t>
            </a:r>
            <a:r>
              <a:rPr lang="en-GB" i="1" dirty="0" smtClean="0">
                <a:solidFill>
                  <a:srgbClr val="7030A0"/>
                </a:solidFill>
              </a:rPr>
              <a:t/>
            </a:r>
            <a:br>
              <a:rPr lang="en-GB" i="1" dirty="0" smtClean="0">
                <a:solidFill>
                  <a:srgbClr val="7030A0"/>
                </a:solidFill>
              </a:rPr>
            </a:br>
            <a:endParaRPr lang="en-GB" i="1" dirty="0">
              <a:solidFill>
                <a:srgbClr val="7030A0"/>
              </a:solidFill>
            </a:endParaRPr>
          </a:p>
          <a:p>
            <a:pPr marL="457200" lvl="1" indent="0">
              <a:buNone/>
            </a:pPr>
            <a:r>
              <a:rPr lang="en-GB" sz="2400" b="1" dirty="0">
                <a:solidFill>
                  <a:srgbClr val="0033CC"/>
                </a:solidFill>
              </a:rPr>
              <a:t>db. </a:t>
            </a:r>
            <a:r>
              <a:rPr lang="en-GB" sz="2400" b="1" dirty="0" err="1">
                <a:solidFill>
                  <a:srgbClr val="0033CC"/>
                </a:solidFill>
              </a:rPr>
              <a:t>deptCollection.find</a:t>
            </a:r>
            <a:r>
              <a:rPr lang="en-GB" sz="2400" b="1" dirty="0" smtClean="0">
                <a:solidFill>
                  <a:srgbClr val="0033CC"/>
                </a:solidFill>
              </a:rPr>
              <a:t>( { </a:t>
            </a:r>
            <a:r>
              <a:rPr lang="en-GB" sz="2400" b="1" dirty="0">
                <a:solidFill>
                  <a:srgbClr val="0033CC"/>
                </a:solidFill>
              </a:rPr>
              <a:t>"</a:t>
            </a:r>
            <a:r>
              <a:rPr lang="en-GB" sz="2400" b="1" dirty="0" err="1">
                <a:solidFill>
                  <a:srgbClr val="0033CC"/>
                </a:solidFill>
              </a:rPr>
              <a:t>employees.sal</a:t>
            </a:r>
            <a:r>
              <a:rPr lang="en-GB" sz="2400" b="1" dirty="0">
                <a:solidFill>
                  <a:srgbClr val="0033CC"/>
                </a:solidFill>
              </a:rPr>
              <a:t>" : </a:t>
            </a:r>
            <a:r>
              <a:rPr lang="en-GB" sz="2400" b="1" dirty="0" smtClean="0">
                <a:solidFill>
                  <a:srgbClr val="0033CC"/>
                </a:solidFill>
              </a:rPr>
              <a:t>{ </a:t>
            </a:r>
            <a:r>
              <a:rPr lang="en-GB" sz="2400" b="1" dirty="0">
                <a:solidFill>
                  <a:srgbClr val="0033CC"/>
                </a:solidFill>
              </a:rPr>
              <a:t>$</a:t>
            </a:r>
            <a:r>
              <a:rPr lang="en-GB" sz="2400" b="1" dirty="0" err="1">
                <a:solidFill>
                  <a:srgbClr val="0033CC"/>
                </a:solidFill>
              </a:rPr>
              <a:t>gt</a:t>
            </a:r>
            <a:r>
              <a:rPr lang="en-GB" sz="2400" b="1" dirty="0">
                <a:solidFill>
                  <a:srgbClr val="0033CC"/>
                </a:solidFill>
              </a:rPr>
              <a:t>: 2000</a:t>
            </a:r>
            <a:r>
              <a:rPr lang="en-GB" sz="2400" b="1" dirty="0" smtClean="0">
                <a:solidFill>
                  <a:srgbClr val="0033CC"/>
                </a:solidFill>
              </a:rPr>
              <a:t>}})</a:t>
            </a:r>
            <a:r>
              <a:rPr lang="en-GB" sz="2000" b="1" dirty="0" smtClean="0">
                <a:solidFill>
                  <a:srgbClr val="0033CC"/>
                </a:solidFill>
              </a:rPr>
              <a:t/>
            </a:r>
            <a:br>
              <a:rPr lang="en-GB" sz="2000" b="1" dirty="0" smtClean="0">
                <a:solidFill>
                  <a:srgbClr val="0033CC"/>
                </a:solidFill>
              </a:rPr>
            </a:br>
            <a:endParaRPr lang="en-GB" sz="2000" b="1" dirty="0">
              <a:solidFill>
                <a:srgbClr val="0033CC"/>
              </a:solidFill>
            </a:endParaRPr>
          </a:p>
          <a:p>
            <a:r>
              <a:rPr lang="en-GB" dirty="0"/>
              <a:t>e</a:t>
            </a:r>
            <a:r>
              <a:rPr lang="en-GB" dirty="0" smtClean="0"/>
              <a:t>mployees </a:t>
            </a:r>
            <a:r>
              <a:rPr lang="en-GB" dirty="0"/>
              <a:t>is an array of employee </a:t>
            </a:r>
            <a:r>
              <a:rPr lang="en-GB" dirty="0" smtClean="0"/>
              <a:t>type.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27</a:t>
            </a:fld>
            <a:endParaRPr lang="en-GB" dirty="0"/>
          </a:p>
        </p:txBody>
      </p:sp>
      <p:sp>
        <p:nvSpPr>
          <p:cNvPr id="5" name="Line Callout 1 4"/>
          <p:cNvSpPr/>
          <p:nvPr/>
        </p:nvSpPr>
        <p:spPr bwMode="auto">
          <a:xfrm>
            <a:off x="7081544" y="4106631"/>
            <a:ext cx="2845905" cy="1008112"/>
          </a:xfrm>
          <a:prstGeom prst="borderCallout1">
            <a:avLst>
              <a:gd name="adj1" fmla="val 61222"/>
              <a:gd name="adj2" fmla="val -3503"/>
              <a:gd name="adj3" fmla="val -122992"/>
              <a:gd name="adj4" fmla="val -6032"/>
            </a:avLst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sz="1600" dirty="0">
                <a:latin typeface="Arial" charset="0"/>
              </a:rPr>
              <a:t>Will return </a:t>
            </a:r>
            <a:r>
              <a:rPr lang="en-GB" sz="1600" b="1" dirty="0">
                <a:latin typeface="Arial" charset="0"/>
              </a:rPr>
              <a:t>all</a:t>
            </a:r>
            <a:r>
              <a:rPr lang="en-GB" sz="1600" dirty="0">
                <a:latin typeface="Arial" charset="0"/>
              </a:rPr>
              <a:t> the employees in the document, even if only one employee found with this criteria!</a:t>
            </a:r>
          </a:p>
        </p:txBody>
      </p:sp>
    </p:spTree>
    <p:extLst>
      <p:ext uri="{BB962C8B-B14F-4D97-AF65-F5344CB8AC3E}">
        <p14:creationId xmlns:p14="http://schemas.microsoft.com/office/powerpoint/2010/main" val="1894723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132940"/>
            <a:ext cx="10058400" cy="654851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Pattern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505" y="1122602"/>
            <a:ext cx="10607743" cy="4050792"/>
          </a:xfrm>
        </p:spPr>
        <p:txBody>
          <a:bodyPr>
            <a:normAutofit/>
          </a:bodyPr>
          <a:lstStyle/>
          <a:p>
            <a:r>
              <a:rPr lang="en-GB" sz="2400" dirty="0"/>
              <a:t>When analysing data you might not want to search for an exact value</a:t>
            </a:r>
          </a:p>
          <a:p>
            <a:r>
              <a:rPr lang="en-GB" sz="2400" dirty="0">
                <a:solidFill>
                  <a:srgbClr val="7030A0"/>
                </a:solidFill>
              </a:rPr>
              <a:t>Regular expressions </a:t>
            </a:r>
            <a:r>
              <a:rPr lang="en-GB" sz="2400" dirty="0"/>
              <a:t>can be used to search for patterns in the data</a:t>
            </a:r>
          </a:p>
          <a:p>
            <a:r>
              <a:rPr lang="en-GB" sz="2400" dirty="0"/>
              <a:t>Similar to </a:t>
            </a:r>
            <a:r>
              <a:rPr lang="en-GB" sz="2400" dirty="0">
                <a:solidFill>
                  <a:srgbClr val="FF0000"/>
                </a:solidFill>
              </a:rPr>
              <a:t>SQL’s LIKE </a:t>
            </a:r>
            <a:r>
              <a:rPr lang="en-GB" sz="2400" dirty="0"/>
              <a:t>clause</a:t>
            </a:r>
          </a:p>
          <a:p>
            <a:r>
              <a:rPr lang="en-GB" sz="2400" dirty="0"/>
              <a:t>The format for regular expressions is:</a:t>
            </a:r>
          </a:p>
          <a:p>
            <a:pPr lvl="1"/>
            <a:r>
              <a:rPr lang="en-GB" sz="2000" b="1" dirty="0">
                <a:solidFill>
                  <a:srgbClr val="7030A0"/>
                </a:solidFill>
              </a:rPr>
              <a:t>{ &lt;field&gt;: /pattern/&lt;options&gt; }</a:t>
            </a:r>
          </a:p>
          <a:p>
            <a:r>
              <a:rPr lang="en-GB" sz="2400" dirty="0"/>
              <a:t>Or can use the $regex command:</a:t>
            </a:r>
          </a:p>
          <a:p>
            <a:pPr lvl="1"/>
            <a:r>
              <a:rPr lang="en-GB" sz="2000" b="1" dirty="0" smtClean="0">
                <a:solidFill>
                  <a:srgbClr val="7030A0"/>
                </a:solidFill>
              </a:rPr>
              <a:t>{ </a:t>
            </a:r>
            <a:r>
              <a:rPr lang="en-GB" sz="2000" b="1" dirty="0">
                <a:solidFill>
                  <a:srgbClr val="7030A0"/>
                </a:solidFill>
              </a:rPr>
              <a:t>&lt;field&gt;: { $regex: /pattern/&lt;options&gt; } }</a:t>
            </a:r>
          </a:p>
          <a:p>
            <a:pPr lvl="1"/>
            <a:endParaRPr lang="en-GB" sz="2000" dirty="0"/>
          </a:p>
          <a:p>
            <a:endParaRPr lang="en-GB" sz="2400" dirty="0"/>
          </a:p>
          <a:p>
            <a:endParaRPr lang="en-GB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7692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00620"/>
            <a:ext cx="8229600" cy="667543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Pattern Matching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505" y="1124744"/>
            <a:ext cx="10916529" cy="5256584"/>
          </a:xfrm>
        </p:spPr>
        <p:txBody>
          <a:bodyPr>
            <a:normAutofit/>
          </a:bodyPr>
          <a:lstStyle/>
          <a:p>
            <a:r>
              <a:rPr lang="en-GB" dirty="0"/>
              <a:t>For example:</a:t>
            </a:r>
          </a:p>
          <a:p>
            <a:pPr lvl="1"/>
            <a:r>
              <a:rPr lang="en-GB" b="1" dirty="0" err="1">
                <a:solidFill>
                  <a:srgbClr val="0033CC"/>
                </a:solidFill>
              </a:rPr>
              <a:t>db.dept.find</a:t>
            </a:r>
            <a:r>
              <a:rPr lang="en-GB" b="1" dirty="0">
                <a:solidFill>
                  <a:srgbClr val="0033CC"/>
                </a:solidFill>
              </a:rPr>
              <a:t>({</a:t>
            </a:r>
            <a:r>
              <a:rPr lang="en-GB" b="1" dirty="0" err="1">
                <a:solidFill>
                  <a:srgbClr val="0033CC"/>
                </a:solidFill>
              </a:rPr>
              <a:t>dname</a:t>
            </a:r>
            <a:r>
              <a:rPr lang="en-GB" b="1" dirty="0">
                <a:solidFill>
                  <a:srgbClr val="0033CC"/>
                </a:solidFill>
              </a:rPr>
              <a:t>: /SAL</a:t>
            </a:r>
            <a:r>
              <a:rPr lang="en-GB" b="1" dirty="0" smtClean="0">
                <a:solidFill>
                  <a:srgbClr val="0033CC"/>
                </a:solidFill>
              </a:rPr>
              <a:t>/})		</a:t>
            </a:r>
            <a:endParaRPr lang="en-GB" b="1" dirty="0">
              <a:solidFill>
                <a:srgbClr val="0033CC"/>
              </a:solidFill>
            </a:endParaRPr>
          </a:p>
          <a:p>
            <a:pPr lvl="1"/>
            <a:r>
              <a:rPr lang="en-GB" b="1" dirty="0" err="1">
                <a:solidFill>
                  <a:srgbClr val="0033CC"/>
                </a:solidFill>
              </a:rPr>
              <a:t>db.dept.find</a:t>
            </a:r>
            <a:r>
              <a:rPr lang="en-GB" b="1" dirty="0">
                <a:solidFill>
                  <a:srgbClr val="0033CC"/>
                </a:solidFill>
              </a:rPr>
              <a:t>({</a:t>
            </a:r>
            <a:r>
              <a:rPr lang="en-GB" b="1" dirty="0" err="1">
                <a:solidFill>
                  <a:srgbClr val="0033CC"/>
                </a:solidFill>
              </a:rPr>
              <a:t>dname</a:t>
            </a:r>
            <a:r>
              <a:rPr lang="en-GB" b="1" dirty="0">
                <a:solidFill>
                  <a:srgbClr val="0033CC"/>
                </a:solidFill>
              </a:rPr>
              <a:t>: { $regex: </a:t>
            </a:r>
            <a:r>
              <a:rPr lang="en-GB" b="1" dirty="0" smtClean="0">
                <a:solidFill>
                  <a:srgbClr val="0033CC"/>
                </a:solidFill>
              </a:rPr>
              <a:t>/</a:t>
            </a:r>
            <a:r>
              <a:rPr lang="en-GB" b="1" dirty="0" smtClean="0">
                <a:solidFill>
                  <a:srgbClr val="00B050"/>
                </a:solidFill>
              </a:rPr>
              <a:t>^</a:t>
            </a:r>
            <a:r>
              <a:rPr lang="en-GB" b="1" dirty="0" smtClean="0">
                <a:solidFill>
                  <a:srgbClr val="0033CC"/>
                </a:solidFill>
              </a:rPr>
              <a:t>RES/}})	</a:t>
            </a:r>
            <a:r>
              <a:rPr lang="en-GB" b="1" dirty="0" smtClean="0">
                <a:solidFill>
                  <a:srgbClr val="FF0000"/>
                </a:solidFill>
              </a:rPr>
              <a:t>//</a:t>
            </a:r>
            <a:r>
              <a:rPr lang="en-GB" b="1" dirty="0" err="1" smtClean="0">
                <a:solidFill>
                  <a:srgbClr val="FF0000"/>
                </a:solidFill>
              </a:rPr>
              <a:t>strating</a:t>
            </a:r>
            <a:r>
              <a:rPr lang="en-GB" b="1" dirty="0" smtClean="0">
                <a:solidFill>
                  <a:srgbClr val="FF0000"/>
                </a:solidFill>
              </a:rPr>
              <a:t> form RES</a:t>
            </a:r>
          </a:p>
          <a:p>
            <a:pPr lvl="1"/>
            <a:r>
              <a:rPr lang="en-GB" b="1" dirty="0" err="1">
                <a:solidFill>
                  <a:srgbClr val="0033CC"/>
                </a:solidFill>
              </a:rPr>
              <a:t>db.dept.find</a:t>
            </a:r>
            <a:r>
              <a:rPr lang="en-GB" b="1" dirty="0">
                <a:solidFill>
                  <a:srgbClr val="0033CC"/>
                </a:solidFill>
              </a:rPr>
              <a:t>({</a:t>
            </a:r>
            <a:r>
              <a:rPr lang="en-GB" b="1" dirty="0" err="1">
                <a:solidFill>
                  <a:srgbClr val="0033CC"/>
                </a:solidFill>
              </a:rPr>
              <a:t>dname</a:t>
            </a:r>
            <a:r>
              <a:rPr lang="en-GB" b="1" dirty="0">
                <a:solidFill>
                  <a:srgbClr val="0033CC"/>
                </a:solidFill>
              </a:rPr>
              <a:t>: { $regex: </a:t>
            </a:r>
            <a:r>
              <a:rPr lang="en-GB" b="1" dirty="0" smtClean="0">
                <a:solidFill>
                  <a:srgbClr val="0033CC"/>
                </a:solidFill>
              </a:rPr>
              <a:t>/RES/}})	</a:t>
            </a:r>
            <a:r>
              <a:rPr lang="en-GB" b="1" dirty="0" smtClean="0">
                <a:solidFill>
                  <a:srgbClr val="FF0000"/>
                </a:solidFill>
              </a:rPr>
              <a:t>//RES contain </a:t>
            </a:r>
            <a:r>
              <a:rPr lang="en-GB" b="1" dirty="0" err="1" smtClean="0">
                <a:solidFill>
                  <a:srgbClr val="FF0000"/>
                </a:solidFill>
              </a:rPr>
              <a:t>garne</a:t>
            </a:r>
            <a:r>
              <a:rPr lang="en-GB" b="1" dirty="0" smtClean="0">
                <a:solidFill>
                  <a:srgbClr val="FF0000"/>
                </a:solidFill>
              </a:rPr>
              <a:t> </a:t>
            </a:r>
            <a:r>
              <a:rPr lang="en-GB" b="1" dirty="0" err="1" smtClean="0">
                <a:solidFill>
                  <a:srgbClr val="FF0000"/>
                </a:solidFill>
              </a:rPr>
              <a:t>sapai</a:t>
            </a:r>
            <a:r>
              <a:rPr lang="en-GB" b="1" dirty="0" smtClean="0">
                <a:solidFill>
                  <a:srgbClr val="FF0000"/>
                </a:solidFill>
              </a:rPr>
              <a:t/>
            </a:r>
            <a:br>
              <a:rPr lang="en-GB" b="1" dirty="0" smtClean="0">
                <a:solidFill>
                  <a:srgbClr val="FF0000"/>
                </a:solidFill>
              </a:rPr>
            </a:br>
            <a:endParaRPr lang="en-GB" b="1" dirty="0">
              <a:solidFill>
                <a:srgbClr val="FF0000"/>
              </a:solidFill>
            </a:endParaRPr>
          </a:p>
          <a:p>
            <a:r>
              <a:rPr lang="en-GB" dirty="0"/>
              <a:t>Use </a:t>
            </a:r>
            <a:r>
              <a:rPr lang="en-GB" i="1" dirty="0" err="1"/>
              <a:t>i</a:t>
            </a:r>
            <a:r>
              <a:rPr lang="en-GB" dirty="0"/>
              <a:t> option to make it case insensitive:</a:t>
            </a:r>
          </a:p>
          <a:p>
            <a:pPr lvl="1"/>
            <a:r>
              <a:rPr lang="en-GB" sz="2400" b="1" dirty="0" err="1">
                <a:solidFill>
                  <a:srgbClr val="0033CC"/>
                </a:solidFill>
              </a:rPr>
              <a:t>db.emp.find</a:t>
            </a:r>
            <a:r>
              <a:rPr lang="en-GB" sz="2400" b="1" dirty="0">
                <a:solidFill>
                  <a:srgbClr val="0033CC"/>
                </a:solidFill>
              </a:rPr>
              <a:t>({</a:t>
            </a:r>
            <a:r>
              <a:rPr lang="en-GB" sz="2400" b="1" dirty="0" err="1">
                <a:solidFill>
                  <a:srgbClr val="0033CC"/>
                </a:solidFill>
              </a:rPr>
              <a:t>ename</a:t>
            </a:r>
            <a:r>
              <a:rPr lang="en-GB" sz="2400" b="1" dirty="0">
                <a:solidFill>
                  <a:srgbClr val="0033CC"/>
                </a:solidFill>
              </a:rPr>
              <a:t>:/</a:t>
            </a:r>
            <a:r>
              <a:rPr lang="en-GB" sz="2400" b="1" dirty="0" err="1">
                <a:solidFill>
                  <a:srgbClr val="00B050"/>
                </a:solidFill>
              </a:rPr>
              <a:t>sco</a:t>
            </a:r>
            <a:r>
              <a:rPr lang="en-GB" sz="2400" b="1" dirty="0">
                <a:solidFill>
                  <a:srgbClr val="0033CC"/>
                </a:solidFill>
              </a:rPr>
              <a:t>/</a:t>
            </a:r>
            <a:r>
              <a:rPr lang="en-GB" sz="2400" b="1" dirty="0" err="1">
                <a:solidFill>
                  <a:srgbClr val="FF0000"/>
                </a:solidFill>
              </a:rPr>
              <a:t>i</a:t>
            </a:r>
            <a:r>
              <a:rPr lang="en-GB" sz="2400" b="1" dirty="0" smtClean="0">
                <a:solidFill>
                  <a:srgbClr val="0033CC"/>
                </a:solidFill>
              </a:rPr>
              <a:t>})</a:t>
            </a:r>
            <a:r>
              <a:rPr lang="en-GB" b="1" dirty="0" smtClean="0">
                <a:solidFill>
                  <a:srgbClr val="0033CC"/>
                </a:solidFill>
              </a:rPr>
              <a:t/>
            </a:r>
            <a:br>
              <a:rPr lang="en-GB" b="1" dirty="0" smtClean="0">
                <a:solidFill>
                  <a:srgbClr val="0033CC"/>
                </a:solidFill>
              </a:rPr>
            </a:br>
            <a:r>
              <a:rPr lang="en-GB" b="1" dirty="0" smtClean="0">
                <a:solidFill>
                  <a:srgbClr val="0033CC"/>
                </a:solidFill>
              </a:rPr>
              <a:t/>
            </a:r>
            <a:br>
              <a:rPr lang="en-GB" b="1" dirty="0" smtClean="0">
                <a:solidFill>
                  <a:srgbClr val="0033CC"/>
                </a:solidFill>
              </a:rPr>
            </a:br>
            <a:endParaRPr lang="en-GB" b="1" dirty="0">
              <a:solidFill>
                <a:srgbClr val="0033CC"/>
              </a:solidFill>
            </a:endParaRPr>
          </a:p>
          <a:p>
            <a:r>
              <a:rPr lang="en-GB" dirty="0"/>
              <a:t>Nested queries:</a:t>
            </a:r>
          </a:p>
          <a:p>
            <a:pPr marL="457200" lvl="1" indent="0">
              <a:buNone/>
            </a:pPr>
            <a:r>
              <a:rPr lang="en-GB" sz="2400" b="1" dirty="0" err="1">
                <a:solidFill>
                  <a:srgbClr val="0033CC"/>
                </a:solidFill>
              </a:rPr>
              <a:t>db.deptCollection.find</a:t>
            </a:r>
            <a:r>
              <a:rPr lang="en-GB" sz="2400" b="1" dirty="0" smtClean="0">
                <a:solidFill>
                  <a:srgbClr val="0033CC"/>
                </a:solidFill>
              </a:rPr>
              <a:t>( {"</a:t>
            </a:r>
            <a:r>
              <a:rPr lang="en-GB" sz="2400" b="1" dirty="0" err="1">
                <a:solidFill>
                  <a:srgbClr val="0033CC"/>
                </a:solidFill>
              </a:rPr>
              <a:t>employees.ename</a:t>
            </a:r>
            <a:r>
              <a:rPr lang="en-GB" sz="2400" b="1" dirty="0">
                <a:solidFill>
                  <a:srgbClr val="0033CC"/>
                </a:solidFill>
              </a:rPr>
              <a:t>":/</a:t>
            </a:r>
            <a:r>
              <a:rPr lang="en-GB" sz="2400" b="1" dirty="0" err="1" smtClean="0">
                <a:solidFill>
                  <a:srgbClr val="00B050"/>
                </a:solidFill>
              </a:rPr>
              <a:t>sco</a:t>
            </a:r>
            <a:r>
              <a:rPr lang="en-GB" sz="2400" b="1" dirty="0" smtClean="0">
                <a:solidFill>
                  <a:srgbClr val="0033CC"/>
                </a:solidFill>
              </a:rPr>
              <a:t>/</a:t>
            </a:r>
            <a:r>
              <a:rPr lang="en-GB" sz="2400" b="1" dirty="0" err="1" smtClean="0">
                <a:solidFill>
                  <a:srgbClr val="0033CC"/>
                </a:solidFill>
              </a:rPr>
              <a:t>i</a:t>
            </a:r>
            <a:r>
              <a:rPr lang="en-GB" sz="2400" b="1" dirty="0" smtClean="0">
                <a:solidFill>
                  <a:srgbClr val="0033CC"/>
                </a:solidFill>
              </a:rPr>
              <a:t>} ).</a:t>
            </a:r>
            <a:r>
              <a:rPr lang="en-GB" sz="2400" b="1" dirty="0">
                <a:solidFill>
                  <a:srgbClr val="0033CC"/>
                </a:solidFill>
              </a:rPr>
              <a:t>pretty</a:t>
            </a:r>
            <a:r>
              <a:rPr lang="en-GB" sz="2400" b="1" dirty="0" smtClean="0">
                <a:solidFill>
                  <a:srgbClr val="0033CC"/>
                </a:solidFill>
              </a:rPr>
              <a:t>()</a:t>
            </a:r>
            <a:r>
              <a:rPr lang="en-GB" b="1" dirty="0" smtClean="0">
                <a:solidFill>
                  <a:srgbClr val="0033CC"/>
                </a:solidFill>
              </a:rPr>
              <a:t>		</a:t>
            </a:r>
            <a:endParaRPr lang="en-GB" b="1" dirty="0">
              <a:solidFill>
                <a:srgbClr val="0033CC"/>
              </a:solidFill>
            </a:endParaRPr>
          </a:p>
          <a:p>
            <a:pPr marL="457200" lvl="1" indent="0">
              <a:buNone/>
            </a:pPr>
            <a:r>
              <a:rPr lang="en-GB" b="1" dirty="0" smtClean="0">
                <a:solidFill>
                  <a:srgbClr val="FF0000"/>
                </a:solidFill>
              </a:rPr>
              <a:t>//returns employee names within employees array which contains strictly lowercase </a:t>
            </a:r>
            <a:r>
              <a:rPr lang="en-GB" b="1" dirty="0" err="1" smtClean="0">
                <a:solidFill>
                  <a:srgbClr val="00B0F0"/>
                </a:solidFill>
              </a:rPr>
              <a:t>sco</a:t>
            </a:r>
            <a:endParaRPr lang="en-GB" b="1" dirty="0">
              <a:solidFill>
                <a:srgbClr val="00B0F0"/>
              </a:solidFill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8451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916" y="28136"/>
            <a:ext cx="10058400" cy="59858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$filter &amp; Nested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3723" y="1412776"/>
            <a:ext cx="10944665" cy="5112568"/>
          </a:xfrm>
        </p:spPr>
        <p:txBody>
          <a:bodyPr>
            <a:normAutofit/>
          </a:bodyPr>
          <a:lstStyle/>
          <a:p>
            <a:r>
              <a:rPr lang="en-GB" sz="2400" dirty="0"/>
              <a:t>It is not satisfactory to return all the employees in the array if only 1 record matches</a:t>
            </a:r>
          </a:p>
          <a:p>
            <a:r>
              <a:rPr lang="en-GB" sz="2400" dirty="0"/>
              <a:t>employees is an array, which has various operators such as: </a:t>
            </a:r>
            <a:r>
              <a:rPr lang="en-GB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$filter </a:t>
            </a:r>
            <a:r>
              <a:rPr lang="en-GB" sz="24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GB" sz="2400" dirty="0" smtClean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GB" sz="2400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GB" sz="2000" dirty="0">
                <a:solidFill>
                  <a:srgbClr val="FF0000"/>
                </a:solidFill>
              </a:rPr>
              <a:t>This returns a subset of the array with only the elements that match the filter condition</a:t>
            </a:r>
          </a:p>
          <a:p>
            <a:pPr lvl="1"/>
            <a:r>
              <a:rPr lang="en-GB" sz="2000" dirty="0"/>
              <a:t>We can use this to “gather” elements of our employees array to get the employees matching the query criteria only, rather than one, or everyone.</a:t>
            </a:r>
          </a:p>
          <a:p>
            <a:pPr lvl="1"/>
            <a:endParaRPr lang="en-GB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30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9305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983" y="73999"/>
            <a:ext cx="8229600" cy="621771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$filter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3723" y="695770"/>
            <a:ext cx="11177485" cy="5759576"/>
          </a:xfrm>
        </p:spPr>
        <p:txBody>
          <a:bodyPr>
            <a:normAutofit fontScale="77500" lnSpcReduction="20000"/>
          </a:bodyPr>
          <a:lstStyle/>
          <a:p>
            <a:r>
              <a:rPr lang="en-GB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$filter </a:t>
            </a:r>
            <a:r>
              <a:rPr lang="en-GB" b="1" dirty="0"/>
              <a:t>has the following syntax</a:t>
            </a:r>
            <a:r>
              <a:rPr lang="en-GB" b="1" dirty="0" smtClean="0"/>
              <a:t>:</a:t>
            </a:r>
            <a:br>
              <a:rPr lang="en-GB" b="1" dirty="0" smtClean="0"/>
            </a:br>
            <a:endParaRPr lang="en-GB" b="1" dirty="0"/>
          </a:p>
          <a:p>
            <a:pPr marL="457200" lvl="1" indent="0">
              <a:buNone/>
            </a:pPr>
            <a:r>
              <a:rPr lang="en-GB" sz="2600" b="1" dirty="0">
                <a:solidFill>
                  <a:srgbClr val="0033CC"/>
                </a:solidFill>
              </a:rPr>
              <a:t>{ $filter: {</a:t>
            </a:r>
          </a:p>
          <a:p>
            <a:pPr marL="457200" lvl="1" indent="0">
              <a:buNone/>
            </a:pPr>
            <a:r>
              <a:rPr lang="en-GB" sz="2600" b="1" dirty="0">
                <a:solidFill>
                  <a:srgbClr val="0033CC"/>
                </a:solidFill>
              </a:rPr>
              <a:t>	input: &lt;array&gt;, 	</a:t>
            </a:r>
            <a:r>
              <a:rPr lang="en-GB" sz="2600" b="1" dirty="0" smtClean="0">
                <a:solidFill>
                  <a:srgbClr val="0033CC"/>
                </a:solidFill>
              </a:rPr>
              <a:t>	</a:t>
            </a:r>
            <a:r>
              <a:rPr lang="en-GB" sz="2300" b="1" dirty="0" smtClean="0">
                <a:solidFill>
                  <a:srgbClr val="7030A0"/>
                </a:solidFill>
              </a:rPr>
              <a:t>/* </a:t>
            </a:r>
            <a:r>
              <a:rPr lang="en-GB" sz="2300" b="1" dirty="0">
                <a:solidFill>
                  <a:srgbClr val="7030A0"/>
                </a:solidFill>
              </a:rPr>
              <a:t>expression for the array */</a:t>
            </a:r>
          </a:p>
          <a:p>
            <a:pPr marL="457200" lvl="1" indent="0">
              <a:buNone/>
            </a:pPr>
            <a:r>
              <a:rPr lang="en-GB" sz="2600" b="1" dirty="0">
                <a:solidFill>
                  <a:srgbClr val="0033CC"/>
                </a:solidFill>
              </a:rPr>
              <a:t>	as: &lt;string&gt;, 		</a:t>
            </a:r>
            <a:r>
              <a:rPr lang="en-GB" sz="2600" b="1" dirty="0" smtClean="0">
                <a:solidFill>
                  <a:srgbClr val="0033CC"/>
                </a:solidFill>
              </a:rPr>
              <a:t>	</a:t>
            </a:r>
            <a:r>
              <a:rPr lang="en-GB" sz="2300" b="1" dirty="0" smtClean="0">
                <a:solidFill>
                  <a:srgbClr val="7030A0"/>
                </a:solidFill>
              </a:rPr>
              <a:t>/* </a:t>
            </a:r>
            <a:r>
              <a:rPr lang="en-GB" sz="2300" b="1" dirty="0">
                <a:solidFill>
                  <a:srgbClr val="7030A0"/>
                </a:solidFill>
              </a:rPr>
              <a:t>variable name for the element */   </a:t>
            </a:r>
          </a:p>
          <a:p>
            <a:pPr marL="457200" lvl="1" indent="0">
              <a:buNone/>
            </a:pPr>
            <a:r>
              <a:rPr lang="en-GB" sz="2600" b="1" dirty="0">
                <a:solidFill>
                  <a:srgbClr val="0033CC"/>
                </a:solidFill>
              </a:rPr>
              <a:t>	</a:t>
            </a:r>
            <a:r>
              <a:rPr lang="en-GB" sz="2600" b="1" dirty="0" err="1">
                <a:solidFill>
                  <a:srgbClr val="0033CC"/>
                </a:solidFill>
              </a:rPr>
              <a:t>cond</a:t>
            </a:r>
            <a:r>
              <a:rPr lang="en-GB" sz="2600" b="1" dirty="0">
                <a:solidFill>
                  <a:srgbClr val="0033CC"/>
                </a:solidFill>
              </a:rPr>
              <a:t>: &lt;expression&gt; 	</a:t>
            </a:r>
            <a:r>
              <a:rPr lang="en-GB" sz="2600" b="1" dirty="0" smtClean="0">
                <a:solidFill>
                  <a:srgbClr val="0033CC"/>
                </a:solidFill>
              </a:rPr>
              <a:t>	</a:t>
            </a:r>
            <a:r>
              <a:rPr lang="en-GB" sz="2300" b="1" dirty="0" smtClean="0">
                <a:solidFill>
                  <a:srgbClr val="7030A0"/>
                </a:solidFill>
              </a:rPr>
              <a:t>/* </a:t>
            </a:r>
            <a:r>
              <a:rPr lang="en-GB" sz="2300" b="1" dirty="0">
                <a:solidFill>
                  <a:srgbClr val="7030A0"/>
                </a:solidFill>
              </a:rPr>
              <a:t>filter condition</a:t>
            </a:r>
            <a:r>
              <a:rPr lang="en-GB" sz="2300" b="1" dirty="0">
                <a:solidFill>
                  <a:srgbClr val="0033CC"/>
                </a:solidFill>
              </a:rPr>
              <a:t> </a:t>
            </a:r>
            <a:r>
              <a:rPr lang="en-GB" sz="2300" b="1" dirty="0">
                <a:solidFill>
                  <a:srgbClr val="7030A0"/>
                </a:solidFill>
              </a:rPr>
              <a:t>*/</a:t>
            </a:r>
          </a:p>
          <a:p>
            <a:pPr marL="457200" lvl="1" indent="0">
              <a:buNone/>
            </a:pPr>
            <a:r>
              <a:rPr lang="en-GB" sz="2600" b="1" dirty="0">
                <a:solidFill>
                  <a:srgbClr val="0033CC"/>
                </a:solidFill>
              </a:rPr>
              <a:t>} </a:t>
            </a:r>
            <a:r>
              <a:rPr lang="en-GB" sz="2600" b="1" dirty="0" smtClean="0">
                <a:solidFill>
                  <a:srgbClr val="0033CC"/>
                </a:solidFill>
              </a:rPr>
              <a:t>}</a:t>
            </a:r>
            <a:r>
              <a:rPr lang="en-GB" sz="2900" b="1" dirty="0" smtClean="0">
                <a:solidFill>
                  <a:srgbClr val="0033CC"/>
                </a:solidFill>
              </a:rPr>
              <a:t/>
            </a:r>
            <a:br>
              <a:rPr lang="en-GB" sz="2900" b="1" dirty="0" smtClean="0">
                <a:solidFill>
                  <a:srgbClr val="0033CC"/>
                </a:solidFill>
              </a:rPr>
            </a:br>
            <a:endParaRPr lang="en-GB" sz="2900" b="1" dirty="0">
              <a:solidFill>
                <a:srgbClr val="0033CC"/>
              </a:solidFill>
            </a:endParaRPr>
          </a:p>
          <a:p>
            <a:r>
              <a:rPr lang="en-GB" b="1" dirty="0">
                <a:solidFill>
                  <a:srgbClr val="FF0000"/>
                </a:solidFill>
              </a:rPr>
              <a:t>For example:</a:t>
            </a:r>
          </a:p>
          <a:p>
            <a:pPr marL="400050" lvl="1" indent="0">
              <a:buNone/>
            </a:pPr>
            <a:r>
              <a:rPr lang="en-GB" b="1" dirty="0" err="1">
                <a:solidFill>
                  <a:srgbClr val="0033CC"/>
                </a:solidFill>
              </a:rPr>
              <a:t>db.deptCollection.aggregate</a:t>
            </a:r>
            <a:r>
              <a:rPr lang="en-GB" b="1" dirty="0">
                <a:solidFill>
                  <a:srgbClr val="0033CC"/>
                </a:solidFill>
              </a:rPr>
              <a:t>([ {</a:t>
            </a:r>
          </a:p>
          <a:p>
            <a:pPr marL="400050" lvl="1" indent="0">
              <a:buNone/>
            </a:pPr>
            <a:r>
              <a:rPr lang="en-GB" b="1" dirty="0">
                <a:solidFill>
                  <a:srgbClr val="0033CC"/>
                </a:solidFill>
              </a:rPr>
              <a:t>      $project: {		</a:t>
            </a:r>
            <a:r>
              <a:rPr lang="en-GB" b="1" dirty="0" smtClean="0">
                <a:solidFill>
                  <a:srgbClr val="0033CC"/>
                </a:solidFill>
              </a:rPr>
              <a:t>	</a:t>
            </a:r>
            <a:r>
              <a:rPr lang="en-GB" sz="2600" b="1" dirty="0" smtClean="0">
                <a:solidFill>
                  <a:srgbClr val="7030A0"/>
                </a:solidFill>
              </a:rPr>
              <a:t>/* </a:t>
            </a:r>
            <a:r>
              <a:rPr lang="en-GB" sz="2600" b="1" dirty="0">
                <a:solidFill>
                  <a:srgbClr val="7030A0"/>
                </a:solidFill>
              </a:rPr>
              <a:t>used to pass along the documents to the next stage */</a:t>
            </a:r>
          </a:p>
          <a:p>
            <a:pPr marL="400050" lvl="1" indent="0">
              <a:buNone/>
            </a:pPr>
            <a:r>
              <a:rPr lang="en-GB" b="1" dirty="0">
                <a:solidFill>
                  <a:srgbClr val="0033CC"/>
                </a:solidFill>
              </a:rPr>
              <a:t>         </a:t>
            </a:r>
            <a:r>
              <a:rPr lang="en-GB" b="1" dirty="0" err="1">
                <a:solidFill>
                  <a:srgbClr val="0033CC"/>
                </a:solidFill>
              </a:rPr>
              <a:t>empSet</a:t>
            </a:r>
            <a:r>
              <a:rPr lang="en-GB" b="1" dirty="0">
                <a:solidFill>
                  <a:srgbClr val="0033CC"/>
                </a:solidFill>
              </a:rPr>
              <a:t>: {	</a:t>
            </a:r>
            <a:r>
              <a:rPr lang="en-GB" b="1" dirty="0" smtClean="0">
                <a:solidFill>
                  <a:srgbClr val="0033CC"/>
                </a:solidFill>
              </a:rPr>
              <a:t>		</a:t>
            </a:r>
            <a:r>
              <a:rPr lang="en-GB" sz="2600" b="1" dirty="0" smtClean="0">
                <a:solidFill>
                  <a:srgbClr val="7030A0"/>
                </a:solidFill>
              </a:rPr>
              <a:t>/* </a:t>
            </a:r>
            <a:r>
              <a:rPr lang="en-GB" sz="2600" b="1" dirty="0">
                <a:solidFill>
                  <a:srgbClr val="7030A0"/>
                </a:solidFill>
              </a:rPr>
              <a:t>name for the aggregated set */</a:t>
            </a:r>
            <a:endParaRPr lang="en-GB" sz="2600" b="1" dirty="0">
              <a:solidFill>
                <a:srgbClr val="0033CC"/>
              </a:solidFill>
            </a:endParaRPr>
          </a:p>
          <a:p>
            <a:pPr marL="400050" lvl="1" indent="0">
              <a:buNone/>
            </a:pPr>
            <a:r>
              <a:rPr lang="en-GB" b="1" dirty="0">
                <a:solidFill>
                  <a:srgbClr val="0033CC"/>
                </a:solidFill>
              </a:rPr>
              <a:t>            $filter: {</a:t>
            </a:r>
          </a:p>
          <a:p>
            <a:pPr marL="400050" lvl="1" indent="0">
              <a:buNone/>
            </a:pPr>
            <a:r>
              <a:rPr lang="en-GB" b="1" dirty="0">
                <a:solidFill>
                  <a:srgbClr val="0033CC"/>
                </a:solidFill>
              </a:rPr>
              <a:t>               input: "$employees",</a:t>
            </a:r>
          </a:p>
          <a:p>
            <a:pPr marL="400050" lvl="1" indent="0">
              <a:buNone/>
            </a:pPr>
            <a:r>
              <a:rPr lang="en-GB" b="1" dirty="0">
                <a:solidFill>
                  <a:srgbClr val="0033CC"/>
                </a:solidFill>
              </a:rPr>
              <a:t>               as: "employee",</a:t>
            </a:r>
          </a:p>
          <a:p>
            <a:pPr marL="400050" lvl="1" indent="0">
              <a:buNone/>
            </a:pPr>
            <a:r>
              <a:rPr lang="en-GB" b="1" dirty="0">
                <a:solidFill>
                  <a:srgbClr val="0033CC"/>
                </a:solidFill>
              </a:rPr>
              <a:t>               </a:t>
            </a:r>
            <a:r>
              <a:rPr lang="en-GB" b="1" dirty="0" err="1">
                <a:solidFill>
                  <a:srgbClr val="0033CC"/>
                </a:solidFill>
              </a:rPr>
              <a:t>cond</a:t>
            </a:r>
            <a:r>
              <a:rPr lang="en-GB" b="1" dirty="0">
                <a:solidFill>
                  <a:srgbClr val="0033CC"/>
                </a:solidFill>
              </a:rPr>
              <a:t>: { $</a:t>
            </a:r>
            <a:r>
              <a:rPr lang="en-GB" b="1" dirty="0" err="1">
                <a:solidFill>
                  <a:srgbClr val="0033CC"/>
                </a:solidFill>
              </a:rPr>
              <a:t>gte</a:t>
            </a:r>
            <a:r>
              <a:rPr lang="en-GB" b="1" dirty="0">
                <a:solidFill>
                  <a:srgbClr val="0033CC"/>
                </a:solidFill>
              </a:rPr>
              <a:t>: [ "$$</a:t>
            </a:r>
            <a:r>
              <a:rPr lang="en-GB" b="1" dirty="0" err="1">
                <a:solidFill>
                  <a:srgbClr val="0033CC"/>
                </a:solidFill>
              </a:rPr>
              <a:t>employee.sal</a:t>
            </a:r>
            <a:r>
              <a:rPr lang="en-GB" b="1" dirty="0">
                <a:solidFill>
                  <a:srgbClr val="0033CC"/>
                </a:solidFill>
              </a:rPr>
              <a:t>", 2000 ] }</a:t>
            </a:r>
          </a:p>
          <a:p>
            <a:pPr marL="400050" lvl="1" indent="0">
              <a:buNone/>
            </a:pPr>
            <a:r>
              <a:rPr lang="en-GB" b="1" dirty="0">
                <a:solidFill>
                  <a:srgbClr val="0033CC"/>
                </a:solidFill>
              </a:rPr>
              <a:t>            }	</a:t>
            </a:r>
            <a:r>
              <a:rPr lang="en-GB" b="1" dirty="0" smtClean="0">
                <a:solidFill>
                  <a:srgbClr val="0033CC"/>
                </a:solidFill>
              </a:rPr>
              <a:t>			</a:t>
            </a:r>
            <a:r>
              <a:rPr lang="en-GB" b="1" dirty="0" smtClean="0">
                <a:solidFill>
                  <a:srgbClr val="7030A0"/>
                </a:solidFill>
              </a:rPr>
              <a:t> </a:t>
            </a:r>
            <a:r>
              <a:rPr lang="en-GB" sz="2600" b="1" dirty="0">
                <a:solidFill>
                  <a:srgbClr val="7030A0"/>
                </a:solidFill>
              </a:rPr>
              <a:t>/* filter */</a:t>
            </a:r>
            <a:endParaRPr lang="en-GB" sz="2600" b="1" dirty="0">
              <a:solidFill>
                <a:srgbClr val="0033CC"/>
              </a:solidFill>
            </a:endParaRPr>
          </a:p>
          <a:p>
            <a:pPr marL="400050" lvl="1" indent="0">
              <a:buNone/>
            </a:pPr>
            <a:r>
              <a:rPr lang="en-GB" b="1" dirty="0">
                <a:solidFill>
                  <a:srgbClr val="0033CC"/>
                </a:solidFill>
              </a:rPr>
              <a:t>         }	</a:t>
            </a:r>
            <a:r>
              <a:rPr lang="en-GB" b="1" dirty="0" smtClean="0">
                <a:solidFill>
                  <a:srgbClr val="0033CC"/>
                </a:solidFill>
              </a:rPr>
              <a:t>				</a:t>
            </a:r>
            <a:r>
              <a:rPr lang="en-GB" sz="2600" b="1" dirty="0" smtClean="0">
                <a:solidFill>
                  <a:srgbClr val="7030A0"/>
                </a:solidFill>
              </a:rPr>
              <a:t> </a:t>
            </a:r>
            <a:r>
              <a:rPr lang="en-GB" sz="2600" b="1" dirty="0">
                <a:solidFill>
                  <a:srgbClr val="7030A0"/>
                </a:solidFill>
              </a:rPr>
              <a:t>/* </a:t>
            </a:r>
            <a:r>
              <a:rPr lang="en-GB" sz="2600" b="1" dirty="0" err="1">
                <a:solidFill>
                  <a:srgbClr val="7030A0"/>
                </a:solidFill>
              </a:rPr>
              <a:t>empSet</a:t>
            </a:r>
            <a:r>
              <a:rPr lang="en-GB" sz="2600" b="1" dirty="0">
                <a:solidFill>
                  <a:srgbClr val="7030A0"/>
                </a:solidFill>
              </a:rPr>
              <a:t> */</a:t>
            </a:r>
            <a:endParaRPr lang="en-GB" sz="2600" b="1" dirty="0">
              <a:solidFill>
                <a:srgbClr val="0033CC"/>
              </a:solidFill>
            </a:endParaRPr>
          </a:p>
          <a:p>
            <a:pPr marL="400050" lvl="1" indent="0">
              <a:buNone/>
            </a:pPr>
            <a:r>
              <a:rPr lang="en-GB" b="1" dirty="0">
                <a:solidFill>
                  <a:srgbClr val="0033CC"/>
                </a:solidFill>
              </a:rPr>
              <a:t>      } 	</a:t>
            </a:r>
            <a:r>
              <a:rPr lang="en-GB" b="1" dirty="0" smtClean="0">
                <a:solidFill>
                  <a:srgbClr val="0033CC"/>
                </a:solidFill>
              </a:rPr>
              <a:t>				</a:t>
            </a:r>
            <a:r>
              <a:rPr lang="en-GB" sz="2600" b="1" dirty="0" smtClean="0">
                <a:solidFill>
                  <a:srgbClr val="7030A0"/>
                </a:solidFill>
              </a:rPr>
              <a:t>/* </a:t>
            </a:r>
            <a:r>
              <a:rPr lang="en-GB" sz="2600" b="1" dirty="0">
                <a:solidFill>
                  <a:srgbClr val="7030A0"/>
                </a:solidFill>
              </a:rPr>
              <a:t>project */</a:t>
            </a:r>
            <a:endParaRPr lang="en-GB" sz="2600" b="1" dirty="0">
              <a:solidFill>
                <a:srgbClr val="0033CC"/>
              </a:solidFill>
            </a:endParaRPr>
          </a:p>
          <a:p>
            <a:pPr marL="400050" lvl="1" indent="0">
              <a:buNone/>
            </a:pPr>
            <a:r>
              <a:rPr lang="en-GB" b="1" dirty="0">
                <a:solidFill>
                  <a:srgbClr val="0033CC"/>
                </a:solidFill>
              </a:rPr>
              <a:t>   }  		</a:t>
            </a:r>
            <a:r>
              <a:rPr lang="en-GB" b="1" dirty="0" smtClean="0">
                <a:solidFill>
                  <a:srgbClr val="0033CC"/>
                </a:solidFill>
              </a:rPr>
              <a:t>			</a:t>
            </a:r>
            <a:r>
              <a:rPr lang="en-GB" sz="2600" b="1" dirty="0" smtClean="0">
                <a:solidFill>
                  <a:srgbClr val="7030A0"/>
                </a:solidFill>
              </a:rPr>
              <a:t>/* </a:t>
            </a:r>
            <a:r>
              <a:rPr lang="en-GB" sz="2600" b="1" dirty="0">
                <a:solidFill>
                  <a:srgbClr val="7030A0"/>
                </a:solidFill>
              </a:rPr>
              <a:t>aggregate */</a:t>
            </a:r>
          </a:p>
          <a:p>
            <a:pPr marL="400050" lvl="1" indent="0">
              <a:buNone/>
            </a:pPr>
            <a:r>
              <a:rPr lang="en-GB" b="1" dirty="0">
                <a:solidFill>
                  <a:srgbClr val="0033CC"/>
                </a:solidFill>
              </a:rPr>
              <a:t>])	</a:t>
            </a:r>
            <a:r>
              <a:rPr lang="en-GB" b="1" dirty="0" smtClean="0">
                <a:solidFill>
                  <a:srgbClr val="0033CC"/>
                </a:solidFill>
              </a:rPr>
              <a:t>			</a:t>
            </a:r>
            <a:r>
              <a:rPr lang="en-GB" sz="2600" b="1" dirty="0" smtClean="0">
                <a:solidFill>
                  <a:srgbClr val="7030A0"/>
                </a:solidFill>
              </a:rPr>
              <a:t>/* </a:t>
            </a:r>
            <a:r>
              <a:rPr lang="en-GB" sz="2600" b="1" dirty="0">
                <a:solidFill>
                  <a:srgbClr val="7030A0"/>
                </a:solidFill>
              </a:rPr>
              <a:t>Lots of brackets to match up! </a:t>
            </a:r>
            <a:r>
              <a:rPr lang="en-GB" sz="2600" b="1" dirty="0" smtClean="0">
                <a:solidFill>
                  <a:srgbClr val="7030A0"/>
                </a:solidFill>
              </a:rPr>
              <a:t>*/</a:t>
            </a:r>
            <a:endParaRPr lang="en-GB" sz="2600" b="1" dirty="0">
              <a:solidFill>
                <a:srgbClr val="0033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31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587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704202" y="2733053"/>
            <a:ext cx="448898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4320" lvl="1"/>
            <a:r>
              <a:rPr lang="en-GB" sz="2400" dirty="0" err="1">
                <a:solidFill>
                  <a:srgbClr val="0033CC"/>
                </a:solidFill>
              </a:rPr>
              <a:t>db.dept.aggregate</a:t>
            </a:r>
            <a:r>
              <a:rPr lang="en-GB" sz="2400" dirty="0">
                <a:solidFill>
                  <a:srgbClr val="0033CC"/>
                </a:solidFill>
              </a:rPr>
              <a:t>([ {</a:t>
            </a:r>
          </a:p>
          <a:p>
            <a:pPr marL="274320" lvl="1"/>
            <a:r>
              <a:rPr lang="en-GB" sz="2400" dirty="0">
                <a:solidFill>
                  <a:srgbClr val="0033CC"/>
                </a:solidFill>
              </a:rPr>
              <a:t>      $lookup:  {</a:t>
            </a:r>
          </a:p>
          <a:p>
            <a:pPr marL="274320" lvl="1"/>
            <a:r>
              <a:rPr lang="en-GB" sz="2400" dirty="0">
                <a:solidFill>
                  <a:srgbClr val="0033CC"/>
                </a:solidFill>
              </a:rPr>
              <a:t>          from: "</a:t>
            </a:r>
            <a:r>
              <a:rPr lang="en-GB" sz="2400" dirty="0" err="1">
                <a:solidFill>
                  <a:srgbClr val="0033CC"/>
                </a:solidFill>
              </a:rPr>
              <a:t>emp</a:t>
            </a:r>
            <a:r>
              <a:rPr lang="en-GB" sz="2400" dirty="0">
                <a:solidFill>
                  <a:srgbClr val="0033CC"/>
                </a:solidFill>
              </a:rPr>
              <a:t>",</a:t>
            </a:r>
          </a:p>
          <a:p>
            <a:pPr marL="274320" lvl="1"/>
            <a:r>
              <a:rPr lang="en-GB" sz="2400" dirty="0">
                <a:solidFill>
                  <a:srgbClr val="0033CC"/>
                </a:solidFill>
              </a:rPr>
              <a:t>          </a:t>
            </a:r>
            <a:r>
              <a:rPr lang="en-GB" sz="2400" dirty="0" err="1">
                <a:solidFill>
                  <a:srgbClr val="0033CC"/>
                </a:solidFill>
              </a:rPr>
              <a:t>localField</a:t>
            </a:r>
            <a:r>
              <a:rPr lang="en-GB" sz="2400" dirty="0">
                <a:solidFill>
                  <a:srgbClr val="0033CC"/>
                </a:solidFill>
              </a:rPr>
              <a:t>: "</a:t>
            </a:r>
            <a:r>
              <a:rPr lang="en-GB" sz="2400" dirty="0" err="1">
                <a:solidFill>
                  <a:srgbClr val="0033CC"/>
                </a:solidFill>
              </a:rPr>
              <a:t>deptno</a:t>
            </a:r>
            <a:r>
              <a:rPr lang="en-GB" sz="2400" dirty="0">
                <a:solidFill>
                  <a:srgbClr val="0033CC"/>
                </a:solidFill>
              </a:rPr>
              <a:t>",</a:t>
            </a:r>
          </a:p>
          <a:p>
            <a:pPr marL="274320" lvl="1"/>
            <a:r>
              <a:rPr lang="en-GB" sz="2400" dirty="0">
                <a:solidFill>
                  <a:srgbClr val="0033CC"/>
                </a:solidFill>
              </a:rPr>
              <a:t>          </a:t>
            </a:r>
            <a:r>
              <a:rPr lang="en-GB" sz="2400" dirty="0" err="1">
                <a:solidFill>
                  <a:srgbClr val="0033CC"/>
                </a:solidFill>
              </a:rPr>
              <a:t>foreignField</a:t>
            </a:r>
            <a:r>
              <a:rPr lang="en-GB" sz="2400" dirty="0">
                <a:solidFill>
                  <a:srgbClr val="0033CC"/>
                </a:solidFill>
              </a:rPr>
              <a:t>: "</a:t>
            </a:r>
            <a:r>
              <a:rPr lang="en-GB" sz="2400" dirty="0" err="1">
                <a:solidFill>
                  <a:srgbClr val="0033CC"/>
                </a:solidFill>
              </a:rPr>
              <a:t>deptno</a:t>
            </a:r>
            <a:r>
              <a:rPr lang="en-GB" sz="2400" dirty="0">
                <a:solidFill>
                  <a:srgbClr val="0033CC"/>
                </a:solidFill>
              </a:rPr>
              <a:t>",</a:t>
            </a:r>
          </a:p>
          <a:p>
            <a:pPr marL="274320" lvl="1"/>
            <a:r>
              <a:rPr lang="en-GB" sz="2400" dirty="0">
                <a:solidFill>
                  <a:srgbClr val="0033CC"/>
                </a:solidFill>
              </a:rPr>
              <a:t>          as: "employees"</a:t>
            </a:r>
          </a:p>
          <a:p>
            <a:pPr marL="274320" lvl="1"/>
            <a:r>
              <a:rPr lang="en-GB" sz="2400" dirty="0">
                <a:solidFill>
                  <a:srgbClr val="0033CC"/>
                </a:solidFill>
              </a:rPr>
              <a:t>        }</a:t>
            </a:r>
          </a:p>
          <a:p>
            <a:pPr marL="274320" lvl="1"/>
            <a:r>
              <a:rPr lang="en-GB" sz="2400" dirty="0">
                <a:solidFill>
                  <a:srgbClr val="0033CC"/>
                </a:solidFill>
              </a:rPr>
              <a:t>   }</a:t>
            </a:r>
          </a:p>
          <a:p>
            <a:pPr marL="274320" lvl="1"/>
            <a:r>
              <a:rPr lang="en-GB" sz="2400" dirty="0">
                <a:solidFill>
                  <a:srgbClr val="0033CC"/>
                </a:solidFill>
              </a:rPr>
              <a:t>])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544" y="0"/>
            <a:ext cx="8229600" cy="883568"/>
          </a:xfrm>
        </p:spPr>
        <p:txBody>
          <a:bodyPr>
            <a:normAutofit/>
          </a:bodyPr>
          <a:lstStyle/>
          <a:p>
            <a:pPr algn="ctr"/>
            <a:r>
              <a:rPr lang="en-GB" sz="4800" dirty="0"/>
              <a:t>$lookup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33" y="883568"/>
            <a:ext cx="11268221" cy="1584176"/>
          </a:xfrm>
        </p:spPr>
        <p:txBody>
          <a:bodyPr>
            <a:normAutofit/>
          </a:bodyPr>
          <a:lstStyle/>
          <a:p>
            <a:r>
              <a:rPr lang="en-GB" dirty="0"/>
              <a:t>$lookup can be used to provide a left outer join between two collections.</a:t>
            </a:r>
          </a:p>
          <a:p>
            <a:r>
              <a:rPr lang="en-GB" dirty="0"/>
              <a:t>The $lookup stage does an equality match between a column from the input documents with a column from the joined collection: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32</a:t>
            </a:fld>
            <a:endParaRPr lang="en-GB" dirty="0"/>
          </a:p>
        </p:txBody>
      </p:sp>
      <p:sp>
        <p:nvSpPr>
          <p:cNvPr id="5" name="Line Callout 1 4"/>
          <p:cNvSpPr/>
          <p:nvPr/>
        </p:nvSpPr>
        <p:spPr>
          <a:xfrm>
            <a:off x="472233" y="1961707"/>
            <a:ext cx="3146171" cy="530823"/>
          </a:xfrm>
          <a:prstGeom prst="borderCallout1">
            <a:avLst>
              <a:gd name="adj1" fmla="val 107499"/>
              <a:gd name="adj2" fmla="val 52205"/>
              <a:gd name="adj3" fmla="val 175071"/>
              <a:gd name="adj4" fmla="val 7522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Collection providing input documents</a:t>
            </a:r>
          </a:p>
        </p:txBody>
      </p:sp>
      <p:sp>
        <p:nvSpPr>
          <p:cNvPr id="6" name="Line Callout 1 5"/>
          <p:cNvSpPr/>
          <p:nvPr/>
        </p:nvSpPr>
        <p:spPr>
          <a:xfrm>
            <a:off x="5871466" y="2683840"/>
            <a:ext cx="2050315" cy="424203"/>
          </a:xfrm>
          <a:prstGeom prst="borderCallout1">
            <a:avLst>
              <a:gd name="adj1" fmla="val 59063"/>
              <a:gd name="adj2" fmla="val -2078"/>
              <a:gd name="adj3" fmla="val 225251"/>
              <a:gd name="adj4" fmla="val -65531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Collection to join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6468851" y="3531263"/>
            <a:ext cx="2534472" cy="601524"/>
          </a:xfrm>
          <a:prstGeom prst="borderCallout1">
            <a:avLst>
              <a:gd name="adj1" fmla="val 17458"/>
              <a:gd name="adj2" fmla="val -4511"/>
              <a:gd name="adj3" fmla="val 84687"/>
              <a:gd name="adj4" fmla="val -39622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Column to match in the </a:t>
            </a:r>
            <a:r>
              <a:rPr lang="en-GB" sz="1600" dirty="0" err="1"/>
              <a:t>dept</a:t>
            </a:r>
            <a:r>
              <a:rPr lang="en-GB" sz="1600" dirty="0"/>
              <a:t> collection (PK</a:t>
            </a:r>
            <a:r>
              <a:rPr lang="en-GB" dirty="0"/>
              <a:t>)</a:t>
            </a:r>
          </a:p>
        </p:txBody>
      </p:sp>
      <p:sp>
        <p:nvSpPr>
          <p:cNvPr id="8" name="Line Callout 1 7"/>
          <p:cNvSpPr/>
          <p:nvPr/>
        </p:nvSpPr>
        <p:spPr>
          <a:xfrm>
            <a:off x="7642263" y="4523544"/>
            <a:ext cx="2621084" cy="601524"/>
          </a:xfrm>
          <a:prstGeom prst="borderCallout1">
            <a:avLst>
              <a:gd name="adj1" fmla="val 18750"/>
              <a:gd name="adj2" fmla="val -8333"/>
              <a:gd name="adj3" fmla="val -8231"/>
              <a:gd name="adj4" fmla="val -63855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Column to match in the </a:t>
            </a:r>
            <a:r>
              <a:rPr lang="en-GB" sz="1600" dirty="0" err="1"/>
              <a:t>emp</a:t>
            </a:r>
            <a:r>
              <a:rPr lang="en-GB" sz="1600" dirty="0"/>
              <a:t> collection (FK)</a:t>
            </a:r>
          </a:p>
        </p:txBody>
      </p:sp>
      <p:sp>
        <p:nvSpPr>
          <p:cNvPr id="9" name="Line Callout 1 8"/>
          <p:cNvSpPr/>
          <p:nvPr/>
        </p:nvSpPr>
        <p:spPr>
          <a:xfrm>
            <a:off x="5443693" y="5442466"/>
            <a:ext cx="2050315" cy="601524"/>
          </a:xfrm>
          <a:prstGeom prst="borderCallout1">
            <a:avLst>
              <a:gd name="adj1" fmla="val -7902"/>
              <a:gd name="adj2" fmla="val 42753"/>
              <a:gd name="adj3" fmla="val -89917"/>
              <a:gd name="adj4" fmla="val -28896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Name for the output array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32652" y="1892366"/>
            <a:ext cx="4155727" cy="1200329"/>
          </a:xfrm>
          <a:prstGeom prst="rect">
            <a:avLst/>
          </a:prstGeom>
          <a:solidFill>
            <a:srgbClr val="99CCFF"/>
          </a:solidFill>
          <a:ln>
            <a:solidFill>
              <a:srgbClr val="6666FF"/>
            </a:solidFill>
          </a:ln>
        </p:spPr>
        <p:txBody>
          <a:bodyPr wrap="square">
            <a:spAutoFit/>
          </a:bodyPr>
          <a:lstStyle/>
          <a:p>
            <a:r>
              <a:rPr lang="en-GB" b="1" dirty="0"/>
              <a:t>Similar to SQL command:</a:t>
            </a:r>
          </a:p>
          <a:p>
            <a:r>
              <a:rPr lang="en-GB" b="1" i="1" dirty="0"/>
              <a:t>SELECT * FROM</a:t>
            </a:r>
          </a:p>
          <a:p>
            <a:r>
              <a:rPr lang="en-GB" b="1" i="1" dirty="0" err="1"/>
              <a:t>dept</a:t>
            </a:r>
            <a:r>
              <a:rPr lang="en-GB" b="1" i="1" dirty="0"/>
              <a:t>, </a:t>
            </a:r>
            <a:r>
              <a:rPr lang="en-GB" b="1" i="1" dirty="0" err="1"/>
              <a:t>emp</a:t>
            </a:r>
            <a:endParaRPr lang="en-GB" b="1" i="1" dirty="0"/>
          </a:p>
          <a:p>
            <a:r>
              <a:rPr lang="en-GB" b="1" i="1" dirty="0"/>
              <a:t>WHERE </a:t>
            </a:r>
            <a:r>
              <a:rPr lang="en-GB" b="1" i="1" dirty="0" err="1"/>
              <a:t>dept.deptno</a:t>
            </a:r>
            <a:r>
              <a:rPr lang="en-GB" b="1" i="1" dirty="0"/>
              <a:t> = </a:t>
            </a:r>
            <a:r>
              <a:rPr lang="en-GB" b="1" i="1" dirty="0" err="1"/>
              <a:t>emp.deptno</a:t>
            </a:r>
            <a:r>
              <a:rPr lang="en-GB" b="1" i="1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663495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675249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JSON and Relational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654" y="946498"/>
            <a:ext cx="11085341" cy="5508848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A lot of systems will now use JSON format for data exchange, so increasingly relational databases are offering support to handle JSON data.</a:t>
            </a:r>
          </a:p>
          <a:p>
            <a:r>
              <a:rPr lang="en-GB" dirty="0"/>
              <a:t>For example, Oracle 12c V2 allows JSON columns:</a:t>
            </a:r>
          </a:p>
          <a:p>
            <a:pPr marL="457200" lvl="1" indent="0">
              <a:buNone/>
            </a:pPr>
            <a:r>
              <a:rPr lang="en-GB" sz="2600" dirty="0">
                <a:solidFill>
                  <a:srgbClr val="0000FF"/>
                </a:solidFill>
              </a:rPr>
              <a:t>CREATE TABLE </a:t>
            </a:r>
            <a:r>
              <a:rPr lang="en-GB" sz="2600" dirty="0" err="1">
                <a:solidFill>
                  <a:srgbClr val="0000FF"/>
                </a:solidFill>
              </a:rPr>
              <a:t>dept_json</a:t>
            </a:r>
            <a:r>
              <a:rPr lang="en-GB" sz="2600" dirty="0">
                <a:solidFill>
                  <a:srgbClr val="0000FF"/>
                </a:solidFill>
              </a:rPr>
              <a:t>(</a:t>
            </a:r>
          </a:p>
          <a:p>
            <a:pPr marL="457200" lvl="1" indent="0">
              <a:buNone/>
            </a:pPr>
            <a:r>
              <a:rPr lang="en-GB" sz="2600" dirty="0">
                <a:solidFill>
                  <a:srgbClr val="0000FF"/>
                </a:solidFill>
              </a:rPr>
              <a:t>	</a:t>
            </a:r>
            <a:r>
              <a:rPr lang="en-GB" sz="2600" dirty="0" err="1">
                <a:solidFill>
                  <a:srgbClr val="0000FF"/>
                </a:solidFill>
              </a:rPr>
              <a:t>deptno</a:t>
            </a:r>
            <a:r>
              <a:rPr lang="en-GB" sz="2600" dirty="0">
                <a:solidFill>
                  <a:srgbClr val="0000FF"/>
                </a:solidFill>
              </a:rPr>
              <a:t> NUMBER(2) NOT NULL, </a:t>
            </a:r>
          </a:p>
          <a:p>
            <a:pPr marL="457200" lvl="1" indent="0">
              <a:buNone/>
            </a:pPr>
            <a:r>
              <a:rPr lang="en-GB" sz="2600" dirty="0">
                <a:solidFill>
                  <a:srgbClr val="0000FF"/>
                </a:solidFill>
              </a:rPr>
              <a:t>	</a:t>
            </a:r>
            <a:r>
              <a:rPr lang="en-GB" sz="2600" dirty="0" err="1">
                <a:solidFill>
                  <a:srgbClr val="0000FF"/>
                </a:solidFill>
              </a:rPr>
              <a:t>dname</a:t>
            </a:r>
            <a:r>
              <a:rPr lang="en-GB" sz="2600" dirty="0">
                <a:solidFill>
                  <a:srgbClr val="0000FF"/>
                </a:solidFill>
              </a:rPr>
              <a:t> VARCHAR2(15), </a:t>
            </a:r>
          </a:p>
          <a:p>
            <a:pPr marL="457200" lvl="1" indent="0">
              <a:buNone/>
            </a:pPr>
            <a:r>
              <a:rPr lang="en-GB" sz="2600" dirty="0">
                <a:solidFill>
                  <a:srgbClr val="0000FF"/>
                </a:solidFill>
              </a:rPr>
              <a:t>	</a:t>
            </a:r>
            <a:r>
              <a:rPr lang="en-GB" sz="2600" dirty="0" err="1">
                <a:solidFill>
                  <a:srgbClr val="0000FF"/>
                </a:solidFill>
              </a:rPr>
              <a:t>emp_doc</a:t>
            </a:r>
            <a:r>
              <a:rPr lang="en-GB" sz="2600" dirty="0">
                <a:solidFill>
                  <a:srgbClr val="0000FF"/>
                </a:solidFill>
              </a:rPr>
              <a:t> CLOB CONSTRAINT </a:t>
            </a:r>
            <a:r>
              <a:rPr lang="en-GB" sz="2600" dirty="0" err="1">
                <a:solidFill>
                  <a:srgbClr val="0000FF"/>
                </a:solidFill>
              </a:rPr>
              <a:t>ensure_json</a:t>
            </a:r>
            <a:r>
              <a:rPr lang="en-GB" sz="2600" dirty="0">
                <a:solidFill>
                  <a:srgbClr val="0000FF"/>
                </a:solidFill>
              </a:rPr>
              <a:t> </a:t>
            </a:r>
          </a:p>
          <a:p>
            <a:pPr marL="457200" lvl="1" indent="0">
              <a:buNone/>
            </a:pPr>
            <a:r>
              <a:rPr lang="en-GB" sz="2600" dirty="0">
                <a:solidFill>
                  <a:srgbClr val="0000FF"/>
                </a:solidFill>
              </a:rPr>
              <a:t>		CHECK (</a:t>
            </a:r>
            <a:r>
              <a:rPr lang="en-GB" sz="2600" dirty="0" err="1">
                <a:solidFill>
                  <a:srgbClr val="0000FF"/>
                </a:solidFill>
              </a:rPr>
              <a:t>emp_doc</a:t>
            </a:r>
            <a:r>
              <a:rPr lang="en-GB" sz="2600" dirty="0">
                <a:solidFill>
                  <a:srgbClr val="0000FF"/>
                </a:solidFill>
              </a:rPr>
              <a:t> IS JSON)); </a:t>
            </a:r>
          </a:p>
          <a:p>
            <a:r>
              <a:rPr lang="en-GB" dirty="0"/>
              <a:t>Inserts: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0000FF"/>
                </a:solidFill>
              </a:rPr>
              <a:t>INSERT INTO </a:t>
            </a:r>
            <a:r>
              <a:rPr lang="en-GB" dirty="0" err="1">
                <a:solidFill>
                  <a:srgbClr val="0000FF"/>
                </a:solidFill>
              </a:rPr>
              <a:t>dept_json</a:t>
            </a:r>
            <a:endParaRPr lang="en-GB" dirty="0">
              <a:solidFill>
                <a:srgbClr val="0000FF"/>
              </a:solidFill>
            </a:endParaRPr>
          </a:p>
          <a:p>
            <a:pPr marL="457200" lvl="1" indent="0">
              <a:buNone/>
            </a:pPr>
            <a:r>
              <a:rPr lang="en-GB" dirty="0">
                <a:solidFill>
                  <a:srgbClr val="0000FF"/>
                </a:solidFill>
              </a:rPr>
              <a:t>  VALUES (10, 'ACCOUNTING',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0000FF"/>
                </a:solidFill>
              </a:rPr>
              <a:t>          '{	"</a:t>
            </a:r>
            <a:r>
              <a:rPr lang="en-GB" dirty="0" err="1">
                <a:solidFill>
                  <a:srgbClr val="0000FF"/>
                </a:solidFill>
              </a:rPr>
              <a:t>empno</a:t>
            </a:r>
            <a:r>
              <a:rPr lang="en-GB" dirty="0">
                <a:solidFill>
                  <a:srgbClr val="0000FF"/>
                </a:solidFill>
              </a:rPr>
              <a:t>"            : 7782,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0000FF"/>
                </a:solidFill>
              </a:rPr>
              <a:t>            	"</a:t>
            </a:r>
            <a:r>
              <a:rPr lang="en-GB" dirty="0" err="1">
                <a:solidFill>
                  <a:srgbClr val="0000FF"/>
                </a:solidFill>
              </a:rPr>
              <a:t>ename</a:t>
            </a:r>
            <a:r>
              <a:rPr lang="en-GB" dirty="0">
                <a:solidFill>
                  <a:srgbClr val="0000FF"/>
                </a:solidFill>
              </a:rPr>
              <a:t>"            : "CLARK",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0000FF"/>
                </a:solidFill>
              </a:rPr>
              <a:t>		"</a:t>
            </a:r>
            <a:r>
              <a:rPr lang="en-GB" dirty="0" err="1">
                <a:solidFill>
                  <a:srgbClr val="0000FF"/>
                </a:solidFill>
              </a:rPr>
              <a:t>contactDetails</a:t>
            </a:r>
            <a:r>
              <a:rPr lang="en-GB" dirty="0">
                <a:solidFill>
                  <a:srgbClr val="0000FF"/>
                </a:solidFill>
              </a:rPr>
              <a:t>"	: {"</a:t>
            </a:r>
            <a:r>
              <a:rPr lang="en-GB" dirty="0" err="1">
                <a:solidFill>
                  <a:srgbClr val="0000FF"/>
                </a:solidFill>
              </a:rPr>
              <a:t>phoneExt</a:t>
            </a:r>
            <a:r>
              <a:rPr lang="en-GB" dirty="0">
                <a:solidFill>
                  <a:srgbClr val="0000FF"/>
                </a:solidFill>
              </a:rPr>
              <a:t>" : 1483, etc...}’);</a:t>
            </a:r>
          </a:p>
          <a:p>
            <a:r>
              <a:rPr lang="en-GB" dirty="0"/>
              <a:t>Querying nested values using dot notation: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0000FF"/>
                </a:solidFill>
              </a:rPr>
              <a:t>SELECT </a:t>
            </a:r>
            <a:r>
              <a:rPr lang="en-GB" dirty="0" err="1">
                <a:solidFill>
                  <a:srgbClr val="0000FF"/>
                </a:solidFill>
              </a:rPr>
              <a:t>d.emp_doc.</a:t>
            </a:r>
            <a:r>
              <a:rPr lang="en-GB" b="1" dirty="0" err="1">
                <a:solidFill>
                  <a:srgbClr val="0000FF"/>
                </a:solidFill>
              </a:rPr>
              <a:t>contactDetails.phoneExt</a:t>
            </a:r>
            <a:r>
              <a:rPr lang="en-GB" dirty="0">
                <a:solidFill>
                  <a:srgbClr val="0000FF"/>
                </a:solidFill>
              </a:rPr>
              <a:t> 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0000FF"/>
                </a:solidFill>
              </a:rPr>
              <a:t>FROM </a:t>
            </a:r>
            <a:r>
              <a:rPr lang="en-GB" dirty="0" err="1">
                <a:solidFill>
                  <a:srgbClr val="0000FF"/>
                </a:solidFill>
              </a:rPr>
              <a:t>dept_json</a:t>
            </a:r>
            <a:r>
              <a:rPr lang="en-GB" dirty="0">
                <a:solidFill>
                  <a:srgbClr val="0000FF"/>
                </a:solidFill>
              </a:rPr>
              <a:t> d;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33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39481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NoSQL V’s Relational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34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42586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3636" y="0"/>
            <a:ext cx="10058400" cy="773723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NoSQL V’s Relational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4061" y="1412776"/>
            <a:ext cx="10649243" cy="482453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400" dirty="0"/>
              <a:t>Does these NoSQL systems mean the end of relational DBMS?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No quite, relational DBMS are still appropriate for structured data.</a:t>
            </a:r>
          </a:p>
          <a:p>
            <a:pPr>
              <a:lnSpc>
                <a:spcPct val="150000"/>
              </a:lnSpc>
            </a:pPr>
            <a:r>
              <a:rPr lang="en-GB" sz="2400" dirty="0"/>
              <a:t>However, we are entering an age of “</a:t>
            </a:r>
            <a:r>
              <a:rPr lang="en-GB" sz="2400" dirty="0">
                <a:solidFill>
                  <a:srgbClr val="0033CC"/>
                </a:solidFill>
              </a:rPr>
              <a:t>polyglot persistence</a:t>
            </a:r>
            <a:r>
              <a:rPr lang="en-GB" sz="2400" dirty="0"/>
              <a:t>”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This is a technique that uses different data storage technologies to handle varying data storage needs. </a:t>
            </a:r>
          </a:p>
          <a:p>
            <a:pPr lvl="1">
              <a:lnSpc>
                <a:spcPct val="150000"/>
              </a:lnSpc>
            </a:pPr>
            <a:r>
              <a:rPr lang="en-GB" sz="2000" dirty="0"/>
              <a:t>Polyglot persistence can apply across an enterprise or within a single application.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35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59993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768" y="-134346"/>
            <a:ext cx="10058400" cy="1609344"/>
          </a:xfrm>
        </p:spPr>
        <p:txBody>
          <a:bodyPr/>
          <a:lstStyle/>
          <a:p>
            <a:r>
              <a:rPr lang="en-GB" dirty="0"/>
              <a:t>Why NoSQL Will Not Kill the RDBMS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249" y="1294228"/>
            <a:ext cx="10452999" cy="4877972"/>
          </a:xfrm>
        </p:spPr>
        <p:txBody>
          <a:bodyPr>
            <a:normAutofit/>
          </a:bodyPr>
          <a:lstStyle/>
          <a:p>
            <a:r>
              <a:rPr lang="en-GB" sz="2400" dirty="0"/>
              <a:t>There seems to be three major focuses of the NoSQL movement (Mohawksoft.org): </a:t>
            </a:r>
          </a:p>
          <a:p>
            <a:pPr lvl="1"/>
            <a:r>
              <a:rPr lang="en-GB" sz="2000" dirty="0">
                <a:solidFill>
                  <a:srgbClr val="0033CC"/>
                </a:solidFill>
              </a:rPr>
              <a:t>scalability of storage</a:t>
            </a:r>
          </a:p>
          <a:p>
            <a:pPr lvl="2"/>
            <a:r>
              <a:rPr lang="en-GB" sz="1800" dirty="0"/>
              <a:t>All systems (including NoSQL) will hit limitations when you increase the load</a:t>
            </a:r>
          </a:p>
          <a:p>
            <a:pPr lvl="2"/>
            <a:r>
              <a:rPr lang="en-GB" sz="1800" dirty="0"/>
              <a:t>The strategy of NoSQL is to create a system that can easily grow beyond any “current” implementation should the need arise.</a:t>
            </a:r>
          </a:p>
          <a:p>
            <a:pPr lvl="1"/>
            <a:r>
              <a:rPr lang="en-GB" sz="2000" dirty="0">
                <a:solidFill>
                  <a:srgbClr val="0033CC"/>
                </a:solidFill>
              </a:rPr>
              <a:t>rigid schemas</a:t>
            </a:r>
          </a:p>
          <a:p>
            <a:pPr lvl="2"/>
            <a:r>
              <a:rPr lang="en-GB" sz="1800" dirty="0"/>
              <a:t>Most data does not fit easily into a normalised schema</a:t>
            </a:r>
          </a:p>
          <a:p>
            <a:pPr lvl="1"/>
            <a:r>
              <a:rPr lang="en-GB" sz="2000" dirty="0">
                <a:solidFill>
                  <a:srgbClr val="0033CC"/>
                </a:solidFill>
              </a:rPr>
              <a:t>non-scalability of relational data access </a:t>
            </a:r>
          </a:p>
          <a:p>
            <a:pPr lvl="2"/>
            <a:r>
              <a:rPr lang="en-GB" sz="1800" dirty="0"/>
              <a:t>“joins don't scale”</a:t>
            </a:r>
          </a:p>
          <a:p>
            <a:pPr lvl="2"/>
            <a:r>
              <a:rPr lang="en-GB" sz="1800" dirty="0"/>
              <a:t>Joining tables will be less efficient than reading from a data store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36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22859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051" y="0"/>
            <a:ext cx="10058400" cy="1609344"/>
          </a:xfrm>
        </p:spPr>
        <p:txBody>
          <a:bodyPr>
            <a:normAutofit/>
          </a:bodyPr>
          <a:lstStyle/>
          <a:p>
            <a:r>
              <a:rPr lang="en-GB" sz="3200" dirty="0"/>
              <a:t>Why NoSQL Will Not Kill the RDBMS – Rebuttal: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113" y="1556792"/>
            <a:ext cx="11085341" cy="4968552"/>
          </a:xfrm>
        </p:spPr>
        <p:txBody>
          <a:bodyPr>
            <a:normAutofit/>
          </a:bodyPr>
          <a:lstStyle/>
          <a:p>
            <a:r>
              <a:rPr lang="en-GB" dirty="0"/>
              <a:t>“Scalability” is a difficult problem to quantify - what should be scaled? </a:t>
            </a:r>
          </a:p>
          <a:p>
            <a:r>
              <a:rPr lang="en-GB" dirty="0"/>
              <a:t>The big problem: </a:t>
            </a:r>
          </a:p>
          <a:p>
            <a:pPr lvl="1"/>
            <a:r>
              <a:rPr lang="en-GB" dirty="0"/>
              <a:t>quantifying what you want to scale:</a:t>
            </a:r>
          </a:p>
          <a:p>
            <a:pPr lvl="2"/>
            <a:r>
              <a:rPr lang="en-GB" sz="2600" dirty="0"/>
              <a:t>data storage, like a remote backup service? </a:t>
            </a:r>
          </a:p>
          <a:p>
            <a:pPr lvl="2"/>
            <a:r>
              <a:rPr lang="en-GB" sz="2600" dirty="0"/>
              <a:t>small transactions like twitter? </a:t>
            </a:r>
          </a:p>
          <a:p>
            <a:pPr lvl="2"/>
            <a:r>
              <a:rPr lang="en-GB" sz="2600" dirty="0"/>
              <a:t>mostly page views like Google? </a:t>
            </a:r>
          </a:p>
          <a:p>
            <a:pPr lvl="1"/>
            <a:r>
              <a:rPr lang="en-GB" dirty="0"/>
              <a:t>What is your ratio between reads and writes? </a:t>
            </a:r>
          </a:p>
          <a:p>
            <a:pPr lvl="1"/>
            <a:r>
              <a:rPr lang="en-GB" dirty="0"/>
              <a:t>What kind of information does your site serve? </a:t>
            </a:r>
          </a:p>
          <a:p>
            <a:pPr lvl="1"/>
            <a:r>
              <a:rPr lang="en-GB" dirty="0"/>
              <a:t>How coherent must your data be? Do you need to guarantee data integrity? </a:t>
            </a:r>
          </a:p>
          <a:p>
            <a:r>
              <a:rPr lang="en-GB" dirty="0"/>
              <a:t>To have any meaningful discussion on scalability, you need to quantify what it is you wish to scale and the limitations imposed by requirements.</a:t>
            </a:r>
          </a:p>
          <a:p>
            <a:r>
              <a:rPr lang="en-GB" dirty="0"/>
              <a:t>Don’t forget RDBMS databases can be scaled with faster hardware, data partitioning, better caching, and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37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28960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>
            <a:normAutofit/>
          </a:bodyPr>
          <a:lstStyle/>
          <a:p>
            <a:r>
              <a:rPr lang="en-GB" sz="3200" dirty="0"/>
              <a:t>Why NoSQL Will Not Kill the RDBMS – Rebuttal: Rigid Schemas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9" y="1341893"/>
            <a:ext cx="11296357" cy="5516107"/>
          </a:xfrm>
        </p:spPr>
        <p:txBody>
          <a:bodyPr>
            <a:noAutofit/>
          </a:bodyPr>
          <a:lstStyle/>
          <a:p>
            <a:r>
              <a:rPr lang="en-GB" sz="2000" dirty="0"/>
              <a:t>Even in the most </a:t>
            </a:r>
            <a:r>
              <a:rPr lang="en-GB" sz="2000" i="1" dirty="0"/>
              <a:t>“</a:t>
            </a:r>
            <a:r>
              <a:rPr lang="en-GB" sz="2000" i="1" dirty="0" err="1"/>
              <a:t>schemaless</a:t>
            </a:r>
            <a:r>
              <a:rPr lang="en-GB" sz="2000" i="1" dirty="0"/>
              <a:t>” </a:t>
            </a:r>
            <a:r>
              <a:rPr lang="en-GB" sz="2000" dirty="0"/>
              <a:t>database, there is structure in the way the data is stored</a:t>
            </a:r>
          </a:p>
          <a:p>
            <a:pPr lvl="1"/>
            <a:r>
              <a:rPr lang="en-GB" sz="1800" dirty="0"/>
              <a:t>How would the system access it otherwise? </a:t>
            </a:r>
          </a:p>
          <a:p>
            <a:pPr lvl="1"/>
            <a:r>
              <a:rPr lang="en-GB" sz="1800" dirty="0"/>
              <a:t>If we accept that there must be some order and control over the data storage, whether or not we call it a schema is unimportant. </a:t>
            </a:r>
          </a:p>
          <a:p>
            <a:r>
              <a:rPr lang="en-GB" sz="2000" dirty="0"/>
              <a:t>SQL “schemas” are not inflexible</a:t>
            </a:r>
          </a:p>
          <a:p>
            <a:pPr lvl="1"/>
            <a:r>
              <a:rPr lang="en-GB" sz="1800" dirty="0"/>
              <a:t>One can add and usually remove columns in a SQL table.</a:t>
            </a:r>
          </a:p>
          <a:p>
            <a:r>
              <a:rPr lang="en-GB" sz="2000" dirty="0"/>
              <a:t>Could create “generic” key/value tables in a standard SQL database where the “value” column contains any sort of data. </a:t>
            </a:r>
          </a:p>
          <a:p>
            <a:r>
              <a:rPr lang="en-GB" sz="2000" dirty="0"/>
              <a:t>In NoSQL solutions which do not enforce a data definition, you can not search by data contained in “value,” so how is the SQL implementation any different? </a:t>
            </a:r>
          </a:p>
          <a:p>
            <a:pPr lvl="1"/>
            <a:r>
              <a:rPr lang="en-GB" sz="1800" dirty="0"/>
              <a:t>In addition, many SQL databases allow you to create an index based on the results of a function. </a:t>
            </a:r>
          </a:p>
          <a:p>
            <a:pPr lvl="1"/>
            <a:r>
              <a:rPr lang="en-GB" sz="1800" dirty="0"/>
              <a:t>If the “value” in your key/value table contains something like XML or JSON, you can create an index from specific member values extracted from a parser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38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07508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7144" y="0"/>
            <a:ext cx="10058400" cy="1609344"/>
          </a:xfrm>
        </p:spPr>
        <p:txBody>
          <a:bodyPr>
            <a:normAutofit/>
          </a:bodyPr>
          <a:lstStyle/>
          <a:p>
            <a:r>
              <a:rPr lang="en-GB" sz="3200" dirty="0"/>
              <a:t>Why NoSQL Will Not Kill the RDBMS – Rebuttal: Joins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556792"/>
            <a:ext cx="11254154" cy="5040560"/>
          </a:xfrm>
        </p:spPr>
        <p:txBody>
          <a:bodyPr>
            <a:normAutofit/>
          </a:bodyPr>
          <a:lstStyle/>
          <a:p>
            <a:r>
              <a:rPr lang="en-GB" dirty="0"/>
              <a:t>A SQL RDBMS is a comprehensive set of tools, it does not require that data be 100% normalized. </a:t>
            </a:r>
          </a:p>
          <a:p>
            <a:r>
              <a:rPr lang="en-GB" dirty="0"/>
              <a:t>Just because an RDBMS supports joins, triggers, foreign key constraints, primary keys and so on, does not mean that you need to use them. </a:t>
            </a:r>
          </a:p>
          <a:p>
            <a:r>
              <a:rPr lang="en-GB" dirty="0"/>
              <a:t>You design your system for your needs. </a:t>
            </a:r>
          </a:p>
          <a:p>
            <a:pPr lvl="1"/>
            <a:r>
              <a:rPr lang="en-GB" dirty="0"/>
              <a:t>If you don't want a join, put all your data in one table. </a:t>
            </a:r>
          </a:p>
          <a:p>
            <a:pPr lvl="1"/>
            <a:r>
              <a:rPr lang="en-GB" dirty="0"/>
              <a:t>You want a key/value store? Create a key/value table: </a:t>
            </a:r>
          </a:p>
          <a:p>
            <a:pPr marL="857250" lvl="2" indent="0">
              <a:buNone/>
            </a:pPr>
            <a:r>
              <a:rPr lang="en-GB" sz="2600" dirty="0">
                <a:solidFill>
                  <a:srgbClr val="0033CC"/>
                </a:solidFill>
              </a:rPr>
              <a:t>CREATE TABLE </a:t>
            </a:r>
            <a:r>
              <a:rPr lang="en-GB" sz="2600" dirty="0" err="1">
                <a:solidFill>
                  <a:srgbClr val="0033CC"/>
                </a:solidFill>
              </a:rPr>
              <a:t>myKeyValue</a:t>
            </a:r>
            <a:r>
              <a:rPr lang="en-GB" sz="2600" dirty="0">
                <a:solidFill>
                  <a:srgbClr val="0033CC"/>
                </a:solidFill>
              </a:rPr>
              <a:t> (</a:t>
            </a:r>
          </a:p>
          <a:p>
            <a:pPr marL="1371600" lvl="3" indent="0">
              <a:buNone/>
            </a:pPr>
            <a:r>
              <a:rPr lang="en-GB" sz="2600" dirty="0">
                <a:solidFill>
                  <a:srgbClr val="0033CC"/>
                </a:solidFill>
              </a:rPr>
              <a:t>key		NUMBER(5),</a:t>
            </a:r>
          </a:p>
          <a:p>
            <a:pPr marL="1371600" lvl="3" indent="0">
              <a:buNone/>
            </a:pPr>
            <a:r>
              <a:rPr lang="en-GB" sz="2600" dirty="0">
                <a:solidFill>
                  <a:srgbClr val="0033CC"/>
                </a:solidFill>
              </a:rPr>
              <a:t>Value 	</a:t>
            </a:r>
            <a:r>
              <a:rPr lang="en-GB" sz="2600" dirty="0" err="1">
                <a:solidFill>
                  <a:srgbClr val="0033CC"/>
                </a:solidFill>
              </a:rPr>
              <a:t>XMLType</a:t>
            </a:r>
            <a:r>
              <a:rPr lang="en-GB" sz="2600" dirty="0">
                <a:solidFill>
                  <a:srgbClr val="0033CC"/>
                </a:solidFill>
              </a:rPr>
              <a:t> );  /* or could be BLOB, or CLOB */</a:t>
            </a:r>
          </a:p>
          <a:p>
            <a:pPr>
              <a:lnSpc>
                <a:spcPct val="120000"/>
              </a:lnSpc>
            </a:pPr>
            <a:r>
              <a:rPr lang="en-GB" dirty="0"/>
              <a:t>You still get all the tools and features of the RDBMS if you need them. </a:t>
            </a:r>
          </a:p>
          <a:p>
            <a:r>
              <a:rPr lang="en-GB" dirty="0"/>
              <a:t>In a NoSQL system, you don't have that 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39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55270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883567"/>
          </a:xfrm>
        </p:spPr>
        <p:txBody>
          <a:bodyPr/>
          <a:lstStyle/>
          <a:p>
            <a:pPr algn="ctr"/>
            <a:r>
              <a:rPr lang="en-GB" dirty="0"/>
              <a:t>External </a:t>
            </a:r>
            <a:r>
              <a:rPr lang="en-GB" i="1" dirty="0"/>
              <a:t>Found</a:t>
            </a:r>
            <a:r>
              <a:rPr lang="en-GB" dirty="0"/>
              <a:t>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01" y="1340768"/>
            <a:ext cx="11366695" cy="5364832"/>
          </a:xfrm>
        </p:spPr>
        <p:txBody>
          <a:bodyPr>
            <a:normAutofit/>
          </a:bodyPr>
          <a:lstStyle/>
          <a:p>
            <a:r>
              <a:rPr lang="en-GB" dirty="0"/>
              <a:t>For this module we are concerned with manipulating </a:t>
            </a:r>
            <a:r>
              <a:rPr lang="en-GB" i="1" dirty="0"/>
              <a:t>found</a:t>
            </a:r>
            <a:r>
              <a:rPr lang="en-GB" dirty="0"/>
              <a:t> data rather than creating new MongoDB documents</a:t>
            </a:r>
          </a:p>
          <a:p>
            <a:r>
              <a:rPr lang="en-GB" dirty="0"/>
              <a:t>For example, Twitter data is in JSON format, which can be manipulated using MongoDB.</a:t>
            </a:r>
          </a:p>
          <a:p>
            <a:r>
              <a:rPr lang="en-GB" dirty="0"/>
              <a:t>Many webpages that advocate using JSON over XML:</a:t>
            </a:r>
          </a:p>
          <a:p>
            <a:pPr lvl="1"/>
            <a:r>
              <a:rPr lang="en-GB" dirty="0">
                <a:hlinkClick r:id="rId2"/>
              </a:rPr>
              <a:t>https://www.quora.com/What-are-the-advantages-of-JSON-over-XML</a:t>
            </a:r>
            <a:r>
              <a:rPr lang="en-GB" dirty="0"/>
              <a:t> </a:t>
            </a:r>
          </a:p>
          <a:p>
            <a:pPr lvl="1"/>
            <a:r>
              <a:rPr lang="en-GB" dirty="0">
                <a:hlinkClick r:id="rId3"/>
              </a:rPr>
              <a:t>https://www.programmableweb.com/news/xml-vs.-json-primer/how-to/2013/11/07</a:t>
            </a:r>
            <a:r>
              <a:rPr lang="en-GB" dirty="0"/>
              <a:t> </a:t>
            </a:r>
          </a:p>
          <a:p>
            <a:pPr lvl="1"/>
            <a:r>
              <a:rPr lang="en-GB" dirty="0">
                <a:hlinkClick r:id="rId4"/>
              </a:rPr>
              <a:t>https://www.sitepoint.com/json-vs-xml/</a:t>
            </a:r>
            <a:endParaRPr lang="en-GB" dirty="0"/>
          </a:p>
          <a:p>
            <a:pPr lvl="1"/>
            <a:r>
              <a:rPr lang="en-GB" dirty="0">
                <a:hlinkClick r:id="rId5"/>
              </a:rPr>
              <a:t>https://www.w3schools.com/js/js_json_xml.asp</a:t>
            </a:r>
            <a:r>
              <a:rPr lang="en-GB" dirty="0"/>
              <a:t> </a:t>
            </a:r>
          </a:p>
          <a:p>
            <a:r>
              <a:rPr lang="en-GB" dirty="0"/>
              <a:t>Consensus is it is seen as being simpler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40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068925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7473" y="0"/>
            <a:ext cx="10058400" cy="1609344"/>
          </a:xfrm>
        </p:spPr>
        <p:txBody>
          <a:bodyPr/>
          <a:lstStyle/>
          <a:p>
            <a:pPr algn="ctr"/>
            <a:r>
              <a:rPr lang="en-GB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2025" y="1412776"/>
            <a:ext cx="10396024" cy="4968552"/>
          </a:xfrm>
        </p:spPr>
        <p:txBody>
          <a:bodyPr>
            <a:normAutofit/>
          </a:bodyPr>
          <a:lstStyle/>
          <a:p>
            <a:r>
              <a:rPr lang="en-GB" sz="2400" dirty="0"/>
              <a:t>NoSQL</a:t>
            </a:r>
          </a:p>
          <a:p>
            <a:pPr lvl="1"/>
            <a:r>
              <a:rPr lang="en-GB" sz="2000" dirty="0"/>
              <a:t>Lots of different types of projects.</a:t>
            </a:r>
          </a:p>
          <a:p>
            <a:pPr lvl="1"/>
            <a:r>
              <a:rPr lang="en-GB" sz="2000" dirty="0"/>
              <a:t>Many of the examples listed are open-source.</a:t>
            </a:r>
          </a:p>
          <a:p>
            <a:pPr lvl="1"/>
            <a:r>
              <a:rPr lang="en-GB" sz="2000" dirty="0"/>
              <a:t>The fact there is no well-defined definition could lead to its </a:t>
            </a:r>
            <a:r>
              <a:rPr lang="en-GB" sz="2000" dirty="0">
                <a:solidFill>
                  <a:srgbClr val="00B0F0"/>
                </a:solidFill>
              </a:rPr>
              <a:t>downfall</a:t>
            </a:r>
            <a:r>
              <a:rPr lang="en-GB" sz="2000" dirty="0"/>
              <a:t>.</a:t>
            </a:r>
          </a:p>
          <a:p>
            <a:pPr lvl="1"/>
            <a:r>
              <a:rPr lang="en-GB" sz="2000" dirty="0"/>
              <a:t>RDBMS could evolve to provide better support for non-structured data</a:t>
            </a:r>
            <a:r>
              <a:rPr lang="en-GB" sz="2000" dirty="0" smtClean="0"/>
              <a:t>.</a:t>
            </a:r>
            <a:br>
              <a:rPr lang="en-GB" sz="2000" dirty="0" smtClean="0"/>
            </a:br>
            <a:endParaRPr lang="en-GB" sz="2000" dirty="0"/>
          </a:p>
          <a:p>
            <a:r>
              <a:rPr lang="en-GB" sz="2400" i="1" dirty="0"/>
              <a:t>Horses for courses</a:t>
            </a:r>
          </a:p>
          <a:p>
            <a:pPr lvl="1"/>
            <a:r>
              <a:rPr lang="en-GB" sz="2000" dirty="0">
                <a:solidFill>
                  <a:srgbClr val="00B050"/>
                </a:solidFill>
              </a:rPr>
              <a:t>Need to appreciate the strengths and weaknesses of each type of database, so you can pick the most appropriate tool for the data being stored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4A64D-D60E-46A1-8647-7B3CAE372470}" type="slidenum">
              <a:rPr lang="en-GB" smtClean="0"/>
              <a:pPr/>
              <a:t>41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3854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F6FBD7A-87A2-4D96-8E6F-3B0740C1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98CD132-6E08-4094-B0A8-3C02CEB69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Lecture slides from Level 6 (Big Data) of WLV</a:t>
            </a:r>
          </a:p>
        </p:txBody>
      </p:sp>
    </p:spTree>
    <p:extLst>
      <p:ext uri="{BB962C8B-B14F-4D97-AF65-F5344CB8AC3E}">
        <p14:creationId xmlns:p14="http://schemas.microsoft.com/office/powerpoint/2010/main" val="39874771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744</TotalTime>
  <Words>2131</Words>
  <Application>Microsoft Office PowerPoint</Application>
  <PresentationFormat>Widescreen</PresentationFormat>
  <Paragraphs>456</Paragraphs>
  <Slides>42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Arial</vt:lpstr>
      <vt:lpstr>Calibri</vt:lpstr>
      <vt:lpstr>Courier New</vt:lpstr>
      <vt:lpstr>Rockwell</vt:lpstr>
      <vt:lpstr>Rockwell Condensed</vt:lpstr>
      <vt:lpstr>Tahoma</vt:lpstr>
      <vt:lpstr>Wingdings</vt:lpstr>
      <vt:lpstr>Wood Type</vt:lpstr>
      <vt:lpstr>Lecture 11: NoSQL Databases Part 2</vt:lpstr>
      <vt:lpstr>PowerPoint Presentation</vt:lpstr>
      <vt:lpstr>Why NoSQL?</vt:lpstr>
      <vt:lpstr>Who uses NoSQL?</vt:lpstr>
      <vt:lpstr>NoSQL Databases</vt:lpstr>
      <vt:lpstr>MongoDB Reminder</vt:lpstr>
      <vt:lpstr>Using MongoDB – Collections</vt:lpstr>
      <vt:lpstr>Using MongoDB – Documents</vt:lpstr>
      <vt:lpstr>MongoDB – Documents</vt:lpstr>
      <vt:lpstr>Object Ids</vt:lpstr>
      <vt:lpstr>Collection Example: Dept</vt:lpstr>
      <vt:lpstr>Queries</vt:lpstr>
      <vt:lpstr>find()</vt:lpstr>
      <vt:lpstr>PowerPoint Presentation</vt:lpstr>
      <vt:lpstr>find()</vt:lpstr>
      <vt:lpstr>find()</vt:lpstr>
      <vt:lpstr>$group</vt:lpstr>
      <vt:lpstr>Aggregation Pipeline</vt:lpstr>
      <vt:lpstr>Aggregation Pipeline</vt:lpstr>
      <vt:lpstr>Aggregation Pipeline</vt:lpstr>
      <vt:lpstr>Pipeline Example</vt:lpstr>
      <vt:lpstr>PowerPoint Presentation</vt:lpstr>
      <vt:lpstr>PowerPoint Presentation</vt:lpstr>
      <vt:lpstr>Other functions: count and distinct</vt:lpstr>
      <vt:lpstr>Nested documents</vt:lpstr>
      <vt:lpstr>DEPT/EMP schema</vt:lpstr>
      <vt:lpstr>Finding data in nested documents</vt:lpstr>
      <vt:lpstr>Pattern Matching</vt:lpstr>
      <vt:lpstr>Pattern Matching Examples</vt:lpstr>
      <vt:lpstr>$filter &amp; Nested Documents</vt:lpstr>
      <vt:lpstr>$filter</vt:lpstr>
      <vt:lpstr>$lookup</vt:lpstr>
      <vt:lpstr>JSON and Relational databases</vt:lpstr>
      <vt:lpstr>NoSQL V’s Relational</vt:lpstr>
      <vt:lpstr>NoSQL V’s Relational</vt:lpstr>
      <vt:lpstr>Why NoSQL Will Not Kill the RDBMS</vt:lpstr>
      <vt:lpstr>Why NoSQL Will Not Kill the RDBMS – Rebuttal: Scalability</vt:lpstr>
      <vt:lpstr>Why NoSQL Will Not Kill the RDBMS – Rebuttal: Rigid Schemas</vt:lpstr>
      <vt:lpstr>Why NoSQL Will Not Kill the RDBMS – Rebuttal: Joins</vt:lpstr>
      <vt:lpstr>External Found Data</vt:lpstr>
      <vt:lpstr>Conclusion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11: NoSQL Databases Part 2</dc:title>
  <dc:creator>boharag</dc:creator>
  <cp:lastModifiedBy>Hemuni</cp:lastModifiedBy>
  <cp:revision>33</cp:revision>
  <dcterms:created xsi:type="dcterms:W3CDTF">2019-12-25T10:16:31Z</dcterms:created>
  <dcterms:modified xsi:type="dcterms:W3CDTF">2020-02-04T12:48:08Z</dcterms:modified>
</cp:coreProperties>
</file>