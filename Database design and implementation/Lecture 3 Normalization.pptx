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300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326" r:id="rId11"/>
    <p:sldId id="327" r:id="rId12"/>
    <p:sldId id="328" r:id="rId13"/>
    <p:sldId id="329" r:id="rId14"/>
    <p:sldId id="330" r:id="rId15"/>
    <p:sldId id="331" r:id="rId16"/>
    <p:sldId id="263" r:id="rId17"/>
    <p:sldId id="301" r:id="rId18"/>
    <p:sldId id="302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32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xmlns="" id="{B9E98229-6AC2-4927-9873-C408193C0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F6F277-0C74-400E-A1FB-75CA397A643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359436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4A9B3-F217-4A55-ACA5-9748B396CB0B}" type="datetimeFigureOut">
              <a:rPr lang="en-US" smtClean="0"/>
              <a:t>12/17/2019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Database Design and Implementation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  <a:p>
            <a:r>
              <a:rPr lang="en-US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B5565710-B852-46CB-8EFA-EF134A94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xmlns="" id="{8946503B-EAE4-4B3C-AF21-06AAB6F1F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 this Lecture, students will learn: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What normalization is and what role it plays in the database design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About the normal forms 1NF, 2NF, 3NF, BCNF, </a:t>
            </a:r>
            <a:br>
              <a:rPr lang="en-US" altLang="en-US" dirty="0"/>
            </a:br>
            <a:r>
              <a:rPr lang="en-US" altLang="en-US" dirty="0"/>
              <a:t>and 4NF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normal forms can be transformed from lower normal forms to higher normal forms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That normalization and ER modeling are used concurrently to produce a good database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That some situations require denormalization to generate information efficiently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topic will cover:</a:t>
            </a:r>
          </a:p>
          <a:p>
            <a:pPr lvl="1"/>
            <a:r>
              <a:rPr lang="en-US" altLang="en-US" dirty="0"/>
              <a:t>Normalization</a:t>
            </a:r>
          </a:p>
          <a:p>
            <a:pPr lvl="1"/>
            <a:r>
              <a:rPr lang="en-US" altLang="en-US" dirty="0"/>
              <a:t>Need for Normalization</a:t>
            </a:r>
          </a:p>
          <a:p>
            <a:pPr lvl="1"/>
            <a:r>
              <a:rPr lang="en-US" altLang="en-US" dirty="0"/>
              <a:t>Normalization Process</a:t>
            </a:r>
          </a:p>
          <a:p>
            <a:pPr lvl="1"/>
            <a:r>
              <a:rPr lang="en-US" altLang="en-US" dirty="0"/>
              <a:t>Normal Forms</a:t>
            </a:r>
          </a:p>
          <a:p>
            <a:pPr lvl="1"/>
            <a:r>
              <a:rPr lang="en-US" altLang="en-US" dirty="0"/>
              <a:t>Functional Dependence Concepts</a:t>
            </a:r>
          </a:p>
          <a:p>
            <a:pPr lvl="1"/>
            <a:r>
              <a:rPr lang="en-US" altLang="en-US" dirty="0"/>
              <a:t>Conversion to Normal Forms</a:t>
            </a:r>
          </a:p>
          <a:p>
            <a:pPr lvl="1"/>
            <a:endParaRPr lang="en-US" altLang="en-US" dirty="0"/>
          </a:p>
          <a:p>
            <a:pPr lvl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6980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xmlns="" id="{DF2F3695-AA2D-4E9C-A27F-71FF63CC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Normalization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xmlns="" id="{D742CEC7-1972-4B5E-B839-6F722E36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Evaluating and correcting table structures to minimize data redundancies </a:t>
            </a:r>
          </a:p>
          <a:p>
            <a:pPr eaLnBrk="1" hangingPunct="1"/>
            <a:r>
              <a:rPr lang="en-US" altLang="en-US" dirty="0"/>
              <a:t>Reduces data anomalies</a:t>
            </a:r>
          </a:p>
          <a:p>
            <a:pPr eaLnBrk="1" hangingPunct="1"/>
            <a:r>
              <a:rPr lang="en-US" altLang="en-US" dirty="0" smtClean="0"/>
              <a:t>Normal </a:t>
            </a:r>
            <a:r>
              <a:rPr lang="en-US" altLang="en-US" dirty="0"/>
              <a:t>forms</a:t>
            </a:r>
          </a:p>
          <a:p>
            <a:pPr lvl="1" eaLnBrk="1" hangingPunct="1"/>
            <a:r>
              <a:rPr lang="en-US" altLang="en-US" dirty="0"/>
              <a:t>First normal form (1NF)</a:t>
            </a:r>
          </a:p>
          <a:p>
            <a:pPr lvl="1" eaLnBrk="1" hangingPunct="1"/>
            <a:r>
              <a:rPr lang="en-US" altLang="en-US" dirty="0"/>
              <a:t>Second normal form (2NF)</a:t>
            </a:r>
          </a:p>
          <a:p>
            <a:pPr lvl="1" eaLnBrk="1" hangingPunct="1"/>
            <a:r>
              <a:rPr lang="en-US" altLang="en-US" dirty="0"/>
              <a:t>Third normal form (3NF)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429BE679-8CC9-4CD0-A095-9D7E37E3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Normalization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xmlns="" id="{6A3DF9D5-1D12-4D45-8478-5DABA3FC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Structural point of view of normal forms</a:t>
            </a:r>
          </a:p>
          <a:p>
            <a:pPr lvl="1" eaLnBrk="1" hangingPunct="1"/>
            <a:r>
              <a:rPr lang="en-US" altLang="en-US" dirty="0"/>
              <a:t>Higher normal forms are better than lower normal forms</a:t>
            </a:r>
          </a:p>
          <a:p>
            <a:pPr eaLnBrk="1" hangingPunct="1"/>
            <a:r>
              <a:rPr lang="en-US" altLang="en-US" b="1" dirty="0" err="1" smtClean="0"/>
              <a:t>Denormalization</a:t>
            </a:r>
            <a:r>
              <a:rPr lang="en-US" altLang="en-US" dirty="0"/>
              <a:t>: Produces a lower normal </a:t>
            </a:r>
            <a:r>
              <a:rPr lang="en-US" altLang="en-US" dirty="0" smtClean="0"/>
              <a:t>form higher normal form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Results in increased performance and greater data redundancy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xmlns="" id="{55D45564-2FE8-44C9-8607-EC2AD603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Need for Normalization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xmlns="" id="{A6DF0C92-AE4A-4CBA-B544-3B8DD31C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Used while designing a new database structure</a:t>
            </a:r>
          </a:p>
          <a:p>
            <a:pPr lvl="1" eaLnBrk="1" hangingPunct="1"/>
            <a:r>
              <a:rPr lang="en-US" altLang="en-US"/>
              <a:t>Analyzes the relationship among the attributes within each entity</a:t>
            </a:r>
          </a:p>
          <a:p>
            <a:pPr lvl="1" eaLnBrk="1" hangingPunct="1"/>
            <a:r>
              <a:rPr lang="en-US" altLang="en-US"/>
              <a:t>Determines if the structure can be improved</a:t>
            </a:r>
          </a:p>
          <a:p>
            <a:pPr eaLnBrk="1" hangingPunct="1"/>
            <a:r>
              <a:rPr lang="en-US" altLang="en-US"/>
              <a:t>Improves the existing data structure and creates an appropriate database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9CB9E51B-B6E9-4C0F-A808-1F4B0D35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Normalization Process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xmlns="" id="{34FE0C42-B321-469F-A85F-BA13C6B17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 is to ensure that each table conforms to the concept of well-formed relations</a:t>
            </a:r>
          </a:p>
          <a:p>
            <a:pPr lvl="1" eaLnBrk="1" hangingPunct="1"/>
            <a:r>
              <a:rPr lang="en-US" altLang="en-US"/>
              <a:t>Each table represents a single subject</a:t>
            </a:r>
          </a:p>
          <a:p>
            <a:pPr lvl="1" eaLnBrk="1" hangingPunct="1"/>
            <a:r>
              <a:rPr lang="en-US" altLang="en-US"/>
              <a:t>No data item will be unnecessarily stored in more than one table</a:t>
            </a:r>
          </a:p>
          <a:p>
            <a:pPr lvl="1" eaLnBrk="1" hangingPunct="1"/>
            <a:r>
              <a:rPr lang="en-US" altLang="en-US"/>
              <a:t>All nonprime attributes in a table are dependent on the primary key</a:t>
            </a:r>
          </a:p>
          <a:p>
            <a:pPr lvl="1" eaLnBrk="1" hangingPunct="1"/>
            <a:r>
              <a:rPr lang="en-US" altLang="en-US"/>
              <a:t>Each table is void of insertion, update, and deletion anomalies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xmlns="" id="{C2F57655-87E4-4D57-B173-FBA90415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Normalization Process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xmlns="" id="{24F019C1-6D12-402D-841A-75207B24D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Ensures that all tables are in at least 3NF</a:t>
            </a:r>
          </a:p>
          <a:p>
            <a:pPr eaLnBrk="1" hangingPunct="1"/>
            <a:r>
              <a:rPr lang="en-US" altLang="en-US"/>
              <a:t>Higher forms are not likely to be encountered in business environment</a:t>
            </a:r>
          </a:p>
          <a:p>
            <a:pPr eaLnBrk="1" hangingPunct="1"/>
            <a:r>
              <a:rPr lang="en-US" altLang="en-US"/>
              <a:t>Works one relation at a time</a:t>
            </a:r>
          </a:p>
          <a:p>
            <a:pPr eaLnBrk="1" hangingPunct="1"/>
            <a:r>
              <a:rPr lang="en-US" altLang="en-US"/>
              <a:t>Starts by:</a:t>
            </a:r>
          </a:p>
          <a:p>
            <a:pPr lvl="1" eaLnBrk="1" hangingPunct="1"/>
            <a:r>
              <a:rPr lang="en-US" altLang="en-US"/>
              <a:t>Identifying the dependencies of a relation (table)</a:t>
            </a:r>
          </a:p>
          <a:p>
            <a:pPr lvl="1" eaLnBrk="1" hangingPunct="1"/>
            <a:r>
              <a:rPr lang="en-US" altLang="en-US"/>
              <a:t>Progressively breaking the relation into new set of relations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0CE19B1A-3FAD-4220-8ACE-AA423AAA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 Forms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xmlns="" id="{A0B25BD0-9F93-45C3-99F5-E92AEF7B9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49526"/>
            <a:ext cx="8961634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1NF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0167"/>
          <a:stretch/>
        </p:blipFill>
        <p:spPr>
          <a:xfrm>
            <a:off x="2707363" y="1918864"/>
            <a:ext cx="5845794" cy="34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7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131"/>
          <a:stretch/>
        </p:blipFill>
        <p:spPr>
          <a:xfrm>
            <a:off x="3162562" y="1454031"/>
            <a:ext cx="4968564" cy="42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8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2NF</a:t>
            </a:r>
            <a:endParaRPr lang="en-US" dirty="0"/>
          </a:p>
        </p:txBody>
      </p:sp>
      <p:pic>
        <p:nvPicPr>
          <p:cNvPr id="1026" name="Picture 2" descr="Example Not In Second Normal For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757" y="1690688"/>
            <a:ext cx="7542485" cy="370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55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2nd Normal Form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833" y="1945091"/>
            <a:ext cx="8130296" cy="366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38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3NF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867" y="1690688"/>
            <a:ext cx="8023324" cy="405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7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649" y="2067952"/>
            <a:ext cx="9469260" cy="368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xmlns="" id="{947D0BC6-699C-4C7E-A288-F0147AF9C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Functional Dependence Concepts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D9CF7B6-F355-450D-A2B3-92D46BE1BB02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1812926"/>
          <a:ext cx="8382000" cy="42068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815">
                <a:tc>
                  <a:txBody>
                    <a:bodyPr/>
                    <a:lstStyle/>
                    <a:p>
                      <a:r>
                        <a:rPr lang="en-US" sz="1800" dirty="0"/>
                        <a:t>Concept 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88899"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Functional dependence</a:t>
                      </a:r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CA" sz="1800" u="none" strike="noStrike" kern="1200" baseline="0" dirty="0"/>
                        <a:t>The attribute B is fully functionally dependent on the attribute A if each value of A determines one and only one value of B.</a:t>
                      </a:r>
                      <a:endParaRPr lang="en-US" sz="18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88899"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Functional dependence</a:t>
                      </a:r>
                    </a:p>
                    <a:p>
                      <a:r>
                        <a:rPr lang="en-US" sz="1800" u="none" strike="noStrike" kern="1200" baseline="0" dirty="0"/>
                        <a:t>(Generalized definition)</a:t>
                      </a:r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CA" sz="1800" u="none" strike="noStrike" kern="1200" baseline="0" dirty="0"/>
                        <a:t>Attribute A determines attribute B if all of the rows in the table that agree in value for attribute A also agree in value for </a:t>
                      </a:r>
                      <a:r>
                        <a:rPr lang="en-US" sz="1800" u="none" strike="noStrike" kern="1200" baseline="0" dirty="0"/>
                        <a:t>attribute B.</a:t>
                      </a:r>
                      <a:endParaRPr lang="en-US" sz="18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63261"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Fully functional dependence</a:t>
                      </a:r>
                    </a:p>
                    <a:p>
                      <a:r>
                        <a:rPr lang="en-US" sz="1800" u="none" strike="noStrike" kern="1200" baseline="0" dirty="0"/>
                        <a:t>(composite key)</a:t>
                      </a:r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CA" sz="1800" u="none" strike="noStrike" kern="1200" baseline="0" dirty="0"/>
                        <a:t>If attribute B is functionally dependent on a composite key A but not on any</a:t>
                      </a:r>
                    </a:p>
                    <a:p>
                      <a:r>
                        <a:rPr lang="en-US" sz="1800" u="none" strike="noStrike" kern="1200" baseline="0" dirty="0"/>
                        <a:t>Subset </a:t>
                      </a:r>
                      <a:r>
                        <a:rPr lang="en-CA" sz="1800" u="none" strike="noStrike" kern="1200" baseline="0" dirty="0"/>
                        <a:t>of that composite key, the attribute B is fully functionally dependent on A.</a:t>
                      </a:r>
                      <a:endParaRPr lang="en-US" sz="18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xmlns="" id="{1FA82A42-DC26-4070-9C04-BC900A42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Types of Functional Dependencies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xmlns="" id="{B8E891F6-5105-49B3-A797-E026690F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Partial dependency</a:t>
            </a:r>
            <a:r>
              <a:rPr lang="en-US" altLang="en-US"/>
              <a:t>: Functional dependence in which the determinant is only part of the primary key</a:t>
            </a:r>
          </a:p>
          <a:p>
            <a:pPr lvl="1" eaLnBrk="1" hangingPunct="1"/>
            <a:r>
              <a:rPr lang="en-US" altLang="en-US"/>
              <a:t>Assumption - One candidate key </a:t>
            </a:r>
          </a:p>
          <a:p>
            <a:pPr lvl="1" eaLnBrk="1" hangingPunct="1"/>
            <a:r>
              <a:rPr lang="en-US" altLang="en-US"/>
              <a:t>Straight forward</a:t>
            </a:r>
          </a:p>
          <a:p>
            <a:pPr lvl="1" eaLnBrk="1" hangingPunct="1"/>
            <a:r>
              <a:rPr lang="en-US" altLang="en-US"/>
              <a:t>Easy to identify</a:t>
            </a:r>
          </a:p>
          <a:p>
            <a:pPr eaLnBrk="1" hangingPunct="1"/>
            <a:r>
              <a:rPr lang="en-US" altLang="en-US" b="1"/>
              <a:t>Transitive dependency</a:t>
            </a:r>
            <a:r>
              <a:rPr lang="en-US" altLang="en-US"/>
              <a:t>: An attribute functionally depends on another nonkey attribute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xmlns="" id="{E4876D19-CDF7-4F3F-87B8-1AA03733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Conversion to First Normal Form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xmlns="" id="{926B5799-1C65-4162-8B40-753BB60A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Repeating group</a:t>
            </a:r>
            <a:r>
              <a:rPr lang="en-US" altLang="en-US"/>
              <a:t>: Group of multiple entries of same type can exist for any single key attribute occurrence</a:t>
            </a:r>
          </a:p>
          <a:p>
            <a:pPr lvl="1" eaLnBrk="1" hangingPunct="1"/>
            <a:r>
              <a:rPr lang="en-US" altLang="en-US"/>
              <a:t>Existence proves the presence of data redundancies</a:t>
            </a:r>
          </a:p>
          <a:p>
            <a:pPr eaLnBrk="1" hangingPunct="1"/>
            <a:r>
              <a:rPr lang="en-US" altLang="en-US"/>
              <a:t>Enable reducing data redundancies</a:t>
            </a:r>
          </a:p>
          <a:p>
            <a:pPr eaLnBrk="1" hangingPunct="1"/>
            <a:r>
              <a:rPr lang="en-US" altLang="en-US"/>
              <a:t>Steps</a:t>
            </a:r>
          </a:p>
          <a:p>
            <a:pPr lvl="1" eaLnBrk="1" hangingPunct="1"/>
            <a:r>
              <a:rPr lang="en-US" altLang="en-US"/>
              <a:t>Eliminate the repeating groups </a:t>
            </a:r>
          </a:p>
          <a:p>
            <a:pPr lvl="1" eaLnBrk="1" hangingPunct="1"/>
            <a:r>
              <a:rPr lang="en-US" altLang="en-US"/>
              <a:t>Identify the primary key </a:t>
            </a:r>
          </a:p>
          <a:p>
            <a:pPr lvl="1" eaLnBrk="1" hangingPunct="1"/>
            <a:r>
              <a:rPr lang="en-US" altLang="en-US"/>
              <a:t>Identify all dependencies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xmlns="" id="{C8147FF7-3AC2-4BDB-9794-ECC3F71D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Conversion to First Normal Form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xmlns="" id="{AA6F5F98-70C6-4F2E-A9A5-60604C0D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Dependency diagram</a:t>
            </a:r>
            <a:r>
              <a:rPr lang="en-US" altLang="en-US"/>
              <a:t>: Depicts all dependencies found within given table structure</a:t>
            </a:r>
          </a:p>
          <a:p>
            <a:pPr lvl="1" eaLnBrk="1" hangingPunct="1"/>
            <a:r>
              <a:rPr lang="en-US" altLang="en-US"/>
              <a:t>Helps to get an overview of all relationships among table’s attributes</a:t>
            </a:r>
          </a:p>
          <a:p>
            <a:pPr lvl="1" eaLnBrk="1" hangingPunct="1"/>
            <a:r>
              <a:rPr lang="en-US" altLang="en-US"/>
              <a:t>Makes it less likely that an important dependency will be overlooked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xmlns="" id="{DE56070D-CF58-49EC-96AC-B21E194D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Conversion to First Normal Form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xmlns="" id="{4D0A726F-90A4-4D4F-9DD9-0ECCD3643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1NF describes tabular format in which:</a:t>
            </a:r>
          </a:p>
          <a:p>
            <a:pPr lvl="1" eaLnBrk="1" hangingPunct="1"/>
            <a:r>
              <a:rPr lang="en-US" altLang="en-US"/>
              <a:t>All key attributes are defined</a:t>
            </a:r>
          </a:p>
          <a:p>
            <a:pPr lvl="1" eaLnBrk="1" hangingPunct="1"/>
            <a:r>
              <a:rPr lang="en-US" altLang="en-US"/>
              <a:t>There are no repeating groups in the table</a:t>
            </a:r>
          </a:p>
          <a:p>
            <a:pPr lvl="1" eaLnBrk="1" hangingPunct="1"/>
            <a:r>
              <a:rPr lang="en-US" altLang="en-US"/>
              <a:t>All attributes are dependent on the primary key</a:t>
            </a:r>
          </a:p>
          <a:p>
            <a:pPr eaLnBrk="1" hangingPunct="1"/>
            <a:r>
              <a:rPr lang="en-US" altLang="en-US"/>
              <a:t>All relational tables satisfy 1NF requirements</a:t>
            </a:r>
          </a:p>
          <a:p>
            <a:pPr eaLnBrk="1" hangingPunct="1"/>
            <a:r>
              <a:rPr lang="en-US" altLang="en-US"/>
              <a:t>Some tables contain partial dependencies</a:t>
            </a:r>
          </a:p>
          <a:p>
            <a:pPr lvl="1" eaLnBrk="1" hangingPunct="1"/>
            <a:r>
              <a:rPr lang="en-US" altLang="en-US"/>
              <a:t>Subject to data redundancies and various anomalies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xmlns="" id="{9A3BF7F8-2815-4F23-9C17-3FF29EC8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First Normal Form (1NF) Dependency Diagram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:a16="http://schemas.microsoft.com/office/drawing/2014/main" xmlns="" id="{9C4ACF29-BB9A-4F0B-ADE4-2580652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76414"/>
            <a:ext cx="8686800" cy="447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xmlns="" id="{99B51F2D-03AE-4626-A4F8-DBF24274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Conversion to Second Normal Form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xmlns="" id="{C5B32783-DB52-42B6-B9A5-70E207048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Steps </a:t>
            </a:r>
          </a:p>
          <a:p>
            <a:pPr lvl="1" eaLnBrk="1" hangingPunct="1"/>
            <a:r>
              <a:rPr lang="en-US" altLang="en-US"/>
              <a:t>Make new tables to eliminate partial dependencies</a:t>
            </a:r>
          </a:p>
          <a:p>
            <a:pPr lvl="1" eaLnBrk="1" hangingPunct="1"/>
            <a:r>
              <a:rPr lang="en-US" altLang="en-US"/>
              <a:t>Reassign corresponding dependent attributes</a:t>
            </a:r>
          </a:p>
          <a:p>
            <a:pPr eaLnBrk="1" hangingPunct="1"/>
            <a:r>
              <a:rPr lang="en-US" altLang="en-US"/>
              <a:t>Table is in 2NF when it:</a:t>
            </a:r>
          </a:p>
          <a:p>
            <a:pPr lvl="1" eaLnBrk="1" hangingPunct="1"/>
            <a:r>
              <a:rPr lang="en-US" altLang="en-US"/>
              <a:t>Is in 1NF</a:t>
            </a:r>
          </a:p>
          <a:p>
            <a:pPr lvl="1" eaLnBrk="1" hangingPunct="1"/>
            <a:r>
              <a:rPr lang="en-US" altLang="en-US"/>
              <a:t>Includes no partial dependencies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xmlns="" id="{3D283948-8767-451E-84EB-B30825EF8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Second Normal Form (2NF) Conversion Results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xmlns="" id="{D13C9AEE-B800-4209-B5E8-06A07BF60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1"/>
            <a:ext cx="80010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xmlns="" id="{9D4F2E96-42A3-4983-A542-63D2B099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Conversion to Third Normal Form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xmlns="" id="{292A6402-B63B-485E-8870-699944C6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Steps</a:t>
            </a:r>
          </a:p>
          <a:p>
            <a:pPr lvl="1" eaLnBrk="1" hangingPunct="1"/>
            <a:r>
              <a:rPr lang="en-US" altLang="en-US" dirty="0"/>
              <a:t>Make new tables to eliminate transitive dependencies </a:t>
            </a:r>
          </a:p>
          <a:p>
            <a:pPr lvl="2" eaLnBrk="1" hangingPunct="1"/>
            <a:r>
              <a:rPr lang="en-US" altLang="en-US" b="1" dirty="0"/>
              <a:t>Determinant</a:t>
            </a:r>
            <a:r>
              <a:rPr lang="en-US" altLang="en-US" dirty="0"/>
              <a:t>: Any attribute whose value determines other values within a row</a:t>
            </a:r>
          </a:p>
          <a:p>
            <a:pPr lvl="1" eaLnBrk="1" hangingPunct="1"/>
            <a:r>
              <a:rPr lang="en-US" altLang="en-US" dirty="0"/>
              <a:t>Reassign corresponding dependent attributes</a:t>
            </a:r>
          </a:p>
          <a:p>
            <a:pPr eaLnBrk="1" hangingPunct="1"/>
            <a:r>
              <a:rPr lang="en-US" altLang="en-US" dirty="0"/>
              <a:t>Table is in 3NF when it:</a:t>
            </a:r>
          </a:p>
          <a:p>
            <a:pPr lvl="1" eaLnBrk="1" hangingPunct="1"/>
            <a:r>
              <a:rPr lang="en-US" altLang="en-US" dirty="0"/>
              <a:t>Is in 2NF</a:t>
            </a:r>
          </a:p>
          <a:p>
            <a:pPr lvl="1" eaLnBrk="1" hangingPunct="1"/>
            <a:r>
              <a:rPr lang="en-US" altLang="en-US" dirty="0"/>
              <a:t>Contains no transitive dependencies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xmlns="" id="{DD8E039E-1568-4B73-9DBC-11BEB2FC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Third Normal Form (3NF) Conversion Results</a:t>
            </a:r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xmlns="" id="{DD9C41E0-7070-486B-B0DD-BB944F8F5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82788"/>
            <a:ext cx="8686800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xmlns="" id="{B0585D01-FE65-44A3-90AB-C2274E9F2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Requirements for Good Normalized Set of Tables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xmlns="" id="{73C3D0D8-3307-4BEC-A367-CD934C8D4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Evaluate PK assignments and naming conventions</a:t>
            </a:r>
          </a:p>
          <a:p>
            <a:pPr eaLnBrk="1" hangingPunct="1"/>
            <a:r>
              <a:rPr lang="en-US" altLang="en-US"/>
              <a:t>Refine attribute atomicity</a:t>
            </a:r>
          </a:p>
          <a:p>
            <a:pPr lvl="1" eaLnBrk="1" hangingPunct="1"/>
            <a:r>
              <a:rPr lang="en-US" altLang="en-US" b="1"/>
              <a:t>Atomic attribute</a:t>
            </a:r>
            <a:r>
              <a:rPr lang="en-US" altLang="en-US"/>
              <a:t>: Cannot be further subdivided</a:t>
            </a:r>
          </a:p>
          <a:p>
            <a:pPr lvl="1" eaLnBrk="1" hangingPunct="1"/>
            <a:r>
              <a:rPr lang="en-US" altLang="en-US" b="1"/>
              <a:t>Atomicity</a:t>
            </a:r>
            <a:r>
              <a:rPr lang="en-US" altLang="en-US"/>
              <a:t>: Characteristic of an atomic attribute</a:t>
            </a:r>
          </a:p>
          <a:p>
            <a:pPr eaLnBrk="1" hangingPunct="1"/>
            <a:r>
              <a:rPr lang="en-US" altLang="en-US"/>
              <a:t>Identify new attributes and new relationships</a:t>
            </a:r>
          </a:p>
          <a:p>
            <a:pPr eaLnBrk="1" hangingPunct="1"/>
            <a:r>
              <a:rPr lang="en-US" altLang="en-US"/>
              <a:t>Refine primary keys as required for data granularity</a:t>
            </a:r>
          </a:p>
          <a:p>
            <a:pPr lvl="1" eaLnBrk="1" hangingPunct="1"/>
            <a:r>
              <a:rPr lang="en-US" altLang="en-US" b="1"/>
              <a:t>Granularity</a:t>
            </a:r>
            <a:r>
              <a:rPr lang="en-US" altLang="en-US"/>
              <a:t>: Level of detail represented by the values stored in a table’s row</a:t>
            </a:r>
          </a:p>
          <a:p>
            <a:pPr eaLnBrk="1" hangingPunct="1"/>
            <a:r>
              <a:rPr lang="en-US" altLang="en-US"/>
              <a:t>Maintain historical accuracy and evaluate using derived attributes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xmlns="" id="{A4BF871D-024C-40EF-A214-EF56E794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The Completed Database</a:t>
            </a:r>
          </a:p>
        </p:txBody>
      </p:sp>
      <p:pic>
        <p:nvPicPr>
          <p:cNvPr id="32771" name="Picture 4">
            <a:extLst>
              <a:ext uri="{FF2B5EF4-FFF2-40B4-BE49-F238E27FC236}">
                <a16:creationId xmlns:a16="http://schemas.microsoft.com/office/drawing/2014/main" xmlns="" id="{6F61DE8E-EA2F-4EE8-91CD-EA59C8B0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905001"/>
            <a:ext cx="4887913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xmlns="" id="{4669408F-AA14-4708-AEEE-07413E63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The Completed Database</a:t>
            </a:r>
          </a:p>
        </p:txBody>
      </p:sp>
      <p:pic>
        <p:nvPicPr>
          <p:cNvPr id="33795" name="Picture 3">
            <a:extLst>
              <a:ext uri="{FF2B5EF4-FFF2-40B4-BE49-F238E27FC236}">
                <a16:creationId xmlns:a16="http://schemas.microsoft.com/office/drawing/2014/main" xmlns="" id="{69549B08-007B-4DEB-A4B9-A037407C0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1"/>
            <a:ext cx="5486400" cy="499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xmlns="" id="{236CF05E-A59B-4522-A889-BEC861DB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The Completed Database</a:t>
            </a:r>
          </a:p>
        </p:txBody>
      </p:sp>
      <p:pic>
        <p:nvPicPr>
          <p:cNvPr id="34819" name="Picture 3">
            <a:extLst>
              <a:ext uri="{FF2B5EF4-FFF2-40B4-BE49-F238E27FC236}">
                <a16:creationId xmlns:a16="http://schemas.microsoft.com/office/drawing/2014/main" xmlns="" id="{5F567B7D-CE3D-408D-A129-0F2784104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1524000"/>
            <a:ext cx="68167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xmlns="" id="{F79F1015-EED9-4416-9841-36CE55120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The Completed Database</a:t>
            </a:r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xmlns="" id="{5E35FC0D-1855-4F88-A8FF-0154C4891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727075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xmlns="" id="{2A2BF3B7-218B-4750-88F4-60B4275D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Surrogate Keys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xmlns="" id="{66DD06DD-93C1-47F1-9238-52462621D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Used by designers when the primary key is considered to be unsuitable</a:t>
            </a:r>
          </a:p>
          <a:p>
            <a:pPr eaLnBrk="1" hangingPunct="1"/>
            <a:r>
              <a:rPr lang="en-US" altLang="en-US"/>
              <a:t>System-defined attribute </a:t>
            </a:r>
          </a:p>
          <a:p>
            <a:pPr eaLnBrk="1" hangingPunct="1"/>
            <a:r>
              <a:rPr lang="en-US" altLang="en-US"/>
              <a:t>Created an managed via the DBMS</a:t>
            </a:r>
          </a:p>
          <a:p>
            <a:pPr eaLnBrk="1" hangingPunct="1"/>
            <a:r>
              <a:rPr lang="en-US" altLang="en-US"/>
              <a:t>Have a numeric value which is automatically incremented for each new row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xmlns="" id="{AA48EAE8-0A86-4E8D-B830-CFA5F333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The Boyce-Codd Normal Form (BCNF)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xmlns="" id="{A8ECC815-BA6E-4E91-85B0-D019B33B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Every determinant in the table should be a candidate key</a:t>
            </a:r>
          </a:p>
          <a:p>
            <a:pPr lvl="1" eaLnBrk="1" hangingPunct="1"/>
            <a:r>
              <a:rPr lang="en-US" altLang="en-US" dirty="0"/>
              <a:t>Candidate key - Same characteristics as primary key but not chosen to be the primary key</a:t>
            </a:r>
          </a:p>
          <a:p>
            <a:pPr eaLnBrk="1" hangingPunct="1"/>
            <a:r>
              <a:rPr lang="en-US" altLang="en-US" dirty="0"/>
              <a:t>Equivalent to 3NF when the table contains only one candidate key</a:t>
            </a:r>
          </a:p>
          <a:p>
            <a:pPr eaLnBrk="1" hangingPunct="1"/>
            <a:r>
              <a:rPr lang="en-US" altLang="en-US" dirty="0"/>
              <a:t>Violated only when the table contains more than one candidate key</a:t>
            </a:r>
          </a:p>
          <a:p>
            <a:pPr eaLnBrk="1" hangingPunct="1"/>
            <a:r>
              <a:rPr lang="en-US" altLang="en-US" dirty="0"/>
              <a:t>Considered to be a special case of 3NF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xmlns="" id="{4EE47D67-C78A-45E8-93A3-49A03984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 Table That is in 3NF and not in BCNF 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xmlns="" id="{6BEE97EC-A73A-417B-88F3-9CBCC1EAB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22464"/>
            <a:ext cx="7410450" cy="409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xmlns="" id="{B71277F1-8941-471F-ABF3-C8000861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Sample Data for a BCNF Conversion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xmlns="" id="{BBD98D46-6C47-47ED-89E2-584FAFBA7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11450"/>
            <a:ext cx="89916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xmlns="" id="{5DBA0E59-7297-4140-8762-91727FDF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Decomposition to BCNF </a:t>
            </a:r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xmlns="" id="{2436DBDA-4F3A-4334-8DFE-2730A9550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4" y="1600200"/>
            <a:ext cx="603408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xmlns="" id="{C9C8EC68-AD89-4F0E-8E4F-B9B451D2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Fourth Normal Form (4NF)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xmlns="" id="{7DF81ABE-8F1F-4ABB-AA3A-C3E6171BB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Table is in 4NF when it:</a:t>
            </a:r>
          </a:p>
          <a:p>
            <a:pPr lvl="1" eaLnBrk="1" hangingPunct="1"/>
            <a:r>
              <a:rPr lang="en-US" altLang="en-US"/>
              <a:t>Is in 3NF </a:t>
            </a:r>
          </a:p>
          <a:p>
            <a:pPr lvl="1" eaLnBrk="1" hangingPunct="1"/>
            <a:r>
              <a:rPr lang="en-US" altLang="en-US"/>
              <a:t>Has no multivalued dependencies</a:t>
            </a:r>
          </a:p>
          <a:p>
            <a:pPr eaLnBrk="1" hangingPunct="1"/>
            <a:r>
              <a:rPr lang="en-US" altLang="en-US"/>
              <a:t>Rules</a:t>
            </a:r>
          </a:p>
          <a:p>
            <a:pPr lvl="1" eaLnBrk="1" hangingPunct="1"/>
            <a:r>
              <a:rPr lang="en-US" altLang="en-US"/>
              <a:t>All attributes must be dependent on the primary key, but they must be independent of each other</a:t>
            </a:r>
          </a:p>
          <a:p>
            <a:pPr lvl="1" eaLnBrk="1" hangingPunct="1"/>
            <a:r>
              <a:rPr lang="en-US" altLang="en-US"/>
              <a:t>No row may contain two or more multivalued facts about an entity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xmlns="" id="{E316A384-6B98-4881-A2A4-2FCBC47D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Tables with Multivalued Dependencies</a:t>
            </a:r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xmlns="" id="{9072D605-5A0F-4AAC-9726-6CB541321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52650"/>
            <a:ext cx="89916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xmlns="" id="{8F212324-32B4-4609-B397-9DBB59CE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 Set of Tables in 4NF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xmlns="" id="{17C9F8DF-7C04-47B4-A977-A37974290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30350"/>
            <a:ext cx="8991600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Box 2">
            <a:extLst>
              <a:ext uri="{FF2B5EF4-FFF2-40B4-BE49-F238E27FC236}">
                <a16:creationId xmlns:a16="http://schemas.microsoft.com/office/drawing/2014/main" xmlns="" id="{CF5036EA-9E43-4EA3-B173-B2E7B2793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6154738"/>
            <a:ext cx="1600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Cengage Learning © 2015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xmlns="" id="{80CB4122-AB26-4617-B67E-C6F011A5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 Set of Tables in 4NF</a:t>
            </a:r>
          </a:p>
        </p:txBody>
      </p:sp>
      <p:pic>
        <p:nvPicPr>
          <p:cNvPr id="45059" name="Picture 2">
            <a:extLst>
              <a:ext uri="{FF2B5EF4-FFF2-40B4-BE49-F238E27FC236}">
                <a16:creationId xmlns:a16="http://schemas.microsoft.com/office/drawing/2014/main" xmlns="" id="{19398411-E508-41DD-B482-2FE98FA98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924050"/>
            <a:ext cx="86106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Box 2">
            <a:extLst>
              <a:ext uri="{FF2B5EF4-FFF2-40B4-BE49-F238E27FC236}">
                <a16:creationId xmlns:a16="http://schemas.microsoft.com/office/drawing/2014/main" xmlns="" id="{C1534778-1E80-471B-B5B8-045023025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5410201"/>
            <a:ext cx="1600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Cengage Learning © 2015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xmlns="" id="{FC9F4A0D-2F69-40C6-B683-49CA15B0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Normalization and Database Design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xmlns="" id="{3B28012F-0CF5-4AF0-B7DA-382E2629C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995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/>
              <a:t>Normalization should be part of the design process</a:t>
            </a:r>
          </a:p>
          <a:p>
            <a:pPr eaLnBrk="1" hangingPunct="1"/>
            <a:r>
              <a:rPr lang="en-US" altLang="en-US"/>
              <a:t>Proposed entities must meet required the normal form before table structures are created</a:t>
            </a:r>
          </a:p>
          <a:p>
            <a:pPr eaLnBrk="1" hangingPunct="1"/>
            <a:r>
              <a:rPr lang="en-US" altLang="en-US"/>
              <a:t>Principles and normalization procedures to be understood to redesign and modify databases</a:t>
            </a:r>
          </a:p>
          <a:p>
            <a:pPr lvl="1" eaLnBrk="1" hangingPunct="1"/>
            <a:r>
              <a:rPr lang="en-US" altLang="en-US"/>
              <a:t>ERD is created through an iterative process</a:t>
            </a:r>
          </a:p>
          <a:p>
            <a:pPr lvl="1" eaLnBrk="1" hangingPunct="1"/>
            <a:r>
              <a:rPr lang="en-US" altLang="en-US"/>
              <a:t>Normalization focuses on the characteristics of specific entities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xmlns="" id="{38EAE1E5-C97D-4549-BA91-A046B41D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Initial Contracting Company ERD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xmlns="" id="{85AEA51A-52A3-49A6-B434-2FFBAC766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438400"/>
            <a:ext cx="7545388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xmlns="" id="{8C935B62-7B90-4594-90B6-F837EC24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Modified Contracting Company ERD</a:t>
            </a:r>
          </a:p>
        </p:txBody>
      </p:sp>
      <p:sp>
        <p:nvSpPr>
          <p:cNvPr id="48131" name="TextBox 2">
            <a:extLst>
              <a:ext uri="{FF2B5EF4-FFF2-40B4-BE49-F238E27FC236}">
                <a16:creationId xmlns:a16="http://schemas.microsoft.com/office/drawing/2014/main" xmlns="" id="{FB12616C-093C-46A3-AA55-572E4957A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307138"/>
            <a:ext cx="1600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Cengage Learning © 2015</a:t>
            </a: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xmlns="" id="{5FC717C9-86E0-42B7-B876-C9F52FB29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828800"/>
            <a:ext cx="71278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xmlns="" id="{3E665D9F-4A15-4EBC-9620-D4D0275A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Incorrect M:N Relationship Representation</a:t>
            </a:r>
          </a:p>
        </p:txBody>
      </p:sp>
      <p:pic>
        <p:nvPicPr>
          <p:cNvPr id="49155" name="Picture 1">
            <a:extLst>
              <a:ext uri="{FF2B5EF4-FFF2-40B4-BE49-F238E27FC236}">
                <a16:creationId xmlns:a16="http://schemas.microsoft.com/office/drawing/2014/main" xmlns="" id="{A0FDD25F-1D78-4FC6-BE4C-0ECF27294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1758950"/>
            <a:ext cx="6791325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Box 2">
            <a:extLst>
              <a:ext uri="{FF2B5EF4-FFF2-40B4-BE49-F238E27FC236}">
                <a16:creationId xmlns:a16="http://schemas.microsoft.com/office/drawing/2014/main" xmlns="" id="{FFE25A36-4EBA-491E-AAB4-0091D4136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6307138"/>
            <a:ext cx="1600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Cengage Learning © 2015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xmlns="" id="{607E0E49-81CF-4817-8510-107D5A49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/>
              <a:t>Final Contracting Company ERD</a:t>
            </a:r>
          </a:p>
        </p:txBody>
      </p:sp>
      <p:sp>
        <p:nvSpPr>
          <p:cNvPr id="50179" name="TextBox 2">
            <a:extLst>
              <a:ext uri="{FF2B5EF4-FFF2-40B4-BE49-F238E27FC236}">
                <a16:creationId xmlns:a16="http://schemas.microsoft.com/office/drawing/2014/main" xmlns="" id="{84CAFCE9-855A-402D-BF24-31C892239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5943601"/>
            <a:ext cx="1600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Cengage Learning © 2015</a:t>
            </a:r>
          </a:p>
        </p:txBody>
      </p:sp>
      <p:pic>
        <p:nvPicPr>
          <p:cNvPr id="50180" name="Picture 1">
            <a:extLst>
              <a:ext uri="{FF2B5EF4-FFF2-40B4-BE49-F238E27FC236}">
                <a16:creationId xmlns:a16="http://schemas.microsoft.com/office/drawing/2014/main" xmlns="" id="{58F3FD88-2F66-464E-A924-E8BB71DC5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1638"/>
            <a:ext cx="8991600" cy="427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xmlns="" id="{CF6ACD7F-C4AC-40A3-8D1A-9E53FC3B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The Implemented Database</a:t>
            </a:r>
          </a:p>
        </p:txBody>
      </p:sp>
      <p:pic>
        <p:nvPicPr>
          <p:cNvPr id="51203" name="Picture 7">
            <a:extLst>
              <a:ext uri="{FF2B5EF4-FFF2-40B4-BE49-F238E27FC236}">
                <a16:creationId xmlns:a16="http://schemas.microsoft.com/office/drawing/2014/main" xmlns="" id="{2521D850-4288-4AA0-8573-B0393718B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93851"/>
            <a:ext cx="51816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xmlns="" id="{02731874-31B3-4752-AA58-68A5D526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Denormalization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xmlns="" id="{3E24DE23-2531-4F83-8718-C20DA7DB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Design goals</a:t>
            </a:r>
          </a:p>
          <a:p>
            <a:pPr lvl="1" eaLnBrk="1" hangingPunct="1"/>
            <a:r>
              <a:rPr lang="en-US" altLang="en-US"/>
              <a:t>Creation of normalized relations </a:t>
            </a:r>
          </a:p>
          <a:p>
            <a:pPr lvl="1" eaLnBrk="1" hangingPunct="1"/>
            <a:r>
              <a:rPr lang="en-US" altLang="en-US"/>
              <a:t>Processing requirements and speed</a:t>
            </a:r>
          </a:p>
          <a:p>
            <a:pPr eaLnBrk="1" hangingPunct="1"/>
            <a:r>
              <a:rPr lang="en-US" altLang="en-US"/>
              <a:t>Number of database tables expands when tables are decomposed to conform to normalization requirements</a:t>
            </a:r>
          </a:p>
          <a:p>
            <a:pPr eaLnBrk="1" hangingPunct="1"/>
            <a:r>
              <a:rPr lang="en-US" altLang="en-US">
                <a:sym typeface="Wingdings" panose="05000000000000000000" pitchFamily="2" charset="2"/>
              </a:rPr>
              <a:t>Joining a larger number of tables:</a:t>
            </a:r>
          </a:p>
          <a:p>
            <a:pPr lvl="1" eaLnBrk="1" hangingPunct="1"/>
            <a:r>
              <a:rPr lang="en-US" altLang="en-US">
                <a:sym typeface="Wingdings" panose="05000000000000000000" pitchFamily="2" charset="2"/>
              </a:rPr>
              <a:t>Takes additional input/output (I/O) operations and processing logic</a:t>
            </a:r>
          </a:p>
          <a:p>
            <a:pPr lvl="1" eaLnBrk="1" hangingPunct="1"/>
            <a:r>
              <a:rPr lang="en-US" altLang="en-US">
                <a:sym typeface="Wingdings" panose="05000000000000000000" pitchFamily="2" charset="2"/>
              </a:rPr>
              <a:t>Reduces system speed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xmlns="" id="{3C5F87EB-FDA7-4742-A23F-C74D4F17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Denormalization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xmlns="" id="{8278ADF6-D0D4-4364-8E06-5D87ED03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Defects in unnormalized tables</a:t>
            </a:r>
          </a:p>
          <a:p>
            <a:pPr lvl="1" eaLnBrk="1" hangingPunct="1"/>
            <a:r>
              <a:rPr lang="en-US" altLang="en-US" dirty="0"/>
              <a:t>Data updates are less efficient because tables are larger</a:t>
            </a:r>
          </a:p>
          <a:p>
            <a:pPr lvl="1" eaLnBrk="1" hangingPunct="1"/>
            <a:r>
              <a:rPr lang="en-US" altLang="en-US" dirty="0"/>
              <a:t>Indexing is more cumbersome</a:t>
            </a:r>
          </a:p>
          <a:p>
            <a:pPr lvl="1" eaLnBrk="1" hangingPunct="1"/>
            <a:r>
              <a:rPr lang="en-US" altLang="en-US" dirty="0"/>
              <a:t>No simple strategies for creating virtual tables known as views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1202D-7852-4C85-8889-0809524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A80AC8-69B3-4689-A186-EE34B35C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Systems: Design, Implementation, and Management by Carlos Coronel and Steven Morris,13th Edition, Cengage, Chapter 6 and 5.</a:t>
            </a:r>
          </a:p>
          <a:p>
            <a:r>
              <a:rPr lang="en-US" dirty="0"/>
              <a:t>Database Systems A Practical Approach to Design, Implementation and Management </a:t>
            </a:r>
            <a:r>
              <a:rPr lang="en-US"/>
              <a:t>by Thomas </a:t>
            </a:r>
            <a:r>
              <a:rPr lang="en-US" dirty="0"/>
              <a:t>Connolly and Carolyn </a:t>
            </a:r>
            <a:r>
              <a:rPr lang="en-US" dirty="0" err="1"/>
              <a:t>Begg</a:t>
            </a:r>
            <a:r>
              <a:rPr lang="en-US" dirty="0"/>
              <a:t>, Sixth Edition, Pearson, Chapter 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1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1132</Words>
  <Application>Microsoft Office PowerPoint</Application>
  <PresentationFormat>Widescreen</PresentationFormat>
  <Paragraphs>179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ＭＳ Ｐゴシック</vt:lpstr>
      <vt:lpstr>Arial</vt:lpstr>
      <vt:lpstr>Calibri</vt:lpstr>
      <vt:lpstr>Calibri Light</vt:lpstr>
      <vt:lpstr>Times New Roman</vt:lpstr>
      <vt:lpstr>Wingdings</vt:lpstr>
      <vt:lpstr>Office Theme</vt:lpstr>
      <vt:lpstr>Database Design and Implementation</vt:lpstr>
      <vt:lpstr>Learning Outcomes</vt:lpstr>
      <vt:lpstr>Agenda</vt:lpstr>
      <vt:lpstr>Normalization</vt:lpstr>
      <vt:lpstr>Normalization</vt:lpstr>
      <vt:lpstr>Need for Normalization</vt:lpstr>
      <vt:lpstr>Normalization Process</vt:lpstr>
      <vt:lpstr>Normalization Process</vt:lpstr>
      <vt:lpstr>Normal Forms</vt:lpstr>
      <vt:lpstr>1NF</vt:lpstr>
      <vt:lpstr>PowerPoint Presentation</vt:lpstr>
      <vt:lpstr>2NF</vt:lpstr>
      <vt:lpstr>PowerPoint Presentation</vt:lpstr>
      <vt:lpstr>3NF</vt:lpstr>
      <vt:lpstr>PowerPoint Presentation</vt:lpstr>
      <vt:lpstr>Functional Dependence Concepts</vt:lpstr>
      <vt:lpstr>Types of Functional Dependencies</vt:lpstr>
      <vt:lpstr>Conversion to First Normal Form</vt:lpstr>
      <vt:lpstr>Conversion to First Normal Form</vt:lpstr>
      <vt:lpstr>Conversion to First Normal Form</vt:lpstr>
      <vt:lpstr>First Normal Form (1NF) Dependency Diagram</vt:lpstr>
      <vt:lpstr>Conversion to Second Normal Form</vt:lpstr>
      <vt:lpstr>Second Normal Form (2NF) Conversion Results</vt:lpstr>
      <vt:lpstr>Conversion to Third Normal Form</vt:lpstr>
      <vt:lpstr>Third Normal Form (3NF) Conversion Results</vt:lpstr>
      <vt:lpstr> Requirements for Good Normalized Set of Tables  </vt:lpstr>
      <vt:lpstr>The Completed Database</vt:lpstr>
      <vt:lpstr>The Completed Database</vt:lpstr>
      <vt:lpstr>The Completed Database</vt:lpstr>
      <vt:lpstr>The Completed Database</vt:lpstr>
      <vt:lpstr>Surrogate Keys</vt:lpstr>
      <vt:lpstr>The Boyce-Codd Normal Form (BCNF)</vt:lpstr>
      <vt:lpstr>A Table That is in 3NF and not in BCNF </vt:lpstr>
      <vt:lpstr>Sample Data for a BCNF Conversion</vt:lpstr>
      <vt:lpstr>Decomposition to BCNF </vt:lpstr>
      <vt:lpstr>Fourth Normal Form (4NF)</vt:lpstr>
      <vt:lpstr>Tables with Multivalued Dependencies</vt:lpstr>
      <vt:lpstr>A Set of Tables in 4NF</vt:lpstr>
      <vt:lpstr>A Set of Tables in 4NF</vt:lpstr>
      <vt:lpstr>Normalization and Database Design</vt:lpstr>
      <vt:lpstr>Initial Contracting Company ERD</vt:lpstr>
      <vt:lpstr>Modified Contracting Company ERD</vt:lpstr>
      <vt:lpstr>Incorrect M:N Relationship Representation</vt:lpstr>
      <vt:lpstr>Final Contracting Company ERD</vt:lpstr>
      <vt:lpstr>The Implemented Database</vt:lpstr>
      <vt:lpstr>Denormalization</vt:lpstr>
      <vt:lpstr>Denormalization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122</cp:revision>
  <dcterms:created xsi:type="dcterms:W3CDTF">2019-11-08T16:18:41Z</dcterms:created>
  <dcterms:modified xsi:type="dcterms:W3CDTF">2019-12-17T03:05:58Z</dcterms:modified>
</cp:coreProperties>
</file>