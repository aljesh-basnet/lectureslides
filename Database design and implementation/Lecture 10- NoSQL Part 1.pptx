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0"/>
  </p:notesMasterIdLst>
  <p:sldIdLst>
    <p:sldId id="257" r:id="rId2"/>
    <p:sldId id="497" r:id="rId3"/>
    <p:sldId id="461" r:id="rId4"/>
    <p:sldId id="499" r:id="rId5"/>
    <p:sldId id="500" r:id="rId6"/>
    <p:sldId id="463" r:id="rId7"/>
    <p:sldId id="464" r:id="rId8"/>
    <p:sldId id="501" r:id="rId9"/>
    <p:sldId id="502" r:id="rId10"/>
    <p:sldId id="465" r:id="rId11"/>
    <p:sldId id="503" r:id="rId12"/>
    <p:sldId id="462" r:id="rId13"/>
    <p:sldId id="460" r:id="rId14"/>
    <p:sldId id="424" r:id="rId15"/>
    <p:sldId id="422" r:id="rId16"/>
    <p:sldId id="425" r:id="rId17"/>
    <p:sldId id="505" r:id="rId18"/>
    <p:sldId id="427" r:id="rId19"/>
    <p:sldId id="508" r:id="rId20"/>
    <p:sldId id="431" r:id="rId21"/>
    <p:sldId id="432" r:id="rId22"/>
    <p:sldId id="433" r:id="rId23"/>
    <p:sldId id="482" r:id="rId24"/>
    <p:sldId id="483" r:id="rId25"/>
    <p:sldId id="484" r:id="rId26"/>
    <p:sldId id="487" r:id="rId27"/>
    <p:sldId id="488" r:id="rId28"/>
    <p:sldId id="489" r:id="rId29"/>
    <p:sldId id="490" r:id="rId30"/>
    <p:sldId id="491" r:id="rId31"/>
    <p:sldId id="492" r:id="rId32"/>
    <p:sldId id="493" r:id="rId33"/>
    <p:sldId id="494" r:id="rId34"/>
    <p:sldId id="495" r:id="rId35"/>
    <p:sldId id="509" r:id="rId36"/>
    <p:sldId id="496" r:id="rId37"/>
    <p:sldId id="439" r:id="rId38"/>
    <p:sldId id="498"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79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DB4EFD2-AE7B-4012-ACA5-DBAEFB175AEF}" type="datetimeFigureOut">
              <a:rPr lang="en-US" smtClean="0"/>
              <a:t>1/24/2020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028793-7CCF-4C11-A615-9D0BFC92DE35}" type="slidenum">
              <a:rPr lang="en-US" smtClean="0"/>
              <a:t>‹#›</a:t>
            </a:fld>
            <a:endParaRPr lang="en-US"/>
          </a:p>
        </p:txBody>
      </p:sp>
    </p:spTree>
    <p:extLst>
      <p:ext uri="{BB962C8B-B14F-4D97-AF65-F5344CB8AC3E}">
        <p14:creationId xmlns:p14="http://schemas.microsoft.com/office/powerpoint/2010/main" val="2595435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6" name="Rectangle 2"/>
          <p:cNvSpPr>
            <a:spLocks noGrp="1" noRot="1" noChangeAspect="1" noChangeArrowheads="1"/>
          </p:cNvSpPr>
          <p:nvPr>
            <p:ph type="sldImg"/>
          </p:nvPr>
        </p:nvSpPr>
        <p:spPr bwMode="auto">
          <a:xfrm>
            <a:off x="2306638" y="541338"/>
            <a:ext cx="4608512" cy="2592387"/>
          </a:xfrm>
          <a:prstGeom prst="rect">
            <a:avLst/>
          </a:prstGeom>
          <a:solidFill>
            <a:srgbClr val="FFFFFF"/>
          </a:solidFill>
          <a:ln>
            <a:solidFill>
              <a:srgbClr val="000000"/>
            </a:solidFill>
            <a:miter lim="800000"/>
            <a:headEnd/>
            <a:tailEnd/>
          </a:ln>
        </p:spPr>
      </p:sp>
      <p:sp>
        <p:nvSpPr>
          <p:cNvPr id="241667" name="Rectangle 3"/>
          <p:cNvSpPr>
            <a:spLocks noGrp="1" noChangeArrowheads="1"/>
          </p:cNvSpPr>
          <p:nvPr>
            <p:ph type="body" idx="1"/>
          </p:nvPr>
        </p:nvSpPr>
        <p:spPr bwMode="auto">
          <a:xfrm>
            <a:off x="1286878" y="3294823"/>
            <a:ext cx="6754620" cy="3133232"/>
          </a:xfrm>
          <a:prstGeom prst="rect">
            <a:avLst/>
          </a:prstGeom>
          <a:solidFill>
            <a:srgbClr val="FFFFFF"/>
          </a:solidFill>
          <a:ln>
            <a:solidFill>
              <a:srgbClr val="000000"/>
            </a:solidFill>
            <a:miter lim="800000"/>
            <a:headEnd/>
            <a:tailEnd/>
          </a:ln>
        </p:spPr>
        <p:txBody>
          <a:bodyPr lIns="91567" tIns="45783" rIns="91567" bIns="45783"/>
          <a:lstStyle/>
          <a:p>
            <a:endParaRPr lang="en-US"/>
          </a:p>
        </p:txBody>
      </p:sp>
    </p:spTree>
    <p:extLst>
      <p:ext uri="{BB962C8B-B14F-4D97-AF65-F5344CB8AC3E}">
        <p14:creationId xmlns:p14="http://schemas.microsoft.com/office/powerpoint/2010/main" val="37405818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http://martinfowler.com/books/nosql.html</a:t>
            </a:r>
          </a:p>
        </p:txBody>
      </p:sp>
    </p:spTree>
    <p:extLst>
      <p:ext uri="{BB962C8B-B14F-4D97-AF65-F5344CB8AC3E}">
        <p14:creationId xmlns:p14="http://schemas.microsoft.com/office/powerpoint/2010/main" val="3957809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https://www.tutorialspoint.com/mongodb/mongodb_overview.htm</a:t>
            </a:r>
          </a:p>
        </p:txBody>
      </p:sp>
    </p:spTree>
    <p:extLst>
      <p:ext uri="{BB962C8B-B14F-4D97-AF65-F5344CB8AC3E}">
        <p14:creationId xmlns:p14="http://schemas.microsoft.com/office/powerpoint/2010/main" val="405620376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endParaRPr lang="en-GB" dirty="0">
              <a:solidFill>
                <a:srgbClr val="009900"/>
              </a:solidFill>
            </a:endParaRPr>
          </a:p>
          <a:p>
            <a:endParaRPr lang="en-GB" dirty="0"/>
          </a:p>
        </p:txBody>
      </p:sp>
    </p:spTree>
    <p:extLst>
      <p:ext uri="{BB962C8B-B14F-4D97-AF65-F5344CB8AC3E}">
        <p14:creationId xmlns:p14="http://schemas.microsoft.com/office/powerpoint/2010/main" val="17872400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GB" dirty="0" err="1">
                <a:solidFill>
                  <a:srgbClr val="009900"/>
                </a:solidFill>
              </a:rPr>
              <a:t>db.dept.find</a:t>
            </a:r>
            <a:r>
              <a:rPr lang="en-GB" dirty="0">
                <a:solidFill>
                  <a:srgbClr val="009900"/>
                </a:solidFill>
              </a:rPr>
              <a:t>({DNAME:"SALES"}) – DNAME</a:t>
            </a:r>
            <a:r>
              <a:rPr lang="en-GB" baseline="0" dirty="0">
                <a:solidFill>
                  <a:srgbClr val="009900"/>
                </a:solidFill>
              </a:rPr>
              <a:t> in capitals</a:t>
            </a:r>
            <a:endParaRPr lang="en-GB" dirty="0">
              <a:solidFill>
                <a:srgbClr val="009900"/>
              </a:solidFill>
            </a:endParaRPr>
          </a:p>
          <a:p>
            <a:pPr lvl="0"/>
            <a:r>
              <a:rPr lang="en-GB" dirty="0" err="1">
                <a:solidFill>
                  <a:srgbClr val="009900"/>
                </a:solidFill>
              </a:rPr>
              <a:t>db.DEPT.find</a:t>
            </a:r>
            <a:r>
              <a:rPr lang="en-GB" dirty="0">
                <a:solidFill>
                  <a:srgbClr val="009900"/>
                </a:solidFill>
              </a:rPr>
              <a:t>({</a:t>
            </a:r>
            <a:r>
              <a:rPr lang="en-GB" dirty="0" err="1">
                <a:solidFill>
                  <a:srgbClr val="009900"/>
                </a:solidFill>
              </a:rPr>
              <a:t>dname</a:t>
            </a:r>
            <a:r>
              <a:rPr lang="en-GB" dirty="0">
                <a:solidFill>
                  <a:srgbClr val="009900"/>
                </a:solidFill>
              </a:rPr>
              <a:t>:"SALES"}) – DEPT in capitals</a:t>
            </a:r>
          </a:p>
          <a:p>
            <a:pPr lvl="0"/>
            <a:r>
              <a:rPr lang="en-GB" dirty="0" err="1">
                <a:solidFill>
                  <a:srgbClr val="009900"/>
                </a:solidFill>
              </a:rPr>
              <a:t>db.dept.find</a:t>
            </a:r>
            <a:r>
              <a:rPr lang="en-GB" dirty="0">
                <a:solidFill>
                  <a:srgbClr val="009900"/>
                </a:solidFill>
              </a:rPr>
              <a:t>({</a:t>
            </a:r>
            <a:r>
              <a:rPr lang="en-GB" dirty="0" err="1">
                <a:solidFill>
                  <a:srgbClr val="009900"/>
                </a:solidFill>
              </a:rPr>
              <a:t>dname</a:t>
            </a:r>
            <a:r>
              <a:rPr lang="en-GB" dirty="0">
                <a:solidFill>
                  <a:srgbClr val="009900"/>
                </a:solidFill>
              </a:rPr>
              <a:t>:"sales"}) –</a:t>
            </a:r>
            <a:r>
              <a:rPr lang="en-GB" baseline="0" dirty="0">
                <a:solidFill>
                  <a:srgbClr val="009900"/>
                </a:solidFill>
              </a:rPr>
              <a:t> sales in lower case</a:t>
            </a:r>
          </a:p>
          <a:p>
            <a:endParaRPr lang="en-GB" dirty="0"/>
          </a:p>
          <a:p>
            <a:pPr lvl="2"/>
            <a:endParaRPr lang="en-GB" baseline="0" dirty="0">
              <a:solidFill>
                <a:srgbClr val="009900"/>
              </a:solidFill>
            </a:endParaRPr>
          </a:p>
          <a:p>
            <a:pPr lvl="0"/>
            <a:r>
              <a:rPr lang="en-GB" dirty="0" err="1">
                <a:solidFill>
                  <a:srgbClr val="FF0000"/>
                </a:solidFill>
              </a:rPr>
              <a:t>DB.dept.find</a:t>
            </a:r>
            <a:r>
              <a:rPr lang="en-GB" dirty="0">
                <a:solidFill>
                  <a:srgbClr val="FF0000"/>
                </a:solidFill>
              </a:rPr>
              <a:t>({</a:t>
            </a:r>
            <a:r>
              <a:rPr lang="en-GB" dirty="0" err="1">
                <a:solidFill>
                  <a:srgbClr val="FF0000"/>
                </a:solidFill>
              </a:rPr>
              <a:t>dname</a:t>
            </a:r>
            <a:r>
              <a:rPr lang="en-GB" dirty="0">
                <a:solidFill>
                  <a:srgbClr val="FF0000"/>
                </a:solidFill>
              </a:rPr>
              <a:t>:"SALES"}) – DB is not</a:t>
            </a:r>
            <a:r>
              <a:rPr lang="en-GB" baseline="0" dirty="0">
                <a:solidFill>
                  <a:srgbClr val="FF0000"/>
                </a:solidFill>
              </a:rPr>
              <a:t> recognised</a:t>
            </a:r>
            <a:r>
              <a:rPr lang="en-GB" dirty="0">
                <a:solidFill>
                  <a:srgbClr val="FF0000"/>
                </a:solidFill>
              </a:rPr>
              <a:t> </a:t>
            </a:r>
          </a:p>
          <a:p>
            <a:pPr lvl="0"/>
            <a:r>
              <a:rPr lang="en-GB" dirty="0" err="1">
                <a:solidFill>
                  <a:srgbClr val="FF0000"/>
                </a:solidFill>
              </a:rPr>
              <a:t>db.dept.FIND</a:t>
            </a:r>
            <a:r>
              <a:rPr lang="en-GB" dirty="0">
                <a:solidFill>
                  <a:srgbClr val="FF0000"/>
                </a:solidFill>
              </a:rPr>
              <a:t>({</a:t>
            </a:r>
            <a:r>
              <a:rPr lang="en-GB" dirty="0" err="1">
                <a:solidFill>
                  <a:srgbClr val="FF0000"/>
                </a:solidFill>
              </a:rPr>
              <a:t>dname</a:t>
            </a:r>
            <a:r>
              <a:rPr lang="en-GB" dirty="0">
                <a:solidFill>
                  <a:srgbClr val="FF0000"/>
                </a:solidFill>
              </a:rPr>
              <a:t>:"SALES"}) – FIND is not a function</a:t>
            </a:r>
          </a:p>
          <a:p>
            <a:endParaRPr lang="en-GB" dirty="0"/>
          </a:p>
        </p:txBody>
      </p:sp>
    </p:spTree>
    <p:extLst>
      <p:ext uri="{BB962C8B-B14F-4D97-AF65-F5344CB8AC3E}">
        <p14:creationId xmlns:p14="http://schemas.microsoft.com/office/powerpoint/2010/main" val="31140204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E87BBB86-8E4D-4340-A8EF-320667C9A8F9}" type="datetimeFigureOut">
              <a:rPr lang="en-US" smtClean="0"/>
              <a:t>1/24/2020</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6D44B736-4A31-4A86-96B8-ED14BDBD731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124263636"/>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87BBB86-8E4D-4340-A8EF-320667C9A8F9}" type="datetimeFigureOut">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44B736-4A31-4A86-96B8-ED14BDBD7311}" type="slidenum">
              <a:rPr lang="en-US" smtClean="0"/>
              <a:t>‹#›</a:t>
            </a:fld>
            <a:endParaRPr lang="en-US"/>
          </a:p>
        </p:txBody>
      </p:sp>
    </p:spTree>
    <p:extLst>
      <p:ext uri="{BB962C8B-B14F-4D97-AF65-F5344CB8AC3E}">
        <p14:creationId xmlns:p14="http://schemas.microsoft.com/office/powerpoint/2010/main" val="6873506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87BBB86-8E4D-4340-A8EF-320667C9A8F9}" type="datetimeFigureOut">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44B736-4A31-4A86-96B8-ED14BDBD7311}"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0431138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87BBB86-8E4D-4340-A8EF-320667C9A8F9}" type="datetimeFigureOut">
              <a:rPr lang="en-US" smtClean="0"/>
              <a:t>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44B736-4A31-4A86-96B8-ED14BDBD7311}" type="slidenum">
              <a:rPr lang="en-US" smtClean="0"/>
              <a:t>‹#›</a:t>
            </a:fld>
            <a:endParaRPr lang="en-US"/>
          </a:p>
        </p:txBody>
      </p:sp>
    </p:spTree>
    <p:extLst>
      <p:ext uri="{BB962C8B-B14F-4D97-AF65-F5344CB8AC3E}">
        <p14:creationId xmlns:p14="http://schemas.microsoft.com/office/powerpoint/2010/main" val="31652188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87BBB86-8E4D-4340-A8EF-320667C9A8F9}" type="datetimeFigureOut">
              <a:rPr lang="en-US" smtClean="0"/>
              <a:t>1/24/2020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D44B736-4A31-4A86-96B8-ED14BDBD7311}" type="slidenum">
              <a:rPr lang="en-US" smtClean="0"/>
              <a:t>‹#›</a:t>
            </a:fld>
            <a:endParaRPr lang="en-US"/>
          </a:p>
        </p:txBody>
      </p:sp>
    </p:spTree>
    <p:extLst>
      <p:ext uri="{BB962C8B-B14F-4D97-AF65-F5344CB8AC3E}">
        <p14:creationId xmlns:p14="http://schemas.microsoft.com/office/powerpoint/2010/main" val="27605893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87BBB86-8E4D-4340-A8EF-320667C9A8F9}" type="datetimeFigureOut">
              <a:rPr lang="en-US" smtClean="0"/>
              <a:t>1/24/2020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D44B736-4A31-4A86-96B8-ED14BDBD7311}" type="slidenum">
              <a:rPr lang="en-US" smtClean="0"/>
              <a:t>‹#›</a:t>
            </a:fld>
            <a:endParaRPr lang="en-US"/>
          </a:p>
        </p:txBody>
      </p:sp>
    </p:spTree>
    <p:extLst>
      <p:ext uri="{BB962C8B-B14F-4D97-AF65-F5344CB8AC3E}">
        <p14:creationId xmlns:p14="http://schemas.microsoft.com/office/powerpoint/2010/main" val="42280175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7BBB86-8E4D-4340-A8EF-320667C9A8F9}" type="datetimeFigureOut">
              <a:rPr lang="en-US" smtClean="0"/>
              <a:t>1/24/2020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D44B736-4A31-4A86-96B8-ED14BDBD7311}" type="slidenum">
              <a:rPr lang="en-US" smtClean="0"/>
              <a:t>‹#›</a:t>
            </a:fld>
            <a:endParaRPr lang="en-US"/>
          </a:p>
        </p:txBody>
      </p:sp>
    </p:spTree>
    <p:extLst>
      <p:ext uri="{BB962C8B-B14F-4D97-AF65-F5344CB8AC3E}">
        <p14:creationId xmlns:p14="http://schemas.microsoft.com/office/powerpoint/2010/main" val="4217272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7BBB86-8E4D-4340-A8EF-320667C9A8F9}" type="datetimeFigureOut">
              <a:rPr lang="en-US" smtClean="0"/>
              <a:t>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44B736-4A31-4A86-96B8-ED14BDBD7311}" type="slidenum">
              <a:rPr lang="en-US" smtClean="0"/>
              <a:t>‹#›</a:t>
            </a:fld>
            <a:endParaRPr lang="en-US"/>
          </a:p>
        </p:txBody>
      </p:sp>
    </p:spTree>
    <p:extLst>
      <p:ext uri="{BB962C8B-B14F-4D97-AF65-F5344CB8AC3E}">
        <p14:creationId xmlns:p14="http://schemas.microsoft.com/office/powerpoint/2010/main" val="15816559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87BBB86-8E4D-4340-A8EF-320667C9A8F9}" type="datetimeFigureOut">
              <a:rPr lang="en-US" smtClean="0"/>
              <a:t>1/24/2020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D44B736-4A31-4A86-96B8-ED14BDBD7311}" type="slidenum">
              <a:rPr lang="en-US" smtClean="0"/>
              <a:t>‹#›</a:t>
            </a:fld>
            <a:endParaRPr lang="en-US"/>
          </a:p>
        </p:txBody>
      </p:sp>
    </p:spTree>
    <p:extLst>
      <p:ext uri="{BB962C8B-B14F-4D97-AF65-F5344CB8AC3E}">
        <p14:creationId xmlns:p14="http://schemas.microsoft.com/office/powerpoint/2010/main" val="2455220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87BBB86-8E4D-4340-A8EF-320667C9A8F9}" type="datetimeFigureOut">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44B736-4A31-4A86-96B8-ED14BDBD7311}" type="slidenum">
              <a:rPr lang="en-US" smtClean="0"/>
              <a:t>‹#›</a:t>
            </a:fld>
            <a:endParaRPr lang="en-US"/>
          </a:p>
        </p:txBody>
      </p:sp>
    </p:spTree>
    <p:extLst>
      <p:ext uri="{BB962C8B-B14F-4D97-AF65-F5344CB8AC3E}">
        <p14:creationId xmlns:p14="http://schemas.microsoft.com/office/powerpoint/2010/main" val="3887885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87BBB86-8E4D-4340-A8EF-320667C9A8F9}" type="datetimeFigureOut">
              <a:rPr lang="en-US" smtClean="0"/>
              <a:t>1/24/2020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D44B736-4A31-4A86-96B8-ED14BDBD7311}" type="slidenum">
              <a:rPr lang="en-US" smtClean="0"/>
              <a:t>‹#›</a:t>
            </a:fld>
            <a:endParaRPr lang="en-US"/>
          </a:p>
        </p:txBody>
      </p:sp>
    </p:spTree>
    <p:extLst>
      <p:ext uri="{BB962C8B-B14F-4D97-AF65-F5344CB8AC3E}">
        <p14:creationId xmlns:p14="http://schemas.microsoft.com/office/powerpoint/2010/main" val="428103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E87BBB86-8E4D-4340-A8EF-320667C9A8F9}" type="datetimeFigureOut">
              <a:rPr lang="en-US" smtClean="0"/>
              <a:t>1/24/2020</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6D44B736-4A31-4A86-96B8-ED14BDBD7311}" type="slidenum">
              <a:rPr lang="en-US" smtClean="0"/>
              <a:t>‹#›</a:t>
            </a:fld>
            <a:endParaRPr lang="en-US"/>
          </a:p>
        </p:txBody>
      </p:sp>
    </p:spTree>
    <p:extLst>
      <p:ext uri="{BB962C8B-B14F-4D97-AF65-F5344CB8AC3E}">
        <p14:creationId xmlns:p14="http://schemas.microsoft.com/office/powerpoint/2010/main" val="117972269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couchdb.apache.org/" TargetMode="External"/><Relationship Id="rId2" Type="http://schemas.openxmlformats.org/officeDocument/2006/relationships/hyperlink" Target="https://www.mongodb.or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mailto:j.smith@wlv.ac.uk"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bsonspec.org/" TargetMode="External"/><Relationship Id="rId2" Type="http://schemas.openxmlformats.org/officeDocument/2006/relationships/hyperlink" Target="http://www.json.org/"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3.png"/></Relationships>
</file>

<file path=ppt/slides/_rels/slide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2" name="Rectangle 2"/>
          <p:cNvSpPr>
            <a:spLocks noGrp="1" noChangeArrowheads="1"/>
          </p:cNvSpPr>
          <p:nvPr>
            <p:ph type="ctrTitle"/>
          </p:nvPr>
        </p:nvSpPr>
        <p:spPr/>
        <p:txBody>
          <a:bodyPr/>
          <a:lstStyle/>
          <a:p>
            <a:pPr>
              <a:lnSpc>
                <a:spcPct val="100000"/>
              </a:lnSpc>
            </a:pPr>
            <a:r>
              <a:rPr lang="en-US" dirty="0">
                <a:solidFill>
                  <a:srgbClr val="00B050"/>
                </a:solidFill>
              </a:rPr>
              <a:t>NoSQL Databases</a:t>
            </a:r>
            <a:r>
              <a:rPr lang="en-US" dirty="0"/>
              <a:t/>
            </a:r>
            <a:br>
              <a:rPr lang="en-US" dirty="0"/>
            </a:br>
            <a:r>
              <a:rPr lang="en-US" sz="4400" dirty="0"/>
              <a:t>Part </a:t>
            </a:r>
            <a:r>
              <a:rPr lang="en-US" sz="4400" dirty="0" smtClean="0"/>
              <a:t>- 1</a:t>
            </a:r>
            <a:endParaRPr lang="en-US" dirty="0"/>
          </a:p>
        </p:txBody>
      </p:sp>
      <p:sp>
        <p:nvSpPr>
          <p:cNvPr id="240643" name="Rectangle 3"/>
          <p:cNvSpPr>
            <a:spLocks noGrp="1" noChangeArrowheads="1"/>
          </p:cNvSpPr>
          <p:nvPr>
            <p:ph type="subTitle" idx="1"/>
          </p:nvPr>
        </p:nvSpPr>
        <p:spPr>
          <a:xfrm>
            <a:off x="1261872" y="5767754"/>
            <a:ext cx="7179633" cy="1632729"/>
          </a:xfrm>
        </p:spPr>
        <p:txBody>
          <a:bodyPr>
            <a:normAutofit/>
          </a:bodyPr>
          <a:lstStyle/>
          <a:p>
            <a:pPr>
              <a:lnSpc>
                <a:spcPct val="100000"/>
              </a:lnSpc>
            </a:pPr>
            <a:r>
              <a:rPr lang="en-US" sz="2000" dirty="0" smtClean="0"/>
              <a:t>Mr. </a:t>
            </a:r>
            <a:r>
              <a:rPr lang="en-US" sz="2000" dirty="0" err="1" smtClean="0"/>
              <a:t>Hemanga</a:t>
            </a:r>
            <a:r>
              <a:rPr lang="en-US" sz="2000" dirty="0" smtClean="0"/>
              <a:t> </a:t>
            </a:r>
            <a:r>
              <a:rPr lang="en-US" sz="2000" dirty="0" err="1" smtClean="0"/>
              <a:t>Gautam</a:t>
            </a:r>
            <a:endParaRPr lang="en-US" sz="2000" dirty="0" smtClean="0"/>
          </a:p>
          <a:p>
            <a:pPr>
              <a:lnSpc>
                <a:spcPct val="100000"/>
              </a:lnSpc>
            </a:pPr>
            <a:r>
              <a:rPr lang="en-US" sz="2000" dirty="0" smtClean="0"/>
              <a:t>hemanga.gautam@heraldcollege.edu.np</a:t>
            </a:r>
            <a:endParaRPr lang="en-US" sz="2000" dirty="0"/>
          </a:p>
        </p:txBody>
      </p:sp>
    </p:spTree>
  </p:cSld>
  <p:clrMapOvr>
    <a:masterClrMapping/>
  </p:clrMapOvr>
  <p:transition>
    <p:wipe dir="d"/>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AF228E6A-D6E9-425F-8925-D178F491D93D}"/>
              </a:ext>
            </a:extLst>
          </p:cNvPr>
          <p:cNvSpPr>
            <a:spLocks noGrp="1"/>
          </p:cNvSpPr>
          <p:nvPr>
            <p:ph type="title"/>
          </p:nvPr>
        </p:nvSpPr>
        <p:spPr>
          <a:xfrm>
            <a:off x="600690" y="0"/>
            <a:ext cx="9692640" cy="1325562"/>
          </a:xfrm>
        </p:spPr>
        <p:txBody>
          <a:bodyPr/>
          <a:lstStyle/>
          <a:p>
            <a:pPr algn="ctr"/>
            <a:r>
              <a:rPr lang="en-US" dirty="0"/>
              <a:t>Outlines</a:t>
            </a:r>
          </a:p>
        </p:txBody>
      </p:sp>
      <p:sp>
        <p:nvSpPr>
          <p:cNvPr id="3" name="Content Placeholder 2">
            <a:extLst>
              <a:ext uri="{FF2B5EF4-FFF2-40B4-BE49-F238E27FC236}">
                <a16:creationId xmlns="" xmlns:a16="http://schemas.microsoft.com/office/drawing/2014/main" id="{9117D76F-69BF-4C75-ABCC-BA5A5548C896}"/>
              </a:ext>
            </a:extLst>
          </p:cNvPr>
          <p:cNvSpPr>
            <a:spLocks noGrp="1"/>
          </p:cNvSpPr>
          <p:nvPr>
            <p:ph idx="1"/>
          </p:nvPr>
        </p:nvSpPr>
        <p:spPr/>
        <p:txBody>
          <a:bodyPr>
            <a:normAutofit/>
          </a:bodyPr>
          <a:lstStyle/>
          <a:p>
            <a:r>
              <a:rPr lang="en-US" sz="2400" dirty="0"/>
              <a:t>Data Models</a:t>
            </a:r>
          </a:p>
          <a:p>
            <a:r>
              <a:rPr lang="en-US" sz="2400" dirty="0" smtClean="0"/>
              <a:t>Semi, Structured and </a:t>
            </a:r>
            <a:r>
              <a:rPr lang="en-US" sz="2400" dirty="0"/>
              <a:t>Unstructured data</a:t>
            </a:r>
          </a:p>
          <a:p>
            <a:r>
              <a:rPr lang="en-US" sz="2400" dirty="0"/>
              <a:t>Types of NoSQL Databases</a:t>
            </a:r>
          </a:p>
          <a:p>
            <a:r>
              <a:rPr lang="en-US" sz="2400" dirty="0"/>
              <a:t>MongoDB</a:t>
            </a:r>
          </a:p>
          <a:p>
            <a:pPr marL="0" indent="0">
              <a:buNone/>
            </a:pPr>
            <a:endParaRPr lang="en-US" sz="2400" dirty="0"/>
          </a:p>
        </p:txBody>
      </p:sp>
    </p:spTree>
    <p:extLst>
      <p:ext uri="{BB962C8B-B14F-4D97-AF65-F5344CB8AC3E}">
        <p14:creationId xmlns:p14="http://schemas.microsoft.com/office/powerpoint/2010/main" val="12816836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4982" y="-110458"/>
            <a:ext cx="10515600" cy="888322"/>
          </a:xfrm>
        </p:spPr>
        <p:txBody>
          <a:bodyPr/>
          <a:lstStyle/>
          <a:p>
            <a:pPr algn="ctr"/>
            <a:r>
              <a:rPr lang="en-GB" dirty="0"/>
              <a:t>Data Models</a:t>
            </a:r>
          </a:p>
        </p:txBody>
      </p:sp>
      <p:sp>
        <p:nvSpPr>
          <p:cNvPr id="3" name="Content Placeholder 2"/>
          <p:cNvSpPr>
            <a:spLocks noGrp="1"/>
          </p:cNvSpPr>
          <p:nvPr>
            <p:ph idx="1"/>
          </p:nvPr>
        </p:nvSpPr>
        <p:spPr>
          <a:xfrm>
            <a:off x="1097279" y="890407"/>
            <a:ext cx="9481625" cy="2556178"/>
          </a:xfrm>
        </p:spPr>
        <p:txBody>
          <a:bodyPr>
            <a:noAutofit/>
          </a:bodyPr>
          <a:lstStyle/>
          <a:p>
            <a:r>
              <a:rPr lang="en-US" sz="2000" dirty="0"/>
              <a:t>Data models define how the logical structure of a database is modeled.</a:t>
            </a:r>
          </a:p>
          <a:p>
            <a:r>
              <a:rPr lang="en-US" sz="2000" dirty="0"/>
              <a:t>Data Models are fundamental </a:t>
            </a:r>
            <a:r>
              <a:rPr lang="en-US" sz="2000" dirty="0" smtClean="0"/>
              <a:t>entities </a:t>
            </a:r>
            <a:r>
              <a:rPr lang="en-US" sz="2000" dirty="0"/>
              <a:t>to introduce abstraction in a DBMS. </a:t>
            </a:r>
          </a:p>
          <a:p>
            <a:r>
              <a:rPr lang="en-US" sz="2000" dirty="0"/>
              <a:t>Data models define how data is connected to each other and how they are processed and stored inside the system</a:t>
            </a:r>
            <a:r>
              <a:rPr lang="en-US" sz="2000" dirty="0" smtClean="0"/>
              <a:t>.</a:t>
            </a:r>
            <a:endParaRPr lang="en-GB" sz="2000" dirty="0" smtClean="0"/>
          </a:p>
          <a:p>
            <a:r>
              <a:rPr lang="en-GB" sz="2000" b="1" dirty="0" smtClean="0"/>
              <a:t>For example</a:t>
            </a:r>
            <a:r>
              <a:rPr lang="en-GB" sz="2000" dirty="0" smtClean="0"/>
              <a:t>, Oracle </a:t>
            </a:r>
            <a:r>
              <a:rPr lang="en-GB" sz="2000" dirty="0"/>
              <a:t>is based on the relational model and data is stored in a tabular format</a:t>
            </a:r>
            <a:r>
              <a:rPr lang="en-GB" sz="2000" dirty="0" smtClean="0"/>
              <a:t>:</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3</a:t>
            </a:fld>
            <a:endParaRPr lang="en-GB"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0040" y="3559128"/>
            <a:ext cx="3030780" cy="19507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0161167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1261872" y="1577181"/>
            <a:ext cx="9319387" cy="3018095"/>
          </a:xfrm>
          <a:prstGeom prst="rect">
            <a:avLst/>
          </a:prstGeom>
        </p:spPr>
      </p:pic>
    </p:spTree>
    <p:extLst>
      <p:ext uri="{BB962C8B-B14F-4D97-AF65-F5344CB8AC3E}">
        <p14:creationId xmlns:p14="http://schemas.microsoft.com/office/powerpoint/2010/main" val="308118976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872" y="0"/>
            <a:ext cx="9692640" cy="1325562"/>
          </a:xfrm>
        </p:spPr>
        <p:txBody>
          <a:bodyPr/>
          <a:lstStyle/>
          <a:p>
            <a:r>
              <a:rPr lang="en-US" dirty="0" smtClean="0"/>
              <a:t>Structured Data</a:t>
            </a:r>
            <a:endParaRPr lang="en-US" dirty="0"/>
          </a:p>
        </p:txBody>
      </p:sp>
      <p:pic>
        <p:nvPicPr>
          <p:cNvPr id="4" name="Content Placeholder 3"/>
          <p:cNvPicPr>
            <a:picLocks noGrp="1" noChangeAspect="1"/>
          </p:cNvPicPr>
          <p:nvPr>
            <p:ph idx="1"/>
          </p:nvPr>
        </p:nvPicPr>
        <p:blipFill>
          <a:blip r:embed="rId2"/>
          <a:stretch>
            <a:fillRect/>
          </a:stretch>
        </p:blipFill>
        <p:spPr>
          <a:xfrm>
            <a:off x="1261872" y="1577181"/>
            <a:ext cx="9319387" cy="3018095"/>
          </a:xfrm>
          <a:prstGeom prst="rect">
            <a:avLst/>
          </a:prstGeom>
        </p:spPr>
      </p:pic>
    </p:spTree>
    <p:extLst>
      <p:ext uri="{BB962C8B-B14F-4D97-AF65-F5344CB8AC3E}">
        <p14:creationId xmlns:p14="http://schemas.microsoft.com/office/powerpoint/2010/main" val="23975862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68816"/>
            <a:ext cx="10515600" cy="960668"/>
          </a:xfrm>
        </p:spPr>
        <p:txBody>
          <a:bodyPr/>
          <a:lstStyle/>
          <a:p>
            <a:pPr algn="ctr"/>
            <a:r>
              <a:rPr lang="en-GB" dirty="0"/>
              <a:t>Data Models – Structured data</a:t>
            </a:r>
          </a:p>
        </p:txBody>
      </p:sp>
      <p:sp>
        <p:nvSpPr>
          <p:cNvPr id="3" name="Content Placeholder 2"/>
          <p:cNvSpPr>
            <a:spLocks noGrp="1"/>
          </p:cNvSpPr>
          <p:nvPr>
            <p:ph idx="1"/>
          </p:nvPr>
        </p:nvSpPr>
        <p:spPr>
          <a:xfrm>
            <a:off x="838200" y="927221"/>
            <a:ext cx="9268265" cy="1844113"/>
          </a:xfrm>
        </p:spPr>
        <p:txBody>
          <a:bodyPr>
            <a:normAutofit/>
          </a:bodyPr>
          <a:lstStyle/>
          <a:p>
            <a:r>
              <a:rPr lang="en-US" sz="2000" b="1" dirty="0" smtClean="0"/>
              <a:t>Structured </a:t>
            </a:r>
            <a:r>
              <a:rPr lang="en-US" sz="2000" b="1" dirty="0"/>
              <a:t>data</a:t>
            </a:r>
            <a:r>
              <a:rPr lang="en-US" sz="2000" dirty="0"/>
              <a:t> is data that adheres to a pre-defined </a:t>
            </a:r>
            <a:r>
              <a:rPr lang="en-US" sz="2000" b="1" dirty="0"/>
              <a:t>data model</a:t>
            </a:r>
            <a:r>
              <a:rPr lang="en-US" sz="2000" dirty="0"/>
              <a:t> and is therefore straightforward to </a:t>
            </a:r>
            <a:r>
              <a:rPr lang="en-US" sz="2000" dirty="0" err="1"/>
              <a:t>analyse</a:t>
            </a:r>
            <a:r>
              <a:rPr lang="en-US" sz="2000" dirty="0"/>
              <a:t>. </a:t>
            </a:r>
            <a:endParaRPr lang="en-US" sz="2000" dirty="0" smtClean="0"/>
          </a:p>
          <a:p>
            <a:r>
              <a:rPr lang="en-US" sz="2000" dirty="0" smtClean="0"/>
              <a:t>Shows relationship </a:t>
            </a:r>
            <a:r>
              <a:rPr lang="en-US" sz="2000" dirty="0"/>
              <a:t>between the different </a:t>
            </a:r>
            <a:r>
              <a:rPr lang="en-US" sz="2000" b="1" dirty="0"/>
              <a:t>rows and columns</a:t>
            </a:r>
            <a:r>
              <a:rPr lang="en-US" sz="2000" dirty="0"/>
              <a:t>. </a:t>
            </a:r>
            <a:endParaRPr lang="en-US" sz="2000" dirty="0" smtClean="0"/>
          </a:p>
          <a:p>
            <a:r>
              <a:rPr lang="en-US" sz="2000" dirty="0" smtClean="0"/>
              <a:t>Common </a:t>
            </a:r>
            <a:r>
              <a:rPr lang="en-US" sz="2000" dirty="0"/>
              <a:t>examples of structured data </a:t>
            </a:r>
            <a:r>
              <a:rPr lang="en-US" sz="2000" dirty="0" smtClean="0"/>
              <a:t>are: </a:t>
            </a:r>
            <a:r>
              <a:rPr lang="en-US" sz="2000" b="1" dirty="0">
                <a:solidFill>
                  <a:srgbClr val="00B050"/>
                </a:solidFill>
              </a:rPr>
              <a:t>Excel files or SQL </a:t>
            </a:r>
            <a:r>
              <a:rPr lang="en-US" sz="2000" b="1" dirty="0" smtClean="0">
                <a:solidFill>
                  <a:srgbClr val="00B050"/>
                </a:solidFill>
              </a:rPr>
              <a:t>databases</a:t>
            </a:r>
            <a:endParaRPr lang="en-GB" sz="2000" b="1" dirty="0">
              <a:solidFill>
                <a:srgbClr val="00B050"/>
              </a:solidFill>
            </a:endParaRP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6</a:t>
            </a:fld>
            <a:endParaRPr lang="en-GB"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57" y="3578679"/>
            <a:ext cx="2619375" cy="168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1983" y="2940151"/>
            <a:ext cx="5789411" cy="34920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ounded Rectangular Callout 6"/>
          <p:cNvSpPr/>
          <p:nvPr/>
        </p:nvSpPr>
        <p:spPr bwMode="auto">
          <a:xfrm>
            <a:off x="1738027" y="2880188"/>
            <a:ext cx="2880320" cy="715089"/>
          </a:xfrm>
          <a:prstGeom prst="wedgeRoundRectCallout">
            <a:avLst>
              <a:gd name="adj1" fmla="val -52556"/>
              <a:gd name="adj2" fmla="val 85511"/>
              <a:gd name="adj3" fmla="val 16667"/>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pPr>
            <a:r>
              <a:rPr lang="en-GB" dirty="0">
                <a:latin typeface="Arial" charset="0"/>
              </a:rPr>
              <a:t>All rows in both tables follow the same structure</a:t>
            </a:r>
          </a:p>
        </p:txBody>
      </p:sp>
      <p:sp>
        <p:nvSpPr>
          <p:cNvPr id="8" name="Rounded Rectangular Callout 7"/>
          <p:cNvSpPr/>
          <p:nvPr/>
        </p:nvSpPr>
        <p:spPr bwMode="auto">
          <a:xfrm>
            <a:off x="3027087" y="5551510"/>
            <a:ext cx="2326442" cy="715089"/>
          </a:xfrm>
          <a:prstGeom prst="wedgeRoundRectCallout">
            <a:avLst>
              <a:gd name="adj1" fmla="val 53230"/>
              <a:gd name="adj2" fmla="val -154442"/>
              <a:gd name="adj3" fmla="val 16667"/>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pPr>
            <a:r>
              <a:rPr lang="en-GB" dirty="0">
                <a:latin typeface="Arial" charset="0"/>
              </a:rPr>
              <a:t>All columns have the same data type</a:t>
            </a:r>
          </a:p>
        </p:txBody>
      </p:sp>
    </p:spTree>
    <p:extLst>
      <p:ext uri="{BB962C8B-B14F-4D97-AF65-F5344CB8AC3E}">
        <p14:creationId xmlns:p14="http://schemas.microsoft.com/office/powerpoint/2010/main" val="357629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0518" y="0"/>
            <a:ext cx="9692640" cy="882039"/>
          </a:xfrm>
        </p:spPr>
        <p:txBody>
          <a:bodyPr/>
          <a:lstStyle/>
          <a:p>
            <a:pPr algn="ctr"/>
            <a:r>
              <a:rPr lang="en-GB" dirty="0"/>
              <a:t>Data Models – Semi-Structured data</a:t>
            </a:r>
          </a:p>
        </p:txBody>
      </p:sp>
      <p:sp>
        <p:nvSpPr>
          <p:cNvPr id="3" name="Content Placeholder 2"/>
          <p:cNvSpPr>
            <a:spLocks noGrp="1"/>
          </p:cNvSpPr>
          <p:nvPr>
            <p:ph idx="1"/>
          </p:nvPr>
        </p:nvSpPr>
        <p:spPr>
          <a:xfrm>
            <a:off x="1139483" y="1275482"/>
            <a:ext cx="9071317" cy="1368152"/>
          </a:xfrm>
        </p:spPr>
        <p:txBody>
          <a:bodyPr>
            <a:normAutofit/>
          </a:bodyPr>
          <a:lstStyle/>
          <a:p>
            <a:r>
              <a:rPr lang="en-GB" sz="2000" dirty="0"/>
              <a:t>Not all data can conform to a structured model.</a:t>
            </a:r>
          </a:p>
          <a:p>
            <a:r>
              <a:rPr lang="en-GB" sz="2000" dirty="0"/>
              <a:t>What if the data for our DEPT table looked like this:</a:t>
            </a:r>
          </a:p>
          <a:p>
            <a:endParaRPr lang="en-GB" sz="2000"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7</a:t>
            </a:fld>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410117686"/>
              </p:ext>
            </p:extLst>
          </p:nvPr>
        </p:nvGraphicFramePr>
        <p:xfrm>
          <a:off x="1246806" y="2404183"/>
          <a:ext cx="6830394" cy="4436698"/>
        </p:xfrm>
        <a:graphic>
          <a:graphicData uri="http://schemas.openxmlformats.org/drawingml/2006/table">
            <a:tbl>
              <a:tblPr firstRow="1" bandRow="1">
                <a:tableStyleId>{5C22544A-7EE6-4342-B048-85BDC9FD1C3A}</a:tableStyleId>
              </a:tblPr>
              <a:tblGrid>
                <a:gridCol w="3415197">
                  <a:extLst>
                    <a:ext uri="{9D8B030D-6E8A-4147-A177-3AD203B41FA5}">
                      <a16:colId xmlns="" xmlns:a16="http://schemas.microsoft.com/office/drawing/2014/main" val="3688885532"/>
                    </a:ext>
                  </a:extLst>
                </a:gridCol>
                <a:gridCol w="3415197">
                  <a:extLst>
                    <a:ext uri="{9D8B030D-6E8A-4147-A177-3AD203B41FA5}">
                      <a16:colId xmlns="" xmlns:a16="http://schemas.microsoft.com/office/drawing/2014/main" val="2938963077"/>
                    </a:ext>
                  </a:extLst>
                </a:gridCol>
              </a:tblGrid>
              <a:tr h="2139682">
                <a:tc>
                  <a:txBody>
                    <a:bodyPr/>
                    <a:lstStyle/>
                    <a:p>
                      <a:pPr marL="0" lvl="0" indent="-57150">
                        <a:buNone/>
                      </a:pPr>
                      <a:r>
                        <a:rPr lang="en-GB" sz="1800" b="1" dirty="0">
                          <a:solidFill>
                            <a:schemeClr val="tx1"/>
                          </a:solidFill>
                        </a:rPr>
                        <a:t>DEPT: {</a:t>
                      </a:r>
                    </a:p>
                    <a:p>
                      <a:pPr marL="400050" lvl="1" indent="0">
                        <a:buNone/>
                      </a:pPr>
                      <a:r>
                        <a:rPr lang="en-GB" sz="1800" b="1" dirty="0" err="1">
                          <a:solidFill>
                            <a:schemeClr val="tx1"/>
                          </a:solidFill>
                        </a:rPr>
                        <a:t>deptno</a:t>
                      </a:r>
                      <a:r>
                        <a:rPr lang="en-GB" sz="1800" b="1" dirty="0">
                          <a:solidFill>
                            <a:schemeClr val="tx1"/>
                          </a:solidFill>
                        </a:rPr>
                        <a:t>: 10, </a:t>
                      </a:r>
                    </a:p>
                    <a:p>
                      <a:pPr marL="400050" lvl="1" indent="0">
                        <a:buNone/>
                      </a:pPr>
                      <a:r>
                        <a:rPr lang="en-GB" sz="1800" b="1" dirty="0" err="1">
                          <a:solidFill>
                            <a:schemeClr val="tx1"/>
                          </a:solidFill>
                        </a:rPr>
                        <a:t>dname</a:t>
                      </a:r>
                      <a:r>
                        <a:rPr lang="en-GB" sz="1800" b="1" dirty="0">
                          <a:solidFill>
                            <a:schemeClr val="tx1"/>
                          </a:solidFill>
                        </a:rPr>
                        <a:t>: 'ACCOUNTING', </a:t>
                      </a:r>
                      <a:r>
                        <a:rPr lang="en-GB" sz="1800" b="1" dirty="0" err="1">
                          <a:solidFill>
                            <a:schemeClr val="tx1"/>
                          </a:solidFill>
                        </a:rPr>
                        <a:t>loc</a:t>
                      </a:r>
                      <a:r>
                        <a:rPr lang="en-GB" sz="1800" b="1" dirty="0">
                          <a:solidFill>
                            <a:schemeClr val="tx1"/>
                          </a:solidFill>
                        </a:rPr>
                        <a:t>: 'NEW YORK‘,</a:t>
                      </a:r>
                    </a:p>
                    <a:p>
                      <a:pPr marL="400050" lvl="1" indent="0">
                        <a:buNone/>
                      </a:pPr>
                      <a:r>
                        <a:rPr lang="en-GB" sz="1800" b="1" dirty="0">
                          <a:solidFill>
                            <a:schemeClr val="tx1"/>
                          </a:solidFill>
                        </a:rPr>
                        <a:t>auditor: </a:t>
                      </a:r>
                      <a:r>
                        <a:rPr lang="en-GB" sz="1800" b="1" dirty="0" smtClean="0">
                          <a:solidFill>
                            <a:schemeClr val="tx1"/>
                          </a:solidFill>
                        </a:rPr>
                        <a:t>‘</a:t>
                      </a:r>
                      <a:r>
                        <a:rPr lang="en-GB" sz="1800" b="1" dirty="0" err="1" smtClean="0">
                          <a:solidFill>
                            <a:schemeClr val="tx1"/>
                          </a:solidFill>
                        </a:rPr>
                        <a:t>Rajan</a:t>
                      </a:r>
                      <a:r>
                        <a:rPr lang="en-GB" sz="1800" b="1" dirty="0" smtClean="0">
                          <a:solidFill>
                            <a:schemeClr val="tx1"/>
                          </a:solidFill>
                        </a:rPr>
                        <a:t>’</a:t>
                      </a:r>
                      <a:endParaRPr lang="en-GB" sz="1800" b="1" dirty="0">
                        <a:solidFill>
                          <a:schemeClr val="tx1"/>
                        </a:solidFill>
                      </a:endParaRPr>
                    </a:p>
                    <a:p>
                      <a:pPr marL="400050" lvl="1" indent="0">
                        <a:buNone/>
                      </a:pPr>
                      <a:r>
                        <a:rPr lang="en-GB" sz="1800" b="1" dirty="0">
                          <a:solidFill>
                            <a:schemeClr val="tx1"/>
                          </a:solidFill>
                        </a:rPr>
                        <a:t>}</a:t>
                      </a:r>
                    </a:p>
                  </a:txBody>
                  <a:tcPr marL="102456" marR="102456" marT="51228" marB="51228">
                    <a:solidFill>
                      <a:schemeClr val="accent6">
                        <a:lumMod val="40000"/>
                        <a:lumOff val="60000"/>
                      </a:schemeClr>
                    </a:solidFill>
                  </a:tcPr>
                </a:tc>
                <a:tc>
                  <a:txBody>
                    <a:bodyPr/>
                    <a:lstStyle/>
                    <a:p>
                      <a:pPr marL="0" lvl="0" indent="-57150">
                        <a:buNone/>
                      </a:pPr>
                      <a:r>
                        <a:rPr lang="en-GB" sz="1800" b="1" dirty="0">
                          <a:solidFill>
                            <a:srgbClr val="FF0000"/>
                          </a:solidFill>
                        </a:rPr>
                        <a:t>DEPT: {</a:t>
                      </a:r>
                    </a:p>
                    <a:p>
                      <a:pPr marL="400050" lvl="1" indent="0">
                        <a:buNone/>
                      </a:pPr>
                      <a:r>
                        <a:rPr lang="en-GB" sz="1800" b="1" dirty="0" err="1">
                          <a:solidFill>
                            <a:srgbClr val="FF0000"/>
                          </a:solidFill>
                        </a:rPr>
                        <a:t>deptno</a:t>
                      </a:r>
                      <a:r>
                        <a:rPr lang="en-GB" sz="1800" b="1" dirty="0">
                          <a:solidFill>
                            <a:srgbClr val="FF0000"/>
                          </a:solidFill>
                        </a:rPr>
                        <a:t>: 30, </a:t>
                      </a:r>
                    </a:p>
                    <a:p>
                      <a:pPr marL="400050" lvl="1" indent="0">
                        <a:buNone/>
                      </a:pPr>
                      <a:r>
                        <a:rPr lang="en-GB" sz="1800" b="1" dirty="0" err="1">
                          <a:solidFill>
                            <a:srgbClr val="FF0000"/>
                          </a:solidFill>
                        </a:rPr>
                        <a:t>dname</a:t>
                      </a:r>
                      <a:r>
                        <a:rPr lang="en-GB" sz="1800" b="1" dirty="0">
                          <a:solidFill>
                            <a:srgbClr val="FF0000"/>
                          </a:solidFill>
                        </a:rPr>
                        <a:t>: ‘SALES', </a:t>
                      </a:r>
                    </a:p>
                    <a:p>
                      <a:pPr marL="400050" lvl="1" indent="0">
                        <a:buNone/>
                      </a:pPr>
                      <a:r>
                        <a:rPr lang="en-GB" sz="1800" b="1" dirty="0" err="1">
                          <a:solidFill>
                            <a:srgbClr val="FF0000"/>
                          </a:solidFill>
                        </a:rPr>
                        <a:t>loc</a:t>
                      </a:r>
                      <a:r>
                        <a:rPr lang="en-GB" sz="1800" b="1" dirty="0">
                          <a:solidFill>
                            <a:srgbClr val="FF0000"/>
                          </a:solidFill>
                        </a:rPr>
                        <a:t>: ‘CHICAGO‘,</a:t>
                      </a:r>
                    </a:p>
                    <a:p>
                      <a:pPr marL="400050" lvl="1" indent="0">
                        <a:buNone/>
                      </a:pPr>
                      <a:r>
                        <a:rPr lang="en-GB" sz="1800" b="1" dirty="0">
                          <a:solidFill>
                            <a:srgbClr val="FF0000"/>
                          </a:solidFill>
                        </a:rPr>
                        <a:t>budget: 50,000</a:t>
                      </a:r>
                    </a:p>
                    <a:p>
                      <a:pPr marL="400050" lvl="1" indent="0">
                        <a:buNone/>
                      </a:pPr>
                      <a:r>
                        <a:rPr lang="en-GB" sz="1800" b="1" dirty="0">
                          <a:solidFill>
                            <a:srgbClr val="FF0000"/>
                          </a:solidFill>
                        </a:rPr>
                        <a:t>}</a:t>
                      </a:r>
                    </a:p>
                  </a:txBody>
                  <a:tcPr marL="102456" marR="102456" marT="51228" marB="51228">
                    <a:solidFill>
                      <a:schemeClr val="accent6">
                        <a:lumMod val="40000"/>
                        <a:lumOff val="60000"/>
                      </a:schemeClr>
                    </a:solidFill>
                  </a:tcPr>
                </a:tc>
                <a:extLst>
                  <a:ext uri="{0D108BD9-81ED-4DB2-BD59-A6C34878D82A}">
                    <a16:rowId xmlns="" xmlns:a16="http://schemas.microsoft.com/office/drawing/2014/main" val="3722401176"/>
                  </a:ext>
                </a:extLst>
              </a:tr>
              <a:tr h="2288182">
                <a:tc>
                  <a:txBody>
                    <a:bodyPr/>
                    <a:lstStyle/>
                    <a:p>
                      <a:pPr marL="0" lvl="0" indent="-57150">
                        <a:buNone/>
                      </a:pPr>
                      <a:r>
                        <a:rPr lang="en-GB" sz="1800" b="1" dirty="0">
                          <a:solidFill>
                            <a:srgbClr val="00B050"/>
                          </a:solidFill>
                        </a:rPr>
                        <a:t>DEPT: {</a:t>
                      </a:r>
                    </a:p>
                    <a:p>
                      <a:pPr marL="400050" lvl="1" indent="0">
                        <a:buNone/>
                      </a:pPr>
                      <a:r>
                        <a:rPr lang="en-GB" sz="1800" b="1" dirty="0" err="1">
                          <a:solidFill>
                            <a:srgbClr val="00B050"/>
                          </a:solidFill>
                        </a:rPr>
                        <a:t>deptno</a:t>
                      </a:r>
                      <a:r>
                        <a:rPr lang="en-GB" sz="1800" b="1" dirty="0">
                          <a:solidFill>
                            <a:srgbClr val="00B050"/>
                          </a:solidFill>
                        </a:rPr>
                        <a:t>: 20, </a:t>
                      </a:r>
                    </a:p>
                    <a:p>
                      <a:pPr marL="400050" lvl="1" indent="0">
                        <a:buNone/>
                      </a:pPr>
                      <a:r>
                        <a:rPr lang="en-GB" sz="1800" b="1" dirty="0" err="1">
                          <a:solidFill>
                            <a:srgbClr val="00B050"/>
                          </a:solidFill>
                        </a:rPr>
                        <a:t>dname</a:t>
                      </a:r>
                      <a:r>
                        <a:rPr lang="en-GB" sz="1800" b="1" dirty="0">
                          <a:solidFill>
                            <a:srgbClr val="00B050"/>
                          </a:solidFill>
                        </a:rPr>
                        <a:t>: RESEARCH', </a:t>
                      </a:r>
                    </a:p>
                    <a:p>
                      <a:pPr marL="400050" lvl="1" indent="0">
                        <a:buNone/>
                      </a:pPr>
                      <a:r>
                        <a:rPr lang="en-GB" sz="1800" b="1" dirty="0" err="1">
                          <a:solidFill>
                            <a:srgbClr val="00B050"/>
                          </a:solidFill>
                        </a:rPr>
                        <a:t>loc</a:t>
                      </a:r>
                      <a:r>
                        <a:rPr lang="en-GB" sz="1800" b="1" dirty="0">
                          <a:solidFill>
                            <a:srgbClr val="00B050"/>
                          </a:solidFill>
                        </a:rPr>
                        <a:t>: ‘DALLAS‘,</a:t>
                      </a:r>
                    </a:p>
                    <a:p>
                      <a:pPr marL="400050" lvl="1" indent="0">
                        <a:buNone/>
                      </a:pPr>
                      <a:r>
                        <a:rPr lang="en-GB" sz="1800" b="1" dirty="0">
                          <a:solidFill>
                            <a:srgbClr val="00B050"/>
                          </a:solidFill>
                        </a:rPr>
                        <a:t>prof: ‘Prof Green’,</a:t>
                      </a:r>
                    </a:p>
                    <a:p>
                      <a:pPr marL="400050" lvl="1" indent="0">
                        <a:buNone/>
                      </a:pPr>
                      <a:r>
                        <a:rPr lang="en-GB" sz="1800" b="1" dirty="0">
                          <a:solidFill>
                            <a:srgbClr val="00B050"/>
                          </a:solidFill>
                        </a:rPr>
                        <a:t>status: ‘Silver’  </a:t>
                      </a:r>
                    </a:p>
                    <a:p>
                      <a:pPr marL="400050" lvl="1" indent="0">
                        <a:buNone/>
                      </a:pPr>
                      <a:r>
                        <a:rPr lang="en-GB" sz="1800" b="1" dirty="0">
                          <a:solidFill>
                            <a:srgbClr val="00B050"/>
                          </a:solidFill>
                        </a:rPr>
                        <a:t>}</a:t>
                      </a:r>
                    </a:p>
                    <a:p>
                      <a:pPr marL="400050" lvl="1" indent="0">
                        <a:buNone/>
                      </a:pPr>
                      <a:endParaRPr lang="en-GB" sz="1800" dirty="0"/>
                    </a:p>
                  </a:txBody>
                  <a:tcPr marL="102456" marR="102456" marT="51228" marB="51228">
                    <a:solidFill>
                      <a:schemeClr val="accent6">
                        <a:lumMod val="20000"/>
                        <a:lumOff val="80000"/>
                      </a:schemeClr>
                    </a:solidFill>
                  </a:tcPr>
                </a:tc>
                <a:tc>
                  <a:txBody>
                    <a:bodyPr/>
                    <a:lstStyle/>
                    <a:p>
                      <a:pPr marL="0" lvl="0" indent="-57150">
                        <a:buNone/>
                      </a:pPr>
                      <a:r>
                        <a:rPr lang="en-GB" sz="1800" b="1" dirty="0">
                          <a:solidFill>
                            <a:srgbClr val="0033CC"/>
                          </a:solidFill>
                        </a:rPr>
                        <a:t>DEPT: {</a:t>
                      </a:r>
                    </a:p>
                    <a:p>
                      <a:pPr marL="400050" lvl="1" indent="0">
                        <a:buNone/>
                      </a:pPr>
                      <a:r>
                        <a:rPr lang="en-GB" sz="1800" b="1" dirty="0" err="1">
                          <a:solidFill>
                            <a:srgbClr val="0033CC"/>
                          </a:solidFill>
                        </a:rPr>
                        <a:t>deptno</a:t>
                      </a:r>
                      <a:r>
                        <a:rPr lang="en-GB" sz="1800" b="1" dirty="0">
                          <a:solidFill>
                            <a:srgbClr val="0033CC"/>
                          </a:solidFill>
                        </a:rPr>
                        <a:t>: 40, </a:t>
                      </a:r>
                    </a:p>
                    <a:p>
                      <a:pPr marL="400050" lvl="1" indent="0">
                        <a:buNone/>
                      </a:pPr>
                      <a:r>
                        <a:rPr lang="en-GB" sz="1800" b="1" dirty="0" err="1">
                          <a:solidFill>
                            <a:srgbClr val="0033CC"/>
                          </a:solidFill>
                        </a:rPr>
                        <a:t>dname</a:t>
                      </a:r>
                      <a:r>
                        <a:rPr lang="en-GB" sz="1800" b="1" dirty="0">
                          <a:solidFill>
                            <a:srgbClr val="0033CC"/>
                          </a:solidFill>
                        </a:rPr>
                        <a:t>: ‘OPERATIONS', </a:t>
                      </a:r>
                    </a:p>
                    <a:p>
                      <a:pPr marL="400050" lvl="1" indent="0">
                        <a:buNone/>
                      </a:pPr>
                      <a:r>
                        <a:rPr lang="en-GB" sz="1800" b="1" dirty="0" err="1">
                          <a:solidFill>
                            <a:srgbClr val="0033CC"/>
                          </a:solidFill>
                        </a:rPr>
                        <a:t>loc</a:t>
                      </a:r>
                      <a:r>
                        <a:rPr lang="en-GB" sz="1800" b="1" dirty="0">
                          <a:solidFill>
                            <a:srgbClr val="0033CC"/>
                          </a:solidFill>
                        </a:rPr>
                        <a:t>: ‘BOSTON‘</a:t>
                      </a:r>
                    </a:p>
                    <a:p>
                      <a:pPr marL="400050" lvl="1" indent="0">
                        <a:buNone/>
                      </a:pPr>
                      <a:r>
                        <a:rPr lang="en-GB" sz="1800" b="1" dirty="0">
                          <a:solidFill>
                            <a:srgbClr val="0033CC"/>
                          </a:solidFill>
                        </a:rPr>
                        <a:t>}</a:t>
                      </a:r>
                      <a:endParaRPr lang="en-GB" sz="1800" b="1" dirty="0"/>
                    </a:p>
                    <a:p>
                      <a:pPr marL="400050" lvl="1" indent="0">
                        <a:buNone/>
                      </a:pPr>
                      <a:endParaRPr lang="en-GB" sz="1800" dirty="0"/>
                    </a:p>
                  </a:txBody>
                  <a:tcPr marL="102456" marR="102456" marT="51228" marB="51228">
                    <a:solidFill>
                      <a:schemeClr val="accent6">
                        <a:lumMod val="20000"/>
                        <a:lumOff val="80000"/>
                      </a:schemeClr>
                    </a:solidFill>
                  </a:tcPr>
                </a:tc>
                <a:extLst>
                  <a:ext uri="{0D108BD9-81ED-4DB2-BD59-A6C34878D82A}">
                    <a16:rowId xmlns="" xmlns:a16="http://schemas.microsoft.com/office/drawing/2014/main" val="110818482"/>
                  </a:ext>
                </a:extLst>
              </a:tr>
            </a:tbl>
          </a:graphicData>
        </a:graphic>
      </p:graphicFrame>
      <p:sp>
        <p:nvSpPr>
          <p:cNvPr id="7" name="Rounded Rectangular Callout 6"/>
          <p:cNvSpPr/>
          <p:nvPr/>
        </p:nvSpPr>
        <p:spPr bwMode="auto">
          <a:xfrm>
            <a:off x="8693270" y="937550"/>
            <a:ext cx="2088232" cy="1021556"/>
          </a:xfrm>
          <a:prstGeom prst="wedgeRoundRectCallout">
            <a:avLst>
              <a:gd name="adj1" fmla="val -76074"/>
              <a:gd name="adj2" fmla="val 71991"/>
              <a:gd name="adj3" fmla="val 16667"/>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pPr>
            <a:r>
              <a:rPr lang="en-GB" dirty="0">
                <a:solidFill>
                  <a:schemeClr val="bg1"/>
                </a:solidFill>
                <a:latin typeface="Arial" charset="0"/>
              </a:rPr>
              <a:t>Not all records have the same structure</a:t>
            </a:r>
          </a:p>
        </p:txBody>
      </p:sp>
      <p:sp>
        <p:nvSpPr>
          <p:cNvPr id="8" name="Rounded Rectangular Callout 7"/>
          <p:cNvSpPr/>
          <p:nvPr/>
        </p:nvSpPr>
        <p:spPr bwMode="auto">
          <a:xfrm>
            <a:off x="8693270" y="2525395"/>
            <a:ext cx="2088232" cy="1021556"/>
          </a:xfrm>
          <a:prstGeom prst="wedgeRoundRectCallout">
            <a:avLst>
              <a:gd name="adj1" fmla="val -78095"/>
              <a:gd name="adj2" fmla="val 41694"/>
              <a:gd name="adj3" fmla="val 16667"/>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pPr>
            <a:r>
              <a:rPr lang="en-GB" dirty="0">
                <a:solidFill>
                  <a:schemeClr val="bg1"/>
                </a:solidFill>
                <a:latin typeface="Arial" charset="0"/>
              </a:rPr>
              <a:t>There is some structure, just not constant</a:t>
            </a:r>
          </a:p>
        </p:txBody>
      </p:sp>
      <p:sp>
        <p:nvSpPr>
          <p:cNvPr id="9" name="Rounded Rectangular Callout 8"/>
          <p:cNvSpPr/>
          <p:nvPr/>
        </p:nvSpPr>
        <p:spPr bwMode="auto">
          <a:xfrm>
            <a:off x="8693270" y="4027168"/>
            <a:ext cx="2088232" cy="715089"/>
          </a:xfrm>
          <a:prstGeom prst="wedgeRoundRectCallout">
            <a:avLst>
              <a:gd name="adj1" fmla="val -78095"/>
              <a:gd name="adj2" fmla="val 100516"/>
              <a:gd name="adj3" fmla="val 16667"/>
            </a:avLst>
          </a:prstGeom>
          <a:solidFill>
            <a:srgbClr val="CC66FF"/>
          </a:solidFill>
          <a:ln w="12700" cap="flat" cmpd="sng" algn="ctr">
            <a:solidFill>
              <a:schemeClr val="tx1"/>
            </a:solidFill>
            <a:prstDash val="solid"/>
            <a:round/>
            <a:headEnd type="none" w="sm" len="sm"/>
            <a:tailEnd type="none" w="sm" len="sm"/>
          </a:ln>
          <a:effectLst/>
        </p:spPr>
        <p:txBody>
          <a:bodyPr vert="horz" wrap="square" lIns="91440" tIns="45720" rIns="91440" bIns="45720" numCol="1" rtlCol="0" anchor="t" anchorCtr="0" compatLnSpc="1">
            <a:prstTxWarp prst="textNoShape">
              <a:avLst/>
            </a:prstTxWarp>
            <a:spAutoFit/>
          </a:bodyPr>
          <a:lstStyle/>
          <a:p>
            <a:pPr fontAlgn="base">
              <a:spcBef>
                <a:spcPct val="0"/>
              </a:spcBef>
              <a:spcAft>
                <a:spcPct val="0"/>
              </a:spcAft>
            </a:pPr>
            <a:r>
              <a:rPr lang="en-GB" dirty="0">
                <a:latin typeface="Arial" charset="0"/>
              </a:rPr>
              <a:t>This data is called semi-structured</a:t>
            </a:r>
          </a:p>
        </p:txBody>
      </p:sp>
    </p:spTree>
    <p:extLst>
      <p:ext uri="{BB962C8B-B14F-4D97-AF65-F5344CB8AC3E}">
        <p14:creationId xmlns:p14="http://schemas.microsoft.com/office/powerpoint/2010/main" val="930004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ppt_x"/>
                                          </p:val>
                                        </p:tav>
                                        <p:tav tm="100000">
                                          <p:val>
                                            <p:strVal val="#ppt_x"/>
                                          </p:val>
                                        </p:tav>
                                      </p:tavLst>
                                    </p:anim>
                                    <p:anim calcmode="lin" valueType="num">
                                      <p:cBhvr additive="base">
                                        <p:cTn id="20"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2684047" y="1691322"/>
            <a:ext cx="5716574" cy="4385616"/>
          </a:xfrm>
          <a:prstGeom prst="rect">
            <a:avLst/>
          </a:prstGeom>
        </p:spPr>
      </p:pic>
    </p:spTree>
    <p:extLst>
      <p:ext uri="{BB962C8B-B14F-4D97-AF65-F5344CB8AC3E}">
        <p14:creationId xmlns:p14="http://schemas.microsoft.com/office/powerpoint/2010/main" val="173719813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5940" y="0"/>
            <a:ext cx="9692640" cy="1325562"/>
          </a:xfrm>
        </p:spPr>
        <p:txBody>
          <a:bodyPr/>
          <a:lstStyle/>
          <a:p>
            <a:pPr algn="ctr"/>
            <a:r>
              <a:rPr lang="en-US" dirty="0" smtClean="0"/>
              <a:t>Unstructured Data</a:t>
            </a:r>
            <a:endParaRPr lang="en-US" dirty="0"/>
          </a:p>
        </p:txBody>
      </p:sp>
      <p:pic>
        <p:nvPicPr>
          <p:cNvPr id="4" name="Content Placeholder 3"/>
          <p:cNvPicPr>
            <a:picLocks noGrp="1" noChangeAspect="1"/>
          </p:cNvPicPr>
          <p:nvPr>
            <p:ph idx="1"/>
          </p:nvPr>
        </p:nvPicPr>
        <p:blipFill>
          <a:blip r:embed="rId2"/>
          <a:stretch>
            <a:fillRect/>
          </a:stretch>
        </p:blipFill>
        <p:spPr>
          <a:xfrm>
            <a:off x="2684047" y="1691322"/>
            <a:ext cx="5716574" cy="4385616"/>
          </a:xfrm>
          <a:prstGeom prst="rect">
            <a:avLst/>
          </a:prstGeom>
        </p:spPr>
      </p:pic>
    </p:spTree>
    <p:extLst>
      <p:ext uri="{BB962C8B-B14F-4D97-AF65-F5344CB8AC3E}">
        <p14:creationId xmlns:p14="http://schemas.microsoft.com/office/powerpoint/2010/main" val="13847198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50857" y="79233"/>
            <a:ext cx="9692640" cy="819125"/>
          </a:xfrm>
        </p:spPr>
        <p:txBody>
          <a:bodyPr/>
          <a:lstStyle/>
          <a:p>
            <a:pPr algn="ctr"/>
            <a:r>
              <a:rPr lang="en-GB" dirty="0"/>
              <a:t>Data Models – Unstructured data</a:t>
            </a:r>
          </a:p>
        </p:txBody>
      </p:sp>
      <p:sp>
        <p:nvSpPr>
          <p:cNvPr id="3" name="Content Placeholder 2"/>
          <p:cNvSpPr>
            <a:spLocks noGrp="1"/>
          </p:cNvSpPr>
          <p:nvPr>
            <p:ph idx="1"/>
          </p:nvPr>
        </p:nvSpPr>
        <p:spPr>
          <a:xfrm>
            <a:off x="1050857" y="1259477"/>
            <a:ext cx="9159943" cy="720080"/>
          </a:xfrm>
        </p:spPr>
        <p:txBody>
          <a:bodyPr>
            <a:normAutofit/>
          </a:bodyPr>
          <a:lstStyle/>
          <a:p>
            <a:r>
              <a:rPr lang="en-GB" sz="2000" b="1" dirty="0"/>
              <a:t>Some data may have no structure at all:</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10</a:t>
            </a:fld>
            <a:endParaRPr lang="en-GB" dirty="0"/>
          </a:p>
        </p:txBody>
      </p:sp>
      <p:sp>
        <p:nvSpPr>
          <p:cNvPr id="6" name="TextBox 5"/>
          <p:cNvSpPr txBox="1"/>
          <p:nvPr/>
        </p:nvSpPr>
        <p:spPr>
          <a:xfrm>
            <a:off x="1050857" y="2341621"/>
            <a:ext cx="8740257" cy="1938992"/>
          </a:xfrm>
          <a:prstGeom prst="rect">
            <a:avLst/>
          </a:prstGeom>
          <a:noFill/>
        </p:spPr>
        <p:txBody>
          <a:bodyPr wrap="square" rtlCol="0">
            <a:spAutoFit/>
          </a:bodyPr>
          <a:lstStyle/>
          <a:p>
            <a:pPr marL="457200" indent="-457200">
              <a:buFont typeface="+mj-lt"/>
              <a:buAutoNum type="arabicPeriod"/>
            </a:pPr>
            <a:r>
              <a:rPr lang="en-GB" sz="2400" dirty="0">
                <a:solidFill>
                  <a:srgbClr val="0033CC"/>
                </a:solidFill>
              </a:rPr>
              <a:t>There is no apparent structure to this data.</a:t>
            </a:r>
          </a:p>
          <a:p>
            <a:pPr marL="457200" indent="-457200">
              <a:buFont typeface="+mj-lt"/>
              <a:buAutoNum type="arabicPeriod"/>
            </a:pPr>
            <a:endParaRPr lang="en-GB" sz="2400" dirty="0">
              <a:solidFill>
                <a:srgbClr val="0033CC"/>
              </a:solidFill>
            </a:endParaRPr>
          </a:p>
          <a:p>
            <a:pPr marL="457200" indent="-457200">
              <a:buFont typeface="+mj-lt"/>
              <a:buAutoNum type="arabicPeriod"/>
            </a:pPr>
            <a:r>
              <a:rPr lang="en-GB" sz="2400" dirty="0">
                <a:solidFill>
                  <a:srgbClr val="0033CC"/>
                </a:solidFill>
              </a:rPr>
              <a:t>Nor any clues to what the figures may mean.</a:t>
            </a:r>
          </a:p>
          <a:p>
            <a:pPr marL="457200" indent="-457200">
              <a:buFont typeface="+mj-lt"/>
              <a:buAutoNum type="arabicPeriod"/>
            </a:pPr>
            <a:endParaRPr lang="en-GB" sz="2400" dirty="0">
              <a:solidFill>
                <a:srgbClr val="0033CC"/>
              </a:solidFill>
            </a:endParaRPr>
          </a:p>
          <a:p>
            <a:pPr marL="457200" indent="-457200">
              <a:buFont typeface="+mj-lt"/>
              <a:buAutoNum type="arabicPeriod"/>
            </a:pPr>
            <a:r>
              <a:rPr lang="en-GB" sz="2400" dirty="0">
                <a:solidFill>
                  <a:srgbClr val="0033CC"/>
                </a:solidFill>
              </a:rPr>
              <a:t>Very hard to give meaning to this data!</a:t>
            </a:r>
          </a:p>
        </p:txBody>
      </p:sp>
    </p:spTree>
    <p:extLst>
      <p:ext uri="{BB962C8B-B14F-4D97-AF65-F5344CB8AC3E}">
        <p14:creationId xmlns:p14="http://schemas.microsoft.com/office/powerpoint/2010/main" val="13410301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375828" y="1688122"/>
            <a:ext cx="10303303" cy="2433711"/>
          </a:xfrm>
          <a:prstGeom prst="rect">
            <a:avLst/>
          </a:prstGeom>
        </p:spPr>
      </p:pic>
    </p:spTree>
    <p:extLst>
      <p:ext uri="{BB962C8B-B14F-4D97-AF65-F5344CB8AC3E}">
        <p14:creationId xmlns:p14="http://schemas.microsoft.com/office/powerpoint/2010/main" val="316022010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5774" y="-407963"/>
            <a:ext cx="9692640" cy="1325562"/>
          </a:xfrm>
        </p:spPr>
        <p:txBody>
          <a:bodyPr/>
          <a:lstStyle/>
          <a:p>
            <a:pPr algn="ctr"/>
            <a:r>
              <a:rPr lang="en-GB" dirty="0"/>
              <a:t>Data Models</a:t>
            </a:r>
          </a:p>
        </p:txBody>
      </p:sp>
      <p:sp>
        <p:nvSpPr>
          <p:cNvPr id="3" name="Content Placeholder 2"/>
          <p:cNvSpPr>
            <a:spLocks noGrp="1"/>
          </p:cNvSpPr>
          <p:nvPr>
            <p:ph idx="1"/>
          </p:nvPr>
        </p:nvSpPr>
        <p:spPr>
          <a:xfrm>
            <a:off x="1195754" y="1089219"/>
            <a:ext cx="9861452" cy="5184576"/>
          </a:xfrm>
        </p:spPr>
        <p:txBody>
          <a:bodyPr>
            <a:noAutofit/>
          </a:bodyPr>
          <a:lstStyle/>
          <a:p>
            <a:r>
              <a:rPr lang="en-GB" sz="2000" dirty="0"/>
              <a:t>It helps to know what structure the data is in.</a:t>
            </a:r>
          </a:p>
          <a:p>
            <a:r>
              <a:rPr lang="en-GB" sz="2000" dirty="0"/>
              <a:t>Helps determine how the data could be stored or manipulated</a:t>
            </a:r>
          </a:p>
          <a:p>
            <a:r>
              <a:rPr lang="en-GB" sz="2000" dirty="0"/>
              <a:t>Data models also determine:</a:t>
            </a:r>
          </a:p>
          <a:p>
            <a:pPr lvl="1"/>
            <a:r>
              <a:rPr lang="en-GB" sz="1800" dirty="0"/>
              <a:t>What operations can be carried out</a:t>
            </a:r>
          </a:p>
          <a:p>
            <a:pPr lvl="2"/>
            <a:r>
              <a:rPr lang="en-GB" sz="1600" dirty="0"/>
              <a:t>E.g., numerical or data functions</a:t>
            </a:r>
          </a:p>
          <a:p>
            <a:pPr lvl="1"/>
            <a:r>
              <a:rPr lang="en-GB" sz="1800" dirty="0"/>
              <a:t>What constraints can be added</a:t>
            </a:r>
          </a:p>
          <a:p>
            <a:pPr lvl="2"/>
            <a:r>
              <a:rPr lang="en-GB" sz="1600" dirty="0"/>
              <a:t>E.g., Today’s </a:t>
            </a:r>
            <a:r>
              <a:rPr lang="en-GB" sz="1600" dirty="0" smtClean="0"/>
              <a:t>date </a:t>
            </a:r>
            <a:r>
              <a:rPr lang="en-GB" sz="1600" dirty="0"/>
              <a:t>minus the DOB must be greater than 18</a:t>
            </a:r>
          </a:p>
          <a:p>
            <a:r>
              <a:rPr lang="en-GB" sz="2000" dirty="0"/>
              <a:t>Structured data can be held in a relational database</a:t>
            </a:r>
          </a:p>
          <a:p>
            <a:r>
              <a:rPr lang="en-GB" sz="2000" dirty="0">
                <a:solidFill>
                  <a:srgbClr val="FF0000"/>
                </a:solidFill>
              </a:rPr>
              <a:t>Need something different for semi-structured or unstructured data</a:t>
            </a:r>
            <a:r>
              <a:rPr lang="en-GB" sz="2000" dirty="0"/>
              <a:t>.</a:t>
            </a:r>
          </a:p>
          <a:p>
            <a:r>
              <a:rPr lang="en-GB" sz="2000" dirty="0"/>
              <a:t>This is where </a:t>
            </a:r>
            <a:r>
              <a:rPr lang="en-GB" sz="2000" dirty="0">
                <a:solidFill>
                  <a:srgbClr val="0070C0"/>
                </a:solidFill>
              </a:rPr>
              <a:t>NoSQL</a:t>
            </a:r>
            <a:r>
              <a:rPr lang="en-GB" sz="2000" dirty="0"/>
              <a:t> database are becoming popular for handling semi-structured data.</a:t>
            </a:r>
          </a:p>
          <a:p>
            <a:endParaRPr lang="en-GB" sz="2000"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12</a:t>
            </a:fld>
            <a:endParaRPr lang="en-GB" dirty="0"/>
          </a:p>
        </p:txBody>
      </p:sp>
    </p:spTree>
    <p:extLst>
      <p:ext uri="{BB962C8B-B14F-4D97-AF65-F5344CB8AC3E}">
        <p14:creationId xmlns:p14="http://schemas.microsoft.com/office/powerpoint/2010/main" val="3313795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9841" y="0"/>
            <a:ext cx="9692640" cy="928468"/>
          </a:xfrm>
        </p:spPr>
        <p:txBody>
          <a:bodyPr/>
          <a:lstStyle/>
          <a:p>
            <a:pPr algn="ctr"/>
            <a:r>
              <a:rPr lang="en-GB" dirty="0"/>
              <a:t>NoSQL</a:t>
            </a:r>
          </a:p>
        </p:txBody>
      </p:sp>
      <p:sp>
        <p:nvSpPr>
          <p:cNvPr id="3" name="Content Placeholder 2"/>
          <p:cNvSpPr>
            <a:spLocks noGrp="1"/>
          </p:cNvSpPr>
          <p:nvPr>
            <p:ph idx="1"/>
          </p:nvPr>
        </p:nvSpPr>
        <p:spPr>
          <a:xfrm>
            <a:off x="520505" y="1378634"/>
            <a:ext cx="10508566" cy="4351337"/>
          </a:xfrm>
        </p:spPr>
        <p:txBody>
          <a:bodyPr>
            <a:normAutofit/>
          </a:bodyPr>
          <a:lstStyle/>
          <a:p>
            <a:r>
              <a:rPr lang="en-GB" sz="2000" dirty="0"/>
              <a:t>Increasingly used to manage a variety of data types in big data. </a:t>
            </a:r>
          </a:p>
          <a:p>
            <a:r>
              <a:rPr lang="en-GB" sz="2000" dirty="0"/>
              <a:t>These data stores are databases </a:t>
            </a:r>
            <a:r>
              <a:rPr lang="en-GB" sz="2000" dirty="0">
                <a:solidFill>
                  <a:srgbClr val="FF0000"/>
                </a:solidFill>
              </a:rPr>
              <a:t>that do not represent data in a table format </a:t>
            </a:r>
            <a:r>
              <a:rPr lang="en-GB" sz="2000" dirty="0"/>
              <a:t>with columns and rows as with conventional relational databases.</a:t>
            </a:r>
          </a:p>
          <a:p>
            <a:r>
              <a:rPr lang="en-GB" sz="2000" dirty="0"/>
              <a:t>Examples of these data stores include Cassandra, </a:t>
            </a:r>
            <a:r>
              <a:rPr lang="en-GB" sz="2000" dirty="0" smtClean="0"/>
              <a:t>MongoDB, etc. </a:t>
            </a:r>
            <a:endParaRPr lang="en-GB" sz="2000" dirty="0"/>
          </a:p>
          <a:p>
            <a:r>
              <a:rPr lang="en-GB" sz="2000" dirty="0"/>
              <a:t>NoSQL data stores </a:t>
            </a:r>
            <a:r>
              <a:rPr lang="en-GB" sz="2000" dirty="0" smtClean="0"/>
              <a:t>provided </a:t>
            </a:r>
            <a:r>
              <a:rPr lang="en-GB" sz="2000" dirty="0"/>
              <a:t>APIs to allow users to access data. </a:t>
            </a:r>
          </a:p>
          <a:p>
            <a:r>
              <a:rPr lang="en-GB" sz="2000" dirty="0"/>
              <a:t>These APIs can be used </a:t>
            </a:r>
            <a:r>
              <a:rPr lang="en-GB" sz="2000" dirty="0" smtClean="0"/>
              <a:t>directly </a:t>
            </a:r>
            <a:r>
              <a:rPr lang="en-GB" sz="2000" dirty="0"/>
              <a:t>in an application that needs to access the data. </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13</a:t>
            </a:fld>
            <a:endParaRPr lang="en-GB" dirty="0"/>
          </a:p>
        </p:txBody>
      </p:sp>
    </p:spTree>
    <p:extLst>
      <p:ext uri="{BB962C8B-B14F-4D97-AF65-F5344CB8AC3E}">
        <p14:creationId xmlns:p14="http://schemas.microsoft.com/office/powerpoint/2010/main" val="17029490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4925" y="-478302"/>
            <a:ext cx="9692640" cy="1325562"/>
          </a:xfrm>
        </p:spPr>
        <p:txBody>
          <a:bodyPr/>
          <a:lstStyle/>
          <a:p>
            <a:pPr algn="ctr"/>
            <a:r>
              <a:rPr lang="en-GB" dirty="0"/>
              <a:t>Types of NoSQL Databases</a:t>
            </a:r>
          </a:p>
        </p:txBody>
      </p:sp>
      <p:sp>
        <p:nvSpPr>
          <p:cNvPr id="3" name="Content Placeholder 2"/>
          <p:cNvSpPr>
            <a:spLocks noGrp="1"/>
          </p:cNvSpPr>
          <p:nvPr>
            <p:ph idx="1"/>
          </p:nvPr>
        </p:nvSpPr>
        <p:spPr/>
        <p:txBody>
          <a:bodyPr>
            <a:normAutofit/>
          </a:bodyPr>
          <a:lstStyle/>
          <a:p>
            <a:r>
              <a:rPr lang="en-GB" sz="2400" dirty="0"/>
              <a:t>There are four main types of NoSQL databases</a:t>
            </a:r>
            <a:r>
              <a:rPr lang="en-GB" sz="2400" dirty="0" smtClean="0"/>
              <a:t>:</a:t>
            </a:r>
            <a:br>
              <a:rPr lang="en-GB" sz="2400" dirty="0" smtClean="0"/>
            </a:br>
            <a:endParaRPr lang="en-GB" sz="2400" dirty="0"/>
          </a:p>
          <a:p>
            <a:pPr lvl="1"/>
            <a:r>
              <a:rPr lang="en-GB" sz="2400" b="1" dirty="0">
                <a:solidFill>
                  <a:srgbClr val="0033CC"/>
                </a:solidFill>
              </a:rPr>
              <a:t>Key-Value Databases</a:t>
            </a:r>
          </a:p>
          <a:p>
            <a:pPr lvl="1"/>
            <a:r>
              <a:rPr lang="en-GB" sz="2400" b="1" dirty="0">
                <a:solidFill>
                  <a:srgbClr val="0033CC"/>
                </a:solidFill>
              </a:rPr>
              <a:t>Document Databases</a:t>
            </a:r>
          </a:p>
          <a:p>
            <a:pPr lvl="1"/>
            <a:r>
              <a:rPr lang="en-GB" sz="2400" b="1" dirty="0">
                <a:solidFill>
                  <a:srgbClr val="0033CC"/>
                </a:solidFill>
              </a:rPr>
              <a:t>Column family stores</a:t>
            </a:r>
          </a:p>
          <a:p>
            <a:pPr lvl="1"/>
            <a:r>
              <a:rPr lang="en-GB" sz="2400" b="1" dirty="0">
                <a:solidFill>
                  <a:srgbClr val="0033CC"/>
                </a:solidFill>
              </a:rPr>
              <a:t>Graph Databases</a:t>
            </a:r>
          </a:p>
          <a:p>
            <a:pPr lvl="1"/>
            <a:endParaRPr lang="en-GB" sz="2000" dirty="0">
              <a:solidFill>
                <a:srgbClr val="0033CC"/>
              </a:solidFill>
            </a:endParaRPr>
          </a:p>
          <a:p>
            <a:endParaRPr lang="en-GB" sz="2400"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14</a:t>
            </a:fld>
            <a:endParaRPr lang="en-GB" dirty="0"/>
          </a:p>
        </p:txBody>
      </p:sp>
    </p:spTree>
    <p:extLst>
      <p:ext uri="{BB962C8B-B14F-4D97-AF65-F5344CB8AC3E}">
        <p14:creationId xmlns:p14="http://schemas.microsoft.com/office/powerpoint/2010/main" val="135246484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40506" y="-534572"/>
            <a:ext cx="9692640" cy="1325562"/>
          </a:xfrm>
        </p:spPr>
        <p:txBody>
          <a:bodyPr/>
          <a:lstStyle/>
          <a:p>
            <a:r>
              <a:rPr lang="en-GB" dirty="0"/>
              <a:t>Key Value Databases</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15</a:t>
            </a:fld>
            <a:endParaRPr lang="en-GB" dirty="0"/>
          </a:p>
        </p:txBody>
      </p:sp>
      <p:sp>
        <p:nvSpPr>
          <p:cNvPr id="6" name="Content Placeholder 2"/>
          <p:cNvSpPr txBox="1">
            <a:spLocks/>
          </p:cNvSpPr>
          <p:nvPr/>
        </p:nvSpPr>
        <p:spPr bwMode="auto">
          <a:xfrm>
            <a:off x="379827" y="872142"/>
            <a:ext cx="6230633" cy="49747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a:lstStyle>
          <a:p>
            <a:r>
              <a:rPr lang="en-GB" sz="2000" kern="0" dirty="0"/>
              <a:t>Key-value stores are the simplest NoSQL data stores to use from an API perspective. </a:t>
            </a:r>
            <a:r>
              <a:rPr lang="en-GB" sz="2000" kern="0" dirty="0" smtClean="0"/>
              <a:t/>
            </a:r>
            <a:br>
              <a:rPr lang="en-GB" sz="2000" kern="0" dirty="0" smtClean="0"/>
            </a:br>
            <a:endParaRPr lang="en-GB" sz="2000" kern="0" dirty="0"/>
          </a:p>
          <a:p>
            <a:r>
              <a:rPr lang="en-GB" sz="2000" kern="0" dirty="0"/>
              <a:t>The client can either get the value for the key, put a value for a key, or delete a key from the data store. </a:t>
            </a:r>
            <a:r>
              <a:rPr lang="en-GB" sz="2000" kern="0" dirty="0" smtClean="0"/>
              <a:t/>
            </a:r>
            <a:br>
              <a:rPr lang="en-GB" sz="2000" kern="0" dirty="0" smtClean="0"/>
            </a:br>
            <a:endParaRPr lang="en-GB" sz="2000" kern="0" dirty="0"/>
          </a:p>
          <a:p>
            <a:r>
              <a:rPr lang="en-US" sz="2000" dirty="0"/>
              <a:t>A key-value database is a type of </a:t>
            </a:r>
            <a:r>
              <a:rPr lang="en-US" sz="2000" b="1" dirty="0" smtClean="0"/>
              <a:t>non-relational</a:t>
            </a:r>
            <a:r>
              <a:rPr lang="en-US" sz="2000" dirty="0"/>
              <a:t> database that uses a </a:t>
            </a:r>
            <a:r>
              <a:rPr lang="en-US" sz="2000" dirty="0">
                <a:solidFill>
                  <a:srgbClr val="FF0000"/>
                </a:solidFill>
              </a:rPr>
              <a:t>simple key-value method to store data. </a:t>
            </a:r>
            <a:r>
              <a:rPr lang="en-US" sz="2000" dirty="0" smtClean="0"/>
              <a:t/>
            </a:r>
            <a:br>
              <a:rPr lang="en-US" sz="2000" dirty="0" smtClean="0"/>
            </a:br>
            <a:endParaRPr lang="en-US" sz="2000" dirty="0" smtClean="0"/>
          </a:p>
          <a:p>
            <a:r>
              <a:rPr lang="en-US" sz="2000" dirty="0" smtClean="0"/>
              <a:t>A</a:t>
            </a:r>
            <a:r>
              <a:rPr lang="en-US" sz="2000" dirty="0"/>
              <a:t> key-value database stores data as a collection of key-value pairs in which a key serves as a </a:t>
            </a:r>
            <a:r>
              <a:rPr lang="en-US" sz="2000" b="1" dirty="0"/>
              <a:t>unique </a:t>
            </a:r>
            <a:r>
              <a:rPr lang="en-US" sz="2000" b="1" dirty="0" smtClean="0"/>
              <a:t>identifier</a:t>
            </a:r>
          </a:p>
          <a:p>
            <a:endParaRPr lang="en-US" sz="2000" b="1" kern="0" dirty="0"/>
          </a:p>
          <a:p>
            <a:r>
              <a:rPr lang="en-US" sz="2000" b="1" kern="0" dirty="0" smtClean="0">
                <a:solidFill>
                  <a:srgbClr val="0070C0"/>
                </a:solidFill>
              </a:rPr>
              <a:t>Used to store browsing information and shopping cart information. Example: AWS </a:t>
            </a:r>
            <a:r>
              <a:rPr lang="en-US" sz="2000" b="1" kern="0" dirty="0" err="1" smtClean="0">
                <a:solidFill>
                  <a:srgbClr val="0070C0"/>
                </a:solidFill>
              </a:rPr>
              <a:t>DynamoDB</a:t>
            </a:r>
            <a:r>
              <a:rPr lang="en-GB" sz="2000" kern="0" dirty="0" smtClean="0"/>
              <a:t/>
            </a:r>
            <a:br>
              <a:rPr lang="en-GB" sz="2000" kern="0" dirty="0" smtClean="0"/>
            </a:br>
            <a:r>
              <a:rPr lang="en-GB" sz="2000" kern="0" dirty="0" smtClean="0"/>
              <a:t/>
            </a:r>
            <a:br>
              <a:rPr lang="en-GB" sz="2000" kern="0" dirty="0" smtClean="0"/>
            </a:br>
            <a:endParaRPr lang="en-GB" sz="2000" kern="0" dirty="0"/>
          </a:p>
        </p:txBody>
      </p:sp>
      <p:pic>
        <p:nvPicPr>
          <p:cNvPr id="102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42459" y="1907841"/>
            <a:ext cx="4950381" cy="2903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8129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74746" y="-548640"/>
            <a:ext cx="9692640" cy="1325562"/>
          </a:xfrm>
        </p:spPr>
        <p:txBody>
          <a:bodyPr/>
          <a:lstStyle/>
          <a:p>
            <a:r>
              <a:rPr lang="en-GB" dirty="0"/>
              <a:t>Document Databases</a:t>
            </a:r>
          </a:p>
        </p:txBody>
      </p:sp>
      <p:sp>
        <p:nvSpPr>
          <p:cNvPr id="3" name="Content Placeholder 2"/>
          <p:cNvSpPr>
            <a:spLocks noGrp="1"/>
          </p:cNvSpPr>
          <p:nvPr>
            <p:ph idx="1"/>
          </p:nvPr>
        </p:nvSpPr>
        <p:spPr>
          <a:xfrm>
            <a:off x="323557" y="956603"/>
            <a:ext cx="7920111" cy="5712757"/>
          </a:xfrm>
        </p:spPr>
        <p:txBody>
          <a:bodyPr>
            <a:normAutofit/>
          </a:bodyPr>
          <a:lstStyle/>
          <a:p>
            <a:r>
              <a:rPr lang="en-GB" dirty="0" smtClean="0">
                <a:solidFill>
                  <a:srgbClr val="FF0000"/>
                </a:solidFill>
              </a:rPr>
              <a:t>The </a:t>
            </a:r>
            <a:r>
              <a:rPr lang="en-GB" dirty="0">
                <a:solidFill>
                  <a:srgbClr val="FF0000"/>
                </a:solidFill>
              </a:rPr>
              <a:t>database stores and retrieves documents, which can be XML, </a:t>
            </a:r>
            <a:r>
              <a:rPr lang="en-GB" dirty="0" smtClean="0">
                <a:solidFill>
                  <a:srgbClr val="FF0000"/>
                </a:solidFill>
              </a:rPr>
              <a:t>JSON, </a:t>
            </a:r>
            <a:r>
              <a:rPr lang="en-GB" dirty="0">
                <a:solidFill>
                  <a:srgbClr val="FF0000"/>
                </a:solidFill>
              </a:rPr>
              <a:t>etc. </a:t>
            </a:r>
            <a:endParaRPr lang="en-GB" dirty="0" smtClean="0">
              <a:solidFill>
                <a:srgbClr val="FF0000"/>
              </a:solidFill>
            </a:endParaRPr>
          </a:p>
          <a:p>
            <a:r>
              <a:rPr lang="en-GB" dirty="0" smtClean="0"/>
              <a:t>These </a:t>
            </a:r>
            <a:r>
              <a:rPr lang="en-GB" dirty="0"/>
              <a:t>documents are self-describing, hierarchical tree data structures which can consist of maps, collections, and scalar values. </a:t>
            </a:r>
          </a:p>
          <a:p>
            <a:r>
              <a:rPr lang="en-GB" dirty="0"/>
              <a:t>The documents stored are similar to each other but do not have to be exactly the same. </a:t>
            </a:r>
          </a:p>
          <a:p>
            <a:r>
              <a:rPr lang="en-GB" dirty="0">
                <a:solidFill>
                  <a:srgbClr val="0070C0"/>
                </a:solidFill>
              </a:rPr>
              <a:t>Document databases store documents in the value part of the key-value store </a:t>
            </a:r>
          </a:p>
          <a:p>
            <a:pPr lvl="1"/>
            <a:r>
              <a:rPr lang="en-GB" sz="2900" dirty="0"/>
              <a:t>think about document databases as key-value stores where the value is examinable. </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16</a:t>
            </a:fld>
            <a:endParaRPr lang="en-GB" dirty="0"/>
          </a:p>
        </p:txBody>
      </p:sp>
      <p:sp>
        <p:nvSpPr>
          <p:cNvPr id="5" name="Rectangle 4"/>
          <p:cNvSpPr/>
          <p:nvPr/>
        </p:nvSpPr>
        <p:spPr>
          <a:xfrm>
            <a:off x="8418358" y="2551231"/>
            <a:ext cx="2699792" cy="923330"/>
          </a:xfrm>
          <a:prstGeom prst="rect">
            <a:avLst/>
          </a:prstGeom>
          <a:noFill/>
          <a:ln w="12700">
            <a:solidFill>
              <a:schemeClr val="accent1"/>
            </a:solidFill>
          </a:ln>
        </p:spPr>
        <p:txBody>
          <a:bodyPr wrap="square">
            <a:spAutoFit/>
          </a:bodyPr>
          <a:lstStyle/>
          <a:p>
            <a:r>
              <a:rPr lang="en-GB" b="1" dirty="0"/>
              <a:t>Examples include: </a:t>
            </a:r>
            <a:r>
              <a:rPr lang="en-GB" b="1" dirty="0">
                <a:hlinkClick r:id="rId2"/>
              </a:rPr>
              <a:t>MongoDB</a:t>
            </a:r>
            <a:r>
              <a:rPr lang="en-GB" b="1" dirty="0"/>
              <a:t>, </a:t>
            </a:r>
            <a:r>
              <a:rPr lang="en-GB" b="1" dirty="0" err="1">
                <a:hlinkClick r:id="rId3"/>
              </a:rPr>
              <a:t>CouchDB</a:t>
            </a:r>
            <a:r>
              <a:rPr lang="en-GB" b="1" dirty="0" smtClean="0"/>
              <a:t>,</a:t>
            </a:r>
            <a:r>
              <a:rPr lang="en-GB" b="1" dirty="0"/>
              <a:t> </a:t>
            </a:r>
            <a:r>
              <a:rPr lang="en-GB" b="1" dirty="0" err="1" smtClean="0"/>
              <a:t>etc</a:t>
            </a:r>
            <a:endParaRPr lang="en-GB" b="1" dirty="0"/>
          </a:p>
        </p:txBody>
      </p:sp>
    </p:spTree>
    <p:extLst>
      <p:ext uri="{BB962C8B-B14F-4D97-AF65-F5344CB8AC3E}">
        <p14:creationId xmlns:p14="http://schemas.microsoft.com/office/powerpoint/2010/main" val="21101896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138992" y="0"/>
            <a:ext cx="7938399" cy="61082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1372168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5378" y="0"/>
            <a:ext cx="8229600" cy="739552"/>
          </a:xfrm>
        </p:spPr>
        <p:txBody>
          <a:bodyPr/>
          <a:lstStyle/>
          <a:p>
            <a:r>
              <a:rPr lang="en-GB" dirty="0"/>
              <a:t>Column Family stores</a:t>
            </a:r>
          </a:p>
        </p:txBody>
      </p:sp>
      <p:sp>
        <p:nvSpPr>
          <p:cNvPr id="3" name="Content Placeholder 2"/>
          <p:cNvSpPr>
            <a:spLocks noGrp="1"/>
          </p:cNvSpPr>
          <p:nvPr>
            <p:ph idx="1"/>
          </p:nvPr>
        </p:nvSpPr>
        <p:spPr>
          <a:xfrm>
            <a:off x="478302" y="1101411"/>
            <a:ext cx="10663311" cy="5172780"/>
          </a:xfrm>
        </p:spPr>
        <p:txBody>
          <a:bodyPr>
            <a:noAutofit/>
          </a:bodyPr>
          <a:lstStyle/>
          <a:p>
            <a:r>
              <a:rPr lang="en-GB" sz="2400" dirty="0"/>
              <a:t>Column-family databases store data in column families as rows that have many columns associated with a row key. </a:t>
            </a:r>
          </a:p>
          <a:p>
            <a:r>
              <a:rPr lang="en-GB" sz="2400" dirty="0"/>
              <a:t>Column families are groups of related data that is often accessed together. </a:t>
            </a:r>
          </a:p>
          <a:p>
            <a:r>
              <a:rPr lang="en-GB" sz="2400" dirty="0">
                <a:solidFill>
                  <a:srgbClr val="0070C0"/>
                </a:solidFill>
              </a:rPr>
              <a:t>For a Customer, we would often access their Profile information at the same time, but not their Orders.</a:t>
            </a:r>
          </a:p>
          <a:p>
            <a:r>
              <a:rPr lang="en-GB" sz="2400" dirty="0" smtClean="0">
                <a:solidFill>
                  <a:srgbClr val="FF0000"/>
                </a:solidFill>
              </a:rPr>
              <a:t>The </a:t>
            </a:r>
            <a:r>
              <a:rPr lang="en-GB" sz="2400" dirty="0">
                <a:solidFill>
                  <a:srgbClr val="FF0000"/>
                </a:solidFill>
              </a:rPr>
              <a:t>difference is that various rows do not have to have the same columns, and columns can be added to any row at any time without having to add it to other </a:t>
            </a:r>
            <a:r>
              <a:rPr lang="en-GB" sz="2400" dirty="0" smtClean="0">
                <a:solidFill>
                  <a:srgbClr val="FF0000"/>
                </a:solidFill>
              </a:rPr>
              <a:t>rows</a:t>
            </a:r>
          </a:p>
          <a:p>
            <a:r>
              <a:rPr lang="en-GB" sz="2400" dirty="0" smtClean="0"/>
              <a:t>Example: Apache Cassandra</a:t>
            </a:r>
            <a:endParaRPr lang="en-GB" sz="2400"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18</a:t>
            </a:fld>
            <a:endParaRPr lang="en-GB" dirty="0"/>
          </a:p>
        </p:txBody>
      </p:sp>
    </p:spTree>
    <p:extLst>
      <p:ext uri="{BB962C8B-B14F-4D97-AF65-F5344CB8AC3E}">
        <p14:creationId xmlns:p14="http://schemas.microsoft.com/office/powerpoint/2010/main" val="29534265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descr="Image result for column family database"/>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41009" y="-14068"/>
            <a:ext cx="8932985" cy="60348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5718382"/>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826" y="15206"/>
            <a:ext cx="9692640" cy="702246"/>
          </a:xfrm>
        </p:spPr>
        <p:txBody>
          <a:bodyPr/>
          <a:lstStyle/>
          <a:p>
            <a:pPr algn="ctr"/>
            <a:r>
              <a:rPr lang="en-GB" dirty="0"/>
              <a:t>Graph Databases</a:t>
            </a:r>
          </a:p>
        </p:txBody>
      </p:sp>
      <p:sp>
        <p:nvSpPr>
          <p:cNvPr id="3" name="Content Placeholder 2"/>
          <p:cNvSpPr>
            <a:spLocks noGrp="1"/>
          </p:cNvSpPr>
          <p:nvPr>
            <p:ph idx="1"/>
          </p:nvPr>
        </p:nvSpPr>
        <p:spPr>
          <a:xfrm>
            <a:off x="464234" y="1012874"/>
            <a:ext cx="5739618" cy="5152430"/>
          </a:xfrm>
        </p:spPr>
        <p:txBody>
          <a:bodyPr>
            <a:normAutofit/>
          </a:bodyPr>
          <a:lstStyle/>
          <a:p>
            <a:r>
              <a:rPr lang="en-GB" sz="2400" dirty="0">
                <a:solidFill>
                  <a:srgbClr val="FF0000"/>
                </a:solidFill>
              </a:rPr>
              <a:t>Graph databases allow you to store entities and relationships between these entities. </a:t>
            </a:r>
          </a:p>
          <a:p>
            <a:r>
              <a:rPr lang="en-GB" sz="2400" dirty="0">
                <a:solidFill>
                  <a:srgbClr val="0070C0"/>
                </a:solidFill>
              </a:rPr>
              <a:t>Entities are also known as nodes, which have properties</a:t>
            </a:r>
            <a:r>
              <a:rPr lang="en-GB" sz="2400" dirty="0"/>
              <a:t>. </a:t>
            </a:r>
          </a:p>
          <a:p>
            <a:r>
              <a:rPr lang="en-GB" sz="2400" dirty="0"/>
              <a:t>Think of a node as an instance of an object in the application. </a:t>
            </a:r>
          </a:p>
          <a:p>
            <a:r>
              <a:rPr lang="en-GB" sz="2400" dirty="0">
                <a:solidFill>
                  <a:srgbClr val="0070C0"/>
                </a:solidFill>
              </a:rPr>
              <a:t>Relations are known as edges that can have properties</a:t>
            </a:r>
            <a:r>
              <a:rPr lang="en-GB" sz="2400" dirty="0" smtClean="0">
                <a:solidFill>
                  <a:srgbClr val="0070C0"/>
                </a:solidFill>
              </a:rPr>
              <a:t>. </a:t>
            </a:r>
            <a:endParaRPr lang="en-GB" sz="2400" dirty="0">
              <a:solidFill>
                <a:srgbClr val="0070C0"/>
              </a:solidFill>
            </a:endParaRPr>
          </a:p>
          <a:p>
            <a:r>
              <a:rPr lang="en-GB" sz="2400" dirty="0"/>
              <a:t>Nodes are organized by relationships which allow you to find interesting patterns between the nodes. </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20</a:t>
            </a:fld>
            <a:endParaRPr lang="en-GB" dirty="0"/>
          </a:p>
        </p:txBody>
      </p:sp>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84887" y="2027671"/>
            <a:ext cx="4707617" cy="34507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4445113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50302" y="125152"/>
            <a:ext cx="6242538" cy="416169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765066" y="-625544"/>
            <a:ext cx="9692640" cy="1325562"/>
          </a:xfrm>
        </p:spPr>
        <p:txBody>
          <a:bodyPr/>
          <a:lstStyle/>
          <a:p>
            <a:r>
              <a:rPr lang="en-GB" dirty="0"/>
              <a:t>Graph Databases</a:t>
            </a:r>
          </a:p>
        </p:txBody>
      </p:sp>
      <p:sp>
        <p:nvSpPr>
          <p:cNvPr id="3" name="Content Placeholder 2"/>
          <p:cNvSpPr>
            <a:spLocks noGrp="1"/>
          </p:cNvSpPr>
          <p:nvPr>
            <p:ph idx="1"/>
          </p:nvPr>
        </p:nvSpPr>
        <p:spPr>
          <a:xfrm>
            <a:off x="112542" y="1583258"/>
            <a:ext cx="5367704" cy="4824536"/>
          </a:xfrm>
        </p:spPr>
        <p:txBody>
          <a:bodyPr>
            <a:normAutofit/>
          </a:bodyPr>
          <a:lstStyle/>
          <a:p>
            <a:r>
              <a:rPr lang="en-GB" sz="2400" dirty="0"/>
              <a:t>Nodes can have </a:t>
            </a:r>
            <a:r>
              <a:rPr lang="en-GB" sz="2400" dirty="0">
                <a:solidFill>
                  <a:srgbClr val="FF0000"/>
                </a:solidFill>
              </a:rPr>
              <a:t>different types of relationships between them</a:t>
            </a:r>
            <a:r>
              <a:rPr lang="en-GB" sz="2400" dirty="0"/>
              <a:t>, </a:t>
            </a:r>
          </a:p>
          <a:p>
            <a:r>
              <a:rPr lang="en-GB" sz="2400" dirty="0"/>
              <a:t>For example</a:t>
            </a:r>
            <a:r>
              <a:rPr lang="en-GB" sz="2400" dirty="0" smtClean="0"/>
              <a:t>, </a:t>
            </a:r>
            <a:r>
              <a:rPr lang="en-GB" sz="2400" dirty="0"/>
              <a:t>things like </a:t>
            </a:r>
            <a:r>
              <a:rPr lang="en-GB" sz="2400" dirty="0">
                <a:solidFill>
                  <a:srgbClr val="0070C0"/>
                </a:solidFill>
              </a:rPr>
              <a:t>category, </a:t>
            </a:r>
            <a:r>
              <a:rPr lang="en-GB" sz="2400" dirty="0" smtClean="0">
                <a:solidFill>
                  <a:srgbClr val="0070C0"/>
                </a:solidFill>
              </a:rPr>
              <a:t>path, </a:t>
            </a:r>
            <a:r>
              <a:rPr lang="en-GB" sz="2400" dirty="0">
                <a:solidFill>
                  <a:srgbClr val="0070C0"/>
                </a:solidFill>
              </a:rPr>
              <a:t>or linked lists</a:t>
            </a:r>
            <a:r>
              <a:rPr lang="en-GB" sz="2400" dirty="0"/>
              <a:t> for sorted access. </a:t>
            </a:r>
            <a:endParaRPr lang="en-GB" sz="2400" dirty="0" smtClean="0"/>
          </a:p>
          <a:p>
            <a:r>
              <a:rPr lang="en-GB" sz="2400" dirty="0" smtClean="0"/>
              <a:t>Example: </a:t>
            </a:r>
            <a:r>
              <a:rPr lang="en-GB" sz="2400" dirty="0" err="1" smtClean="0"/>
              <a:t>InfiniteGraph</a:t>
            </a:r>
            <a:endParaRPr lang="en-GB" sz="2400"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21</a:t>
            </a:fld>
            <a:endParaRPr lang="en-GB" dirty="0"/>
          </a:p>
        </p:txBody>
      </p:sp>
      <p:sp>
        <p:nvSpPr>
          <p:cNvPr id="5" name="Rectangle 4"/>
          <p:cNvSpPr/>
          <p:nvPr/>
        </p:nvSpPr>
        <p:spPr>
          <a:xfrm>
            <a:off x="478302" y="4976039"/>
            <a:ext cx="10550769" cy="707886"/>
          </a:xfrm>
          <a:prstGeom prst="rect">
            <a:avLst/>
          </a:prstGeom>
        </p:spPr>
        <p:txBody>
          <a:bodyPr wrap="square">
            <a:spAutoFit/>
          </a:bodyPr>
          <a:lstStyle/>
          <a:p>
            <a:r>
              <a:rPr lang="en-GB" sz="2000" b="1" dirty="0">
                <a:solidFill>
                  <a:srgbClr val="0033CC"/>
                </a:solidFill>
              </a:rPr>
              <a:t>Since there is no limit to the number and kind of relationships a node can have, they all can be represented in the same graph</a:t>
            </a:r>
            <a:r>
              <a:rPr lang="en-GB" b="1" dirty="0">
                <a:solidFill>
                  <a:srgbClr val="0033CC"/>
                </a:solidFill>
              </a:rPr>
              <a:t> </a:t>
            </a:r>
            <a:r>
              <a:rPr lang="en-GB" sz="2000" b="1" dirty="0">
                <a:solidFill>
                  <a:srgbClr val="0033CC"/>
                </a:solidFill>
              </a:rPr>
              <a:t>database.</a:t>
            </a:r>
          </a:p>
        </p:txBody>
      </p:sp>
    </p:spTree>
    <p:extLst>
      <p:ext uri="{BB962C8B-B14F-4D97-AF65-F5344CB8AC3E}">
        <p14:creationId xmlns:p14="http://schemas.microsoft.com/office/powerpoint/2010/main" val="338918577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3265" y="0"/>
            <a:ext cx="8229600" cy="739551"/>
          </a:xfrm>
        </p:spPr>
        <p:txBody>
          <a:bodyPr/>
          <a:lstStyle/>
          <a:p>
            <a:r>
              <a:rPr lang="en-GB" dirty="0"/>
              <a:t>Choosing NoSQL database</a:t>
            </a:r>
          </a:p>
        </p:txBody>
      </p:sp>
      <p:sp>
        <p:nvSpPr>
          <p:cNvPr id="3" name="Content Placeholder 2"/>
          <p:cNvSpPr>
            <a:spLocks noGrp="1"/>
          </p:cNvSpPr>
          <p:nvPr>
            <p:ph idx="1"/>
          </p:nvPr>
        </p:nvSpPr>
        <p:spPr>
          <a:xfrm>
            <a:off x="351692" y="612940"/>
            <a:ext cx="10789920" cy="5544616"/>
          </a:xfrm>
        </p:spPr>
        <p:txBody>
          <a:bodyPr>
            <a:noAutofit/>
          </a:bodyPr>
          <a:lstStyle/>
          <a:p>
            <a:r>
              <a:rPr lang="en-GB" sz="1600" u="sng" dirty="0">
                <a:solidFill>
                  <a:srgbClr val="FF0000"/>
                </a:solidFill>
              </a:rPr>
              <a:t>Some general guidelines </a:t>
            </a:r>
            <a:r>
              <a:rPr lang="en-GB" sz="1600" u="sng" dirty="0"/>
              <a:t>(</a:t>
            </a:r>
            <a:r>
              <a:rPr lang="en-GB" sz="1600" u="sng" dirty="0" err="1"/>
              <a:t>Sadalage</a:t>
            </a:r>
            <a:r>
              <a:rPr lang="en-GB" sz="1600" u="sng" dirty="0"/>
              <a:t> 2014):</a:t>
            </a:r>
          </a:p>
          <a:p>
            <a:pPr lvl="1"/>
            <a:r>
              <a:rPr lang="en-GB" sz="1200" dirty="0">
                <a:solidFill>
                  <a:srgbClr val="0033CC"/>
                </a:solidFill>
              </a:rPr>
              <a:t>Key-value databases </a:t>
            </a:r>
          </a:p>
          <a:p>
            <a:pPr lvl="2"/>
            <a:r>
              <a:rPr lang="en-GB" sz="2000" dirty="0"/>
              <a:t>generally useful for storing </a:t>
            </a:r>
            <a:r>
              <a:rPr lang="en-GB" sz="2000" dirty="0">
                <a:solidFill>
                  <a:srgbClr val="00B050"/>
                </a:solidFill>
              </a:rPr>
              <a:t>session information, user profiles, preferences, shopping cart data. </a:t>
            </a:r>
          </a:p>
          <a:p>
            <a:pPr lvl="2"/>
            <a:r>
              <a:rPr lang="en-GB" sz="2000" dirty="0"/>
              <a:t>avoid using Key-value databases when there is a need to query by data, have relationships between the data being stored or we need to operate on multiple keys at the same time.</a:t>
            </a:r>
          </a:p>
          <a:p>
            <a:pPr lvl="1"/>
            <a:r>
              <a:rPr lang="en-GB" sz="1200" dirty="0">
                <a:solidFill>
                  <a:srgbClr val="0033CC"/>
                </a:solidFill>
              </a:rPr>
              <a:t>Document databases </a:t>
            </a:r>
          </a:p>
          <a:p>
            <a:pPr lvl="2"/>
            <a:r>
              <a:rPr lang="en-GB" sz="2000" dirty="0"/>
              <a:t>generally useful for </a:t>
            </a:r>
            <a:r>
              <a:rPr lang="en-GB" sz="2000" dirty="0">
                <a:solidFill>
                  <a:srgbClr val="00B050"/>
                </a:solidFill>
              </a:rPr>
              <a:t>content management systems, blogging platforms, web analytics, real-time analytics, ecommerce-applications</a:t>
            </a:r>
            <a:r>
              <a:rPr lang="en-GB" sz="2000" dirty="0"/>
              <a:t>. </a:t>
            </a:r>
          </a:p>
          <a:p>
            <a:pPr lvl="2"/>
            <a:r>
              <a:rPr lang="en-GB" sz="2000" dirty="0"/>
              <a:t>avoid using document databases for systems that need complex transactions spanning multiple operations or queries against varying aggregate structures.</a:t>
            </a:r>
          </a:p>
          <a:p>
            <a:pPr lvl="1"/>
            <a:r>
              <a:rPr lang="en-GB" sz="1200" dirty="0">
                <a:solidFill>
                  <a:srgbClr val="0033CC"/>
                </a:solidFill>
              </a:rPr>
              <a:t>Column family databases </a:t>
            </a:r>
          </a:p>
          <a:p>
            <a:pPr lvl="2"/>
            <a:r>
              <a:rPr lang="en-GB" sz="2000" dirty="0"/>
              <a:t>generally useful for </a:t>
            </a:r>
            <a:r>
              <a:rPr lang="en-GB" sz="2000" dirty="0">
                <a:solidFill>
                  <a:srgbClr val="00B050"/>
                </a:solidFill>
              </a:rPr>
              <a:t>content management systems, blogging platforms, maintaining counters, expiring </a:t>
            </a:r>
            <a:r>
              <a:rPr lang="en-GB" sz="2000" dirty="0" smtClean="0">
                <a:solidFill>
                  <a:srgbClr val="00B050"/>
                </a:solidFill>
              </a:rPr>
              <a:t>usage</a:t>
            </a:r>
            <a:r>
              <a:rPr lang="en-GB" sz="2000" dirty="0" smtClean="0"/>
              <a:t>. </a:t>
            </a:r>
            <a:endParaRPr lang="en-GB" sz="2000" dirty="0"/>
          </a:p>
          <a:p>
            <a:pPr lvl="2"/>
            <a:r>
              <a:rPr lang="en-GB" sz="2000" dirty="0"/>
              <a:t>avoid using column family databases for systems that are in early development, changing query patterns.</a:t>
            </a:r>
          </a:p>
          <a:p>
            <a:pPr lvl="1"/>
            <a:r>
              <a:rPr lang="en-GB" sz="1200" dirty="0">
                <a:solidFill>
                  <a:srgbClr val="0033CC"/>
                </a:solidFill>
              </a:rPr>
              <a:t>Graph databases </a:t>
            </a:r>
          </a:p>
          <a:p>
            <a:pPr lvl="2"/>
            <a:r>
              <a:rPr lang="en-GB" sz="2000" dirty="0"/>
              <a:t>well suited to problem spaces where we have connected data, such as </a:t>
            </a:r>
            <a:r>
              <a:rPr lang="en-GB" sz="2000" dirty="0">
                <a:solidFill>
                  <a:srgbClr val="00B050"/>
                </a:solidFill>
              </a:rPr>
              <a:t>social networks, spatial data, routing information for goods and money, recommendation engines</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22</a:t>
            </a:fld>
            <a:endParaRPr lang="en-GB" dirty="0"/>
          </a:p>
        </p:txBody>
      </p:sp>
    </p:spTree>
    <p:extLst>
      <p:ext uri="{BB962C8B-B14F-4D97-AF65-F5344CB8AC3E}">
        <p14:creationId xmlns:p14="http://schemas.microsoft.com/office/powerpoint/2010/main" val="23397540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79989" y="-562707"/>
            <a:ext cx="9692640" cy="1325562"/>
          </a:xfrm>
        </p:spPr>
        <p:txBody>
          <a:bodyPr/>
          <a:lstStyle/>
          <a:p>
            <a:r>
              <a:rPr lang="en-GB" dirty="0"/>
              <a:t>MongoDB</a:t>
            </a:r>
          </a:p>
        </p:txBody>
      </p:sp>
      <p:sp>
        <p:nvSpPr>
          <p:cNvPr id="3" name="Content Placeholder 2"/>
          <p:cNvSpPr>
            <a:spLocks noGrp="1"/>
          </p:cNvSpPr>
          <p:nvPr>
            <p:ph idx="1"/>
          </p:nvPr>
        </p:nvSpPr>
        <p:spPr>
          <a:xfrm>
            <a:off x="196948" y="1412776"/>
            <a:ext cx="11095892" cy="5112568"/>
          </a:xfrm>
        </p:spPr>
        <p:txBody>
          <a:bodyPr>
            <a:normAutofit/>
          </a:bodyPr>
          <a:lstStyle/>
          <a:p>
            <a:r>
              <a:rPr lang="en-GB" sz="2400" dirty="0"/>
              <a:t>A MongoDB database</a:t>
            </a:r>
            <a:r>
              <a:rPr lang="en-US" sz="2400" dirty="0"/>
              <a:t> is an example of a </a:t>
            </a:r>
            <a:r>
              <a:rPr lang="en-US" sz="2400" dirty="0">
                <a:solidFill>
                  <a:srgbClr val="FF0000"/>
                </a:solidFill>
              </a:rPr>
              <a:t>document</a:t>
            </a:r>
            <a:r>
              <a:rPr lang="en-US" sz="2400" dirty="0"/>
              <a:t> type NoSQL database</a:t>
            </a:r>
          </a:p>
          <a:p>
            <a:r>
              <a:rPr lang="en-GB" sz="2400" dirty="0"/>
              <a:t>It works on the concept of collections and documents</a:t>
            </a:r>
            <a:r>
              <a:rPr lang="en-GB" sz="2400" dirty="0" smtClean="0"/>
              <a:t>:</a:t>
            </a:r>
            <a:br>
              <a:rPr lang="en-GB" sz="2400" dirty="0" smtClean="0"/>
            </a:br>
            <a:endParaRPr lang="en-GB" sz="2400" dirty="0"/>
          </a:p>
          <a:p>
            <a:r>
              <a:rPr lang="en-GB" sz="2400" dirty="0" smtClean="0">
                <a:solidFill>
                  <a:srgbClr val="0033CC"/>
                </a:solidFill>
              </a:rPr>
              <a:t>Collections</a:t>
            </a:r>
            <a:endParaRPr lang="en-GB" sz="2400" dirty="0">
              <a:solidFill>
                <a:srgbClr val="0033CC"/>
              </a:solidFill>
            </a:endParaRPr>
          </a:p>
          <a:p>
            <a:pPr lvl="1"/>
            <a:r>
              <a:rPr lang="en-GB" sz="2000" b="1" dirty="0"/>
              <a:t>Collection is a group of MongoDB documents. </a:t>
            </a:r>
            <a:endParaRPr lang="en-GB" sz="2000" dirty="0"/>
          </a:p>
          <a:p>
            <a:pPr lvl="1"/>
            <a:r>
              <a:rPr lang="en-GB" sz="2000" dirty="0">
                <a:solidFill>
                  <a:srgbClr val="FF0000"/>
                </a:solidFill>
              </a:rPr>
              <a:t>However, all documents in a collection should have a similar purpose.</a:t>
            </a:r>
          </a:p>
          <a:p>
            <a:pPr lvl="1"/>
            <a:endParaRPr lang="en-GB" sz="2000"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23</a:t>
            </a:fld>
            <a:endParaRPr lang="en-GB" dirty="0"/>
          </a:p>
        </p:txBody>
      </p:sp>
    </p:spTree>
    <p:extLst>
      <p:ext uri="{BB962C8B-B14F-4D97-AF65-F5344CB8AC3E}">
        <p14:creationId xmlns:p14="http://schemas.microsoft.com/office/powerpoint/2010/main" val="142633288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872" y="-592546"/>
            <a:ext cx="9692640" cy="1325562"/>
          </a:xfrm>
        </p:spPr>
        <p:txBody>
          <a:bodyPr/>
          <a:lstStyle/>
          <a:p>
            <a:r>
              <a:rPr lang="en-GB" dirty="0"/>
              <a:t>MongoDB</a:t>
            </a:r>
          </a:p>
        </p:txBody>
      </p:sp>
      <p:sp>
        <p:nvSpPr>
          <p:cNvPr id="3" name="Content Placeholder 2"/>
          <p:cNvSpPr>
            <a:spLocks noGrp="1"/>
          </p:cNvSpPr>
          <p:nvPr>
            <p:ph idx="1"/>
          </p:nvPr>
        </p:nvSpPr>
        <p:spPr>
          <a:xfrm>
            <a:off x="229490" y="880661"/>
            <a:ext cx="10883987" cy="4351337"/>
          </a:xfrm>
        </p:spPr>
        <p:txBody>
          <a:bodyPr>
            <a:noAutofit/>
          </a:bodyPr>
          <a:lstStyle/>
          <a:p>
            <a:r>
              <a:rPr lang="en-GB" sz="1600" dirty="0">
                <a:solidFill>
                  <a:srgbClr val="0033CC"/>
                </a:solidFill>
              </a:rPr>
              <a:t>Document</a:t>
            </a:r>
          </a:p>
          <a:p>
            <a:pPr lvl="1"/>
            <a:r>
              <a:rPr lang="en-GB" sz="1400" dirty="0"/>
              <a:t>A document is a set of key-value pairs: </a:t>
            </a:r>
          </a:p>
          <a:p>
            <a:pPr marL="274320" lvl="1" indent="0">
              <a:buNone/>
            </a:pPr>
            <a:r>
              <a:rPr lang="en-GB" sz="1400" dirty="0">
                <a:solidFill>
                  <a:srgbClr val="0033CC"/>
                </a:solidFill>
              </a:rPr>
              <a:t>	{	</a:t>
            </a:r>
          </a:p>
          <a:p>
            <a:pPr marL="274320" lvl="1" indent="0">
              <a:buNone/>
            </a:pPr>
            <a:r>
              <a:rPr lang="en-GB" sz="1400" dirty="0">
                <a:solidFill>
                  <a:srgbClr val="0033CC"/>
                </a:solidFill>
              </a:rPr>
              <a:t>		</a:t>
            </a:r>
            <a:r>
              <a:rPr lang="en-GB" sz="1400" dirty="0" err="1">
                <a:solidFill>
                  <a:srgbClr val="0033CC"/>
                </a:solidFill>
              </a:rPr>
              <a:t>studentno</a:t>
            </a:r>
            <a:r>
              <a:rPr lang="en-GB" sz="1400" dirty="0">
                <a:solidFill>
                  <a:srgbClr val="0033CC"/>
                </a:solidFill>
              </a:rPr>
              <a:t>: 	</a:t>
            </a:r>
            <a:r>
              <a:rPr lang="en-GB" sz="1400" dirty="0" smtClean="0">
                <a:solidFill>
                  <a:srgbClr val="0033CC"/>
                </a:solidFill>
              </a:rPr>
              <a:t>	1712345</a:t>
            </a:r>
            <a:r>
              <a:rPr lang="en-GB" sz="1400" dirty="0">
                <a:solidFill>
                  <a:srgbClr val="0033CC"/>
                </a:solidFill>
              </a:rPr>
              <a:t>,</a:t>
            </a:r>
          </a:p>
          <a:p>
            <a:pPr marL="274320" lvl="1" indent="0">
              <a:buNone/>
            </a:pPr>
            <a:r>
              <a:rPr lang="en-GB" sz="1400" dirty="0">
                <a:solidFill>
                  <a:srgbClr val="0033CC"/>
                </a:solidFill>
              </a:rPr>
              <a:t>		</a:t>
            </a:r>
            <a:r>
              <a:rPr lang="en-GB" sz="1400" dirty="0" err="1">
                <a:solidFill>
                  <a:srgbClr val="0033CC"/>
                </a:solidFill>
              </a:rPr>
              <a:t>studentName</a:t>
            </a:r>
            <a:r>
              <a:rPr lang="en-GB" sz="1400" dirty="0">
                <a:solidFill>
                  <a:srgbClr val="0033CC"/>
                </a:solidFill>
              </a:rPr>
              <a:t>: 	“Anton Du </a:t>
            </a:r>
            <a:r>
              <a:rPr lang="en-GB" sz="1400" dirty="0" err="1">
                <a:solidFill>
                  <a:srgbClr val="0033CC"/>
                </a:solidFill>
              </a:rPr>
              <a:t>Beke</a:t>
            </a:r>
            <a:r>
              <a:rPr lang="en-GB" sz="1400" dirty="0">
                <a:solidFill>
                  <a:srgbClr val="0033CC"/>
                </a:solidFill>
              </a:rPr>
              <a:t>”,</a:t>
            </a:r>
          </a:p>
          <a:p>
            <a:pPr marL="274320" lvl="1" indent="0">
              <a:buNone/>
            </a:pPr>
            <a:r>
              <a:rPr lang="en-GB" sz="1400" dirty="0">
                <a:solidFill>
                  <a:srgbClr val="0033CC"/>
                </a:solidFill>
              </a:rPr>
              <a:t>		email:		</a:t>
            </a:r>
            <a:r>
              <a:rPr lang="en-GB" sz="1400" dirty="0">
                <a:solidFill>
                  <a:srgbClr val="0033CC"/>
                </a:solidFill>
                <a:hlinkClick r:id="rId2"/>
              </a:rPr>
              <a:t>“a.dubeke@wlv.ac.uk</a:t>
            </a:r>
            <a:r>
              <a:rPr lang="en-GB" sz="1400" dirty="0">
                <a:solidFill>
                  <a:srgbClr val="0033CC"/>
                </a:solidFill>
              </a:rPr>
              <a:t>”</a:t>
            </a:r>
          </a:p>
          <a:p>
            <a:pPr marL="274320" lvl="1" indent="0">
              <a:buNone/>
            </a:pPr>
            <a:r>
              <a:rPr lang="en-GB" sz="1400" dirty="0">
                <a:solidFill>
                  <a:srgbClr val="0033CC"/>
                </a:solidFill>
              </a:rPr>
              <a:t>	}</a:t>
            </a:r>
          </a:p>
          <a:p>
            <a:pPr lvl="1"/>
            <a:r>
              <a:rPr lang="en-GB" sz="1400" dirty="0"/>
              <a:t>Documents have a dynamic schema, which means that documents in the same collection do not need to have the same set of columns or structure. </a:t>
            </a:r>
          </a:p>
          <a:p>
            <a:pPr marL="274320" lvl="1" indent="0">
              <a:buNone/>
            </a:pPr>
            <a:r>
              <a:rPr lang="en-GB" sz="1400" dirty="0">
                <a:solidFill>
                  <a:srgbClr val="0033CC"/>
                </a:solidFill>
              </a:rPr>
              <a:t>	{	</a:t>
            </a:r>
          </a:p>
          <a:p>
            <a:pPr marL="274320" lvl="1" indent="0">
              <a:buNone/>
            </a:pPr>
            <a:r>
              <a:rPr lang="en-GB" sz="1400" dirty="0">
                <a:solidFill>
                  <a:srgbClr val="0033CC"/>
                </a:solidFill>
              </a:rPr>
              <a:t>		</a:t>
            </a:r>
            <a:r>
              <a:rPr lang="en-GB" sz="1400" dirty="0" err="1">
                <a:solidFill>
                  <a:srgbClr val="0033CC"/>
                </a:solidFill>
              </a:rPr>
              <a:t>studentno</a:t>
            </a:r>
            <a:r>
              <a:rPr lang="en-GB" sz="1400" dirty="0">
                <a:solidFill>
                  <a:srgbClr val="0033CC"/>
                </a:solidFill>
              </a:rPr>
              <a:t>: 	1754321,</a:t>
            </a:r>
          </a:p>
          <a:p>
            <a:pPr marL="274320" lvl="1" indent="0">
              <a:buNone/>
            </a:pPr>
            <a:r>
              <a:rPr lang="en-GB" sz="1400" dirty="0">
                <a:solidFill>
                  <a:srgbClr val="0033CC"/>
                </a:solidFill>
              </a:rPr>
              <a:t>		</a:t>
            </a:r>
            <a:r>
              <a:rPr lang="en-GB" sz="1400" dirty="0" err="1">
                <a:solidFill>
                  <a:srgbClr val="0033CC"/>
                </a:solidFill>
              </a:rPr>
              <a:t>studentName</a:t>
            </a:r>
            <a:r>
              <a:rPr lang="en-GB" sz="1400" dirty="0">
                <a:solidFill>
                  <a:srgbClr val="0033CC"/>
                </a:solidFill>
              </a:rPr>
              <a:t>: 	“Susan </a:t>
            </a:r>
            <a:r>
              <a:rPr lang="en-GB" sz="1400" dirty="0" err="1">
                <a:solidFill>
                  <a:srgbClr val="0033CC"/>
                </a:solidFill>
              </a:rPr>
              <a:t>Calman</a:t>
            </a:r>
            <a:r>
              <a:rPr lang="en-GB" sz="1400" dirty="0">
                <a:solidFill>
                  <a:srgbClr val="0033CC"/>
                </a:solidFill>
              </a:rPr>
              <a:t>”,</a:t>
            </a:r>
          </a:p>
          <a:p>
            <a:pPr marL="274320" lvl="1" indent="0">
              <a:buNone/>
            </a:pPr>
            <a:r>
              <a:rPr lang="en-GB" sz="1400" dirty="0">
                <a:solidFill>
                  <a:srgbClr val="0033CC"/>
                </a:solidFill>
              </a:rPr>
              <a:t>		dob:		“11-APRIL-1999”</a:t>
            </a:r>
          </a:p>
          <a:p>
            <a:pPr marL="274320" lvl="1" indent="0">
              <a:buNone/>
            </a:pPr>
            <a:r>
              <a:rPr lang="en-GB" sz="1400" dirty="0">
                <a:solidFill>
                  <a:srgbClr val="0033CC"/>
                </a:solidFill>
              </a:rPr>
              <a:t>		email:		</a:t>
            </a:r>
            <a:r>
              <a:rPr lang="en-GB" sz="1400" dirty="0">
                <a:solidFill>
                  <a:srgbClr val="0033CC"/>
                </a:solidFill>
                <a:hlinkClick r:id="rId2"/>
              </a:rPr>
              <a:t>“s.calman@wlv.ac.uk</a:t>
            </a:r>
            <a:r>
              <a:rPr lang="en-GB" sz="1400" dirty="0">
                <a:solidFill>
                  <a:srgbClr val="0033CC"/>
                </a:solidFill>
              </a:rPr>
              <a:t>”</a:t>
            </a:r>
          </a:p>
          <a:p>
            <a:pPr marL="274320" lvl="1" indent="0">
              <a:buNone/>
            </a:pPr>
            <a:r>
              <a:rPr lang="en-GB" sz="1400" dirty="0">
                <a:solidFill>
                  <a:srgbClr val="0033CC"/>
                </a:solidFill>
              </a:rPr>
              <a:t>	}</a:t>
            </a:r>
          </a:p>
          <a:p>
            <a:pPr lvl="1"/>
            <a:r>
              <a:rPr lang="en-GB" sz="1400" dirty="0"/>
              <a:t>Common fields in a collection's documents may hold different types of data too.</a:t>
            </a:r>
          </a:p>
          <a:p>
            <a:pPr marL="274320" lvl="1" indent="0">
              <a:buNone/>
            </a:pPr>
            <a:r>
              <a:rPr lang="en-GB" sz="1400" dirty="0">
                <a:solidFill>
                  <a:srgbClr val="0033CC"/>
                </a:solidFill>
              </a:rPr>
              <a:t>	{	</a:t>
            </a:r>
          </a:p>
          <a:p>
            <a:pPr marL="274320" lvl="1" indent="0">
              <a:buNone/>
            </a:pPr>
            <a:r>
              <a:rPr lang="en-GB" sz="1400" dirty="0">
                <a:solidFill>
                  <a:srgbClr val="0033CC"/>
                </a:solidFill>
              </a:rPr>
              <a:t>		</a:t>
            </a:r>
            <a:r>
              <a:rPr lang="en-GB" sz="1400" dirty="0" err="1">
                <a:solidFill>
                  <a:srgbClr val="0033CC"/>
                </a:solidFill>
              </a:rPr>
              <a:t>studentno</a:t>
            </a:r>
            <a:r>
              <a:rPr lang="en-GB" sz="1400" dirty="0">
                <a:solidFill>
                  <a:srgbClr val="0033CC"/>
                </a:solidFill>
              </a:rPr>
              <a:t>: 	1754321,</a:t>
            </a:r>
          </a:p>
          <a:p>
            <a:pPr marL="274320" lvl="1" indent="0">
              <a:buNone/>
            </a:pPr>
            <a:r>
              <a:rPr lang="en-GB" sz="1400" dirty="0">
                <a:solidFill>
                  <a:srgbClr val="0033CC"/>
                </a:solidFill>
              </a:rPr>
              <a:t>		</a:t>
            </a:r>
            <a:r>
              <a:rPr lang="en-GB" sz="1400" dirty="0" err="1">
                <a:solidFill>
                  <a:srgbClr val="0033CC"/>
                </a:solidFill>
              </a:rPr>
              <a:t>studentName</a:t>
            </a:r>
            <a:r>
              <a:rPr lang="en-GB" sz="1400" dirty="0">
                <a:solidFill>
                  <a:srgbClr val="0033CC"/>
                </a:solidFill>
              </a:rPr>
              <a:t>: 	{ </a:t>
            </a:r>
            <a:r>
              <a:rPr lang="en-GB" sz="1400" dirty="0" err="1">
                <a:solidFill>
                  <a:srgbClr val="0033CC"/>
                </a:solidFill>
              </a:rPr>
              <a:t>firstName</a:t>
            </a:r>
            <a:r>
              <a:rPr lang="en-GB" sz="1400" dirty="0">
                <a:solidFill>
                  <a:srgbClr val="0033CC"/>
                </a:solidFill>
              </a:rPr>
              <a:t>: “Kevin”, surname: “Clifton” },</a:t>
            </a:r>
          </a:p>
          <a:p>
            <a:pPr marL="274320" lvl="1" indent="0">
              <a:buNone/>
            </a:pPr>
            <a:r>
              <a:rPr lang="en-GB" sz="1400" dirty="0">
                <a:solidFill>
                  <a:srgbClr val="0033CC"/>
                </a:solidFill>
              </a:rPr>
              <a:t>		email:		</a:t>
            </a:r>
            <a:r>
              <a:rPr lang="en-GB" sz="1400" dirty="0">
                <a:solidFill>
                  <a:srgbClr val="0033CC"/>
                </a:solidFill>
                <a:hlinkClick r:id="rId2"/>
              </a:rPr>
              <a:t>“k.clifton@wlv.ac.uk</a:t>
            </a:r>
            <a:r>
              <a:rPr lang="en-GB" sz="1400" dirty="0">
                <a:solidFill>
                  <a:srgbClr val="0033CC"/>
                </a:solidFill>
              </a:rPr>
              <a:t>”</a:t>
            </a:r>
          </a:p>
          <a:p>
            <a:pPr marL="274320" lvl="1" indent="0">
              <a:buNone/>
            </a:pPr>
            <a:r>
              <a:rPr lang="en-GB" sz="1400" dirty="0">
                <a:solidFill>
                  <a:srgbClr val="0033CC"/>
                </a:solidFill>
              </a:rPr>
              <a:t>	}</a:t>
            </a:r>
          </a:p>
          <a:p>
            <a:pPr lvl="1"/>
            <a:endParaRPr lang="en-GB" sz="700" dirty="0"/>
          </a:p>
          <a:p>
            <a:endParaRPr lang="en-GB" sz="800"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24</a:t>
            </a:fld>
            <a:endParaRPr lang="en-GB" dirty="0"/>
          </a:p>
        </p:txBody>
      </p:sp>
      <p:sp>
        <p:nvSpPr>
          <p:cNvPr id="5" name="Line Callout 1 4"/>
          <p:cNvSpPr/>
          <p:nvPr/>
        </p:nvSpPr>
        <p:spPr>
          <a:xfrm>
            <a:off x="685808" y="1861975"/>
            <a:ext cx="576064" cy="388259"/>
          </a:xfrm>
          <a:prstGeom prst="borderCallout1">
            <a:avLst>
              <a:gd name="adj1" fmla="val 58677"/>
              <a:gd name="adj2" fmla="val 98291"/>
              <a:gd name="adj3" fmla="val -4215"/>
              <a:gd name="adj4" fmla="val 260457"/>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dirty="0"/>
              <a:t>key</a:t>
            </a:r>
          </a:p>
        </p:txBody>
      </p:sp>
      <p:sp>
        <p:nvSpPr>
          <p:cNvPr id="6" name="Line Callout 1 5"/>
          <p:cNvSpPr/>
          <p:nvPr/>
        </p:nvSpPr>
        <p:spPr>
          <a:xfrm>
            <a:off x="6693973" y="1455840"/>
            <a:ext cx="936104" cy="406135"/>
          </a:xfrm>
          <a:prstGeom prst="borderCallout1">
            <a:avLst>
              <a:gd name="adj1" fmla="val 68900"/>
              <a:gd name="adj2" fmla="val 684"/>
              <a:gd name="adj3" fmla="val 104719"/>
              <a:gd name="adj4" fmla="val -112852"/>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dirty="0"/>
              <a:t>value</a:t>
            </a:r>
          </a:p>
        </p:txBody>
      </p:sp>
      <p:sp>
        <p:nvSpPr>
          <p:cNvPr id="7" name="Line Callout 1 6"/>
          <p:cNvSpPr/>
          <p:nvPr/>
        </p:nvSpPr>
        <p:spPr>
          <a:xfrm>
            <a:off x="6693973" y="3694103"/>
            <a:ext cx="1431776" cy="432048"/>
          </a:xfrm>
          <a:prstGeom prst="borderCallout1">
            <a:avLst>
              <a:gd name="adj1" fmla="val 58924"/>
              <a:gd name="adj2" fmla="val 510"/>
              <a:gd name="adj3" fmla="val 114258"/>
              <a:gd name="adj4" fmla="val -94955"/>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dirty="0"/>
              <a:t>DOB is new</a:t>
            </a:r>
          </a:p>
        </p:txBody>
      </p:sp>
      <p:sp>
        <p:nvSpPr>
          <p:cNvPr id="8" name="Line Callout 1 7"/>
          <p:cNvSpPr/>
          <p:nvPr/>
        </p:nvSpPr>
        <p:spPr>
          <a:xfrm>
            <a:off x="8712308" y="4984971"/>
            <a:ext cx="1673918" cy="789344"/>
          </a:xfrm>
          <a:prstGeom prst="borderCallout1">
            <a:avLst>
              <a:gd name="adj1" fmla="val 40047"/>
              <a:gd name="adj2" fmla="val -878"/>
              <a:gd name="adj3" fmla="val 102150"/>
              <a:gd name="adj4" fmla="val -74102"/>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dirty="0" err="1"/>
              <a:t>studentName</a:t>
            </a:r>
            <a:r>
              <a:rPr lang="en-GB" sz="1600" dirty="0"/>
              <a:t> now an </a:t>
            </a:r>
            <a:r>
              <a:rPr lang="en-GB" dirty="0"/>
              <a:t>array</a:t>
            </a:r>
          </a:p>
        </p:txBody>
      </p:sp>
    </p:spTree>
    <p:extLst>
      <p:ext uri="{BB962C8B-B14F-4D97-AF65-F5344CB8AC3E}">
        <p14:creationId xmlns:p14="http://schemas.microsoft.com/office/powerpoint/2010/main" val="846846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 calcmode="lin" valueType="num">
                                      <p:cBhvr additive="base">
                                        <p:cTn id="1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7" end="7"/>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anim calcmode="lin" valueType="num">
                                      <p:cBhvr additive="base">
                                        <p:cTn id="2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8" end="8"/>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
                                            <p:txEl>
                                              <p:pRg st="9" end="9"/>
                                            </p:txEl>
                                          </p:spTgt>
                                        </p:tgtEl>
                                        <p:attrNameLst>
                                          <p:attrName>style.visibility</p:attrName>
                                        </p:attrNameLst>
                                      </p:cBhvr>
                                      <p:to>
                                        <p:strVal val="visible"/>
                                      </p:to>
                                    </p:set>
                                    <p:anim calcmode="lin" valueType="num">
                                      <p:cBhvr additive="base">
                                        <p:cTn id="2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9" end="9"/>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
                                            <p:txEl>
                                              <p:pRg st="10" end="10"/>
                                            </p:txEl>
                                          </p:spTgt>
                                        </p:tgtEl>
                                        <p:attrNameLst>
                                          <p:attrName>style.visibility</p:attrName>
                                        </p:attrNameLst>
                                      </p:cBhvr>
                                      <p:to>
                                        <p:strVal val="visible"/>
                                      </p:to>
                                    </p:set>
                                    <p:anim calcmode="lin" valueType="num">
                                      <p:cBhvr additive="base">
                                        <p:cTn id="31"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10" end="10"/>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 calcmode="lin" valueType="num">
                                      <p:cBhvr additive="base">
                                        <p:cTn id="3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11" end="11"/>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
                                            <p:txEl>
                                              <p:pRg st="12" end="12"/>
                                            </p:txEl>
                                          </p:spTgt>
                                        </p:tgtEl>
                                        <p:attrNameLst>
                                          <p:attrName>style.visibility</p:attrName>
                                        </p:attrNameLst>
                                      </p:cBhvr>
                                      <p:to>
                                        <p:strVal val="visible"/>
                                      </p:to>
                                    </p:set>
                                    <p:anim calcmode="lin" valueType="num">
                                      <p:cBhvr additive="base">
                                        <p:cTn id="3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12" end="12"/>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anim calcmode="lin" valueType="num">
                                      <p:cBhvr additive="base">
                                        <p:cTn id="43"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2" presetClass="entr" presetSubtype="4" fill="hold" grpId="0" nodeType="clickEffect">
                                  <p:stCondLst>
                                    <p:cond delay="0"/>
                                  </p:stCondLst>
                                  <p:childTnLst>
                                    <p:set>
                                      <p:cBhvr>
                                        <p:cTn id="48" dur="1" fill="hold">
                                          <p:stCondLst>
                                            <p:cond delay="0"/>
                                          </p:stCondLst>
                                        </p:cTn>
                                        <p:tgtEl>
                                          <p:spTgt spid="7"/>
                                        </p:tgtEl>
                                        <p:attrNameLst>
                                          <p:attrName>style.visibility</p:attrName>
                                        </p:attrNameLst>
                                      </p:cBhvr>
                                      <p:to>
                                        <p:strVal val="visible"/>
                                      </p:to>
                                    </p:set>
                                    <p:animEffect transition="in" filter="wipe(down)">
                                      <p:cBhvr>
                                        <p:cTn id="49" dur="500"/>
                                        <p:tgtEl>
                                          <p:spTgt spid="7"/>
                                        </p:tgtEl>
                                      </p:cBhvr>
                                    </p:animEffect>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3">
                                            <p:txEl>
                                              <p:pRg st="14" end="14"/>
                                            </p:txEl>
                                          </p:spTgt>
                                        </p:tgtEl>
                                        <p:attrNameLst>
                                          <p:attrName>style.visibility</p:attrName>
                                        </p:attrNameLst>
                                      </p:cBhvr>
                                      <p:to>
                                        <p:strVal val="visible"/>
                                      </p:to>
                                    </p:set>
                                    <p:anim calcmode="lin" valueType="num">
                                      <p:cBhvr additive="base">
                                        <p:cTn id="54"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3">
                                            <p:txEl>
                                              <p:pRg st="14" end="14"/>
                                            </p:txEl>
                                          </p:spTgt>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3">
                                            <p:txEl>
                                              <p:pRg st="15" end="15"/>
                                            </p:txEl>
                                          </p:spTgt>
                                        </p:tgtEl>
                                        <p:attrNameLst>
                                          <p:attrName>style.visibility</p:attrName>
                                        </p:attrNameLst>
                                      </p:cBhvr>
                                      <p:to>
                                        <p:strVal val="visible"/>
                                      </p:to>
                                    </p:set>
                                    <p:anim calcmode="lin" valueType="num">
                                      <p:cBhvr additive="base">
                                        <p:cTn id="58" dur="500" fill="hold"/>
                                        <p:tgtEl>
                                          <p:spTgt spid="3">
                                            <p:txEl>
                                              <p:pRg st="15" end="15"/>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3">
                                            <p:txEl>
                                              <p:pRg st="15" end="15"/>
                                            </p:txEl>
                                          </p:spTgt>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3">
                                            <p:txEl>
                                              <p:pRg st="16" end="16"/>
                                            </p:txEl>
                                          </p:spTgt>
                                        </p:tgtEl>
                                        <p:attrNameLst>
                                          <p:attrName>style.visibility</p:attrName>
                                        </p:attrNameLst>
                                      </p:cBhvr>
                                      <p:to>
                                        <p:strVal val="visible"/>
                                      </p:to>
                                    </p:set>
                                    <p:anim calcmode="lin" valueType="num">
                                      <p:cBhvr additive="base">
                                        <p:cTn id="62" dur="500" fill="hold"/>
                                        <p:tgtEl>
                                          <p:spTgt spid="3">
                                            <p:txEl>
                                              <p:pRg st="16" end="16"/>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3">
                                            <p:txEl>
                                              <p:pRg st="16" end="16"/>
                                            </p:txEl>
                                          </p:spTgt>
                                        </p:tgtEl>
                                        <p:attrNameLst>
                                          <p:attrName>ppt_y</p:attrName>
                                        </p:attrNameLst>
                                      </p:cBhvr>
                                      <p:tavLst>
                                        <p:tav tm="0">
                                          <p:val>
                                            <p:strVal val="1+#ppt_h/2"/>
                                          </p:val>
                                        </p:tav>
                                        <p:tav tm="100000">
                                          <p:val>
                                            <p:strVal val="#ppt_y"/>
                                          </p:val>
                                        </p:tav>
                                      </p:tavLst>
                                    </p:anim>
                                  </p:childTnLst>
                                </p:cTn>
                              </p:par>
                              <p:par>
                                <p:cTn id="64" presetID="2" presetClass="entr" presetSubtype="4" fill="hold" nodeType="withEffect">
                                  <p:stCondLst>
                                    <p:cond delay="0"/>
                                  </p:stCondLst>
                                  <p:childTnLst>
                                    <p:set>
                                      <p:cBhvr>
                                        <p:cTn id="65" dur="1" fill="hold">
                                          <p:stCondLst>
                                            <p:cond delay="0"/>
                                          </p:stCondLst>
                                        </p:cTn>
                                        <p:tgtEl>
                                          <p:spTgt spid="3">
                                            <p:txEl>
                                              <p:pRg st="17" end="17"/>
                                            </p:txEl>
                                          </p:spTgt>
                                        </p:tgtEl>
                                        <p:attrNameLst>
                                          <p:attrName>style.visibility</p:attrName>
                                        </p:attrNameLst>
                                      </p:cBhvr>
                                      <p:to>
                                        <p:strVal val="visible"/>
                                      </p:to>
                                    </p:set>
                                    <p:anim calcmode="lin" valueType="num">
                                      <p:cBhvr additive="base">
                                        <p:cTn id="66" dur="500" fill="hold"/>
                                        <p:tgtEl>
                                          <p:spTgt spid="3">
                                            <p:txEl>
                                              <p:pRg st="17" end="17"/>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3">
                                            <p:txEl>
                                              <p:pRg st="17" end="17"/>
                                            </p:txEl>
                                          </p:spTgt>
                                        </p:tgtEl>
                                        <p:attrNameLst>
                                          <p:attrName>ppt_y</p:attrName>
                                        </p:attrNameLst>
                                      </p:cBhvr>
                                      <p:tavLst>
                                        <p:tav tm="0">
                                          <p:val>
                                            <p:strVal val="1+#ppt_h/2"/>
                                          </p:val>
                                        </p:tav>
                                        <p:tav tm="100000">
                                          <p:val>
                                            <p:strVal val="#ppt_y"/>
                                          </p:val>
                                        </p:tav>
                                      </p:tavLst>
                                    </p:anim>
                                  </p:childTnLst>
                                </p:cTn>
                              </p:par>
                              <p:par>
                                <p:cTn id="68" presetID="2" presetClass="entr" presetSubtype="4" fill="hold" nodeType="withEffect">
                                  <p:stCondLst>
                                    <p:cond delay="0"/>
                                  </p:stCondLst>
                                  <p:childTnLst>
                                    <p:set>
                                      <p:cBhvr>
                                        <p:cTn id="69" dur="1" fill="hold">
                                          <p:stCondLst>
                                            <p:cond delay="0"/>
                                          </p:stCondLst>
                                        </p:cTn>
                                        <p:tgtEl>
                                          <p:spTgt spid="3">
                                            <p:txEl>
                                              <p:pRg st="18" end="18"/>
                                            </p:txEl>
                                          </p:spTgt>
                                        </p:tgtEl>
                                        <p:attrNameLst>
                                          <p:attrName>style.visibility</p:attrName>
                                        </p:attrNameLst>
                                      </p:cBhvr>
                                      <p:to>
                                        <p:strVal val="visible"/>
                                      </p:to>
                                    </p:set>
                                    <p:anim calcmode="lin" valueType="num">
                                      <p:cBhvr additive="base">
                                        <p:cTn id="70" dur="500" fill="hold"/>
                                        <p:tgtEl>
                                          <p:spTgt spid="3">
                                            <p:txEl>
                                              <p:pRg st="18" end="18"/>
                                            </p:txEl>
                                          </p:spTgt>
                                        </p:tgtEl>
                                        <p:attrNameLst>
                                          <p:attrName>ppt_x</p:attrName>
                                        </p:attrNameLst>
                                      </p:cBhvr>
                                      <p:tavLst>
                                        <p:tav tm="0">
                                          <p:val>
                                            <p:strVal val="#ppt_x"/>
                                          </p:val>
                                        </p:tav>
                                        <p:tav tm="100000">
                                          <p:val>
                                            <p:strVal val="#ppt_x"/>
                                          </p:val>
                                        </p:tav>
                                      </p:tavLst>
                                    </p:anim>
                                    <p:anim calcmode="lin" valueType="num">
                                      <p:cBhvr additive="base">
                                        <p:cTn id="71" dur="500" fill="hold"/>
                                        <p:tgtEl>
                                          <p:spTgt spid="3">
                                            <p:txEl>
                                              <p:pRg st="18" end="18"/>
                                            </p:txEl>
                                          </p:spTgt>
                                        </p:tgtEl>
                                        <p:attrNameLst>
                                          <p:attrName>ppt_y</p:attrName>
                                        </p:attrNameLst>
                                      </p:cBhvr>
                                      <p:tavLst>
                                        <p:tav tm="0">
                                          <p:val>
                                            <p:strVal val="1+#ppt_h/2"/>
                                          </p:val>
                                        </p:tav>
                                        <p:tav tm="100000">
                                          <p:val>
                                            <p:strVal val="#ppt_y"/>
                                          </p:val>
                                        </p:tav>
                                      </p:tavLst>
                                    </p:anim>
                                  </p:childTnLst>
                                </p:cTn>
                              </p:par>
                              <p:par>
                                <p:cTn id="72" presetID="2" presetClass="entr" presetSubtype="4" fill="hold" nodeType="withEffect">
                                  <p:stCondLst>
                                    <p:cond delay="0"/>
                                  </p:stCondLst>
                                  <p:childTnLst>
                                    <p:set>
                                      <p:cBhvr>
                                        <p:cTn id="73" dur="1" fill="hold">
                                          <p:stCondLst>
                                            <p:cond delay="0"/>
                                          </p:stCondLst>
                                        </p:cTn>
                                        <p:tgtEl>
                                          <p:spTgt spid="3">
                                            <p:txEl>
                                              <p:pRg st="19" end="19"/>
                                            </p:txEl>
                                          </p:spTgt>
                                        </p:tgtEl>
                                        <p:attrNameLst>
                                          <p:attrName>style.visibility</p:attrName>
                                        </p:attrNameLst>
                                      </p:cBhvr>
                                      <p:to>
                                        <p:strVal val="visible"/>
                                      </p:to>
                                    </p:set>
                                    <p:anim calcmode="lin" valueType="num">
                                      <p:cBhvr additive="base">
                                        <p:cTn id="74" dur="500" fill="hold"/>
                                        <p:tgtEl>
                                          <p:spTgt spid="3">
                                            <p:txEl>
                                              <p:pRg st="19" end="19"/>
                                            </p:txEl>
                                          </p:spTgt>
                                        </p:tgtEl>
                                        <p:attrNameLst>
                                          <p:attrName>ppt_x</p:attrName>
                                        </p:attrNameLst>
                                      </p:cBhvr>
                                      <p:tavLst>
                                        <p:tav tm="0">
                                          <p:val>
                                            <p:strVal val="#ppt_x"/>
                                          </p:val>
                                        </p:tav>
                                        <p:tav tm="100000">
                                          <p:val>
                                            <p:strVal val="#ppt_x"/>
                                          </p:val>
                                        </p:tav>
                                      </p:tavLst>
                                    </p:anim>
                                    <p:anim calcmode="lin" valueType="num">
                                      <p:cBhvr additive="base">
                                        <p:cTn id="75" dur="500" fill="hold"/>
                                        <p:tgtEl>
                                          <p:spTgt spid="3">
                                            <p:txEl>
                                              <p:pRg st="19" end="19"/>
                                            </p:txEl>
                                          </p:spTgt>
                                        </p:tgtEl>
                                        <p:attrNameLst>
                                          <p:attrName>ppt_y</p:attrName>
                                        </p:attrNameLst>
                                      </p:cBhvr>
                                      <p:tavLst>
                                        <p:tav tm="0">
                                          <p:val>
                                            <p:strVal val="1+#ppt_h/2"/>
                                          </p:val>
                                        </p:tav>
                                        <p:tav tm="100000">
                                          <p:val>
                                            <p:strVal val="#ppt_y"/>
                                          </p:val>
                                        </p:tav>
                                      </p:tavLst>
                                    </p:anim>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8"/>
                                        </p:tgtEl>
                                        <p:attrNameLst>
                                          <p:attrName>style.visibility</p:attrName>
                                        </p:attrNameLst>
                                      </p:cBhvr>
                                      <p:to>
                                        <p:strVal val="visible"/>
                                      </p:to>
                                    </p:set>
                                    <p:animEffect transition="in" filter="wipe(down)">
                                      <p:cBhvr>
                                        <p:cTn id="8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9931" y="1730326"/>
            <a:ext cx="4949295" cy="4425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a:xfrm>
            <a:off x="1775521" y="-7327"/>
            <a:ext cx="8229600" cy="750995"/>
          </a:xfrm>
        </p:spPr>
        <p:txBody>
          <a:bodyPr>
            <a:normAutofit/>
          </a:bodyPr>
          <a:lstStyle/>
          <a:p>
            <a:pPr algn="ctr"/>
            <a:r>
              <a:rPr lang="en-GB" sz="3200" dirty="0"/>
              <a:t>Document v’s Relational Databases</a:t>
            </a:r>
          </a:p>
        </p:txBody>
      </p:sp>
      <p:sp>
        <p:nvSpPr>
          <p:cNvPr id="3" name="Content Placeholder 2"/>
          <p:cNvSpPr>
            <a:spLocks noGrp="1"/>
          </p:cNvSpPr>
          <p:nvPr>
            <p:ph idx="1"/>
          </p:nvPr>
        </p:nvSpPr>
        <p:spPr>
          <a:xfrm>
            <a:off x="506437" y="1097179"/>
            <a:ext cx="6891422" cy="741494"/>
          </a:xfrm>
        </p:spPr>
        <p:txBody>
          <a:bodyPr>
            <a:noAutofit/>
          </a:bodyPr>
          <a:lstStyle/>
          <a:p>
            <a:pPr marL="0" indent="0">
              <a:buNone/>
            </a:pPr>
            <a:r>
              <a:rPr lang="en-GB" sz="1800" dirty="0"/>
              <a:t>Comparison of terminology in MongoDB (Document database) compared to Oracle (relational database):</a:t>
            </a:r>
            <a:endParaRPr lang="en-GB"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25</a:t>
            </a:fld>
            <a:endParaRPr lang="en-GB" dirty="0"/>
          </a:p>
        </p:txBody>
      </p:sp>
      <p:graphicFrame>
        <p:nvGraphicFramePr>
          <p:cNvPr id="5" name="Table 4"/>
          <p:cNvGraphicFramePr>
            <a:graphicFrameLocks noGrp="1"/>
          </p:cNvGraphicFramePr>
          <p:nvPr>
            <p:extLst>
              <p:ext uri="{D42A27DB-BD31-4B8C-83A1-F6EECF244321}">
                <p14:modId xmlns:p14="http://schemas.microsoft.com/office/powerpoint/2010/main" val="3882533820"/>
              </p:ext>
            </p:extLst>
          </p:nvPr>
        </p:nvGraphicFramePr>
        <p:xfrm>
          <a:off x="847255" y="2064036"/>
          <a:ext cx="3250704" cy="1981200"/>
        </p:xfrm>
        <a:graphic>
          <a:graphicData uri="http://schemas.openxmlformats.org/drawingml/2006/table">
            <a:tbl>
              <a:tblPr/>
              <a:tblGrid>
                <a:gridCol w="1594520">
                  <a:extLst>
                    <a:ext uri="{9D8B030D-6E8A-4147-A177-3AD203B41FA5}">
                      <a16:colId xmlns="" xmlns:a16="http://schemas.microsoft.com/office/drawing/2014/main" val="20000"/>
                    </a:ext>
                  </a:extLst>
                </a:gridCol>
                <a:gridCol w="1656184">
                  <a:extLst>
                    <a:ext uri="{9D8B030D-6E8A-4147-A177-3AD203B41FA5}">
                      <a16:colId xmlns="" xmlns:a16="http://schemas.microsoft.com/office/drawing/2014/main" val="20001"/>
                    </a:ext>
                  </a:extLst>
                </a:gridCol>
              </a:tblGrid>
              <a:tr h="355495">
                <a:tc>
                  <a:txBody>
                    <a:bodyPr/>
                    <a:lstStyle/>
                    <a:p>
                      <a:r>
                        <a:rPr lang="en-GB" sz="2000" b="1" dirty="0"/>
                        <a:t>Oracle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GB" sz="2000" b="1" dirty="0"/>
                        <a:t>MongoDB</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 xmlns:a16="http://schemas.microsoft.com/office/drawing/2014/main" val="10000"/>
                  </a:ext>
                </a:extLst>
              </a:tr>
              <a:tr h="0">
                <a:tc>
                  <a:txBody>
                    <a:bodyPr/>
                    <a:lstStyle/>
                    <a:p>
                      <a:r>
                        <a:rPr lang="en-GB" sz="2000" dirty="0"/>
                        <a:t>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GB" sz="2000" dirty="0"/>
                        <a:t>Collection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 xmlns:a16="http://schemas.microsoft.com/office/drawing/2014/main" val="10001"/>
                  </a:ext>
                </a:extLst>
              </a:tr>
              <a:tr h="0">
                <a:tc>
                  <a:txBody>
                    <a:bodyPr/>
                    <a:lstStyle/>
                    <a:p>
                      <a:r>
                        <a:rPr lang="en-GB" sz="2000" dirty="0"/>
                        <a:t>Record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GB" sz="2000" dirty="0"/>
                        <a:t>Document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 xmlns:a16="http://schemas.microsoft.com/office/drawing/2014/main" val="10002"/>
                  </a:ext>
                </a:extLst>
              </a:tr>
              <a:tr h="0">
                <a:tc>
                  <a:txBody>
                    <a:bodyPr/>
                    <a:lstStyle/>
                    <a:p>
                      <a:r>
                        <a:rPr lang="en-GB" sz="2000" dirty="0"/>
                        <a:t>Column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GB" sz="2000" dirty="0"/>
                        <a:t>Key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 xmlns:a16="http://schemas.microsoft.com/office/drawing/2014/main" val="10003"/>
                  </a:ext>
                </a:extLst>
              </a:tr>
              <a:tr h="0">
                <a:tc>
                  <a:txBody>
                    <a:bodyPr/>
                    <a:lstStyle/>
                    <a:p>
                      <a:r>
                        <a:rPr lang="en-GB" sz="2000" dirty="0"/>
                        <a:t>Field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r>
                        <a:rPr lang="en-GB" sz="2000" dirty="0"/>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 xmlns:a16="http://schemas.microsoft.com/office/drawing/2014/main" val="10004"/>
                  </a:ext>
                </a:extLst>
              </a:tr>
            </a:tbl>
          </a:graphicData>
        </a:graphic>
      </p:graphicFrame>
      <p:pic>
        <p:nvPicPr>
          <p:cNvPr id="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8909" y="4496721"/>
            <a:ext cx="2619375" cy="168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ular Callout 6"/>
          <p:cNvSpPr/>
          <p:nvPr/>
        </p:nvSpPr>
        <p:spPr>
          <a:xfrm>
            <a:off x="3458791" y="4270600"/>
            <a:ext cx="936104" cy="432048"/>
          </a:xfrm>
          <a:prstGeom prst="wedgeRectCallout">
            <a:avLst>
              <a:gd name="adj1" fmla="val -123417"/>
              <a:gd name="adj2" fmla="val 37925"/>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Table</a:t>
            </a:r>
          </a:p>
        </p:txBody>
      </p:sp>
      <p:sp>
        <p:nvSpPr>
          <p:cNvPr id="8" name="Line Callout 1 7"/>
          <p:cNvSpPr/>
          <p:nvPr/>
        </p:nvSpPr>
        <p:spPr>
          <a:xfrm>
            <a:off x="7843141" y="962176"/>
            <a:ext cx="1296144" cy="461789"/>
          </a:xfrm>
          <a:prstGeom prst="borderCallout1">
            <a:avLst>
              <a:gd name="adj1" fmla="val 91549"/>
              <a:gd name="adj2" fmla="val -1071"/>
              <a:gd name="adj3" fmla="val 239794"/>
              <a:gd name="adj4" fmla="val -74743"/>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Collection</a:t>
            </a:r>
          </a:p>
        </p:txBody>
      </p:sp>
      <p:sp>
        <p:nvSpPr>
          <p:cNvPr id="12" name="Rectangular Callout 11"/>
          <p:cNvSpPr/>
          <p:nvPr/>
        </p:nvSpPr>
        <p:spPr>
          <a:xfrm>
            <a:off x="4674610" y="4641371"/>
            <a:ext cx="1036265" cy="432048"/>
          </a:xfrm>
          <a:prstGeom prst="wedgeRectCallout">
            <a:avLst>
              <a:gd name="adj1" fmla="val -95331"/>
              <a:gd name="adj2" fmla="val 42344"/>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Column</a:t>
            </a:r>
          </a:p>
        </p:txBody>
      </p:sp>
      <p:sp>
        <p:nvSpPr>
          <p:cNvPr id="13" name="Rectangular Callout 12"/>
          <p:cNvSpPr/>
          <p:nvPr/>
        </p:nvSpPr>
        <p:spPr>
          <a:xfrm>
            <a:off x="4808173" y="5640114"/>
            <a:ext cx="1071803" cy="626939"/>
          </a:xfrm>
          <a:prstGeom prst="wedgeRectCallout">
            <a:avLst>
              <a:gd name="adj1" fmla="val -106511"/>
              <a:gd name="adj2" fmla="val 702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Record (row)</a:t>
            </a:r>
          </a:p>
        </p:txBody>
      </p:sp>
      <p:sp>
        <p:nvSpPr>
          <p:cNvPr id="14" name="Rectangular Callout 13"/>
          <p:cNvSpPr/>
          <p:nvPr/>
        </p:nvSpPr>
        <p:spPr>
          <a:xfrm>
            <a:off x="2472607" y="6464893"/>
            <a:ext cx="2202003" cy="288472"/>
          </a:xfrm>
          <a:prstGeom prst="wedgeRectCallout">
            <a:avLst>
              <a:gd name="adj1" fmla="val -34872"/>
              <a:gd name="adj2" fmla="val -16669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Field (Data item</a:t>
            </a:r>
            <a:r>
              <a:rPr lang="en-GB" dirty="0"/>
              <a:t>)</a:t>
            </a:r>
          </a:p>
        </p:txBody>
      </p:sp>
      <p:sp>
        <p:nvSpPr>
          <p:cNvPr id="15" name="Line Callout 1 14"/>
          <p:cNvSpPr/>
          <p:nvPr/>
        </p:nvSpPr>
        <p:spPr>
          <a:xfrm>
            <a:off x="9584567" y="1213123"/>
            <a:ext cx="1296144" cy="461789"/>
          </a:xfrm>
          <a:prstGeom prst="borderCallout1">
            <a:avLst>
              <a:gd name="adj1" fmla="val 91549"/>
              <a:gd name="adj2" fmla="val -3146"/>
              <a:gd name="adj3" fmla="val 321329"/>
              <a:gd name="adj4" fmla="val -58144"/>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Document</a:t>
            </a:r>
          </a:p>
        </p:txBody>
      </p:sp>
      <p:sp>
        <p:nvSpPr>
          <p:cNvPr id="16" name="Line Callout 1 15"/>
          <p:cNvSpPr/>
          <p:nvPr/>
        </p:nvSpPr>
        <p:spPr>
          <a:xfrm>
            <a:off x="9121824" y="6267053"/>
            <a:ext cx="1296144" cy="461789"/>
          </a:xfrm>
          <a:prstGeom prst="borderCallout1">
            <a:avLst>
              <a:gd name="adj1" fmla="val 24843"/>
              <a:gd name="adj2" fmla="val 1435"/>
              <a:gd name="adj3" fmla="val -103816"/>
              <a:gd name="adj4" fmla="val -8615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Value</a:t>
            </a:r>
          </a:p>
        </p:txBody>
      </p:sp>
      <p:sp>
        <p:nvSpPr>
          <p:cNvPr id="17" name="Line Callout 1 16"/>
          <p:cNvSpPr/>
          <p:nvPr/>
        </p:nvSpPr>
        <p:spPr>
          <a:xfrm>
            <a:off x="7012846" y="6291576"/>
            <a:ext cx="1296144" cy="461789"/>
          </a:xfrm>
          <a:prstGeom prst="borderCallout1">
            <a:avLst>
              <a:gd name="adj1" fmla="val -8667"/>
              <a:gd name="adj2" fmla="val 17715"/>
              <a:gd name="adj3" fmla="val -100349"/>
              <a:gd name="adj4" fmla="val -885"/>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GB" dirty="0"/>
              <a:t>Key</a:t>
            </a:r>
          </a:p>
        </p:txBody>
      </p:sp>
      <p:sp>
        <p:nvSpPr>
          <p:cNvPr id="11" name="Left Arrow 10"/>
          <p:cNvSpPr/>
          <p:nvPr/>
        </p:nvSpPr>
        <p:spPr>
          <a:xfrm>
            <a:off x="5344073" y="2888051"/>
            <a:ext cx="535902" cy="288032"/>
          </a:xfrm>
          <a:prstGeom prst="left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Left Arrow 21"/>
          <p:cNvSpPr/>
          <p:nvPr/>
        </p:nvSpPr>
        <p:spPr>
          <a:xfrm>
            <a:off x="5344073" y="3287724"/>
            <a:ext cx="535902" cy="288032"/>
          </a:xfrm>
          <a:prstGeom prst="left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Left Arrow 22"/>
          <p:cNvSpPr/>
          <p:nvPr/>
        </p:nvSpPr>
        <p:spPr>
          <a:xfrm>
            <a:off x="5344073" y="2541168"/>
            <a:ext cx="535902" cy="288032"/>
          </a:xfrm>
          <a:prstGeom prst="left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Left Arrow 23"/>
          <p:cNvSpPr/>
          <p:nvPr/>
        </p:nvSpPr>
        <p:spPr>
          <a:xfrm>
            <a:off x="5344073" y="3725833"/>
            <a:ext cx="535902" cy="288032"/>
          </a:xfrm>
          <a:prstGeom prst="leftArrow">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2069147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7"/>
                                        </p:tgtEl>
                                        <p:attrNameLst>
                                          <p:attrName>style.visibility</p:attrName>
                                        </p:attrNameLst>
                                      </p:cBhvr>
                                      <p:to>
                                        <p:strVal val="hidden"/>
                                      </p:to>
                                    </p:set>
                                  </p:sub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8"/>
                                        </p:tgtEl>
                                        <p:attrNameLst>
                                          <p:attrName>style.visibility</p:attrName>
                                        </p:attrNameLst>
                                      </p:cBhvr>
                                      <p:to>
                                        <p:strVal val="hidden"/>
                                      </p:to>
                                    </p:set>
                                  </p:subTnLst>
                                </p:cTn>
                              </p:par>
                              <p:par>
                                <p:cTn id="13" presetID="2" presetClass="entr" presetSubtype="4" fill="hold" grpId="0" nodeType="withEffect">
                                  <p:stCondLst>
                                    <p:cond delay="0"/>
                                  </p:stCondLst>
                                  <p:childTnLst>
                                    <p:set>
                                      <p:cBhvr>
                                        <p:cTn id="14" dur="1" fill="hold">
                                          <p:stCondLst>
                                            <p:cond delay="0"/>
                                          </p:stCondLst>
                                        </p:cTn>
                                        <p:tgtEl>
                                          <p:spTgt spid="23"/>
                                        </p:tgtEl>
                                        <p:attrNameLst>
                                          <p:attrName>style.visibility</p:attrName>
                                        </p:attrNameLst>
                                      </p:cBhvr>
                                      <p:to>
                                        <p:strVal val="visible"/>
                                      </p:to>
                                    </p:set>
                                    <p:anim calcmode="lin" valueType="num">
                                      <p:cBhvr additive="base">
                                        <p:cTn id="15" dur="500" fill="hold"/>
                                        <p:tgtEl>
                                          <p:spTgt spid="23"/>
                                        </p:tgtEl>
                                        <p:attrNameLst>
                                          <p:attrName>ppt_x</p:attrName>
                                        </p:attrNameLst>
                                      </p:cBhvr>
                                      <p:tavLst>
                                        <p:tav tm="0">
                                          <p:val>
                                            <p:strVal val="#ppt_x"/>
                                          </p:val>
                                        </p:tav>
                                        <p:tav tm="100000">
                                          <p:val>
                                            <p:strVal val="#ppt_x"/>
                                          </p:val>
                                        </p:tav>
                                      </p:tavLst>
                                    </p:anim>
                                    <p:anim calcmode="lin" valueType="num">
                                      <p:cBhvr additive="base">
                                        <p:cTn id="16" dur="500" fill="hold"/>
                                        <p:tgtEl>
                                          <p:spTgt spid="2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3"/>
                                        </p:tgtEl>
                                        <p:attrNameLst>
                                          <p:attrName>style.visibility</p:attrName>
                                        </p:attrNameLst>
                                      </p:cBhvr>
                                      <p:to>
                                        <p:strVal val="hidden"/>
                                      </p:to>
                                    </p:set>
                                  </p:sub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additive="base">
                                        <p:cTn id="21" dur="500" fill="hold"/>
                                        <p:tgtEl>
                                          <p:spTgt spid="15"/>
                                        </p:tgtEl>
                                        <p:attrNameLst>
                                          <p:attrName>ppt_x</p:attrName>
                                        </p:attrNameLst>
                                      </p:cBhvr>
                                      <p:tavLst>
                                        <p:tav tm="0">
                                          <p:val>
                                            <p:strVal val="#ppt_x"/>
                                          </p:val>
                                        </p:tav>
                                        <p:tav tm="100000">
                                          <p:val>
                                            <p:strVal val="#ppt_x"/>
                                          </p:val>
                                        </p:tav>
                                      </p:tavLst>
                                    </p:anim>
                                    <p:anim calcmode="lin" valueType="num">
                                      <p:cBhvr additive="base">
                                        <p:cTn id="22" dur="500" fill="hold"/>
                                        <p:tgtEl>
                                          <p:spTgt spid="15"/>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5"/>
                                        </p:tgtEl>
                                        <p:attrNameLst>
                                          <p:attrName>style.visibility</p:attrName>
                                        </p:attrNameLst>
                                      </p:cBhvr>
                                      <p:to>
                                        <p:strVal val="hidden"/>
                                      </p:to>
                                    </p:set>
                                  </p:subTnLst>
                                </p:cTn>
                              </p:par>
                              <p:par>
                                <p:cTn id="23" presetID="2" presetClass="entr" presetSubtype="4"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 calcmode="lin" valueType="num">
                                      <p:cBhvr additive="base">
                                        <p:cTn id="25" dur="500" fill="hold"/>
                                        <p:tgtEl>
                                          <p:spTgt spid="13"/>
                                        </p:tgtEl>
                                        <p:attrNameLst>
                                          <p:attrName>ppt_x</p:attrName>
                                        </p:attrNameLst>
                                      </p:cBhvr>
                                      <p:tavLst>
                                        <p:tav tm="0">
                                          <p:val>
                                            <p:strVal val="#ppt_x"/>
                                          </p:val>
                                        </p:tav>
                                        <p:tav tm="100000">
                                          <p:val>
                                            <p:strVal val="#ppt_x"/>
                                          </p:val>
                                        </p:tav>
                                      </p:tavLst>
                                    </p:anim>
                                    <p:anim calcmode="lin" valueType="num">
                                      <p:cBhvr additive="base">
                                        <p:cTn id="26" dur="500" fill="hold"/>
                                        <p:tgtEl>
                                          <p:spTgt spid="13"/>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3"/>
                                        </p:tgtEl>
                                        <p:attrNameLst>
                                          <p:attrName>style.visibility</p:attrName>
                                        </p:attrNameLst>
                                      </p:cBhvr>
                                      <p:to>
                                        <p:strVal val="hidden"/>
                                      </p:to>
                                    </p:set>
                                  </p:subTnLst>
                                </p:cTn>
                              </p:par>
                              <p:par>
                                <p:cTn id="27" presetID="2" presetClass="entr" presetSubtype="4"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 calcmode="lin" valueType="num">
                                      <p:cBhvr additive="base">
                                        <p:cTn id="29" dur="500" fill="hold"/>
                                        <p:tgtEl>
                                          <p:spTgt spid="11"/>
                                        </p:tgtEl>
                                        <p:attrNameLst>
                                          <p:attrName>ppt_x</p:attrName>
                                        </p:attrNameLst>
                                      </p:cBhvr>
                                      <p:tavLst>
                                        <p:tav tm="0">
                                          <p:val>
                                            <p:strVal val="#ppt_x"/>
                                          </p:val>
                                        </p:tav>
                                        <p:tav tm="100000">
                                          <p:val>
                                            <p:strVal val="#ppt_x"/>
                                          </p:val>
                                        </p:tav>
                                      </p:tavLst>
                                    </p:anim>
                                    <p:anim calcmode="lin" valueType="num">
                                      <p:cBhvr additive="base">
                                        <p:cTn id="30" dur="500" fill="hold"/>
                                        <p:tgtEl>
                                          <p:spTgt spid="11"/>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1"/>
                                        </p:tgtEl>
                                        <p:attrNameLst>
                                          <p:attrName>style.visibility</p:attrName>
                                        </p:attrNameLst>
                                      </p:cBhvr>
                                      <p:to>
                                        <p:strVal val="hidden"/>
                                      </p:to>
                                    </p:set>
                                  </p:subTnLst>
                                </p:cTn>
                              </p:par>
                            </p:childTnLst>
                          </p:cTn>
                        </p:par>
                      </p:childTnLst>
                    </p:cTn>
                  </p:par>
                  <p:par>
                    <p:cTn id="31" fill="hold">
                      <p:stCondLst>
                        <p:cond delay="indefinite"/>
                      </p:stCondLst>
                      <p:childTnLst>
                        <p:par>
                          <p:cTn id="32" fill="hold">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00" fill="hold"/>
                                        <p:tgtEl>
                                          <p:spTgt spid="12"/>
                                        </p:tgtEl>
                                        <p:attrNameLst>
                                          <p:attrName>ppt_x</p:attrName>
                                        </p:attrNameLst>
                                      </p:cBhvr>
                                      <p:tavLst>
                                        <p:tav tm="0">
                                          <p:val>
                                            <p:strVal val="#ppt_x"/>
                                          </p:val>
                                        </p:tav>
                                        <p:tav tm="100000">
                                          <p:val>
                                            <p:strVal val="#ppt_x"/>
                                          </p:val>
                                        </p:tav>
                                      </p:tavLst>
                                    </p:anim>
                                    <p:anim calcmode="lin" valueType="num">
                                      <p:cBhvr additive="base">
                                        <p:cTn id="36" dur="500" fill="hold"/>
                                        <p:tgtEl>
                                          <p:spTgt spid="1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2"/>
                                        </p:tgtEl>
                                        <p:attrNameLst>
                                          <p:attrName>style.visibility</p:attrName>
                                        </p:attrNameLst>
                                      </p:cBhvr>
                                      <p:to>
                                        <p:strVal val="hidden"/>
                                      </p:to>
                                    </p:set>
                                  </p:subTnLst>
                                </p:cTn>
                              </p:par>
                              <p:par>
                                <p:cTn id="37" presetID="2" presetClass="entr" presetSubtype="4" fill="hold" grpId="0" nodeType="withEffect">
                                  <p:stCondLst>
                                    <p:cond delay="0"/>
                                  </p:stCondLst>
                                  <p:childTnLst>
                                    <p:set>
                                      <p:cBhvr>
                                        <p:cTn id="38" dur="1" fill="hold">
                                          <p:stCondLst>
                                            <p:cond delay="0"/>
                                          </p:stCondLst>
                                        </p:cTn>
                                        <p:tgtEl>
                                          <p:spTgt spid="17"/>
                                        </p:tgtEl>
                                        <p:attrNameLst>
                                          <p:attrName>style.visibility</p:attrName>
                                        </p:attrNameLst>
                                      </p:cBhvr>
                                      <p:to>
                                        <p:strVal val="visible"/>
                                      </p:to>
                                    </p:set>
                                    <p:anim calcmode="lin" valueType="num">
                                      <p:cBhvr additive="base">
                                        <p:cTn id="39" dur="500" fill="hold"/>
                                        <p:tgtEl>
                                          <p:spTgt spid="17"/>
                                        </p:tgtEl>
                                        <p:attrNameLst>
                                          <p:attrName>ppt_x</p:attrName>
                                        </p:attrNameLst>
                                      </p:cBhvr>
                                      <p:tavLst>
                                        <p:tav tm="0">
                                          <p:val>
                                            <p:strVal val="#ppt_x"/>
                                          </p:val>
                                        </p:tav>
                                        <p:tav tm="100000">
                                          <p:val>
                                            <p:strVal val="#ppt_x"/>
                                          </p:val>
                                        </p:tav>
                                      </p:tavLst>
                                    </p:anim>
                                    <p:anim calcmode="lin" valueType="num">
                                      <p:cBhvr additive="base">
                                        <p:cTn id="40" dur="500" fill="hold"/>
                                        <p:tgtEl>
                                          <p:spTgt spid="17"/>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17"/>
                                        </p:tgtEl>
                                        <p:attrNameLst>
                                          <p:attrName>style.visibility</p:attrName>
                                        </p:attrNameLst>
                                      </p:cBhvr>
                                      <p:to>
                                        <p:strVal val="hidden"/>
                                      </p:to>
                                    </p:set>
                                  </p:subTnLst>
                                </p:cTn>
                              </p:par>
                              <p:par>
                                <p:cTn id="41" presetID="2" presetClass="entr" presetSubtype="4" fill="hold" grpId="0" nodeType="withEffect">
                                  <p:stCondLst>
                                    <p:cond delay="0"/>
                                  </p:stCondLst>
                                  <p:childTnLst>
                                    <p:set>
                                      <p:cBhvr>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ppt_x"/>
                                          </p:val>
                                        </p:tav>
                                        <p:tav tm="100000">
                                          <p:val>
                                            <p:strVal val="#ppt_x"/>
                                          </p:val>
                                        </p:tav>
                                      </p:tavLst>
                                    </p:anim>
                                    <p:anim calcmode="lin" valueType="num">
                                      <p:cBhvr additive="base">
                                        <p:cTn id="44" dur="500" fill="hold"/>
                                        <p:tgtEl>
                                          <p:spTgt spid="22"/>
                                        </p:tgtEl>
                                        <p:attrNameLst>
                                          <p:attrName>ppt_y</p:attrName>
                                        </p:attrNameLst>
                                      </p:cBhvr>
                                      <p:tavLst>
                                        <p:tav tm="0">
                                          <p:val>
                                            <p:strVal val="1+#ppt_h/2"/>
                                          </p:val>
                                        </p:tav>
                                        <p:tav tm="100000">
                                          <p:val>
                                            <p:strVal val="#ppt_y"/>
                                          </p:val>
                                        </p:tav>
                                      </p:tavLst>
                                    </p:anim>
                                  </p:childTnLst>
                                  <p:subTnLst>
                                    <p:set>
                                      <p:cBhvr override="childStyle">
                                        <p:cTn dur="1" fill="hold" display="0" masterRel="nextClick" afterEffect="1"/>
                                        <p:tgtEl>
                                          <p:spTgt spid="22"/>
                                        </p:tgtEl>
                                        <p:attrNameLst>
                                          <p:attrName>style.visibility</p:attrName>
                                        </p:attrNameLst>
                                      </p:cBhvr>
                                      <p:to>
                                        <p:strVal val="hidden"/>
                                      </p:to>
                                    </p:set>
                                  </p:subTnLst>
                                </p:cTn>
                              </p:par>
                            </p:childTnLst>
                          </p:cTn>
                        </p:par>
                      </p:childTnLst>
                    </p:cTn>
                  </p:par>
                  <p:par>
                    <p:cTn id="45" fill="hold">
                      <p:stCondLst>
                        <p:cond delay="indefinite"/>
                      </p:stCondLst>
                      <p:childTnLst>
                        <p:par>
                          <p:cTn id="46" fill="hold">
                            <p:stCondLst>
                              <p:cond delay="0"/>
                            </p:stCondLst>
                            <p:childTnLst>
                              <p:par>
                                <p:cTn id="47" presetID="21" presetClass="entr" presetSubtype="1"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Effect transition="in" filter="wheel(1)">
                                      <p:cBhvr>
                                        <p:cTn id="49" dur="2000"/>
                                        <p:tgtEl>
                                          <p:spTgt spid="14"/>
                                        </p:tgtEl>
                                      </p:cBhvr>
                                    </p:animEffect>
                                  </p:childTnLst>
                                </p:cTn>
                              </p:par>
                              <p:par>
                                <p:cTn id="50" presetID="21" presetClass="entr" presetSubtype="1"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wheel(1)">
                                      <p:cBhvr>
                                        <p:cTn id="52" dur="2000"/>
                                        <p:tgtEl>
                                          <p:spTgt spid="16"/>
                                        </p:tgtEl>
                                      </p:cBhvr>
                                    </p:animEffect>
                                  </p:childTnLst>
                                </p:cTn>
                              </p:par>
                              <p:par>
                                <p:cTn id="53" presetID="2" presetClass="entr" presetSubtype="4" fill="hold" grpId="0" nodeType="withEffect">
                                  <p:stCondLst>
                                    <p:cond delay="0"/>
                                  </p:stCondLst>
                                  <p:childTnLst>
                                    <p:set>
                                      <p:cBhvr>
                                        <p:cTn id="54" dur="1" fill="hold">
                                          <p:stCondLst>
                                            <p:cond delay="0"/>
                                          </p:stCondLst>
                                        </p:cTn>
                                        <p:tgtEl>
                                          <p:spTgt spid="24"/>
                                        </p:tgtEl>
                                        <p:attrNameLst>
                                          <p:attrName>style.visibility</p:attrName>
                                        </p:attrNameLst>
                                      </p:cBhvr>
                                      <p:to>
                                        <p:strVal val="visible"/>
                                      </p:to>
                                    </p:set>
                                    <p:anim calcmode="lin" valueType="num">
                                      <p:cBhvr additive="base">
                                        <p:cTn id="55" dur="500" fill="hold"/>
                                        <p:tgtEl>
                                          <p:spTgt spid="24"/>
                                        </p:tgtEl>
                                        <p:attrNameLst>
                                          <p:attrName>ppt_x</p:attrName>
                                        </p:attrNameLst>
                                      </p:cBhvr>
                                      <p:tavLst>
                                        <p:tav tm="0">
                                          <p:val>
                                            <p:strVal val="#ppt_x"/>
                                          </p:val>
                                        </p:tav>
                                        <p:tav tm="100000">
                                          <p:val>
                                            <p:strVal val="#ppt_x"/>
                                          </p:val>
                                        </p:tav>
                                      </p:tavLst>
                                    </p:anim>
                                    <p:anim calcmode="lin" valueType="num">
                                      <p:cBhvr additive="base">
                                        <p:cTn id="5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2" grpId="0" animBg="1"/>
      <p:bldP spid="13" grpId="0" animBg="1"/>
      <p:bldP spid="14" grpId="0" animBg="1"/>
      <p:bldP spid="15" grpId="0" animBg="1"/>
      <p:bldP spid="16" grpId="0" animBg="1"/>
      <p:bldP spid="17" grpId="0" animBg="1"/>
      <p:bldP spid="11" grpId="0" animBg="1"/>
      <p:bldP spid="22" grpId="0" animBg="1"/>
      <p:bldP spid="23" grpId="0" animBg="1"/>
      <p:bldP spid="24"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MongoDB – Collections</a:t>
            </a:r>
          </a:p>
        </p:txBody>
      </p:sp>
      <p:sp>
        <p:nvSpPr>
          <p:cNvPr id="3" name="Content Placeholder 2"/>
          <p:cNvSpPr>
            <a:spLocks noGrp="1"/>
          </p:cNvSpPr>
          <p:nvPr>
            <p:ph idx="1"/>
          </p:nvPr>
        </p:nvSpPr>
        <p:spPr/>
        <p:txBody>
          <a:bodyPr>
            <a:normAutofit/>
          </a:bodyPr>
          <a:lstStyle/>
          <a:p>
            <a:r>
              <a:rPr lang="en-GB" dirty="0"/>
              <a:t>If a collection does not exist, MongoDB will automatically create the collection when you first store data for that collection. </a:t>
            </a:r>
          </a:p>
          <a:p>
            <a:r>
              <a:rPr lang="en-GB" dirty="0"/>
              <a:t>You can create one in advance, if you want to set any parameters, such as the maximum size.</a:t>
            </a:r>
          </a:p>
          <a:p>
            <a:r>
              <a:rPr lang="en-GB" dirty="0"/>
              <a:t>To create a new collection:</a:t>
            </a:r>
          </a:p>
          <a:p>
            <a:pPr marL="514350" lvl="1" indent="0">
              <a:buNone/>
            </a:pPr>
            <a:r>
              <a:rPr lang="en-GB" dirty="0" err="1">
                <a:solidFill>
                  <a:srgbClr val="0033CC"/>
                </a:solidFill>
              </a:rPr>
              <a:t>db.createCollection</a:t>
            </a:r>
            <a:r>
              <a:rPr lang="en-GB" dirty="0">
                <a:solidFill>
                  <a:srgbClr val="0033CC"/>
                </a:solidFill>
              </a:rPr>
              <a:t>('</a:t>
            </a:r>
            <a:r>
              <a:rPr lang="en-GB" dirty="0" err="1">
                <a:solidFill>
                  <a:srgbClr val="0033CC"/>
                </a:solidFill>
              </a:rPr>
              <a:t>depts</a:t>
            </a:r>
            <a:r>
              <a:rPr lang="en-GB" dirty="0">
                <a:solidFill>
                  <a:srgbClr val="0033CC"/>
                </a:solidFill>
              </a:rPr>
              <a:t>', {max: 20})</a:t>
            </a:r>
          </a:p>
          <a:p>
            <a:pPr lvl="1"/>
            <a:r>
              <a:rPr lang="en-GB" dirty="0"/>
              <a:t>This creates a collection called </a:t>
            </a:r>
            <a:r>
              <a:rPr lang="en-GB" dirty="0" err="1"/>
              <a:t>depts</a:t>
            </a:r>
            <a:r>
              <a:rPr lang="en-GB" dirty="0"/>
              <a:t> that can hold a maximum of 20 documents.</a:t>
            </a:r>
          </a:p>
          <a:p>
            <a:r>
              <a:rPr lang="en-GB" dirty="0"/>
              <a:t>To show what collections you have:</a:t>
            </a:r>
          </a:p>
          <a:p>
            <a:pPr marL="514350" lvl="1" indent="0">
              <a:buNone/>
            </a:pPr>
            <a:r>
              <a:rPr lang="en-GB" dirty="0">
                <a:solidFill>
                  <a:srgbClr val="0033CC"/>
                </a:solidFill>
              </a:rPr>
              <a:t>show collections</a:t>
            </a:r>
          </a:p>
          <a:p>
            <a:endParaRPr lang="en-GB"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26</a:t>
            </a:fld>
            <a:endParaRPr lang="en-GB" dirty="0"/>
          </a:p>
        </p:txBody>
      </p:sp>
    </p:spTree>
    <p:extLst>
      <p:ext uri="{BB962C8B-B14F-4D97-AF65-F5344CB8AC3E}">
        <p14:creationId xmlns:p14="http://schemas.microsoft.com/office/powerpoint/2010/main" val="2460846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MongoDB – Documents</a:t>
            </a:r>
          </a:p>
        </p:txBody>
      </p:sp>
      <p:sp>
        <p:nvSpPr>
          <p:cNvPr id="3" name="Content Placeholder 2"/>
          <p:cNvSpPr>
            <a:spLocks noGrp="1"/>
          </p:cNvSpPr>
          <p:nvPr>
            <p:ph idx="1"/>
          </p:nvPr>
        </p:nvSpPr>
        <p:spPr/>
        <p:txBody>
          <a:bodyPr>
            <a:normAutofit fontScale="85000" lnSpcReduction="20000"/>
          </a:bodyPr>
          <a:lstStyle/>
          <a:p>
            <a:r>
              <a:rPr lang="en-GB" dirty="0"/>
              <a:t>Data is stored as </a:t>
            </a:r>
            <a:r>
              <a:rPr lang="en-GB" dirty="0">
                <a:solidFill>
                  <a:srgbClr val="996633"/>
                </a:solidFill>
              </a:rPr>
              <a:t>BSON</a:t>
            </a:r>
            <a:r>
              <a:rPr lang="en-GB" dirty="0"/>
              <a:t> documents in a collection.</a:t>
            </a:r>
          </a:p>
          <a:p>
            <a:pPr lvl="1"/>
            <a:r>
              <a:rPr lang="en-GB" dirty="0">
                <a:solidFill>
                  <a:srgbClr val="996633"/>
                </a:solidFill>
              </a:rPr>
              <a:t>BSON</a:t>
            </a:r>
            <a:r>
              <a:rPr lang="en-GB" dirty="0"/>
              <a:t> is a binary representation of </a:t>
            </a:r>
            <a:r>
              <a:rPr lang="en-GB" dirty="0">
                <a:solidFill>
                  <a:srgbClr val="996633"/>
                </a:solidFill>
              </a:rPr>
              <a:t>JSON</a:t>
            </a:r>
            <a:r>
              <a:rPr lang="en-GB" dirty="0"/>
              <a:t> documents.</a:t>
            </a:r>
          </a:p>
          <a:p>
            <a:r>
              <a:rPr lang="en-US" dirty="0">
                <a:solidFill>
                  <a:srgbClr val="996633"/>
                </a:solidFill>
              </a:rPr>
              <a:t>JSON</a:t>
            </a:r>
            <a:r>
              <a:rPr lang="en-US" dirty="0"/>
              <a:t> is built on two structures:</a:t>
            </a:r>
          </a:p>
          <a:p>
            <a:pPr lvl="1"/>
            <a:r>
              <a:rPr lang="en-US" dirty="0"/>
              <a:t>A collection of name/value pairs</a:t>
            </a:r>
          </a:p>
          <a:p>
            <a:pPr lvl="1"/>
            <a:r>
              <a:rPr lang="en-US" dirty="0"/>
              <a:t>An ordered list of values, such as an array</a:t>
            </a:r>
          </a:p>
          <a:p>
            <a:pPr lvl="1"/>
            <a:r>
              <a:rPr lang="en-GB" dirty="0"/>
              <a:t>See </a:t>
            </a:r>
            <a:r>
              <a:rPr lang="en-GB" dirty="0">
                <a:hlinkClick r:id="rId2"/>
              </a:rPr>
              <a:t>http://www.json.org/</a:t>
            </a:r>
            <a:r>
              <a:rPr lang="en-GB" dirty="0"/>
              <a:t> or </a:t>
            </a:r>
            <a:r>
              <a:rPr lang="en-GB" dirty="0">
                <a:hlinkClick r:id="rId3"/>
              </a:rPr>
              <a:t>http://bsonspec.org/</a:t>
            </a:r>
            <a:r>
              <a:rPr lang="en-GB" dirty="0"/>
              <a:t> for further details</a:t>
            </a:r>
          </a:p>
          <a:p>
            <a:r>
              <a:rPr lang="en-GB" dirty="0"/>
              <a:t>To add new data, involves the use of the INSERT command:</a:t>
            </a:r>
          </a:p>
          <a:p>
            <a:pPr marL="914400" lvl="2" indent="0">
              <a:buNone/>
            </a:pPr>
            <a:r>
              <a:rPr lang="en-GB" sz="2200" dirty="0" err="1">
                <a:solidFill>
                  <a:srgbClr val="0033CC"/>
                </a:solidFill>
              </a:rPr>
              <a:t>db.collectionName.insert</a:t>
            </a:r>
            <a:r>
              <a:rPr lang="en-GB" sz="2200" dirty="0">
                <a:solidFill>
                  <a:srgbClr val="0033CC"/>
                </a:solidFill>
              </a:rPr>
              <a:t>( { </a:t>
            </a:r>
          </a:p>
          <a:p>
            <a:pPr marL="914400" lvl="2" indent="0">
              <a:buNone/>
            </a:pPr>
            <a:r>
              <a:rPr lang="en-GB" sz="2200" dirty="0">
                <a:solidFill>
                  <a:srgbClr val="0033CC"/>
                </a:solidFill>
              </a:rPr>
              <a:t>	key1: 'value1', </a:t>
            </a:r>
          </a:p>
          <a:p>
            <a:pPr marL="914400" lvl="2" indent="0">
              <a:buNone/>
            </a:pPr>
            <a:r>
              <a:rPr lang="en-GB" sz="2200" dirty="0">
                <a:solidFill>
                  <a:srgbClr val="0033CC"/>
                </a:solidFill>
              </a:rPr>
              <a:t>	</a:t>
            </a:r>
            <a:r>
              <a:rPr lang="en-GB" sz="2200" dirty="0" err="1">
                <a:solidFill>
                  <a:srgbClr val="0033CC"/>
                </a:solidFill>
              </a:rPr>
              <a:t>keyN</a:t>
            </a:r>
            <a:r>
              <a:rPr lang="en-GB" sz="2200" dirty="0">
                <a:solidFill>
                  <a:srgbClr val="0033CC"/>
                </a:solidFill>
              </a:rPr>
              <a:t>: </a:t>
            </a:r>
            <a:r>
              <a:rPr lang="en-GB" sz="2200" dirty="0" err="1">
                <a:solidFill>
                  <a:srgbClr val="0033CC"/>
                </a:solidFill>
              </a:rPr>
              <a:t>valueN</a:t>
            </a:r>
            <a:r>
              <a:rPr lang="en-GB" sz="2200" dirty="0">
                <a:solidFill>
                  <a:srgbClr val="0033CC"/>
                </a:solidFill>
              </a:rPr>
              <a:t> } )</a:t>
            </a:r>
          </a:p>
          <a:p>
            <a:r>
              <a:rPr lang="en-GB" dirty="0"/>
              <a:t>This is similar to an INSERT statement in SQL, where the </a:t>
            </a:r>
            <a:r>
              <a:rPr lang="en-GB" dirty="0" err="1"/>
              <a:t>collectionName</a:t>
            </a:r>
            <a:r>
              <a:rPr lang="en-GB" dirty="0"/>
              <a:t> would be the table and the key is the column and the value is the data to be stored.</a:t>
            </a:r>
          </a:p>
          <a:p>
            <a:r>
              <a:rPr lang="en-GB" dirty="0"/>
              <a:t>For example (SQL):</a:t>
            </a:r>
          </a:p>
          <a:p>
            <a:pPr marL="457200" lvl="1" indent="0">
              <a:buNone/>
            </a:pPr>
            <a:r>
              <a:rPr lang="en-GB" dirty="0">
                <a:solidFill>
                  <a:srgbClr val="7030A0"/>
                </a:solidFill>
              </a:rPr>
              <a:t>INSERT into </a:t>
            </a:r>
            <a:r>
              <a:rPr lang="en-GB" dirty="0" err="1">
                <a:solidFill>
                  <a:srgbClr val="7030A0"/>
                </a:solidFill>
              </a:rPr>
              <a:t>collectionName</a:t>
            </a:r>
            <a:r>
              <a:rPr lang="en-GB" dirty="0">
                <a:solidFill>
                  <a:srgbClr val="7030A0"/>
                </a:solidFill>
              </a:rPr>
              <a:t> (key1, </a:t>
            </a:r>
            <a:r>
              <a:rPr lang="en-GB" dirty="0" err="1">
                <a:solidFill>
                  <a:srgbClr val="7030A0"/>
                </a:solidFill>
              </a:rPr>
              <a:t>keyN</a:t>
            </a:r>
            <a:r>
              <a:rPr lang="en-GB" dirty="0">
                <a:solidFill>
                  <a:srgbClr val="7030A0"/>
                </a:solidFill>
              </a:rPr>
              <a:t>)</a:t>
            </a:r>
          </a:p>
          <a:p>
            <a:pPr marL="457200" lvl="1" indent="0">
              <a:buNone/>
            </a:pPr>
            <a:r>
              <a:rPr lang="en-GB" dirty="0">
                <a:solidFill>
                  <a:srgbClr val="7030A0"/>
                </a:solidFill>
              </a:rPr>
              <a:t>VALUES (‘value1’, ‘</a:t>
            </a:r>
            <a:r>
              <a:rPr lang="en-GB" dirty="0" err="1">
                <a:solidFill>
                  <a:srgbClr val="7030A0"/>
                </a:solidFill>
              </a:rPr>
              <a:t>valueN</a:t>
            </a:r>
            <a:r>
              <a:rPr lang="en-GB" dirty="0">
                <a:solidFill>
                  <a:srgbClr val="7030A0"/>
                </a:solidFill>
              </a:rPr>
              <a:t>’);</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27</a:t>
            </a:fld>
            <a:endParaRPr lang="en-GB" dirty="0"/>
          </a:p>
        </p:txBody>
      </p:sp>
    </p:spTree>
    <p:extLst>
      <p:ext uri="{BB962C8B-B14F-4D97-AF65-F5344CB8AC3E}">
        <p14:creationId xmlns:p14="http://schemas.microsoft.com/office/powerpoint/2010/main" val="3057525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MongoDB – Documents</a:t>
            </a:r>
          </a:p>
        </p:txBody>
      </p:sp>
      <p:sp>
        <p:nvSpPr>
          <p:cNvPr id="3" name="Content Placeholder 2"/>
          <p:cNvSpPr>
            <a:spLocks noGrp="1"/>
          </p:cNvSpPr>
          <p:nvPr>
            <p:ph idx="1"/>
          </p:nvPr>
        </p:nvSpPr>
        <p:spPr/>
        <p:txBody>
          <a:bodyPr>
            <a:normAutofit/>
          </a:bodyPr>
          <a:lstStyle/>
          <a:p>
            <a:r>
              <a:rPr lang="en-GB" dirty="0"/>
              <a:t>Unlike the relational model, you do not need to define a schema in advance for our documents, with the equivalent of a CREATE TABLE statement.</a:t>
            </a:r>
          </a:p>
          <a:p>
            <a:r>
              <a:rPr lang="en-GB" dirty="0"/>
              <a:t>In fact the structure of the document can change from one document to another.</a:t>
            </a:r>
          </a:p>
          <a:p>
            <a:r>
              <a:rPr lang="en-GB" dirty="0"/>
              <a:t>This is why it is referred to as being schema-less.</a:t>
            </a:r>
          </a:p>
          <a:p>
            <a:r>
              <a:rPr lang="en-GB" dirty="0"/>
              <a:t>In reality, most collections would contain documents of a  similar type, e.g., a collection of student information.</a:t>
            </a:r>
          </a:p>
          <a:p>
            <a:endParaRPr lang="en-GB"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28</a:t>
            </a:fld>
            <a:endParaRPr lang="en-GB" dirty="0"/>
          </a:p>
        </p:txBody>
      </p:sp>
    </p:spTree>
    <p:extLst>
      <p:ext uri="{BB962C8B-B14F-4D97-AF65-F5344CB8AC3E}">
        <p14:creationId xmlns:p14="http://schemas.microsoft.com/office/powerpoint/2010/main" val="409599430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9680" y="0"/>
            <a:ext cx="9692640" cy="1325562"/>
          </a:xfrm>
        </p:spPr>
        <p:txBody>
          <a:bodyPr/>
          <a:lstStyle/>
          <a:p>
            <a:r>
              <a:rPr lang="en-GB" dirty="0"/>
              <a:t>Object Ids</a:t>
            </a:r>
          </a:p>
        </p:txBody>
      </p:sp>
      <p:sp>
        <p:nvSpPr>
          <p:cNvPr id="3" name="Content Placeholder 2"/>
          <p:cNvSpPr>
            <a:spLocks noGrp="1"/>
          </p:cNvSpPr>
          <p:nvPr>
            <p:ph idx="1"/>
          </p:nvPr>
        </p:nvSpPr>
        <p:spPr>
          <a:xfrm>
            <a:off x="1981200" y="1412776"/>
            <a:ext cx="8229600" cy="5292824"/>
          </a:xfrm>
        </p:spPr>
        <p:txBody>
          <a:bodyPr>
            <a:normAutofit/>
          </a:bodyPr>
          <a:lstStyle/>
          <a:p>
            <a:r>
              <a:rPr lang="en-GB" dirty="0"/>
              <a:t>MongoDB creates a unique object id for objects in the database.</a:t>
            </a:r>
          </a:p>
          <a:p>
            <a:r>
              <a:rPr lang="en-GB" dirty="0"/>
              <a:t>For example:</a:t>
            </a:r>
          </a:p>
          <a:p>
            <a:pPr marL="457200" lvl="1" indent="0">
              <a:buNone/>
            </a:pPr>
            <a:r>
              <a:rPr lang="en-GB" dirty="0" err="1">
                <a:solidFill>
                  <a:srgbClr val="0033CC"/>
                </a:solidFill>
              </a:rPr>
              <a:t>db.dept.find</a:t>
            </a:r>
            <a:r>
              <a:rPr lang="en-GB" dirty="0">
                <a:solidFill>
                  <a:srgbClr val="0033CC"/>
                </a:solidFill>
              </a:rPr>
              <a:t>().pretty()</a:t>
            </a:r>
          </a:p>
          <a:p>
            <a:r>
              <a:rPr lang="en-GB" dirty="0"/>
              <a:t>Will show an object id for each department document, along the lines of:</a:t>
            </a:r>
          </a:p>
          <a:p>
            <a:pPr marL="457200" lvl="1" indent="0">
              <a:buNone/>
            </a:pPr>
            <a:r>
              <a:rPr lang="en-GB" sz="2600" dirty="0"/>
              <a:t> </a:t>
            </a:r>
            <a:r>
              <a:rPr lang="en-GB" sz="2600" dirty="0">
                <a:solidFill>
                  <a:srgbClr val="0033CC"/>
                </a:solidFill>
              </a:rPr>
              <a:t>"_id" : </a:t>
            </a:r>
            <a:r>
              <a:rPr lang="en-GB" sz="2600" dirty="0" err="1">
                <a:solidFill>
                  <a:srgbClr val="0033CC"/>
                </a:solidFill>
              </a:rPr>
              <a:t>ObjectId</a:t>
            </a:r>
            <a:r>
              <a:rPr lang="en-GB" sz="2600" dirty="0">
                <a:solidFill>
                  <a:srgbClr val="0033CC"/>
                </a:solidFill>
              </a:rPr>
              <a:t>("58245944d6473dc2e8d23a26")</a:t>
            </a:r>
          </a:p>
          <a:p>
            <a:pPr lvl="1"/>
            <a:r>
              <a:rPr lang="en-GB" dirty="0"/>
              <a:t>See slide 19 for other examples</a:t>
            </a:r>
          </a:p>
          <a:p>
            <a:r>
              <a:rPr lang="en-GB" dirty="0"/>
              <a:t>This is a system generated, but you can define your own object ids too (like a primary key)</a:t>
            </a:r>
          </a:p>
          <a:p>
            <a:r>
              <a:rPr lang="en-GB" dirty="0"/>
              <a:t>For example:</a:t>
            </a:r>
          </a:p>
          <a:p>
            <a:pPr marL="457200" lvl="1" indent="0">
              <a:buNone/>
            </a:pPr>
            <a:r>
              <a:rPr lang="en-GB" dirty="0" err="1">
                <a:solidFill>
                  <a:srgbClr val="0033CC"/>
                </a:solidFill>
              </a:rPr>
              <a:t>db.projCollection.insert</a:t>
            </a:r>
            <a:r>
              <a:rPr lang="en-GB" dirty="0">
                <a:solidFill>
                  <a:srgbClr val="0033CC"/>
                </a:solidFill>
              </a:rPr>
              <a:t>( { </a:t>
            </a:r>
          </a:p>
          <a:p>
            <a:pPr marL="457200" lvl="1" indent="0">
              <a:buNone/>
            </a:pPr>
            <a:r>
              <a:rPr lang="en-GB" dirty="0">
                <a:solidFill>
                  <a:srgbClr val="0033CC"/>
                </a:solidFill>
              </a:rPr>
              <a:t>  _id: 10,</a:t>
            </a:r>
          </a:p>
          <a:p>
            <a:pPr marL="457200" lvl="1" indent="0">
              <a:buNone/>
            </a:pPr>
            <a:r>
              <a:rPr lang="en-GB" dirty="0">
                <a:solidFill>
                  <a:srgbClr val="0033CC"/>
                </a:solidFill>
              </a:rPr>
              <a:t>  </a:t>
            </a:r>
            <a:r>
              <a:rPr lang="en-GB" dirty="0" err="1">
                <a:solidFill>
                  <a:srgbClr val="0033CC"/>
                </a:solidFill>
              </a:rPr>
              <a:t>projno</a:t>
            </a:r>
            <a:r>
              <a:rPr lang="en-GB" dirty="0">
                <a:solidFill>
                  <a:srgbClr val="0033CC"/>
                </a:solidFill>
              </a:rPr>
              <a:t>: 110, </a:t>
            </a:r>
          </a:p>
          <a:p>
            <a:pPr marL="457200" lvl="1" indent="0">
              <a:buNone/>
            </a:pPr>
            <a:r>
              <a:rPr lang="en-GB" dirty="0">
                <a:solidFill>
                  <a:srgbClr val="0033CC"/>
                </a:solidFill>
              </a:rPr>
              <a:t>  </a:t>
            </a:r>
            <a:r>
              <a:rPr lang="en-GB" dirty="0" err="1">
                <a:solidFill>
                  <a:srgbClr val="0033CC"/>
                </a:solidFill>
              </a:rPr>
              <a:t>proj_name</a:t>
            </a:r>
            <a:r>
              <a:rPr lang="en-GB" dirty="0">
                <a:solidFill>
                  <a:srgbClr val="0033CC"/>
                </a:solidFill>
              </a:rPr>
              <a:t>: 'Oracle Project',</a:t>
            </a:r>
          </a:p>
          <a:p>
            <a:pPr marL="457200" lvl="1" indent="0">
              <a:buNone/>
            </a:pPr>
            <a:r>
              <a:rPr lang="en-GB" dirty="0">
                <a:solidFill>
                  <a:srgbClr val="0033CC"/>
                </a:solidFill>
              </a:rPr>
              <a:t>  budget: 10000  }  )</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29</a:t>
            </a:fld>
            <a:endParaRPr lang="en-GB" dirty="0"/>
          </a:p>
        </p:txBody>
      </p:sp>
      <p:sp>
        <p:nvSpPr>
          <p:cNvPr id="8" name="Rectangle 3"/>
          <p:cNvSpPr>
            <a:spLocks noChangeArrowheads="1"/>
          </p:cNvSpPr>
          <p:nvPr/>
        </p:nvSpPr>
        <p:spPr bwMode="auto">
          <a:xfrm>
            <a:off x="6240016" y="4609349"/>
            <a:ext cx="4197152" cy="1446550"/>
          </a:xfrm>
          <a:prstGeom prst="rect">
            <a:avLst/>
          </a:prstGeom>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2200" dirty="0" err="1">
                <a:solidFill>
                  <a:srgbClr val="7030A0"/>
                </a:solidFill>
                <a:latin typeface="Tahoma" panose="020B0604030504040204" pitchFamily="34" charset="0"/>
                <a:ea typeface="Tahoma" panose="020B0604030504040204" pitchFamily="34" charset="0"/>
                <a:cs typeface="Tahoma" panose="020B0604030504040204" pitchFamily="34" charset="0"/>
              </a:rPr>
              <a:t>db.projCollection.insert</a:t>
            </a:r>
            <a:r>
              <a:rPr lang="en-US" altLang="en-US" sz="2200" dirty="0">
                <a:solidFill>
                  <a:srgbClr val="7030A0"/>
                </a:solidFill>
                <a:latin typeface="Tahoma" panose="020B0604030504040204" pitchFamily="34" charset="0"/>
                <a:ea typeface="Tahoma" panose="020B0604030504040204" pitchFamily="34" charset="0"/>
                <a:cs typeface="Tahoma" panose="020B0604030504040204" pitchFamily="34" charset="0"/>
              </a:rPr>
              <a:t>( {</a:t>
            </a:r>
          </a:p>
          <a:p>
            <a:pPr eaLnBrk="0" fontAlgn="base" hangingPunct="0">
              <a:spcBef>
                <a:spcPct val="0"/>
              </a:spcBef>
              <a:spcAft>
                <a:spcPct val="0"/>
              </a:spcAft>
            </a:pPr>
            <a:r>
              <a:rPr lang="en-US" altLang="en-US" sz="2200" dirty="0">
                <a:solidFill>
                  <a:srgbClr val="7030A0"/>
                </a:solidFill>
                <a:latin typeface="Tahoma" panose="020B0604030504040204" pitchFamily="34" charset="0"/>
                <a:ea typeface="Tahoma" panose="020B0604030504040204" pitchFamily="34" charset="0"/>
                <a:cs typeface="Tahoma" panose="020B0604030504040204" pitchFamily="34" charset="0"/>
              </a:rPr>
              <a:t> </a:t>
            </a:r>
            <a:r>
              <a:rPr lang="en-US" altLang="en-US" sz="2200" dirty="0" err="1">
                <a:solidFill>
                  <a:srgbClr val="7030A0"/>
                </a:solidFill>
                <a:latin typeface="Tahoma" panose="020B0604030504040204" pitchFamily="34" charset="0"/>
                <a:ea typeface="Tahoma" panose="020B0604030504040204" pitchFamily="34" charset="0"/>
                <a:cs typeface="Tahoma" panose="020B0604030504040204" pitchFamily="34" charset="0"/>
              </a:rPr>
              <a:t>projno</a:t>
            </a:r>
            <a:r>
              <a:rPr lang="en-US" altLang="en-US" sz="2200" dirty="0">
                <a:solidFill>
                  <a:srgbClr val="7030A0"/>
                </a:solidFill>
                <a:latin typeface="Tahoma" panose="020B0604030504040204" pitchFamily="34" charset="0"/>
                <a:ea typeface="Tahoma" panose="020B0604030504040204" pitchFamily="34" charset="0"/>
                <a:cs typeface="Tahoma" panose="020B0604030504040204" pitchFamily="34" charset="0"/>
              </a:rPr>
              <a:t>: 140, </a:t>
            </a:r>
          </a:p>
          <a:p>
            <a:pPr eaLnBrk="0" fontAlgn="base" hangingPunct="0">
              <a:spcBef>
                <a:spcPct val="0"/>
              </a:spcBef>
              <a:spcAft>
                <a:spcPct val="0"/>
              </a:spcAft>
            </a:pPr>
            <a:r>
              <a:rPr lang="en-US" altLang="en-US" sz="2200" dirty="0">
                <a:solidFill>
                  <a:srgbClr val="7030A0"/>
                </a:solidFill>
                <a:latin typeface="Tahoma" panose="020B0604030504040204" pitchFamily="34" charset="0"/>
                <a:ea typeface="Tahoma" panose="020B0604030504040204" pitchFamily="34" charset="0"/>
                <a:cs typeface="Tahoma" panose="020B0604030504040204" pitchFamily="34" charset="0"/>
              </a:rPr>
              <a:t> </a:t>
            </a:r>
            <a:r>
              <a:rPr lang="en-US" altLang="en-US" sz="2200" dirty="0" err="1">
                <a:solidFill>
                  <a:srgbClr val="7030A0"/>
                </a:solidFill>
                <a:latin typeface="Tahoma" panose="020B0604030504040204" pitchFamily="34" charset="0"/>
                <a:ea typeface="Tahoma" panose="020B0604030504040204" pitchFamily="34" charset="0"/>
                <a:cs typeface="Tahoma" panose="020B0604030504040204" pitchFamily="34" charset="0"/>
              </a:rPr>
              <a:t>proj_name</a:t>
            </a:r>
            <a:r>
              <a:rPr lang="en-US" altLang="en-US" sz="2200" dirty="0">
                <a:solidFill>
                  <a:srgbClr val="7030A0"/>
                </a:solidFill>
                <a:latin typeface="Tahoma" panose="020B0604030504040204" pitchFamily="34" charset="0"/>
                <a:ea typeface="Tahoma" panose="020B0604030504040204" pitchFamily="34" charset="0"/>
                <a:cs typeface="Tahoma" panose="020B0604030504040204" pitchFamily="34" charset="0"/>
              </a:rPr>
              <a:t>: '</a:t>
            </a:r>
            <a:r>
              <a:rPr lang="en-US" altLang="en-US" sz="2200" dirty="0" err="1">
                <a:solidFill>
                  <a:srgbClr val="7030A0"/>
                </a:solidFill>
                <a:latin typeface="Tahoma" panose="020B0604030504040204" pitchFamily="34" charset="0"/>
                <a:ea typeface="Tahoma" panose="020B0604030504040204" pitchFamily="34" charset="0"/>
                <a:cs typeface="Tahoma" panose="020B0604030504040204" pitchFamily="34" charset="0"/>
              </a:rPr>
              <a:t>ObjectId</a:t>
            </a:r>
            <a:r>
              <a:rPr lang="en-US" altLang="en-US" sz="2200" dirty="0">
                <a:solidFill>
                  <a:srgbClr val="7030A0"/>
                </a:solidFill>
                <a:latin typeface="Tahoma" panose="020B0604030504040204" pitchFamily="34" charset="0"/>
                <a:ea typeface="Tahoma" panose="020B0604030504040204" pitchFamily="34" charset="0"/>
                <a:cs typeface="Tahoma" panose="020B0604030504040204" pitchFamily="34" charset="0"/>
              </a:rPr>
              <a:t> Project', </a:t>
            </a:r>
          </a:p>
          <a:p>
            <a:pPr eaLnBrk="0" fontAlgn="base" hangingPunct="0">
              <a:spcBef>
                <a:spcPct val="0"/>
              </a:spcBef>
              <a:spcAft>
                <a:spcPct val="0"/>
              </a:spcAft>
            </a:pPr>
            <a:r>
              <a:rPr lang="en-US" altLang="en-US" sz="2200" dirty="0">
                <a:solidFill>
                  <a:srgbClr val="7030A0"/>
                </a:solidFill>
                <a:latin typeface="Tahoma" panose="020B0604030504040204" pitchFamily="34" charset="0"/>
                <a:ea typeface="Tahoma" panose="020B0604030504040204" pitchFamily="34" charset="0"/>
                <a:cs typeface="Tahoma" panose="020B0604030504040204" pitchFamily="34" charset="0"/>
              </a:rPr>
              <a:t> budget: 25000 } ) </a:t>
            </a:r>
          </a:p>
        </p:txBody>
      </p:sp>
      <p:sp>
        <p:nvSpPr>
          <p:cNvPr id="9" name="Line Callout 2 8"/>
          <p:cNvSpPr/>
          <p:nvPr/>
        </p:nvSpPr>
        <p:spPr bwMode="auto">
          <a:xfrm>
            <a:off x="8327431" y="6246951"/>
            <a:ext cx="2221904" cy="540296"/>
          </a:xfrm>
          <a:prstGeom prst="borderCallout2">
            <a:avLst>
              <a:gd name="adj1" fmla="val 62204"/>
              <a:gd name="adj2" fmla="val -2772"/>
              <a:gd name="adj3" fmla="val 25611"/>
              <a:gd name="adj4" fmla="val -17779"/>
              <a:gd name="adj5" fmla="val -17861"/>
              <a:gd name="adj6" fmla="val -40549"/>
            </a:avLst>
          </a:prstGeom>
          <a:solidFill>
            <a:schemeClr val="accent1"/>
          </a:solidFill>
          <a:ln w="127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t" anchorCtr="0" compatLnSpc="1">
            <a:prstTxWarp prst="textNoShape">
              <a:avLst/>
            </a:prstTxWarp>
          </a:bodyPr>
          <a:lstStyle/>
          <a:p>
            <a:pPr fontAlgn="base">
              <a:spcBef>
                <a:spcPct val="0"/>
              </a:spcBef>
              <a:spcAft>
                <a:spcPct val="0"/>
              </a:spcAft>
            </a:pPr>
            <a:r>
              <a:rPr lang="en-GB" sz="1600" dirty="0">
                <a:latin typeface="Arial" charset="0"/>
              </a:rPr>
              <a:t>Or omitting an _id generates a system id</a:t>
            </a:r>
          </a:p>
        </p:txBody>
      </p:sp>
    </p:spTree>
    <p:extLst>
      <p:ext uri="{BB962C8B-B14F-4D97-AF65-F5344CB8AC3E}">
        <p14:creationId xmlns:p14="http://schemas.microsoft.com/office/powerpoint/2010/main" val="1935061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457202"/>
            <a:ext cx="8229600" cy="595535"/>
          </a:xfrm>
        </p:spPr>
        <p:txBody>
          <a:bodyPr>
            <a:normAutofit fontScale="90000"/>
          </a:bodyPr>
          <a:lstStyle/>
          <a:p>
            <a:r>
              <a:rPr lang="en-GB" dirty="0"/>
              <a:t>DEPT/EMP schema</a:t>
            </a:r>
          </a:p>
        </p:txBody>
      </p:sp>
      <p:sp>
        <p:nvSpPr>
          <p:cNvPr id="3" name="Content Placeholder 2"/>
          <p:cNvSpPr>
            <a:spLocks noGrp="1"/>
          </p:cNvSpPr>
          <p:nvPr>
            <p:ph idx="1"/>
          </p:nvPr>
        </p:nvSpPr>
        <p:spPr>
          <a:xfrm>
            <a:off x="1919536" y="1196752"/>
            <a:ext cx="8229600" cy="504056"/>
          </a:xfrm>
        </p:spPr>
        <p:txBody>
          <a:bodyPr>
            <a:normAutofit/>
          </a:bodyPr>
          <a:lstStyle/>
          <a:p>
            <a:r>
              <a:rPr lang="en-GB" dirty="0"/>
              <a:t>Taking our DEPT/EMP scenario:</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30</a:t>
            </a:fld>
            <a:endParaRPr lang="en-GB" dirty="0"/>
          </a:p>
        </p:txBody>
      </p:sp>
      <p:sp>
        <p:nvSpPr>
          <p:cNvPr id="6" name="Content Placeholder 2"/>
          <p:cNvSpPr txBox="1">
            <a:spLocks/>
          </p:cNvSpPr>
          <p:nvPr/>
        </p:nvSpPr>
        <p:spPr bwMode="auto">
          <a:xfrm>
            <a:off x="2133600" y="3068961"/>
            <a:ext cx="8229600" cy="35643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a:bodyPr>
          <a:lstStyle>
            <a:lvl1pPr marL="342900" indent="-342900" algn="l" rtl="0" fontAlgn="base">
              <a:spcBef>
                <a:spcPct val="20000"/>
              </a:spcBef>
              <a:spcAft>
                <a:spcPct val="0"/>
              </a:spcAft>
              <a:buClr>
                <a:schemeClr val="bg2"/>
              </a:buClr>
              <a:buSzPct val="75000"/>
              <a:buFont typeface="Wingdings" pitchFamily="2" charset="2"/>
              <a:buChar char="n"/>
              <a:defRPr sz="3200">
                <a:solidFill>
                  <a:schemeClr val="tx1"/>
                </a:solidFill>
                <a:latin typeface="+mn-lt"/>
                <a:ea typeface="+mn-ea"/>
                <a:cs typeface="+mn-cs"/>
              </a:defRPr>
            </a:lvl1pPr>
            <a:lvl2pPr marL="742950" indent="-285750" algn="l" rtl="0" fontAlgn="base">
              <a:spcBef>
                <a:spcPct val="20000"/>
              </a:spcBef>
              <a:spcAft>
                <a:spcPct val="0"/>
              </a:spcAft>
              <a:buClr>
                <a:schemeClr val="accent2"/>
              </a:buClr>
              <a:buSzPct val="80000"/>
              <a:buFont typeface="Wingdings" pitchFamily="2" charset="2"/>
              <a:buChar char="¨"/>
              <a:defRPr sz="2800">
                <a:solidFill>
                  <a:schemeClr val="tx1"/>
                </a:solidFill>
                <a:latin typeface="+mn-lt"/>
              </a:defRPr>
            </a:lvl2pPr>
            <a:lvl3pPr marL="1143000" indent="-228600" algn="l" rtl="0" fontAlgn="base">
              <a:spcBef>
                <a:spcPct val="20000"/>
              </a:spcBef>
              <a:spcAft>
                <a:spcPct val="0"/>
              </a:spcAft>
              <a:buClr>
                <a:schemeClr val="bg2"/>
              </a:buClr>
              <a:buSzPct val="65000"/>
              <a:buFont typeface="Wingdings" pitchFamily="2" charset="2"/>
              <a:buChar char="n"/>
              <a:defRPr sz="2400">
                <a:solidFill>
                  <a:schemeClr val="tx1"/>
                </a:solidFill>
                <a:latin typeface="+mn-lt"/>
              </a:defRPr>
            </a:lvl3pPr>
            <a:lvl4pPr marL="1600200" indent="-228600" algn="l" rtl="0" fontAlgn="base">
              <a:spcBef>
                <a:spcPct val="20000"/>
              </a:spcBef>
              <a:spcAft>
                <a:spcPct val="0"/>
              </a:spcAft>
              <a:buClr>
                <a:schemeClr val="accent2"/>
              </a:buClr>
              <a:buSzPct val="70000"/>
              <a:buFont typeface="Wingdings" pitchFamily="2" charset="2"/>
              <a:buChar char="¨"/>
              <a:defRPr sz="2000">
                <a:solidFill>
                  <a:schemeClr val="tx1"/>
                </a:solidFill>
                <a:latin typeface="+mn-lt"/>
              </a:defRPr>
            </a:lvl4pPr>
            <a:lvl5pPr marL="20574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5pPr>
            <a:lvl6pPr marL="25146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6pPr>
            <a:lvl7pPr marL="29718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7pPr>
            <a:lvl8pPr marL="34290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8pPr>
            <a:lvl9pPr marL="3886200" indent="-228600" algn="l" rtl="0" fontAlgn="base">
              <a:spcBef>
                <a:spcPct val="20000"/>
              </a:spcBef>
              <a:spcAft>
                <a:spcPct val="0"/>
              </a:spcAft>
              <a:buClr>
                <a:schemeClr val="bg2"/>
              </a:buClr>
              <a:buFont typeface="Wingdings" pitchFamily="2" charset="2"/>
              <a:buChar char="§"/>
              <a:defRPr sz="2000">
                <a:solidFill>
                  <a:schemeClr val="tx1"/>
                </a:solidFill>
                <a:latin typeface="+mn-lt"/>
              </a:defRPr>
            </a:lvl9pPr>
          </a:lstStyle>
          <a:p>
            <a:endParaRPr lang="en-GB" sz="2600" kern="0"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5064" y="1536774"/>
            <a:ext cx="5581120" cy="2128767"/>
          </a:xfrm>
          <a:prstGeom prst="rect">
            <a:avLst/>
          </a:prstGeom>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9537" y="4426263"/>
            <a:ext cx="2619375" cy="168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74925" y="3599326"/>
            <a:ext cx="1009650" cy="342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84575" y="3597792"/>
            <a:ext cx="5364088" cy="32354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Rectangle 7"/>
          <p:cNvSpPr/>
          <p:nvPr/>
        </p:nvSpPr>
        <p:spPr>
          <a:xfrm>
            <a:off x="1919536" y="3413126"/>
            <a:ext cx="1856320" cy="523220"/>
          </a:xfrm>
          <a:prstGeom prst="rect">
            <a:avLst/>
          </a:prstGeom>
        </p:spPr>
        <p:txBody>
          <a:bodyPr wrap="square">
            <a:spAutoFit/>
          </a:bodyPr>
          <a:lstStyle/>
          <a:p>
            <a:r>
              <a:rPr lang="en-GB" sz="2800" dirty="0"/>
              <a:t>and data</a:t>
            </a:r>
            <a:r>
              <a:rPr lang="en-GB" sz="2400" dirty="0"/>
              <a:t>:</a:t>
            </a:r>
          </a:p>
        </p:txBody>
      </p:sp>
    </p:spTree>
    <p:extLst>
      <p:ext uri="{BB962C8B-B14F-4D97-AF65-F5344CB8AC3E}">
        <p14:creationId xmlns:p14="http://schemas.microsoft.com/office/powerpoint/2010/main" val="13476358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61560" y="-10806"/>
            <a:ext cx="8229600" cy="659378"/>
          </a:xfrm>
        </p:spPr>
        <p:txBody>
          <a:bodyPr>
            <a:normAutofit fontScale="90000"/>
          </a:bodyPr>
          <a:lstStyle/>
          <a:p>
            <a:r>
              <a:rPr lang="en-GB" dirty="0"/>
              <a:t>Collection Example: </a:t>
            </a:r>
            <a:r>
              <a:rPr lang="en-GB" dirty="0" err="1"/>
              <a:t>Dept</a:t>
            </a:r>
            <a:endParaRPr lang="en-GB" dirty="0"/>
          </a:p>
        </p:txBody>
      </p:sp>
      <p:sp>
        <p:nvSpPr>
          <p:cNvPr id="3" name="Content Placeholder 2"/>
          <p:cNvSpPr>
            <a:spLocks noGrp="1"/>
          </p:cNvSpPr>
          <p:nvPr>
            <p:ph sz="half" idx="1"/>
          </p:nvPr>
        </p:nvSpPr>
        <p:spPr/>
        <p:txBody>
          <a:bodyPr>
            <a:normAutofit lnSpcReduction="10000"/>
          </a:bodyPr>
          <a:lstStyle/>
          <a:p>
            <a:endParaRPr lang="en-GB" dirty="0"/>
          </a:p>
          <a:p>
            <a:endParaRPr lang="en-GB" dirty="0"/>
          </a:p>
          <a:p>
            <a:endParaRPr lang="en-GB" dirty="0"/>
          </a:p>
        </p:txBody>
      </p:sp>
      <p:sp>
        <p:nvSpPr>
          <p:cNvPr id="6" name="Content Placeholder 5"/>
          <p:cNvSpPr>
            <a:spLocks noGrp="1"/>
          </p:cNvSpPr>
          <p:nvPr>
            <p:ph sz="half" idx="2"/>
          </p:nvPr>
        </p:nvSpPr>
        <p:spPr>
          <a:xfrm>
            <a:off x="1717507" y="1187223"/>
            <a:ext cx="7200800" cy="5482137"/>
          </a:xfrm>
        </p:spPr>
        <p:txBody>
          <a:bodyPr>
            <a:normAutofit lnSpcReduction="10000"/>
          </a:bodyPr>
          <a:lstStyle/>
          <a:p>
            <a:r>
              <a:rPr lang="en-GB" sz="2600" dirty="0"/>
              <a:t>To create the equivalent of our </a:t>
            </a:r>
            <a:r>
              <a:rPr lang="en-GB" sz="2600" dirty="0" err="1"/>
              <a:t>Dept</a:t>
            </a:r>
            <a:r>
              <a:rPr lang="en-GB" sz="2600" dirty="0"/>
              <a:t> table:</a:t>
            </a:r>
          </a:p>
          <a:p>
            <a:pPr marL="914400" lvl="2" indent="0">
              <a:buNone/>
            </a:pPr>
            <a:r>
              <a:rPr lang="en-GB" sz="2400" dirty="0" err="1">
                <a:solidFill>
                  <a:srgbClr val="0033CC"/>
                </a:solidFill>
              </a:rPr>
              <a:t>db.dept.insert</a:t>
            </a:r>
            <a:r>
              <a:rPr lang="en-GB" sz="2400" dirty="0">
                <a:solidFill>
                  <a:srgbClr val="0033CC"/>
                </a:solidFill>
              </a:rPr>
              <a:t>( [ </a:t>
            </a:r>
          </a:p>
          <a:p>
            <a:pPr marL="914400" lvl="2" indent="0">
              <a:buNone/>
            </a:pPr>
            <a:r>
              <a:rPr lang="en-GB" sz="2400" dirty="0">
                <a:solidFill>
                  <a:srgbClr val="0033CC"/>
                </a:solidFill>
              </a:rPr>
              <a:t>{</a:t>
            </a:r>
          </a:p>
          <a:p>
            <a:pPr marL="914400" lvl="2" indent="0">
              <a:buNone/>
            </a:pPr>
            <a:r>
              <a:rPr lang="en-GB" sz="2400" dirty="0">
                <a:solidFill>
                  <a:srgbClr val="0033CC"/>
                </a:solidFill>
              </a:rPr>
              <a:t>	_id:		10,</a:t>
            </a:r>
          </a:p>
          <a:p>
            <a:pPr marL="914400" lvl="2" indent="0">
              <a:buNone/>
            </a:pPr>
            <a:r>
              <a:rPr lang="en-GB" sz="2400" dirty="0">
                <a:solidFill>
                  <a:srgbClr val="0033CC"/>
                </a:solidFill>
              </a:rPr>
              <a:t>	</a:t>
            </a:r>
            <a:r>
              <a:rPr lang="en-GB" sz="2400" dirty="0" err="1">
                <a:solidFill>
                  <a:srgbClr val="0033CC"/>
                </a:solidFill>
              </a:rPr>
              <a:t>deptno</a:t>
            </a:r>
            <a:r>
              <a:rPr lang="en-GB" sz="2400" dirty="0">
                <a:solidFill>
                  <a:srgbClr val="0033CC"/>
                </a:solidFill>
              </a:rPr>
              <a:t>:	10,</a:t>
            </a:r>
          </a:p>
          <a:p>
            <a:pPr marL="914400" lvl="2" indent="0">
              <a:buNone/>
            </a:pPr>
            <a:r>
              <a:rPr lang="en-GB" sz="2400" dirty="0">
                <a:solidFill>
                  <a:srgbClr val="0033CC"/>
                </a:solidFill>
              </a:rPr>
              <a:t>	</a:t>
            </a:r>
            <a:r>
              <a:rPr lang="en-GB" sz="2400" dirty="0" err="1">
                <a:solidFill>
                  <a:srgbClr val="0033CC"/>
                </a:solidFill>
              </a:rPr>
              <a:t>dname</a:t>
            </a:r>
            <a:r>
              <a:rPr lang="en-GB" sz="2400" dirty="0">
                <a:solidFill>
                  <a:srgbClr val="0033CC"/>
                </a:solidFill>
              </a:rPr>
              <a:t>:	"ACCOUNTING",</a:t>
            </a:r>
          </a:p>
          <a:p>
            <a:pPr marL="914400" lvl="2" indent="0">
              <a:buNone/>
            </a:pPr>
            <a:r>
              <a:rPr lang="en-GB" sz="2400" dirty="0">
                <a:solidFill>
                  <a:srgbClr val="0033CC"/>
                </a:solidFill>
              </a:rPr>
              <a:t>	</a:t>
            </a:r>
            <a:r>
              <a:rPr lang="en-GB" sz="2400" dirty="0" err="1">
                <a:solidFill>
                  <a:srgbClr val="0033CC"/>
                </a:solidFill>
              </a:rPr>
              <a:t>loc</a:t>
            </a:r>
            <a:r>
              <a:rPr lang="en-GB" sz="2400" dirty="0">
                <a:solidFill>
                  <a:srgbClr val="0033CC"/>
                </a:solidFill>
              </a:rPr>
              <a:t>:		"NEW YORK"</a:t>
            </a:r>
          </a:p>
          <a:p>
            <a:pPr marL="914400" lvl="2" indent="0">
              <a:buNone/>
            </a:pPr>
            <a:r>
              <a:rPr lang="en-GB" sz="2400" dirty="0">
                <a:solidFill>
                  <a:srgbClr val="0033CC"/>
                </a:solidFill>
              </a:rPr>
              <a:t>} ,</a:t>
            </a:r>
          </a:p>
          <a:p>
            <a:pPr marL="914400" lvl="2" indent="0">
              <a:buNone/>
            </a:pPr>
            <a:r>
              <a:rPr lang="en-GB" sz="2400" dirty="0">
                <a:solidFill>
                  <a:srgbClr val="0033CC"/>
                </a:solidFill>
              </a:rPr>
              <a:t>{</a:t>
            </a:r>
          </a:p>
          <a:p>
            <a:pPr marL="914400" lvl="2" indent="0">
              <a:buNone/>
            </a:pPr>
            <a:r>
              <a:rPr lang="en-GB" sz="2400" dirty="0">
                <a:solidFill>
                  <a:srgbClr val="0033CC"/>
                </a:solidFill>
              </a:rPr>
              <a:t>	_id:		20,</a:t>
            </a:r>
          </a:p>
          <a:p>
            <a:pPr marL="914400" lvl="2" indent="0">
              <a:buNone/>
            </a:pPr>
            <a:r>
              <a:rPr lang="en-GB" sz="2400" dirty="0">
                <a:solidFill>
                  <a:srgbClr val="0033CC"/>
                </a:solidFill>
              </a:rPr>
              <a:t>	</a:t>
            </a:r>
            <a:r>
              <a:rPr lang="en-GB" sz="2400" dirty="0" err="1">
                <a:solidFill>
                  <a:srgbClr val="0033CC"/>
                </a:solidFill>
              </a:rPr>
              <a:t>deptno</a:t>
            </a:r>
            <a:r>
              <a:rPr lang="en-GB" sz="2400" dirty="0">
                <a:solidFill>
                  <a:srgbClr val="0033CC"/>
                </a:solidFill>
              </a:rPr>
              <a:t>:	20,</a:t>
            </a:r>
          </a:p>
          <a:p>
            <a:pPr marL="914400" lvl="2" indent="0">
              <a:buNone/>
            </a:pPr>
            <a:r>
              <a:rPr lang="en-GB" sz="2400" dirty="0">
                <a:solidFill>
                  <a:srgbClr val="0033CC"/>
                </a:solidFill>
              </a:rPr>
              <a:t>	</a:t>
            </a:r>
            <a:r>
              <a:rPr lang="en-GB" sz="2400" dirty="0" err="1">
                <a:solidFill>
                  <a:srgbClr val="0033CC"/>
                </a:solidFill>
              </a:rPr>
              <a:t>dname</a:t>
            </a:r>
            <a:r>
              <a:rPr lang="en-GB" sz="2400" dirty="0">
                <a:solidFill>
                  <a:srgbClr val="0033CC"/>
                </a:solidFill>
              </a:rPr>
              <a:t>:	"RESEARCH",</a:t>
            </a:r>
          </a:p>
          <a:p>
            <a:pPr marL="914400" lvl="2" indent="0">
              <a:buNone/>
            </a:pPr>
            <a:r>
              <a:rPr lang="en-GB" sz="2400" dirty="0">
                <a:solidFill>
                  <a:srgbClr val="0033CC"/>
                </a:solidFill>
              </a:rPr>
              <a:t>        	</a:t>
            </a:r>
            <a:r>
              <a:rPr lang="en-GB" sz="2400" dirty="0" err="1">
                <a:solidFill>
                  <a:srgbClr val="0033CC"/>
                </a:solidFill>
              </a:rPr>
              <a:t>loc</a:t>
            </a:r>
            <a:r>
              <a:rPr lang="en-GB" sz="2400" dirty="0">
                <a:solidFill>
                  <a:srgbClr val="0033CC"/>
                </a:solidFill>
              </a:rPr>
              <a:t>:   		"DALLAS"</a:t>
            </a:r>
          </a:p>
          <a:p>
            <a:pPr marL="914400" lvl="2" indent="0">
              <a:buNone/>
            </a:pPr>
            <a:r>
              <a:rPr lang="en-GB" sz="2400" dirty="0">
                <a:solidFill>
                  <a:srgbClr val="0033CC"/>
                </a:solidFill>
              </a:rPr>
              <a:t>] })</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31</a:t>
            </a:fld>
            <a:endParaRPr lang="en-GB" dirty="0"/>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68208" y="2842717"/>
            <a:ext cx="2619375" cy="1685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ectangular Callout 6"/>
          <p:cNvSpPr/>
          <p:nvPr/>
        </p:nvSpPr>
        <p:spPr>
          <a:xfrm>
            <a:off x="8197775" y="5866943"/>
            <a:ext cx="2160240" cy="802417"/>
          </a:xfrm>
          <a:prstGeom prst="wedgeRectCallout">
            <a:avLst>
              <a:gd name="adj1" fmla="val -91059"/>
              <a:gd name="adj2" fmla="val -50369"/>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GB" sz="1600" dirty="0"/>
              <a:t>Character data must be in double quotes</a:t>
            </a:r>
          </a:p>
        </p:txBody>
      </p:sp>
      <p:sp>
        <p:nvSpPr>
          <p:cNvPr id="8" name="Line Callout 1 7"/>
          <p:cNvSpPr/>
          <p:nvPr/>
        </p:nvSpPr>
        <p:spPr>
          <a:xfrm>
            <a:off x="1703512" y="2420888"/>
            <a:ext cx="1080120" cy="648072"/>
          </a:xfrm>
          <a:prstGeom prst="borderCallout1">
            <a:avLst>
              <a:gd name="adj1" fmla="val 11878"/>
              <a:gd name="adj2" fmla="val 104399"/>
              <a:gd name="adj3" fmla="val 19585"/>
              <a:gd name="adj4" fmla="val 167086"/>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600" dirty="0"/>
              <a:t>Object identifier</a:t>
            </a:r>
          </a:p>
        </p:txBody>
      </p:sp>
      <p:sp>
        <p:nvSpPr>
          <p:cNvPr id="9" name="Line Callout 1 8"/>
          <p:cNvSpPr/>
          <p:nvPr/>
        </p:nvSpPr>
        <p:spPr>
          <a:xfrm>
            <a:off x="6731728" y="1657184"/>
            <a:ext cx="2421185" cy="612808"/>
          </a:xfrm>
          <a:prstGeom prst="borderCallout1">
            <a:avLst>
              <a:gd name="adj1" fmla="val 41993"/>
              <a:gd name="adj2" fmla="val -17066"/>
              <a:gd name="adj3" fmla="val 36409"/>
              <a:gd name="adj4" fmla="val -69523"/>
            </a:avLst>
          </a:prstGeom>
          <a:solidFill>
            <a:schemeClr val="accent2">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400" dirty="0"/>
              <a:t>Use square brackets to add more than one record</a:t>
            </a:r>
          </a:p>
        </p:txBody>
      </p:sp>
    </p:spTree>
    <p:extLst>
      <p:ext uri="{BB962C8B-B14F-4D97-AF65-F5344CB8AC3E}">
        <p14:creationId xmlns:p14="http://schemas.microsoft.com/office/powerpoint/2010/main" val="417785888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1374414" y="0"/>
            <a:ext cx="9692640" cy="914400"/>
          </a:xfrm>
        </p:spPr>
        <p:txBody>
          <a:bodyPr/>
          <a:lstStyle/>
          <a:p>
            <a:r>
              <a:rPr lang="en-GB" dirty="0"/>
              <a:t>Collection Example: </a:t>
            </a:r>
            <a:r>
              <a:rPr lang="en-GB" dirty="0" err="1"/>
              <a:t>Emp</a:t>
            </a:r>
            <a:endParaRPr lang="en-GB" dirty="0"/>
          </a:p>
        </p:txBody>
      </p:sp>
      <p:sp>
        <p:nvSpPr>
          <p:cNvPr id="7" name="Content Placeholder 6"/>
          <p:cNvSpPr>
            <a:spLocks noGrp="1"/>
          </p:cNvSpPr>
          <p:nvPr>
            <p:ph idx="1"/>
          </p:nvPr>
        </p:nvSpPr>
        <p:spPr>
          <a:xfrm>
            <a:off x="1981200" y="1412776"/>
            <a:ext cx="8229600" cy="5184576"/>
          </a:xfrm>
        </p:spPr>
        <p:txBody>
          <a:bodyPr>
            <a:normAutofit fontScale="40000" lnSpcReduction="20000"/>
          </a:bodyPr>
          <a:lstStyle/>
          <a:p>
            <a:pPr marL="0" indent="0">
              <a:buNone/>
            </a:pPr>
            <a:r>
              <a:rPr lang="en-GB" sz="4200" dirty="0"/>
              <a:t>Add some employees:</a:t>
            </a:r>
          </a:p>
          <a:p>
            <a:endParaRPr lang="en-GB" sz="2900" dirty="0"/>
          </a:p>
          <a:p>
            <a:pPr marL="274320" lvl="1" indent="0">
              <a:buNone/>
            </a:pPr>
            <a:r>
              <a:rPr lang="en-GB" sz="2900" dirty="0" err="1">
                <a:solidFill>
                  <a:srgbClr val="0033CC"/>
                </a:solidFill>
              </a:rPr>
              <a:t>db.emp.insert</a:t>
            </a:r>
            <a:r>
              <a:rPr lang="en-GB" sz="2900" dirty="0">
                <a:solidFill>
                  <a:srgbClr val="0033CC"/>
                </a:solidFill>
              </a:rPr>
              <a:t>( [</a:t>
            </a:r>
          </a:p>
          <a:p>
            <a:pPr marL="274320" lvl="1" indent="0">
              <a:buNone/>
            </a:pPr>
            <a:r>
              <a:rPr lang="en-GB" sz="2900" dirty="0">
                <a:solidFill>
                  <a:srgbClr val="0033CC"/>
                </a:solidFill>
              </a:rPr>
              <a:t>{</a:t>
            </a:r>
          </a:p>
          <a:p>
            <a:pPr marL="274320" lvl="1" indent="0">
              <a:buNone/>
            </a:pPr>
            <a:r>
              <a:rPr lang="en-GB" sz="2900" dirty="0">
                <a:solidFill>
                  <a:srgbClr val="0033CC"/>
                </a:solidFill>
              </a:rPr>
              <a:t>	</a:t>
            </a:r>
            <a:r>
              <a:rPr lang="en-GB" sz="2900" dirty="0" err="1">
                <a:solidFill>
                  <a:srgbClr val="0033CC"/>
                </a:solidFill>
              </a:rPr>
              <a:t>empno</a:t>
            </a:r>
            <a:r>
              <a:rPr lang="en-GB" sz="2900" dirty="0">
                <a:solidFill>
                  <a:srgbClr val="0033CC"/>
                </a:solidFill>
              </a:rPr>
              <a:t>: 	7876,</a:t>
            </a:r>
          </a:p>
          <a:p>
            <a:pPr marL="274320" lvl="1" indent="0">
              <a:buNone/>
            </a:pPr>
            <a:r>
              <a:rPr lang="en-GB" sz="2900" dirty="0">
                <a:solidFill>
                  <a:srgbClr val="0033CC"/>
                </a:solidFill>
              </a:rPr>
              <a:t> 	</a:t>
            </a:r>
            <a:r>
              <a:rPr lang="en-GB" sz="2900" dirty="0" err="1">
                <a:solidFill>
                  <a:srgbClr val="0033CC"/>
                </a:solidFill>
              </a:rPr>
              <a:t>ename</a:t>
            </a:r>
            <a:r>
              <a:rPr lang="en-GB" sz="2900" dirty="0">
                <a:solidFill>
                  <a:srgbClr val="0033CC"/>
                </a:solidFill>
              </a:rPr>
              <a:t>: 	"ADAMS",</a:t>
            </a:r>
          </a:p>
          <a:p>
            <a:pPr marL="274320" lvl="1" indent="0">
              <a:buNone/>
            </a:pPr>
            <a:r>
              <a:rPr lang="en-GB" sz="2900" dirty="0">
                <a:solidFill>
                  <a:srgbClr val="0033CC"/>
                </a:solidFill>
              </a:rPr>
              <a:t> 	job: 	"CLERK",</a:t>
            </a:r>
          </a:p>
          <a:p>
            <a:pPr marL="274320" lvl="1" indent="0">
              <a:buNone/>
            </a:pPr>
            <a:r>
              <a:rPr lang="en-GB" sz="2900" dirty="0">
                <a:solidFill>
                  <a:srgbClr val="0033CC"/>
                </a:solidFill>
              </a:rPr>
              <a:t> 	</a:t>
            </a:r>
            <a:r>
              <a:rPr lang="en-GB" sz="2900" dirty="0" err="1">
                <a:solidFill>
                  <a:srgbClr val="0033CC"/>
                </a:solidFill>
              </a:rPr>
              <a:t>mgr</a:t>
            </a:r>
            <a:r>
              <a:rPr lang="en-GB" sz="2900" dirty="0">
                <a:solidFill>
                  <a:srgbClr val="0033CC"/>
                </a:solidFill>
              </a:rPr>
              <a:t>:	7788,</a:t>
            </a:r>
          </a:p>
          <a:p>
            <a:pPr marL="274320" lvl="1" indent="0">
              <a:buNone/>
            </a:pPr>
            <a:r>
              <a:rPr lang="en-GB" sz="2900" dirty="0">
                <a:solidFill>
                  <a:srgbClr val="0033CC"/>
                </a:solidFill>
              </a:rPr>
              <a:t> 	</a:t>
            </a:r>
            <a:r>
              <a:rPr lang="en-GB" sz="2900" dirty="0" err="1">
                <a:solidFill>
                  <a:srgbClr val="0033CC"/>
                </a:solidFill>
              </a:rPr>
              <a:t>hiredate</a:t>
            </a:r>
            <a:r>
              <a:rPr lang="en-GB" sz="2900" dirty="0">
                <a:solidFill>
                  <a:srgbClr val="0033CC"/>
                </a:solidFill>
              </a:rPr>
              <a:t>: 	"19-NOV-2015",</a:t>
            </a:r>
          </a:p>
          <a:p>
            <a:pPr marL="274320" lvl="1" indent="0">
              <a:buNone/>
            </a:pPr>
            <a:r>
              <a:rPr lang="en-GB" sz="2900" dirty="0">
                <a:solidFill>
                  <a:srgbClr val="0033CC"/>
                </a:solidFill>
              </a:rPr>
              <a:t> 	</a:t>
            </a:r>
            <a:r>
              <a:rPr lang="en-GB" sz="2900" dirty="0" err="1">
                <a:solidFill>
                  <a:srgbClr val="0033CC"/>
                </a:solidFill>
              </a:rPr>
              <a:t>sal</a:t>
            </a:r>
            <a:r>
              <a:rPr lang="en-GB" sz="2900" dirty="0">
                <a:solidFill>
                  <a:srgbClr val="0033CC"/>
                </a:solidFill>
              </a:rPr>
              <a:t>:	1100,</a:t>
            </a:r>
          </a:p>
          <a:p>
            <a:pPr marL="274320" lvl="1" indent="0">
              <a:buNone/>
            </a:pPr>
            <a:r>
              <a:rPr lang="en-GB" sz="2900" dirty="0">
                <a:solidFill>
                  <a:srgbClr val="0033CC"/>
                </a:solidFill>
              </a:rPr>
              <a:t> 	</a:t>
            </a:r>
            <a:r>
              <a:rPr lang="en-GB" sz="2900" dirty="0" err="1">
                <a:solidFill>
                  <a:srgbClr val="0033CC"/>
                </a:solidFill>
              </a:rPr>
              <a:t>deptno</a:t>
            </a:r>
            <a:r>
              <a:rPr lang="en-GB" sz="2900" dirty="0">
                <a:solidFill>
                  <a:srgbClr val="0033CC"/>
                </a:solidFill>
              </a:rPr>
              <a:t>:	20</a:t>
            </a:r>
          </a:p>
          <a:p>
            <a:pPr marL="274320" lvl="1" indent="0">
              <a:buNone/>
            </a:pPr>
            <a:r>
              <a:rPr lang="en-GB" sz="2900" dirty="0">
                <a:solidFill>
                  <a:srgbClr val="0033CC"/>
                </a:solidFill>
              </a:rPr>
              <a:t>},</a:t>
            </a:r>
          </a:p>
          <a:p>
            <a:pPr marL="274320" lvl="1" indent="0">
              <a:buNone/>
            </a:pPr>
            <a:r>
              <a:rPr lang="en-GB" sz="2900" dirty="0">
                <a:solidFill>
                  <a:srgbClr val="0033CC"/>
                </a:solidFill>
              </a:rPr>
              <a:t>{</a:t>
            </a:r>
          </a:p>
          <a:p>
            <a:pPr marL="274320" lvl="1" indent="0">
              <a:buNone/>
            </a:pPr>
            <a:r>
              <a:rPr lang="en-GB" sz="2900" dirty="0">
                <a:solidFill>
                  <a:srgbClr val="0033CC"/>
                </a:solidFill>
              </a:rPr>
              <a:t>	</a:t>
            </a:r>
            <a:r>
              <a:rPr lang="en-GB" sz="2900" dirty="0" err="1">
                <a:solidFill>
                  <a:srgbClr val="0033CC"/>
                </a:solidFill>
              </a:rPr>
              <a:t>empno</a:t>
            </a:r>
            <a:r>
              <a:rPr lang="en-GB" sz="2900" dirty="0">
                <a:solidFill>
                  <a:srgbClr val="0033CC"/>
                </a:solidFill>
              </a:rPr>
              <a:t>: 	7499,</a:t>
            </a:r>
          </a:p>
          <a:p>
            <a:pPr marL="274320" lvl="1" indent="0">
              <a:buNone/>
            </a:pPr>
            <a:r>
              <a:rPr lang="en-GB" sz="2900" dirty="0">
                <a:solidFill>
                  <a:srgbClr val="0033CC"/>
                </a:solidFill>
              </a:rPr>
              <a:t> 	</a:t>
            </a:r>
            <a:r>
              <a:rPr lang="en-GB" sz="2900" dirty="0" err="1">
                <a:solidFill>
                  <a:srgbClr val="0033CC"/>
                </a:solidFill>
              </a:rPr>
              <a:t>ename</a:t>
            </a:r>
            <a:r>
              <a:rPr lang="en-GB" sz="2900" dirty="0">
                <a:solidFill>
                  <a:srgbClr val="0033CC"/>
                </a:solidFill>
              </a:rPr>
              <a:t>: 	"ALLEN",</a:t>
            </a:r>
          </a:p>
          <a:p>
            <a:pPr marL="274320" lvl="1" indent="0">
              <a:buNone/>
            </a:pPr>
            <a:r>
              <a:rPr lang="en-GB" sz="2900" dirty="0">
                <a:solidFill>
                  <a:srgbClr val="0033CC"/>
                </a:solidFill>
              </a:rPr>
              <a:t> 	job: 	"SALESMAN",</a:t>
            </a:r>
          </a:p>
          <a:p>
            <a:pPr marL="274320" lvl="1" indent="0">
              <a:buNone/>
            </a:pPr>
            <a:r>
              <a:rPr lang="en-GB" sz="2900" dirty="0">
                <a:solidFill>
                  <a:srgbClr val="0033CC"/>
                </a:solidFill>
              </a:rPr>
              <a:t> 	</a:t>
            </a:r>
            <a:r>
              <a:rPr lang="en-GB" sz="2900" dirty="0" err="1">
                <a:solidFill>
                  <a:srgbClr val="0033CC"/>
                </a:solidFill>
              </a:rPr>
              <a:t>mgr</a:t>
            </a:r>
            <a:r>
              <a:rPr lang="en-GB" sz="2900" dirty="0">
                <a:solidFill>
                  <a:srgbClr val="0033CC"/>
                </a:solidFill>
              </a:rPr>
              <a:t>:	7698,</a:t>
            </a:r>
          </a:p>
          <a:p>
            <a:pPr marL="274320" lvl="1" indent="0">
              <a:buNone/>
            </a:pPr>
            <a:r>
              <a:rPr lang="en-GB" sz="2900" dirty="0">
                <a:solidFill>
                  <a:srgbClr val="0033CC"/>
                </a:solidFill>
              </a:rPr>
              <a:t> 	</a:t>
            </a:r>
            <a:r>
              <a:rPr lang="en-GB" sz="2900" dirty="0" err="1">
                <a:solidFill>
                  <a:srgbClr val="0033CC"/>
                </a:solidFill>
              </a:rPr>
              <a:t>hiredate</a:t>
            </a:r>
            <a:r>
              <a:rPr lang="en-GB" sz="2900" dirty="0">
                <a:solidFill>
                  <a:srgbClr val="0033CC"/>
                </a:solidFill>
              </a:rPr>
              <a:t>: 	"20-FEB-1995",</a:t>
            </a:r>
          </a:p>
          <a:p>
            <a:pPr marL="274320" lvl="1" indent="0">
              <a:buNone/>
            </a:pPr>
            <a:r>
              <a:rPr lang="en-GB" sz="2900" dirty="0">
                <a:solidFill>
                  <a:srgbClr val="0033CC"/>
                </a:solidFill>
              </a:rPr>
              <a:t> 	</a:t>
            </a:r>
            <a:r>
              <a:rPr lang="en-GB" sz="2900" dirty="0" err="1">
                <a:solidFill>
                  <a:srgbClr val="0033CC"/>
                </a:solidFill>
              </a:rPr>
              <a:t>sal</a:t>
            </a:r>
            <a:r>
              <a:rPr lang="en-GB" sz="2900" dirty="0">
                <a:solidFill>
                  <a:srgbClr val="0033CC"/>
                </a:solidFill>
              </a:rPr>
              <a:t>:	1600,</a:t>
            </a:r>
          </a:p>
          <a:p>
            <a:pPr marL="274320" lvl="1" indent="0">
              <a:buNone/>
            </a:pPr>
            <a:r>
              <a:rPr lang="en-GB" sz="2900" dirty="0">
                <a:solidFill>
                  <a:srgbClr val="0033CC"/>
                </a:solidFill>
              </a:rPr>
              <a:t>	</a:t>
            </a:r>
            <a:r>
              <a:rPr lang="en-GB" sz="2900" dirty="0" err="1">
                <a:solidFill>
                  <a:srgbClr val="0033CC"/>
                </a:solidFill>
              </a:rPr>
              <a:t>comm</a:t>
            </a:r>
            <a:r>
              <a:rPr lang="en-GB" sz="2900" dirty="0">
                <a:solidFill>
                  <a:srgbClr val="0033CC"/>
                </a:solidFill>
              </a:rPr>
              <a:t>:	300,</a:t>
            </a:r>
          </a:p>
          <a:p>
            <a:pPr marL="274320" lvl="1" indent="0">
              <a:buNone/>
            </a:pPr>
            <a:r>
              <a:rPr lang="en-GB" sz="2900" dirty="0">
                <a:solidFill>
                  <a:srgbClr val="0033CC"/>
                </a:solidFill>
              </a:rPr>
              <a:t> 	</a:t>
            </a:r>
            <a:r>
              <a:rPr lang="en-GB" sz="2900" dirty="0" err="1">
                <a:solidFill>
                  <a:srgbClr val="0033CC"/>
                </a:solidFill>
              </a:rPr>
              <a:t>deptno</a:t>
            </a:r>
            <a:r>
              <a:rPr lang="en-GB" sz="2900" dirty="0">
                <a:solidFill>
                  <a:srgbClr val="0033CC"/>
                </a:solidFill>
              </a:rPr>
              <a:t>:	30</a:t>
            </a:r>
          </a:p>
          <a:p>
            <a:pPr marL="274320" lvl="1" indent="0">
              <a:buNone/>
            </a:pPr>
            <a:r>
              <a:rPr lang="en-GB" sz="2900" dirty="0">
                <a:solidFill>
                  <a:srgbClr val="0033CC"/>
                </a:solidFill>
              </a:rPr>
              <a:t>}</a:t>
            </a:r>
          </a:p>
          <a:p>
            <a:pPr marL="274320" lvl="1" indent="0">
              <a:buNone/>
            </a:pPr>
            <a:r>
              <a:rPr lang="en-GB" sz="2900" dirty="0">
                <a:solidFill>
                  <a:srgbClr val="0033CC"/>
                </a:solidFill>
              </a:rPr>
              <a:t>])</a:t>
            </a:r>
          </a:p>
        </p:txBody>
      </p:sp>
      <p:sp>
        <p:nvSpPr>
          <p:cNvPr id="5" name="Slide Number Placeholder 4"/>
          <p:cNvSpPr>
            <a:spLocks noGrp="1"/>
          </p:cNvSpPr>
          <p:nvPr>
            <p:ph type="sldNum" sz="quarter" idx="12"/>
          </p:nvPr>
        </p:nvSpPr>
        <p:spPr/>
        <p:txBody>
          <a:bodyPr>
            <a:normAutofit lnSpcReduction="10000"/>
          </a:bodyPr>
          <a:lstStyle/>
          <a:p>
            <a:fld id="{8F77AC7A-7A01-4E0A-A782-920114AC2027}" type="slidenum">
              <a:rPr lang="en-GB" smtClean="0"/>
              <a:pPr/>
              <a:t>32</a:t>
            </a:fld>
            <a:endParaRPr lang="en-GB"/>
          </a:p>
        </p:txBody>
      </p:sp>
      <p:sp>
        <p:nvSpPr>
          <p:cNvPr id="2" name="TextBox 1"/>
          <p:cNvSpPr txBox="1"/>
          <p:nvPr/>
        </p:nvSpPr>
        <p:spPr>
          <a:xfrm>
            <a:off x="7248128" y="3068961"/>
            <a:ext cx="2304256" cy="1015663"/>
          </a:xfrm>
          <a:prstGeom prst="rect">
            <a:avLst/>
          </a:prstGeom>
          <a:noFill/>
        </p:spPr>
        <p:txBody>
          <a:bodyPr wrap="square" rtlCol="0">
            <a:spAutoFit/>
          </a:bodyPr>
          <a:lstStyle/>
          <a:p>
            <a:r>
              <a:rPr lang="en-GB" sz="2000" dirty="0">
                <a:solidFill>
                  <a:srgbClr val="0033CC"/>
                </a:solidFill>
              </a:rPr>
              <a:t>Note we have not defined any object IDs this time.</a:t>
            </a:r>
          </a:p>
        </p:txBody>
      </p:sp>
    </p:spTree>
    <p:extLst>
      <p:ext uri="{BB962C8B-B14F-4D97-AF65-F5344CB8AC3E}">
        <p14:creationId xmlns:p14="http://schemas.microsoft.com/office/powerpoint/2010/main" val="26425363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61872" y="0"/>
            <a:ext cx="9692640" cy="1325562"/>
          </a:xfrm>
        </p:spPr>
        <p:txBody>
          <a:bodyPr/>
          <a:lstStyle/>
          <a:p>
            <a:r>
              <a:rPr lang="en-GB" dirty="0"/>
              <a:t>Queries</a:t>
            </a:r>
          </a:p>
        </p:txBody>
      </p:sp>
      <p:sp>
        <p:nvSpPr>
          <p:cNvPr id="3" name="Content Placeholder 2"/>
          <p:cNvSpPr>
            <a:spLocks noGrp="1"/>
          </p:cNvSpPr>
          <p:nvPr>
            <p:ph idx="1"/>
          </p:nvPr>
        </p:nvSpPr>
        <p:spPr/>
        <p:txBody>
          <a:bodyPr>
            <a:normAutofit/>
          </a:bodyPr>
          <a:lstStyle/>
          <a:p>
            <a:r>
              <a:rPr lang="en-GB" dirty="0"/>
              <a:t>Collections can be queried using the find() method.</a:t>
            </a:r>
          </a:p>
          <a:p>
            <a:r>
              <a:rPr lang="en-GB" dirty="0"/>
              <a:t>The basic syntax is:</a:t>
            </a:r>
          </a:p>
          <a:p>
            <a:pPr marL="857250" lvl="2" indent="0">
              <a:buNone/>
            </a:pPr>
            <a:r>
              <a:rPr lang="en-GB" sz="3000" dirty="0" err="1">
                <a:solidFill>
                  <a:srgbClr val="0033CC"/>
                </a:solidFill>
              </a:rPr>
              <a:t>db.collectionName.find</a:t>
            </a:r>
            <a:r>
              <a:rPr lang="en-GB" sz="3000" dirty="0">
                <a:solidFill>
                  <a:srgbClr val="0033CC"/>
                </a:solidFill>
              </a:rPr>
              <a:t>()</a:t>
            </a:r>
          </a:p>
          <a:p>
            <a:r>
              <a:rPr lang="en-GB" dirty="0"/>
              <a:t>This will return the data in an unstructured way. </a:t>
            </a:r>
          </a:p>
          <a:p>
            <a:r>
              <a:rPr lang="en-GB" dirty="0"/>
              <a:t>To improve this, use the pretty() method:</a:t>
            </a:r>
          </a:p>
          <a:p>
            <a:pPr marL="857250" lvl="3" indent="0">
              <a:buSzPct val="75000"/>
              <a:buNone/>
            </a:pPr>
            <a:r>
              <a:rPr lang="en-GB" sz="3000" dirty="0" err="1">
                <a:solidFill>
                  <a:srgbClr val="0033CC"/>
                </a:solidFill>
              </a:rPr>
              <a:t>db.collectionName.find</a:t>
            </a:r>
            <a:r>
              <a:rPr lang="en-GB" sz="3000" dirty="0">
                <a:solidFill>
                  <a:srgbClr val="0033CC"/>
                </a:solidFill>
              </a:rPr>
              <a:t>().pretty()</a:t>
            </a:r>
            <a:endParaRPr lang="en-GB" sz="2800" dirty="0">
              <a:solidFill>
                <a:srgbClr val="0033CC"/>
              </a:solidFill>
            </a:endParaRPr>
          </a:p>
          <a:p>
            <a:r>
              <a:rPr lang="en-GB" dirty="0"/>
              <a:t>For example:</a:t>
            </a:r>
          </a:p>
          <a:p>
            <a:pPr marL="857250" lvl="2" indent="0">
              <a:buNone/>
            </a:pPr>
            <a:r>
              <a:rPr lang="en-GB" sz="3000" dirty="0" err="1">
                <a:solidFill>
                  <a:srgbClr val="0033CC"/>
                </a:solidFill>
              </a:rPr>
              <a:t>db.dept.find</a:t>
            </a:r>
            <a:r>
              <a:rPr lang="en-GB" sz="3000" dirty="0">
                <a:solidFill>
                  <a:srgbClr val="0033CC"/>
                </a:solidFill>
              </a:rPr>
              <a:t>().pretty()</a:t>
            </a:r>
            <a:endParaRPr lang="en-GB" sz="3000" dirty="0"/>
          </a:p>
          <a:p>
            <a:pPr lvl="1"/>
            <a:endParaRPr lang="en-GB"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33</a:t>
            </a:fld>
            <a:endParaRPr lang="en-GB" dirty="0"/>
          </a:p>
        </p:txBody>
      </p:sp>
    </p:spTree>
    <p:extLst>
      <p:ext uri="{BB962C8B-B14F-4D97-AF65-F5344CB8AC3E}">
        <p14:creationId xmlns:p14="http://schemas.microsoft.com/office/powerpoint/2010/main" val="158580527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39453"/>
            <a:ext cx="8229600" cy="595535"/>
          </a:xfrm>
        </p:spPr>
        <p:txBody>
          <a:bodyPr>
            <a:normAutofit fontScale="90000"/>
          </a:bodyPr>
          <a:lstStyle/>
          <a:p>
            <a:r>
              <a:rPr lang="en-GB" dirty="0"/>
              <a:t>find()</a:t>
            </a:r>
          </a:p>
        </p:txBody>
      </p:sp>
      <p:sp>
        <p:nvSpPr>
          <p:cNvPr id="3" name="Content Placeholder 2"/>
          <p:cNvSpPr>
            <a:spLocks noGrp="1"/>
          </p:cNvSpPr>
          <p:nvPr>
            <p:ph idx="1"/>
          </p:nvPr>
        </p:nvSpPr>
        <p:spPr>
          <a:xfrm>
            <a:off x="1775520" y="1052736"/>
            <a:ext cx="8435280" cy="3672408"/>
          </a:xfrm>
        </p:spPr>
        <p:txBody>
          <a:bodyPr>
            <a:noAutofit/>
          </a:bodyPr>
          <a:lstStyle/>
          <a:p>
            <a:r>
              <a:rPr lang="en-GB" sz="2400" dirty="0">
                <a:solidFill>
                  <a:srgbClr val="996633"/>
                </a:solidFill>
              </a:rPr>
              <a:t>find() </a:t>
            </a:r>
            <a:r>
              <a:rPr lang="en-GB" sz="2400" dirty="0"/>
              <a:t>can also contain parameters to restrict what data is returned</a:t>
            </a:r>
          </a:p>
          <a:p>
            <a:pPr lvl="1"/>
            <a:r>
              <a:rPr lang="en-GB" sz="2000" dirty="0"/>
              <a:t>Similar to the </a:t>
            </a:r>
            <a:r>
              <a:rPr lang="en-GB" sz="2000" dirty="0">
                <a:solidFill>
                  <a:srgbClr val="996633"/>
                </a:solidFill>
              </a:rPr>
              <a:t>WHERE</a:t>
            </a:r>
            <a:r>
              <a:rPr lang="en-GB" sz="2000" dirty="0"/>
              <a:t> part of a SQL statement</a:t>
            </a:r>
          </a:p>
          <a:p>
            <a:r>
              <a:rPr lang="en-GB" sz="2400" dirty="0"/>
              <a:t>For example, to find the Sales department details:</a:t>
            </a:r>
          </a:p>
          <a:p>
            <a:pPr marL="457200" lvl="1" indent="0">
              <a:buNone/>
            </a:pPr>
            <a:r>
              <a:rPr lang="en-GB" sz="2000" dirty="0" err="1">
                <a:solidFill>
                  <a:srgbClr val="0033CC"/>
                </a:solidFill>
              </a:rPr>
              <a:t>db.dept.find</a:t>
            </a:r>
            <a:r>
              <a:rPr lang="en-GB" sz="2000" dirty="0">
                <a:solidFill>
                  <a:srgbClr val="0033CC"/>
                </a:solidFill>
              </a:rPr>
              <a:t>({</a:t>
            </a:r>
            <a:r>
              <a:rPr lang="en-GB" sz="2000" dirty="0" err="1">
                <a:solidFill>
                  <a:srgbClr val="0033CC"/>
                </a:solidFill>
              </a:rPr>
              <a:t>dname</a:t>
            </a:r>
            <a:r>
              <a:rPr lang="en-GB" sz="2000" dirty="0">
                <a:solidFill>
                  <a:srgbClr val="0033CC"/>
                </a:solidFill>
              </a:rPr>
              <a:t>:"SALES"})</a:t>
            </a:r>
          </a:p>
          <a:p>
            <a:r>
              <a:rPr lang="en-GB" sz="2400" dirty="0"/>
              <a:t>Produces:</a:t>
            </a:r>
          </a:p>
          <a:p>
            <a:pPr marL="457200" lvl="1" indent="0">
              <a:buNone/>
            </a:pPr>
            <a:r>
              <a:rPr lang="en-GB" sz="2000" i="1" dirty="0">
                <a:solidFill>
                  <a:srgbClr val="7030A0"/>
                </a:solidFill>
              </a:rPr>
              <a:t>{ "_id" : 30, "</a:t>
            </a:r>
            <a:r>
              <a:rPr lang="en-GB" sz="2000" i="1" dirty="0" err="1">
                <a:solidFill>
                  <a:srgbClr val="7030A0"/>
                </a:solidFill>
              </a:rPr>
              <a:t>deptno</a:t>
            </a:r>
            <a:r>
              <a:rPr lang="en-GB" sz="2000" i="1" dirty="0">
                <a:solidFill>
                  <a:srgbClr val="7030A0"/>
                </a:solidFill>
              </a:rPr>
              <a:t>" : 30, "</a:t>
            </a:r>
            <a:r>
              <a:rPr lang="en-GB" sz="2000" i="1" dirty="0" err="1">
                <a:solidFill>
                  <a:srgbClr val="7030A0"/>
                </a:solidFill>
              </a:rPr>
              <a:t>dname</a:t>
            </a:r>
            <a:r>
              <a:rPr lang="en-GB" sz="2000" i="1" dirty="0">
                <a:solidFill>
                  <a:srgbClr val="7030A0"/>
                </a:solidFill>
              </a:rPr>
              <a:t>" : "SALES", "</a:t>
            </a:r>
            <a:r>
              <a:rPr lang="en-GB" sz="2000" i="1" dirty="0" err="1">
                <a:solidFill>
                  <a:srgbClr val="7030A0"/>
                </a:solidFill>
              </a:rPr>
              <a:t>loc</a:t>
            </a:r>
            <a:r>
              <a:rPr lang="en-GB" sz="2000" i="1" dirty="0">
                <a:solidFill>
                  <a:srgbClr val="7030A0"/>
                </a:solidFill>
              </a:rPr>
              <a:t>" : "CHICAGO" }</a:t>
            </a:r>
          </a:p>
          <a:p>
            <a:r>
              <a:rPr lang="en-GB" sz="2400" dirty="0"/>
              <a:t>Find the employees in department 30:</a:t>
            </a:r>
          </a:p>
          <a:p>
            <a:pPr marL="457200" lvl="1" indent="0">
              <a:buNone/>
            </a:pPr>
            <a:r>
              <a:rPr lang="en-GB" sz="2000" dirty="0" err="1">
                <a:solidFill>
                  <a:srgbClr val="0033CC"/>
                </a:solidFill>
              </a:rPr>
              <a:t>db.emp.find</a:t>
            </a:r>
            <a:r>
              <a:rPr lang="en-GB" sz="2000" dirty="0">
                <a:solidFill>
                  <a:srgbClr val="0033CC"/>
                </a:solidFill>
              </a:rPr>
              <a:t>({deptno:30})</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34</a:t>
            </a:fld>
            <a:endParaRPr lang="en-GB" dirty="0"/>
          </a:p>
        </p:txBody>
      </p:sp>
      <p:sp>
        <p:nvSpPr>
          <p:cNvPr id="5" name="Rectangle 4"/>
          <p:cNvSpPr/>
          <p:nvPr/>
        </p:nvSpPr>
        <p:spPr>
          <a:xfrm>
            <a:off x="1703512" y="4946354"/>
            <a:ext cx="4950123" cy="1477328"/>
          </a:xfrm>
          <a:prstGeom prst="rect">
            <a:avLst/>
          </a:prstGeom>
        </p:spPr>
        <p:txBody>
          <a:bodyPr wrap="square">
            <a:spAutoFit/>
          </a:bodyPr>
          <a:lstStyle/>
          <a:p>
            <a:r>
              <a:rPr lang="en-GB" sz="2400" dirty="0"/>
              <a:t>Can use pretty() afterwards:</a:t>
            </a:r>
          </a:p>
          <a:p>
            <a:pPr lvl="1"/>
            <a:r>
              <a:rPr lang="en-GB" sz="2200" dirty="0" err="1">
                <a:solidFill>
                  <a:srgbClr val="0033CC"/>
                </a:solidFill>
              </a:rPr>
              <a:t>db.emp.find</a:t>
            </a:r>
            <a:r>
              <a:rPr lang="en-GB" sz="2200" dirty="0">
                <a:solidFill>
                  <a:srgbClr val="0033CC"/>
                </a:solidFill>
              </a:rPr>
              <a:t>({deptno:30}).pretty()</a:t>
            </a:r>
          </a:p>
          <a:p>
            <a:pPr lvl="1"/>
            <a:endParaRPr lang="en-GB" sz="2200" dirty="0">
              <a:solidFill>
                <a:srgbClr val="0033CC"/>
              </a:solidFill>
            </a:endParaRPr>
          </a:p>
          <a:p>
            <a:r>
              <a:rPr lang="en-GB" sz="2200" dirty="0">
                <a:solidFill>
                  <a:srgbClr val="7030A0"/>
                </a:solidFill>
              </a:rPr>
              <a:t>Note the difference in _ids values</a:t>
            </a:r>
          </a:p>
        </p:txBody>
      </p:sp>
    </p:spTree>
    <p:extLst>
      <p:ext uri="{BB962C8B-B14F-4D97-AF65-F5344CB8AC3E}">
        <p14:creationId xmlns:p14="http://schemas.microsoft.com/office/powerpoint/2010/main" val="54299136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45406" y="365760"/>
            <a:ext cx="9325572" cy="58578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5731160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find()</a:t>
            </a:r>
          </a:p>
        </p:txBody>
      </p:sp>
      <p:sp>
        <p:nvSpPr>
          <p:cNvPr id="3" name="Content Placeholder 2"/>
          <p:cNvSpPr>
            <a:spLocks noGrp="1"/>
          </p:cNvSpPr>
          <p:nvPr>
            <p:ph idx="1"/>
          </p:nvPr>
        </p:nvSpPr>
        <p:spPr/>
        <p:txBody>
          <a:bodyPr>
            <a:normAutofit/>
          </a:bodyPr>
          <a:lstStyle/>
          <a:p>
            <a:r>
              <a:rPr lang="en-GB" dirty="0"/>
              <a:t>Note, </a:t>
            </a:r>
            <a:r>
              <a:rPr lang="en-GB" u="sng" dirty="0"/>
              <a:t>everything</a:t>
            </a:r>
            <a:r>
              <a:rPr lang="en-GB" dirty="0"/>
              <a:t> is case sensitive!</a:t>
            </a:r>
          </a:p>
          <a:p>
            <a:pPr lvl="1"/>
            <a:r>
              <a:rPr lang="en-GB" dirty="0"/>
              <a:t>The following will return nothing:</a:t>
            </a:r>
          </a:p>
          <a:p>
            <a:pPr lvl="2"/>
            <a:r>
              <a:rPr lang="en-GB" dirty="0" err="1">
                <a:solidFill>
                  <a:srgbClr val="009900"/>
                </a:solidFill>
              </a:rPr>
              <a:t>db.dept.find</a:t>
            </a:r>
            <a:r>
              <a:rPr lang="en-GB" dirty="0">
                <a:solidFill>
                  <a:srgbClr val="009900"/>
                </a:solidFill>
              </a:rPr>
              <a:t>({DNAME:"SALES"})</a:t>
            </a:r>
          </a:p>
          <a:p>
            <a:pPr lvl="2"/>
            <a:r>
              <a:rPr lang="en-GB" dirty="0" err="1">
                <a:solidFill>
                  <a:srgbClr val="009900"/>
                </a:solidFill>
              </a:rPr>
              <a:t>db.DEPT.find</a:t>
            </a:r>
            <a:r>
              <a:rPr lang="en-GB" dirty="0">
                <a:solidFill>
                  <a:srgbClr val="009900"/>
                </a:solidFill>
              </a:rPr>
              <a:t>({</a:t>
            </a:r>
            <a:r>
              <a:rPr lang="en-GB" dirty="0" err="1">
                <a:solidFill>
                  <a:srgbClr val="009900"/>
                </a:solidFill>
              </a:rPr>
              <a:t>dname</a:t>
            </a:r>
            <a:r>
              <a:rPr lang="en-GB" dirty="0">
                <a:solidFill>
                  <a:srgbClr val="009900"/>
                </a:solidFill>
              </a:rPr>
              <a:t>:"SALES"})</a:t>
            </a:r>
          </a:p>
          <a:p>
            <a:pPr lvl="2"/>
            <a:r>
              <a:rPr lang="en-GB" dirty="0" err="1">
                <a:solidFill>
                  <a:srgbClr val="009900"/>
                </a:solidFill>
              </a:rPr>
              <a:t>db.dept.find</a:t>
            </a:r>
            <a:r>
              <a:rPr lang="en-GB" dirty="0">
                <a:solidFill>
                  <a:srgbClr val="009900"/>
                </a:solidFill>
              </a:rPr>
              <a:t>({</a:t>
            </a:r>
            <a:r>
              <a:rPr lang="en-GB" dirty="0" err="1">
                <a:solidFill>
                  <a:srgbClr val="009900"/>
                </a:solidFill>
              </a:rPr>
              <a:t>dname</a:t>
            </a:r>
            <a:r>
              <a:rPr lang="en-GB" dirty="0">
                <a:solidFill>
                  <a:srgbClr val="009900"/>
                </a:solidFill>
              </a:rPr>
              <a:t>:"sales"})</a:t>
            </a:r>
          </a:p>
          <a:p>
            <a:pPr lvl="1"/>
            <a:r>
              <a:rPr lang="en-GB" dirty="0"/>
              <a:t>And these will return an error message:</a:t>
            </a:r>
          </a:p>
          <a:p>
            <a:pPr lvl="2"/>
            <a:r>
              <a:rPr lang="en-GB" dirty="0" err="1">
                <a:solidFill>
                  <a:srgbClr val="FF0000"/>
                </a:solidFill>
              </a:rPr>
              <a:t>DB.dept.find</a:t>
            </a:r>
            <a:r>
              <a:rPr lang="en-GB" dirty="0">
                <a:solidFill>
                  <a:srgbClr val="FF0000"/>
                </a:solidFill>
              </a:rPr>
              <a:t>({</a:t>
            </a:r>
            <a:r>
              <a:rPr lang="en-GB" dirty="0" err="1">
                <a:solidFill>
                  <a:srgbClr val="FF0000"/>
                </a:solidFill>
              </a:rPr>
              <a:t>dname</a:t>
            </a:r>
            <a:r>
              <a:rPr lang="en-GB" dirty="0">
                <a:solidFill>
                  <a:srgbClr val="FF0000"/>
                </a:solidFill>
              </a:rPr>
              <a:t>:"SALES"})</a:t>
            </a:r>
          </a:p>
          <a:p>
            <a:pPr lvl="2"/>
            <a:r>
              <a:rPr lang="en-GB" dirty="0" err="1">
                <a:solidFill>
                  <a:srgbClr val="FF0000"/>
                </a:solidFill>
              </a:rPr>
              <a:t>db.dept.FIND</a:t>
            </a:r>
            <a:r>
              <a:rPr lang="en-GB" dirty="0">
                <a:solidFill>
                  <a:srgbClr val="FF0000"/>
                </a:solidFill>
              </a:rPr>
              <a:t>({</a:t>
            </a:r>
            <a:r>
              <a:rPr lang="en-GB" dirty="0" err="1">
                <a:solidFill>
                  <a:srgbClr val="FF0000"/>
                </a:solidFill>
              </a:rPr>
              <a:t>dname</a:t>
            </a:r>
            <a:r>
              <a:rPr lang="en-GB" dirty="0">
                <a:solidFill>
                  <a:srgbClr val="FF0000"/>
                </a:solidFill>
              </a:rPr>
              <a:t>:"SALES"})</a:t>
            </a:r>
          </a:p>
          <a:p>
            <a:r>
              <a:rPr lang="en-GB" dirty="0"/>
              <a:t>column names can be in double quotes too:</a:t>
            </a:r>
          </a:p>
          <a:p>
            <a:pPr lvl="1"/>
            <a:r>
              <a:rPr lang="en-GB" dirty="0" err="1">
                <a:solidFill>
                  <a:srgbClr val="0033CC"/>
                </a:solidFill>
              </a:rPr>
              <a:t>db.dept.find</a:t>
            </a:r>
            <a:r>
              <a:rPr lang="en-GB" dirty="0">
                <a:solidFill>
                  <a:srgbClr val="0033CC"/>
                </a:solidFill>
              </a:rPr>
              <a:t>({"</a:t>
            </a:r>
            <a:r>
              <a:rPr lang="en-GB" dirty="0" err="1">
                <a:solidFill>
                  <a:srgbClr val="0033CC"/>
                </a:solidFill>
              </a:rPr>
              <a:t>dname</a:t>
            </a:r>
            <a:r>
              <a:rPr lang="en-GB" dirty="0">
                <a:solidFill>
                  <a:srgbClr val="0033CC"/>
                </a:solidFill>
              </a:rPr>
              <a:t>":"SALES"})</a:t>
            </a:r>
            <a:endParaRPr lang="en-GB" dirty="0"/>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36</a:t>
            </a:fld>
            <a:endParaRPr lang="en-GB" dirty="0"/>
          </a:p>
        </p:txBody>
      </p:sp>
    </p:spTree>
    <p:extLst>
      <p:ext uri="{BB962C8B-B14F-4D97-AF65-F5344CB8AC3E}">
        <p14:creationId xmlns:p14="http://schemas.microsoft.com/office/powerpoint/2010/main" val="31798358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Conclusion</a:t>
            </a:r>
          </a:p>
        </p:txBody>
      </p:sp>
      <p:sp>
        <p:nvSpPr>
          <p:cNvPr id="3" name="Content Placeholder 2"/>
          <p:cNvSpPr>
            <a:spLocks noGrp="1"/>
          </p:cNvSpPr>
          <p:nvPr>
            <p:ph idx="1"/>
          </p:nvPr>
        </p:nvSpPr>
        <p:spPr>
          <a:xfrm>
            <a:off x="1261872" y="1828800"/>
            <a:ext cx="9232626" cy="4351337"/>
          </a:xfrm>
        </p:spPr>
        <p:txBody>
          <a:bodyPr>
            <a:normAutofit/>
          </a:bodyPr>
          <a:lstStyle/>
          <a:p>
            <a:r>
              <a:rPr lang="en-GB" sz="2400" dirty="0"/>
              <a:t>NoSQL</a:t>
            </a:r>
          </a:p>
          <a:p>
            <a:pPr lvl="1"/>
            <a:r>
              <a:rPr lang="en-GB" sz="2000" dirty="0"/>
              <a:t>Lots of different types of projects.</a:t>
            </a:r>
          </a:p>
          <a:p>
            <a:pPr lvl="1"/>
            <a:r>
              <a:rPr lang="en-GB" sz="2000" dirty="0"/>
              <a:t>Many of the examples listed are open-source.</a:t>
            </a:r>
          </a:p>
          <a:p>
            <a:pPr lvl="1"/>
            <a:r>
              <a:rPr lang="en-GB" sz="2000" dirty="0"/>
              <a:t>The fact there is no well-defined definition could lead to its downfall.</a:t>
            </a:r>
          </a:p>
          <a:p>
            <a:pPr lvl="1"/>
            <a:r>
              <a:rPr lang="en-GB" sz="2000" dirty="0"/>
              <a:t>RDBMS could evolve to provide better support for non-structured data.</a:t>
            </a:r>
          </a:p>
        </p:txBody>
      </p:sp>
      <p:sp>
        <p:nvSpPr>
          <p:cNvPr id="4" name="Slide Number Placeholder 3"/>
          <p:cNvSpPr>
            <a:spLocks noGrp="1"/>
          </p:cNvSpPr>
          <p:nvPr>
            <p:ph type="sldNum" sz="quarter" idx="12"/>
          </p:nvPr>
        </p:nvSpPr>
        <p:spPr/>
        <p:txBody>
          <a:bodyPr>
            <a:normAutofit lnSpcReduction="10000"/>
          </a:bodyPr>
          <a:lstStyle/>
          <a:p>
            <a:fld id="{4024A64D-D60E-46A1-8647-7B3CAE372470}" type="slidenum">
              <a:rPr lang="en-GB" smtClean="0"/>
              <a:pPr/>
              <a:t>37</a:t>
            </a:fld>
            <a:endParaRPr lang="en-GB" dirty="0"/>
          </a:p>
        </p:txBody>
      </p:sp>
    </p:spTree>
    <p:extLst>
      <p:ext uri="{BB962C8B-B14F-4D97-AF65-F5344CB8AC3E}">
        <p14:creationId xmlns:p14="http://schemas.microsoft.com/office/powerpoint/2010/main" val="36917440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F6FBD7A-87A2-4D96-8E6F-3B0740C176A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 xmlns:a16="http://schemas.microsoft.com/office/drawing/2014/main" id="{598CD132-6E08-4094-B0A8-3C02CEB6956B}"/>
              </a:ext>
            </a:extLst>
          </p:cNvPr>
          <p:cNvSpPr>
            <a:spLocks noGrp="1"/>
          </p:cNvSpPr>
          <p:nvPr>
            <p:ph idx="1"/>
          </p:nvPr>
        </p:nvSpPr>
        <p:spPr/>
        <p:txBody>
          <a:bodyPr/>
          <a:lstStyle/>
          <a:p>
            <a:r>
              <a:rPr lang="en-US" dirty="0"/>
              <a:t>Lecture slides from Level 6 (Big Data) of WLV</a:t>
            </a:r>
          </a:p>
        </p:txBody>
      </p:sp>
    </p:spTree>
    <p:extLst>
      <p:ext uri="{BB962C8B-B14F-4D97-AF65-F5344CB8AC3E}">
        <p14:creationId xmlns:p14="http://schemas.microsoft.com/office/powerpoint/2010/main" val="3987477101"/>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467</TotalTime>
  <Words>1844</Words>
  <Application>Microsoft Office PowerPoint</Application>
  <PresentationFormat>Widescreen</PresentationFormat>
  <Paragraphs>346</Paragraphs>
  <Slides>38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38</vt:i4>
      </vt:variant>
    </vt:vector>
  </HeadingPairs>
  <TitlesOfParts>
    <vt:vector size="45" baseType="lpstr">
      <vt:lpstr>Arial</vt:lpstr>
      <vt:lpstr>Calibri</vt:lpstr>
      <vt:lpstr>Century Schoolbook</vt:lpstr>
      <vt:lpstr>Tahoma</vt:lpstr>
      <vt:lpstr>Wingdings</vt:lpstr>
      <vt:lpstr>Wingdings 2</vt:lpstr>
      <vt:lpstr>View</vt:lpstr>
      <vt:lpstr>NoSQL Databases Part - 1</vt:lpstr>
      <vt:lpstr>Outlines</vt:lpstr>
      <vt:lpstr>Data Models</vt:lpstr>
      <vt:lpstr>PowerPoint Presentation</vt:lpstr>
      <vt:lpstr>Structured Data</vt:lpstr>
      <vt:lpstr>Data Models – Structured data</vt:lpstr>
      <vt:lpstr>Data Models – Semi-Structured data</vt:lpstr>
      <vt:lpstr>PowerPoint Presentation</vt:lpstr>
      <vt:lpstr>Unstructured Data</vt:lpstr>
      <vt:lpstr>Data Models – Unstructured data</vt:lpstr>
      <vt:lpstr>PowerPoint Presentation</vt:lpstr>
      <vt:lpstr>Data Models</vt:lpstr>
      <vt:lpstr>NoSQL</vt:lpstr>
      <vt:lpstr>Types of NoSQL Databases</vt:lpstr>
      <vt:lpstr>Key Value Databases</vt:lpstr>
      <vt:lpstr>Document Databases</vt:lpstr>
      <vt:lpstr>PowerPoint Presentation</vt:lpstr>
      <vt:lpstr>Column Family stores</vt:lpstr>
      <vt:lpstr>PowerPoint Presentation</vt:lpstr>
      <vt:lpstr>Graph Databases</vt:lpstr>
      <vt:lpstr>Graph Databases</vt:lpstr>
      <vt:lpstr>Choosing NoSQL database</vt:lpstr>
      <vt:lpstr>MongoDB</vt:lpstr>
      <vt:lpstr>MongoDB</vt:lpstr>
      <vt:lpstr>Document v’s Relational Databases</vt:lpstr>
      <vt:lpstr>Using MongoDB – Collections</vt:lpstr>
      <vt:lpstr>Using MongoDB – Documents</vt:lpstr>
      <vt:lpstr>MongoDB – Documents</vt:lpstr>
      <vt:lpstr>Object Ids</vt:lpstr>
      <vt:lpstr>DEPT/EMP schema</vt:lpstr>
      <vt:lpstr>Collection Example: Dept</vt:lpstr>
      <vt:lpstr>Collection Example: Emp</vt:lpstr>
      <vt:lpstr>Queries</vt:lpstr>
      <vt:lpstr>find()</vt:lpstr>
      <vt:lpstr>PowerPoint Presentation</vt:lpstr>
      <vt:lpstr>find()</vt:lpstr>
      <vt:lpstr>Conclusion</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NoSQL  Part 1</dc:title>
  <dc:creator>boharag</dc:creator>
  <cp:lastModifiedBy>Hemuni</cp:lastModifiedBy>
  <cp:revision>39</cp:revision>
  <dcterms:created xsi:type="dcterms:W3CDTF">2019-12-25T09:43:31Z</dcterms:created>
  <dcterms:modified xsi:type="dcterms:W3CDTF">2020-01-24T08:41:59Z</dcterms:modified>
</cp:coreProperties>
</file>