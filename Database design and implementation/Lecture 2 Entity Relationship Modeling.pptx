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4" r:id="rId3"/>
    <p:sldId id="328" r:id="rId4"/>
    <p:sldId id="326" r:id="rId5"/>
    <p:sldId id="395" r:id="rId6"/>
    <p:sldId id="430" r:id="rId7"/>
    <p:sldId id="429" r:id="rId8"/>
    <p:sldId id="428" r:id="rId9"/>
    <p:sldId id="330" r:id="rId10"/>
    <p:sldId id="397" r:id="rId11"/>
    <p:sldId id="426" r:id="rId12"/>
    <p:sldId id="427" r:id="rId13"/>
    <p:sldId id="399" r:id="rId14"/>
    <p:sldId id="432" r:id="rId15"/>
    <p:sldId id="433" r:id="rId16"/>
    <p:sldId id="401" r:id="rId17"/>
    <p:sldId id="353" r:id="rId18"/>
    <p:sldId id="434" r:id="rId19"/>
    <p:sldId id="406" r:id="rId20"/>
    <p:sldId id="356" r:id="rId21"/>
    <p:sldId id="361" r:id="rId22"/>
    <p:sldId id="411" r:id="rId23"/>
    <p:sldId id="412" r:id="rId24"/>
    <p:sldId id="371" r:id="rId25"/>
    <p:sldId id="435" r:id="rId26"/>
    <p:sldId id="436" r:id="rId27"/>
    <p:sldId id="375" r:id="rId28"/>
    <p:sldId id="425" r:id="rId29"/>
    <p:sldId id="327" r:id="rId30"/>
    <p:sldId id="437" r:id="rId31"/>
    <p:sldId id="438" r:id="rId32"/>
    <p:sldId id="329" r:id="rId33"/>
    <p:sldId id="439" r:id="rId34"/>
    <p:sldId id="332" r:id="rId35"/>
    <p:sldId id="394" r:id="rId36"/>
    <p:sldId id="368" r:id="rId37"/>
    <p:sldId id="383" r:id="rId38"/>
    <p:sldId id="32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1-20T18:23:47.427" idx="3">
    <p:pos x="10" y="10"/>
    <p:text>Refer comment 1</p:tex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B4517-0F86-4EA3-B75B-EEB43614D202}" type="doc">
      <dgm:prSet loTypeId="urn:microsoft.com/office/officeart/2005/8/layout/hList1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22C527-5DD1-43BC-8989-C375206ABF5C}">
      <dgm:prSet custT="1"/>
      <dgm:spPr/>
      <dgm:t>
        <a:bodyPr/>
        <a:lstStyle/>
        <a:p>
          <a:pPr rtl="0">
            <a:lnSpc>
              <a:spcPct val="150000"/>
            </a:lnSpc>
          </a:pPr>
          <a:r>
            <a:rPr lang="en-US" sz="2400" dirty="0"/>
            <a:t>Existence dependence</a:t>
          </a:r>
        </a:p>
      </dgm:t>
    </dgm:pt>
    <dgm:pt modelId="{FA244756-237F-47E8-8318-47409D014833}" type="parTrans" cxnId="{AC3FCF5C-9DD0-42F9-8352-7B1CD8FFC551}">
      <dgm:prSet/>
      <dgm:spPr/>
      <dgm:t>
        <a:bodyPr/>
        <a:lstStyle/>
        <a:p>
          <a:endParaRPr lang="en-US"/>
        </a:p>
      </dgm:t>
    </dgm:pt>
    <dgm:pt modelId="{1685A8AA-E8BD-4067-92AA-C5C227243194}" type="sibTrans" cxnId="{AC3FCF5C-9DD0-42F9-8352-7B1CD8FFC551}">
      <dgm:prSet/>
      <dgm:spPr/>
      <dgm:t>
        <a:bodyPr/>
        <a:lstStyle/>
        <a:p>
          <a:endParaRPr lang="en-US"/>
        </a:p>
      </dgm:t>
    </dgm:pt>
    <dgm:pt modelId="{56347979-F64A-4958-9ED3-CB0EFAD51631}">
      <dgm:prSet custT="1"/>
      <dgm:spPr/>
      <dgm:t>
        <a:bodyPr/>
        <a:lstStyle/>
        <a:p>
          <a:pPr rtl="0">
            <a:lnSpc>
              <a:spcPct val="150000"/>
            </a:lnSpc>
          </a:pPr>
          <a:r>
            <a:rPr lang="en-US" sz="2400" dirty="0"/>
            <a:t>Entity exists in the database only when it is associated with another related entity </a:t>
          </a:r>
          <a:r>
            <a:rPr lang="en-US" sz="2400" dirty="0" smtClean="0"/>
            <a:t>occurrence </a:t>
          </a:r>
          <a:r>
            <a:rPr lang="en-US" sz="2400" b="1" dirty="0" smtClean="0"/>
            <a:t>(weak entity)</a:t>
          </a:r>
          <a:endParaRPr lang="en-US" sz="2800" b="1" dirty="0"/>
        </a:p>
      </dgm:t>
    </dgm:pt>
    <dgm:pt modelId="{9ADF9CDF-3569-452B-B90B-401837C9E851}" type="parTrans" cxnId="{D10F971F-E929-4F40-BA37-9F0126169A4A}">
      <dgm:prSet/>
      <dgm:spPr/>
      <dgm:t>
        <a:bodyPr/>
        <a:lstStyle/>
        <a:p>
          <a:endParaRPr lang="en-US"/>
        </a:p>
      </dgm:t>
    </dgm:pt>
    <dgm:pt modelId="{3E8AFA51-3DEF-4A7A-A3A1-277415EABE09}" type="sibTrans" cxnId="{D10F971F-E929-4F40-BA37-9F0126169A4A}">
      <dgm:prSet/>
      <dgm:spPr/>
      <dgm:t>
        <a:bodyPr/>
        <a:lstStyle/>
        <a:p>
          <a:endParaRPr lang="en-US"/>
        </a:p>
      </dgm:t>
    </dgm:pt>
    <dgm:pt modelId="{AAA6A2F9-B124-4981-815D-9F0A4E2E6ED0}">
      <dgm:prSet custT="1"/>
      <dgm:spPr/>
      <dgm:t>
        <a:bodyPr/>
        <a:lstStyle/>
        <a:p>
          <a:pPr rtl="0">
            <a:lnSpc>
              <a:spcPct val="150000"/>
            </a:lnSpc>
          </a:pPr>
          <a:r>
            <a:rPr lang="en-US" sz="2400"/>
            <a:t>Existence independence</a:t>
          </a:r>
          <a:endParaRPr lang="en-US" sz="2400" dirty="0"/>
        </a:p>
      </dgm:t>
    </dgm:pt>
    <dgm:pt modelId="{DF7589AF-76DA-45FD-8452-27E258110E1D}" type="parTrans" cxnId="{BA3DDBFA-89F0-44E7-88E6-505D35C6D065}">
      <dgm:prSet/>
      <dgm:spPr/>
      <dgm:t>
        <a:bodyPr/>
        <a:lstStyle/>
        <a:p>
          <a:endParaRPr lang="en-US"/>
        </a:p>
      </dgm:t>
    </dgm:pt>
    <dgm:pt modelId="{7A051211-8E28-4688-872F-1A5014F06AE6}" type="sibTrans" cxnId="{BA3DDBFA-89F0-44E7-88E6-505D35C6D065}">
      <dgm:prSet/>
      <dgm:spPr/>
      <dgm:t>
        <a:bodyPr/>
        <a:lstStyle/>
        <a:p>
          <a:endParaRPr lang="en-US"/>
        </a:p>
      </dgm:t>
    </dgm:pt>
    <dgm:pt modelId="{D7709889-ABE7-4B29-ACB6-17DC4BAEF9C9}">
      <dgm:prSet custT="1"/>
      <dgm:spPr/>
      <dgm:t>
        <a:bodyPr/>
        <a:lstStyle/>
        <a:p>
          <a:pPr rtl="0">
            <a:lnSpc>
              <a:spcPct val="150000"/>
            </a:lnSpc>
          </a:pPr>
          <a:r>
            <a:rPr lang="en-US" sz="2400" dirty="0"/>
            <a:t>Entity exists apart from all of its related entities</a:t>
          </a:r>
        </a:p>
      </dgm:t>
    </dgm:pt>
    <dgm:pt modelId="{9DC406D0-C4F7-4FBC-AFAE-844F232CF3C7}" type="parTrans" cxnId="{37D3CC5F-8366-4437-BD2F-8DC2DBF5C983}">
      <dgm:prSet/>
      <dgm:spPr/>
      <dgm:t>
        <a:bodyPr/>
        <a:lstStyle/>
        <a:p>
          <a:endParaRPr lang="en-US"/>
        </a:p>
      </dgm:t>
    </dgm:pt>
    <dgm:pt modelId="{9143F672-7A93-4ADE-A78A-CC675F07B5D7}" type="sibTrans" cxnId="{37D3CC5F-8366-4437-BD2F-8DC2DBF5C983}">
      <dgm:prSet/>
      <dgm:spPr/>
      <dgm:t>
        <a:bodyPr/>
        <a:lstStyle/>
        <a:p>
          <a:endParaRPr lang="en-US"/>
        </a:p>
      </dgm:t>
    </dgm:pt>
    <dgm:pt modelId="{CF8D90BA-3D57-475E-B71B-11CAC30BF1A2}">
      <dgm:prSet custT="1"/>
      <dgm:spPr/>
      <dgm:t>
        <a:bodyPr/>
        <a:lstStyle/>
        <a:p>
          <a:pPr rtl="0">
            <a:lnSpc>
              <a:spcPct val="150000"/>
            </a:lnSpc>
          </a:pPr>
          <a:r>
            <a:rPr lang="en-US" sz="2400" dirty="0"/>
            <a:t>Referred to as a </a:t>
          </a:r>
          <a:r>
            <a:rPr lang="en-US" sz="2400" b="1" dirty="0"/>
            <a:t>strong entity</a:t>
          </a:r>
          <a:r>
            <a:rPr lang="en-US" sz="2400" dirty="0"/>
            <a:t> or </a:t>
          </a:r>
          <a:r>
            <a:rPr lang="en-US" sz="2400" b="1" dirty="0"/>
            <a:t>regular entity</a:t>
          </a:r>
          <a:endParaRPr lang="en-US" sz="2400" dirty="0"/>
        </a:p>
      </dgm:t>
    </dgm:pt>
    <dgm:pt modelId="{9AA21B59-2A86-4748-ACAE-FA8FA47956F1}" type="parTrans" cxnId="{FAD9D7D2-3665-4429-8EB4-BBA40F0F07EA}">
      <dgm:prSet/>
      <dgm:spPr/>
      <dgm:t>
        <a:bodyPr/>
        <a:lstStyle/>
        <a:p>
          <a:endParaRPr lang="en-US"/>
        </a:p>
      </dgm:t>
    </dgm:pt>
    <dgm:pt modelId="{FA9DECD3-FEAE-4AC9-9775-8D992D003430}" type="sibTrans" cxnId="{FAD9D7D2-3665-4429-8EB4-BBA40F0F07EA}">
      <dgm:prSet/>
      <dgm:spPr/>
      <dgm:t>
        <a:bodyPr/>
        <a:lstStyle/>
        <a:p>
          <a:endParaRPr lang="en-US"/>
        </a:p>
      </dgm:t>
    </dgm:pt>
    <dgm:pt modelId="{C0512446-3723-4B84-97B6-0539C859F191}" type="pres">
      <dgm:prSet presAssocID="{2E0B4517-0F86-4EA3-B75B-EEB43614D20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8B601D1-95C0-4227-8E8D-D7379403D593}" type="pres">
      <dgm:prSet presAssocID="{5122C527-5DD1-43BC-8989-C375206ABF5C}" presName="composite" presStyleCnt="0"/>
      <dgm:spPr/>
    </dgm:pt>
    <dgm:pt modelId="{6D236C13-43B0-4D10-8390-F9B878C7447A}" type="pres">
      <dgm:prSet presAssocID="{5122C527-5DD1-43BC-8989-C375206ABF5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2B0772-6855-4052-BA10-A8978AD21703}" type="pres">
      <dgm:prSet presAssocID="{5122C527-5DD1-43BC-8989-C375206ABF5C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CE87E5-ECBE-40A1-AC31-CDDE1D001307}" type="pres">
      <dgm:prSet presAssocID="{1685A8AA-E8BD-4067-92AA-C5C227243194}" presName="space" presStyleCnt="0"/>
      <dgm:spPr/>
    </dgm:pt>
    <dgm:pt modelId="{11EAE79A-AEFC-441C-979E-77879DC9A628}" type="pres">
      <dgm:prSet presAssocID="{AAA6A2F9-B124-4981-815D-9F0A4E2E6ED0}" presName="composite" presStyleCnt="0"/>
      <dgm:spPr/>
    </dgm:pt>
    <dgm:pt modelId="{1A081979-A391-4D53-A5EA-5C305E16E502}" type="pres">
      <dgm:prSet presAssocID="{AAA6A2F9-B124-4981-815D-9F0A4E2E6ED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0BEC70-4DB3-444E-BEAF-F12DA862F7BB}" type="pres">
      <dgm:prSet presAssocID="{AAA6A2F9-B124-4981-815D-9F0A4E2E6ED0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F498A94-E3F8-4280-AE7D-DD83E1918DA8}" type="presOf" srcId="{AAA6A2F9-B124-4981-815D-9F0A4E2E6ED0}" destId="{1A081979-A391-4D53-A5EA-5C305E16E502}" srcOrd="0" destOrd="0" presId="urn:microsoft.com/office/officeart/2005/8/layout/hList1"/>
    <dgm:cxn modelId="{37D3CC5F-8366-4437-BD2F-8DC2DBF5C983}" srcId="{AAA6A2F9-B124-4981-815D-9F0A4E2E6ED0}" destId="{D7709889-ABE7-4B29-ACB6-17DC4BAEF9C9}" srcOrd="0" destOrd="0" parTransId="{9DC406D0-C4F7-4FBC-AFAE-844F232CF3C7}" sibTransId="{9143F672-7A93-4ADE-A78A-CC675F07B5D7}"/>
    <dgm:cxn modelId="{D10F971F-E929-4F40-BA37-9F0126169A4A}" srcId="{5122C527-5DD1-43BC-8989-C375206ABF5C}" destId="{56347979-F64A-4958-9ED3-CB0EFAD51631}" srcOrd="0" destOrd="0" parTransId="{9ADF9CDF-3569-452B-B90B-401837C9E851}" sibTransId="{3E8AFA51-3DEF-4A7A-A3A1-277415EABE09}"/>
    <dgm:cxn modelId="{6A649FAF-8138-44B3-8BB5-D3D72FB7066E}" type="presOf" srcId="{CF8D90BA-3D57-475E-B71B-11CAC30BF1A2}" destId="{050BEC70-4DB3-444E-BEAF-F12DA862F7BB}" srcOrd="0" destOrd="1" presId="urn:microsoft.com/office/officeart/2005/8/layout/hList1"/>
    <dgm:cxn modelId="{F531749F-423F-4ADC-BCA5-44F6328CF41A}" type="presOf" srcId="{2E0B4517-0F86-4EA3-B75B-EEB43614D202}" destId="{C0512446-3723-4B84-97B6-0539C859F191}" srcOrd="0" destOrd="0" presId="urn:microsoft.com/office/officeart/2005/8/layout/hList1"/>
    <dgm:cxn modelId="{AC3FCF5C-9DD0-42F9-8352-7B1CD8FFC551}" srcId="{2E0B4517-0F86-4EA3-B75B-EEB43614D202}" destId="{5122C527-5DD1-43BC-8989-C375206ABF5C}" srcOrd="0" destOrd="0" parTransId="{FA244756-237F-47E8-8318-47409D014833}" sibTransId="{1685A8AA-E8BD-4067-92AA-C5C227243194}"/>
    <dgm:cxn modelId="{6B16354B-082B-4B82-A825-04E806C362BA}" type="presOf" srcId="{56347979-F64A-4958-9ED3-CB0EFAD51631}" destId="{7F2B0772-6855-4052-BA10-A8978AD21703}" srcOrd="0" destOrd="0" presId="urn:microsoft.com/office/officeart/2005/8/layout/hList1"/>
    <dgm:cxn modelId="{FAD9D7D2-3665-4429-8EB4-BBA40F0F07EA}" srcId="{AAA6A2F9-B124-4981-815D-9F0A4E2E6ED0}" destId="{CF8D90BA-3D57-475E-B71B-11CAC30BF1A2}" srcOrd="1" destOrd="0" parTransId="{9AA21B59-2A86-4748-ACAE-FA8FA47956F1}" sibTransId="{FA9DECD3-FEAE-4AC9-9775-8D992D003430}"/>
    <dgm:cxn modelId="{8C8329BA-4038-4A6C-8BC2-7805DB11510E}" type="presOf" srcId="{D7709889-ABE7-4B29-ACB6-17DC4BAEF9C9}" destId="{050BEC70-4DB3-444E-BEAF-F12DA862F7BB}" srcOrd="0" destOrd="0" presId="urn:microsoft.com/office/officeart/2005/8/layout/hList1"/>
    <dgm:cxn modelId="{8E395BAE-AC92-4725-8F82-812783FFA3A4}" type="presOf" srcId="{5122C527-5DD1-43BC-8989-C375206ABF5C}" destId="{6D236C13-43B0-4D10-8390-F9B878C7447A}" srcOrd="0" destOrd="0" presId="urn:microsoft.com/office/officeart/2005/8/layout/hList1"/>
    <dgm:cxn modelId="{BA3DDBFA-89F0-44E7-88E6-505D35C6D065}" srcId="{2E0B4517-0F86-4EA3-B75B-EEB43614D202}" destId="{AAA6A2F9-B124-4981-815D-9F0A4E2E6ED0}" srcOrd="1" destOrd="0" parTransId="{DF7589AF-76DA-45FD-8452-27E258110E1D}" sibTransId="{7A051211-8E28-4688-872F-1A5014F06AE6}"/>
    <dgm:cxn modelId="{90D3D746-B0DC-48CE-8A2D-7AC456AAB5C1}" type="presParOf" srcId="{C0512446-3723-4B84-97B6-0539C859F191}" destId="{E8B601D1-95C0-4227-8E8D-D7379403D593}" srcOrd="0" destOrd="0" presId="urn:microsoft.com/office/officeart/2005/8/layout/hList1"/>
    <dgm:cxn modelId="{F29B4241-3F80-4E98-898A-261DE7672080}" type="presParOf" srcId="{E8B601D1-95C0-4227-8E8D-D7379403D593}" destId="{6D236C13-43B0-4D10-8390-F9B878C7447A}" srcOrd="0" destOrd="0" presId="urn:microsoft.com/office/officeart/2005/8/layout/hList1"/>
    <dgm:cxn modelId="{A1009D35-48A7-4373-A726-7EB9CD61F1EF}" type="presParOf" srcId="{E8B601D1-95C0-4227-8E8D-D7379403D593}" destId="{7F2B0772-6855-4052-BA10-A8978AD21703}" srcOrd="1" destOrd="0" presId="urn:microsoft.com/office/officeart/2005/8/layout/hList1"/>
    <dgm:cxn modelId="{6F0B51A7-E1B9-4A0E-A055-C66FCDA41108}" type="presParOf" srcId="{C0512446-3723-4B84-97B6-0539C859F191}" destId="{0ECE87E5-ECBE-40A1-AC31-CDDE1D001307}" srcOrd="1" destOrd="0" presId="urn:microsoft.com/office/officeart/2005/8/layout/hList1"/>
    <dgm:cxn modelId="{09FD553B-8851-4BE1-A03C-74A9973A155B}" type="presParOf" srcId="{C0512446-3723-4B84-97B6-0539C859F191}" destId="{11EAE79A-AEFC-441C-979E-77879DC9A628}" srcOrd="2" destOrd="0" presId="urn:microsoft.com/office/officeart/2005/8/layout/hList1"/>
    <dgm:cxn modelId="{D93DC469-DC6C-4F13-AAF0-F2F8414F23A6}" type="presParOf" srcId="{11EAE79A-AEFC-441C-979E-77879DC9A628}" destId="{1A081979-A391-4D53-A5EA-5C305E16E502}" srcOrd="0" destOrd="0" presId="urn:microsoft.com/office/officeart/2005/8/layout/hList1"/>
    <dgm:cxn modelId="{D3E9E3F0-D156-4AD3-925E-6CBEA4F7825C}" type="presParOf" srcId="{11EAE79A-AEFC-441C-979E-77879DC9A628}" destId="{050BEC70-4DB3-444E-BEAF-F12DA862F7B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65677B-07E2-4A94-AE4C-0BD213B9AD80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FE29B47-BD8B-4F59-8D4C-7BE4CCB0A746}">
      <dgm:prSet custT="1"/>
      <dgm:spPr/>
      <dgm:t>
        <a:bodyPr/>
        <a:lstStyle/>
        <a:p>
          <a:pPr rtl="0"/>
          <a:r>
            <a:rPr lang="en-US" sz="3200" b="1" dirty="0"/>
            <a:t>Optional participation</a:t>
          </a:r>
          <a:endParaRPr lang="en-US" sz="3200" dirty="0"/>
        </a:p>
      </dgm:t>
    </dgm:pt>
    <dgm:pt modelId="{0E1E7007-018F-4A17-B05E-727D576237F5}" type="parTrans" cxnId="{56757F77-4186-444F-AAF8-47CE2DE59505}">
      <dgm:prSet/>
      <dgm:spPr/>
      <dgm:t>
        <a:bodyPr/>
        <a:lstStyle/>
        <a:p>
          <a:endParaRPr lang="en-US"/>
        </a:p>
      </dgm:t>
    </dgm:pt>
    <dgm:pt modelId="{29AB544D-210D-43F4-9311-BEE87AE66142}" type="sibTrans" cxnId="{56757F77-4186-444F-AAF8-47CE2DE59505}">
      <dgm:prSet/>
      <dgm:spPr/>
      <dgm:t>
        <a:bodyPr/>
        <a:lstStyle/>
        <a:p>
          <a:endParaRPr lang="en-US"/>
        </a:p>
      </dgm:t>
    </dgm:pt>
    <dgm:pt modelId="{AE7989BD-06A3-46A8-BCDB-A6D5F1C81139}">
      <dgm:prSet custT="1"/>
      <dgm:spPr/>
      <dgm:t>
        <a:bodyPr/>
        <a:lstStyle/>
        <a:p>
          <a:pPr rtl="0"/>
          <a:r>
            <a:rPr lang="en-US" sz="2800" dirty="0"/>
            <a:t>One entity occurrence does not require a corresponding entity occurrence in a particular relationship</a:t>
          </a:r>
          <a:endParaRPr lang="en-IN" sz="2800" dirty="0"/>
        </a:p>
      </dgm:t>
    </dgm:pt>
    <dgm:pt modelId="{60B3F378-F51E-45DE-818D-8654E74DABE4}" type="parTrans" cxnId="{2BB125A5-742E-4EC1-B096-D38E1D0001DD}">
      <dgm:prSet/>
      <dgm:spPr/>
      <dgm:t>
        <a:bodyPr/>
        <a:lstStyle/>
        <a:p>
          <a:endParaRPr lang="en-US"/>
        </a:p>
      </dgm:t>
    </dgm:pt>
    <dgm:pt modelId="{C8FD0331-5D35-4860-A621-6BCE48E5FFF2}" type="sibTrans" cxnId="{2BB125A5-742E-4EC1-B096-D38E1D0001DD}">
      <dgm:prSet/>
      <dgm:spPr/>
      <dgm:t>
        <a:bodyPr/>
        <a:lstStyle/>
        <a:p>
          <a:endParaRPr lang="en-US"/>
        </a:p>
      </dgm:t>
    </dgm:pt>
    <dgm:pt modelId="{5137928A-542B-4AD5-855E-D92F87122E43}">
      <dgm:prSet custT="1"/>
      <dgm:spPr/>
      <dgm:t>
        <a:bodyPr/>
        <a:lstStyle/>
        <a:p>
          <a:pPr rtl="0"/>
          <a:r>
            <a:rPr lang="en-US" sz="3200" b="1" dirty="0"/>
            <a:t>Mandatory participation</a:t>
          </a:r>
          <a:endParaRPr lang="en-US" sz="3200" dirty="0"/>
        </a:p>
      </dgm:t>
    </dgm:pt>
    <dgm:pt modelId="{AE38F6F3-FEF9-4C2C-A7DD-763C4A285CB1}" type="parTrans" cxnId="{3C273FD1-254D-4A25-A108-1346D8AC4430}">
      <dgm:prSet/>
      <dgm:spPr/>
      <dgm:t>
        <a:bodyPr/>
        <a:lstStyle/>
        <a:p>
          <a:endParaRPr lang="en-US"/>
        </a:p>
      </dgm:t>
    </dgm:pt>
    <dgm:pt modelId="{CD81FD49-05A6-40BE-AF11-6C45AABE7D26}" type="sibTrans" cxnId="{3C273FD1-254D-4A25-A108-1346D8AC4430}">
      <dgm:prSet/>
      <dgm:spPr/>
      <dgm:t>
        <a:bodyPr/>
        <a:lstStyle/>
        <a:p>
          <a:endParaRPr lang="en-US"/>
        </a:p>
      </dgm:t>
    </dgm:pt>
    <dgm:pt modelId="{DACD8B2F-732D-43EE-B930-1CFAB791E5D3}">
      <dgm:prSet custT="1"/>
      <dgm:spPr/>
      <dgm:t>
        <a:bodyPr/>
        <a:lstStyle/>
        <a:p>
          <a:pPr rtl="0"/>
          <a:r>
            <a:rPr lang="en-US" sz="2800" dirty="0"/>
            <a:t>One entity occurrence requires a corresponding entity occurrence in a particular relationship</a:t>
          </a:r>
          <a:endParaRPr lang="en-IN" sz="2800" dirty="0"/>
        </a:p>
      </dgm:t>
    </dgm:pt>
    <dgm:pt modelId="{D9A2ADF1-1C16-44D9-A567-3FE4B86A4110}" type="parTrans" cxnId="{52F90494-C5BA-4034-8E31-3C349490995A}">
      <dgm:prSet/>
      <dgm:spPr/>
      <dgm:t>
        <a:bodyPr/>
        <a:lstStyle/>
        <a:p>
          <a:endParaRPr lang="en-US"/>
        </a:p>
      </dgm:t>
    </dgm:pt>
    <dgm:pt modelId="{D2BC9DCA-1DFF-4154-9C90-9337429369D7}" type="sibTrans" cxnId="{52F90494-C5BA-4034-8E31-3C349490995A}">
      <dgm:prSet/>
      <dgm:spPr/>
      <dgm:t>
        <a:bodyPr/>
        <a:lstStyle/>
        <a:p>
          <a:endParaRPr lang="en-US"/>
        </a:p>
      </dgm:t>
    </dgm:pt>
    <dgm:pt modelId="{CBD4F909-3BCD-460A-8488-840DD03C27E8}" type="pres">
      <dgm:prSet presAssocID="{C065677B-07E2-4A94-AE4C-0BD213B9AD8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92F9D14-184F-4DB3-81C2-8E6B82FAB0E7}" type="pres">
      <dgm:prSet presAssocID="{0FE29B47-BD8B-4F59-8D4C-7BE4CCB0A746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469B5E-00E4-4F8F-9A9E-14D566D8F1C8}" type="pres">
      <dgm:prSet presAssocID="{0FE29B47-BD8B-4F59-8D4C-7BE4CCB0A746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CBCBA1-78BD-41F0-8A83-BD2906B6BCC2}" type="pres">
      <dgm:prSet presAssocID="{5137928A-542B-4AD5-855E-D92F87122E43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4605DB-F190-4DBA-A095-E9373B4C1DA6}" type="pres">
      <dgm:prSet presAssocID="{5137928A-542B-4AD5-855E-D92F87122E43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31A6638-576E-4732-9113-D1908543F86E}" type="presOf" srcId="{0FE29B47-BD8B-4F59-8D4C-7BE4CCB0A746}" destId="{192F9D14-184F-4DB3-81C2-8E6B82FAB0E7}" srcOrd="0" destOrd="0" presId="urn:microsoft.com/office/officeart/2005/8/layout/vList2"/>
    <dgm:cxn modelId="{3C273FD1-254D-4A25-A108-1346D8AC4430}" srcId="{C065677B-07E2-4A94-AE4C-0BD213B9AD80}" destId="{5137928A-542B-4AD5-855E-D92F87122E43}" srcOrd="1" destOrd="0" parTransId="{AE38F6F3-FEF9-4C2C-A7DD-763C4A285CB1}" sibTransId="{CD81FD49-05A6-40BE-AF11-6C45AABE7D26}"/>
    <dgm:cxn modelId="{56757F77-4186-444F-AAF8-47CE2DE59505}" srcId="{C065677B-07E2-4A94-AE4C-0BD213B9AD80}" destId="{0FE29B47-BD8B-4F59-8D4C-7BE4CCB0A746}" srcOrd="0" destOrd="0" parTransId="{0E1E7007-018F-4A17-B05E-727D576237F5}" sibTransId="{29AB544D-210D-43F4-9311-BEE87AE66142}"/>
    <dgm:cxn modelId="{1723CDA6-F413-4015-9DEB-F1A01433BE0A}" type="presOf" srcId="{C065677B-07E2-4A94-AE4C-0BD213B9AD80}" destId="{CBD4F909-3BCD-460A-8488-840DD03C27E8}" srcOrd="0" destOrd="0" presId="urn:microsoft.com/office/officeart/2005/8/layout/vList2"/>
    <dgm:cxn modelId="{D0205E6A-874F-48F1-A8BF-A945B99013A9}" type="presOf" srcId="{DACD8B2F-732D-43EE-B930-1CFAB791E5D3}" destId="{174605DB-F190-4DBA-A095-E9373B4C1DA6}" srcOrd="0" destOrd="0" presId="urn:microsoft.com/office/officeart/2005/8/layout/vList2"/>
    <dgm:cxn modelId="{2BB125A5-742E-4EC1-B096-D38E1D0001DD}" srcId="{0FE29B47-BD8B-4F59-8D4C-7BE4CCB0A746}" destId="{AE7989BD-06A3-46A8-BCDB-A6D5F1C81139}" srcOrd="0" destOrd="0" parTransId="{60B3F378-F51E-45DE-818D-8654E74DABE4}" sibTransId="{C8FD0331-5D35-4860-A621-6BCE48E5FFF2}"/>
    <dgm:cxn modelId="{52F90494-C5BA-4034-8E31-3C349490995A}" srcId="{5137928A-542B-4AD5-855E-D92F87122E43}" destId="{DACD8B2F-732D-43EE-B930-1CFAB791E5D3}" srcOrd="0" destOrd="0" parTransId="{D9A2ADF1-1C16-44D9-A567-3FE4B86A4110}" sibTransId="{D2BC9DCA-1DFF-4154-9C90-9337429369D7}"/>
    <dgm:cxn modelId="{061A3F59-9515-41C4-90FA-49058E64AB72}" type="presOf" srcId="{AE7989BD-06A3-46A8-BCDB-A6D5F1C81139}" destId="{28469B5E-00E4-4F8F-9A9E-14D566D8F1C8}" srcOrd="0" destOrd="0" presId="urn:microsoft.com/office/officeart/2005/8/layout/vList2"/>
    <dgm:cxn modelId="{DC7D8080-95AF-4FB2-98CB-F94936506851}" type="presOf" srcId="{5137928A-542B-4AD5-855E-D92F87122E43}" destId="{49CBCBA1-78BD-41F0-8A83-BD2906B6BCC2}" srcOrd="0" destOrd="0" presId="urn:microsoft.com/office/officeart/2005/8/layout/vList2"/>
    <dgm:cxn modelId="{45483FB8-AEC6-49F9-826C-785C4208498F}" type="presParOf" srcId="{CBD4F909-3BCD-460A-8488-840DD03C27E8}" destId="{192F9D14-184F-4DB3-81C2-8E6B82FAB0E7}" srcOrd="0" destOrd="0" presId="urn:microsoft.com/office/officeart/2005/8/layout/vList2"/>
    <dgm:cxn modelId="{07132B0C-64A9-430C-B1FF-30D097C1C0A9}" type="presParOf" srcId="{CBD4F909-3BCD-460A-8488-840DD03C27E8}" destId="{28469B5E-00E4-4F8F-9A9E-14D566D8F1C8}" srcOrd="1" destOrd="0" presId="urn:microsoft.com/office/officeart/2005/8/layout/vList2"/>
    <dgm:cxn modelId="{F5B81E50-4E15-4B9D-B47C-4009C7E4948D}" type="presParOf" srcId="{CBD4F909-3BCD-460A-8488-840DD03C27E8}" destId="{49CBCBA1-78BD-41F0-8A83-BD2906B6BCC2}" srcOrd="2" destOrd="0" presId="urn:microsoft.com/office/officeart/2005/8/layout/vList2"/>
    <dgm:cxn modelId="{8E23CCC2-2C12-49C5-9E73-11D71BA565F0}" type="presParOf" srcId="{CBD4F909-3BCD-460A-8488-840DD03C27E8}" destId="{174605DB-F190-4DBA-A095-E9373B4C1DA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4BD90D-E1E5-49A4-9F01-B0DAFF97C9BF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2E1CCAE-DE8B-4CB5-BC7E-147748A1DDC8}">
      <dgm:prSet/>
      <dgm:spPr/>
      <dgm:t>
        <a:bodyPr/>
        <a:lstStyle/>
        <a:p>
          <a:pPr rtl="0"/>
          <a:r>
            <a:rPr lang="en-US"/>
            <a:t>Non intelligent </a:t>
          </a:r>
          <a:endParaRPr lang="en-CA"/>
        </a:p>
      </dgm:t>
    </dgm:pt>
    <dgm:pt modelId="{B1241DBD-410A-42F9-BDD0-5568EEDFE42C}" type="parTrans" cxnId="{A84DFC00-DE08-446F-B7EB-14FD5DF06281}">
      <dgm:prSet/>
      <dgm:spPr/>
      <dgm:t>
        <a:bodyPr/>
        <a:lstStyle/>
        <a:p>
          <a:endParaRPr lang="en-US"/>
        </a:p>
      </dgm:t>
    </dgm:pt>
    <dgm:pt modelId="{653D0BF3-9A1A-4A71-B1C4-FFCDA402BF94}" type="sibTrans" cxnId="{A84DFC00-DE08-446F-B7EB-14FD5DF06281}">
      <dgm:prSet/>
      <dgm:spPr/>
      <dgm:t>
        <a:bodyPr/>
        <a:lstStyle/>
        <a:p>
          <a:endParaRPr lang="en-US"/>
        </a:p>
      </dgm:t>
    </dgm:pt>
    <dgm:pt modelId="{D530FA5E-B92C-4CD3-8C5C-7297D6439D95}">
      <dgm:prSet/>
      <dgm:spPr/>
      <dgm:t>
        <a:bodyPr/>
        <a:lstStyle/>
        <a:p>
          <a:pPr rtl="0"/>
          <a:r>
            <a:rPr lang="en-US"/>
            <a:t>No change over time </a:t>
          </a:r>
          <a:endParaRPr lang="en-CA"/>
        </a:p>
      </dgm:t>
    </dgm:pt>
    <dgm:pt modelId="{4587FE7B-7116-424D-84C7-856EB8E12AAE}" type="parTrans" cxnId="{BC6B848A-F781-4B23-9323-C14FBF737DD7}">
      <dgm:prSet/>
      <dgm:spPr/>
      <dgm:t>
        <a:bodyPr/>
        <a:lstStyle/>
        <a:p>
          <a:endParaRPr lang="en-US"/>
        </a:p>
      </dgm:t>
    </dgm:pt>
    <dgm:pt modelId="{C67ECD9E-39E3-482F-B5AF-9D54766E8986}" type="sibTrans" cxnId="{BC6B848A-F781-4B23-9323-C14FBF737DD7}">
      <dgm:prSet/>
      <dgm:spPr/>
      <dgm:t>
        <a:bodyPr/>
        <a:lstStyle/>
        <a:p>
          <a:endParaRPr lang="en-US"/>
        </a:p>
      </dgm:t>
    </dgm:pt>
    <dgm:pt modelId="{41A954D5-9F7F-4EA4-8CFB-60E27FE47AB3}">
      <dgm:prSet/>
      <dgm:spPr/>
      <dgm:t>
        <a:bodyPr/>
        <a:lstStyle/>
        <a:p>
          <a:pPr rtl="0"/>
          <a:r>
            <a:rPr lang="en-US"/>
            <a:t>Preferably single-attribute</a:t>
          </a:r>
          <a:endParaRPr lang="en-CA"/>
        </a:p>
      </dgm:t>
    </dgm:pt>
    <dgm:pt modelId="{55CE6970-191B-439B-8358-B91C6ABF270C}" type="parTrans" cxnId="{79BBDDF2-0D91-4A86-9828-7821F6D86880}">
      <dgm:prSet/>
      <dgm:spPr/>
      <dgm:t>
        <a:bodyPr/>
        <a:lstStyle/>
        <a:p>
          <a:endParaRPr lang="en-US"/>
        </a:p>
      </dgm:t>
    </dgm:pt>
    <dgm:pt modelId="{A7A36A21-00DA-4323-B382-5397F0C6CC71}" type="sibTrans" cxnId="{79BBDDF2-0D91-4A86-9828-7821F6D86880}">
      <dgm:prSet/>
      <dgm:spPr/>
      <dgm:t>
        <a:bodyPr/>
        <a:lstStyle/>
        <a:p>
          <a:endParaRPr lang="en-US"/>
        </a:p>
      </dgm:t>
    </dgm:pt>
    <dgm:pt modelId="{150CA6E8-B8BA-4589-A235-C981053166F2}">
      <dgm:prSet/>
      <dgm:spPr/>
      <dgm:t>
        <a:bodyPr/>
        <a:lstStyle/>
        <a:p>
          <a:pPr rtl="0"/>
          <a:r>
            <a:rPr lang="en-US"/>
            <a:t>Preferably numeric</a:t>
          </a:r>
          <a:endParaRPr lang="en-CA"/>
        </a:p>
      </dgm:t>
    </dgm:pt>
    <dgm:pt modelId="{F06925F2-EF60-4279-B024-1FFBC9E925F7}" type="parTrans" cxnId="{00F99597-5CB1-4821-B6CF-9EE671E42916}">
      <dgm:prSet/>
      <dgm:spPr/>
      <dgm:t>
        <a:bodyPr/>
        <a:lstStyle/>
        <a:p>
          <a:endParaRPr lang="en-US"/>
        </a:p>
      </dgm:t>
    </dgm:pt>
    <dgm:pt modelId="{257A94AA-7192-43BA-B7B9-1223A8F638D4}" type="sibTrans" cxnId="{00F99597-5CB1-4821-B6CF-9EE671E42916}">
      <dgm:prSet/>
      <dgm:spPr/>
      <dgm:t>
        <a:bodyPr/>
        <a:lstStyle/>
        <a:p>
          <a:endParaRPr lang="en-US"/>
        </a:p>
      </dgm:t>
    </dgm:pt>
    <dgm:pt modelId="{669F498B-1CF0-4348-B0D5-B272DACA4B95}">
      <dgm:prSet/>
      <dgm:spPr/>
      <dgm:t>
        <a:bodyPr/>
        <a:lstStyle/>
        <a:p>
          <a:pPr rtl="0"/>
          <a:r>
            <a:rPr lang="en-US"/>
            <a:t>Security-compliant</a:t>
          </a:r>
          <a:endParaRPr lang="en-CA"/>
        </a:p>
      </dgm:t>
    </dgm:pt>
    <dgm:pt modelId="{88F6F2FF-8062-4EEC-82F0-C0CF0288C4F7}" type="parTrans" cxnId="{4E0CFBA1-80A8-4ECA-97ED-B817AB24D463}">
      <dgm:prSet/>
      <dgm:spPr/>
      <dgm:t>
        <a:bodyPr/>
        <a:lstStyle/>
        <a:p>
          <a:endParaRPr lang="en-US"/>
        </a:p>
      </dgm:t>
    </dgm:pt>
    <dgm:pt modelId="{B79D8D89-9050-4CE3-82CB-1007798B6A05}" type="sibTrans" cxnId="{4E0CFBA1-80A8-4ECA-97ED-B817AB24D463}">
      <dgm:prSet/>
      <dgm:spPr/>
      <dgm:t>
        <a:bodyPr/>
        <a:lstStyle/>
        <a:p>
          <a:endParaRPr lang="en-US"/>
        </a:p>
      </dgm:t>
    </dgm:pt>
    <dgm:pt modelId="{8A011081-77FD-444C-88E9-55CD33893194}" type="pres">
      <dgm:prSet presAssocID="{464BD90D-E1E5-49A4-9F01-B0DAFF97C9B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9EC951-792A-417B-91CE-A6E3482EE53A}" type="pres">
      <dgm:prSet presAssocID="{A2E1CCAE-DE8B-4CB5-BC7E-147748A1DDC8}" presName="parentLin" presStyleCnt="0"/>
      <dgm:spPr/>
    </dgm:pt>
    <dgm:pt modelId="{632A397D-1BF4-4DE6-9CC3-60CC09646DE8}" type="pres">
      <dgm:prSet presAssocID="{A2E1CCAE-DE8B-4CB5-BC7E-147748A1DDC8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38A7CE4D-1B8B-4ED4-914A-AC9D7749FB67}" type="pres">
      <dgm:prSet presAssocID="{A2E1CCAE-DE8B-4CB5-BC7E-147748A1DDC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01E940-70EB-423A-8F66-7957A849F5DE}" type="pres">
      <dgm:prSet presAssocID="{A2E1CCAE-DE8B-4CB5-BC7E-147748A1DDC8}" presName="negativeSpace" presStyleCnt="0"/>
      <dgm:spPr/>
    </dgm:pt>
    <dgm:pt modelId="{5FA55CF9-3DDB-463B-B1E8-469EB426141D}" type="pres">
      <dgm:prSet presAssocID="{A2E1CCAE-DE8B-4CB5-BC7E-147748A1DDC8}" presName="childText" presStyleLbl="conFgAcc1" presStyleIdx="0" presStyleCnt="5">
        <dgm:presLayoutVars>
          <dgm:bulletEnabled val="1"/>
        </dgm:presLayoutVars>
      </dgm:prSet>
      <dgm:spPr/>
    </dgm:pt>
    <dgm:pt modelId="{7801E96A-6279-4B54-B637-FD9E3552859A}" type="pres">
      <dgm:prSet presAssocID="{653D0BF3-9A1A-4A71-B1C4-FFCDA402BF94}" presName="spaceBetweenRectangles" presStyleCnt="0"/>
      <dgm:spPr/>
    </dgm:pt>
    <dgm:pt modelId="{7029ADD4-0E54-48D4-9D66-2F216325D3D3}" type="pres">
      <dgm:prSet presAssocID="{D530FA5E-B92C-4CD3-8C5C-7297D6439D95}" presName="parentLin" presStyleCnt="0"/>
      <dgm:spPr/>
    </dgm:pt>
    <dgm:pt modelId="{442EFD64-468A-4E17-ABD0-D1389152FB19}" type="pres">
      <dgm:prSet presAssocID="{D530FA5E-B92C-4CD3-8C5C-7297D6439D95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4DF3FADD-9029-4455-A408-17ACA1EE7DB8}" type="pres">
      <dgm:prSet presAssocID="{D530FA5E-B92C-4CD3-8C5C-7297D6439D95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B93E99-C6EA-44D2-9754-057A5F0E08AC}" type="pres">
      <dgm:prSet presAssocID="{D530FA5E-B92C-4CD3-8C5C-7297D6439D95}" presName="negativeSpace" presStyleCnt="0"/>
      <dgm:spPr/>
    </dgm:pt>
    <dgm:pt modelId="{783DD285-1648-410C-8056-2DEA56CD2275}" type="pres">
      <dgm:prSet presAssocID="{D530FA5E-B92C-4CD3-8C5C-7297D6439D95}" presName="childText" presStyleLbl="conFgAcc1" presStyleIdx="1" presStyleCnt="5">
        <dgm:presLayoutVars>
          <dgm:bulletEnabled val="1"/>
        </dgm:presLayoutVars>
      </dgm:prSet>
      <dgm:spPr/>
    </dgm:pt>
    <dgm:pt modelId="{BA2CD5BF-A292-4678-959E-6F9D4A10BCA5}" type="pres">
      <dgm:prSet presAssocID="{C67ECD9E-39E3-482F-B5AF-9D54766E8986}" presName="spaceBetweenRectangles" presStyleCnt="0"/>
      <dgm:spPr/>
    </dgm:pt>
    <dgm:pt modelId="{60510BAA-00C7-497C-AE30-E1DED0100205}" type="pres">
      <dgm:prSet presAssocID="{41A954D5-9F7F-4EA4-8CFB-60E27FE47AB3}" presName="parentLin" presStyleCnt="0"/>
      <dgm:spPr/>
    </dgm:pt>
    <dgm:pt modelId="{5CEF2E62-E85D-4991-ABEA-417283079D52}" type="pres">
      <dgm:prSet presAssocID="{41A954D5-9F7F-4EA4-8CFB-60E27FE47AB3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66823B1D-F6C2-4281-88B9-36C50B727CFE}" type="pres">
      <dgm:prSet presAssocID="{41A954D5-9F7F-4EA4-8CFB-60E27FE47AB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765BC2-B04A-49B8-A8DE-DF48122918D7}" type="pres">
      <dgm:prSet presAssocID="{41A954D5-9F7F-4EA4-8CFB-60E27FE47AB3}" presName="negativeSpace" presStyleCnt="0"/>
      <dgm:spPr/>
    </dgm:pt>
    <dgm:pt modelId="{11E8BBB4-010E-40E1-AD43-8C2A66A0EBC5}" type="pres">
      <dgm:prSet presAssocID="{41A954D5-9F7F-4EA4-8CFB-60E27FE47AB3}" presName="childText" presStyleLbl="conFgAcc1" presStyleIdx="2" presStyleCnt="5">
        <dgm:presLayoutVars>
          <dgm:bulletEnabled val="1"/>
        </dgm:presLayoutVars>
      </dgm:prSet>
      <dgm:spPr/>
    </dgm:pt>
    <dgm:pt modelId="{AB9DA62D-2DDF-4EA2-BAAA-C215473FC2E3}" type="pres">
      <dgm:prSet presAssocID="{A7A36A21-00DA-4323-B382-5397F0C6CC71}" presName="spaceBetweenRectangles" presStyleCnt="0"/>
      <dgm:spPr/>
    </dgm:pt>
    <dgm:pt modelId="{77BFB960-6366-4D97-AA31-A87399D820F0}" type="pres">
      <dgm:prSet presAssocID="{150CA6E8-B8BA-4589-A235-C981053166F2}" presName="parentLin" presStyleCnt="0"/>
      <dgm:spPr/>
    </dgm:pt>
    <dgm:pt modelId="{199F8B14-99CC-4E46-A6A2-6AF34154615F}" type="pres">
      <dgm:prSet presAssocID="{150CA6E8-B8BA-4589-A235-C981053166F2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45C6520A-9A1E-46C6-9530-D782F5389ED4}" type="pres">
      <dgm:prSet presAssocID="{150CA6E8-B8BA-4589-A235-C981053166F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BC7931-62C8-42E2-B56B-8C01588E7996}" type="pres">
      <dgm:prSet presAssocID="{150CA6E8-B8BA-4589-A235-C981053166F2}" presName="negativeSpace" presStyleCnt="0"/>
      <dgm:spPr/>
    </dgm:pt>
    <dgm:pt modelId="{1119ACE5-0711-400E-B642-ECFA2409C000}" type="pres">
      <dgm:prSet presAssocID="{150CA6E8-B8BA-4589-A235-C981053166F2}" presName="childText" presStyleLbl="conFgAcc1" presStyleIdx="3" presStyleCnt="5">
        <dgm:presLayoutVars>
          <dgm:bulletEnabled val="1"/>
        </dgm:presLayoutVars>
      </dgm:prSet>
      <dgm:spPr/>
    </dgm:pt>
    <dgm:pt modelId="{E9B97B2E-1BFA-4835-98A4-7072AC0FB508}" type="pres">
      <dgm:prSet presAssocID="{257A94AA-7192-43BA-B7B9-1223A8F638D4}" presName="spaceBetweenRectangles" presStyleCnt="0"/>
      <dgm:spPr/>
    </dgm:pt>
    <dgm:pt modelId="{6CCAB765-9C16-4465-88B4-E3FC56A424FC}" type="pres">
      <dgm:prSet presAssocID="{669F498B-1CF0-4348-B0D5-B272DACA4B95}" presName="parentLin" presStyleCnt="0"/>
      <dgm:spPr/>
    </dgm:pt>
    <dgm:pt modelId="{4C64103F-2E6F-4DF2-B86D-B5578B08BEF9}" type="pres">
      <dgm:prSet presAssocID="{669F498B-1CF0-4348-B0D5-B272DACA4B95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A0F8002C-865C-4DE8-AD77-BB535B24B68E}" type="pres">
      <dgm:prSet presAssocID="{669F498B-1CF0-4348-B0D5-B272DACA4B9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D9EB4-0089-4CEC-9CBC-6F36E87C410A}" type="pres">
      <dgm:prSet presAssocID="{669F498B-1CF0-4348-B0D5-B272DACA4B95}" presName="negativeSpace" presStyleCnt="0"/>
      <dgm:spPr/>
    </dgm:pt>
    <dgm:pt modelId="{3D10B46B-1962-4D7B-8DCD-7E51DC34CC29}" type="pres">
      <dgm:prSet presAssocID="{669F498B-1CF0-4348-B0D5-B272DACA4B9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0D465FA-0B21-4264-8369-F62C1040AB92}" type="presOf" srcId="{41A954D5-9F7F-4EA4-8CFB-60E27FE47AB3}" destId="{66823B1D-F6C2-4281-88B9-36C50B727CFE}" srcOrd="1" destOrd="0" presId="urn:microsoft.com/office/officeart/2005/8/layout/list1"/>
    <dgm:cxn modelId="{BC6B848A-F781-4B23-9323-C14FBF737DD7}" srcId="{464BD90D-E1E5-49A4-9F01-B0DAFF97C9BF}" destId="{D530FA5E-B92C-4CD3-8C5C-7297D6439D95}" srcOrd="1" destOrd="0" parTransId="{4587FE7B-7116-424D-84C7-856EB8E12AAE}" sibTransId="{C67ECD9E-39E3-482F-B5AF-9D54766E8986}"/>
    <dgm:cxn modelId="{A84DFC00-DE08-446F-B7EB-14FD5DF06281}" srcId="{464BD90D-E1E5-49A4-9F01-B0DAFF97C9BF}" destId="{A2E1CCAE-DE8B-4CB5-BC7E-147748A1DDC8}" srcOrd="0" destOrd="0" parTransId="{B1241DBD-410A-42F9-BDD0-5568EEDFE42C}" sibTransId="{653D0BF3-9A1A-4A71-B1C4-FFCDA402BF94}"/>
    <dgm:cxn modelId="{79BBDDF2-0D91-4A86-9828-7821F6D86880}" srcId="{464BD90D-E1E5-49A4-9F01-B0DAFF97C9BF}" destId="{41A954D5-9F7F-4EA4-8CFB-60E27FE47AB3}" srcOrd="2" destOrd="0" parTransId="{55CE6970-191B-439B-8358-B91C6ABF270C}" sibTransId="{A7A36A21-00DA-4323-B382-5397F0C6CC71}"/>
    <dgm:cxn modelId="{764C9BCC-5970-4B33-9E93-E56333F4F6A5}" type="presOf" srcId="{669F498B-1CF0-4348-B0D5-B272DACA4B95}" destId="{4C64103F-2E6F-4DF2-B86D-B5578B08BEF9}" srcOrd="0" destOrd="0" presId="urn:microsoft.com/office/officeart/2005/8/layout/list1"/>
    <dgm:cxn modelId="{FCF3A4C4-87AF-499B-A7A9-4A2A64B97F4F}" type="presOf" srcId="{A2E1CCAE-DE8B-4CB5-BC7E-147748A1DDC8}" destId="{632A397D-1BF4-4DE6-9CC3-60CC09646DE8}" srcOrd="0" destOrd="0" presId="urn:microsoft.com/office/officeart/2005/8/layout/list1"/>
    <dgm:cxn modelId="{4E0CFBA1-80A8-4ECA-97ED-B817AB24D463}" srcId="{464BD90D-E1E5-49A4-9F01-B0DAFF97C9BF}" destId="{669F498B-1CF0-4348-B0D5-B272DACA4B95}" srcOrd="4" destOrd="0" parTransId="{88F6F2FF-8062-4EEC-82F0-C0CF0288C4F7}" sibTransId="{B79D8D89-9050-4CE3-82CB-1007798B6A05}"/>
    <dgm:cxn modelId="{D565BBF2-D508-47A9-9968-EA825F3A47C1}" type="presOf" srcId="{41A954D5-9F7F-4EA4-8CFB-60E27FE47AB3}" destId="{5CEF2E62-E85D-4991-ABEA-417283079D52}" srcOrd="0" destOrd="0" presId="urn:microsoft.com/office/officeart/2005/8/layout/list1"/>
    <dgm:cxn modelId="{1063930D-9F68-4D35-BC0D-F6A020CA3AFD}" type="presOf" srcId="{150CA6E8-B8BA-4589-A235-C981053166F2}" destId="{199F8B14-99CC-4E46-A6A2-6AF34154615F}" srcOrd="0" destOrd="0" presId="urn:microsoft.com/office/officeart/2005/8/layout/list1"/>
    <dgm:cxn modelId="{E72F1FF8-A313-48D4-8A36-3944C9942A6B}" type="presOf" srcId="{464BD90D-E1E5-49A4-9F01-B0DAFF97C9BF}" destId="{8A011081-77FD-444C-88E9-55CD33893194}" srcOrd="0" destOrd="0" presId="urn:microsoft.com/office/officeart/2005/8/layout/list1"/>
    <dgm:cxn modelId="{71CA4C15-7FD8-4D49-90DA-8C0576CD1391}" type="presOf" srcId="{669F498B-1CF0-4348-B0D5-B272DACA4B95}" destId="{A0F8002C-865C-4DE8-AD77-BB535B24B68E}" srcOrd="1" destOrd="0" presId="urn:microsoft.com/office/officeart/2005/8/layout/list1"/>
    <dgm:cxn modelId="{00F99597-5CB1-4821-B6CF-9EE671E42916}" srcId="{464BD90D-E1E5-49A4-9F01-B0DAFF97C9BF}" destId="{150CA6E8-B8BA-4589-A235-C981053166F2}" srcOrd="3" destOrd="0" parTransId="{F06925F2-EF60-4279-B024-1FFBC9E925F7}" sibTransId="{257A94AA-7192-43BA-B7B9-1223A8F638D4}"/>
    <dgm:cxn modelId="{31D82CFC-B66B-4F8F-A0BE-2ED60F27A056}" type="presOf" srcId="{D530FA5E-B92C-4CD3-8C5C-7297D6439D95}" destId="{4DF3FADD-9029-4455-A408-17ACA1EE7DB8}" srcOrd="1" destOrd="0" presId="urn:microsoft.com/office/officeart/2005/8/layout/list1"/>
    <dgm:cxn modelId="{BCAF0EB7-BB09-4646-BC6C-C20892EDC212}" type="presOf" srcId="{D530FA5E-B92C-4CD3-8C5C-7297D6439D95}" destId="{442EFD64-468A-4E17-ABD0-D1389152FB19}" srcOrd="0" destOrd="0" presId="urn:microsoft.com/office/officeart/2005/8/layout/list1"/>
    <dgm:cxn modelId="{90B6ECCC-BB85-4D93-8DD3-B5AD10D87919}" type="presOf" srcId="{A2E1CCAE-DE8B-4CB5-BC7E-147748A1DDC8}" destId="{38A7CE4D-1B8B-4ED4-914A-AC9D7749FB67}" srcOrd="1" destOrd="0" presId="urn:microsoft.com/office/officeart/2005/8/layout/list1"/>
    <dgm:cxn modelId="{16AC60EE-2CA9-4DF3-89D5-652F39F74467}" type="presOf" srcId="{150CA6E8-B8BA-4589-A235-C981053166F2}" destId="{45C6520A-9A1E-46C6-9530-D782F5389ED4}" srcOrd="1" destOrd="0" presId="urn:microsoft.com/office/officeart/2005/8/layout/list1"/>
    <dgm:cxn modelId="{C7B0E00B-56B0-4B25-918C-B91715923943}" type="presParOf" srcId="{8A011081-77FD-444C-88E9-55CD33893194}" destId="{3C9EC951-792A-417B-91CE-A6E3482EE53A}" srcOrd="0" destOrd="0" presId="urn:microsoft.com/office/officeart/2005/8/layout/list1"/>
    <dgm:cxn modelId="{C5E21762-A67C-4680-B3E3-4248EF342181}" type="presParOf" srcId="{3C9EC951-792A-417B-91CE-A6E3482EE53A}" destId="{632A397D-1BF4-4DE6-9CC3-60CC09646DE8}" srcOrd="0" destOrd="0" presId="urn:microsoft.com/office/officeart/2005/8/layout/list1"/>
    <dgm:cxn modelId="{DE61E4DE-79C8-4927-82C5-413F2FA5B0A1}" type="presParOf" srcId="{3C9EC951-792A-417B-91CE-A6E3482EE53A}" destId="{38A7CE4D-1B8B-4ED4-914A-AC9D7749FB67}" srcOrd="1" destOrd="0" presId="urn:microsoft.com/office/officeart/2005/8/layout/list1"/>
    <dgm:cxn modelId="{79117F58-5CF3-479C-9CB3-EDF7DBAA4531}" type="presParOf" srcId="{8A011081-77FD-444C-88E9-55CD33893194}" destId="{6C01E940-70EB-423A-8F66-7957A849F5DE}" srcOrd="1" destOrd="0" presId="urn:microsoft.com/office/officeart/2005/8/layout/list1"/>
    <dgm:cxn modelId="{A0EB34CE-8154-4B81-BC12-2B14CFCB7A2C}" type="presParOf" srcId="{8A011081-77FD-444C-88E9-55CD33893194}" destId="{5FA55CF9-3DDB-463B-B1E8-469EB426141D}" srcOrd="2" destOrd="0" presId="urn:microsoft.com/office/officeart/2005/8/layout/list1"/>
    <dgm:cxn modelId="{0011A69F-395D-4529-ACF8-9FED055291E3}" type="presParOf" srcId="{8A011081-77FD-444C-88E9-55CD33893194}" destId="{7801E96A-6279-4B54-B637-FD9E3552859A}" srcOrd="3" destOrd="0" presId="urn:microsoft.com/office/officeart/2005/8/layout/list1"/>
    <dgm:cxn modelId="{2F3C0A9E-D987-41E3-A045-FF585A58DC25}" type="presParOf" srcId="{8A011081-77FD-444C-88E9-55CD33893194}" destId="{7029ADD4-0E54-48D4-9D66-2F216325D3D3}" srcOrd="4" destOrd="0" presId="urn:microsoft.com/office/officeart/2005/8/layout/list1"/>
    <dgm:cxn modelId="{8C346E1B-B20B-44D3-967E-5FDC0ADDAC98}" type="presParOf" srcId="{7029ADD4-0E54-48D4-9D66-2F216325D3D3}" destId="{442EFD64-468A-4E17-ABD0-D1389152FB19}" srcOrd="0" destOrd="0" presId="urn:microsoft.com/office/officeart/2005/8/layout/list1"/>
    <dgm:cxn modelId="{D4A0F367-A0F3-4FD3-ADCD-9B937F241B76}" type="presParOf" srcId="{7029ADD4-0E54-48D4-9D66-2F216325D3D3}" destId="{4DF3FADD-9029-4455-A408-17ACA1EE7DB8}" srcOrd="1" destOrd="0" presId="urn:microsoft.com/office/officeart/2005/8/layout/list1"/>
    <dgm:cxn modelId="{972D65A8-7577-49C1-A04B-54C4D4AA534D}" type="presParOf" srcId="{8A011081-77FD-444C-88E9-55CD33893194}" destId="{0CB93E99-C6EA-44D2-9754-057A5F0E08AC}" srcOrd="5" destOrd="0" presId="urn:microsoft.com/office/officeart/2005/8/layout/list1"/>
    <dgm:cxn modelId="{55309BCF-4397-4FD0-B751-5A97ED9D2EFC}" type="presParOf" srcId="{8A011081-77FD-444C-88E9-55CD33893194}" destId="{783DD285-1648-410C-8056-2DEA56CD2275}" srcOrd="6" destOrd="0" presId="urn:microsoft.com/office/officeart/2005/8/layout/list1"/>
    <dgm:cxn modelId="{12C80D07-C0F7-44E7-8132-8B02F1CF0D0D}" type="presParOf" srcId="{8A011081-77FD-444C-88E9-55CD33893194}" destId="{BA2CD5BF-A292-4678-959E-6F9D4A10BCA5}" srcOrd="7" destOrd="0" presId="urn:microsoft.com/office/officeart/2005/8/layout/list1"/>
    <dgm:cxn modelId="{23F45F12-94CB-44F2-A71D-585D456EE8A0}" type="presParOf" srcId="{8A011081-77FD-444C-88E9-55CD33893194}" destId="{60510BAA-00C7-497C-AE30-E1DED0100205}" srcOrd="8" destOrd="0" presId="urn:microsoft.com/office/officeart/2005/8/layout/list1"/>
    <dgm:cxn modelId="{08656323-AA00-4961-8740-58EED3C7D964}" type="presParOf" srcId="{60510BAA-00C7-497C-AE30-E1DED0100205}" destId="{5CEF2E62-E85D-4991-ABEA-417283079D52}" srcOrd="0" destOrd="0" presId="urn:microsoft.com/office/officeart/2005/8/layout/list1"/>
    <dgm:cxn modelId="{8F2CEF95-282B-4188-A708-461CB4152678}" type="presParOf" srcId="{60510BAA-00C7-497C-AE30-E1DED0100205}" destId="{66823B1D-F6C2-4281-88B9-36C50B727CFE}" srcOrd="1" destOrd="0" presId="urn:microsoft.com/office/officeart/2005/8/layout/list1"/>
    <dgm:cxn modelId="{62435D67-5F02-401A-ABA3-6CD74A3090C0}" type="presParOf" srcId="{8A011081-77FD-444C-88E9-55CD33893194}" destId="{5D765BC2-B04A-49B8-A8DE-DF48122918D7}" srcOrd="9" destOrd="0" presId="urn:microsoft.com/office/officeart/2005/8/layout/list1"/>
    <dgm:cxn modelId="{50AC93BB-7590-4B42-861B-246D78789EC9}" type="presParOf" srcId="{8A011081-77FD-444C-88E9-55CD33893194}" destId="{11E8BBB4-010E-40E1-AD43-8C2A66A0EBC5}" srcOrd="10" destOrd="0" presId="urn:microsoft.com/office/officeart/2005/8/layout/list1"/>
    <dgm:cxn modelId="{024AE51E-54D4-42B8-959E-A164ABC8E6E4}" type="presParOf" srcId="{8A011081-77FD-444C-88E9-55CD33893194}" destId="{AB9DA62D-2DDF-4EA2-BAAA-C215473FC2E3}" srcOrd="11" destOrd="0" presId="urn:microsoft.com/office/officeart/2005/8/layout/list1"/>
    <dgm:cxn modelId="{7C75351A-FC48-4A19-A507-0BD02726423B}" type="presParOf" srcId="{8A011081-77FD-444C-88E9-55CD33893194}" destId="{77BFB960-6366-4D97-AA31-A87399D820F0}" srcOrd="12" destOrd="0" presId="urn:microsoft.com/office/officeart/2005/8/layout/list1"/>
    <dgm:cxn modelId="{DD9E61BC-D09D-4BC8-975D-2850AE86605D}" type="presParOf" srcId="{77BFB960-6366-4D97-AA31-A87399D820F0}" destId="{199F8B14-99CC-4E46-A6A2-6AF34154615F}" srcOrd="0" destOrd="0" presId="urn:microsoft.com/office/officeart/2005/8/layout/list1"/>
    <dgm:cxn modelId="{49E35A2A-6535-4011-B660-06D1D2C01D25}" type="presParOf" srcId="{77BFB960-6366-4D97-AA31-A87399D820F0}" destId="{45C6520A-9A1E-46C6-9530-D782F5389ED4}" srcOrd="1" destOrd="0" presId="urn:microsoft.com/office/officeart/2005/8/layout/list1"/>
    <dgm:cxn modelId="{A9264560-C3DF-47A0-9906-DD6170ABE3CE}" type="presParOf" srcId="{8A011081-77FD-444C-88E9-55CD33893194}" destId="{94BC7931-62C8-42E2-B56B-8C01588E7996}" srcOrd="13" destOrd="0" presId="urn:microsoft.com/office/officeart/2005/8/layout/list1"/>
    <dgm:cxn modelId="{EA77135F-796D-486F-A09B-5DC2CDF68F1E}" type="presParOf" srcId="{8A011081-77FD-444C-88E9-55CD33893194}" destId="{1119ACE5-0711-400E-B642-ECFA2409C000}" srcOrd="14" destOrd="0" presId="urn:microsoft.com/office/officeart/2005/8/layout/list1"/>
    <dgm:cxn modelId="{53A4DB7D-95F4-4B3D-B32D-365318C6B570}" type="presParOf" srcId="{8A011081-77FD-444C-88E9-55CD33893194}" destId="{E9B97B2E-1BFA-4835-98A4-7072AC0FB508}" srcOrd="15" destOrd="0" presId="urn:microsoft.com/office/officeart/2005/8/layout/list1"/>
    <dgm:cxn modelId="{2A048F27-3EF0-4AAC-8BAE-F872F454B879}" type="presParOf" srcId="{8A011081-77FD-444C-88E9-55CD33893194}" destId="{6CCAB765-9C16-4465-88B4-E3FC56A424FC}" srcOrd="16" destOrd="0" presId="urn:microsoft.com/office/officeart/2005/8/layout/list1"/>
    <dgm:cxn modelId="{375A848A-7F05-4F11-83C4-63BADCF8A155}" type="presParOf" srcId="{6CCAB765-9C16-4465-88B4-E3FC56A424FC}" destId="{4C64103F-2E6F-4DF2-B86D-B5578B08BEF9}" srcOrd="0" destOrd="0" presId="urn:microsoft.com/office/officeart/2005/8/layout/list1"/>
    <dgm:cxn modelId="{5197AC3D-709A-4CE7-B947-14B5FF1C3A95}" type="presParOf" srcId="{6CCAB765-9C16-4465-88B4-E3FC56A424FC}" destId="{A0F8002C-865C-4DE8-AD77-BB535B24B68E}" srcOrd="1" destOrd="0" presId="urn:microsoft.com/office/officeart/2005/8/layout/list1"/>
    <dgm:cxn modelId="{5A680F57-2705-4BC7-BB3B-3AE358D72191}" type="presParOf" srcId="{8A011081-77FD-444C-88E9-55CD33893194}" destId="{19FD9EB4-0089-4CEC-9CBC-6F36E87C410A}" srcOrd="17" destOrd="0" presId="urn:microsoft.com/office/officeart/2005/8/layout/list1"/>
    <dgm:cxn modelId="{6A6FB796-E643-4FEF-8CD4-6E2AE401ADFA}" type="presParOf" srcId="{8A011081-77FD-444C-88E9-55CD33893194}" destId="{3D10B46B-1962-4D7B-8DCD-7E51DC34CC29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36C13-43B0-4D10-8390-F9B878C7447A}">
      <dsp:nvSpPr>
        <dsp:cNvPr id="0" name=""/>
        <dsp:cNvSpPr/>
      </dsp:nvSpPr>
      <dsp:spPr>
        <a:xfrm>
          <a:off x="48" y="28199"/>
          <a:ext cx="4655732" cy="1728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 rtl="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Existence dependence</a:t>
          </a:r>
        </a:p>
      </dsp:txBody>
      <dsp:txXfrm>
        <a:off x="48" y="28199"/>
        <a:ext cx="4655732" cy="1728000"/>
      </dsp:txXfrm>
    </dsp:sp>
    <dsp:sp modelId="{7F2B0772-6855-4052-BA10-A8978AD21703}">
      <dsp:nvSpPr>
        <dsp:cNvPr id="0" name=""/>
        <dsp:cNvSpPr/>
      </dsp:nvSpPr>
      <dsp:spPr>
        <a:xfrm>
          <a:off x="48" y="1756200"/>
          <a:ext cx="4655732" cy="2635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/>
            <a:t>Entity exists in the database only when it is associated with another related entity </a:t>
          </a:r>
          <a:r>
            <a:rPr lang="en-US" sz="2400" kern="1200" dirty="0" smtClean="0"/>
            <a:t>occurrence </a:t>
          </a:r>
          <a:r>
            <a:rPr lang="en-US" sz="2400" b="1" kern="1200" dirty="0" smtClean="0"/>
            <a:t>(weak entity)</a:t>
          </a:r>
          <a:endParaRPr lang="en-US" sz="2800" b="1" kern="1200" dirty="0"/>
        </a:p>
      </dsp:txBody>
      <dsp:txXfrm>
        <a:off x="48" y="1756200"/>
        <a:ext cx="4655732" cy="2635200"/>
      </dsp:txXfrm>
    </dsp:sp>
    <dsp:sp modelId="{1A081979-A391-4D53-A5EA-5C305E16E502}">
      <dsp:nvSpPr>
        <dsp:cNvPr id="0" name=""/>
        <dsp:cNvSpPr/>
      </dsp:nvSpPr>
      <dsp:spPr>
        <a:xfrm>
          <a:off x="5307583" y="28199"/>
          <a:ext cx="4655732" cy="1728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 rtl="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Existence independence</a:t>
          </a:r>
          <a:endParaRPr lang="en-US" sz="2400" kern="1200" dirty="0"/>
        </a:p>
      </dsp:txBody>
      <dsp:txXfrm>
        <a:off x="5307583" y="28199"/>
        <a:ext cx="4655732" cy="1728000"/>
      </dsp:txXfrm>
    </dsp:sp>
    <dsp:sp modelId="{050BEC70-4DB3-444E-BEAF-F12DA862F7BB}">
      <dsp:nvSpPr>
        <dsp:cNvPr id="0" name=""/>
        <dsp:cNvSpPr/>
      </dsp:nvSpPr>
      <dsp:spPr>
        <a:xfrm>
          <a:off x="5307583" y="1756200"/>
          <a:ext cx="4655732" cy="2635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/>
            <a:t>Entity exists apart from all of its related entities</a:t>
          </a:r>
        </a:p>
        <a:p>
          <a:pPr marL="228600" lvl="1" indent="-228600" algn="l" defTabSz="10668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/>
            <a:t>Referred to as a </a:t>
          </a:r>
          <a:r>
            <a:rPr lang="en-US" sz="2400" b="1" kern="1200" dirty="0"/>
            <a:t>strong entity</a:t>
          </a:r>
          <a:r>
            <a:rPr lang="en-US" sz="2400" kern="1200" dirty="0"/>
            <a:t> or </a:t>
          </a:r>
          <a:r>
            <a:rPr lang="en-US" sz="2400" b="1" kern="1200" dirty="0"/>
            <a:t>regular entity</a:t>
          </a:r>
          <a:endParaRPr lang="en-US" sz="2400" kern="1200" dirty="0"/>
        </a:p>
      </dsp:txBody>
      <dsp:txXfrm>
        <a:off x="5307583" y="1756200"/>
        <a:ext cx="4655732" cy="2635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F9D14-184F-4DB3-81C2-8E6B82FAB0E7}">
      <dsp:nvSpPr>
        <dsp:cNvPr id="0" name=""/>
        <dsp:cNvSpPr/>
      </dsp:nvSpPr>
      <dsp:spPr>
        <a:xfrm>
          <a:off x="0" y="22424"/>
          <a:ext cx="8458200" cy="1029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/>
            <a:t>Optional participation</a:t>
          </a:r>
          <a:endParaRPr lang="en-US" sz="3200" kern="1200" dirty="0"/>
        </a:p>
      </dsp:txBody>
      <dsp:txXfrm>
        <a:off x="50261" y="72685"/>
        <a:ext cx="8357678" cy="929078"/>
      </dsp:txXfrm>
    </dsp:sp>
    <dsp:sp modelId="{28469B5E-00E4-4F8F-9A9E-14D566D8F1C8}">
      <dsp:nvSpPr>
        <dsp:cNvPr id="0" name=""/>
        <dsp:cNvSpPr/>
      </dsp:nvSpPr>
      <dsp:spPr>
        <a:xfrm>
          <a:off x="0" y="1052024"/>
          <a:ext cx="8458200" cy="1252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35560" rIns="199136" bIns="3556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800" kern="1200" dirty="0"/>
            <a:t>One entity occurrence does not require a corresponding entity occurrence in a particular relationship</a:t>
          </a:r>
          <a:endParaRPr lang="en-IN" sz="2800" kern="1200" dirty="0"/>
        </a:p>
      </dsp:txBody>
      <dsp:txXfrm>
        <a:off x="0" y="1052024"/>
        <a:ext cx="8458200" cy="1252350"/>
      </dsp:txXfrm>
    </dsp:sp>
    <dsp:sp modelId="{49CBCBA1-78BD-41F0-8A83-BD2906B6BCC2}">
      <dsp:nvSpPr>
        <dsp:cNvPr id="0" name=""/>
        <dsp:cNvSpPr/>
      </dsp:nvSpPr>
      <dsp:spPr>
        <a:xfrm>
          <a:off x="0" y="2304374"/>
          <a:ext cx="8458200" cy="1029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/>
            <a:t>Mandatory participation</a:t>
          </a:r>
          <a:endParaRPr lang="en-US" sz="3200" kern="1200" dirty="0"/>
        </a:p>
      </dsp:txBody>
      <dsp:txXfrm>
        <a:off x="50261" y="2354635"/>
        <a:ext cx="8357678" cy="929078"/>
      </dsp:txXfrm>
    </dsp:sp>
    <dsp:sp modelId="{174605DB-F190-4DBA-A095-E9373B4C1DA6}">
      <dsp:nvSpPr>
        <dsp:cNvPr id="0" name=""/>
        <dsp:cNvSpPr/>
      </dsp:nvSpPr>
      <dsp:spPr>
        <a:xfrm>
          <a:off x="0" y="3333975"/>
          <a:ext cx="8458200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35560" rIns="199136" bIns="3556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800" kern="1200" dirty="0"/>
            <a:t>One entity occurrence requires a corresponding entity occurrence in a particular relationship</a:t>
          </a:r>
          <a:endParaRPr lang="en-IN" sz="2800" kern="1200" dirty="0"/>
        </a:p>
      </dsp:txBody>
      <dsp:txXfrm>
        <a:off x="0" y="3333975"/>
        <a:ext cx="8458200" cy="910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55CF9-3DDB-463B-B1E8-469EB426141D}">
      <dsp:nvSpPr>
        <dsp:cNvPr id="0" name=""/>
        <dsp:cNvSpPr/>
      </dsp:nvSpPr>
      <dsp:spPr>
        <a:xfrm>
          <a:off x="0" y="338038"/>
          <a:ext cx="822960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7CE4D-1B8B-4ED4-914A-AC9D7749FB67}">
      <dsp:nvSpPr>
        <dsp:cNvPr id="0" name=""/>
        <dsp:cNvSpPr/>
      </dsp:nvSpPr>
      <dsp:spPr>
        <a:xfrm>
          <a:off x="411480" y="13318"/>
          <a:ext cx="5760720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Non intelligent </a:t>
          </a:r>
          <a:endParaRPr lang="en-CA" sz="2200" kern="1200"/>
        </a:p>
      </dsp:txBody>
      <dsp:txXfrm>
        <a:off x="443183" y="45021"/>
        <a:ext cx="5697314" cy="586034"/>
      </dsp:txXfrm>
    </dsp:sp>
    <dsp:sp modelId="{783DD285-1648-410C-8056-2DEA56CD2275}">
      <dsp:nvSpPr>
        <dsp:cNvPr id="0" name=""/>
        <dsp:cNvSpPr/>
      </dsp:nvSpPr>
      <dsp:spPr>
        <a:xfrm>
          <a:off x="0" y="1335958"/>
          <a:ext cx="822960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3FADD-9029-4455-A408-17ACA1EE7DB8}">
      <dsp:nvSpPr>
        <dsp:cNvPr id="0" name=""/>
        <dsp:cNvSpPr/>
      </dsp:nvSpPr>
      <dsp:spPr>
        <a:xfrm>
          <a:off x="411480" y="1011239"/>
          <a:ext cx="5760720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No change over time </a:t>
          </a:r>
          <a:endParaRPr lang="en-CA" sz="2200" kern="1200"/>
        </a:p>
      </dsp:txBody>
      <dsp:txXfrm>
        <a:off x="443183" y="1042942"/>
        <a:ext cx="5697314" cy="586034"/>
      </dsp:txXfrm>
    </dsp:sp>
    <dsp:sp modelId="{11E8BBB4-010E-40E1-AD43-8C2A66A0EBC5}">
      <dsp:nvSpPr>
        <dsp:cNvPr id="0" name=""/>
        <dsp:cNvSpPr/>
      </dsp:nvSpPr>
      <dsp:spPr>
        <a:xfrm>
          <a:off x="0" y="2333879"/>
          <a:ext cx="822960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823B1D-F6C2-4281-88B9-36C50B727CFE}">
      <dsp:nvSpPr>
        <dsp:cNvPr id="0" name=""/>
        <dsp:cNvSpPr/>
      </dsp:nvSpPr>
      <dsp:spPr>
        <a:xfrm>
          <a:off x="411480" y="2009158"/>
          <a:ext cx="5760720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Preferably single-attribute</a:t>
          </a:r>
          <a:endParaRPr lang="en-CA" sz="2200" kern="1200"/>
        </a:p>
      </dsp:txBody>
      <dsp:txXfrm>
        <a:off x="443183" y="2040861"/>
        <a:ext cx="5697314" cy="586034"/>
      </dsp:txXfrm>
    </dsp:sp>
    <dsp:sp modelId="{1119ACE5-0711-400E-B642-ECFA2409C000}">
      <dsp:nvSpPr>
        <dsp:cNvPr id="0" name=""/>
        <dsp:cNvSpPr/>
      </dsp:nvSpPr>
      <dsp:spPr>
        <a:xfrm>
          <a:off x="0" y="3331799"/>
          <a:ext cx="822960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6520A-9A1E-46C6-9530-D782F5389ED4}">
      <dsp:nvSpPr>
        <dsp:cNvPr id="0" name=""/>
        <dsp:cNvSpPr/>
      </dsp:nvSpPr>
      <dsp:spPr>
        <a:xfrm>
          <a:off x="411480" y="3007079"/>
          <a:ext cx="5760720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Preferably numeric</a:t>
          </a:r>
          <a:endParaRPr lang="en-CA" sz="2200" kern="1200"/>
        </a:p>
      </dsp:txBody>
      <dsp:txXfrm>
        <a:off x="443183" y="3038782"/>
        <a:ext cx="5697314" cy="586034"/>
      </dsp:txXfrm>
    </dsp:sp>
    <dsp:sp modelId="{3D10B46B-1962-4D7B-8DCD-7E51DC34CC29}">
      <dsp:nvSpPr>
        <dsp:cNvPr id="0" name=""/>
        <dsp:cNvSpPr/>
      </dsp:nvSpPr>
      <dsp:spPr>
        <a:xfrm>
          <a:off x="0" y="4329719"/>
          <a:ext cx="822960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8002C-865C-4DE8-AD77-BB535B24B68E}">
      <dsp:nvSpPr>
        <dsp:cNvPr id="0" name=""/>
        <dsp:cNvSpPr/>
      </dsp:nvSpPr>
      <dsp:spPr>
        <a:xfrm>
          <a:off x="411480" y="4004999"/>
          <a:ext cx="5760720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Security-compliant</a:t>
          </a:r>
          <a:endParaRPr lang="en-CA" sz="2200" kern="1200"/>
        </a:p>
      </dsp:txBody>
      <dsp:txXfrm>
        <a:off x="443183" y="4036702"/>
        <a:ext cx="569731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CFF6B-943C-4681-864D-D49BF6B9501E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0F3B-D70C-4D5E-B99B-3FE48113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7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xmlns="" id="{B9E98229-6AC2-4927-9873-C408193C0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F6F277-0C74-400E-A1FB-75CA397A6439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xmlns="" id="{E4C78276-FDF4-4E74-8ECA-2D87D43A2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xmlns="" id="{35AE802B-F775-4717-A665-14D192FCD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NCC Education - Slide Master</a:t>
            </a:r>
          </a:p>
        </p:txBody>
      </p:sp>
    </p:spTree>
    <p:extLst>
      <p:ext uri="{BB962C8B-B14F-4D97-AF65-F5344CB8AC3E}">
        <p14:creationId xmlns:p14="http://schemas.microsoft.com/office/powerpoint/2010/main" val="3032992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xmlns="" id="{601066DE-B46B-4F30-BDDA-7EE2223F8A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xmlns="" id="{B14A15BC-C986-485B-B22F-96E8BA14A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34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>
            <a:extLst>
              <a:ext uri="{FF2B5EF4-FFF2-40B4-BE49-F238E27FC236}">
                <a16:creationId xmlns:a16="http://schemas.microsoft.com/office/drawing/2014/main" xmlns="" id="{7FCDD2D9-1546-4C91-B182-53C3E5C548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1027">
            <a:extLst>
              <a:ext uri="{FF2B5EF4-FFF2-40B4-BE49-F238E27FC236}">
                <a16:creationId xmlns:a16="http://schemas.microsoft.com/office/drawing/2014/main" xmlns="" id="{58B1F358-64E7-4595-9E4B-874F908AEE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915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xmlns="" id="{E6DE5522-8E43-420A-A056-560AF1B84B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xmlns="" id="{193D3C60-C7C8-471D-B396-F4F56ACF5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7451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xmlns="" id="{C1BDE8E9-F252-42B7-B120-03D8B2CC93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xmlns="" id="{E856D795-F100-4081-B20A-8AD3BE86C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8019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xmlns="" id="{01AA390C-D33D-411E-B3CD-6A778B9B86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xmlns="" id="{66632753-C9C6-47B5-88BA-EF5914690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3215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xmlns="" id="{21E2D931-5CAD-41E2-A0E9-EC9F44D68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xmlns="" id="{228994FF-C9D9-44FE-92F7-1DC0C9B29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2038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xmlns="" id="{67219B7D-AB8F-4A8A-B9BB-8ED4396773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810D9F1E-5AAE-4EA6-9624-F4C7D3270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2594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xmlns="" id="{E453B485-7F0D-468A-A3F2-0AB92DD22B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xmlns="" id="{89F94E26-66A1-4177-A91D-42D9A40FB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544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xmlns="" id="{E111F2A2-03BB-48B6-8E87-C66E857342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xmlns="" id="{820BB51D-3DE5-4F9A-A9EE-3ABC59084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xmlns="" id="{C188F7AC-8B12-412F-85D4-2B7499D56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9664D85-52AF-477F-8475-7EE58F4B351A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175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xmlns="" id="{AE564742-8FA4-4ED4-81D8-CF920927F2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xmlns="" id="{9AF2A7C9-4BF2-42EE-AAAD-F6BDCA792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xmlns="" id="{8ED4C5A1-3690-42A9-A7A9-0608AB2DE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72F820-114A-41EF-8C9F-EF78D6DC6A43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83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xmlns="" id="{E4DFD8B5-7A0B-4C6A-86BC-FC46BA4A87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xmlns="" id="{821DFBB2-30E2-4E3F-A1AC-4FCA6F8C5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xmlns="" id="{30A780A6-06FF-40B2-AA2C-76E2D233A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4DF2D5B-93A5-4A1E-83E8-B78C5766BDD7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128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xmlns="" id="{EA551D0C-50B5-4646-8FB4-836FD5171D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xmlns="" id="{C0F165E3-FC30-4D44-AA3C-A47281478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xmlns="" id="{418BEFD1-3DD7-4823-88FE-4E9CC2BBB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966F9AE-FD89-4EAB-ABAC-2F68FAA9A933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942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xmlns="" id="{5F63440D-E304-4B56-B3D0-E414787838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xmlns="" id="{C68ED009-F2DA-4D8C-9E3D-6FF7ED5CF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xmlns="" id="{2BEB55F6-5D28-40BD-A9AD-282F3C3D3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DEA4CEA-4903-475B-AF43-300E3F63D66E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19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B3FF77-BA6B-4FC5-B1AB-D3565D008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200E80-6DA0-4867-BB2A-029822C85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2C1A6A-CF05-44DB-B536-338D481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55E442-EC83-4A4A-8D0E-A73DA4D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CEC075-30C2-4F80-B23F-4696AE89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BE3F2D-F426-414B-8459-F3BB322B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2AD7DD-41FC-4F58-A5D7-1AB9FFB3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D64FC1-DD2B-40EF-B4ED-EF5FC06C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3107AB-A3DF-44A1-BF7E-7A8BC2D9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2FF080-246F-43D2-966B-DDB4F58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6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E209C4-4CE6-4416-8E16-FFCF375B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CB20E4-1145-4BBF-90E7-2043D3258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D1E3D-0284-4278-9CDD-28517836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CE0EF-311B-4320-948B-A7E16FAE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CF42ED-9F4A-462D-B4AF-7273DE7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0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819E23-BBD6-48BC-8C31-88C760E5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A4AE62-C82F-4761-8C46-1AFD04442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2838F3-5264-4B5D-A56E-E2B94A320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FF58A1-78CF-489C-A934-F1CA503E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32C1E0-E42B-4E8C-A50B-DC748C19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39DC3C-D5E4-4B08-918C-EB24D5E4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4DBA8-5CD2-4270-8192-70AC9B07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A2F23-BB3B-4876-BEE0-BD649718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C4B075-4A86-4088-8653-1FE6FEDD5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02A4EB3-7494-4126-ADA1-7C72AB74C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E6F5B88-74D4-4130-ADFE-E1B846104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F78AC17-538E-4CFE-A335-F00830A9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8E90F69-9BF8-45DC-A90F-9879EBAD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AAF99C-9720-4D62-B806-7ACB606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6A31B-42E3-411C-AF11-931243F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9640F0-E8D1-481E-AB2B-BC485C9A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B3AA353-C481-4D1A-BFF3-0C7E98EA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BBC1754-D0CD-491F-971C-D904D47E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8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DA6A44B-11CB-4B98-BA97-40B26BF3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83A931-E466-4960-B950-86BD90A0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BB91E5-0A9D-4057-B4A5-C43A83A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245B8C-A12A-417A-B58D-44E3E084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E265E8-F83C-4C62-842D-036470F5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1FF749-8953-4988-BC6D-5F194DDB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51E09D-8703-4359-A7E8-6564FB5D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3660755-7B5D-4FF2-8948-9A305ACF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504F54-019F-4FFF-A560-C2E2C318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CA7CB-85FC-4545-992D-2F7ED320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D88532-C399-44CA-89A5-102DE4931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C0A3E2-8649-4A55-BD01-D51B9D5E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85A1AF-6D43-48E5-95A6-B6CD6B2A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F6EF7D-142D-4E7F-ABB2-12A87B0F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EE9635-3439-42FE-8F55-896565DC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1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223CC-54FE-440C-A65C-D8EAA1A8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D21E6E-BE63-4D1B-9DD1-0414DC7F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17EC02-4C1E-420C-BC03-C1CCEECE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D844C6-A82E-46BF-8DF7-E4A18FF8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4848E6-4C47-4388-924D-8CD33816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9251429-1C2B-4CEF-9788-F842A6B3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F19692-519F-4DF0-B41D-F637E8FD7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8FE00D-D86F-44DA-A58E-F740F1E4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9BE037-CE50-4994-B45A-D2B7BE42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250EBF-4C49-44FD-9F00-9A92F498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6A7EA1-87F1-4089-AE0B-13AE19F0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EDE96A-5957-4889-B71D-8063FEF1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604720-998A-4BFA-A217-D237A0568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4A9B3-F217-4A55-ACA5-9748B396CB0B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89E370-F09A-4F89-A56D-096879088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EE34A5-2BA4-40BA-9A61-A2D6A72E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3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3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6A6AC-E7BA-4D3C-ACB8-E27234513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Database Design and Implementation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89A4B10-A1D7-447D-A2B5-0E24B7DFC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</a:t>
            </a:r>
          </a:p>
          <a:p>
            <a:r>
              <a:rPr lang="en-US" dirty="0"/>
              <a:t>Entity Relationship Modeling</a:t>
            </a:r>
          </a:p>
        </p:txBody>
      </p:sp>
    </p:spTree>
    <p:extLst>
      <p:ext uri="{BB962C8B-B14F-4D97-AF65-F5344CB8AC3E}">
        <p14:creationId xmlns:p14="http://schemas.microsoft.com/office/powerpoint/2010/main" val="342843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78DCBB2F-EADB-400C-BEB9-05D6E88D4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/>
              <a:t>Agenda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C4577AC5-AA27-42FE-83E4-0438D9A77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This topic will cover:</a:t>
            </a:r>
          </a:p>
          <a:p>
            <a:pPr lvl="1"/>
            <a:r>
              <a:rPr lang="en-US" altLang="en-US" dirty="0"/>
              <a:t>Attributes</a:t>
            </a:r>
          </a:p>
          <a:p>
            <a:pPr lvl="1"/>
            <a:r>
              <a:rPr lang="en-US" altLang="en-US" dirty="0"/>
              <a:t>Entity Relationship Model</a:t>
            </a:r>
          </a:p>
          <a:p>
            <a:pPr lvl="1"/>
            <a:r>
              <a:rPr lang="en-US" altLang="en-US" dirty="0"/>
              <a:t>Relationships</a:t>
            </a:r>
          </a:p>
          <a:p>
            <a:pPr lvl="1"/>
            <a:r>
              <a:rPr lang="en-US" altLang="en-US" dirty="0"/>
              <a:t>Relationship Degree</a:t>
            </a:r>
          </a:p>
          <a:p>
            <a:pPr lvl="1"/>
            <a:r>
              <a:rPr lang="en-US" altLang="en-US" dirty="0"/>
              <a:t>Specialization and Generalization</a:t>
            </a:r>
          </a:p>
          <a:p>
            <a:pPr lvl="1"/>
            <a:r>
              <a:rPr lang="en-US" altLang="en-US" dirty="0"/>
              <a:t>Primary Keys</a:t>
            </a:r>
          </a:p>
          <a:p>
            <a:pPr lvl="1"/>
            <a:endParaRPr lang="en-GB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xmlns="" id="{995333E8-326D-4465-9991-40C0C018C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Attributes</a:t>
            </a:r>
          </a:p>
        </p:txBody>
      </p:sp>
      <p:sp>
        <p:nvSpPr>
          <p:cNvPr id="16387" name="Rectangle 5">
            <a:extLst>
              <a:ext uri="{FF2B5EF4-FFF2-40B4-BE49-F238E27FC236}">
                <a16:creationId xmlns:a16="http://schemas.microsoft.com/office/drawing/2014/main" xmlns="" id="{15EA273C-7414-4EB1-A40D-F04DF22885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90688"/>
            <a:ext cx="11456542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Characteristics of entities</a:t>
            </a:r>
          </a:p>
          <a:p>
            <a:pPr eaLnBrk="1" hangingPunct="1"/>
            <a:r>
              <a:rPr lang="en-US" altLang="en-US" b="1" dirty="0"/>
              <a:t>Required attribute</a:t>
            </a:r>
            <a:r>
              <a:rPr lang="en-US" altLang="en-US" dirty="0"/>
              <a:t>: Must have a value, cannot be left empty</a:t>
            </a:r>
          </a:p>
          <a:p>
            <a:pPr eaLnBrk="1" hangingPunct="1"/>
            <a:r>
              <a:rPr lang="en-US" altLang="en-US" b="1" dirty="0"/>
              <a:t>Optional attribute</a:t>
            </a:r>
            <a:r>
              <a:rPr lang="en-US" altLang="en-US" dirty="0"/>
              <a:t>: Does not require a value, can be left empty</a:t>
            </a:r>
          </a:p>
          <a:p>
            <a:pPr eaLnBrk="1" hangingPunct="1"/>
            <a:r>
              <a:rPr lang="en-US" altLang="en-US" dirty="0"/>
              <a:t>Domain - Set of possible values for a given attribute</a:t>
            </a:r>
          </a:p>
          <a:p>
            <a:pPr eaLnBrk="1" hangingPunct="1"/>
            <a:r>
              <a:rPr lang="en-US" altLang="en-US" b="1" dirty="0"/>
              <a:t>Identifiers</a:t>
            </a:r>
            <a:r>
              <a:rPr lang="en-US" altLang="en-US" dirty="0"/>
              <a:t>: One or more attributes that uniquely identify each entity instance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xmlns="" id="{2F98364D-77B2-4205-B0E2-174FCC6C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18606CC-FC61-496A-8105-4A216D8FC9A0}" type="slidenum">
              <a:rPr lang="en-US" altLang="en-US" sz="1400">
                <a:latin typeface="Times New Roman" panose="02020603050405020304" pitchFamily="18" charset="0"/>
              </a:rPr>
              <a:pPr/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xmlns="" id="{A8DCD92F-85FA-44AD-9372-6D85D12BF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74725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Entity Relationship Model (ERM)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xmlns="" id="{EB24403B-A553-4064-8EF4-0129CDF175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6579" y="1524000"/>
            <a:ext cx="11825555" cy="4648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ER </a:t>
            </a:r>
            <a:r>
              <a:rPr lang="en-US" altLang="en-US" dirty="0"/>
              <a:t>depicts the:</a:t>
            </a:r>
          </a:p>
          <a:p>
            <a:pPr lvl="1" eaLnBrk="1" hangingPunct="1"/>
            <a:r>
              <a:rPr lang="en-US" altLang="en-US" dirty="0"/>
              <a:t>Conceptual database as viewed by end user</a:t>
            </a:r>
          </a:p>
          <a:p>
            <a:pPr lvl="1" eaLnBrk="1" hangingPunct="1"/>
            <a:r>
              <a:rPr lang="en-US" altLang="en-US" dirty="0"/>
              <a:t>Database’s main components</a:t>
            </a:r>
          </a:p>
          <a:p>
            <a:pPr lvl="2" eaLnBrk="1" hangingPunct="1"/>
            <a:r>
              <a:rPr lang="en-US" altLang="en-US" dirty="0"/>
              <a:t>Entities</a:t>
            </a:r>
          </a:p>
          <a:p>
            <a:pPr lvl="2" eaLnBrk="1" hangingPunct="1"/>
            <a:r>
              <a:rPr lang="en-US" altLang="en-US" dirty="0"/>
              <a:t>Attributes</a:t>
            </a:r>
          </a:p>
          <a:p>
            <a:pPr lvl="2" eaLnBrk="1" hangingPunct="1"/>
            <a:r>
              <a:rPr lang="en-US" altLang="en-US" dirty="0" smtClean="0"/>
              <a:t>Relationships</a:t>
            </a:r>
            <a:endParaRPr lang="en-US" altLang="en-US" dirty="0"/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xmlns="" id="{B4DCE603-62CF-46DA-B429-AA35F384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E003A29-707F-4DAE-AD0C-86E7B1637353}" type="slidenum">
              <a:rPr lang="en-US" altLang="en-US" sz="1400">
                <a:latin typeface="Times New Roman" panose="02020603050405020304" pitchFamily="18" charset="0"/>
              </a:rPr>
              <a:pPr/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C2F9DEEC-19BB-4A62-95C6-5D38EF8C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/>
              <a:t>Figure  - The Attributes of the Student Entity: Chen and Crow’s Foot</a:t>
            </a:r>
          </a:p>
        </p:txBody>
      </p:sp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xmlns="" id="{4FBE0C78-32E3-40D5-9B14-051BA4F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040E954-D20A-4BDB-8DC8-E0439B3C7BD8}" type="slidenum">
              <a:rPr lang="en-US" altLang="en-US" sz="1400">
                <a:latin typeface="Times New Roman" panose="02020603050405020304" pitchFamily="18" charset="0"/>
              </a:rPr>
              <a:pPr/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17412" name="Picture 1">
            <a:extLst>
              <a:ext uri="{FF2B5EF4-FFF2-40B4-BE49-F238E27FC236}">
                <a16:creationId xmlns:a16="http://schemas.microsoft.com/office/drawing/2014/main" xmlns="" id="{265A6F58-2BC5-4BBD-862A-0782CAFF0F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47"/>
          <a:stretch/>
        </p:blipFill>
        <p:spPr bwMode="auto">
          <a:xfrm>
            <a:off x="1676399" y="2257426"/>
            <a:ext cx="8775895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derived attribute in er crow's foot mode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378" y="252582"/>
            <a:ext cx="8330716" cy="642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40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nter image description her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08"/>
          <a:stretch/>
        </p:blipFill>
        <p:spPr bwMode="auto">
          <a:xfrm>
            <a:off x="1870692" y="365125"/>
            <a:ext cx="8201775" cy="640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20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 result for crow's foot not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142" y="271289"/>
            <a:ext cx="5781821" cy="624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05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xmlns="" id="{80BD33B6-0F5C-43B9-9ACC-C8B95CFFA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Attributes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270986B0-29B6-4497-8CBA-72D542C5EB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6031" y="1524000"/>
            <a:ext cx="11753636" cy="4648200"/>
          </a:xfrm>
        </p:spPr>
        <p:txBody>
          <a:bodyPr>
            <a:normAutofit/>
          </a:bodyPr>
          <a:lstStyle/>
          <a:p>
            <a:pPr marL="365760" indent="-256032">
              <a:defRPr/>
            </a:pPr>
            <a:r>
              <a:rPr lang="en-US" altLang="en-US" b="1" dirty="0" smtClean="0"/>
              <a:t>Identifier attribute</a:t>
            </a:r>
            <a:r>
              <a:rPr lang="en-US" altLang="en-US" dirty="0" smtClean="0"/>
              <a:t>: </a:t>
            </a:r>
            <a:r>
              <a:rPr lang="en-US" altLang="en-US" dirty="0"/>
              <a:t>Primary </a:t>
            </a:r>
            <a:r>
              <a:rPr lang="en-US" altLang="en-US" dirty="0" smtClean="0"/>
              <a:t>key and foreign keys</a:t>
            </a:r>
            <a:endParaRPr lang="en-US" altLang="en-US" dirty="0"/>
          </a:p>
          <a:p>
            <a:pPr marL="365760" indent="-256032">
              <a:defRPr/>
            </a:pPr>
            <a:r>
              <a:rPr lang="en-US" altLang="en-US" b="1" dirty="0"/>
              <a:t>Composite attribute</a:t>
            </a:r>
            <a:r>
              <a:rPr lang="en-US" altLang="en-US" dirty="0"/>
              <a:t>: Attribute that can be subdivided to yield additional attributes</a:t>
            </a:r>
          </a:p>
          <a:p>
            <a:pPr marL="365760" indent="-256032">
              <a:defRPr/>
            </a:pPr>
            <a:r>
              <a:rPr lang="en-US" altLang="en-US" b="1" dirty="0"/>
              <a:t>Simple attribute</a:t>
            </a:r>
            <a:r>
              <a:rPr lang="en-US" altLang="en-US" dirty="0"/>
              <a:t>: Attribute that cannot be subdivided</a:t>
            </a:r>
          </a:p>
          <a:p>
            <a:pPr marL="365760" indent="-256032">
              <a:defRPr/>
            </a:pPr>
            <a:r>
              <a:rPr lang="en-US" altLang="en-US" b="1" dirty="0"/>
              <a:t>Single-valued attribute</a:t>
            </a:r>
            <a:r>
              <a:rPr lang="en-US" altLang="en-US" dirty="0"/>
              <a:t>: Attribute that has only a single value</a:t>
            </a:r>
          </a:p>
          <a:p>
            <a:pPr marL="365760" indent="-256032">
              <a:defRPr/>
            </a:pPr>
            <a:r>
              <a:rPr lang="en-US" altLang="en-US" b="1" dirty="0"/>
              <a:t>Multivalued attributes</a:t>
            </a:r>
            <a:r>
              <a:rPr lang="en-US" altLang="en-US" dirty="0"/>
              <a:t>: Attributes that have many values</a:t>
            </a:r>
          </a:p>
          <a:p>
            <a:pPr marL="365760" indent="-256032">
              <a:defRPr/>
            </a:pPr>
            <a:endParaRPr lang="en-US" altLang="en-US" dirty="0"/>
          </a:p>
          <a:p>
            <a:pPr marL="365760" indent="-256032">
              <a:defRPr/>
            </a:pPr>
            <a:endParaRPr lang="en-US" altLang="en-US" dirty="0"/>
          </a:p>
          <a:p>
            <a:pPr marL="658368" lvl="1" indent="-246888">
              <a:defRPr/>
            </a:pPr>
            <a:endParaRPr lang="en-US" altLang="en-US" dirty="0"/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xmlns="" id="{EAAE874C-6FB9-423C-8D2B-DA6A5807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F7A334D-E8E7-4CA7-A5FA-1AAD1D442B8B}" type="slidenum">
              <a:rPr lang="en-US" altLang="en-US" sz="1400">
                <a:latin typeface="Times New Roman" panose="02020603050405020304" pitchFamily="18" charset="0"/>
              </a:rPr>
              <a:pPr/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xmlns="" id="{56C571BC-405C-4CE2-8650-922C9721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Attributes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xmlns="" id="{ED1DA6EE-38DA-44EC-8EB3-D06E4EB49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>
              <a:defRPr/>
            </a:pPr>
            <a:r>
              <a:rPr lang="en-US" altLang="en-US" b="1" dirty="0">
                <a:ea typeface="ＭＳ Ｐゴシック" pitchFamily="34" charset="-128"/>
              </a:rPr>
              <a:t>Multivalued attributes</a:t>
            </a:r>
            <a:r>
              <a:rPr lang="en-US" altLang="en-US" dirty="0">
                <a:ea typeface="ＭＳ Ｐゴシック" pitchFamily="34" charset="-128"/>
              </a:rPr>
              <a:t>: Attributes that have many values</a:t>
            </a:r>
            <a:r>
              <a:rPr lang="en-US" altLang="en-US" dirty="0"/>
              <a:t> and require creating:</a:t>
            </a:r>
          </a:p>
          <a:p>
            <a:pPr marL="658368" lvl="1" indent="-246888">
              <a:defRPr/>
            </a:pPr>
            <a:r>
              <a:rPr lang="en-US" altLang="en-US" dirty="0"/>
              <a:t>Several new attributes, one for each component of the original multivalued attribute</a:t>
            </a:r>
          </a:p>
          <a:p>
            <a:pPr marL="658368" lvl="1" indent="-246888">
              <a:defRPr/>
            </a:pPr>
            <a:r>
              <a:rPr lang="en-US" altLang="en-US" dirty="0"/>
              <a:t>A new entity composed of the original multivalued attribute’s components</a:t>
            </a:r>
          </a:p>
          <a:p>
            <a:pPr marL="365760" indent="-256032">
              <a:defRPr/>
            </a:pPr>
            <a:r>
              <a:rPr lang="en-US" altLang="en-US" b="1" dirty="0"/>
              <a:t>Derived attribute</a:t>
            </a:r>
            <a:r>
              <a:rPr lang="en-US" altLang="en-US" dirty="0"/>
              <a:t>: Attribute whose value is calculated from other attributes</a:t>
            </a:r>
          </a:p>
          <a:p>
            <a:pPr marL="658368" lvl="1" indent="-246888">
              <a:defRPr/>
            </a:pPr>
            <a:r>
              <a:rPr lang="en-US" altLang="en-US" dirty="0"/>
              <a:t>Derived using an algorithm </a:t>
            </a:r>
          </a:p>
          <a:p>
            <a:pPr marL="457200" lvl="1" indent="0">
              <a:buNone/>
              <a:defRPr/>
            </a:pPr>
            <a:endParaRPr lang="en-US" altLang="en-US" dirty="0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xmlns="" id="{86412E0F-9532-40C9-BC7E-31A8FA97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6AFEB6-4A92-4482-97C7-3EC66D6A8FF1}" type="slidenum">
              <a:rPr lang="en-US" altLang="en-US" sz="1400">
                <a:latin typeface="Times New Roman" panose="02020603050405020304" pitchFamily="18" charset="0"/>
              </a:rPr>
              <a:pPr/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424" y="1303890"/>
            <a:ext cx="8602518" cy="354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3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571" y="731520"/>
            <a:ext cx="9367979" cy="513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inus 5"/>
          <p:cNvSpPr/>
          <p:nvPr/>
        </p:nvSpPr>
        <p:spPr>
          <a:xfrm>
            <a:off x="7666894" y="2880361"/>
            <a:ext cx="2757263" cy="186395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5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xmlns="" id="{D1233F5F-7D46-4A7B-A163-B6E028ED5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Relationships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xmlns="" id="{E08E90D1-FF49-4ED2-B034-BE981B6C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Association between entities that always operate in both directions</a:t>
            </a:r>
          </a:p>
          <a:p>
            <a:pPr eaLnBrk="1" hangingPunct="1"/>
            <a:r>
              <a:rPr lang="en-US" altLang="en-US" b="1" dirty="0"/>
              <a:t>Participants</a:t>
            </a:r>
            <a:r>
              <a:rPr lang="en-US" altLang="en-US" dirty="0"/>
              <a:t>: Entities that participate in a relationship</a:t>
            </a:r>
          </a:p>
          <a:p>
            <a:pPr eaLnBrk="1" hangingPunct="1"/>
            <a:r>
              <a:rPr lang="en-US" altLang="en-US" b="1" dirty="0"/>
              <a:t>Connectivity</a:t>
            </a:r>
            <a:r>
              <a:rPr lang="en-US" altLang="en-US" dirty="0"/>
              <a:t>: Describes the relationship </a:t>
            </a:r>
            <a:r>
              <a:rPr lang="en-US" altLang="en-US" dirty="0" smtClean="0"/>
              <a:t>connection</a:t>
            </a:r>
          </a:p>
          <a:p>
            <a:pPr eaLnBrk="1" hangingPunct="1"/>
            <a:r>
              <a:rPr lang="en-US" altLang="en-US" b="1" dirty="0" smtClean="0"/>
              <a:t>Cardinality</a:t>
            </a:r>
            <a:r>
              <a:rPr lang="en-US" altLang="en-US" dirty="0"/>
              <a:t>: Expresses the minimum and maximum number of entity occurrences associated with one occurrence of related entity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xmlns="" id="{B302E7F2-C5F2-4AA5-9FA8-CD2FD8388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379DF6-69D2-4F66-9F8F-AE69968069D2}" type="slidenum">
              <a:rPr lang="en-US" altLang="en-US" sz="1400">
                <a:latin typeface="Times New Roman" panose="02020603050405020304" pitchFamily="18" charset="0"/>
              </a:rPr>
              <a:pPr/>
              <a:t>13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cardinality in er diagra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676" y="365760"/>
            <a:ext cx="7529897" cy="592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47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cardinality in er diagra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448" y="470959"/>
            <a:ext cx="7432546" cy="571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57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xmlns="" id="{875B560C-6169-4358-B68D-2BB87E1F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Existence Dependence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309D9AE-A9C6-4335-ABE1-536C4EEFA4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150074"/>
              </p:ext>
            </p:extLst>
          </p:nvPr>
        </p:nvGraphicFramePr>
        <p:xfrm>
          <a:off x="1050533" y="1690688"/>
          <a:ext cx="9963364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xmlns="" id="{291ED093-84A8-4C55-BEAB-DDD86F81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B5A0C1-30B1-421B-946F-652253A09B07}" type="slidenum">
              <a:rPr lang="en-US" altLang="en-US" sz="1400">
                <a:latin typeface="Times New Roman" panose="02020603050405020304" pitchFamily="18" charset="0"/>
              </a:rPr>
              <a:pPr/>
              <a:t>16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xmlns="" id="{0ADA62CC-2A59-4799-969D-A08A9546B8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Weak Entity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xmlns="" id="{B9DE2FA6-5A36-4B7E-B9AB-357B7B2C7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Conditions </a:t>
            </a:r>
          </a:p>
          <a:p>
            <a:pPr lvl="1" eaLnBrk="1" hangingPunct="1"/>
            <a:r>
              <a:rPr lang="en-US" altLang="en-US" dirty="0"/>
              <a:t>Existence-dependent </a:t>
            </a:r>
          </a:p>
          <a:p>
            <a:pPr lvl="1" eaLnBrk="1" hangingPunct="1"/>
            <a:r>
              <a:rPr lang="en-US" altLang="en-US" dirty="0"/>
              <a:t>Has a primary key that is partially or totally derived from parent entity in the relationship</a:t>
            </a:r>
          </a:p>
          <a:p>
            <a:pPr eaLnBrk="1" hangingPunct="1"/>
            <a:r>
              <a:rPr lang="en-US" altLang="en-US" dirty="0"/>
              <a:t>Database designer determines whether an entity is weak based on business </a:t>
            </a:r>
            <a:r>
              <a:rPr lang="en-US" altLang="en-US" dirty="0" smtClean="0"/>
              <a:t>rules</a:t>
            </a:r>
          </a:p>
          <a:p>
            <a:pPr marL="0" indent="0" eaLnBrk="1" hangingPunct="1">
              <a:buNone/>
            </a:pPr>
            <a:endParaRPr lang="en-US" altLang="en-US" dirty="0" smtClean="0"/>
          </a:p>
          <a:p>
            <a:pPr eaLnBrk="1" hangingPunct="1"/>
            <a:r>
              <a:rPr lang="en-US" altLang="en-US" dirty="0" smtClean="0"/>
              <a:t>For example: </a:t>
            </a:r>
            <a:r>
              <a:rPr lang="en-US" altLang="en-US" dirty="0" smtClean="0">
                <a:solidFill>
                  <a:srgbClr val="FF0000"/>
                </a:solidFill>
              </a:rPr>
              <a:t>Is it necessary for a bank customer to take loan?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xmlns="" id="{A4E241F6-4F22-4515-A8E7-0C79BECE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306D85-6D83-433B-B2FA-AD689B1ABC81}" type="slidenum">
              <a:rPr lang="en-US" altLang="en-US" sz="1400">
                <a:latin typeface="Times New Roman" panose="02020603050405020304" pitchFamily="18" charset="0"/>
              </a:rPr>
              <a:pPr/>
              <a:t>17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945" y="1617785"/>
            <a:ext cx="10969206" cy="302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3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xmlns="" id="{A13B711F-1347-4603-9484-FFF988CB5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Figure - A Weak Entity in an ERD</a:t>
            </a:r>
          </a:p>
        </p:txBody>
      </p:sp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xmlns="" id="{FB57FB10-22D1-46CA-BEB7-0941ABC7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7E704CC-50ED-4F65-A67A-2AB9A0D8951E}" type="slidenum">
              <a:rPr lang="en-US" altLang="en-US" sz="1400">
                <a:latin typeface="Times New Roman" panose="02020603050405020304" pitchFamily="18" charset="0"/>
              </a:rPr>
              <a:pPr/>
              <a:t>19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30724" name="Picture 5">
            <a:extLst>
              <a:ext uri="{FF2B5EF4-FFF2-40B4-BE49-F238E27FC236}">
                <a16:creationId xmlns:a16="http://schemas.microsoft.com/office/drawing/2014/main" xmlns="" id="{366B2D69-F74B-40B5-A8B8-DF840828D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1"/>
            <a:ext cx="6629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xmlns="" id="{CB7C3352-4F62-4370-80FF-BEFC97FB2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Relationship Participation</a:t>
            </a:r>
          </a:p>
        </p:txBody>
      </p:sp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xmlns="" id="{BBC38A9E-1F20-4300-9EF8-353AB399B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AC5892-E161-42C0-AF5E-90EFBDA1944A}" type="slidenum">
              <a:rPr lang="en-US" altLang="en-US" sz="1400">
                <a:latin typeface="Times New Roman" panose="02020603050405020304" pitchFamily="18" charset="0"/>
              </a:rPr>
              <a:pPr/>
              <a:t>20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E05C437E-A95B-4E21-AD22-D45917277237}"/>
              </a:ext>
            </a:extLst>
          </p:cNvPr>
          <p:cNvGraphicFramePr/>
          <p:nvPr/>
        </p:nvGraphicFramePr>
        <p:xfrm>
          <a:off x="1905000" y="1676400"/>
          <a:ext cx="84582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xmlns="" id="{90E4B1A7-B38E-427E-80B3-826F39454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Relationship Degree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xmlns="" id="{C56CFE89-311D-4107-A343-D3FFE10F9C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Indicates the number of entities or participants associated with a relationship</a:t>
            </a:r>
          </a:p>
          <a:p>
            <a:pPr eaLnBrk="1" hangingPunct="1"/>
            <a:r>
              <a:rPr lang="en-US" altLang="en-US" b="1" dirty="0"/>
              <a:t>Unary relationship</a:t>
            </a:r>
            <a:r>
              <a:rPr lang="en-US" altLang="en-US" dirty="0"/>
              <a:t>: Association is maintained within a single entity </a:t>
            </a:r>
          </a:p>
          <a:p>
            <a:pPr lvl="1" eaLnBrk="1" hangingPunct="1"/>
            <a:r>
              <a:rPr lang="en-US" altLang="en-US" b="1" dirty="0"/>
              <a:t>Recursive relationship</a:t>
            </a:r>
            <a:r>
              <a:rPr lang="en-US" altLang="en-US" dirty="0"/>
              <a:t>: Relationship exists between occurrences of the same entity set</a:t>
            </a:r>
          </a:p>
          <a:p>
            <a:pPr eaLnBrk="1" hangingPunct="1"/>
            <a:r>
              <a:rPr lang="en-US" altLang="en-US" b="1" dirty="0"/>
              <a:t>Binary relationship</a:t>
            </a:r>
            <a:r>
              <a:rPr lang="en-US" altLang="en-US" dirty="0"/>
              <a:t>: Two entities are associated</a:t>
            </a:r>
          </a:p>
          <a:p>
            <a:pPr eaLnBrk="1" hangingPunct="1"/>
            <a:r>
              <a:rPr lang="en-US" altLang="en-US" b="1" dirty="0"/>
              <a:t>Ternary relationship</a:t>
            </a:r>
            <a:r>
              <a:rPr lang="en-US" altLang="en-US" dirty="0"/>
              <a:t>: Three entities are associated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xmlns="" id="{3010432B-C05D-4BE8-A677-5F66671D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1CA703-6E1D-481F-B585-3C754146CE9B}" type="slidenum">
              <a:rPr lang="en-US" altLang="en-US" sz="1400">
                <a:latin typeface="Times New Roman" panose="02020603050405020304" pitchFamily="18" charset="0"/>
              </a:rPr>
              <a:pPr/>
              <a:t>21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xmlns="" id="{F38D7D14-0E19-4259-8F8C-20112BAE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7585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sz="3200" dirty="0"/>
              <a:t>Figure  - Three Types of Relationship Degree</a:t>
            </a:r>
          </a:p>
        </p:txBody>
      </p:sp>
      <p:sp>
        <p:nvSpPr>
          <p:cNvPr id="37891" name="Slide Number Placeholder 4">
            <a:extLst>
              <a:ext uri="{FF2B5EF4-FFF2-40B4-BE49-F238E27FC236}">
                <a16:creationId xmlns:a16="http://schemas.microsoft.com/office/drawing/2014/main" xmlns="" id="{96FF3F5E-B246-4575-9454-3CBA2D53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077200" y="6384926"/>
            <a:ext cx="2057400" cy="396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A6828B-48E8-4A41-AD48-98E75B5E2466}" type="slidenum">
              <a:rPr lang="en-US" altLang="en-US" sz="1400">
                <a:latin typeface="Times New Roman" panose="02020603050405020304" pitchFamily="18" charset="0"/>
              </a:rPr>
              <a:pPr/>
              <a:t>22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9218" name="Picture 2" descr="Relationsh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595" y="1524339"/>
            <a:ext cx="6790504" cy="152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Unary-relationshi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17" y="2285344"/>
            <a:ext cx="4261680" cy="33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mage result for ternary relationship in 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17" y="3881027"/>
            <a:ext cx="6003260" cy="230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xmlns="" id="{F4317ED3-F448-4C90-80BC-71156111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/>
              <a:t>Figure - An ER Representation of Recursive Relationships</a:t>
            </a:r>
          </a:p>
        </p:txBody>
      </p:sp>
      <p:sp>
        <p:nvSpPr>
          <p:cNvPr id="38915" name="Slide Number Placeholder 4">
            <a:extLst>
              <a:ext uri="{FF2B5EF4-FFF2-40B4-BE49-F238E27FC236}">
                <a16:creationId xmlns:a16="http://schemas.microsoft.com/office/drawing/2014/main" xmlns="" id="{7B3B6844-086F-4442-B8CF-E625C364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6C10E4-F9E3-4371-88F6-A67EC6B8F8C8}" type="slidenum">
              <a:rPr lang="en-US" altLang="en-US" sz="1400">
                <a:latin typeface="Times New Roman" panose="02020603050405020304" pitchFamily="18" charset="0"/>
              </a:rPr>
              <a:pPr/>
              <a:t>23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38916" name="Picture 5">
            <a:extLst>
              <a:ext uri="{FF2B5EF4-FFF2-40B4-BE49-F238E27FC236}">
                <a16:creationId xmlns:a16="http://schemas.microsoft.com/office/drawing/2014/main" xmlns="" id="{2A88F6FA-240A-492B-9428-47568E712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2533650"/>
            <a:ext cx="87249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xmlns="" id="{37C9E764-E60C-4F35-B086-1C1DCA781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Associative Entities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xmlns="" id="{12F5015B-8617-4959-978C-4F25900B1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dirty="0"/>
              <a:t>Also known as composite or bridge entities</a:t>
            </a:r>
          </a:p>
          <a:p>
            <a:pPr eaLnBrk="1" hangingPunct="1"/>
            <a:r>
              <a:rPr lang="en-US" altLang="en-US" dirty="0"/>
              <a:t>Used to represent an M:N relationship between two or more entities</a:t>
            </a:r>
          </a:p>
          <a:p>
            <a:pPr eaLnBrk="1" hangingPunct="1"/>
            <a:r>
              <a:rPr lang="en-US" altLang="en-US" dirty="0"/>
              <a:t>Is in a 1:M relationship with the parent entities</a:t>
            </a:r>
          </a:p>
          <a:p>
            <a:pPr lvl="1" eaLnBrk="1" hangingPunct="1"/>
            <a:r>
              <a:rPr lang="en-US" altLang="en-US" dirty="0"/>
              <a:t>Composed of the primary key attributes of each parent entity</a:t>
            </a:r>
          </a:p>
          <a:p>
            <a:pPr eaLnBrk="1" hangingPunct="1"/>
            <a:r>
              <a:rPr lang="en-US" altLang="en-US" dirty="0"/>
              <a:t>May also contain additional attributes that play no role in connective </a:t>
            </a:r>
            <a:r>
              <a:rPr lang="en-US" altLang="en-US" dirty="0" smtClean="0"/>
              <a:t>process</a:t>
            </a:r>
          </a:p>
          <a:p>
            <a:r>
              <a:rPr lang="en-US" dirty="0">
                <a:solidFill>
                  <a:srgbClr val="00B050"/>
                </a:solidFill>
              </a:rPr>
              <a:t>Suppose you have a call center, and you need to track the occurrences of phone calls between </a:t>
            </a:r>
            <a:r>
              <a:rPr lang="en-US" dirty="0">
                <a:solidFill>
                  <a:srgbClr val="FF0000"/>
                </a:solidFill>
              </a:rPr>
              <a:t>Customers and Employees</a:t>
            </a:r>
            <a:r>
              <a:rPr lang="en-US" dirty="0">
                <a:solidFill>
                  <a:srgbClr val="00B050"/>
                </a:solidFill>
              </a:rPr>
              <a:t>. There is a </a:t>
            </a:r>
            <a:r>
              <a:rPr lang="en-US" dirty="0">
                <a:solidFill>
                  <a:srgbClr val="FF0000"/>
                </a:solidFill>
              </a:rPr>
              <a:t>Many-To-Many relationship </a:t>
            </a:r>
            <a:r>
              <a:rPr lang="en-US" dirty="0">
                <a:solidFill>
                  <a:srgbClr val="00B050"/>
                </a:solidFill>
              </a:rPr>
              <a:t>between the Customer and Employees entities because each Customer can have many phone calls with Employees, and each Employee can have many phone calls with Customers.</a:t>
            </a:r>
          </a:p>
          <a:p>
            <a:r>
              <a:rPr lang="en-US" dirty="0"/>
              <a:t>Suppose you call this </a:t>
            </a:r>
            <a:r>
              <a:rPr lang="en-US" b="1" dirty="0"/>
              <a:t>Associative Entity table, </a:t>
            </a:r>
            <a:r>
              <a:rPr lang="en-US" b="1" dirty="0" err="1"/>
              <a:t>EmployeeCustomerCalls</a:t>
            </a:r>
            <a:r>
              <a:rPr lang="en-US" dirty="0"/>
              <a:t>. Each row in the table will represent one phone call that occurred between an Employee and a Customer. Therefore, you will need to store the </a:t>
            </a:r>
            <a:r>
              <a:rPr lang="en-US" b="1" dirty="0" err="1"/>
              <a:t>EmployeeID</a:t>
            </a:r>
            <a:r>
              <a:rPr lang="en-US" dirty="0"/>
              <a:t> and the </a:t>
            </a:r>
            <a:r>
              <a:rPr lang="en-US" b="1" dirty="0" err="1"/>
              <a:t>CustomerID</a:t>
            </a:r>
            <a:r>
              <a:rPr lang="en-US" dirty="0"/>
              <a:t> in the table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xmlns="" id="{B7F385C2-6A3A-41E3-B49A-DF2676E3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C4D4698-B144-45FC-A44C-8419154BB1CD}" type="slidenum">
              <a:rPr lang="en-US" altLang="en-US" sz="1400">
                <a:latin typeface="Times New Roman" panose="02020603050405020304" pitchFamily="18" charset="0"/>
              </a:rPr>
              <a:pPr/>
              <a:t>24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Image result for composite enti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763" y="1153551"/>
            <a:ext cx="8538894" cy="423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77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composite enti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853"/>
            <a:ext cx="7230794" cy="370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mage result for composite ent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161" y="3123028"/>
            <a:ext cx="7825840" cy="379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93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xmlns="" id="{561F9004-C414-4799-A323-F7130D0DA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5709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Developing an ER Diagram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xmlns="" id="{65CAABD9-2F8C-43D6-BFE2-77A6CF26EB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1316" y="1524000"/>
            <a:ext cx="12050684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Create a detailed narrative of the organization’s  description of operations</a:t>
            </a:r>
          </a:p>
          <a:p>
            <a:pPr eaLnBrk="1" hangingPunct="1"/>
            <a:r>
              <a:rPr lang="en-US" altLang="en-US" dirty="0" smtClean="0"/>
              <a:t>Identify </a:t>
            </a:r>
            <a:r>
              <a:rPr lang="en-US" altLang="en-US" dirty="0"/>
              <a:t>main entities and relationships from the business rules</a:t>
            </a:r>
          </a:p>
          <a:p>
            <a:pPr eaLnBrk="1" hangingPunct="1"/>
            <a:r>
              <a:rPr lang="en-US" altLang="en-US" dirty="0"/>
              <a:t>Develop the initial ERD</a:t>
            </a:r>
          </a:p>
          <a:p>
            <a:pPr eaLnBrk="1" hangingPunct="1"/>
            <a:r>
              <a:rPr lang="en-US" altLang="en-US" dirty="0"/>
              <a:t>Identify the attributes and primary keys that adequately describe entities</a:t>
            </a:r>
          </a:p>
          <a:p>
            <a:pPr eaLnBrk="1" hangingPunct="1"/>
            <a:r>
              <a:rPr lang="en-US" altLang="en-US" dirty="0"/>
              <a:t>Revise and review ERD</a:t>
            </a:r>
          </a:p>
        </p:txBody>
      </p:sp>
      <p:sp>
        <p:nvSpPr>
          <p:cNvPr id="43012" name="Slide Number Placeholder 4">
            <a:extLst>
              <a:ext uri="{FF2B5EF4-FFF2-40B4-BE49-F238E27FC236}">
                <a16:creationId xmlns:a16="http://schemas.microsoft.com/office/drawing/2014/main" xmlns="" id="{91871E02-AD3C-4EC1-974A-8B4052CA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3DDBB3-AC3A-4C80-813B-1F207D1497EF}" type="slidenum">
              <a:rPr lang="en-US" altLang="en-US" sz="1400">
                <a:latin typeface="Times New Roman" panose="02020603050405020304" pitchFamily="18" charset="0"/>
              </a:rPr>
              <a:pPr/>
              <a:t>27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xmlns="" id="{4A14162B-1AEC-46ED-B7EA-0A739845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Components of the ERM</a:t>
            </a:r>
          </a:p>
        </p:txBody>
      </p:sp>
      <p:sp>
        <p:nvSpPr>
          <p:cNvPr id="53251" name="Slide Number Placeholder 4">
            <a:extLst>
              <a:ext uri="{FF2B5EF4-FFF2-40B4-BE49-F238E27FC236}">
                <a16:creationId xmlns:a16="http://schemas.microsoft.com/office/drawing/2014/main" xmlns="" id="{DE1DB7B3-631F-4BA2-BE20-3A34E3EDB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7D003CE-85C4-4D5C-B13F-137F136997BA}" type="slidenum">
              <a:rPr lang="en-US" altLang="en-US" sz="1400">
                <a:latin typeface="Times New Roman" panose="02020603050405020304" pitchFamily="18" charset="0"/>
              </a:rPr>
              <a:pPr/>
              <a:t>28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53252" name="Picture 5">
            <a:extLst>
              <a:ext uri="{FF2B5EF4-FFF2-40B4-BE49-F238E27FC236}">
                <a16:creationId xmlns:a16="http://schemas.microsoft.com/office/drawing/2014/main" xmlns="" id="{97D5DD5B-B719-4D91-925E-4ABDCF6F9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45" y="1626419"/>
            <a:ext cx="11550509" cy="479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2EBC68BE-88A3-4AFD-83AE-97E05FA6C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Entity Supertypes and Subtypes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xmlns="" id="{8E1EF0D3-0829-46F8-95A0-87A07B13DC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>
              <a:defRPr/>
            </a:pPr>
            <a:r>
              <a:rPr lang="en-US" altLang="en-US" b="1" dirty="0"/>
              <a:t>Entity supertype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Generic entity type related to one or more entity subtypes</a:t>
            </a:r>
          </a:p>
          <a:p>
            <a:pPr marL="658368" lvl="1" indent="-246888">
              <a:defRPr/>
            </a:pPr>
            <a:r>
              <a:rPr lang="en-US" altLang="en-US" dirty="0"/>
              <a:t>Contains </a:t>
            </a:r>
            <a:r>
              <a:rPr lang="en-US" altLang="en-US" dirty="0">
                <a:solidFill>
                  <a:srgbClr val="FF0000"/>
                </a:solidFill>
              </a:rPr>
              <a:t>common characteristics</a:t>
            </a:r>
          </a:p>
          <a:p>
            <a:pPr marL="365760" indent="-256032">
              <a:defRPr/>
            </a:pPr>
            <a:r>
              <a:rPr lang="en-US" altLang="en-US" b="1" dirty="0"/>
              <a:t>Entity subtype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Contains </a:t>
            </a:r>
            <a:r>
              <a:rPr lang="en-US" altLang="en-US" dirty="0">
                <a:solidFill>
                  <a:srgbClr val="FF0000"/>
                </a:solidFill>
              </a:rPr>
              <a:t>unique characteristics</a:t>
            </a:r>
            <a:r>
              <a:rPr lang="en-US" altLang="en-US" dirty="0"/>
              <a:t> of each entity subtype</a:t>
            </a:r>
          </a:p>
          <a:p>
            <a:pPr marL="411480" lvl="1" indent="0">
              <a:buNone/>
              <a:defRPr/>
            </a:pPr>
            <a:endParaRPr lang="en-US" altLang="en-US" dirty="0"/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xmlns="" id="{E2AD4C38-498A-4F74-AAFB-5FF2068C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0789DF0-517B-4073-8BE6-673CA2173015}" type="slidenum">
              <a:rPr lang="en-US" altLang="en-US" sz="1400">
                <a:latin typeface="Times New Roman" panose="02020603050405020304" pitchFamily="18" charset="0"/>
              </a:rPr>
              <a:pPr/>
              <a:t>29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Image result for entity supertype and subtyp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823" y="1842868"/>
            <a:ext cx="8154354" cy="377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64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Related image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14" b="19417"/>
          <a:stretch/>
        </p:blipFill>
        <p:spPr bwMode="auto">
          <a:xfrm>
            <a:off x="1792437" y="1406769"/>
            <a:ext cx="8607125" cy="438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17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xmlns="" id="{C87DBC1E-4490-4FA3-86B0-D1429CF40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Specialization Hierarchy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B0F771F7-AE97-4294-BAFA-F746DD8E2D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Depicts arrangement of higher-level entity supertypes and lower-level entity subtypes</a:t>
            </a:r>
          </a:p>
          <a:p>
            <a:pPr eaLnBrk="1" hangingPunct="1"/>
            <a:r>
              <a:rPr lang="en-US" altLang="en-US" dirty="0"/>
              <a:t>Relationships are described in terms of “is-a” </a:t>
            </a:r>
            <a:r>
              <a:rPr lang="en-US" altLang="en-US" dirty="0" smtClean="0"/>
              <a:t>relationships</a:t>
            </a:r>
            <a:endParaRPr lang="en-US" altLang="en-US" dirty="0"/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xmlns="" id="{74942FA5-6845-4D60-A9E1-A9CA8F83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2E42FA-DB8D-48C9-93F5-A5FE334E01FD}" type="slidenum">
              <a:rPr lang="en-US" altLang="en-US" sz="1400">
                <a:latin typeface="Times New Roman" panose="02020603050405020304" pitchFamily="18" charset="0"/>
              </a:rPr>
              <a:pPr/>
              <a:t>32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Image result for specialization e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946" y="365125"/>
            <a:ext cx="6185786" cy="619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59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0801DE96-2374-4059-918F-917BEB270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Inheritance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xmlns="" id="{ADA45B53-836F-4E10-9E24-6EF3EFDC63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524000"/>
            <a:ext cx="8077200" cy="4572000"/>
          </a:xfrm>
        </p:spPr>
        <p:txBody>
          <a:bodyPr>
            <a:normAutofit/>
          </a:bodyPr>
          <a:lstStyle/>
          <a:p>
            <a:pPr marL="365760" indent="-256032">
              <a:defRPr/>
            </a:pPr>
            <a:r>
              <a:rPr lang="en-US" altLang="en-US" dirty="0">
                <a:solidFill>
                  <a:schemeClr val="accent1"/>
                </a:solidFill>
              </a:rPr>
              <a:t>Enables an entity subtype to inherit attributes and relationships of the </a:t>
            </a:r>
            <a:r>
              <a:rPr lang="en-US" altLang="en-US" dirty="0" err="1">
                <a:solidFill>
                  <a:schemeClr val="accent1"/>
                </a:solidFill>
              </a:rPr>
              <a:t>supertype</a:t>
            </a:r>
            <a:endParaRPr lang="en-US" altLang="en-US" dirty="0">
              <a:solidFill>
                <a:schemeClr val="accent1"/>
              </a:solidFill>
            </a:endParaRPr>
          </a:p>
          <a:p>
            <a:pPr marL="365760" indent="-256032">
              <a:defRPr/>
            </a:pPr>
            <a:r>
              <a:rPr lang="en-US" altLang="en-US" dirty="0">
                <a:solidFill>
                  <a:schemeClr val="accent1"/>
                </a:solidFill>
              </a:rPr>
              <a:t>All entity subtypes inherit their primary key attribute from their </a:t>
            </a:r>
            <a:r>
              <a:rPr lang="en-US" altLang="en-US" dirty="0" err="1">
                <a:solidFill>
                  <a:schemeClr val="accent1"/>
                </a:solidFill>
              </a:rPr>
              <a:t>supertype</a:t>
            </a:r>
            <a:endParaRPr lang="en-US" altLang="en-US" dirty="0">
              <a:solidFill>
                <a:schemeClr val="accent1"/>
              </a:solidFill>
            </a:endParaRPr>
          </a:p>
          <a:p>
            <a:pPr marL="365760" indent="-256032">
              <a:defRPr/>
            </a:pPr>
            <a:r>
              <a:rPr lang="en-US" altLang="en-US" dirty="0"/>
              <a:t>At the implementation level, </a:t>
            </a:r>
            <a:r>
              <a:rPr lang="en-US" altLang="en-US" dirty="0" err="1"/>
              <a:t>supertype</a:t>
            </a:r>
            <a:r>
              <a:rPr lang="en-US" altLang="en-US" dirty="0"/>
              <a:t> and its subtype(s) maintain a 1:1 relationship</a:t>
            </a:r>
          </a:p>
          <a:p>
            <a:pPr marL="365760" indent="-256032">
              <a:defRPr/>
            </a:pPr>
            <a:r>
              <a:rPr lang="en-US" altLang="en-US" dirty="0"/>
              <a:t>Entity subtypes inherit all relationships in which </a:t>
            </a:r>
            <a:r>
              <a:rPr lang="en-US" altLang="en-US" dirty="0" err="1"/>
              <a:t>supertype</a:t>
            </a:r>
            <a:r>
              <a:rPr lang="en-US" altLang="en-US" dirty="0"/>
              <a:t> entity participates</a:t>
            </a:r>
          </a:p>
          <a:p>
            <a:pPr marL="365760" indent="-256032">
              <a:defRPr/>
            </a:pPr>
            <a:r>
              <a:rPr lang="en-US" altLang="en-US" dirty="0"/>
              <a:t>Lower-level subtypes inherit all attributes and relationships from its upper-level </a:t>
            </a:r>
            <a:r>
              <a:rPr lang="en-US" altLang="en-US" dirty="0" err="1"/>
              <a:t>supertypes</a:t>
            </a:r>
            <a:endParaRPr lang="en-US" altLang="en-US" dirty="0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xmlns="" id="{0B50D5EE-DD62-422E-84A5-3BC47CD4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450467-2530-40AD-A9E1-B203F80351AC}" type="slidenum">
              <a:rPr lang="en-US" altLang="en-US" sz="1400">
                <a:latin typeface="Times New Roman" panose="02020603050405020304" pitchFamily="18" charset="0"/>
              </a:rPr>
              <a:pPr/>
              <a:t>34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xmlns="" id="{12B63B04-AEFC-4313-876E-FCD7E5FA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>
                <a:solidFill>
                  <a:schemeClr val="tx1"/>
                </a:solidFill>
              </a:rPr>
              <a:t>Specialization and Generalization</a:t>
            </a:r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xmlns="" id="{71F2D471-CE5C-4B2C-B58A-C6C9A9B6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87CE289-D8DB-4DF2-958F-F3C2577DF732}" type="slidenum">
              <a:rPr lang="en-US" altLang="en-US" sz="1400">
                <a:latin typeface="Times New Roman" panose="02020603050405020304" pitchFamily="18" charset="0"/>
              </a:rPr>
              <a:pPr/>
              <a:t>35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27652" name="Group 1">
            <a:extLst>
              <a:ext uri="{FF2B5EF4-FFF2-40B4-BE49-F238E27FC236}">
                <a16:creationId xmlns:a16="http://schemas.microsoft.com/office/drawing/2014/main" xmlns="" id="{F8D741AA-B8E8-43BB-A8C4-DBD6A10CDDBE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733550"/>
            <a:ext cx="8458200" cy="4381500"/>
            <a:chOff x="381041" y="1734217"/>
            <a:chExt cx="8458117" cy="4380166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xmlns="" id="{4A734132-89BA-45BA-A67C-6C914CC38E1E}"/>
                </a:ext>
              </a:extLst>
            </p:cNvPr>
            <p:cNvSpPr/>
            <p:nvPr/>
          </p:nvSpPr>
          <p:spPr>
            <a:xfrm>
              <a:off x="381041" y="1734217"/>
              <a:ext cx="3952836" cy="704635"/>
            </a:xfrm>
            <a:custGeom>
              <a:avLst/>
              <a:gdLst>
                <a:gd name="connsiteX0" fmla="*/ 0 w 3952391"/>
                <a:gd name="connsiteY0" fmla="*/ 0 h 1094400"/>
                <a:gd name="connsiteX1" fmla="*/ 3952391 w 3952391"/>
                <a:gd name="connsiteY1" fmla="*/ 0 h 1094400"/>
                <a:gd name="connsiteX2" fmla="*/ 3952391 w 3952391"/>
                <a:gd name="connsiteY2" fmla="*/ 1094400 h 1094400"/>
                <a:gd name="connsiteX3" fmla="*/ 0 w 3952391"/>
                <a:gd name="connsiteY3" fmla="*/ 1094400 h 1094400"/>
                <a:gd name="connsiteX4" fmla="*/ 0 w 3952391"/>
                <a:gd name="connsiteY4" fmla="*/ 0 h 109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2391" h="1094400">
                  <a:moveTo>
                    <a:pt x="0" y="0"/>
                  </a:moveTo>
                  <a:lnTo>
                    <a:pt x="3952391" y="0"/>
                  </a:lnTo>
                  <a:lnTo>
                    <a:pt x="3952391" y="1094400"/>
                  </a:lnTo>
                  <a:lnTo>
                    <a:pt x="0" y="10944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270256" tIns="154432" rIns="270256" bIns="154432" spcCol="1270" anchor="ctr"/>
            <a:lstStyle/>
            <a:p>
              <a:pPr algn="ctr" defTabSz="1689100">
                <a:spcAft>
                  <a:spcPct val="35000"/>
                </a:spcAft>
                <a:defRPr/>
              </a:pPr>
              <a:r>
                <a:rPr lang="en-US" sz="2800" b="1" dirty="0">
                  <a:solidFill>
                    <a:schemeClr val="tx1"/>
                  </a:solidFill>
                </a:rPr>
                <a:t>Specialization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xmlns="" id="{7ED54C17-9C9D-47D8-A673-07D5BFF62F29}"/>
                </a:ext>
              </a:extLst>
            </p:cNvPr>
            <p:cNvSpPr/>
            <p:nvPr/>
          </p:nvSpPr>
          <p:spPr>
            <a:xfrm>
              <a:off x="381041" y="2438852"/>
              <a:ext cx="3952836" cy="3675531"/>
            </a:xfrm>
            <a:custGeom>
              <a:avLst/>
              <a:gdLst>
                <a:gd name="connsiteX0" fmla="*/ 0 w 3952391"/>
                <a:gd name="connsiteY0" fmla="*/ 0 h 3285765"/>
                <a:gd name="connsiteX1" fmla="*/ 3952391 w 3952391"/>
                <a:gd name="connsiteY1" fmla="*/ 0 h 3285765"/>
                <a:gd name="connsiteX2" fmla="*/ 3952391 w 3952391"/>
                <a:gd name="connsiteY2" fmla="*/ 3285765 h 3285765"/>
                <a:gd name="connsiteX3" fmla="*/ 0 w 3952391"/>
                <a:gd name="connsiteY3" fmla="*/ 3285765 h 3285765"/>
                <a:gd name="connsiteX4" fmla="*/ 0 w 3952391"/>
                <a:gd name="connsiteY4" fmla="*/ 0 h 328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2391" h="3285765">
                  <a:moveTo>
                    <a:pt x="0" y="0"/>
                  </a:moveTo>
                  <a:lnTo>
                    <a:pt x="3952391" y="0"/>
                  </a:lnTo>
                  <a:lnTo>
                    <a:pt x="3952391" y="3285765"/>
                  </a:lnTo>
                  <a:lnTo>
                    <a:pt x="0" y="32857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7348" tIns="117348" rIns="156464" bIns="176022" spcCol="1270"/>
            <a:lstStyle/>
            <a:p>
              <a:pPr marL="228600" lvl="1" indent="-228600" defTabSz="977900"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2200" dirty="0">
                  <a:solidFill>
                    <a:schemeClr val="tx1"/>
                  </a:solidFill>
                </a:rPr>
                <a:t>Top-down process</a:t>
              </a:r>
            </a:p>
            <a:p>
              <a:pPr marL="228600" lvl="1" indent="-228600" defTabSz="977900"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2200" dirty="0">
                  <a:solidFill>
                    <a:schemeClr val="tx1"/>
                  </a:solidFill>
                </a:rPr>
                <a:t>Identifies lower-level, more specific entity subtypes from a higher-level entity supertype</a:t>
              </a:r>
            </a:p>
            <a:p>
              <a:pPr marL="228600" lvl="1" indent="-228600" defTabSz="977900"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2200" dirty="0">
                  <a:solidFill>
                    <a:schemeClr val="tx1"/>
                  </a:solidFill>
                </a:rPr>
                <a:t>Based on grouping unique characteristics and relationships of the subtypes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xmlns="" id="{5DB34196-2618-42DE-BD7B-C67C50DC32F6}"/>
                </a:ext>
              </a:extLst>
            </p:cNvPr>
            <p:cNvSpPr/>
            <p:nvPr/>
          </p:nvSpPr>
          <p:spPr>
            <a:xfrm>
              <a:off x="4886322" y="1734217"/>
              <a:ext cx="3952836" cy="704635"/>
            </a:xfrm>
            <a:custGeom>
              <a:avLst/>
              <a:gdLst>
                <a:gd name="connsiteX0" fmla="*/ 0 w 3952391"/>
                <a:gd name="connsiteY0" fmla="*/ 0 h 1094400"/>
                <a:gd name="connsiteX1" fmla="*/ 3952391 w 3952391"/>
                <a:gd name="connsiteY1" fmla="*/ 0 h 1094400"/>
                <a:gd name="connsiteX2" fmla="*/ 3952391 w 3952391"/>
                <a:gd name="connsiteY2" fmla="*/ 1094400 h 1094400"/>
                <a:gd name="connsiteX3" fmla="*/ 0 w 3952391"/>
                <a:gd name="connsiteY3" fmla="*/ 1094400 h 1094400"/>
                <a:gd name="connsiteX4" fmla="*/ 0 w 3952391"/>
                <a:gd name="connsiteY4" fmla="*/ 0 h 109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2391" h="1094400">
                  <a:moveTo>
                    <a:pt x="0" y="0"/>
                  </a:moveTo>
                  <a:lnTo>
                    <a:pt x="3952391" y="0"/>
                  </a:lnTo>
                  <a:lnTo>
                    <a:pt x="3952391" y="1094400"/>
                  </a:lnTo>
                  <a:lnTo>
                    <a:pt x="0" y="10944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270256" tIns="154432" rIns="270256" bIns="154432" spcCol="1270" anchor="ctr"/>
            <a:lstStyle/>
            <a:p>
              <a:pPr algn="ctr" defTabSz="1689100">
                <a:spcAft>
                  <a:spcPct val="35000"/>
                </a:spcAft>
                <a:defRPr/>
              </a:pPr>
              <a:r>
                <a:rPr lang="en-US" sz="2800" b="1" dirty="0">
                  <a:solidFill>
                    <a:schemeClr val="tx1"/>
                  </a:solidFill>
                </a:rPr>
                <a:t>Generalization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554D690D-0440-4AEF-B379-51A544AC5EE1}"/>
                </a:ext>
              </a:extLst>
            </p:cNvPr>
            <p:cNvSpPr/>
            <p:nvPr/>
          </p:nvSpPr>
          <p:spPr>
            <a:xfrm>
              <a:off x="4886322" y="2438852"/>
              <a:ext cx="3952836" cy="3675531"/>
            </a:xfrm>
            <a:custGeom>
              <a:avLst/>
              <a:gdLst>
                <a:gd name="connsiteX0" fmla="*/ 0 w 3952391"/>
                <a:gd name="connsiteY0" fmla="*/ 0 h 3285765"/>
                <a:gd name="connsiteX1" fmla="*/ 3952391 w 3952391"/>
                <a:gd name="connsiteY1" fmla="*/ 0 h 3285765"/>
                <a:gd name="connsiteX2" fmla="*/ 3952391 w 3952391"/>
                <a:gd name="connsiteY2" fmla="*/ 3285765 h 3285765"/>
                <a:gd name="connsiteX3" fmla="*/ 0 w 3952391"/>
                <a:gd name="connsiteY3" fmla="*/ 3285765 h 3285765"/>
                <a:gd name="connsiteX4" fmla="*/ 0 w 3952391"/>
                <a:gd name="connsiteY4" fmla="*/ 0 h 328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2391" h="3285765">
                  <a:moveTo>
                    <a:pt x="0" y="0"/>
                  </a:moveTo>
                  <a:lnTo>
                    <a:pt x="3952391" y="0"/>
                  </a:lnTo>
                  <a:lnTo>
                    <a:pt x="3952391" y="3285765"/>
                  </a:lnTo>
                  <a:lnTo>
                    <a:pt x="0" y="32857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7348" tIns="117348" rIns="156464" bIns="176022" spcCol="1270"/>
            <a:lstStyle/>
            <a:p>
              <a:pPr marL="228600" lvl="1" indent="-228600" defTabSz="977900"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2200" dirty="0">
                  <a:solidFill>
                    <a:schemeClr val="tx1"/>
                  </a:solidFill>
                </a:rPr>
                <a:t>Bottom-up process</a:t>
              </a:r>
            </a:p>
            <a:p>
              <a:pPr marL="228600" lvl="1" indent="-228600" defTabSz="977900"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2200" dirty="0">
                  <a:solidFill>
                    <a:schemeClr val="tx1"/>
                  </a:solidFill>
                </a:rPr>
                <a:t>Identifies a higher-level, more generic entity supertype from lower-level entity subtypes</a:t>
              </a:r>
            </a:p>
            <a:p>
              <a:pPr marL="228600" lvl="1" indent="-228600" defTabSz="977900"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2200" dirty="0">
                  <a:solidFill>
                    <a:schemeClr val="tx1"/>
                  </a:solidFill>
                </a:rPr>
                <a:t>Based on grouping common characteristics and relationships of the subtypes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EC4C7A72-777D-4ED4-BB30-E078FEAA5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Primary Keys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DCD784A5-FF45-49BA-B713-96BBC1522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600200"/>
            <a:ext cx="8077200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attribute or a combination of attributes, which uniquely identifies each entity instance</a:t>
            </a:r>
          </a:p>
          <a:p>
            <a:pPr lvl="1" eaLnBrk="1" hangingPunct="1"/>
            <a:r>
              <a:rPr lang="en-US" altLang="en-US" dirty="0"/>
              <a:t>Guarantees entity integrity</a:t>
            </a:r>
          </a:p>
          <a:p>
            <a:pPr lvl="1" eaLnBrk="1" hangingPunct="1"/>
            <a:r>
              <a:rPr lang="en-US" altLang="en-US" dirty="0"/>
              <a:t>Works with foreign keys to implement relationships</a:t>
            </a:r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xmlns="" id="{A7AAB94A-0AF9-4E2E-A082-964AFBA2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68298D-C37E-487D-A61F-82A1CB6B7475}" type="slidenum">
              <a:rPr lang="en-US" altLang="en-US" sz="1400">
                <a:latin typeface="Times New Roman" panose="02020603050405020304" pitchFamily="18" charset="0"/>
              </a:rPr>
              <a:pPr/>
              <a:t>36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xmlns="" id="{447570D0-74B2-4B5A-B9E3-E378FEF7E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Desirable Primary Key Characteristics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EA2984F8-13C4-4291-9CC3-E789000392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4897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xmlns="" id="{801A7AF2-E20B-4B91-A9A0-51B5584F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98EC44B-5CBE-470C-AB80-B87D66F34D75}" type="slidenum">
              <a:rPr lang="en-US" altLang="en-US" sz="1400">
                <a:latin typeface="Times New Roman" panose="02020603050405020304" pitchFamily="18" charset="0"/>
              </a:rPr>
              <a:pPr/>
              <a:t>37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31202D-7852-4C85-8889-08095249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A80AC8-69B3-4689-A186-EE34B35C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Database Systems: Design, Implementation, and Management by Carlos Coronel and Steven Morris,13th Edition, Cengage, Chapter 4 and 5.</a:t>
            </a:r>
          </a:p>
          <a:p>
            <a:r>
              <a:rPr lang="en-US" dirty="0"/>
              <a:t>Database Systems A Practical Approach to Design, Implementation and Management by  Thomas Connolly and Carolyn </a:t>
            </a:r>
            <a:r>
              <a:rPr lang="en-US" dirty="0" err="1"/>
              <a:t>Begg</a:t>
            </a:r>
            <a:r>
              <a:rPr lang="en-US" dirty="0"/>
              <a:t>, Sixth Edition, Pearson, </a:t>
            </a:r>
            <a:r>
              <a:rPr lang="en-US"/>
              <a:t>Chapter 12 and 13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31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932</Words>
  <Application>Microsoft Office PowerPoint</Application>
  <PresentationFormat>Widescreen</PresentationFormat>
  <Paragraphs>150</Paragraphs>
  <Slides>38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ＭＳ Ｐゴシック</vt:lpstr>
      <vt:lpstr>Arial</vt:lpstr>
      <vt:lpstr>Calibri</vt:lpstr>
      <vt:lpstr>Calibri Light</vt:lpstr>
      <vt:lpstr>Times New Roman</vt:lpstr>
      <vt:lpstr>Office Theme</vt:lpstr>
      <vt:lpstr>Database Design and Implementation</vt:lpstr>
      <vt:lpstr>Agenda</vt:lpstr>
      <vt:lpstr>Attributes</vt:lpstr>
      <vt:lpstr>Entity Relationship Model (ERM)</vt:lpstr>
      <vt:lpstr>Figure  - The Attributes of the Student Entity: Chen and Crow’s Foot</vt:lpstr>
      <vt:lpstr>PowerPoint Presentation</vt:lpstr>
      <vt:lpstr>PowerPoint Presentation</vt:lpstr>
      <vt:lpstr>PowerPoint Presentation</vt:lpstr>
      <vt:lpstr>Attributes</vt:lpstr>
      <vt:lpstr>Attributes</vt:lpstr>
      <vt:lpstr>PowerPoint Presentation</vt:lpstr>
      <vt:lpstr>PowerPoint Presentation</vt:lpstr>
      <vt:lpstr>Relationships</vt:lpstr>
      <vt:lpstr>PowerPoint Presentation</vt:lpstr>
      <vt:lpstr>PowerPoint Presentation</vt:lpstr>
      <vt:lpstr>Existence Dependence</vt:lpstr>
      <vt:lpstr>Weak Entity</vt:lpstr>
      <vt:lpstr>PowerPoint Presentation</vt:lpstr>
      <vt:lpstr>Figure - A Weak Entity in an ERD</vt:lpstr>
      <vt:lpstr>Relationship Participation</vt:lpstr>
      <vt:lpstr>Relationship Degree</vt:lpstr>
      <vt:lpstr>Figure  - Three Types of Relationship Degree</vt:lpstr>
      <vt:lpstr>Figure - An ER Representation of Recursive Relationships</vt:lpstr>
      <vt:lpstr>Associative Entities</vt:lpstr>
      <vt:lpstr>PowerPoint Presentation</vt:lpstr>
      <vt:lpstr>PowerPoint Presentation</vt:lpstr>
      <vt:lpstr>Developing an ER Diagram</vt:lpstr>
      <vt:lpstr>Components of the ERM</vt:lpstr>
      <vt:lpstr>Entity Supertypes and Subtypes</vt:lpstr>
      <vt:lpstr>PowerPoint Presentation</vt:lpstr>
      <vt:lpstr>PowerPoint Presentation</vt:lpstr>
      <vt:lpstr>Specialization Hierarchy</vt:lpstr>
      <vt:lpstr>PowerPoint Presentation</vt:lpstr>
      <vt:lpstr>Inheritance</vt:lpstr>
      <vt:lpstr>Specialization and Generalization</vt:lpstr>
      <vt:lpstr>Primary Keys</vt:lpstr>
      <vt:lpstr>Desirable Primary Key Characteristics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boharag</dc:creator>
  <cp:lastModifiedBy>Hemuni</cp:lastModifiedBy>
  <cp:revision>87</cp:revision>
  <dcterms:created xsi:type="dcterms:W3CDTF">2019-11-08T16:18:41Z</dcterms:created>
  <dcterms:modified xsi:type="dcterms:W3CDTF">2019-11-26T07:19:18Z</dcterms:modified>
</cp:coreProperties>
</file>