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27" r:id="rId3"/>
    <p:sldId id="264" r:id="rId4"/>
    <p:sldId id="260" r:id="rId5"/>
    <p:sldId id="261" r:id="rId6"/>
    <p:sldId id="262" r:id="rId7"/>
    <p:sldId id="295" r:id="rId8"/>
    <p:sldId id="326" r:id="rId9"/>
    <p:sldId id="296" r:id="rId10"/>
    <p:sldId id="297" r:id="rId11"/>
    <p:sldId id="320" r:id="rId12"/>
    <p:sldId id="301" r:id="rId13"/>
    <p:sldId id="321" r:id="rId14"/>
    <p:sldId id="302" r:id="rId15"/>
    <p:sldId id="303" r:id="rId16"/>
    <p:sldId id="304" r:id="rId17"/>
    <p:sldId id="306" r:id="rId18"/>
    <p:sldId id="308" r:id="rId19"/>
    <p:sldId id="309" r:id="rId20"/>
    <p:sldId id="310" r:id="rId21"/>
    <p:sldId id="312" r:id="rId22"/>
    <p:sldId id="313" r:id="rId23"/>
    <p:sldId id="315" r:id="rId24"/>
    <p:sldId id="322" r:id="rId25"/>
    <p:sldId id="318" r:id="rId26"/>
    <p:sldId id="314" r:id="rId27"/>
    <p:sldId id="319" r:id="rId28"/>
    <p:sldId id="32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0D9A25DD-8644-49A9-9044-FF42CFBA62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ED43A58-42BF-4544-B411-9A57C257E2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7D743-DF63-4010-86C2-45EDE029D189}" type="datetimeFigureOut">
              <a:rPr lang="en-US" smtClean="0"/>
              <a:t>12/19/2019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62FD3B7-3809-41D1-A9C6-AD32BE426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8396954-81D9-41C9-933A-AD1190CB0E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F060A-BEC7-4230-9854-02F9CA563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466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CFF6B-943C-4681-864D-D49BF6B9501E}" type="datetimeFigureOut">
              <a:rPr lang="en-US" smtClean="0"/>
              <a:t>12/19/2019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0F3B-D70C-4D5E-B99B-3FE48113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711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xmlns="" id="{E4C78276-FDF4-4E74-8ECA-2D87D43A2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xmlns="" id="{35AE802B-F775-4717-A665-14D192FCD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NCC Education - Slide Master</a:t>
            </a:r>
          </a:p>
        </p:txBody>
      </p:sp>
    </p:spTree>
    <p:extLst>
      <p:ext uri="{BB962C8B-B14F-4D97-AF65-F5344CB8AC3E}">
        <p14:creationId xmlns:p14="http://schemas.microsoft.com/office/powerpoint/2010/main" val="1368782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B3FF77-BA6B-4FC5-B1AB-D3565D008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200E80-6DA0-4867-BB2A-029822C85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2C1A6A-CF05-44DB-B536-338D481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08990-74D9-4CA4-9533-3DE5CB1202B0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55E442-EC83-4A4A-8D0E-A73DA4D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CEC075-30C2-4F80-B23F-4696AE89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BE3F2D-F426-414B-8459-F3BB322B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2AD7DD-41FC-4F58-A5D7-1AB9FFB3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D64FC1-DD2B-40EF-B4ED-EF5FC06C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60CA-9E9A-44B2-99B0-9CA51927D6AE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3107AB-A3DF-44A1-BF7E-7A8BC2D9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2FF080-246F-43D2-966B-DDB4F586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6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E209C4-4CE6-4416-8E16-FFCF375B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CB20E4-1145-4BBF-90E7-2043D3258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0D1E3D-0284-4278-9CDD-28517836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D2D4-8162-4E94-A85B-261CBAA6C590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CE0EF-311B-4320-948B-A7E16FAE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CF42ED-9F4A-462D-B4AF-7273DE71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0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819E23-BBD6-48BC-8C31-88C760E5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A4AE62-C82F-4761-8C46-1AFD04442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32838F3-5264-4B5D-A56E-E2B94A320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FF58A1-78CF-489C-A934-F1CA503E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8F15-DCE4-42AE-BD86-49B4421E01F5}" type="datetime1">
              <a:rPr lang="en-US" smtClean="0"/>
              <a:t>12/19/2019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32C1E0-E42B-4E8C-A50B-DC748C19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39DC3C-D5E4-4B08-918C-EB24D5E4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4DBA8-5CD2-4270-8192-70AC9B07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AA2F23-BB3B-4876-BEE0-BD649718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C4B075-4A86-4088-8653-1FE6FEDD5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02A4EB3-7494-4126-ADA1-7C72AB74C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E6F5B88-74D4-4130-ADFE-E1B846104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F78AC17-538E-4CFE-A335-F00830A9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8C2F-6FD2-435A-BB3D-BF36DC56870F}" type="datetime1">
              <a:rPr lang="en-US" smtClean="0"/>
              <a:t>12/19/2019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8E90F69-9BF8-45DC-A90F-9879EBAD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2AAF99C-9720-4D62-B806-7ACB6066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1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6A31B-42E3-411C-AF11-931243F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B9640F0-E8D1-481E-AB2B-BC485C9A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D8A-EA0E-4653-A612-221E6CC6D85C}" type="datetime1">
              <a:rPr lang="en-US" smtClean="0"/>
              <a:t>12/19/2019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B3AA353-C481-4D1A-BFF3-0C7E98EA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BBC1754-D0CD-491F-971C-D904D47E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8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DA6A44B-11CB-4B98-BA97-40B26BF3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E14F7-CB53-428A-8A2D-405EE7145FC1}" type="datetime1">
              <a:rPr lang="en-US" smtClean="0"/>
              <a:t>12/19/2019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83A931-E466-4960-B950-86BD90A0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BB91E5-0A9D-4057-B4A5-C43A83A8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4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245B8C-A12A-417A-B58D-44E3E084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E265E8-F83C-4C62-842D-036470F5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B1FF749-8953-4988-BC6D-5F194DDB5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51E09D-8703-4359-A7E8-6564FB5D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9450-E710-43E2-9487-8E9EFD2F6176}" type="datetime1">
              <a:rPr lang="en-US" smtClean="0"/>
              <a:t>12/19/2019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3660755-7B5D-4FF2-8948-9A305ACF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504F54-019F-4FFF-A560-C2E2C318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CA7CB-85FC-4545-992D-2F7ED320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5D88532-C399-44CA-89A5-102DE4931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C0A3E2-8649-4A55-BD01-D51B9D5E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85A1AF-6D43-48E5-95A6-B6CD6B2A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E2C-4955-4D0B-B8D0-AB622D44A105}" type="datetime1">
              <a:rPr lang="en-US" smtClean="0"/>
              <a:t>12/19/2019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F6EF7D-142D-4E7F-ABB2-12A87B0F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EEE9635-3439-42FE-8F55-896565DC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1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4223CC-54FE-440C-A65C-D8EAA1A8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D21E6E-BE63-4D1B-9DD1-0414DC7F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17EC02-4C1E-420C-BC03-C1CCEECE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5AB5-5833-48B8-BB2B-B44CC05DCE00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D844C6-A82E-46BF-8DF7-E4A18FF8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4848E6-4C47-4388-924D-8CD33816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1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9251429-1C2B-4CEF-9788-F842A6B3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F19692-519F-4DF0-B41D-F637E8FD7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8FE00D-D86F-44DA-A58E-F740F1E4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F39E-B069-44F4-80A7-DF6CECF33AA7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9BE037-CE50-4994-B45A-D2B7BE42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250EBF-4C49-44FD-9F00-9A92F498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F6A7EA1-87F1-4089-AE0B-13AE19F0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CEDE96A-5957-4889-B71D-8063FEF1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604720-998A-4BFA-A217-D237A0568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F5D75-309A-4C9E-945F-05641D0CAD5C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89E370-F09A-4F89-A56D-096879088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EE34A5-2BA4-40BA-9A61-A2D6A72E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3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76A6AC-E7BA-4D3C-ACB8-E27234513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b="1" dirty="0"/>
              <a:t>Database Design and Implementation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89A4B10-A1D7-447D-A2B5-0E24B7DFC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Lecture 6</a:t>
            </a:r>
          </a:p>
          <a:p>
            <a:r>
              <a:rPr lang="en-US" b="1" dirty="0"/>
              <a:t>Physical Database Design</a:t>
            </a:r>
          </a:p>
          <a:p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2BAC1D4-2A26-4274-B148-D4927A22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32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xmlns="" id="{B5565710-B852-46CB-8EFA-EF134A94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Learning Outcomes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xmlns="" id="{8946503B-EAE4-4B3C-AF21-06AAB6F1F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US" altLang="en-US" dirty="0"/>
              <a:t>In this Lecture, students will learn: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map the logical database design to a physical database design.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design base relations for target DBMS.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design general constraints for target DBMS.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select appropriate file organizations based on analysis of transactions.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When to use secondary indexes to improve performance.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estimate the size of the database.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design user views.</a:t>
            </a:r>
          </a:p>
          <a:p>
            <a:pPr lvl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design security mechanisms to satisfy user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78DCBB2F-EADB-400C-BEB9-05D6E88D4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 dirty="0"/>
              <a:t>Agenda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C4577AC5-AA27-42FE-83E4-0438D9A77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This Lecture will cover: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Logical </a:t>
            </a: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Vs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Physical Database Design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Physical Database Design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Physical Database Design Methodology</a:t>
            </a:r>
          </a:p>
          <a:p>
            <a:pPr lvl="1"/>
            <a:endParaRPr lang="en-GB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5168505-03C7-4043-83E9-A350CE9E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xmlns="" id="{E2BC27CD-C714-46EF-A3BF-C4508A162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1032160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Logical </a:t>
            </a: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Vs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Physical Database Design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xmlns="" id="{EC896A89-F040-4F55-8D92-2146D030A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6306" y="1557338"/>
            <a:ext cx="11527604" cy="4114800"/>
          </a:xfrm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Sources of information for physical design process includes logical data model and documentation that describes model. </a:t>
            </a:r>
          </a:p>
          <a:p>
            <a:pPr eaLnBrk="1" hangingPunct="1">
              <a:lnSpc>
                <a:spcPct val="40000"/>
              </a:lnSpc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Logical database design is concerned with the </a:t>
            </a:r>
            <a:r>
              <a:rPr lang="en-GB" altLang="en-US" i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what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, physical database design is concerned with the </a:t>
            </a:r>
            <a:r>
              <a:rPr lang="en-GB" altLang="en-US" i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how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. </a:t>
            </a: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xmlns="" id="{DEC55D84-9955-41D5-AD2E-5D78D5504A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5BC8DCD-8543-47EE-A7CA-2F5B779F2338}" type="slidenum">
              <a:rPr lang="en-GB" altLang="en-US"/>
              <a:pPr/>
              <a:t>4</a:t>
            </a:fld>
            <a:endParaRPr lang="en-GB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xmlns="" id="{BBD2BBA3-5699-436C-AB94-C4D35E8C3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xmlns="" id="{C2FC4363-F3BD-4AD2-A62A-D8E23200F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Physical Database Design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xmlns="" id="{213128B6-7E8E-46CB-9F34-1DDE6C0454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3982" y="1557338"/>
            <a:ext cx="9267718" cy="4114800"/>
          </a:xfrm>
        </p:spPr>
        <p:txBody>
          <a:bodyPr vert="horz" lIns="90488" tIns="44450" rIns="90488" bIns="44450" rtlCol="0">
            <a:normAutofit/>
          </a:bodyPr>
          <a:lstStyle/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Process of producing a description of the implementation of the database on secondary storage. 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It describes the base relations, file organizations, and indexes used to achieve efficient access to the data, and any associated integrity constraints and security measures.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xmlns="" id="{692BA7EE-C65B-4A10-93EB-30CF559FCE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327DD12-5C09-4B16-8517-4FF82C0CFAD9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xmlns="" id="{A76251DA-56CA-43C2-B34B-E40659C13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0E55CF6E-9977-4837-8B36-9429DD9D9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1011612"/>
          </a:xfrm>
          <a:noFill/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Physical Database Design Methodology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xmlns="" id="{C4EBC1EA-78F7-466D-988D-D8EB26E6D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483" y="1557338"/>
            <a:ext cx="9922767" cy="4114800"/>
          </a:xfrm>
        </p:spPr>
        <p:txBody>
          <a:bodyPr vert="horz" lIns="90488" tIns="44450" rIns="90488" bIns="44450" rtlCol="0">
            <a:normAutofit/>
          </a:bodyPr>
          <a:lstStyle/>
          <a:p>
            <a:pPr marL="0" indent="0" algn="ctr">
              <a:buNone/>
            </a:pPr>
            <a:r>
              <a:rPr lang="en-GB" altLang="en-US" b="1" dirty="0">
                <a:solidFill>
                  <a:srgbClr val="00B05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Physical database design</a:t>
            </a:r>
            <a:br>
              <a:rPr lang="en-GB" altLang="en-US" b="1" dirty="0">
                <a:solidFill>
                  <a:srgbClr val="00B05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endParaRPr lang="en-GB" altLang="en-US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Step 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3  Translate logical data model for target DBMS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3.1  Design base relations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3.2 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Design representation of derived data 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3.3  Design general constraints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xmlns="" id="{9AAAF838-3170-422E-BD14-78B3C2D75C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9A49053-5924-4874-8EC7-1F32003F952C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xmlns="" id="{729BBDFA-9A08-46AE-B44C-067E98429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xmlns="" id="{891E7221-3C02-4D9B-A978-11927EA12A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9047" y="1557338"/>
            <a:ext cx="9446303" cy="4114800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  Design  file organizations and indexes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4.1  </a:t>
            </a:r>
            <a:r>
              <a:rPr lang="en-GB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Analyze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transactions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4.2  Choose file organizations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4.3  Choose indexes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4.4  Estimate disk space requirements 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xmlns="" id="{57CA4939-6181-446C-BB73-22B737DCAA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89F2D55-FA72-49C4-820B-8853F9FB1ECC}" type="slidenum">
              <a:rPr lang="en-GB" altLang="en-US"/>
              <a:pPr/>
              <a:t>7</a:t>
            </a:fld>
            <a:endParaRPr lang="en-GB" altLang="en-US"/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xmlns="" id="{26B1D896-6F1D-41EA-950A-84DD19BC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xmlns="" id="{CB9572D9-E64A-4A81-BF65-37D9EE904C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919" y="1557338"/>
            <a:ext cx="11959119" cy="4114800"/>
          </a:xfrm>
        </p:spPr>
        <p:txBody>
          <a:bodyPr vert="horz" lIns="90488" tIns="44450" rIns="90488" bIns="44450" rtlCol="0">
            <a:normAutofit/>
          </a:bodyPr>
          <a:lstStyle/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5  Design user views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6  Design security mechanisms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7  Consider the introduction of controlled redundancy 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8  Monitor and tune operational system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xmlns="" id="{09672D10-2AFA-496B-B7EC-A11DEDABEB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F8DC744-88E0-4453-B460-A14073EF0452}" type="slidenum">
              <a:rPr lang="en-GB" altLang="en-US"/>
              <a:pPr/>
              <a:t>8</a:t>
            </a:fld>
            <a:endParaRPr lang="en-GB" altLang="en-US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xmlns="" id="{E831F095-70C1-4743-A567-2F136E44C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xmlns="" id="{DFE3A2E8-6A89-4E02-84BC-29F366158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" y="365126"/>
            <a:ext cx="12072135" cy="101161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3  Translate Logical Data Model for Target DBMS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xmlns="" id="{474B374E-888D-42A5-89DF-AE2FCD9502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16" y="1557339"/>
            <a:ext cx="10231134" cy="47513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produce a relational database schema from the logical data model that can be implemented in the target DBMS.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10000"/>
              </a:lnSpc>
              <a:buFont typeface="Monotype Sorts" charset="2"/>
              <a:buNone/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Need to know functionality of target DBMS such as how to create base relations and whether the system supports the definition of: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PKs, FKs, and AKs;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required data – i.e. whether system supports NOT NULL;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domains;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relational integrity constraints;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general constraints.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3" eaLnBrk="1" hangingPunct="1">
              <a:lnSpc>
                <a:spcPct val="80000"/>
              </a:lnSpc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xmlns="" id="{FEEEC7D9-582D-44E8-8254-7FAACAC44B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FC76691-3217-417E-92BB-1D790F68C534}" type="slidenum">
              <a:rPr lang="en-GB" altLang="en-US"/>
              <a:pPr/>
              <a:t>9</a:t>
            </a:fld>
            <a:endParaRPr lang="en-GB" altLang="en-US"/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xmlns="" id="{0F7AE1DC-28E3-489B-9CC9-7A14086BA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xmlns="" id="{7F10BCC7-F077-47E1-80F3-018550044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67" y="365126"/>
            <a:ext cx="11835830" cy="896940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3.1  Design base relations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xmlns="" id="{676A4D87-2954-4B43-9C1B-FCD219BD4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467" y="1557339"/>
            <a:ext cx="11835830" cy="4319587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altLang="en-US" sz="32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decide how to represent base relations identified in logical model in target DBMS.</a:t>
            </a:r>
            <a:r>
              <a:rPr lang="en-GB" altLang="en-US" sz="32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"/>
              </a:lnSpc>
              <a:buFont typeface="Monotype Sorts" charset="2"/>
              <a:buNone/>
            </a:pPr>
            <a:endParaRPr lang="en-GB" altLang="en-US" sz="3200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32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For each relation, need to define:</a:t>
            </a:r>
          </a:p>
          <a:p>
            <a:pPr lvl="1" indent="-209550" algn="just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name of the relation;</a:t>
            </a:r>
          </a:p>
          <a:p>
            <a:pPr lvl="1" indent="-209550" algn="just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list of simple attributes in brackets;</a:t>
            </a:r>
          </a:p>
          <a:p>
            <a:pPr lvl="1" indent="-209550" algn="just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PK and, where appropriate, AKs and FKs.</a:t>
            </a:r>
          </a:p>
          <a:p>
            <a:pPr lvl="1" indent="-209550" algn="just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referential integrity constraints for any FKs identified.</a:t>
            </a:r>
            <a:endParaRPr lang="en-US" altLang="en-US" sz="2000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xmlns="" id="{3B47593E-1237-44FF-949F-AE067683BA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9CBDA49-B14B-4542-9DA1-EFA1DBE60917}" type="slidenum">
              <a:rPr lang="en-GB" altLang="en-US"/>
              <a:pPr/>
              <a:t>10</a:t>
            </a:fld>
            <a:endParaRPr lang="en-GB" altLang="en-US"/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xmlns="" id="{59997E05-0E92-4F39-B167-DC094FD75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xmlns="" id="{1107AD6C-D63F-45D8-AA0D-B3D902CD8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69963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3.1  Design base relations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xmlns="" id="{4B07008F-F50E-4743-93D1-F90BC54DB7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6031" y="1557338"/>
            <a:ext cx="11753636" cy="4392612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From data dictionary, we have for each attribute: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its domain, consisting of a data type, length, and any constraints on the domain;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an optional default value for the attribute;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whether it can hold nulls;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whether it is derived, and if so, how it should be computed.</a:t>
            </a:r>
          </a:p>
          <a:p>
            <a:pPr lvl="1" algn="just"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xmlns="" id="{A185C205-D4BF-4824-8FA8-0067F7F312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91F2A43-4F9E-4E43-BE40-8114C7CADB37}" type="slidenum">
              <a:rPr lang="en-GB" altLang="en-US"/>
              <a:pPr/>
              <a:t>11</a:t>
            </a:fld>
            <a:endParaRPr lang="en-GB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xmlns="" id="{BDB76E81-2BC7-4B57-9C90-1F2A3DD90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6B14F0EC-FC1D-42E5-ADA8-2E47F149A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61" y="266700"/>
            <a:ext cx="11548152" cy="11049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3.2  Design representation of derived data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xmlns="" id="{C940AF9B-E9A3-41D1-A8B6-BB3ADB72E8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4661" y="1557338"/>
            <a:ext cx="11640620" cy="41148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decide how to represent any derived data present in logical data model in target DBMS.</a:t>
            </a:r>
          </a:p>
          <a:p>
            <a:pPr eaLnBrk="1" hangingPunct="1">
              <a:lnSpc>
                <a:spcPct val="30000"/>
              </a:lnSpc>
              <a:buFont typeface="Monotype Sorts" charset="2"/>
              <a:buNone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Examine logical data model and data dictionary, and produce list of all derived attributes. </a:t>
            </a: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Derived attribute can be stored in database or calculated every time it is needed. </a:t>
            </a: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xmlns="" id="{19AE2040-C371-41E9-8211-9DE8955706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09CE10F-BD41-463B-A7F7-3CEF8A21D294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xmlns="" id="{B6BAA0A5-C8B9-4329-9F0E-004640196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xmlns="" id="{B36B11DC-2C0F-4773-8100-E94947A56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6700"/>
            <a:ext cx="11887199" cy="11049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3.2  Design representation of derived data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xmlns="" id="{80898A83-A4A8-4B97-90CC-D906C41794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4935" y="1557338"/>
            <a:ext cx="11887199" cy="41148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Option selected is based on: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additional cost to store the derived data and keep it consistent with operational data from which it is derived;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cost to calculate it each time it is required.</a:t>
            </a:r>
          </a:p>
          <a:p>
            <a:pPr lvl="1" algn="just" eaLnBrk="1" hangingPunct="1">
              <a:lnSpc>
                <a:spcPct val="20000"/>
              </a:lnSpc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Less expensive option is chosen subject to performance constraints. 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xmlns="" id="{86E714AB-30D9-44AF-9DE1-63EE178E62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92ED82-352B-4BE0-ADD9-92B0EB72F6D2}" type="slidenum">
              <a:rPr lang="en-GB" altLang="en-US"/>
              <a:pPr/>
              <a:t>13</a:t>
            </a:fld>
            <a:endParaRPr lang="en-GB" altLang="en-US"/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xmlns="" id="{2DCCE596-911D-456F-9C93-BC263A28A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xmlns="" id="{5E8A5375-8EC3-4A1F-85A4-C57D5D534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65126"/>
            <a:ext cx="11989942" cy="100012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PropertyforRent</a:t>
            </a:r>
            <a:r>
              <a:rPr lang="en-US" altLang="en-US" sz="28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Relation and </a:t>
            </a:r>
            <a:r>
              <a:rPr lang="en-US" altLang="en-US" sz="28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Staff</a:t>
            </a:r>
            <a:r>
              <a:rPr lang="en-US" altLang="en-US" sz="28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Relation with Derived Attribute </a:t>
            </a:r>
            <a:r>
              <a:rPr lang="en-US" altLang="en-US" sz="2800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noOfProperties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32771" name="Slide Number Placeholder 3">
            <a:extLst>
              <a:ext uri="{FF2B5EF4-FFF2-40B4-BE49-F238E27FC236}">
                <a16:creationId xmlns:a16="http://schemas.microsoft.com/office/drawing/2014/main" xmlns="" id="{BA62AF8F-846F-48D0-B720-D74552EF1F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3A80683-EFA1-4E95-AC81-FEF3DA67654E}" type="slidenum">
              <a:rPr lang="en-GB" altLang="en-US"/>
              <a:pPr/>
              <a:t>14</a:t>
            </a:fld>
            <a:endParaRPr lang="en-GB" altLang="en-US"/>
          </a:p>
        </p:txBody>
      </p:sp>
      <p:pic>
        <p:nvPicPr>
          <p:cNvPr id="32772" name="Picture 4" descr="DS3-Figure 16-02">
            <a:extLst>
              <a:ext uri="{FF2B5EF4-FFF2-40B4-BE49-F238E27FC236}">
                <a16:creationId xmlns:a16="http://schemas.microsoft.com/office/drawing/2014/main" xmlns="" id="{08E9E147-11F3-470D-8A6F-3411BD8B3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484314"/>
            <a:ext cx="7920038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Text Box 5">
            <a:extLst>
              <a:ext uri="{FF2B5EF4-FFF2-40B4-BE49-F238E27FC236}">
                <a16:creationId xmlns:a16="http://schemas.microsoft.com/office/drawing/2014/main" xmlns="" id="{28A32E52-D500-4239-A078-051FC98B3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xmlns="" id="{E862AECE-B58A-4175-922C-6E2BCE9AFC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289" y="365125"/>
            <a:ext cx="11989941" cy="939693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3.3  Design general constraints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xmlns="" id="{E7FA315B-D491-4510-9A71-E0593875A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3289" y="1557338"/>
            <a:ext cx="11609799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design the general constraints for target DBMS.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20000"/>
              </a:lnSpc>
              <a:buFont typeface="Monotype Sorts" charset="2"/>
              <a:buNone/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Some DBMS provide more facilities than others for defining enterprise constraints.</a:t>
            </a:r>
            <a:r>
              <a:rPr lang="en-GB" altLang="en-US" sz="2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 Example: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en-US" altLang="en-US" sz="20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sz="24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CONSTRAINT </a:t>
            </a:r>
            <a:r>
              <a:rPr lang="en-US" altLang="en-US" sz="2400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StaffNotHandlingTooMuch</a:t>
            </a:r>
            <a:endParaRPr lang="en-US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	CHECK (NOT EXISTS (SELECT </a:t>
            </a: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staffNo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				FROM </a:t>
            </a: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PropertyForRent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				GROUP BY </a:t>
            </a:r>
            <a:r>
              <a:rPr lang="en-US" altLang="en-US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staffNo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				HAVING COUNT(*) &gt; 100))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xmlns="" id="{AB9AEE5F-D663-438E-AD55-AB41D24DB0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875EC92-5572-4443-A69C-0BCE591E3648}" type="slidenum">
              <a:rPr lang="en-GB" altLang="en-US"/>
              <a:pPr/>
              <a:t>15</a:t>
            </a:fld>
            <a:endParaRPr lang="en-GB" altLang="en-US"/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xmlns="" id="{310CDB83-4DB4-46B0-A845-EC4DA50C7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xmlns="" id="{2A235B71-CE7F-4D09-8E98-591AF99AF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839" y="266700"/>
            <a:ext cx="11681716" cy="11049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  Design File Organizations and Indexes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xmlns="" id="{73141DBE-2849-4666-A124-CFFA9A4E3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839" y="1557338"/>
            <a:ext cx="11774183" cy="41148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determine optimal file organizations to store the base relations and the indexes that are required to achieve acceptable performance; that is, the way in which relations and tuples will be held on secondary storage.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</a:p>
          <a:p>
            <a:pPr eaLnBrk="1" hangingPunct="1">
              <a:buFont typeface="Monotype Sorts" charset="2"/>
              <a:buNone/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Must understand the typical </a:t>
            </a:r>
            <a:r>
              <a:rPr lang="en-GB" altLang="en-US" i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workload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that database must support.</a:t>
            </a: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xmlns="" id="{2790C1B8-FC02-4BBC-9E5E-6F89EE16EA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F01FD3D-3805-4BAF-B6C8-AA9DB4C8E017}" type="slidenum">
              <a:rPr lang="en-GB" altLang="en-US"/>
              <a:pPr/>
              <a:t>16</a:t>
            </a:fld>
            <a:endParaRPr lang="en-GB" altLang="en-US"/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xmlns="" id="{8A257D16-E705-4F12-956D-D80C97692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xmlns="" id="{23ED8E26-6902-4D0F-A240-C5972BBE1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4495"/>
            <a:ext cx="11459966" cy="791368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4.1  Analyze transactions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xmlns="" id="{F71875F5-73D7-4F51-90E9-262AF842DC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4386" y="1557338"/>
            <a:ext cx="12027613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en-US" altLang="en-US" sz="24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understand the functionality of the transactions that will run on the database and to analyze the important transactions.</a:t>
            </a:r>
            <a:r>
              <a:rPr lang="en-GB" altLang="en-US" sz="2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30000"/>
              </a:lnSpc>
              <a:buFont typeface="Monotype Sorts" charset="2"/>
              <a:buNone/>
            </a:pPr>
            <a:endParaRPr lang="en-GB" altLang="en-US" sz="24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Attempt to identify performance criteria, such as: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transactions that run frequently and will have a significant impact on performance;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transactions that are critical to the business;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times during the day/week when there will be a high demand made on the database (called the </a:t>
            </a: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peak load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).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xmlns="" id="{20D773DF-8FDB-4482-90A8-82537CA367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F246038-7013-46BD-ACA6-B0CE01E180D7}" type="slidenum">
              <a:rPr lang="en-GB" altLang="en-US"/>
              <a:pPr/>
              <a:t>17</a:t>
            </a:fld>
            <a:endParaRPr lang="en-GB" altLang="en-US"/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xmlns="" id="{DE0FFA32-18D0-4694-9E23-FCB529426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xmlns="" id="{991D2D6D-837F-4B02-B0BB-660E3E978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4.1  Analyze transactions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xmlns="" id="{1AFAA55A-1D2C-45F4-97E3-37EBF15E3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6853" y="1557338"/>
            <a:ext cx="11825555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Use this information to identify the parts of the database that may cause performance problems. </a:t>
            </a: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Also need to know high-level functionality of the transactions, such as: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attributes that are updated; 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search criteria used in a query.</a:t>
            </a:r>
          </a:p>
          <a:p>
            <a:pPr algn="just" eaLnBrk="1" hangingPunct="1"/>
            <a:endParaRPr lang="en-GB" altLang="en-US" sz="24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xmlns="" id="{49A096B2-B599-4A76-A802-8D8F44D60E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CC35709-D6CD-44D0-9D47-8A3DD3EECD43}" type="slidenum">
              <a:rPr lang="en-GB" altLang="en-US"/>
              <a:pPr/>
              <a:t>18</a:t>
            </a:fld>
            <a:endParaRPr lang="en-GB" altLang="en-US"/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xmlns="" id="{2020D27A-EC13-4128-8CEC-8EF89E6FB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xmlns="" id="{086F2A92-3C6C-492E-8176-BDF6E515D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306" y="365125"/>
            <a:ext cx="11117494" cy="1325563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4.1  Analyze transactions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xmlns="" id="{997BE231-A2A9-4A90-B79A-1D2734096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557338"/>
            <a:ext cx="9840913" cy="41148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Often not possible to analyze all transactions, so investigate most ‘important’ ones. 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help identify these can use:</a:t>
            </a:r>
          </a:p>
          <a:p>
            <a:pPr lvl="1" eaLnBrk="1" hangingPunct="1"/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transaction/relation cross-reference matrix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showing relations that each transaction accesses, and/or </a:t>
            </a:r>
          </a:p>
          <a:p>
            <a:pPr lvl="1" eaLnBrk="1" hangingPunct="1"/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transaction usage map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indicating which relations are potentially heavily used. 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xmlns="" id="{4AFF53F5-699A-43EC-89D4-01429C0EE9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04DE76E-3F06-43B2-AFC1-C56A82C61B80}" type="slidenum">
              <a:rPr lang="en-GB" altLang="en-US"/>
              <a:pPr/>
              <a:t>19</a:t>
            </a:fld>
            <a:endParaRPr lang="en-GB" altLang="en-US"/>
          </a:p>
        </p:txBody>
      </p:sp>
      <p:sp>
        <p:nvSpPr>
          <p:cNvPr id="37893" name="Text Box 4">
            <a:extLst>
              <a:ext uri="{FF2B5EF4-FFF2-40B4-BE49-F238E27FC236}">
                <a16:creationId xmlns:a16="http://schemas.microsoft.com/office/drawing/2014/main" xmlns="" id="{DCBEFEFB-B5F6-4322-A458-DDA0D91F6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xmlns="" id="{99FA0B74-F5E4-4759-8952-91C519538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742" y="365125"/>
            <a:ext cx="11251058" cy="1325563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4.1  Analyze transactions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xmlns="" id="{207119FC-9EDD-4B2A-B478-B9449C7CC4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6854" y="1557338"/>
            <a:ext cx="9942834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focus on areas that may be problematic:</a:t>
            </a:r>
          </a:p>
          <a:p>
            <a:pPr lvl="1" algn="just" eaLnBrk="1" hangingPunct="1">
              <a:lnSpc>
                <a:spcPct val="20000"/>
              </a:lnSpc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(1) Map all transaction paths to relations.</a:t>
            </a:r>
          </a:p>
          <a:p>
            <a:pPr eaLnBrk="1" hangingPunct="1">
              <a:lnSpc>
                <a:spcPct val="50000"/>
              </a:lnSpc>
              <a:buFont typeface="Monotype Sorts" charset="2"/>
              <a:buNone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(2) Determine which relations are most frequently accessed by transactions.</a:t>
            </a:r>
          </a:p>
          <a:p>
            <a:pPr eaLnBrk="1" hangingPunct="1">
              <a:lnSpc>
                <a:spcPct val="50000"/>
              </a:lnSpc>
              <a:buFont typeface="Monotype Sorts" charset="2"/>
              <a:buNone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(3) Analyze the data usage of selected transactions that involve these relations.</a:t>
            </a:r>
          </a:p>
          <a:p>
            <a:pPr lvl="1" eaLnBrk="1" hangingPunct="1"/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xmlns="" id="{6AC23B52-366E-4FBB-B4B6-E52801DB91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FF24CCD-9C60-4935-AF1C-1EC71180AD29}" type="slidenum">
              <a:rPr lang="en-GB" altLang="en-US"/>
              <a:pPr/>
              <a:t>20</a:t>
            </a:fld>
            <a:endParaRPr lang="en-GB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xmlns="" id="{45977BDB-5AC3-4842-BB86-038F34C18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xmlns="" id="{9C599885-DC07-41FA-B8B2-A556F3BFB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209" y="365125"/>
            <a:ext cx="11158591" cy="1325563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4.2  Choose file organizations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xmlns="" id="{14826BC3-65B5-443F-94D7-B50E157C41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8499" y="1557338"/>
            <a:ext cx="9401764" cy="41148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determine an efficient file organization for each base relation.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40000"/>
              </a:lnSpc>
              <a:buFont typeface="Monotype Sorts" charset="2"/>
              <a:buNone/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File organizations include Heap, Hash, Indexed Sequential Access Method (ISAM), B+-Tree, and Clusters.</a:t>
            </a:r>
          </a:p>
          <a:p>
            <a:pPr eaLnBrk="1" hangingPunct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Some DBMSs may not allow selection of file organizations.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 eaLnBrk="1" hangingPunct="1"/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xmlns="" id="{FBA5FA44-B6F9-40BE-8D8D-9F9B11A82E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1A8C3B8-DEC9-4C85-ACE1-00EAA00ECF16}" type="slidenum">
              <a:rPr lang="en-GB" altLang="en-US"/>
              <a:pPr/>
              <a:t>21</a:t>
            </a:fld>
            <a:endParaRPr lang="en-GB" altLang="en-US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xmlns="" id="{636A2E62-EF99-4B25-8CB1-6CE2676FD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xmlns="" id="{1E207C58-6E3B-4052-8727-8D08842D2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20737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4.3  Choose indexes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xmlns="" id="{19002FCC-0ADA-4715-B2FB-781A0EA175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3290" y="1557338"/>
            <a:ext cx="11856377" cy="41148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determine whether adding indexes will improve the performance of the system.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20000"/>
              </a:lnSpc>
              <a:buFont typeface="Monotype Sorts" charset="2"/>
              <a:buNone/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One approach is to keep tuples unordered and create as many </a:t>
            </a:r>
            <a:r>
              <a:rPr lang="en-US" altLang="en-US" u="sng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secondary indexes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as necessary. </a:t>
            </a:r>
          </a:p>
          <a:p>
            <a:pPr algn="just" eaLnBrk="1" hangingPunct="1"/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xmlns="" id="{AE2060EE-2B5F-4D76-85C7-ABA903EB00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1F98168-5145-4579-87C1-D15B9C5308D9}" type="slidenum">
              <a:rPr lang="en-GB" altLang="en-US"/>
              <a:pPr/>
              <a:t>22</a:t>
            </a:fld>
            <a:endParaRPr lang="en-GB" altLang="en-US"/>
          </a:p>
        </p:txBody>
      </p:sp>
      <p:sp>
        <p:nvSpPr>
          <p:cNvPr id="44037" name="Text Box 4">
            <a:extLst>
              <a:ext uri="{FF2B5EF4-FFF2-40B4-BE49-F238E27FC236}">
                <a16:creationId xmlns:a16="http://schemas.microsoft.com/office/drawing/2014/main" xmlns="" id="{84359EE3-B486-4E21-9B00-171E8F4D7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xmlns="" id="{14DE8B99-33C8-481D-A3E5-0C3765490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98596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4.3  Choose indexes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xmlns="" id="{0607E4CB-3739-4377-8FDA-8754E2EE2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4387" y="1557338"/>
            <a:ext cx="11907748" cy="4114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Another approach is to order tuples in the relation by specifying a </a:t>
            </a: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primary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or </a:t>
            </a: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clustering index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 this case, choose the attribute for ordering or clustering the tuples as: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attribute that is used most often for join operations - this makes join operation more efficient, or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attribute that is used most often to access the tuples in a relation in order of that attribute. 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xmlns="" id="{D333E508-3292-4C0A-9128-B28CB43AAA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18A8E6F-1905-4B49-85D6-D98019485414}" type="slidenum">
              <a:rPr lang="en-GB" altLang="en-US"/>
              <a:pPr/>
              <a:t>23</a:t>
            </a:fld>
            <a:endParaRPr lang="en-GB" altLang="en-US"/>
          </a:p>
        </p:txBody>
      </p:sp>
      <p:sp>
        <p:nvSpPr>
          <p:cNvPr id="45061" name="Text Box 4">
            <a:extLst>
              <a:ext uri="{FF2B5EF4-FFF2-40B4-BE49-F238E27FC236}">
                <a16:creationId xmlns:a16="http://schemas.microsoft.com/office/drawing/2014/main" xmlns="" id="{19A29555-FC02-46D0-B173-C82842F16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xmlns="" id="{28BA6DCD-3049-4F46-A243-F16A70093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015" y="365125"/>
            <a:ext cx="12000215" cy="1325563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4.3  Choose indexes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xmlns="" id="{F82624E2-CA07-4269-9D6F-0CB08D7134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770" y="1557338"/>
            <a:ext cx="12000214" cy="41148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If ordering attribute chosen is key of relation, index will be a </a:t>
            </a: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primary index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; otherwise, index will be a </a:t>
            </a:r>
            <a:r>
              <a:rPr lang="en-US" altLang="en-US" i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clustering index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.</a:t>
            </a: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Each relation can only have either a primary index or a clustering index.</a:t>
            </a: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Secondary indexes provide a mechanism for specifying an additional key for a base relation that can be used to retrieve data more efficiently.</a:t>
            </a: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xmlns="" id="{662EE4B2-6307-4274-9909-5CE3C701EE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1B327C1-B072-49B1-976F-6B053C200F1D}" type="slidenum">
              <a:rPr lang="en-GB" altLang="en-US"/>
              <a:pPr/>
              <a:t>24</a:t>
            </a:fld>
            <a:endParaRPr lang="en-GB" altLang="en-US"/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xmlns="" id="{3B3E563E-8381-43A1-A365-B6DA6F209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xmlns="" id="{A368AB3F-CB95-48DA-8269-19CD5E649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287000" cy="11049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4.4  Estimate disk space requirements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xmlns="" id="{CF4DCA39-D28E-4DF1-92B2-461B4D52D4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557338"/>
            <a:ext cx="9720263" cy="4114800"/>
          </a:xfrm>
        </p:spPr>
        <p:txBody>
          <a:bodyPr/>
          <a:lstStyle/>
          <a:p>
            <a:pPr algn="just"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estimate the amount of disk space that will be required by the database.</a:t>
            </a:r>
            <a:r>
              <a:rPr lang="en-GB" altLang="en-US" sz="2400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endParaRPr lang="en-US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xmlns="" id="{0A8350A8-A6C2-4D0B-8242-42D4E6F491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8AF7DB5-3B80-41B0-9F2E-AE69785DF718}" type="slidenum">
              <a:rPr lang="en-GB" altLang="en-US"/>
              <a:pPr/>
              <a:t>25</a:t>
            </a:fld>
            <a:endParaRPr lang="en-GB" altLang="en-US"/>
          </a:p>
        </p:txBody>
      </p:sp>
      <p:sp>
        <p:nvSpPr>
          <p:cNvPr id="50181" name="Text Box 4">
            <a:extLst>
              <a:ext uri="{FF2B5EF4-FFF2-40B4-BE49-F238E27FC236}">
                <a16:creationId xmlns:a16="http://schemas.microsoft.com/office/drawing/2014/main" xmlns="" id="{D818EC71-FFB6-41EE-86F1-81C7694CF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xmlns="" id="{EC25556D-9CB3-4C82-A157-0DC5CDB14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67" y="365125"/>
            <a:ext cx="11261333" cy="1325563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5  Design User Views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xmlns="" id="{C4EB3CA0-0377-44BA-9F5C-051801459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467" y="1557338"/>
            <a:ext cx="11599523" cy="41148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design the user views that were identified during the Requirements Collection and Analysis stage of the database system development lifecycle.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xmlns="" id="{E6B59326-E4E3-4285-8F5C-A2F915B9FA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03EA143-7593-45D7-B1E0-374D377C662E}" type="slidenum">
              <a:rPr lang="en-GB" altLang="en-US"/>
              <a:pPr/>
              <a:t>26</a:t>
            </a:fld>
            <a:endParaRPr lang="en-GB" altLang="en-US"/>
          </a:p>
        </p:txBody>
      </p:sp>
      <p:sp>
        <p:nvSpPr>
          <p:cNvPr id="51205" name="Text Box 4">
            <a:extLst>
              <a:ext uri="{FF2B5EF4-FFF2-40B4-BE49-F238E27FC236}">
                <a16:creationId xmlns:a16="http://schemas.microsoft.com/office/drawing/2014/main" xmlns="" id="{BFCED0A4-769C-493C-AFAE-A47718052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xmlns="" id="{167F413C-60B6-4ED5-A08C-B3337A1BE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31" y="0"/>
            <a:ext cx="11055850" cy="1325563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6  Design Security Measures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xmlns="" id="{18834F2E-B4CB-412A-8B46-EF5930E474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7950" y="1557338"/>
            <a:ext cx="11578975" cy="4114800"/>
          </a:xfrm>
        </p:spPr>
        <p:txBody>
          <a:bodyPr/>
          <a:lstStyle/>
          <a:p>
            <a:pPr eaLnBrk="1" hangingPunct="1">
              <a:buFont typeface="Monotype Sorts" charset="2"/>
              <a:buNone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To design the security measures for the database as specified by the users.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xmlns="" id="{FBB1AE83-8B98-4290-8CEE-EA6DBE09C1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1722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BAB9AE6-B1EF-413A-A334-2F9486B57428}" type="slidenum">
              <a:rPr lang="en-GB" altLang="en-US"/>
              <a:pPr/>
              <a:t>27</a:t>
            </a:fld>
            <a:endParaRPr lang="en-GB" altLang="en-US"/>
          </a:p>
        </p:txBody>
      </p:sp>
      <p:sp>
        <p:nvSpPr>
          <p:cNvPr id="52229" name="Text Box 4">
            <a:extLst>
              <a:ext uri="{FF2B5EF4-FFF2-40B4-BE49-F238E27FC236}">
                <a16:creationId xmlns:a16="http://schemas.microsoft.com/office/drawing/2014/main" xmlns="" id="{129E1825-BED7-4716-8290-0AC2379FD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31202D-7852-4C85-8889-08095249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A80AC8-69B3-4689-A186-EE34B35C4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Systems A Practical Approach to Design, Implementation and Management by  Thomas Connolly and Carolyn </a:t>
            </a:r>
            <a:r>
              <a:rPr lang="en-US" dirty="0" err="1"/>
              <a:t>Begg</a:t>
            </a:r>
            <a:r>
              <a:rPr lang="en-US" dirty="0"/>
              <a:t>, Sixth Edition, Pearson, Chapter 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8369B31-20A4-4EE2-925F-7407C6C0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1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735</Words>
  <Application>Microsoft Office PowerPoint</Application>
  <PresentationFormat>Widescreen</PresentationFormat>
  <Paragraphs>199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ＭＳ Ｐゴシック</vt:lpstr>
      <vt:lpstr>Arial</vt:lpstr>
      <vt:lpstr>Calibri</vt:lpstr>
      <vt:lpstr>Calibri Light</vt:lpstr>
      <vt:lpstr>Monotype Sorts</vt:lpstr>
      <vt:lpstr>Times New Roman</vt:lpstr>
      <vt:lpstr>Office Theme</vt:lpstr>
      <vt:lpstr>Database Design and Implementation</vt:lpstr>
      <vt:lpstr>Learning Outcomes</vt:lpstr>
      <vt:lpstr>Agenda</vt:lpstr>
      <vt:lpstr>Logical Vs Physical Database Design </vt:lpstr>
      <vt:lpstr>Physical Database Design</vt:lpstr>
      <vt:lpstr>Physical Database Design Methodology</vt:lpstr>
      <vt:lpstr>PowerPoint Presentation</vt:lpstr>
      <vt:lpstr>PowerPoint Presentation</vt:lpstr>
      <vt:lpstr>Step 3  Translate Logical Data Model for Target DBMS</vt:lpstr>
      <vt:lpstr>Step 3.1  Design base relations</vt:lpstr>
      <vt:lpstr>Step 3.1  Design base relations</vt:lpstr>
      <vt:lpstr>Step 3.2  Design representation of derived data</vt:lpstr>
      <vt:lpstr>Step 3.2  Design representation of derived data</vt:lpstr>
      <vt:lpstr>PropertyforRent Relation and Staff Relation with Derived Attribute noOfProperties </vt:lpstr>
      <vt:lpstr>Step 3.3  Design general constraints</vt:lpstr>
      <vt:lpstr>Step 4  Design File Organizations and Indexes</vt:lpstr>
      <vt:lpstr>Step 4.1  Analyze transactions </vt:lpstr>
      <vt:lpstr>Step 4.1  Analyze transactions </vt:lpstr>
      <vt:lpstr>Step 4.1  Analyze transactions </vt:lpstr>
      <vt:lpstr>Step 4.1  Analyze transactions </vt:lpstr>
      <vt:lpstr>Step 4.2  Choose file organizations </vt:lpstr>
      <vt:lpstr>Step 4.3  Choose indexes </vt:lpstr>
      <vt:lpstr>Step 4.3  Choose indexes </vt:lpstr>
      <vt:lpstr>Step 4.3  Choose indexes </vt:lpstr>
      <vt:lpstr>Step 4.4  Estimate disk space requirements</vt:lpstr>
      <vt:lpstr>Step 5  Design User Views </vt:lpstr>
      <vt:lpstr>Step 6  Design Security Measures 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boharag</dc:creator>
  <cp:lastModifiedBy>Hemuni</cp:lastModifiedBy>
  <cp:revision>187</cp:revision>
  <dcterms:created xsi:type="dcterms:W3CDTF">2019-11-08T16:18:41Z</dcterms:created>
  <dcterms:modified xsi:type="dcterms:W3CDTF">2019-12-19T03:20:03Z</dcterms:modified>
</cp:coreProperties>
</file>